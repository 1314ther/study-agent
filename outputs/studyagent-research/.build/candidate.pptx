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0c4fa6889146e8" /><Relationship Type="http://schemas.openxmlformats.org/officeDocument/2006/relationships/extended-properties" Target="/docProps/app.xml" Id="Re5f48c5d0ab54b20" /><Relationship Type="http://schemas.openxmlformats.org/officeDocument/2006/relationships/officeDocument" Target="/ppt/presentation.xml" Id="Ra58344c0d864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2f0c3253914e45"/>
  </p:sldMasterIdLst>
  <p:notesMasterIdLst>
    <p:notesMasterId xmlns:r="http://schemas.openxmlformats.org/officeDocument/2006/relationships" r:id="R15221d3b1893407b"/>
  </p:notesMasterIdLst>
  <p:sldIdLst>
    <p:sldId xmlns:r="http://schemas.openxmlformats.org/officeDocument/2006/relationships" id="256" r:id="Rdba0d8a6fad64487"/>
    <p:sldId xmlns:r="http://schemas.openxmlformats.org/officeDocument/2006/relationships" id="257" r:id="Rf70b8ad653c34908"/>
    <p:sldId xmlns:r="http://schemas.openxmlformats.org/officeDocument/2006/relationships" id="258" r:id="Rb439de5e09524963"/>
    <p:sldId xmlns:r="http://schemas.openxmlformats.org/officeDocument/2006/relationships" id="259" r:id="R629e96e49f9741e9"/>
    <p:sldId xmlns:r="http://schemas.openxmlformats.org/officeDocument/2006/relationships" id="260" r:id="Rbb7aef7c5fdd4e1f"/>
    <p:sldId xmlns:r="http://schemas.openxmlformats.org/officeDocument/2006/relationships" id="261" r:id="R7b7feea9931d4081"/>
    <p:sldId xmlns:r="http://schemas.openxmlformats.org/officeDocument/2006/relationships" id="262" r:id="Rb3c208dce97d44e4"/>
    <p:sldId xmlns:r="http://schemas.openxmlformats.org/officeDocument/2006/relationships" id="263" r:id="R5fc945716c9b44fa"/>
    <p:sldId xmlns:r="http://schemas.openxmlformats.org/officeDocument/2006/relationships" id="264" r:id="R1604a6d5f8634c34"/>
    <p:sldId xmlns:r="http://schemas.openxmlformats.org/officeDocument/2006/relationships" id="265" r:id="R305226d3070d420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9a5a1e25545ac" /><Relationship Type="http://schemas.openxmlformats.org/officeDocument/2006/relationships/slideMaster" Target="/ppt/slideMasters/slideMaster1.xml" Id="R422f0c3253914e45" /><Relationship Type="http://schemas.openxmlformats.org/officeDocument/2006/relationships/notesMaster" Target="/ppt/notesMasters/notesMaster1.xml" Id="R15221d3b1893407b" /><Relationship Type="http://schemas.openxmlformats.org/officeDocument/2006/relationships/presProps" Target="/ppt/presProps.xml" Id="R4c3e631149f94705" /><Relationship Type="http://schemas.openxmlformats.org/officeDocument/2006/relationships/tableStyles" Target="/ppt/tableStyles.xml" Id="R535d9aef254a4ff2" /><Relationship Type="http://schemas.openxmlformats.org/officeDocument/2006/relationships/slide" Target="/ppt/slides/slide1.xml" Id="Rdba0d8a6fad64487" /><Relationship Type="http://schemas.openxmlformats.org/officeDocument/2006/relationships/slide" Target="/ppt/slides/slide2.xml" Id="Rf70b8ad653c34908" /><Relationship Type="http://schemas.openxmlformats.org/officeDocument/2006/relationships/slide" Target="/ppt/slides/slide3.xml" Id="Rb439de5e09524963" /><Relationship Type="http://schemas.openxmlformats.org/officeDocument/2006/relationships/slide" Target="/ppt/slides/slide4.xml" Id="R629e96e49f9741e9" /><Relationship Type="http://schemas.openxmlformats.org/officeDocument/2006/relationships/slide" Target="/ppt/slides/slide5.xml" Id="Rbb7aef7c5fdd4e1f" /><Relationship Type="http://schemas.openxmlformats.org/officeDocument/2006/relationships/slide" Target="/ppt/slides/slide6.xml" Id="R7b7feea9931d4081" /><Relationship Type="http://schemas.openxmlformats.org/officeDocument/2006/relationships/slide" Target="/ppt/slides/slide7.xml" Id="Rb3c208dce97d44e4" /><Relationship Type="http://schemas.openxmlformats.org/officeDocument/2006/relationships/slide" Target="/ppt/slides/slide8.xml" Id="R5fc945716c9b44fa" /><Relationship Type="http://schemas.openxmlformats.org/officeDocument/2006/relationships/slide" Target="/ppt/slides/slide9.xml" Id="R1604a6d5f8634c34" /><Relationship Type="http://schemas.openxmlformats.org/officeDocument/2006/relationships/slide" Target="/ppt/slides/slide10.xml" Id="R305226d3070d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5a301ed8e541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65b348ab5e4501" /><Relationship Type="http://schemas.openxmlformats.org/officeDocument/2006/relationships/notesMaster" Target="/ppt/notesMasters/notesMaster1.xml" Id="R55ea1d269577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b11d62010e4ecc" /><Relationship Type="http://schemas.openxmlformats.org/officeDocument/2006/relationships/notesMaster" Target="/ppt/notesMasters/notesMaster1.xml" Id="R698b02cb3f984a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d9f8ef1b3f49a5" /><Relationship Type="http://schemas.openxmlformats.org/officeDocument/2006/relationships/notesMaster" Target="/ppt/notesMasters/notesMaster1.xml" Id="Reb95fe85dd974b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126ad74537425a" /><Relationship Type="http://schemas.openxmlformats.org/officeDocument/2006/relationships/notesMaster" Target="/ppt/notesMasters/notesMaster1.xml" Id="R66a663889e0248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99d7b9d3c34ef7" /><Relationship Type="http://schemas.openxmlformats.org/officeDocument/2006/relationships/notesMaster" Target="/ppt/notesMasters/notesMaster1.xml" Id="R85096a05afe547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40847c73164324" /><Relationship Type="http://schemas.openxmlformats.org/officeDocument/2006/relationships/notesMaster" Target="/ppt/notesMasters/notesMaster1.xml" Id="Rfe809b6e182a4c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a0aa65635b4bc1" /><Relationship Type="http://schemas.openxmlformats.org/officeDocument/2006/relationships/notesMaster" Target="/ppt/notesMasters/notesMaster1.xml" Id="R1878385fc2f24c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36e1ef54b8450a" /><Relationship Type="http://schemas.openxmlformats.org/officeDocument/2006/relationships/notesMaster" Target="/ppt/notesMasters/notesMaster1.xml" Id="R81fef3a204624f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b47ec0a70d4d55" /><Relationship Type="http://schemas.openxmlformats.org/officeDocument/2006/relationships/notesMaster" Target="/ppt/notesMasters/notesMaster1.xml" Id="R7069f75f68e347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9453b9e80a48b0" /><Relationship Type="http://schemas.openxmlformats.org/officeDocument/2006/relationships/notesMaster" Target="/ppt/notesMasters/notesMaster1.xml" Id="Rc7d7253d44ac40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项目依据：当前工作区 README.md；backend/routine_matching.py；backend/student_analysis.py；backend/generate.py；backend/patterns.py；backend/curriculum_wiki.py。</a:t>
            </a:r>
          </a:p>
          <a:p xmlns:a="http://schemas.openxmlformats.org/drawingml/2006/main">
            <a:r>
              <a:t>截至2026-10-24，工程实现提供过程诊断、方法表示、变式和复测记录等基础。本页的独立迁移是研究目标，尚未取得学生学习效果的对照实验结论。</a:t>
            </a:r>
          </a:p>
          <a:p xmlns:a="http://schemas.openxmlformats.org/drawingml/2006/main">
            <a:r>
              <a:t>版式参考：/Users/sqz/Desktop/教育出题_20261022_v2.pptx 第1页。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本地代码依据：backend/routine_catalog.json，版本2026-10-24.v2，实际读取1,019项，均有exclusions与confusable_ids字段。字段存在不等于内容已验证。</a:t>
            </a:r>
          </a:p>
          <a:p xmlns:a="http://schemas.openxmlformats.org/drawingml/2006/main">
            <a:r>
              <a:t>方法匹配：backend/routine_matching.py。</a:t>
            </a:r>
          </a:p>
          <a:p xmlns:a="http://schemas.openxmlformats.org/drawingml/2006/main">
            <a:r>
              <a:t>独立作答与跨次证据：backend/student_analysis.py 的 _first_independent_questions 与 build_report。</a:t>
            </a:r>
          </a:p>
          <a:p xmlns:a="http://schemas.openxmlformats.org/drawingml/2006/main">
            <a:r>
              <a:t>仿题：backend/generate.py；复测规则：backend/patterns.py 的 _complete_pattern_loop。</a:t>
            </a:r>
          </a:p>
          <a:p xmlns:a="http://schemas.openxmlformats.org/drawingml/2006/main">
            <a:r>
              <a:t>解法前置：backend/curriculum_wiki.py 的 checks；docs/curriculum-wiki.md。</a:t>
            </a:r>
          </a:p>
          <a:p xmlns:a="http://schemas.openxmlformats.org/drawingml/2006/main">
            <a:r>
              <a:t>参考目录与正式学习套路编号属于不同命名空间，不代表1,019项均已接入正式训练。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本页为代表工作地图，不是穷尽性综述，也不按论文数统计独立团队数。</a:t>
            </a:r>
          </a:p>
          <a:p xmlns:a="http://schemas.openxmlformats.org/drawingml/2006/main">
            <a:r>
              <a:t>stepwise: https://arxiv.org/abs/2610.16344</a:t>
            </a:r>
          </a:p>
          <a:p xmlns:a="http://schemas.openxmlformats.org/drawingml/2006/main">
            <a:r>
              <a:t>verify: https://aclanthology.org/2024.emnlp-main.478/</a:t>
            </a:r>
          </a:p>
          <a:p xmlns:a="http://schemas.openxmlformats.org/drawingml/2006/main">
            <a:r>
              <a:t>longtutor: https://aclanthology.org/2026.acl-long.1371/</a:t>
            </a:r>
          </a:p>
          <a:p xmlns:a="http://schemas.openxmlformats.org/drawingml/2006/main">
            <a:r>
              <a:t>mathcog: https://arxiv.org/abs/2504.00843v2</a:t>
            </a:r>
          </a:p>
          <a:p xmlns:a="http://schemas.openxmlformats.org/drawingml/2006/main">
            <a:r>
              <a:t>mathtutorbench: https://aclanthology.org/2025.emnlp-main.11/</a:t>
            </a:r>
          </a:p>
          <a:p xmlns:a="http://schemas.openxmlformats.org/drawingml/2006/main">
            <a:r>
              <a:t>copilot: https://arxiv.org/pdf/2410.03017v3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完整题名：STEPwise: Supporting Teachers in Diagnosing Students’ Mathematical Problem-Solving Skills through LLM-Generated Questions and Rubrics。Yoonsu Kim, Hayeon Doh, Eunhye Kim, Jinho Son, Juho Kim。arXiv:2610.16344v1，2026-10-12，预印本；PDF中模板会议占位信息不作为已录用会议证据。</a:t>
            </a:r>
          </a:p>
          <a:p xmlns:a="http://schemas.openxmlformats.org/drawingml/2006/main">
            <a:r>
              <a:t>研究先访谈教师，再与6名数学教育专家共创STEP框架；8名教师评审生成材料；在5名教师与64名3–9年级学生中进行一个月课堂研究，累计生成90题、720个子问及量规。</a:t>
            </a:r>
          </a:p>
          <a:p xmlns:a="http://schemas.openxmlformats.org/drawingml/2006/main">
            <a:r>
              <a:t>系统支持教师审核与编辑、学生纸笔作答上传识别、LLM评分及诊断报告。课堂研究主要支持可用性和过程可见性，未证明随机对照下的提分效果。</a:t>
            </a:r>
          </a:p>
          <a:p xmlns:a="http://schemas.openxmlformats.org/drawingml/2006/main">
            <a:r>
              <a:t>图片：PDF第1页图1。</a:t>
            </a:r>
          </a:p>
          <a:p xmlns:a="http://schemas.openxmlformats.org/drawingml/2006/main">
            <a:r>
              <a:t>来源：https://arxiv.org/abs/2610.16344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STEP四阶段：Problem Comprehension、Information Structuring、Mathematical Expression、Mathematical Computation。八子技能：识别关键信息、识别问题目标、组织条件、连接条件、应用数学知识、构造数学表达/模型、执行计算、解释与组织结果。</a:t>
            </a:r>
          </a:p>
          <a:p xmlns:a="http://schemas.openxmlformats.org/drawingml/2006/main">
            <a:r>
              <a:t>生成流程先求解并生成子问，经阶段目标、情境、提示与答案有效性检查后，模拟高/中/低表现，分析错误模式并生成三级量规。</a:t>
            </a:r>
          </a:p>
          <a:p xmlns:a="http://schemas.openxmlformats.org/drawingml/2006/main">
            <a:r>
              <a:t>专家评审：36道3–6年级题目，8名教师参与，其中6名主要评审、2名仲裁。91.32%与90.97%为子技能层材料满足相应标准的Yes比例，不是系统诊断学生能力的准确率。年级适切性80.21%、情境对齐72.22%，提示仍需教师审核。</a:t>
            </a:r>
          </a:p>
          <a:p xmlns:a="http://schemas.openxmlformats.org/drawingml/2006/main">
            <a:r>
              <a:t>原图见PDF第6页图2，评审结果见第8页。</a:t>
            </a:r>
          </a:p>
          <a:p xmlns:a="http://schemas.openxmlformats.org/drawingml/2006/main">
            <a:r>
              <a:t>原文链接：https://arxiv.org/abs/2610.16344</a:t>
            </a:r>
          </a:p>
          <a:p xmlns:a="http://schemas.openxmlformats.org/drawingml/2006/main">
            <a:r>
              <a:t>图像依据：原文图 2：四阶段、八项子技能、诊断子问与主要错误类型。从原文PDF裁切，未重绘数据。</a:t>
            </a:r>
          </a:p>
          <a:p xmlns:a="http://schemas.openxmlformats.org/drawingml/2006/main">
            <a:r>
              <a:t>版式参考：原参考PPT第5页。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完整题名：Stepwise Verification and Remediation of Student Reasoning Errors with Large Language Model Tutors。Nico Daheim, Jakub Macina, Manu Kapur, Iryna Gurevych, Mrinmaya Sachan。ETH Zurich与TU Darmstadt等，EMNLP 2024，8386–8411页。</a:t>
            </a:r>
          </a:p>
          <a:p xmlns:a="http://schemas.openxmlformats.org/drawingml/2006/main">
            <a:r>
              <a:t>以MathDial等数学辅导场景为基础，为1,002条逐步推理链收集教师标注的首错位置。比较分类式验证、错误描述与学生/参考步骤对齐等方式，将验证输出提供给回复生成模型。自动与人工评估显示，反馈更有针对性、更正确，幻觉减少。</a:t>
            </a:r>
          </a:p>
          <a:p xmlns:a="http://schemas.openxmlformats.org/drawingml/2006/main">
            <a:r>
              <a:t>本研究验证的是学生作答，并不等同于只检查模型参考解答的正确性。该研究的离线反馈质量结果不直接等同于学生学习增益。原图：PDF第2页图1。</a:t>
            </a:r>
          </a:p>
          <a:p xmlns:a="http://schemas.openxmlformats.org/drawingml/2006/main">
            <a:r>
              <a:t>原文链接：https://aclanthology.org/2024.emnlp-main.478/</a:t>
            </a:r>
          </a:p>
          <a:p xmlns:a="http://schemas.openxmlformats.org/drawingml/2006/main">
            <a:r>
              <a:t>图像依据：原文图 1：验证学生推理后，再生成面向错误的辅导回复。从原文PDF裁切，未重绘数据。</a:t>
            </a:r>
          </a:p>
          <a:p xmlns:a="http://schemas.openxmlformats.org/drawingml/2006/main">
            <a:r>
              <a:t>版式参考：原参考PPT第5页。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作者：Ning Li, Zheng Zhang, Zhenya Huang, Rui Li, Yi Zhan, Yinbo Luo, Qi Liu, Enhong Chen。中国科学技术大学等。ACL 2026，29712–29737页。</a:t>
            </a:r>
          </a:p>
          <a:p xmlns:a="http://schemas.openxmlformats.org/drawingml/2006/main">
            <a:r>
              <a:t>三层任务：历史证据获取包含单记录信息提取、多次交互推理、幻觉检查；状态诊断区分Recall Failure、Conceptual Gap、Procedural Error、Transfer Deficit；教学行动要求依据历史证据和诊断生成个性化反馈。状态诊断主要报告Macro-F1，教学行动采用单独的评价维度。</a:t>
            </a:r>
          </a:p>
          <a:p xmlns:a="http://schemas.openxmlformats.org/drawingml/2006/main">
            <a:r>
              <a:t>论文发现历史取证能力不必然转化为诊断及教学能力。图2用先前成功与11天后同知识出错的记录说明遗忘诊断和提取练习策略。图1另以锯木头/爬楼梯同构题说明迁移障碍。</a:t>
            </a:r>
          </a:p>
          <a:p xmlns:a="http://schemas.openxmlformats.org/drawingml/2006/main">
            <a:r>
              <a:t>原图：PDF第4页图2。离线任务和模拟学生实验不能直接替代长期真实学生学习效果验证。</a:t>
            </a:r>
          </a:p>
          <a:p xmlns:a="http://schemas.openxmlformats.org/drawingml/2006/main">
            <a:r>
              <a:t>原文链接：https://aclanthology.org/2026.acl-long.1371/</a:t>
            </a:r>
          </a:p>
          <a:p xmlns:a="http://schemas.openxmlformats.org/drawingml/2006/main">
            <a:r>
              <a:t>图像依据：原文图 2：历史证据获取、知识状态诊断与个性化教学行动。从原文PDF裁切，未重绘数据。</a:t>
            </a:r>
          </a:p>
          <a:p xmlns:a="http://schemas.openxmlformats.org/drawingml/2006/main">
            <a:r>
              <a:t>版式参考：原参考PPT第5页。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完整题名：Benchmarking Large Language Models for Diagnosing Students’ Cognitive Skills from Handwritten Math Work。Yoonsu Kim等，KAIST、University of Michigan、Ewha Womans University、AlgorithmLabs。arXiv:2504.00843v2，2026-02-04，预印本。</a:t>
            </a:r>
          </a:p>
          <a:p xmlns:a="http://schemas.openxmlformats.org/drawingml/2006/main">
            <a:r>
              <a:t>依据TIMSS认知技能清单，对学生是否展示技能作Yes/No判断，并区分Evident/Vague证据。论文评估18个模型，在该任务上的F1均低于0.5，模糊证据尤其困难。模型常见错误包括把模糊证据当明确证据、从少量线索过度推断、幻觉出不存在的依据。</a:t>
            </a:r>
          </a:p>
          <a:p xmlns:a="http://schemas.openxmlformats.org/drawingml/2006/main">
            <a:r>
              <a:t>版本注意：PDF摘要/引言列110题、639份作答、3,036诊断判断，正文部分仍出现137题、796份作答等不同口径。因此本页不使用样本量作为结论或规模比较，后续复现须核实实际数据版本。</a:t>
            </a:r>
          </a:p>
          <a:p xmlns:a="http://schemas.openxmlformats.org/drawingml/2006/main">
            <a:r>
              <a:t>图片为PDF第4页表1的第一个样例节选，保留列标题与该样例全部诊断项。</a:t>
            </a:r>
          </a:p>
          <a:p xmlns:a="http://schemas.openxmlformats.org/drawingml/2006/main">
            <a:r>
              <a:t>原文链接：https://arxiv.org/abs/2504.00843v2</a:t>
            </a:r>
          </a:p>
          <a:p xmlns:a="http://schemas.openxmlformats.org/drawingml/2006/main">
            <a:r>
              <a:t>图像依据：原文表 1 节选：题目、学生作答、诊断清单与证据强弱判断。从原文PDF裁切，未重绘数据。</a:t>
            </a:r>
          </a:p>
          <a:p xmlns:a="http://schemas.openxmlformats.org/drawingml/2006/main">
            <a:r>
              <a:t>版式参考：原参考PPT第5页。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完整题名：MathTutorBench: A Benchmark for Measuring Open-ended Pedagogical Capabilities of LLM Tutors。Jakub Macina, Nico Daheim, Ido Hakimi, Manu Kapur, Iryna Gurevych, Mrinmaya Sachan。EMNLP 2025，204–221页。</a:t>
            </a:r>
          </a:p>
          <a:p xmlns:a="http://schemas.openxmlformats.org/drawingml/2006/main">
            <a:r>
              <a:t>三类能力：数学专长、理解学生、教学能力。七项主任务：解题、苏格拉底式提问、作答正确性判断、错误定位、错误纠正、教学支架生成、教学指令遵循；另有更难变体。数据包括GSM8K、MathDial、Bridge及StepVerify等。</a:t>
            </a:r>
          </a:p>
          <a:p xmlns:a="http://schemas.openxmlformats.org/drawingml/2006/main">
            <a:r>
              <a:t>开放式教师回复采用训练的奖励模型评分，并验证其区分专家与新手回复的能力。论文发现解题专长不立即转化为教学能力，长对话也带来额外挑战。图2为原论文当时所评测模型，不代表当前模型排行榜。</a:t>
            </a:r>
          </a:p>
          <a:p xmlns:a="http://schemas.openxmlformats.org/drawingml/2006/main">
            <a:r>
              <a:t>原图：PDF第3页图2。</a:t>
            </a:r>
          </a:p>
          <a:p xmlns:a="http://schemas.openxmlformats.org/drawingml/2006/main">
            <a:r>
              <a:t>原文链接：https://aclanthology.org/2025.emnlp-main.11/</a:t>
            </a:r>
          </a:p>
          <a:p xmlns:a="http://schemas.openxmlformats.org/drawingml/2006/main">
            <a:r>
              <a:t>图像依据：原文图 2：任务、数据与指标，以及模型在不同辅导任务上的表现。从原文PDF裁切，未重绘数据。</a:t>
            </a:r>
          </a:p>
          <a:p xmlns:a="http://schemas.openxmlformats.org/drawingml/2006/main">
            <a:r>
              <a:t>版式参考：原参考PPT第5页。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完整题名：Tutor CoPilot: A Human-AI Approach for Scaling Real-Time Expertise。Rose E. Wang, Ana T. Ribeiro, Carly D. Robinson, Susanna Loeb, Dora Demszky，Stanford。采用2026-10-10的v3 PDF。</a:t>
            </a:r>
          </a:p>
          <a:p xmlns:a="http://schemas.openxmlformats.org/drawingml/2006/main">
            <a:r>
              <a:t>系统嵌入真人在线辅导对话。教师按需调用，收到基于专家决策模型的若干回复建议，可选择、编辑或重新生成。后端包括去识别处理以及专家式引导生成。</a:t>
            </a:r>
          </a:p>
          <a:p xmlns:a="http://schemas.openxmlformats.org/drawingml/2006/main">
            <a:r>
              <a:t>v3 PDF报告700多名教师与1,000多名学生参与的随机对照实验。获得系统支持教师所辅导学生的数学主题掌握概率提高4个百分点（p&lt;.01）；较低评分教师对应学生提高9个百分点。比较的是获得与未获得系统支持的教师条件，不是学生直接使用自动AI。</a:t>
            </a:r>
          </a:p>
          <a:p xmlns:a="http://schemas.openxmlformats.org/drawingml/2006/main">
            <a:r>
              <a:t>摘要网页与v3 PDF存在旧样本数口径差异，故本页统一采用v3，不混用旧版样本数。原图：PDF第3页图1。学习掌握指标不等于长期考试提分。</a:t>
            </a:r>
          </a:p>
          <a:p xmlns:a="http://schemas.openxmlformats.org/drawingml/2006/main">
            <a:r>
              <a:t>原文链接：https://arxiv.org/pdf/2410.03017v3</a:t>
            </a:r>
          </a:p>
          <a:p xmlns:a="http://schemas.openxmlformats.org/drawingml/2006/main">
            <a:r>
              <a:t>图像依据：原文图 1：嵌入实时辅导场景的前端与专家引导生成流程。从原文PDF裁切，未重绘数据。</a:t>
            </a:r>
          </a:p>
          <a:p xmlns:a="http://schemas.openxmlformats.org/drawingml/2006/main">
            <a:r>
              <a:t>版式参考：原参考PPT第5页。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0ca08bb6746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4b7ce60094c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94678d7bb540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b062e2b744a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0dc48302f64ce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6daa2c65540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9067B6-B535-49FD-AA2D-82CCED4AC6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BE267D-D4EF-48B8-8160-2E2C37DE06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69991C2-CB6A-49E8-AB22-3965FEC907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E210C3-F189-4ABF-B623-395A9695B1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46528A-1865-4CB8-BA76-23F21718B5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824951-A1C0-4ADA-99B3-BFEDC49E5E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2D9CD2-DEA7-4E0A-822D-69E714E39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FBC50B-E4EF-475B-B04D-64BE946AD5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DAA6ED-184F-48B4-90D1-592E129018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4C9847-8C91-4127-ABF3-8E9E8FA915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4b664d1674e0b" /><Relationship Type="http://schemas.openxmlformats.org/officeDocument/2006/relationships/slideLayout" Target="/ppt/slideLayouts/slideLayout1.xml" Id="R9cc5b21caeea4c02" /><Relationship Type="http://schemas.openxmlformats.org/officeDocument/2006/relationships/slideLayout" Target="/ppt/slideLayouts/slideLayout2.xml" Id="Rd8d4bedb3d0d4f39" /><Relationship Type="http://schemas.openxmlformats.org/officeDocument/2006/relationships/slideLayout" Target="/ppt/slideLayouts/slideLayout3.xml" Id="R9e18dbacc93b4c64" /><Relationship Type="http://schemas.openxmlformats.org/officeDocument/2006/relationships/slideLayout" Target="/ppt/slideLayouts/slideLayout4.xml" Id="R7dbc13513df4498f" /><Relationship Type="http://schemas.openxmlformats.org/officeDocument/2006/relationships/slideLayout" Target="/ppt/slideLayouts/slideLayout5.xml" Id="R55aa5c91fdfd44c5" /><Relationship Type="http://schemas.openxmlformats.org/officeDocument/2006/relationships/slideLayout" Target="/ppt/slideLayouts/slideLayout6.xml" Id="R43a9ab0aa3e3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c5b21caeea4c02"/>
    <p:sldLayoutId xmlns:r="http://schemas.openxmlformats.org/officeDocument/2006/relationships" id="2147483650" r:id="Rd8d4bedb3d0d4f39"/>
    <p:sldLayoutId xmlns:r="http://schemas.openxmlformats.org/officeDocument/2006/relationships" id="2147483651" r:id="R9e18dbacc93b4c64"/>
    <p:sldLayoutId xmlns:r="http://schemas.openxmlformats.org/officeDocument/2006/relationships" id="2147483652" r:id="R7dbc13513df4498f"/>
    <p:sldLayoutId xmlns:r="http://schemas.openxmlformats.org/officeDocument/2006/relationships" id="2147483653" r:id="R55aa5c91fdfd44c5"/>
    <p:sldLayoutId xmlns:r="http://schemas.openxmlformats.org/officeDocument/2006/relationships" id="2147483654" r:id="R43a9ab0aa3e3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254e374b94899" /><Relationship Type="http://schemas.openxmlformats.org/officeDocument/2006/relationships/notesSlide" Target="/ppt/notesSlides/notesSlide1.xml" Id="R3a773a5c81dd47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809348c084d83" /><Relationship Type="http://schemas.openxmlformats.org/officeDocument/2006/relationships/notesSlide" Target="/ppt/notesSlides/notesSlide2.xml" Id="Rfd28d372b41847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073b03e8d44c25" /><Relationship Type="http://schemas.openxmlformats.org/officeDocument/2006/relationships/hyperlink" Target="https://arxiv.org/abs/2610.16344" TargetMode="External" Id="R519ffae43c2146b6" /><Relationship Type="http://schemas.openxmlformats.org/officeDocument/2006/relationships/hyperlink" Target="https://aclanthology.org/2024.emnlp-main.478/" TargetMode="External" Id="R0b083ba90fad4602" /><Relationship Type="http://schemas.openxmlformats.org/officeDocument/2006/relationships/hyperlink" Target="https://aclanthology.org/2026.acl-long.1371/" TargetMode="External" Id="Rbae90c456f0b42fb" /><Relationship Type="http://schemas.openxmlformats.org/officeDocument/2006/relationships/hyperlink" Target="https://arxiv.org/abs/2504.00843v2" TargetMode="External" Id="R26530af3b7954212" /><Relationship Type="http://schemas.openxmlformats.org/officeDocument/2006/relationships/hyperlink" Target="https://aclanthology.org/2025.emnlp-main.11/" TargetMode="External" Id="R10dc125ecc534781" /><Relationship Type="http://schemas.openxmlformats.org/officeDocument/2006/relationships/hyperlink" Target="https://arxiv.org/pdf/2410.03017v3" TargetMode="External" Id="R18c0f79174bc41c4" /><Relationship Type="http://schemas.openxmlformats.org/officeDocument/2006/relationships/notesSlide" Target="/ppt/notesSlides/notesSlide3.xml" Id="Rf717a1dcbca045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a41544c204fd5" /><Relationship Type="http://schemas.openxmlformats.org/officeDocument/2006/relationships/image" Target="/ppt/media/image.png" Id="Rfddceed0fd1843da" /><Relationship Type="http://schemas.openxmlformats.org/officeDocument/2006/relationships/hyperlink" Target="https://arxiv.org/abs/2610.16344" TargetMode="External" Id="R64b2a6237aa241e2" /><Relationship Type="http://schemas.openxmlformats.org/officeDocument/2006/relationships/notesSlide" Target="/ppt/notesSlides/notesSlide4.xml" Id="R0ca3e2205a5349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c17703d604642" /><Relationship Type="http://schemas.openxmlformats.org/officeDocument/2006/relationships/image" Target="/ppt/media/image2.png" Id="Rdff0c23e10cf41c2" /><Relationship Type="http://schemas.openxmlformats.org/officeDocument/2006/relationships/hyperlink" Target="https://arxiv.org/abs/2610.16344" TargetMode="External" Id="R24ecdab07b064c0b" /><Relationship Type="http://schemas.openxmlformats.org/officeDocument/2006/relationships/notesSlide" Target="/ppt/notesSlides/notesSlide5.xml" Id="R3cf4e213fcda44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57adb13ef44a2" /><Relationship Type="http://schemas.openxmlformats.org/officeDocument/2006/relationships/image" Target="/ppt/media/image3.png" Id="Ra964bf859f844c5e" /><Relationship Type="http://schemas.openxmlformats.org/officeDocument/2006/relationships/hyperlink" Target="https://aclanthology.org/2024.emnlp-main.478/" TargetMode="External" Id="Rc26a6be7bb3649dc" /><Relationship Type="http://schemas.openxmlformats.org/officeDocument/2006/relationships/notesSlide" Target="/ppt/notesSlides/notesSlide6.xml" Id="Rb676cef728df44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022527bed4603" /><Relationship Type="http://schemas.openxmlformats.org/officeDocument/2006/relationships/image" Target="/ppt/media/image4.png" Id="R0af1e3929efe4abb" /><Relationship Type="http://schemas.openxmlformats.org/officeDocument/2006/relationships/hyperlink" Target="https://aclanthology.org/2026.acl-long.1371/" TargetMode="External" Id="Ra70d691187d24b1b" /><Relationship Type="http://schemas.openxmlformats.org/officeDocument/2006/relationships/notesSlide" Target="/ppt/notesSlides/notesSlide7.xml" Id="Rbcbab6c9d5b94b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a643ecf9340d7" /><Relationship Type="http://schemas.openxmlformats.org/officeDocument/2006/relationships/image" Target="/ppt/media/image5.png" Id="R1c17f344a13d4d5b" /><Relationship Type="http://schemas.openxmlformats.org/officeDocument/2006/relationships/hyperlink" Target="https://arxiv.org/abs/2504.00843v2" TargetMode="External" Id="Reebdf6d7e9b241dc" /><Relationship Type="http://schemas.openxmlformats.org/officeDocument/2006/relationships/notesSlide" Target="/ppt/notesSlides/notesSlide8.xml" Id="R17f0b99e1a4544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abb6d7b7d4f8c" /><Relationship Type="http://schemas.openxmlformats.org/officeDocument/2006/relationships/image" Target="/ppt/media/image6.png" Id="R300733c1181f4ebe" /><Relationship Type="http://schemas.openxmlformats.org/officeDocument/2006/relationships/hyperlink" Target="https://aclanthology.org/2025.emnlp-main.11/" TargetMode="External" Id="R43ba86aae5af4c81" /><Relationship Type="http://schemas.openxmlformats.org/officeDocument/2006/relationships/notesSlide" Target="/ppt/notesSlides/notesSlide9.xml" Id="R0793947ee5e3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2d465a55c4ecd" /><Relationship Type="http://schemas.openxmlformats.org/officeDocument/2006/relationships/image" Target="/ppt/media/image7.png" Id="R87f4daf2cb6a4a86" /><Relationship Type="http://schemas.openxmlformats.org/officeDocument/2006/relationships/hyperlink" Target="https://arxiv.org/pdf/2410.03017v3" TargetMode="External" Id="R1c5279f4fadb4d01" /><Relationship Type="http://schemas.openxmlformats.org/officeDocument/2006/relationships/notesSlide" Target="/ppt/notesSlides/notesSlide10.xml" Id="R75da7620e7904b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8AD92E-BC06-464A-931A-1BF8A6E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StudyAgent：高中数学过程诊断与训练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8F71C6-DE1A-48AE-8304-0A9D04E5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StudyAgent · Project Highlights and Related Research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FC9200-530D-497A-B724-F481B8E8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048A9-0BF8-4C1E-804A-32BB2924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381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根据作答证据诊断，围绕数学方法组织训练。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CCFBD-AE89-4B05-B3DF-3937DEBE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575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rPr>
              <a:t>系统处理的学习证据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D179F-F658-4F42-A122-D3FA639E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5E9B"/>
            </a:solidFill>
          </a:ln>
        </p:spPr>
      </p:sp>
      <p:sp>
        <p:nvSpPr>
          <p:cNvPr id="7" name="example-brief">
            <a:extLst xmlns:a="http://schemas.openxmlformats.org/drawingml/2006/main">
              <a:ext uri="{FF2B5EF4-FFF2-40B4-BE49-F238E27FC236}">
                <a16:creationId xmlns:a16="http://schemas.microsoft.com/office/drawing/2014/main" id="{944E9E18-87DA-4055-9CC7-A849E8EC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5715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题目与学生作答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步骤批改与错误证据</a:t>
            </a:r>
          </a:p>
          <a:p xmlns:a="http://schemas.openxmlformats.org/drawingml/2006/main">
            <a:pPr algn="l">
              <a:buNone/>
              <a:def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知识点、方法与历史记录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97A4C-F56F-4202-915C-E1F39DA6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7353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rPr>
              <a:t>系统连接的学习环节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354B2-E3B2-4999-817D-EC9C9F1F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735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7A78"/>
            </a:solidFill>
          </a:ln>
        </p:spPr>
      </p:sp>
      <p:sp>
        <p:nvSpPr>
          <p:cNvPr id="10" name="example-question">
            <a:extLst xmlns:a="http://schemas.openxmlformats.org/drawingml/2006/main">
              <a:ext uri="{FF2B5EF4-FFF2-40B4-BE49-F238E27FC236}">
                <a16:creationId xmlns:a16="http://schemas.microsoft.com/office/drawing/2014/main" id="{A6CEF1D2-CF39-42AF-8729-F3BE85AE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76675"/>
            <a:ext cx="7353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识别方法与出错环节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安排母题、变式与间隔复测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F00C3-0275-4946-83AF-AD834147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735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研究目标：无 AI 条件下的独立迁移</a:t>
            </a:r>
          </a:p>
        </p:txBody>
      </p:sp>
      <p:sp>
        <p:nvSpPr>
          <p:cNvPr id="12" name="example-equation">
            <a:extLst xmlns:a="http://schemas.openxmlformats.org/drawingml/2006/main">
              <a:ext uri="{FF2B5EF4-FFF2-40B4-BE49-F238E27FC236}">
                <a16:creationId xmlns:a16="http://schemas.microsoft.com/office/drawing/2014/main" id="{DD4A8622-D399-46F8-A658-14F70B9D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482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5E9B"/>
                </a:solidFill>
                <a:latin typeface="Noto Sans CJK SC"/>
                <a:ea typeface="Noto Sans CJK SC"/>
                <a:cs typeface="Noto Sans CJK SC"/>
              </a:rPr>
              <a:t>诊断与训练</a:t>
            </a:r>
          </a:p>
        </p:txBody>
      </p:sp>
      <p:sp>
        <p:nvSpPr>
          <p:cNvPr id="13" name="example-answer">
            <a:extLst xmlns:a="http://schemas.openxmlformats.org/drawingml/2006/main">
              <a:ext uri="{FF2B5EF4-FFF2-40B4-BE49-F238E27FC236}">
                <a16:creationId xmlns:a16="http://schemas.microsoft.com/office/drawing/2014/main" id="{26528244-CF92-4F57-96F4-F38188EF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29590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rPr>
              <a:t>复测回证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001A2-8230-484F-B744-D3138DD6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411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96B79-72BF-45C7-9924-BDED95CE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2940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过程诊断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11279-7490-4FE1-ADBA-7229B88F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913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定位错误步骤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11A4D-757F-4E77-AD2B-98CCFDBE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62940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方法表示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8488E-EEA6-466A-9459-26DEDF0D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1913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记录适用边界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42156-4F39-4D49-BFAC-86137F67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662940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针对训练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42C87-A17C-447F-8035-E787B56E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71913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围绕错误设计变式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8DC46-712F-46E5-830B-AC861330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629400"/>
            <a:ext cx="333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课程适配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4B96E-0F20-40AC-82FB-442894D3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71913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核对解法前置知识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F0ADB-DE85-4BF7-866D-CA06EB3F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依据当前工作区功能整理。工程实现与学习效果验证分别陈述。</a:t>
            </a:r>
          </a:p>
        </p:txBody>
      </p:sp>
    </p:spTree>
    <p:extLst>
      <p:ext uri="{BB962C8B-B14F-4D97-AF65-F5344CB8AC3E}">
        <p14:creationId xmlns:p14="http://schemas.microsoft.com/office/powerpoint/2010/main" val="863227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2D1E68-48E9-4880-B267-E7E165E1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StudyAgent 的项目亮点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0EDDD0-136A-4668-A1E0-B53C9CB9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围绕方法选择、作答证据和后续训练组织学习流程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C9BC17-4EB3-405B-8970-9A59FC13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4CE50-F199-48AD-A4FF-A8FF7398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145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rPr>
              <a:t>方法与诊断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B8043-2140-4952-810D-7377E98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579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F0971-C1F3-4E50-B50F-5865117B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145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rPr>
              <a:t>训练与课程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E4C68-3A80-4FC9-9C88-E010C01E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7A7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5A13A-0835-47EB-B0CA-02FCE3AB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基础目录为参考内容，仍需教师审核。诊断准确率与学习增益尚待实验验证。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05CCB-6A5A-4040-9CE7-51608B40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rPr>
              <a:t>方法边界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AD437-895B-49E2-BBDD-9C8FE77B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记录触发条件与关键步骤</a:t>
            </a:r>
          </a:p>
          <a:p xmlns:a="http://schemas.openxmlformats.org/drawingml/2006/main">
            <a: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区分排除条件和易混淆方法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CD4EFC-9305-4F6A-8333-0357AE1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基础参考目录 1,019 项，内容待审核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C9C774-39B1-4AFB-BF7F-540FE24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rPr>
              <a:t>跨次证据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9AA85A-2B3B-4E19-8021-0870BDC6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9122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保留支持证据与反证</a:t>
            </a:r>
          </a:p>
          <a:p xmlns:a="http://schemas.openxmlformats.org/drawingml/2006/main">
            <a: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给出下一步验证任务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FDE06B-E649-4EFD-A37E-1D765343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首次独立作答与重复练习分开记录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6E33BA-3019-4338-BEF5-5403996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987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rPr>
              <a:t>训练与复测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E1773D-2930-4600-AA61-6D59BFB6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1947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围绕错误步骤生成变式</a:t>
            </a:r>
          </a:p>
          <a:p xmlns:a="http://schemas.openxmlformats.org/drawingml/2006/main">
            <a: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衔接母题训练与复测记录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13AB83-42D5-473A-9919-B7878634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720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1 / 7 / 30 天为当前产品规则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381ED8-1116-4DC4-AA94-DDB4BEEA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816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rPr>
              <a:t>解法前置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7B2AB6-9167-49CF-A563-21718E9A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9122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同一道题分别记录不同解法</a:t>
            </a:r>
          </a:p>
          <a:p xmlns:a="http://schemas.openxmlformats.org/drawingml/2006/main">
            <a:pPr>
              <a:def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检查所需知识何时引入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417607-5158-4487-8BCE-9BDECDD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143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未核实完整前置时保留未知</a:t>
            </a:r>
          </a:p>
        </p:txBody>
      </p:sp>
    </p:spTree>
    <p:extLst>
      <p:ext uri="{BB962C8B-B14F-4D97-AF65-F5344CB8AC3E}">
        <p14:creationId xmlns:p14="http://schemas.microsoft.com/office/powerpoint/2010/main" val="1372835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2D1E68-48E9-4880-B267-E7E165E1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数学诊断与辅导的相关研究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0EDDD0-136A-4668-A1E0-B53C9CB9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362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六项代表工作，覆盖过程诊断、长期教学、能力评测与真人辅导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C9BC17-4EB3-405B-8970-9A59FC13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4CE50-F199-48AD-A4FF-A8FF7398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145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71579B"/>
                </a:solidFill>
                <a:latin typeface="Noto Sans CJK SC"/>
                <a:ea typeface="Noto Sans CJK SC"/>
                <a:cs typeface="Noto Sans CJK SC"/>
              </a:rPr>
              <a:t>过程诊断与长期教学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B8043-2140-4952-810D-7377E98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579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F0971-C1F3-4E50-B50F-5865117B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145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rPr>
              <a:t>教学评测与真人辅导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E4C68-3A80-4FC9-9C88-E010C01E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90800"/>
            <a:ext cx="647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7A7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5A13A-0835-47EB-B0CA-02FCE3AB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323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点击研究名称查看原文。会议论文与预印本状态按本次调研时可核实版本标注。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FB08D-3EEE-4256-8889-79654A28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19ffae43c2146b6"/>
              </a:rPr>
              <a:t>STEPwise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3DCCF-DBB6-4C24-B083-78F2A4C9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66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KAIST · Yoonsu Kim、Juho Kim 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2DEDA-CCD5-4F06-9210-1E72FDCA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522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阶段诊断、子问与量规 · 2026 预印本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77D605-55D7-4362-89D3-46062468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3865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0b083ba90fad4602"/>
              </a:rPr>
              <a:t>Verify-then-Generate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861E5C-FBB9-46A9-83EA-797D02CA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ETH Zurich / TU Darmstadt · Daheim 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7D4EF3-D530-4FCD-B492-618715DB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作答验证后的反馈生成 · EMNLP 2024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23FC1B-7C84-4295-AC0A-91367877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6742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65539A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bae90c456f0b42fb"/>
              </a:rPr>
              <a:t>LongTutor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F8BBF-4102-4D12-99FB-6D090C8D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中国科学技术大学 · Ning Li、黄振亚等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F69C18-86C0-4B1D-96F8-A72D4AA9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9627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长期取证、诊断与教学 · ACL 2026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90203A-71D1-49E4-A4C3-2DF1134E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987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6530af3b7954212"/>
              </a:rPr>
              <a:t>MathCog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B3AC95-5735-4431-A515-F63D24AC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KAIST / 密歇根大学等 · Yoonsu Kim 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082E17-1569-4B18-953C-BE68D26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0522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手写作答与证据强弱 · 2026 修订预印本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06D774-93E2-4E9E-8F7B-009D0F4B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10dc125ecc534781"/>
              </a:rPr>
              <a:t>MathTutorBench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77E386-4EF6-481A-BDD2-E9D6A81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05375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ETH Zurich / TU Darmstadt · Macina 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FEF8FE-9262-441E-A40F-AABDE432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340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开放式教学能力评测 · EMNLP 2025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FFC082-D9DC-4AE5-BFD0-597D2F0A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06742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37A78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18c0f79174bc41c4"/>
              </a:rPr>
              <a:t>Tutor CoPilot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26DB0F-4FD3-40D0-8C3F-052F48C1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5341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22D4C"/>
                </a:solidFill>
                <a:latin typeface="Noto Sans CJK SC"/>
                <a:ea typeface="Noto Sans CJK SC"/>
                <a:cs typeface="Noto Sans CJK SC"/>
              </a:rPr>
              <a:t>Stanford · Rose Wang、Dora Demszky 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0097D8-77E7-442D-92D8-7A76F202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962775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实时辅助教师 · 2026.10 v3 预印本</a:t>
            </a:r>
          </a:p>
        </p:txBody>
      </p:sp>
    </p:spTree>
    <p:extLst>
      <p:ext uri="{BB962C8B-B14F-4D97-AF65-F5344CB8AC3E}">
        <p14:creationId xmlns:p14="http://schemas.microsoft.com/office/powerpoint/2010/main" val="1372835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DC656-EC02-4148-8FE4-20309199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469"/>
            <a:ext cx="535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672">
            <a:solidFill>
              <a:srgbClr val="087E8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6531B-AAEB-4203-BDD4-C43A08CA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6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34B"/>
                </a:solidFill>
                <a:latin typeface="Arial"/>
                <a:ea typeface="Arial"/>
                <a:cs typeface="Arial"/>
              </a:rPr>
              <a:t>STEPwise: Supporting Teachers in Diagnosing Students’ Mathematical Problem-Solving 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61FB6-7966-488F-943D-B81DC362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381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39">
            <a:solidFill>
              <a:srgbClr val="D7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3B419-95C3-4CD6-935B-94A1F2B2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7344"/>
            <a:ext cx="714375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F8FF5-941B-457A-A96F-7D7504E1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281" y="1524000"/>
            <a:ext cx="13037344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531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如何为数学应用题生成可用于过程诊断的子问与量规？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5CDE8-0CAC-43C0-B8C5-93C48AE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65156"/>
            <a:ext cx="714375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rPr>
              <a:t>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E2AC7-A9EB-4DA7-B173-52EC46E5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281" y="6905625"/>
            <a:ext cx="809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六名专家共创诊断框架，生成子问与评分量规。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教师审核后部署，自动评分汇总过程报告。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466F5-29B7-4D8D-ACC3-7914365E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719" y="6965156"/>
            <a:ext cx="714375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087E87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7CFAB-A2EC-40E1-9B43-4B17F6FA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9056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922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5 名教师、64 名学生。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一个月课堂研究。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90 题、720 个子问。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4B10F-96BC-4063-92EE-826D6A084E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ceed0fd1843d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4375" y="2857500"/>
            <a:ext cx="13811250" cy="3238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B369D-BB38-497A-927B-755E181D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48438"/>
            <a:ext cx="1381125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rPr>
              <a:t>原文图 1：从教师需求研究到框架、系统与课堂应用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2A749-02AE-42EF-BB54-AA91F092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55781"/>
            <a:ext cx="130373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64b2a6237aa241e2"/>
              </a:rPr>
              <a:t>Yoonsu Kim et al. KAIST 等. arXiv:2610.16344v1, 2026.10（预印本）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24C22-1553-4D3A-8F4D-94F81E15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61856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63F77-3044-41CD-9379-49A8EA6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469"/>
            <a:ext cx="535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672">
            <a:solidFill>
              <a:srgbClr val="176FA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C8225-DA5B-4998-A089-92BA536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34B"/>
                </a:solidFill>
                <a:latin typeface="Arial"/>
                <a:ea typeface="Arial"/>
                <a:cs typeface="Arial"/>
              </a:rPr>
              <a:t>STEPwise: Four Stages and Eight Diagnostic Sub-skills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17D34-FD3D-49F4-A0E5-B984E28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381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39">
            <a:solidFill>
              <a:srgbClr val="D7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D6F8C-A895-4C17-BEE1-134C09F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B834D-9EA5-44A0-8C1B-0C6585E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4063"/>
            <a:ext cx="3690938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如何把解题障碍拆成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可观察的诊断子技能？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C2F8-0F5B-433D-91BF-B08CFA8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0438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0642-68E7-4FFF-A485-CA10435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810000" cy="154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四阶段、八项子技能。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子问对应可观察的推理证据。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三级量规刻画表现差异。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7ABC0-5643-4714-B37D-9AD97A4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B433-3E4F-460E-9390-36C7395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96063"/>
            <a:ext cx="3869531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8 名教师评审 36 道题。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构念效度标准：91.32%。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数学准确性标准：90.97%。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2C1CD-BFAD-4EAC-812C-B12E1C240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0c23e10cf41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10125" y="2190750"/>
            <a:ext cx="9715500" cy="4381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8E881-5B80-46BE-AD1F-CD367CC7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739063"/>
            <a:ext cx="971550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rPr>
              <a:t>原文图 2：四阶段、八项子技能、诊断子问与主要错误类型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4AACE-65E5-4353-8829-A9A3A66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55781"/>
            <a:ext cx="130373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24ecdab07b064c0b"/>
              </a:rPr>
              <a:t>Yoonsu Kim et al. STEPwise. arXiv:2610.16344v1, 2026.10（预印本）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CBC61-C4DB-43A6-BF01-D6B4623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4DBBE-1D73-485D-ABD8-196C8DE2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8580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理解：信息识别与目标确认　　组织：条件整理与关联</a:t>
            </a:r>
          </a:p>
          <a:p xmlns:a="http://schemas.openxmlformats.org/drawingml/2006/main">
            <a: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表达：知识调用与数学建模　　计算：执行与结果解释</a:t>
            </a:r>
          </a:p>
        </p:txBody>
      </p:sp>
    </p:spTree>
    <p:extLst>
      <p:ext uri="{BB962C8B-B14F-4D97-AF65-F5344CB8AC3E}">
        <p14:creationId xmlns:p14="http://schemas.microsoft.com/office/powerpoint/2010/main" val="19175020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63F77-3044-41CD-9379-49A8EA6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469"/>
            <a:ext cx="535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672">
            <a:solidFill>
              <a:srgbClr val="176FA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C8225-DA5B-4998-A089-92BA536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34B"/>
                </a:solidFill>
                <a:latin typeface="Arial"/>
                <a:ea typeface="Arial"/>
                <a:cs typeface="Arial"/>
              </a:rPr>
              <a:t>Stepwise Verification and Remediation of Student Reasoning Errors with LLM Tutors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17D34-FD3D-49F4-A0E5-B984E28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381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39">
            <a:solidFill>
              <a:srgbClr val="D7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D6F8C-A895-4C17-BEE1-134C09F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B834D-9EA5-44A0-8C1B-0C6585E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4063"/>
            <a:ext cx="3690938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怎样找准学生的错误，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再给出针对性反馈？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C2F8-0F5B-433D-91BF-B08CFA8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0438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0642-68E7-4FFF-A485-CA10435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810000" cy="154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作答验证与反馈生成分开。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输出错步、描述及步骤对齐。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依据验证结果生成反馈。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7ABC0-5643-4714-B37D-9AD97A4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B433-3E4F-460E-9390-36C7395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96063"/>
            <a:ext cx="3869531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1,002 条逐步推理链。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教师标注首错位置。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自动评价与人工评价。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2C1CD-BFAD-4EAC-812C-B12E1C240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4bf859f844c5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10125" y="2381250"/>
            <a:ext cx="9715500" cy="3810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8E881-5B80-46BE-AD1F-CD367CC7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739063"/>
            <a:ext cx="971550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rPr>
              <a:t>原文图 1：验证学生推理后，再生成面向错误的辅导回复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4AACE-65E5-4353-8829-A9A3A66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55781"/>
            <a:ext cx="130373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c26a6be7bb3649dc"/>
              </a:rPr>
              <a:t>Nico Daheim et al. EMNLP 2024. DOI: 10.18653/v1/2024.emnlp-main.478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CBC61-C4DB-43A6-BF01-D6B4623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3B795-E24D-48AF-A4FA-39DACECC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8580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验证结果：正确性、错误描述与步骤对齐</a:t>
            </a:r>
          </a:p>
          <a:p xmlns:a="http://schemas.openxmlformats.org/drawingml/2006/main">
            <a: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反馈生成：依据错误证据给出针对性引导</a:t>
            </a:r>
          </a:p>
        </p:txBody>
      </p:sp>
    </p:spTree>
    <p:extLst>
      <p:ext uri="{BB962C8B-B14F-4D97-AF65-F5344CB8AC3E}">
        <p14:creationId xmlns:p14="http://schemas.microsoft.com/office/powerpoint/2010/main" val="1917502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63F77-3044-41CD-9379-49A8EA6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469"/>
            <a:ext cx="535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672">
            <a:solidFill>
              <a:srgbClr val="176FA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C8225-DA5B-4998-A089-92BA536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34B"/>
                </a:solidFill>
                <a:latin typeface="Arial"/>
                <a:ea typeface="Arial"/>
                <a:cs typeface="Arial"/>
              </a:rPr>
              <a:t>LongTutor: Benchmarking Large Language Models for Long-term Personalized Tutoring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17D34-FD3D-49F4-A0E5-B984E28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381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39">
            <a:solidFill>
              <a:srgbClr val="D7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D6F8C-A895-4C17-BEE1-134C09F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B834D-9EA5-44A0-8C1B-0C6585E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4063"/>
            <a:ext cx="3690938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如何利用长期作答历史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诊断状态并指导教学？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C2F8-0F5B-433D-91BF-B08CFA8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0438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0642-68E7-4FFF-A485-CA10435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810000" cy="154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分评取证、诊断与教学。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识别遗忘与程序性错误。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覆盖同构题的迁移障碍。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7ABC0-5643-4714-B37D-9AD97A4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B433-3E4F-460E-9390-36C7395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96063"/>
            <a:ext cx="3869531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真实学习日志与专家标注。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取证较强，诊断仍有缺口。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教学行动另设独立评价。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2C1CD-BFAD-4EAC-812C-B12E1C240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1e3929efe4ab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10125" y="1762125"/>
            <a:ext cx="9715500" cy="5810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8E881-5B80-46BE-AD1F-CD367CC7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739063"/>
            <a:ext cx="971550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rPr>
              <a:t>原文图 2：历史证据获取、知识状态诊断与个性化教学行动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4AACE-65E5-4353-8829-A9A3A66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55781"/>
            <a:ext cx="130373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a70d691187d24b1b"/>
              </a:rPr>
              <a:t>Ning Li et al. 中国科学技术大学. ACL 2026. DOI: 10.18653/v1/2026.acl-long.1371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CBC61-C4DB-43A6-BF01-D6B4623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7502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63F77-3044-41CD-9379-49A8EA6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469"/>
            <a:ext cx="535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672">
            <a:solidFill>
              <a:srgbClr val="176FA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C8225-DA5B-4998-A089-92BA536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334B"/>
                </a:solidFill>
                <a:latin typeface="Arial"/>
                <a:ea typeface="Arial"/>
                <a:cs typeface="Arial"/>
              </a:rPr>
              <a:t>MathCog: Diagnosing Students’ Cognitive Skills from Handwritten Math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17D34-FD3D-49F4-A0E5-B984E28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381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39">
            <a:solidFill>
              <a:srgbClr val="D7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D6F8C-A895-4C17-BEE1-134C09F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B834D-9EA5-44A0-8C1B-0C6585E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4063"/>
            <a:ext cx="3690938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省略或模糊的手写作答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能否支持可靠的技能诊断？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C2F8-0F5B-433D-91BF-B08CFA8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0438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0642-68E7-4FFF-A485-CA10435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810000" cy="154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依据 TIMSS 构建技能清单。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分别标注判断及证据强度。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分析证据幻觉与过度推断。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7ABC0-5643-4714-B37D-9AD97A4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B433-3E4F-460E-9390-36C7395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96063"/>
            <a:ext cx="3869531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18 个模型，F1 均低于 0.5。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模糊证据下表现更弱。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结论限于本研究设置。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2C1CD-BFAD-4EAC-812C-B12E1C240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7f344a13d4d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10125" y="2667000"/>
            <a:ext cx="9715500" cy="3857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8E881-5B80-46BE-AD1F-CD367CC7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739063"/>
            <a:ext cx="971550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rPr>
              <a:t>原文表 1 节选：题目、学生作答、诊断清单与证据强弱判断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4AACE-65E5-4353-8829-A9A3A66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55781"/>
            <a:ext cx="130373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eebdf6d7e9b241dc"/>
              </a:rPr>
              <a:t>Yoonsu Kim et al. KAIST / Michigan 等. arXiv:2504.00843v2, 2026.02（预印本）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CBC61-C4DB-43A6-BF01-D6B4623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BB3D4-F72C-4BA5-93EE-7C21C281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85800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同一份作答中，技能判断与证据强度分别标注。</a:t>
            </a:r>
          </a:p>
          <a:p xmlns:a="http://schemas.openxmlformats.org/drawingml/2006/main">
            <a:pPr>
              <a:def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Evident / Vague 表示证据是否清晰充分。</a:t>
            </a:r>
          </a:p>
        </p:txBody>
      </p:sp>
    </p:spTree>
    <p:extLst>
      <p:ext uri="{BB962C8B-B14F-4D97-AF65-F5344CB8AC3E}">
        <p14:creationId xmlns:p14="http://schemas.microsoft.com/office/powerpoint/2010/main" val="19175020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63F77-3044-41CD-9379-49A8EA6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469"/>
            <a:ext cx="535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672">
            <a:solidFill>
              <a:srgbClr val="176FA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C8225-DA5B-4998-A089-92BA536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34B"/>
                </a:solidFill>
                <a:latin typeface="Arial"/>
                <a:ea typeface="Arial"/>
                <a:cs typeface="Arial"/>
              </a:rPr>
              <a:t>MathTutorBench: Measuring Open-ended Pedagogical Capabilities of LLM Tutors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17D34-FD3D-49F4-A0E5-B984E28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381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39">
            <a:solidFill>
              <a:srgbClr val="D7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D6F8C-A895-4C17-BEE1-134C09F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B834D-9EA5-44A0-8C1B-0C6585E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4063"/>
            <a:ext cx="3690938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解题能力能否代表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数学辅导的教学能力？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C2F8-0F5B-433D-91BF-B08CFA8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0438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0642-68E7-4FFF-A485-CA10435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810000" cy="154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覆盖三类能力、七项任务。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奖励模型评价开放式反馈。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分评错误定位与教学支架。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7ABC0-5643-4714-B37D-9AD97A4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B433-3E4F-460E-9390-36C7395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96063"/>
            <a:ext cx="3869531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评测开源与闭源模型。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解题强不等于教学强。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长对话增加辅导难度。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2C1CD-BFAD-4EAC-812C-B12E1C240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733c1181f4eb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10125" y="1762125"/>
            <a:ext cx="9715500" cy="5810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8E881-5B80-46BE-AD1F-CD367CC7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739063"/>
            <a:ext cx="971550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rPr>
              <a:t>原文图 2：任务、数据与指标，以及模型在不同辅导任务上的表现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4AACE-65E5-4353-8829-A9A3A66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55781"/>
            <a:ext cx="130373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43ba86aae5af4c81"/>
              </a:rPr>
              <a:t>Jakub Macina et al. ETH Zurich / TU Darmstadt. EMNLP 2025. DOI: 10.18653/v1/2025.emnlp-main.11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CBC61-C4DB-43A6-BF01-D6B4623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7502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63F77-3044-41CD-9379-49A8EA6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469"/>
            <a:ext cx="5357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1672">
            <a:solidFill>
              <a:srgbClr val="176FA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C8225-DA5B-4998-A089-92BA536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"/>
            <a:ext cx="1381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992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8334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8334B"/>
                </a:solidFill>
                <a:latin typeface="Arial"/>
                <a:ea typeface="Arial"/>
                <a:cs typeface="Arial"/>
              </a:rPr>
              <a:t>Tutor CoPilot: A Human-AI Approach for Scaling Real-Time Expertise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17D34-FD3D-49F4-A0E5-B984E28C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1381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739">
            <a:solidFill>
              <a:srgbClr val="D7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D6F8C-A895-4C17-BEE1-134C09F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B834D-9EA5-44A0-8C1B-0C6585E2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4063"/>
            <a:ext cx="3690938" cy="1071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344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AI 如何实时帮助教师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8334B"/>
                </a:solidFill>
                <a:latin typeface="Arial Unicode MS"/>
                <a:ea typeface="Arial Unicode MS"/>
                <a:cs typeface="Arial Unicode MS"/>
              </a:rPr>
              <a:t>选择有效的辅导策略？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8C2F8-0F5B-433D-91BF-B08CFA8A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0438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贡献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70642-68E7-4FFF-A485-CA10435D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3810000" cy="1547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15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将专家决策过程用于提示。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嵌入真人辅导对话工作流。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教师选择并修改建议回复。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7ABC0-5643-4714-B37D-9AD97A48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369093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88" b="1">
                <a:solidFill>
                  <a:srgbClr val="176FA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5B433-3E4F-460E-9390-36C73951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96063"/>
            <a:ext cx="3869531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8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2016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838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38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随机对照实验。</a:t>
            </a:r>
          </a:p>
          <a:p xmlns:a="http://schemas.openxmlformats.org/drawingml/2006/main">
            <a:pPr algn="l">
              <a:buNone/>
              <a:defRPr sz="1838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38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总体掌握概率提高 4 个百分点。</a:t>
            </a:r>
          </a:p>
          <a:p xmlns:a="http://schemas.openxmlformats.org/drawingml/2006/main">
            <a:pPr algn="l">
              <a:buNone/>
              <a:defRPr sz="1838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38" b="0">
                <a:solidFill>
                  <a:srgbClr val="263D50"/>
                </a:solidFill>
                <a:latin typeface="Arial Unicode MS"/>
                <a:ea typeface="Arial Unicode MS"/>
                <a:cs typeface="Arial Unicode MS"/>
              </a:rPr>
              <a:t>低评分教师组提高 9 个百分点。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2C1CD-BFAD-4EAC-812C-B12E1C240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4daf2cb6a4a8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810125" y="1714500"/>
            <a:ext cx="9715500" cy="5857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8E881-5B80-46BE-AD1F-CD367CC7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7739063"/>
            <a:ext cx="9715500" cy="2619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ctr">
              <a:buNone/>
              <a:def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13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rPr>
              <a:t>原文图 1：嵌入实时辅导场景的前端与专家引导生成流程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4AACE-65E5-4353-8829-A9A3A66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155781"/>
            <a:ext cx="1303734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defPPr>
            <a:lvl1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1pPr>
            <a:lvl2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2pPr>
            <a:lvl3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3pPr>
            <a:lvl4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4pPr>
            <a:lvl5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5pPr>
            <a:lvl6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6pPr>
            <a:lvl7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7pPr>
            <a:lvl8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8pPr>
            <a:lvl9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 algn="l">
              <a:buNone/>
              <a:def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66" b="0">
                <a:solidFill>
                  <a:srgbClr val="5B6E7E"/>
                </a:solidFill>
                <a:latin typeface="Arial Unicode MS"/>
                <a:ea typeface="Arial Unicode MS"/>
                <a:cs typeface="Arial Unicode MS"/>
                <a:hlinkClick xmlns:r="http://schemas.openxmlformats.org/officeDocument/2006/relationships" r:id="R1c5279f4fadb4d01"/>
              </a:rPr>
              <a:t>Rose E. Wang et al. Stanford. arXiv:2410.03017v3, 2026.10（预印本修订版）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CBC61-C4DB-43A6-BF01-D6B4623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80962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62738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7502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2026-10-24T10:44:48.4610000Z</dcterms:created>
  <dcterms:modified xsi:type="dcterms:W3CDTF">2026-10-24T10:44:48.4610000Z</dcterms:modified>
</coreProperties>
</file>