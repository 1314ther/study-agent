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8" Type="http://schemas.openxmlformats.org/officeDocument/2006/relationships/viewProps" Target="viewProps.xml" /><Relationship Id="rId27" Type="http://schemas.openxmlformats.org/officeDocument/2006/relationships/tableStyles" Target="tableStyles.xml" /><Relationship Id="rId24" Type="http://schemas.openxmlformats.org/officeDocument/2006/relationships/slide" Target="slides/slide24.xml" /><Relationship Id="rId22" Type="http://schemas.openxmlformats.org/officeDocument/2006/relationships/slide" Target="slides/slide22.xml" /><Relationship Id="rId25" Type="http://schemas.openxmlformats.org/officeDocument/2006/relationships/notesMaster" Target="notesMasters/notesMaster1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21" Type="http://schemas.openxmlformats.org/officeDocument/2006/relationships/slide" Target="slides/slide21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3" Type="http://schemas.openxmlformats.org/officeDocument/2006/relationships/slide" Target="slides/slide3.xml" /><Relationship Id="rId26" Type="http://schemas.openxmlformats.org/officeDocument/2006/relationships/presProps" Target="presProps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23" Type="http://schemas.openxmlformats.org/officeDocument/2006/relationships/slide" Target="slides/slide23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E3F8C', padding: 56, justifyContent: 'space-between' }}&gt;&#10;    &lt;Box style={{ flexDirection: 'column', gap: 12 }}&gt;&#10;        &lt;Text style={{ fontSize: 18, color: '#9EC1F0', letterSpacing: 4 }}&gt;&#10;            AN AI LEARNING SYSTEM FOR HIGH SCHOOL MATHEMATICS&#10;        &lt;/Text&gt;&#10;        &lt;Box style={{ width: 130, height: 4, background: '#3D7BD9' }} /&gt;&#10;    &lt;/Box&gt;&#10;&#10;    &lt;Box style={{ flexDirection: 'row', alignItems: 'stretch', gap: 40, flex: 1 }}&gt;&#10;        &lt;Box style={{ flexDirection: 'column', justifyContent: 'space-between', flex: 1, paddingTop: 6, paddingBottom: 6 }}&gt;&#10;            &lt;Box style={{ flexDirection: 'column', gap: 18 }}&gt;&#10;                &lt;Text style={{ fontSize: 60, fontWeight: 'bold', color: '#FFFFFF', lineHeight: 1.15 }}&gt;&#10;                    高中数学 AI 学习系统&#10;                &lt;/Text&gt;&#10;                &lt;Text style={{ fontSize: 30, color: '#C8DCF7', lineHeight: 1.4 }}&gt;&#10;                    从试题诊断到整卷评价&#10;                &lt;/Text&gt;&#10;                &lt;Text style={{ fontSize: 24, color: '#8FB4E8', lineHeight: 1.4 }}&gt;&#10;                    步骤级结构化 · 套路级归因 · 试卷级评价&#10;                &lt;/Text&gt;&#10;            &lt;/Box&gt;&#10;&#10;            &lt;Box style={{ flexDirection: 'column', gap: 12 }}&gt;&#10;                &lt;Box style={{ width: 640, height: 1, background: '#2E5CA8' }} /&gt;&#10;                &lt;Text style={{ fontSize: 21, color: '#B9D2F2', lineHeight: 1.6 }}&gt;&#10;                    不只是给出答案与解析，而是把每道题拆解为可计算的结构化步骤，&#10;                    让难度、批改、组卷与学情都建立在同一份数据之上。&#10;                &lt;/Text&gt;&#10;                &lt;Text style={{ fontSize: 21, color: '#FFC107', lineHeight: 1.6 }}&gt;&#10;                    核心突破：评价维度从试题升到试卷，从知识点升到套路。&#10;                &lt;/Text&gt;&#10;            &lt;/Box&gt;&#10;        &lt;/Box&gt;&#10;&#10;        &lt;Box style={{ width: 340, background: '#123D7F', borderRadius: 10, padding: 24, flexDirection: 'column', justifyContent: 'space-between' }}&gt;&#10;            &lt;Text style={{ fontSize: 17, color: '#8FB4E8' }}&gt;系统规模（2026-10-24 实测）&lt;/Text&gt;&#10;            &lt;Box style={{ flexDirection: 'column', gap: 10 }}&gt;&#10;                &lt;Box style={{ flexDirection: 'row', alignItems: 'baseline', gap: 10 }}&gt;&#10;                    &lt;Text style={{ fontSize: 40, fontWeight: 'bold', color: '#FFFFFF' }}&gt;25,000+&lt;/Text&gt;&#10;                    &lt;Text style={{ fontSize: 16, color: '#9EC1F0' }}&gt;后端代码行&lt;/Text&gt;&#10;                &lt;/Box&gt;&#10;                &lt;Box style={{ flexDirection: 'row', alignItems: 'baseline', gap: 10 }}&gt;&#10;                    &lt;Text style={{ fontSize: 40, fontWeight: 'bold', color: '#FFFFFF' }}&gt;288&lt;/Text&gt;&#10;                    &lt;Text style={{ fontSize: 16, color: '#9EC1F0' }}&gt;条套路目录&lt;/Text&gt;&#10;                &lt;/Box&gt;&#10;                &lt;Box style={{ flexDirection: 'row', alignItems: 'baseline', gap: 10 }}&gt;&#10;                    &lt;Text style={{ fontSize: 40, fontWeight: 'bold', color: '#FFFFFF' }}&gt;23,255&lt;/Text&gt;&#10;                    &lt;Text style={{ fontSize: 16, color: '#9EC1F0' }}&gt;道原题池候选&lt;/Text&gt;&#10;                &lt;/Box&gt;&#10;                &lt;Box style={{ flexDirection: 'row', alignItems: 'baseline', gap: 10 }}&gt;&#10;                    &lt;Text style={{ fontSize: 40, fontWeight: 'bold', color: '#FFFFFF' }}&gt;803&lt;/Text&gt;&#10;                    &lt;Text style={{ fontSize: 16, color: '#9EC1F0' }}&gt;个自动化测试&lt;/Text&gt;&#10;                &lt;/Box&gt;&#10;            &lt;/Box&gt;&#10;            &lt;Box style={{ width: 292, height: 1, background: '#2E5CA8' }} /&gt;&#10;            &lt;Text style={{ fontSize: 16, color: '#7FA3DC', lineHeight: 1.5 }}&gt;&#10;                纯本地运行，无外部依赖；&#10;                SQLite + 静态前端 + FastAPI。&#10;            &lt;/Text&gt;&#10;        &lt;/Box&gt;&#10;    &lt;/Box&gt;&#10;&#10;    &lt;Box style={{ flexDirection: 'row', justifyContent: 'space-between', alignItems: 'flex-end' }}&gt;&#10;        &lt;Box style={{ flexDirection: 'column', gap: 6 }}&gt;&#10;            &lt;Text style={{ fontSize: 20, color: '#FFFFFF' }}&gt;汇报人：（请在此填写）&lt;/Text&gt;&#10;            &lt;Text style={{ fontSize: 18, color: '#9EC1F0' }}&gt;单位：（请在此填写）&lt;/Text&gt;&#10;        &lt;/Box&gt;&#10;        &lt;Box style={{ flexDirection: 'column', gap: 6, alignItems: 'flex-end' }}&gt;&#10;            &lt;Text style={{ fontSize: 20, color: '#FFFFFF' }}&gt;2026 年 10 月&lt;/Text&gt;&#10;            &lt;Text style={{ fontSize: 16, color: '#7FA3DC' }}&gt;代码版本 2026-10-24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33400" y="533400"/>
            <a:ext cx="1112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9EC1F0"/>
                </a:solidFill>
                <a:latin typeface="Microsoft YaHei"/>
                <a:ea typeface="Microsoft YaHei"/>
              </a:rPr>
              <a:t>AN AI LEARNING SYSTEM FOR HIGH SCHOOL MATHEMATICS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533400" y="857250"/>
            <a:ext cx="123825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952500"/>
            <a:ext cx="75057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高中数学</a:t>
            </a:r>
            <a:r>
              <a:rPr lang="en-US" sz="4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学习系统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33400" y="1914525"/>
            <a:ext cx="75057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8DCF7"/>
                </a:solidFill>
                <a:latin typeface="Microsoft YaHei"/>
                <a:ea typeface="Microsoft YaHei"/>
              </a:rPr>
              <a:t>从试题诊断到整卷评价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33400" y="2571750"/>
            <a:ext cx="75057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8FB4E8"/>
                </a:solidFill>
                <a:latin typeface="Microsoft YaHei"/>
                <a:ea typeface="Microsoft YaHei"/>
              </a:rPr>
              <a:t>步骤级结构化</a:t>
            </a:r>
            <a:r>
              <a:rPr lang="en-US" sz="1800">
                <a:solidFill>
                  <a:srgbClr val="8FB4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8FB4E8"/>
                </a:solidFill>
                <a:latin typeface="Microsoft YaHei"/>
                <a:ea typeface="Microsoft YaHei"/>
              </a:rPr>
              <a:t>套路级归因</a:t>
            </a:r>
            <a:r>
              <a:rPr lang="en-US" sz="1800">
                <a:solidFill>
                  <a:srgbClr val="8FB4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8FB4E8"/>
                </a:solidFill>
                <a:latin typeface="Microsoft YaHei"/>
                <a:ea typeface="Microsoft YaHei"/>
              </a:rPr>
              <a:t>试卷级评价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33400" y="4371975"/>
            <a:ext cx="6096000" cy="9525"/>
          </a:xfrm>
          <a:prstGeom prst="rect">
            <a:avLst/>
          </a:prstGeom>
          <a:solidFill>
            <a:srgbClr val="2E5C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33400" y="4495800"/>
            <a:ext cx="7505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B9D2F2"/>
                </a:solidFill>
                <a:latin typeface="Microsoft YaHei"/>
                <a:ea typeface="Microsoft YaHei"/>
              </a:rPr>
              <a:t>不只是给出答案与解析，而是把每道题拆解为可计算的结构化步骤，</a:t>
            </a:r>
            <a:r>
              <a:rPr lang="en-US" sz="1575">
                <a:solidFill>
                  <a:srgbClr val="B9D2F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B9D2F2"/>
                </a:solidFill>
                <a:latin typeface="Microsoft YaHei"/>
                <a:ea typeface="Microsoft YaHei"/>
              </a:rPr>
              <a:t>让难度、批改、组卷与学情都建立在同一份数据之上。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33400" y="5381625"/>
            <a:ext cx="75057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FFC107"/>
                </a:solidFill>
                <a:latin typeface="Microsoft YaHei"/>
                <a:ea typeface="Microsoft YaHei"/>
              </a:rPr>
              <a:t>核心突破：评价维度从试题升到试卷，从知识点升到套路。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420100" y="895350"/>
            <a:ext cx="3238500" cy="4933950"/>
          </a:xfrm>
          <a:prstGeom prst="roundRect">
            <a:avLst>
              <a:gd name="adj" fmla="val 2941"/>
            </a:avLst>
          </a:prstGeom>
          <a:solidFill>
            <a:srgbClr val="123D7F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648700" y="112395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FB4E8"/>
                </a:solidFill>
                <a:latin typeface="Microsoft YaHei"/>
                <a:ea typeface="Microsoft YaHei"/>
              </a:rPr>
              <a:t>系统规模（</a:t>
            </a:r>
            <a:r>
              <a:rPr lang="en-US" sz="1275">
                <a:solidFill>
                  <a:srgbClr val="8FB4E8"/>
                </a:solidFill>
                <a:latin typeface="Microsoft YaHei"/>
                <a:ea typeface="Microsoft YaHei"/>
              </a:rPr>
              <a:t xml:space="preserve">2026-10-24 </a:t>
            </a:r>
            <a:r>
              <a:rPr lang="zh-CN" sz="1275">
                <a:solidFill>
                  <a:srgbClr val="8FB4E8"/>
                </a:solidFill>
                <a:latin typeface="Microsoft YaHei"/>
                <a:ea typeface="Microsoft YaHei"/>
              </a:rPr>
              <a:t>实测）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648700" y="1857375"/>
            <a:ext cx="1390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25,000+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134600" y="185737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1F0"/>
                </a:solidFill>
                <a:latin typeface="Microsoft YaHei"/>
                <a:ea typeface="Microsoft YaHei"/>
              </a:rPr>
              <a:t>后端代码行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648700" y="2409825"/>
            <a:ext cx="6381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288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382125" y="2409825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1F0"/>
                </a:solidFill>
                <a:latin typeface="Microsoft YaHei"/>
                <a:ea typeface="Microsoft YaHei"/>
              </a:rPr>
              <a:t>条套路目录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648700" y="2962275"/>
            <a:ext cx="1171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23,255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915525" y="2962275"/>
            <a:ext cx="914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1F0"/>
                </a:solidFill>
                <a:latin typeface="Microsoft YaHei"/>
                <a:ea typeface="Microsoft YaHei"/>
              </a:rPr>
              <a:t>道原题池候选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648700" y="3514725"/>
            <a:ext cx="6381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803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382125" y="3514725"/>
            <a:ext cx="914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EC1F0"/>
                </a:solidFill>
                <a:latin typeface="Microsoft YaHei"/>
                <a:ea typeface="Microsoft YaHei"/>
              </a:rPr>
              <a:t>个自动化测试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648700" y="4505325"/>
            <a:ext cx="2781300" cy="9525"/>
          </a:xfrm>
          <a:prstGeom prst="rect">
            <a:avLst/>
          </a:prstGeom>
          <a:solidFill>
            <a:srgbClr val="2E5CA8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648700" y="5048250"/>
            <a:ext cx="2781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7FA3DC"/>
                </a:solidFill>
                <a:latin typeface="Microsoft YaHei"/>
                <a:ea typeface="Microsoft YaHei"/>
              </a:rPr>
              <a:t>纯本地运行，无外部依赖；</a:t>
            </a:r>
            <a:r>
              <a:rPr lang="en-US" sz="1200">
                <a:solidFill>
                  <a:srgbClr val="7FA3DC"/>
                </a:solidFill>
                <a:latin typeface="Microsoft YaHei"/>
                <a:ea typeface="Microsoft YaHei"/>
              </a:rPr>
              <a:t xml:space="preserve"> SQLite + </a:t>
            </a:r>
            <a:r>
              <a:rPr lang="zh-CN" sz="1200">
                <a:solidFill>
                  <a:srgbClr val="7FA3DC"/>
                </a:solidFill>
                <a:latin typeface="Microsoft YaHei"/>
                <a:ea typeface="Microsoft YaHei"/>
              </a:rPr>
              <a:t>静态前端</a:t>
            </a:r>
            <a:r>
              <a:rPr lang="en-US" sz="1200">
                <a:solidFill>
                  <a:srgbClr val="7FA3DC"/>
                </a:solidFill>
                <a:latin typeface="Microsoft YaHei"/>
                <a:ea typeface="Microsoft YaHei"/>
              </a:rPr>
              <a:t xml:space="preserve"> + FastAPI</a:t>
            </a:r>
            <a:r>
              <a:rPr lang="zh-CN" sz="1200">
                <a:solidFill>
                  <a:srgbClr val="7FA3D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33400" y="5829300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汇报人：（请在此填写）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33400" y="6115050"/>
            <a:ext cx="209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EC1F0"/>
                </a:solidFill>
                <a:latin typeface="Microsoft YaHei"/>
                <a:ea typeface="Microsoft YaHei"/>
              </a:rPr>
              <a:t>单位：（请在此填写）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477500" y="5848350"/>
            <a:ext cx="118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220325" y="6134100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FA3DC"/>
                </a:solidFill>
                <a:latin typeface="Microsoft YaHei"/>
                <a:ea typeface="Microsoft YaHei"/>
              </a:rPr>
              <a:t>代码版本</a:t>
            </a:r>
            <a:r>
              <a:rPr lang="en-US" sz="1200">
                <a:solidFill>
                  <a:srgbClr val="7FA3DC"/>
                </a:solidFill>
                <a:latin typeface="Microsoft YaHei"/>
                <a:ea typeface="Microsoft YaHei"/>
              </a:rPr>
              <a:t xml:space="preserve"> 2026-10-24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22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1 · 我们要解决的问题：教师带宽的物理上限&lt;/Text&gt;&#10;    &lt;/Box&gt;&#10;&#10;    &lt;Box style={{ flex: 1, paddingTop: 22, paddingBottom: 18, paddingLeft: 40, paddingRight: 40, justifyContent: 'space-between' }}&gt;&#10;        &lt;Text style={{ fontSize: 22, color: '#4A5568', lineHeight: 1.6 }}&gt;&#10;            班级授课制三百年来底层逻辑未变：一个老师、同样的内容、同样的节奏、同样的作业。但每个学生的卡点并不相同。&#10;        &lt;/Text&gt;&#10;&#10;        &lt;Box style={{ flexDirection: 'row', alignItems: 'stretch', gap: 28, flex: 1 }}&gt;&#10;            &lt;Box style={{ flex: 1, background: '#F0F5FC', borderRadius: 8, border: '1px solid #D6DCE5', padding: 24, justifyContent: 'space-between' }}&gt;&#10;                &lt;Box style={{ flexDirection: 'column', gap: 10 }}&gt;&#10;                    &lt;Text style={{ fontSize: 26, fontWeight: 'bold', color: '#1E4FA8' }}&gt;教师能看到什么&lt;/Text&gt;&#10;                    &lt;Text style={{ fontSize: 18, color: '#8B97A8' }}&gt;一个班级 50 人 · 一份作业&lt;/Text&gt;&#10;                &lt;/Box&gt;&#10;                &lt;Box style={{ flexDirection: 'column', gap: 14 }}&gt;&#10;                    &lt;Box style={{ flexDirection: 'row', gap: 10 }}&gt;&#10;                        &lt;Box style={{ width: 8, height: 8, background: '#3D7BD9', marginTop: 8 }} /&gt;&#10;                        &lt;Text style={{ fontSize: 21, color: '#1A2230', lineHeight: 1.5, flex: 1 }}&gt;整卷得分与大致错题分布&lt;/Text&gt;&#10;                    &lt;/Box&gt;&#10;                    &lt;Box style={{ flexDirection: 'row', gap: 10 }}&gt;&#10;                        &lt;Box style={{ width: 8, height: 8, background: '#3D7BD9', marginTop: 8 }} /&gt;&#10;                        &lt;Text style={{ fontSize: 21, color: '#1A2230', lineHeight: 1.5, flex: 1 }}&gt;凭经验猜测哪些题难、哪些题易&lt;/Text&gt;&#10;                    &lt;/Box&gt;&#10;                    &lt;Box style={{ flexDirection: 'row', gap: 10 }}&gt;&#10;                        &lt;Box style={{ width: 8, height: 8, background: '#3D7BD9', marginTop: 8 }} /&gt;&#10;                        &lt;Text style={{ fontSize: 21, color: '#1A2230', lineHeight: 1.5, flex: 1 }}&gt;课后谈话才能了解学习状态&lt;/Text&gt;&#10;                    &lt;/Box&gt;&#10;                &lt;/Box&gt;&#10;                &lt;Text style={{ fontSize: 18, color: '#8B97A8', lineHeight: 1.5 }}&gt;信息粒度：整题&lt;/Text&gt;&#10;            &lt;/Box&gt;&#10;&#10;            &lt;Box style={{ width: 76, alignItems: 'center', justifyContent: 'center' }}&gt;&#10;                &lt;Box style={{ width: 2, height: 200, background: '#D6DCE5' }} /&gt;&#10;            &lt;/Box&gt;&#10;&#10;            &lt;Box style={{ flex: 1, background: '#E8EFF8', borderRadius: 8, border: '1px solid #3D7BD9', padding: 24, justifyContent: 'space-between' }}&gt;&#10;                &lt;Box style={{ flexDirection: 'column', gap: 10 }}&gt;&#10;                    &lt;Text style={{ fontSize: 26, fontWeight: 'bold', color: '#0E3F8C' }}&gt;实际发生了什么&lt;/Text&gt;&#10;                    &lt;Text style={{ fontSize: 18, color: '#8B97A8' }}&gt;同一个学生 · 同一道题&lt;/Text&gt;&#10;                &lt;/Box&gt;&#10;                &lt;Box style={{ flexDirection: 'column', gap: 14 }}&gt;&#10;                    &lt;Box style={{ flexDirection: 'row', gap: 10 }}&gt;&#10;                        &lt;Box style={{ width: 8, height: 8, background: '#D9534F', marginTop: 8 }} /&gt;&#10;                        &lt;Text style={{ fontSize: 21, color: '#1A2230', lineHeight: 1.5, flex: 1 }}&gt;第 3 步符号写错，后面全对&lt;/Text&gt;&#10;                    &lt;/Box&gt;&#10;                    &lt;Box style={{ flexDirection: 'row', gap: 10 }}&gt;&#10;                        &lt;Box style={{ width: 8, height: 8, background: '#D9534F', marginTop: 8 }} /&gt;&#10;                        &lt;Text style={{ fontSize: 21, color: '#1A2230', lineHeight: 1.5, flex: 1 }}&gt;第 5 步方法选错，而非知识不会&lt;/Text&gt;&#10;                    &lt;/Box&gt;&#10;                    &lt;Box style={{ flexDirection: 'row', gap: 10 }}&gt;&#10;                        &lt;Box style={{ width: 8, height: 8, background: '#D9534F', marginTop: 8 }} /&gt;&#10;                        &lt;Text style={{ fontSize: 21, color: '#1A2230', lineHeight: 1.5, flex: 1 }}&gt;这一问卡了 6 分钟才放弃&lt;/Text&gt;&#10;                    &lt;/Box&gt;&#10;                &lt;/Box&gt;&#10;                &lt;Text style={{ fontSize: 18, color: '#8B97A8', lineHeight: 1.5 }}&gt;信息粒度：步骤 / 用时&lt;/Text&gt;&#10;            &lt;/Box&gt;&#10;        &lt;/Box&gt;&#10;&#10;        &lt;Box style={{ background: '#0E3F8C', borderRadius: 8, padding: 18, flexDirection: 'row', alignItems: 'center', gap: 14 }}&gt;&#10;            &lt;Box style={{ width: 6, height: 44, background: '#FFC107' }} /&gt;&#10;            &lt;Text style={{ fontSize: 22, color: '#FFFFFF', lineHeight: 1.5, flex: 1 }}&gt;&#10;                这不是老师不够努力，而是人脑带宽本来就不够——在班级规模下，逐步骤诊断物理上不可能完成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我们要解决的问题：教师带宽的物理上限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81000" y="895350"/>
            <a:ext cx="11430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班级授课制三百年来底层逻辑未变：一个老师、同样的内容、同样的节奏、同样的作业。但每个学生的卡点并不相同。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381000" y="1304925"/>
            <a:ext cx="5086350" cy="4200525"/>
          </a:xfrm>
          <a:prstGeom prst="roundRect">
            <a:avLst>
              <a:gd name="adj" fmla="val 181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4629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教师能看到什么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一个班级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人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一份作业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295275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81050" y="28765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整卷得分与大致错题分布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344805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81050" y="33718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凭经验猜测哪些题难、哪些题易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394335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81050" y="38671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课后谈话才能了解学习状态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4962525"/>
            <a:ext cx="4629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信息粒度：整题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86475" y="2457450"/>
            <a:ext cx="19050" cy="1905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6724650" y="1304925"/>
            <a:ext cx="5086350" cy="4200525"/>
          </a:xfrm>
          <a:prstGeom prst="roundRect">
            <a:avLst>
              <a:gd name="adj" fmla="val 1814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953250" y="1533525"/>
            <a:ext cx="4629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实际发生了什么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953250" y="1933575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同一个学生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同一道题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953250" y="295275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124700" y="28765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步符号写错，后面全对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953250" y="344805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124700" y="33718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步方法选错，而非知识不会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953250" y="3943350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124700" y="3867150"/>
            <a:ext cx="4457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这一问卡了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分钟才放弃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953250" y="4962525"/>
            <a:ext cx="4629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信息粒度：步骤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用时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381000" y="5505450"/>
            <a:ext cx="11430000" cy="7620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552450" y="5676900"/>
            <a:ext cx="57150" cy="419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42950" y="5695950"/>
            <a:ext cx="10896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这不是老师不够努力，而是人脑带宽本来就不够——在班级规模下，逐步骤诊断物理上不可能完成。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70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1 · 现有产品的三种「伪个性化」&lt;/Text&gt;&#10;    &lt;/Box&gt;&#10;&#10;    &lt;Box style={{ flex: 1, paddingTop: 14, paddingBottom: 12, paddingLeft: 40, paddingRight: 40, justifyContent: 'space-between' }}&gt;&#10;        &lt;Text style={{ fontSize: 22, color: '#4A5568', lineHeight: 1.6 }}&gt;&#10;            多数产品改变的是「推什么内容、用什么节奏」，而不是教学过程本身。&#10;        &lt;/Text&gt;&#10;&#10;        &lt;Box style={{ flexDirection: 'row', alignItems: 'stretch', gap: 24, flex: 1 }}&gt;&#10;            &lt;Box style={{ flex: 1, background: '#F0F5FC', borderRadius: 8, border: '1px solid #D6DCE5', padding: 18, justifyContent: 'space-between' }}&gt;&#10;                &lt;Box style={{ flexDirection: 'column', gap: 8 }}&gt;&#10;                    &lt;Box style={{ width: 40, height: 40, background: '#1E4FA8', borderRadius: 6, alignItems: 'center', justifyContent: 'center' }}&gt;&#10;                        &lt;Text style={{ fontSize: 22, fontWeight: 'bold', color: '#FFFFFF' }}&gt;1&lt;/Text&gt;&#10;                    &lt;/Box&gt;&#10;                    &lt;Text style={{ fontSize: 26, fontWeight: 'bold', color: '#1A2230' }}&gt;自适应题库&lt;/Text&gt;&#10;                &lt;/Box&gt;&#10;                &lt;Text style={{ fontSize: 17, color: '#8B97A8', lineHeight: 1.4 }}&gt;连错三题后只降难度，不说错在哪一步。&lt;/Text&gt;&#10;                &lt;Box style={{ flexDirection: 'column', gap: 8 }}&gt;&#10;                    &lt;Text style={{ fontSize: 19, color: '#8B97A8' }}&gt;它做的&lt;/Text&gt;&#10;                    &lt;Text style={{ fontSize: 21, color: '#1A2230', lineHeight: 1.5 }}&gt;按正确率推送下一道题&lt;/Text&gt;&#10;                &lt;/Box&gt;&#10;                &lt;Text style={{ fontSize: 17, color: '#8B97A8', lineHeight: 1.4 }}&gt;可以跳过最难的一章，考前才发现没掌握。&lt;/Text&gt;&#10;                &lt;Box style={{ background: '#FFFFFF', borderRadius: 6, padding: 14 }}&gt;&#10;                    &lt;Text style={{ fontSize: 19, color: '#8B97A8', lineHeight: 1.4 }}&gt;为什么不够&lt;/Text&gt;&#10;                    &lt;Text style={{ fontSize: 20, color: '#D9534F', lineHeight: 1.5 }}&gt;只是推荐算法；它不知道学生错在哪一步、因什么错。&lt;/Text&gt;&#10;                &lt;/Box&gt;&#10;                &lt;Text style={{ fontSize: 17, color: '#8B97A8', lineHeight: 1.4 }}&gt;抄完解析感觉会了，一周后同类题仍不会。&lt;/Text&gt;&#10;            &lt;/Box&gt;&#10;&#10;            &lt;Box style={{ flex: 1, background: '#F0F5FC', borderRadius: 8, border: '1px solid #D6DCE5', padding: 18, justifyContent: 'space-between' }}&gt;&#10;                &lt;Box style={{ flexDirection: 'column', gap: 8 }}&gt;&#10;                    &lt;Box style={{ width: 40, height: 40, background: '#1E4FA8', borderRadius: 6, alignItems: 'center', justifyContent: 'center' }}&gt;&#10;                        &lt;Text style={{ fontSize: 22, fontWeight: 'bold', color: '#FFFFFF' }}&gt;2&lt;/Text&gt;&#10;                    &lt;/Box&gt;&#10;                    &lt;Text style={{ fontSize: 26, fontWeight: 'bold', color: '#1A2230' }}&gt;录播课&lt;/Text&gt;&#10;                &lt;/Box&gt;&#10;                &lt;Box style={{ flexDirection: 'column', gap: 8 }}&gt;&#10;                    &lt;Text style={{ fontSize: 19, color: '#8B97A8' }}&gt;它做的&lt;/Text&gt;&#10;                    &lt;Text style={{ fontSize: 21, color: '#1A2230', lineHeight: 1.5 }}&gt;让学生自己选择进度&lt;/Text&gt;&#10;                &lt;/Box&gt;&#10;                &lt;Box style={{ background: '#FFFFFF', borderRadius: 6, padding: 14 }}&gt;&#10;                    &lt;Text style={{ fontSize: 19, color: '#8B97A8', lineHeight: 1.4 }}&gt;为什么不够&lt;/Text&gt;&#10;                    &lt;Text style={{ fontSize: 20, color: '#D9534F', lineHeight: 1.5 }}&gt;把学习压力与判断责任一并转给了学生，遇到困难时没人指出该回头补哪里。&lt;/Text&gt;&#10;                &lt;/Box&gt;&#10;            &lt;/Box&gt;&#10;&#10;            &lt;Box style={{ flex: 1, background: '#F0F5FC', borderRadius: 8, border: '1px solid #D6DCE5', padding: 18, justifyContent: 'space-between' }}&gt;&#10;                &lt;Box style={{ flexDirection: 'column', gap: 8 }}&gt;&#10;                    &lt;Box style={{ width: 40, height: 40, background: '#1E4FA8', borderRadius: 6, alignItems: 'center', justifyContent: 'center' }}&gt;&#10;                        &lt;Text style={{ fontSize: 22, fontWeight: 'bold', color: '#FFFFFF' }}&gt;3&lt;/Text&gt;&#10;                    &lt;/Box&gt;&#10;                    &lt;Text style={{ fontSize: 26, fontWeight: 'bold', color: '#1A2230' }}&gt;拍照搜题&lt;/Text&gt;&#10;                &lt;/Box&gt;&#10;                &lt;Box style={{ flexDirection: 'column', gap: 8 }}&gt;&#10;                    &lt;Text style={{ fontSize: 19, color: '#8B97A8' }}&gt;它做的&lt;/Text&gt;&#10;                    &lt;Text style={{ fontSize: 21, color: '#1A2230', lineHeight: 1.5 }}&gt;直接给出答案与解析&lt;/Text&gt;&#10;                &lt;/Box&gt;&#10;                &lt;Box style={{ background: '#FFFFFF', borderRadius: 6, padding: 14 }}&gt;&#10;                    &lt;Text style={{ fontSize: 19, color: '#8B97A8', lineHeight: 1.4 }}&gt;为什么不够&lt;/Text&gt;&#10;                    &lt;Text style={{ fontSize: 20, color: '#D9534F', lineHeight: 1.5 }}&gt;跳过思考过程，长期使用会让学生误以为已经掌握，反而损害学习能力。&lt;/Text&gt;&#10;                &lt;/Box&gt;&#10;            &lt;/Box&gt;&#10;        &lt;/Box&gt;&#10;&#10;        &lt;Box style={{ background: '#0E3F8C', borderRadius: 8, padding: 14, flexDirection: 'row', alignItems: 'center', gap: 14 }}&gt;&#10;            &lt;Box style={{ width: 6, height: 44, background: '#FFC107' }} /&gt;&#10;            &lt;Text style={{ fontSize: 22, color: '#FFFFFF', lineHeight: 1.5, flex: 1 }}&gt;&#10;                真正的个性化发生在&lt;span style={{ fontWeight: 'bold' }}&gt;教学过程中&lt;/span&gt;：每一步有反馈、每一次错误被看见、每一种不同思路被尊重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现有产品的三种「伪个性化」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多数产品改变的是「推什么内容、用什么节奏」，而不是教学过程本身。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381000" y="1228725"/>
            <a:ext cx="3657600" cy="4410075"/>
          </a:xfrm>
          <a:prstGeom prst="roundRect">
            <a:avLst>
              <a:gd name="adj" fmla="val 208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552450" y="140017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52450" y="185737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自适应题库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52450" y="2276475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连错三题后只降难度，不说错在哪一步。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52450" y="266700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它做的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52450" y="2962275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按正确率推送下一道题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52450" y="3429000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可以跳过最难的一章，考前才发现没掌握。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552450" y="3819525"/>
            <a:ext cx="33147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5800" y="3952875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为什么不够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85800" y="4257675"/>
            <a:ext cx="3048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D9534F"/>
                </a:solidFill>
                <a:latin typeface="Microsoft YaHei"/>
                <a:ea typeface="Microsoft YaHei"/>
              </a:rPr>
              <a:t>只是推荐算法；它不知道学生错在哪一步、因什么错。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52450" y="5191125"/>
            <a:ext cx="33147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抄完解析感觉会了，一周后同类题仍不会。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4267200" y="1228725"/>
            <a:ext cx="3657600" cy="4410075"/>
          </a:xfrm>
          <a:prstGeom prst="roundRect">
            <a:avLst>
              <a:gd name="adj" fmla="val 208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4438650" y="140017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4572000" y="14668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4438650" y="185737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录播课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4438650" y="268605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它做的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4438650" y="2981325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让学生自己选择进度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4438650" y="3867150"/>
            <a:ext cx="33147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4572000" y="40005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为什么不够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572000" y="4305300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D9534F"/>
                </a:solidFill>
                <a:latin typeface="Microsoft YaHei"/>
                <a:ea typeface="Microsoft YaHei"/>
              </a:rPr>
              <a:t>把学习压力与判断责任一并转给了学生，遇到困难时没人指出该回头补哪里。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8153400" y="1228725"/>
            <a:ext cx="3657600" cy="4410075"/>
          </a:xfrm>
          <a:prstGeom prst="roundRect">
            <a:avLst>
              <a:gd name="adj" fmla="val 208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7" name=""/>
          <p:cNvSpPr/>
          <p:nvPr/>
        </p:nvSpPr>
        <p:spPr>
          <a:xfrm rot="0" flipH="0" flipV="0">
            <a:off x="8324850" y="140017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458200" y="14668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324850" y="1857375"/>
            <a:ext cx="3314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拍照搜题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324850" y="2857500"/>
            <a:ext cx="3314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它做的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324850" y="3152775"/>
            <a:ext cx="33147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直接给出答案与解析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8324850" y="4210050"/>
            <a:ext cx="33147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458200" y="43434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为什么不够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458200" y="4648200"/>
            <a:ext cx="3048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D9534F"/>
                </a:solidFill>
                <a:latin typeface="Microsoft YaHei"/>
                <a:ea typeface="Microsoft YaHei"/>
              </a:rPr>
              <a:t>跳过思考过程，长期使用会让学生误以为已经掌握，反而损害学习能力。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381000" y="5638800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514350" y="5772150"/>
            <a:ext cx="57150" cy="419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04850" y="5791200"/>
            <a:ext cx="109728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真正的个性化发生在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教学过程中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：每一步有反馈、每一次错误被看见、每一种不同思路被尊重。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710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1 · 系统主张：AI 做人类做不到的事&lt;/Text&gt;&#10;    &lt;/Box&gt;&#10;&#10;    &lt;Box style={{ flex: 1, paddingTop: 20, paddingBottom: 16, paddingLeft: 40, paddingRight: 40, flexDirection: 'row', gap: 28 }}&gt;&#10;        &lt;Box style={{ flex: 1, justifyContent: 'space-between' }}&gt;&#10;            &lt;Box style={{ background: '#F0F5FC', borderRadius: 8, padding: 18, border: '1px solid #D6DCE5' }}&gt;&#10;                &lt;Text style={{ fontSize: 23, color: '#1A2230', lineHeight: 1.6 }}&gt;&#10;                    系统的价值不在于把教师做过的事做得更便宜，而在于补足教师&lt;span style={{ fontWeight: 'bold', color: '#1E4FA8' }}&gt;本来做不到&lt;/span&gt;的诊断工作。&#10;                &lt;/Text&gt;&#10;            &lt;/Box&gt;&#10;&#10;            &lt;Box style={{ flexDirection: 'column', gap: 12 }}&gt;&#10;                &lt;Box style={{ flex: 1, background: '#FFFFFF', borderRadius: 8, border: '1px solid #D6DCE5', padding: 18, flexDirection: 'row', gap: 16, alignItems: 'center' }}&gt;&#10;                    &lt;Box style={{ width: 52, height: 52, background: '#1E4FA8', borderRadius: 8, alignItems: 'center', justifyContent: 'center' }}&gt;&#10;                        &lt;Text style={{ fontSize: 24, fontWeight: 'bold', color: '#FFFFFF' }}&gt;1&lt;/Text&gt;&#10;                    &lt;/Box&gt;&#10;                    &lt;Box style={{ flex: 1, flexDirection: 'column', gap: 4 }}&gt;&#10;                        &lt;Text style={{ fontSize: 25, fontWeight: 'bold', color: '#1A2230' }}&gt;步骤级&lt;/Text&gt;&#10;                        &lt;Text style={{ fontSize: 20, color: '#4A5568', lineHeight: 1.5 }}&gt;为每道题的每一小步标出知识点、难度与错因&lt;/Text&gt;&#10;                    &lt;/Box&gt;&#10;                &lt;/Box&gt;&#10;&#10;                &lt;Box style={{ flex: 1, background: '#FFFFFF', borderRadius: 8, border: '1px solid #D6DCE5', padding: 18, flexDirection: 'row', gap: 16, alignItems: 'center' }}&gt;&#10;                    &lt;Box style={{ width: 52, height: 52, background: '#1E4FA8', borderRadius: 8, alignItems: 'center', justifyContent: 'center' }}&gt;&#10;                        &lt;Text style={{ fontSize: 24, fontWeight: 'bold', color: '#FFFFFF' }}&gt;2&lt;/Text&gt;&#10;                    &lt;/Box&gt;&#10;                    &lt;Box style={{ flex: 1, flexDirection: 'column', gap: 4 }}&gt;&#10;                        &lt;Text style={{ fontSize: 25, fontWeight: 'bold', color: '#1A2230' }}&gt;套路级&lt;/Text&gt;&#10;                        &lt;Text style={{ fontSize: 20, color: '#4A5568', lineHeight: 1.5 }}&gt;区分「不会这个知识」与「选错了方法」&lt;/Text&gt;&#10;                    &lt;/Box&gt;&#10;                &lt;/Box&gt;&#10;&#10;                &lt;Box style={{ flex: 1, background: '#E8EFF8', borderRadius: 8, border: '1px solid #3D7BD9', padding: 18, flexDirection: 'row', gap: 16, alignItems: 'center' }}&gt;&#10;                    &lt;Box style={{ width: 52, height: 52, background: '#0E3F8C', borderRadius: 8, alignItems: 'center', justifyContent: 'center' }}&gt;&#10;                        &lt;Text style={{ fontSize: 24, fontWeight: 'bold', color: '#FFFFFF' }}&gt;3&lt;/Text&gt;&#10;                    &lt;/Box&gt;&#10;                    &lt;Box style={{ flex: 1, flexDirection: 'column', gap: 4 }}&gt;&#10;                        &lt;Text style={{ fontSize: 25, fontWeight: 'bold', color: '#0E3F8C' }}&gt;整卷级&lt;/Text&gt;&#10;                        &lt;Text style={{ fontSize: 20, color: '#4A5568', lineHeight: 1.5 }}&gt;从一次错误升级为跨考试、跨题目的稳定模式&lt;/Text&gt;&#10;                    &lt;/Box&gt;&#10;                &lt;/Box&gt;&#10;            &lt;/Box&gt;&#10;&#10;            &lt;Box style={{ background: '#F7F9FC', borderRadius: 8, padding: 14, borderLeft: '4px solid #8B97A8' }}&gt;&#10;                &lt;Text style={{ fontSize: 17, color: '#8B97A8', lineHeight: 1.5 }}&gt;&#10;                    边界声明：以上为设计目标与已实现的评价框架；学习效果尚未经真实学生试用验证，本报告不作提分主张。&#10;                &lt;/Text&gt;&#10;            &lt;/Box&gt;&#10;        &lt;/Box&gt;&#10;&#10;        &lt;Box style={{ width: 330, background: '#0E3F8C', borderRadius: 10, padding: 26, flexDirection: 'column', justifyContent: 'space-between' }}&gt;&#10;            &lt;Text style={{ fontSize: 18, color: '#9EC1F0' }}&gt;本次汇报的核心线索&lt;/Text&gt;&#10;            &lt;Box style={{ flexDirection: 'column', gap: 6 }}&gt;&#10;                &lt;Text style={{ fontSize: 64, fontWeight: 'bold', color: '#FFFFFF', lineHeight: 1.1 }}&gt;两次&lt;/Text&gt;&#10;                &lt;Text style={{ fontSize: 64, fontWeight: 'bold', color: '#FFC107', lineHeight: 1.1 }}&gt;升维&lt;/Text&gt;&#10;            &lt;/Box&gt;&#10;            &lt;Box style={{ flexDirection: 'column', gap: 12 }}&gt;&#10;                &lt;Box style={{ flexDirection: 'row', alignItems: 'center', gap: 10 }}&gt;&#10;                    &lt;Box style={{ width: 10, height: 10, background: '#FFC107' }} /&gt;&#10;                    &lt;Text style={{ fontSize: 19, color: '#C8DCF7', flex: 1 }}&gt;试题 → 试卷&lt;/Text&gt;&#10;                &lt;/Box&gt;&#10;                &lt;Box style={{ flexDirection: 'row', alignItems: 'center', gap: 10 }}&gt;&#10;                    &lt;Box style={{ width: 10, height: 10, background: '#FFC107' }} /&gt;&#10;                    &lt;Text style={{ fontSize: 19, color: '#C8DCF7', flex: 1 }}&gt;知识点 → 套路&lt;/Text&gt;&#10;                &lt;/Box&gt;&#10;            &lt;/Box&gt;&#10;            &lt;Box style={{ width: 278, height: 1, background: '#2E5CA8' }} /&gt;&#10;            &lt;Text style={{ fontSize: 18, color: '#9EC1F0', lineHeight: 1.5 }}&gt;&#10;                后面将论证：这两次升维产生的结论，在下层不可归约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系统主张：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做人类做不到的事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381000" y="876300"/>
            <a:ext cx="8020050" cy="1190625"/>
          </a:xfrm>
          <a:prstGeom prst="roundRect">
            <a:avLst>
              <a:gd name="adj" fmla="val 64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552450" y="1047750"/>
            <a:ext cx="767715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系统的价值不在于把教师做过的事做得更便宜，而在于补足教师</a:t>
            </a: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本来做不到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的诊断工作。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381000" y="2124075"/>
            <a:ext cx="80200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552450" y="23812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33425" y="2495550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200150" y="2295525"/>
            <a:ext cx="702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步骤级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200150" y="2619375"/>
            <a:ext cx="7029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为每道题的每一小步标出知识点、难度与错因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381000" y="3248025"/>
            <a:ext cx="80200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552450" y="35052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33425" y="3619500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1200150" y="3419475"/>
            <a:ext cx="702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套路级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1200150" y="3743325"/>
            <a:ext cx="7029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区分「不会这个知识」与「选错了方法」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381000" y="4371975"/>
            <a:ext cx="8020050" cy="1009650"/>
          </a:xfrm>
          <a:prstGeom prst="roundRect">
            <a:avLst>
              <a:gd name="adj" fmla="val 7547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27" name=""/>
          <p:cNvSpPr/>
          <p:nvPr/>
        </p:nvSpPr>
        <p:spPr>
          <a:xfrm rot="0" flipH="0" flipV="0">
            <a:off x="552450" y="462915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33425" y="4743450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200150" y="4543425"/>
            <a:ext cx="7029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整卷级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1200150" y="4867275"/>
            <a:ext cx="7029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从一次错误升级为跨考试、跨题目的稳定模式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419100" y="5429250"/>
            <a:ext cx="8020050" cy="85725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419100" y="5429250"/>
            <a:ext cx="8020050" cy="857250"/>
          </a:xfrm>
          <a:custGeom>
            <a:pathLst>
              <a:path w="842" h="90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6"/>
                </a:lnTo>
                <a:cubicBezTo>
                  <a:pt x="4" y="88"/>
                  <a:pt x="5" y="90"/>
                  <a:pt x="7" y="90"/>
                </a:cubicBezTo>
                <a:cubicBezTo>
                  <a:pt x="3" y="90"/>
                  <a:pt x="0" y="86"/>
                  <a:pt x="0" y="82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552450" y="5562600"/>
            <a:ext cx="7715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边界声明：以上为设计目标与已实现的评价框架；学习效果尚未经真实学生试用验证，本报告不作提分主张。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8667750" y="876300"/>
            <a:ext cx="3143250" cy="5410200"/>
          </a:xfrm>
          <a:prstGeom prst="roundRect">
            <a:avLst>
              <a:gd name="adj" fmla="val 303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915400" y="1123950"/>
            <a:ext cx="2647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EC1F0"/>
                </a:solidFill>
                <a:latin typeface="Microsoft YaHei"/>
                <a:ea typeface="Microsoft YaHei"/>
              </a:rPr>
              <a:t>本次汇报的核心线索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915400" y="1800225"/>
            <a:ext cx="26479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两次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915400" y="2667000"/>
            <a:ext cx="26479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C107"/>
                </a:solidFill>
                <a:latin typeface="Microsoft YaHei"/>
                <a:ea typeface="Microsoft YaHei"/>
              </a:rPr>
              <a:t>升维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8915400" y="400050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9105900" y="3933825"/>
            <a:ext cx="2457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8DCF7"/>
                </a:solidFill>
                <a:latin typeface="Microsoft YaHei"/>
                <a:ea typeface="Microsoft YaHei"/>
              </a:rPr>
              <a:t>试题</a:t>
            </a:r>
            <a:r>
              <a:rPr lang="en-US" sz="1425">
                <a:solidFill>
                  <a:srgbClr val="C8DC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C8DCF7"/>
                </a:solidFill>
                <a:latin typeface="Microsoft YaHei"/>
                <a:ea typeface="Microsoft YaHei"/>
              </a:rPr>
              <a:t>试卷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8915400" y="4333875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9105900" y="4267200"/>
            <a:ext cx="2457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8DCF7"/>
                </a:solidFill>
                <a:latin typeface="Microsoft YaHei"/>
                <a:ea typeface="Microsoft YaHei"/>
              </a:rPr>
              <a:t>知识点</a:t>
            </a:r>
            <a:r>
              <a:rPr lang="en-US" sz="1425">
                <a:solidFill>
                  <a:srgbClr val="C8DCF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C8DCF7"/>
                </a:solidFill>
                <a:latin typeface="Microsoft YaHei"/>
                <a:ea typeface="Microsoft YaHei"/>
              </a:rPr>
              <a:t>套路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8915400" y="4953000"/>
            <a:ext cx="2647950" cy="9525"/>
          </a:xfrm>
          <a:prstGeom prst="rect">
            <a:avLst/>
          </a:prstGeom>
          <a:solidFill>
            <a:srgbClr val="2E5CA8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915400" y="5419725"/>
            <a:ext cx="26479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9EC1F0"/>
                </a:solidFill>
                <a:latin typeface="Microsoft YaHei"/>
                <a:ea typeface="Microsoft YaHei"/>
              </a:rPr>
              <a:t>后面将论证：这两次升维产生的结论，在下层不可归约。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46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2 · 全系统一张图：只有一个中间产物&lt;/Text&gt;&#10;    &lt;/Box&gt;&#10;&#10;    &lt;Box style={{ flex: 1, paddingTop: 16, paddingBottom: 14, paddingLeft: 40, paddingRight: 40, alignItems: 'center', justifyContent: 'space-between' }}&gt;&#10;        &lt;Text style={{ fontSize: 21, color: '#4A5568', lineHeight: 1.5, textAlign: 'center' }}&gt;&#10;            系统功能很多，但它们不是并列的：上游三段流水线只生产&lt;span style={{ fontWeight: 'bold', color: '#1E4FA8' }}&gt;一种数据&lt;/span&gt;，下游所有能力只消费这一种数据。&#10;        &lt;/Text&gt;&#10;&#10;        &lt;Box style={{ width: 1150, flexDirection: 'row', gap: 20 }}&gt;&#10;            &lt;Box style={{ flex: 1, height: 66, background: '#E8EFF8', border: '1px solid #3D7BD9', borderRadius: 8, alignItems: 'center', justifyContent: 'center', flexDirection: 'column' }}&gt;&#10;                &lt;Text style={{ fontSize: 22, fontWeight: 'bold', color: '#1E4FA8' }}&gt;Solver&lt;/Text&gt;&#10;                &lt;Text style={{ fontSize: 16, color: '#4A5568' }}&gt;解题 · 板块 · 可解性&lt;/Text&gt;&#10;            &lt;/Box&gt;&#10;            &lt;Box style={{ flex: 1, height: 66, background: '#E8EFF8', border: '1px solid #3D7BD9', borderRadius: 8, alignItems: 'center', justifyContent: 'center', flexDirection: 'column' }}&gt;&#10;                &lt;Text style={{ fontSize: 22, fontWeight: 'bold', color: '#1E4FA8' }}&gt;Verifier&lt;/Text&gt;&#10;                &lt;Text style={{ fontSize: 16, color: '#4A5568' }}&gt;分块 · 步骤 · 知识点&lt;/Text&gt;&#10;            &lt;/Box&gt;&#10;            &lt;Box style={{ flex: 1, height: 66, background: '#E8EFF8', border: '1px solid #3D7BD9', borderRadius: 8, alignItems: 'center', justifyContent: 'center', flexDirection: 'column' }}&gt;&#10;                &lt;Text style={{ fontSize: 22, fontWeight: 'bold', color: '#1E4FA8' }}&gt;Formatter&lt;/Text&gt;&#10;                &lt;Text style={{ fontSize: 16, color: '#4A5568' }}&gt;校验 · 每步打五维&lt;/Text&gt;&#10;            &lt;/Box&gt;&#10;        &lt;/Box&gt;&#10;&#10;        &lt;Box style={{ width: 1150, alignItems: 'center' }}&gt;&#10;            &lt;Box style={{ width: 1150, flexDirection: 'row', justifyContent: 'space-between' }}&gt;&#10;                &lt;Box style={{ width: 370, alignItems: 'center' }}&gt;&lt;Box style={{ width: 3, height: 12, background: '#3D7BD9' }} /&gt;&lt;/Box&gt;&#10;                &lt;Box style={{ width: 370, alignItems: 'center' }}&gt;&lt;Box style={{ width: 3, height: 12, background: '#3D7BD9' }} /&gt;&lt;/Box&gt;&#10;                &lt;Box style={{ width: 370, alignItems: 'center' }}&gt;&lt;Box style={{ width: 3, height: 12, background: '#3D7BD9' }} /&gt;&lt;/Box&gt;&#10;            &lt;/Box&gt;&#10;            &lt;Box style={{ width: 940, height: 3, background: '#3D7BD9' }} /&gt;&#10;            &lt;Box style={{ width: 3, height: 12, background: '#3D7BD9' }} /&gt;&#10;        &lt;/Box&gt;&#10;&#10;        &lt;Box style={{ width: 760, height: 96, background: '#0E3F8C', borderRadius: 10, alignItems: 'center', justifyContent: 'center', flexDirection: 'column', gap: 6 }}&gt;&#10;            &lt;Text style={{ fontSize: 26, fontWeight: 'bold', color: '#FFFFFF' }}&gt;步骤对象 · 全系统唯一数据契约&lt;/Text&gt;&#10;            &lt;Text style={{ fontSize: 18, color: '#C8DCF7' }}&gt;每步：标准过程 / 详细过程 / 知识点 / 五维难度 0-3&lt;/Text&gt;&#10;            &lt;Text style={{ fontSize: 17, color: '#FFC107' }}&gt;AI 只做最小判断，聚合交给代码&lt;/Text&gt;&#10;        &lt;/Box&gt;&#10;&#10;        &lt;Box style={{ width: 1170, alignItems: 'center' }}&gt;&#10;            &lt;Box style={{ width: 3, height: 12, background: '#3D7BD9' }} /&gt;&#10;            &lt;Box style={{ width: 990, height: 3, background: '#3D7BD9' }} /&gt;&#10;            &lt;Box style={{ width: 1170, flexDirection: 'row', justifyContent: 'space-between' }}&gt;&#10;                &lt;Box style={{ width: 270, alignItems: 'center' }}&gt;&lt;Box style={{ width: 3, height: 12, background: '#3D7BD9' }} /&gt;&lt;/Box&gt;&#10;                &lt;Box style={{ width: 270, alignItems: 'center' }}&gt;&lt;Box style={{ width: 3, height: 12, background: '#3D7BD9' }} /&gt;&lt;/Box&gt;&#10;                &lt;Box style={{ width: 270, alignItems: 'center' }}&gt;&lt;Box style={{ width: 3, height: 12, background: '#3D7BD9' }} /&gt;&lt;/Box&gt;&#10;                &lt;Box style={{ width: 270, alignItems: 'center' }}&gt;&lt;Box style={{ width: 3, height: 12, background: '#3D7BD9' }} /&gt;&lt;/Box&gt;&#10;            &lt;/Box&gt;&#10;        &lt;/Box&gt;&#10;&#10;        &lt;Box style={{ width: 1170, flexDirection: 'row', gap: 30 }}&gt;&#10;            &lt;Box style={{ flex: 1, height: 66, background: '#F0F5FC', border: '1px solid #D6DCE5', borderRadius: 8, alignItems: 'center', justifyContent: 'center', flexDirection: 'column' }}&gt;&#10;                &lt;Text style={{ fontSize: 21, fontWeight: 'bold', color: '#1A2230' }}&gt;难度聚合&lt;/Text&gt;&#10;                &lt;Text style={{ fontSize: 16, color: '#4A5568' }}&gt;确定性公式&lt;/Text&gt;&#10;            &lt;/Box&gt;&#10;            &lt;Box style={{ flex: 1, height: 66, background: '#F0F5FC', border: '1px solid #D6DCE5', borderRadius: 8, alignItems: 'center', justifyContent: 'center', flexDirection: 'column' }}&gt;&#10;                &lt;Text style={{ fontSize: 21, fontWeight: 'bold', color: '#1A2230' }}&gt;AI 批改&lt;/Text&gt;&#10;                &lt;Text style={{ fontSize: 16, color: '#4A5568' }}&gt;步骤四态 · 七类错因&lt;/Text&gt;&#10;            &lt;/Box&gt;&#10;            &lt;Box style={{ flex: 1, height: 66, background: '#F0F5FC', border: '1px solid #D6DCE5', borderRadius: 8, alignItems: 'center', justifyContent: 'center', flexDirection: 'column' }}&gt;&#10;                &lt;Text style={{ fontSize: 21, fontWeight: 'bold', color: '#1A2230' }}&gt;手把手教学&lt;/Text&gt;&#10;                &lt;Text style={{ fontSize: 16, color: '#4A5568' }}&gt;逐步骤对话&lt;/Text&gt;&#10;            &lt;/Box&gt;&#10;            &lt;Box style={{ flex: 1, height: 66, background: '#F0F5FC', border: '1px solid #D6DCE5', borderRadius: 8, alignItems: 'center', justifyContent: 'center', flexDirection: 'column' }}&gt;&#10;                &lt;Text style={{ fontSize: 21, fontWeight: 'bold', color: '#1A2230' }}&gt;AI 仿题&lt;/Text&gt;&#10;                &lt;Text style={{ fontSize: 16, color: '#4A5568' }}&gt;变式回跑校验&lt;/Text&gt;&#10;            &lt;/Box&gt;&#10;        &lt;/Box&gt;&#10;&#10;        &lt;Box style={{ width: 1150, alignItems: 'center' }}&gt;&#10;            &lt;Box style={{ width: 940, height: 3, background: '#D6DCE5' }} /&gt;&#10;            &lt;Box style={{ width: 3, height: 10, background: '#D6DCE5' }} /&gt;&#10;        &lt;/Box&gt;&#10;&#10;        &lt;Box style={{ width: 1150, flexDirection: 'row', gap: 20 }}&gt;&#10;            &lt;Box style={{ flex: 1, height: 56, background: '#FFFFFF', border: '1px solid #D6DCE5', borderRadius: 8, alignItems: 'center', justifyContent: 'center', flexDirection: 'column' }}&gt;&#10;                &lt;Text style={{ fontSize: 20, fontWeight: 'bold', color: '#1A2230' }}&gt;题库 · 题单 · 组卷&lt;/Text&gt;&#10;            &lt;/Box&gt;&#10;            &lt;Box style={{ flex: 1, height: 56, background: '#FFFFFF', border: '1px solid #D6DCE5', borderRadius: 8, alignItems: 'center', justifyContent: 'center', flexDirection: 'column' }}&gt;&#10;                &lt;Text style={{ fontSize: 20, fontWeight: 'bold', color: '#1A2230' }}&gt;套路掌握状态&lt;/Text&gt;&#10;            &lt;/Box&gt;&#10;            &lt;Box style={{ flex: 1, height: 56, background: '#FFFFFF', border: '1px solid #D6DCE5', borderRadius: 8, alignItems: 'center', justifyContent: 'center', flexDirection: 'column' }}&gt;&#10;                &lt;Text style={{ fontSize: 20, fontWeight: 'bold', color: '#1A2230' }}&gt;巩固日历&lt;/Text&gt;&#10;            &lt;/Box&gt;&#10;        &lt;/Box&gt;&#10;&#10;        &lt;Box style={{ width: 1150, background: '#0E3F8C', borderRadius: 8, padding: 14, flexDirection: 'row', alignItems: 'center', gap: 14 }}&gt;&#10;            &lt;Box style={{ width: 6, height: 34, background: '#FFC107' }} /&gt;&#10;            &lt;Text style={{ fontSize: 20, color: '#FFFFFF', lineHeight: 1.5, flex: 1 }}&gt;&#10;                直接后果：难度、批改、组卷、学情不再是「再问一次 AI」，而是对同一份数据的再加工——因此它们天然一致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全系统一张图：只有一个中间产物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1495425" y="838200"/>
            <a:ext cx="9201150" cy="3619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系统功能很多，但它们不是并列的：上游三段流水线只生产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一种数据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，下游所有能力只消费这一种数据。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619125" y="1343025"/>
            <a:ext cx="352425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2057400" y="1438275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Solver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1714500" y="169545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解题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板块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可解性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4333875" y="1343025"/>
            <a:ext cx="352425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743575" y="1438275"/>
            <a:ext cx="71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Verifier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429250" y="1695450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步骤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知识点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8048625" y="1343025"/>
            <a:ext cx="3524250" cy="628650"/>
          </a:xfrm>
          <a:prstGeom prst="roundRect">
            <a:avLst>
              <a:gd name="adj" fmla="val 1212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324975" y="1438275"/>
            <a:ext cx="981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Formatter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9210675" y="1695450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每步打五维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2371725" y="2114550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1" name=""/>
          <p:cNvSpPr/>
          <p:nvPr/>
        </p:nvSpPr>
        <p:spPr>
          <a:xfrm rot="0" flipH="0" flipV="0">
            <a:off x="6086475" y="2114550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9801225" y="2114550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1619250" y="2228850"/>
            <a:ext cx="8953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6086475" y="2257425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65" name=""/>
          <p:cNvSpPr/>
          <p:nvPr/>
        </p:nvSpPr>
        <p:spPr>
          <a:xfrm rot="0" flipH="0" flipV="0">
            <a:off x="2476500" y="2514600"/>
            <a:ext cx="7239000" cy="914400"/>
          </a:xfrm>
          <a:prstGeom prst="roundRect">
            <a:avLst>
              <a:gd name="adj" fmla="val 1041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371975" y="2562225"/>
            <a:ext cx="3448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步骤对象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全系统唯一数据契约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4191000" y="2924175"/>
            <a:ext cx="3819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每步：标准过程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详细过程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知识点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五维难度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0-3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4943475" y="3190875"/>
            <a:ext cx="2305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C10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FFC107"/>
                </a:solidFill>
                <a:latin typeface="Microsoft YaHei"/>
                <a:ea typeface="Microsoft YaHei"/>
              </a:rPr>
              <a:t>只做最小判断，聚合交给代码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86475" y="3581400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1381125" y="3695700"/>
            <a:ext cx="942975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1" name=""/>
          <p:cNvSpPr/>
          <p:nvPr/>
        </p:nvSpPr>
        <p:spPr>
          <a:xfrm rot="0" flipH="0" flipV="0">
            <a:off x="1800225" y="3724275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2" name=""/>
          <p:cNvSpPr/>
          <p:nvPr/>
        </p:nvSpPr>
        <p:spPr>
          <a:xfrm rot="0" flipH="0" flipV="0">
            <a:off x="4657725" y="3724275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7515225" y="3724275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4" name=""/>
          <p:cNvSpPr/>
          <p:nvPr/>
        </p:nvSpPr>
        <p:spPr>
          <a:xfrm rot="0" flipH="0" flipV="0">
            <a:off x="10372725" y="3724275"/>
            <a:ext cx="28575" cy="1143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5" name=""/>
          <p:cNvSpPr/>
          <p:nvPr/>
        </p:nvSpPr>
        <p:spPr>
          <a:xfrm rot="0" flipH="0" flipV="0">
            <a:off x="523875" y="3981450"/>
            <a:ext cx="2571750" cy="628650"/>
          </a:xfrm>
          <a:prstGeom prst="roundRect">
            <a:avLst>
              <a:gd name="adj" fmla="val 121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409700" y="4076700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难度聚合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428750" y="43243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确定性公式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3381375" y="3981450"/>
            <a:ext cx="2571750" cy="628650"/>
          </a:xfrm>
          <a:prstGeom prst="roundRect">
            <a:avLst>
              <a:gd name="adj" fmla="val 121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4343400" y="4076700"/>
            <a:ext cx="657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批改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3990975" y="4324350"/>
            <a:ext cx="1362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步骤四态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七类错因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6238875" y="3981450"/>
            <a:ext cx="2571750" cy="628650"/>
          </a:xfrm>
          <a:prstGeom prst="roundRect">
            <a:avLst>
              <a:gd name="adj" fmla="val 121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7029450" y="4076700"/>
            <a:ext cx="1000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手把手教学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143750" y="43243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逐步骤对话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9096375" y="3981450"/>
            <a:ext cx="2571750" cy="628650"/>
          </a:xfrm>
          <a:prstGeom prst="roundRect">
            <a:avLst>
              <a:gd name="adj" fmla="val 121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0058400" y="4076700"/>
            <a:ext cx="657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仿题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9925050" y="43243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变式回跑校验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1619250" y="4752975"/>
            <a:ext cx="8953500" cy="285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6086475" y="4781550"/>
            <a:ext cx="28575" cy="952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789" name=""/>
          <p:cNvSpPr/>
          <p:nvPr/>
        </p:nvSpPr>
        <p:spPr>
          <a:xfrm rot="0" flipH="0" flipV="0">
            <a:off x="619125" y="5019675"/>
            <a:ext cx="3524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638300" y="5172075"/>
            <a:ext cx="1485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题库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题单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组卷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4333875" y="5019675"/>
            <a:ext cx="3524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5524500" y="517207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套路掌握状态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8048625" y="5019675"/>
            <a:ext cx="3524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9429750" y="51720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巩固日历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619125" y="5695950"/>
            <a:ext cx="1095375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96" name=""/>
          <p:cNvSpPr/>
          <p:nvPr/>
        </p:nvSpPr>
        <p:spPr>
          <a:xfrm rot="0" flipH="0" flipV="0">
            <a:off x="752475" y="5838825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42975" y="5829300"/>
            <a:ext cx="10496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直接后果：难度、批改、组卷、学情不再是「再问一次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」，而是对同一份数据的再加工——因此它们天然一致。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800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2 · 升维一：从知识点到套路&lt;/Text&gt;&#10;    &lt;/Box&gt;&#10;&#10;    &lt;Box style={{ flex: 1, paddingTop: 10, paddingBottom: 8, paddingLeft: 40, paddingRight: 40, justifyContent: 'space-between' }}&gt;&#10;        &lt;Text style={{ fontSize: 21, color: '#4A5568', lineHeight: 1.5 }}&gt;&#10;            知识点回答「用什么」，套路回答「什么时候用」和「容易与什么搞混」。后者才是学生错因的主要来源。&#10;        &lt;/Text&gt;&#10;&#10;        &lt;Box style={{ flexDirection: 'row', alignItems: 'stretch', gap: 20, flex: 1 }}&gt;&#10;            &lt;Box style={{ flex: 1, background: '#F0F5FC', borderRadius: 8, border: '1px solid #D6DCE5', padding: 20, justifyContent: 'space-between' }}&gt;&#10;                &lt;Box style={{ flexDirection: 'column', gap: 8 }}&gt;&#10;                    &lt;Text style={{ fontSize: 19, color: '#8B97A8' }}&gt;下层&lt;/Text&gt;&#10;                    &lt;Text style={{ fontSize: 27, fontWeight: 'bold', color: '#1E4FA8' }}&gt;知识点层&lt;/Text&gt;&#10;                &lt;/Box&gt;&#10;                &lt;Box style={{ flexDirection: 'row', alignItems: 'baseline', gap: 10 }}&gt;&#10;                    &lt;Text style={{ fontSize: 46, fontWeight: 'bold', color: '#1E4FA8' }}&gt;541&lt;/Text&gt;&#10;                    &lt;Text style={{ fontSize: 19, color: '#4A5568' }}&gt;个三级知识点&lt;/Text&gt;&#10;                &lt;/Box&gt;&#10;                &lt;Box style={{ flexDirection: 'column', gap: 8 }}&gt;&#10;                    &lt;Text style={{ fontSize: 20, color: '#1A2230', lineHeight: 1.5 }}&gt;回答：这道题用了什么知识&lt;/Text&gt;&#10;                    &lt;Text style={{ fontSize: 20, color: '#4A5568', lineHeight: 1.5 }}&gt;例：导数在研究函数单调性中的应用&lt;/Text&gt;&#10;                &lt;/Box&gt;&#10;                &lt;Box style={{ background: '#FFFFFF', borderRadius: 6, padding: 12 }}&gt;&#10;                    &lt;Text style={{ fontSize: 18, color: '#8B97A8', lineHeight: 1.5 }}&gt;结构上给不出：何时不该用这个方法、它与哪个方法容易混淆。&lt;/Text&gt;&#10;                &lt;/Box&gt;&#10;            &lt;/Box&gt;&#10;&#10;            &lt;Box style={{ width: 70, alignItems: 'center', justifyContent: 'center', flexDirection: 'column', gap: 6 }}&gt;&#10;                &lt;Text style={{ fontSize: 17, fontWeight: 'bold', color: '#FFC107' }}&gt;升维&lt;/Text&gt;&#10;                &lt;Box style={{ width: 46, height: 3, background: '#1E4FA8' }} /&gt;&#10;                &lt;Box style={{ width: 10, height: 10, background: '#1E4FA8' }} /&gt;&#10;            &lt;/Box&gt;&#10;&#10;            &lt;Box style={{ flex: 1, background: '#E8EFF8', borderRadius: 8, border: '1px solid #3D7BD9', padding: 20, justifyContent: 'space-between' }}&gt;&#10;                &lt;Box style={{ flexDirection: 'column', gap: 8 }}&gt;&#10;                    &lt;Text style={{ fontSize: 19, color: '#8B97A8' }}&gt;上层&lt;/Text&gt;&#10;                    &lt;Text style={{ fontSize: 27, fontWeight: 'bold', color: '#0E3F8C' }}&gt;套路层&lt;/Text&gt;&#10;                &lt;/Box&gt;&#10;                &lt;Box style={{ flexDirection: 'row', alignItems: 'baseline', gap: 10 }}&gt;&#10;                    &lt;Text style={{ fontSize: 46, fontWeight: 'bold', color: '#0E3F8C' }}&gt;288&lt;/Text&gt;&#10;                    &lt;Text style={{ fontSize: 19, color: '#4A5568' }}&gt;条方法条目&lt;/Text&gt;&#10;                &lt;/Box&gt;&#10;                &lt;Box style={{ flexDirection: 'column', gap: 8 }}&gt;&#10;                    &lt;Text style={{ fontSize: 20, color: '#1A2230', lineHeight: 1.5 }}&gt;回答：何时用、易与谁混淆&lt;/Text&gt;&#10;                    &lt;Text style={{ fontSize: 20, color: '#4A5568', lineHeight: 1.5 }}&gt;例：构造差函数证明不等式&lt;/Text&gt;&#10;                &lt;/Box&gt;&#10;                &lt;Box style={{ background: '#FFFFFF', borderRadius: 6, padding: 12 }}&gt;&#10;                    &lt;Text style={{ fontSize: 18, color: '#0E3F8C', lineHeight: 1.5 }}&gt;新增判别式知识：exclusions 与 confusable_ids。&lt;/Text&gt;&#10;                &lt;/Box&gt;&#10;            &lt;/Box&gt;&#10;        &lt;/Box&gt;&#10;&#10;        &lt;Box style={{ background: '#FFFFFF', borderRadius: 8, border: '1px solid #D6DCE5', padding: 13, flexDirection: 'row', gap: 16 }}&gt;&#10;            &lt;Box style={{ width: 300, flexDirection: 'column', gap: 6 }}&gt;&#10;                &lt;Text style={{ fontSize: 20, fontWeight: 'bold', color: '#1A2230' }}&gt;真实条目结构示例&lt;/Text&gt;&#10;                &lt;Text style={{ fontSize: 17, color: '#8B97A8', lineHeight: 1.4 }}&gt;SET-001 数集归属：按定义判断元素&lt;/Text&gt;&#10;                &lt;Text style={{ fontSize: 17, color: '#8B97A8', lineHeight: 1.4 }}&gt;key_steps：明确数集定义 → 检验性质 → 判断归属&lt;/Text&gt;&#10;            &lt;/Box&gt;&#10;            &lt;Box style={{ flex: 1, flexDirection: 'column', gap: 8 }}&gt;&#10;                &lt;Box style={{ background: '#F0F5FC', borderRadius: 6, padding: 10, flexDirection: 'row', gap: 10, alignItems: 'center' }}&gt;&#10;                    &lt;Text style={{ fontSize: 18, fontWeight: 'bold', color: '#1E4FA8', width: 150 }}&gt;exclusions&lt;/Text&gt;&#10;                    &lt;Text style={{ fontSize: 18, color: '#1A2230', flex: 1, lineHeight: 1.4 }}&gt;「点的坐标归属应先区分点集和数集」——何时不该用&lt;/Text&gt;&#10;                &lt;/Box&gt;&#10;                &lt;Box style={{ background: '#F0F5FC', borderRadius: 6, padding: 10, flexDirection: 'row', gap: 10, alignItems: 'center' }}&gt;&#10;                    &lt;Text style={{ fontSize: 18, fontWeight: 'bold', color: '#1E4FA8', width: 150 }}&gt;confusable_ids&lt;/Text&gt;&#10;                    &lt;Text style={{ fontSize: 18, color: '#1A2230', flex: 1, lineHeight: 1.4 }}&gt;指向 SET-002、SET-022——易与谁混淆（双向）&lt;/Text&gt;&#10;                &lt;/Box&gt;&#10;            &lt;/Box&gt;&#10;        &lt;/Box&gt;&#10;&#10;        &lt;Box style={{ background: '#0E3F8C', borderRadius: 8, padding: 11, flexDirection: 'row', alignItems: 'center', gap: 14 }}&gt;&#10;            &lt;Box style={{ width: 6, height: 34, background: '#FFC107' }} /&gt;&#10;            &lt;Text style={{ fontSize: 20, color: '#FFFFFF', lineHeight: 1.5, flex: 1 }}&gt;&#10;                硬数据：288 条中有 exclusions 的 288 条、有 confusable_ids 的 288 条，混淆关系双向成立，并直接构成套路图谱的边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升维一：从知识点到套路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381000" y="7810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知识点回答「用什么」，套路回答「什么时候用」和「容易与什么搞混」。后者才是学生错因的主要来源。</a:t>
            </a:r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381000" y="1143000"/>
            <a:ext cx="5191125" cy="3248025"/>
          </a:xfrm>
          <a:prstGeom prst="roundRect">
            <a:avLst>
              <a:gd name="adj" fmla="val 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571500" y="133350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下层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571500" y="1628775"/>
            <a:ext cx="48101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4FA8"/>
                </a:solidFill>
                <a:latin typeface="Microsoft YaHei"/>
                <a:ea typeface="Microsoft YaHei"/>
              </a:rPr>
              <a:t>知识点层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71500" y="1981200"/>
            <a:ext cx="7334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541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400175" y="1981200"/>
            <a:ext cx="10858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个三级知识点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571500" y="2552700"/>
            <a:ext cx="48101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回答：这道题用了什么知识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571500" y="2971800"/>
            <a:ext cx="48101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例：导数在研究函数单调性中的应用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571500" y="3352800"/>
            <a:ext cx="4810125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85800" y="3467100"/>
            <a:ext cx="45815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结构上给不出：何时不该用这个方法、它与哪个方法容易混淆。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5934075" y="25527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升维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5876925" y="2809875"/>
            <a:ext cx="43815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6048375" y="28956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6619875" y="1143000"/>
            <a:ext cx="5191125" cy="3248025"/>
          </a:xfrm>
          <a:prstGeom prst="roundRect">
            <a:avLst>
              <a:gd name="adj" fmla="val 2346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810375" y="133350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上层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6810375" y="1628775"/>
            <a:ext cx="48101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套路层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810375" y="2085975"/>
            <a:ext cx="7334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3F8C"/>
                </a:solidFill>
                <a:latin typeface="Microsoft YaHei"/>
                <a:ea typeface="Microsoft YaHei"/>
              </a:rPr>
              <a:t>288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7639050" y="2085975"/>
            <a:ext cx="9048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条方法条目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6810375" y="2752725"/>
            <a:ext cx="48101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回答：何时用、易与谁混淆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810375" y="3171825"/>
            <a:ext cx="48101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例：构造差函数证明不等式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810375" y="3657600"/>
            <a:ext cx="4810125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924675" y="3771900"/>
            <a:ext cx="4581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新增判别式知识：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exclusions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confusable_ids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381000" y="4391025"/>
            <a:ext cx="11430000" cy="1419225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504825" y="45148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真实条目结构示例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504825" y="48006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SET-001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数集归属：按定义判断元素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504825" y="5133975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key_steps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：明确数集定义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检验性质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判断归属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3514725" y="4514850"/>
            <a:ext cx="8172450" cy="485775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3609975" y="46577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exclusions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5133975" y="4610100"/>
            <a:ext cx="64579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「点的坐标归属应先区分点集和数集」——何时不该用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3514725" y="5076825"/>
            <a:ext cx="8172450" cy="485775"/>
          </a:xfrm>
          <a:prstGeom prst="roundRect">
            <a:avLst>
              <a:gd name="adj" fmla="val 1176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3609975" y="52197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confusable_ids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5133975" y="5172075"/>
            <a:ext cx="64579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指向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SET-002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SET-022——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易与谁混淆（双向）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381000" y="5810250"/>
            <a:ext cx="11430000" cy="552450"/>
          </a:xfrm>
          <a:prstGeom prst="roundRect">
            <a:avLst>
              <a:gd name="adj" fmla="val 137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37" name=""/>
          <p:cNvSpPr/>
          <p:nvPr/>
        </p:nvSpPr>
        <p:spPr>
          <a:xfrm rot="0" flipH="0" flipV="0">
            <a:off x="485775" y="5924550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676275" y="5915025"/>
            <a:ext cx="110299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硬数据：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条中有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exclusions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288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条、有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confusable_ids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288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条，混淆关系双向成立，并直接构成套路图谱的边。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41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2 · 升维二：从试题到试卷&lt;/Text&gt;&#10;    &lt;/Box&gt;&#10;&#10;    &lt;Box style={{ flex: 1, paddingTop: 16, paddingBottom: 14, paddingLeft: 40, paddingRight: 40, justifyContent: 'space-between' }}&gt;&#10;        &lt;Text style={{ fontSize: 21, color: '#4A5568', lineHeight: 1.5 }}&gt;&#10;            题目层只能回答「这道题难不难、对没对」；试卷层新增了偏差、缺口与稳定性三个维度。&#10;        &lt;/Text&gt;&#10;&#10;        &lt;Box style={{ flexDirection: 'row', alignItems: 'stretch', gap: 20, flex: 1 }}&gt;&#10;            &lt;Box style={{ flex: 1, background: '#F0F5FC', borderRadius: 8, border: '1px solid #D6DCE5', padding: 20, justifyContent: 'space-between' }}&gt;&#10;                &lt;Box style={{ flexDirection: 'column', gap: 8 }}&gt;&#10;                    &lt;Text style={{ fontSize: 19, color: '#8B97A8' }}&gt;下层&lt;/Text&gt;&#10;                    &lt;Text style={{ fontSize: 27, fontWeight: 'bold', color: '#1E4FA8' }}&gt;试题层 · 单题&lt;/Text&gt;&#10;                &lt;/Box&gt;&#10;                &lt;Box style={{ flexDirection: 'column', gap: 10 }}&gt;&#10;                    &lt;Box style={{ flexDirection: 'row', gap: 10, alignItems: 'center' }}&gt;&#10;                        &lt;Box style={{ width: 8, height: 8, background: '#3D7BD9' }} /&gt;&#10;                        &lt;Text style={{ fontSize: 20, color: '#1A2230', flex: 1, lineHeight: 1.5 }}&gt;这道题的难度分（0–15）&lt;/Text&gt;&#10;                    &lt;/Box&gt;&#10;                    &lt;Box style={{ flexDirection: 'row', gap: 10, alignItems: 'center' }}&gt;&#10;                        &lt;Box style={{ width: 8, height: 8, background: '#3D7BD9' }} /&gt;&#10;                        &lt;Text style={{ fontSize: 20, color: '#1A2230', flex: 1, lineHeight: 1.5 }}&gt;这道题做对了还是错了&lt;/Text&gt;&#10;                    &lt;/Box&gt;&#10;                    &lt;Box style={{ flexDirection: 'row', gap: 10, alignItems: 'center' }}&gt;&#10;                        &lt;Box style={{ width: 8, height: 8, background: '#3D7BD9' }} /&gt;&#10;                        &lt;Text style={{ fontSize: 20, color: '#1A2230', flex: 1, lineHeight: 1.5 }}&gt;错在哪一步、属于哪类错因&lt;/Text&gt;&#10;                    &lt;/Box&gt;&#10;                &lt;/Box&gt;&#10;                &lt;Box style={{ background: '#FFFFFF', borderRadius: 6, padding: 12 }}&gt;&#10;                    &lt;Text style={{ fontSize: 18, color: '#8B97A8', lineHeight: 1.5 }}&gt;单题没有参照系，因此不存在「偏难」或「覆盖缺口」。&lt;/Text&gt;&#10;                &lt;/Box&gt;&#10;            &lt;/Box&gt;&#10;&#10;            &lt;Box style={{ width: 70, alignItems: 'center', justifyContent: 'center', flexDirection: 'column', gap: 6 }}&gt;&#10;                &lt;Text style={{ fontSize: 17, fontWeight: 'bold', color: '#FFC107' }}&gt;升维&lt;/Text&gt;&#10;                &lt;Box style={{ width: 46, height: 3, background: '#1E4FA8' }} /&gt;&#10;                &lt;Box style={{ width: 10, height: 10, background: '#1E4FA8' }} /&gt;&#10;            &lt;/Box&gt;&#10;&#10;            &lt;Box style={{ flex: 1, background: '#E8EFF8', borderRadius: 8, border: '1px solid #3D7BD9', padding: 20, justifyContent: 'space-between' }}&gt;&#10;                &lt;Box style={{ flexDirection: 'column', gap: 8 }}&gt;&#10;                    &lt;Text style={{ fontSize: 19, color: '#8B97A8' }}&gt;上层&lt;/Text&gt;&#10;                    &lt;Text style={{ fontSize: 27, fontWeight: 'bold', color: '#0E3F8C' }}&gt;试卷层 · 整卷&lt;/Text&gt;&#10;                &lt;/Box&gt;&#10;                &lt;Box style={{ flexDirection: 'column', gap: 10 }}&gt;&#10;                    &lt;Box style={{ flexDirection: 'row', gap: 10, alignItems: 'center' }}&gt;&#10;                        &lt;Box style={{ width: 8, height: 8, background: '#0E3F8C' }} /&gt;&#10;                        &lt;Text style={{ fontSize: 20, color: '#1A2230', flex: 1, lineHeight: 1.5 }}&gt;难度拟合：实际 vs 目标，给出偏难偏易方向&lt;/Text&gt;&#10;                    &lt;/Box&gt;&#10;                    &lt;Box style={{ flexDirection: 'row', gap: 10, alignItems: 'center' }}&gt;&#10;                        &lt;Box style={{ width: 8, height: 8, background: '#0E3F8C' }} /&gt;&#10;                        &lt;Text style={{ fontSize: 20, color: '#1A2230', flex: 1, lineHeight: 1.5 }}&gt;覆盖评估：知识点与属性的不足与超出&lt;/Text&gt;&#10;                    &lt;/Box&gt;&#10;                    &lt;Box style={{ flexDirection: 'row', gap: 10, alignItems: 'center' }}&gt;&#10;                        &lt;Box style={{ width: 8, height: 8, background: '#0E3F8C' }} /&gt;&#10;                        &lt;Text style={{ fontSize: 20, color: '#1A2230', flex: 1, lineHeight: 1.5 }}&gt;稳定性：会做也错，正误并存&lt;/Text&gt;&#10;                    &lt;/Box&gt;&#10;                &lt;/Box&gt;&#10;                &lt;Box style={{ background: '#FFFFFF', borderRadius: 6, padding: 12 }}&gt;&#10;                    &lt;Text style={{ fontSize: 18, color: '#0E3F8C', lineHeight: 1.5 }}&gt;产出两份独立报告：评价卷子、评价学生。&lt;/Text&gt;&#10;                &lt;/Box&gt;&#10;            &lt;/Box&gt;&#10;        &lt;/Box&gt;&#10;&#10;        &lt;Box style={{ flexDirection: 'row', gap: 20 }}&gt;&#10;            &lt;Box style={{ flex: 1, background: '#FFFFFF', borderRadius: 8, border: '1px solid #D6DCE5', padding: 16, flexDirection: 'column', gap: 8 }}&gt;&#10;                &lt;Text style={{ fontSize: 22, fontWeight: 'bold', color: '#1E4FA8' }}&gt;报告一 · 试卷质量分析&lt;/Text&gt;&#10;                &lt;Text style={{ fontSize: 19, color: '#4A5568', lineHeight: 1.5 }}&gt;不看学生，只评价卷子：难度拟合得分 15−RMSE，覆盖得分用二次罚函数，逐题输出明细与待复核清单。&lt;/Text&gt;&#10;            &lt;/Box&gt;&#10;            &lt;Box style={{ flex: 1, background: '#FFFFFF', borderRadius: 8, border: '1px solid #D6DCE5', padding: 16, flexDirection: 'column', gap: 8 }}&gt;&#10;                &lt;Text style={{ fontSize: 22, fontWeight: 'bold', color: '#1E4FA8' }}&gt;报告二 · 学生全卷评价&lt;/Text&gt;&#10;                &lt;Text style={{ fontSize: 19, color: '#4A5568', lineHeight: 1.5 }}&gt;汇总逐题得分、步骤错因与跨考试证据，输出四类发现，每条附建议与验证目标。&lt;/Text&gt;&#10;            &lt;/Box&gt;&#10;        &lt;/Box&gt;&#10;&#10;        &lt;Box style={{ background: '#0E3F8C', borderRadius: 8, padding: 14, flexDirection: 'row', alignItems: 'center', gap: 14 }}&gt;&#10;            &lt;Box style={{ width: 6, height: 34, background: '#FFC107' }} /&gt;&#10;            &lt;Text style={{ fontSize: 20, color: '#FFFFFF', lineHeight: 1.5, flex: 1 }}&gt;&#10;                「偏难」这个概念必须先有目标位才成立——它只存在于试卷层，不存在于题目层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7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升维二：从试题到试卷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题目层只能回答「这道题难不难、对没对」；试卷层新增了偏差、缺口与稳定性三个维度。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381000" y="1200150"/>
            <a:ext cx="5191125" cy="3200400"/>
          </a:xfrm>
          <a:prstGeom prst="roundRect">
            <a:avLst>
              <a:gd name="adj" fmla="val 238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571500" y="139065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下层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571500" y="1685925"/>
            <a:ext cx="48101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E4FA8"/>
                </a:solidFill>
                <a:latin typeface="Microsoft YaHei"/>
                <a:ea typeface="Microsoft YaHei"/>
              </a:rPr>
              <a:t>试题层</a:t>
            </a:r>
            <a:r>
              <a:rPr lang="en-US" sz="20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025" b="1">
                <a:solidFill>
                  <a:srgbClr val="1E4FA8"/>
                </a:solidFill>
                <a:latin typeface="Microsoft YaHei"/>
                <a:ea typeface="Microsoft YaHei"/>
              </a:rPr>
              <a:t>单题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571500" y="236220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742950" y="222885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这道题的难度分（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0–15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571500" y="280035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42950" y="266700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这道题做对了还是错了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571500" y="3238500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42950" y="310515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错在哪一步、属于哪类错因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571500" y="3667125"/>
            <a:ext cx="4810125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4581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单题没有参照系，因此不存在「偏难」或「覆盖缺口」。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5934075" y="25812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C107"/>
                </a:solidFill>
                <a:latin typeface="Microsoft YaHei"/>
                <a:ea typeface="Microsoft YaHei"/>
              </a:rPr>
              <a:t>升维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5876925" y="2838450"/>
            <a:ext cx="43815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59" name=""/>
          <p:cNvSpPr/>
          <p:nvPr/>
        </p:nvSpPr>
        <p:spPr>
          <a:xfrm rot="0" flipH="0" flipV="0">
            <a:off x="6048375" y="29241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0" name=""/>
          <p:cNvSpPr/>
          <p:nvPr/>
        </p:nvSpPr>
        <p:spPr>
          <a:xfrm rot="0" flipH="0" flipV="0">
            <a:off x="6619875" y="1200150"/>
            <a:ext cx="5191125" cy="3200400"/>
          </a:xfrm>
          <a:prstGeom prst="roundRect">
            <a:avLst>
              <a:gd name="adj" fmla="val 238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6810375" y="1390650"/>
            <a:ext cx="481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上层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6810375" y="1685925"/>
            <a:ext cx="481012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试卷层</a:t>
            </a: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整卷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6810375" y="2362200"/>
            <a:ext cx="76200" cy="76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981825" y="222885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难度拟合：实际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目标，给出偏难偏易方向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6810375" y="2800350"/>
            <a:ext cx="76200" cy="76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6981825" y="266700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覆盖评估：知识点与属性的不足与超出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810375" y="3238500"/>
            <a:ext cx="76200" cy="76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6981825" y="3105150"/>
            <a:ext cx="463867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稳定性：会做也错，正误并存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6810375" y="3667125"/>
            <a:ext cx="4810125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6924675" y="3781425"/>
            <a:ext cx="4581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产出两份独立报告：评价卷子、评价学生。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381000" y="4400550"/>
            <a:ext cx="5619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533400" y="455295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报告一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试卷质量分析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5314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不看学生，只评价卷子：难度拟合得分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15−RMSE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，覆盖得分用二次罚函数，逐题输出明细与待复核清单。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6191250" y="4400550"/>
            <a:ext cx="56197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343650" y="455295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报告二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学生全卷评价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6343650" y="4886325"/>
            <a:ext cx="5314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汇总逐题得分、步骤错因与跨考试证据，输出四类发现，每条附建议与验证目标。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381000" y="569595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78" name=""/>
          <p:cNvSpPr/>
          <p:nvPr/>
        </p:nvSpPr>
        <p:spPr>
          <a:xfrm rot="0" flipH="0" flipV="0">
            <a:off x="514350" y="5838825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「偏难」这个概念必须先有目标位才成立——它只存在于试卷层，不存在于题目层。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882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2 · 关键论证：这两次升维不是聚合，而是不可归约&lt;/Text&gt;&#10;    &lt;/Box&gt;&#10;&#10;    &lt;Box style={{ flex: 1, paddingTop: 16, paddingBottom: 14, paddingLeft: 40, paddingRight: 40, justifyContent: 'space-between' }}&gt;&#10;        &lt;Box style={{ background: '#F0F5FC', borderRadius: 8, padding: 14, flexDirection: 'row', alignItems: 'center', gap: 12 }}&gt;&#10;            &lt;Text style={{ fontSize: 17, fontWeight: 'bold', color: '#1E4FA8' }}&gt;判定标准&lt;/Text&gt;&#10;            &lt;Text style={{ fontSize: 20, color: '#1A2230', lineHeight: 1.5, flex: 1 }}&gt;&#10;                上层结论能否由下层结论加总得到？若不能，则这次升维产生了新的信息，而不是重复表达。&#10;            &lt;/Text&gt;&#10;        &lt;/Box&gt;&#10;&#10;        &lt;Box style={{ flex: 1, paddingTop: 6, paddingBottom: 6 }}&gt;&#10;            &lt;Table&#10;                style={{ width: '100%', height: '100%' }}&#10;                defaultTextStyle={{ fontSize: 20, textAlign: 'left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上层结论', textStyle: { bold: true, fontSize: 21, color: '#FFFFFF' }, cellStyle: { background: { color: '#1E4FA8' } } },&#10;                        { text: '为什么下层得不到', textStyle: { bold: true, fontSize: 21, color: '#FFFFFF' }, cellStyle: { background: { color: '#1E4FA8' } } },&#10;                    ],&#10;                    [&#10;                        { text: '偏难 / 偏易', textStyle: { bold: true }, cellStyle: { background: { color: '#F7F9FC' } } },&#10;                        { text: '需要「这个位置应该多难」作参照，单题没有参照系', cellStyle: { background: { color: '#F7F9FC' } } },&#10;                    ],&#10;                    [&#10;                        { text: '覆盖缺口', textStyle: { bold: true } },&#10;                        { text: '覆盖是集合性质，必须看整卷的知识分布，单题无缺口可言' },&#10;                    ],&#10;                    [&#10;                        { text: '会做也错（稳定性）', textStyle: { bold: true }, cellStyle: { background: { color: '#F7F9FC' } } },&#10;                        { text: '必须同难度、同知识点下正确与错误并存，才看得出不稳定', cellStyle: { background: { color: '#F7F9FC' } } },&#10;                    ],&#10;                ]}&#10;            /&gt;&#10;        &lt;/Box&gt;&#10;&#10;        &lt;Box style={{ flexDirection: 'row', gap: 20 }}&gt;&#10;            &lt;Box style={{ flex: 1, background: '#FFFFFF', borderRadius: 8, border: '1px solid #3D7BD9', padding: 16, flexDirection: 'column', gap: 8 }}&gt;&#10;                &lt;Text style={{ fontSize: 22, fontWeight: 'bold', color: '#0E3F8C' }}&gt;代码里的证据门槛&lt;/Text&gt;&#10;                &lt;Text style={{ fontSize: 19, color: '#4A5568', lineHeight: 1.5 }}&gt;&#10;                    跨题结论要求「≥2 次独立考试 且 ≥2 道不同题」才算重复出现，单次错误只标记为初始证据。&#10;                &lt;/Text&gt;&#10;                &lt;Text style={{ fontSize: 18, color: '#8B97A8', lineHeight: 1.5 }}&gt;&#10;                    一次错是偶然，两次错才可能是模式。&#10;                &lt;/Text&gt;&#10;            &lt;/Box&gt;&#10;            &lt;Box style={{ flex: 1, background: '#FFFFFF', borderRadius: 8, border: '1px solid #3D7BD9', padding: 16, flexDirection: 'column', gap: 8 }}&gt;&#10;                &lt;Text style={{ fontSize: 22, fontWeight: 'bold', color: '#0E3F8C' }}&gt;每条结论的三件套&lt;/Text&gt;&#10;                &lt;Text style={{ fontSize: 19, color: '#4A5568', lineHeight: 1.5 }}&gt;&#10;                    支持证据与反证并列给出；成因默认标记为未确认；并写明下一步如何验证。&#10;                &lt;/Text&gt;&#10;                &lt;Text style={{ fontSize: 18, color: '#8B97A8', lineHeight: 1.5 }}&gt;&#10;                    supporting_evidence · counter_evidence · validation_target&#10;                &lt;/Text&gt;&#10;            &lt;/Box&gt;&#10;        &lt;/Box&gt;&#10;&#10;        &lt;Box style={{ background: '#0E3F8C', borderRadius: 8, padding: 14, flexDirection: 'row', alignItems: 'center', gap: 14 }}&gt;&#10;            &lt;Box style={{ width: 6, height: 34, background: '#FFC107' }} /&gt;&#10;            &lt;Text style={{ fontSize: 20, color: '#FFFFFF', lineHeight: 1.5, flex: 1 }}&gt;&#10;                正是这层不可归约性，让「试卷级评价」与「套路级归因」成为可研究、可检验的命题，而不是营销说法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关键论证：这两次升维不是聚合，而是不可归约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381000" y="83820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514350" y="10477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判定标准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276350" y="971550"/>
            <a:ext cx="104013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上层结论能否由下层结论加总得到？若不能，则这次升维产生了新的信息，而不是重复表达。</a:t>
            </a:r>
            <a:endParaRPr/>
          </a:p>
        </p:txBody>
      </p:sp>
      <p:graphicFrame>
        <p:nvGraphicFramePr>
          <p:cNvPr id="889" name=""/>
          <p:cNvGraphicFramePr/>
          <p:nvPr/>
        </p:nvGraphicFramePr>
        <p:xfrm rot="0" flipH="0" flipV="0">
          <a:off x="381000" y="1504950"/>
          <a:ext cx="11430000" cy="2447925"/>
        </p:xfrm>
        <a:graphic>
          <a:graphicData uri="http://schemas.openxmlformats.org/drawingml/2006/table">
            <a:tbl>
              <a:tblGrid>
                <a:gridCol w="3013248">
                  <a:extLst>
                    <a:ext uri="{9D8B030D-6E8A-4147-A177-3AD203B41FA5}">
                      <a16:colId val="1"/>
                    </a:ext>
                  </a:extLst>
                </a:gridCol>
                <a:gridCol w="8416752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63545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上层结论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为什么下层得不到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41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偏难 / 偏易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需要「这个位置应该多难」作参照，单题没有参照系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041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覆盖缺口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覆盖是集合性质，必须看整卷的知识分布，单题无缺口可言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0415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会做也错（稳定性）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必须同难度、同知识点下正确与错误并存，才看得出不稳定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890" name=""/>
          <p:cNvSpPr/>
          <p:nvPr/>
        </p:nvSpPr>
        <p:spPr>
          <a:xfrm rot="0" flipH="0" flipV="0">
            <a:off x="381000" y="4010025"/>
            <a:ext cx="5619750" cy="1685925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533400" y="416242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代码里的证据门槛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533400" y="4495800"/>
            <a:ext cx="5314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跨题结论要求「≥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次独立考试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≥2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道不同题」才算重复出现，单次错误只标记为初始证据。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533400" y="5229225"/>
            <a:ext cx="5314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一次错是偶然，两次错才可能是模式。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6191250" y="4010025"/>
            <a:ext cx="5619750" cy="1685925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6343650" y="4162425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每条结论的三件套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6343650" y="4495800"/>
            <a:ext cx="53149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支持证据与反证并列给出；成因默认标记为未确认；并写明下一步如何验证。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343650" y="5229225"/>
            <a:ext cx="53149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supporting_evidence · counter_evidence · validation_target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381000" y="569595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514350" y="5838825"/>
            <a:ext cx="571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04850" y="582930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正是这层不可归约性，让「试卷级评价」与「套路级归因」成为可研究、可检验的命题，而不是营销说法。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03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技术总览：五层架构与选型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技术选型刻意保守：主要风险不在工程，而在判断标准本身，因此把复杂度留给领域问题。&#10;        &lt;/Text&gt;&#10;&#10;        &lt;Box style={{ flexDirection: 'column', gap: 8, flex: 1, justifyContent: 'center' }}&gt;&#10;            &lt;Box style={{ flexDirection: 'row', alignItems: 'stretch', gap: 16, height: 72, background: '#F0F5FC', borderRadius: 8, border: '1px solid #D6DCE5', padding: 12 }}&gt;&#10;                &lt;Box style={{ width: 46, height: 46, background: '#1E4FA8', borderRadius: 6, alignItems: 'center', justifyContent: 'center' }}&gt;&#10;                    &lt;Text style={{ fontSize: 22, fontWeight: 'bold', color: '#FFFFFF' }}&gt;1&lt;/Text&gt;&#10;                &lt;/Box&gt;&#10;                &lt;Box style={{ flex: 1, flexDirection: 'column', justifyContent: 'center', gap: 4 }}&gt;&#10;                    &lt;Text style={{ fontSize: 22, fontWeight: 'bold', color: '#1A2230' }}&gt;输入层&lt;/Text&gt;&#10;                    &lt;Text style={{ fontSize: 17, color: '#4A5568', lineHeight: 1.4 }}&gt;文本 / PDF / 图片 / docx 切题；手写作答识别后回填&lt;/Text&gt;&#10;                &lt;/Box&gt;&#10;                &lt;Box style={{ width: 200, alignItems: 'flex-end', justifyContent: 'center' }}&gt;&#10;                    &lt;Text style={{ fontSize: 16, color: '#8B97A8', lineHeight: 1.4 }}&gt;multimodal.py · 分页渲染&lt;/Text&gt;&#10;                &lt;/Box&gt;&#10;            &lt;/Box&gt;&#10;&#10;            &lt;Box style={{ flexDirection: 'row', alignItems: 'stretch', gap: 16, height: 72, background: '#E8EFF8', borderRadius: 8, border: '1px solid #3D7BD9', padding: 12 }}&gt;&#10;                &lt;Box style={{ width: 46, height: 46, background: '#0E3F8C', borderRadius: 6, alignItems: 'center', justifyContent: 'center' }}&gt;&#10;                    &lt;Text style={{ fontSize: 22, fontWeight: 'bold', color: '#FFFFFF' }}&gt;2&lt;/Text&gt;&#10;                &lt;/Box&gt;&#10;                &lt;Box style={{ flex: 1, flexDirection: 'column', justifyContent: 'center', gap: 4 }}&gt;&#10;                    &lt;Text style={{ fontSize: 22, fontWeight: 'bold', color: '#0E3F8C' }}&gt;生产层&lt;/Text&gt;&#10;                    &lt;Text style={{ fontSize: 17, color: '#4A5568', lineHeight: 1.4 }}&gt;三段流水线 + 四档老师路由（质量与成本权衡）&lt;/Text&gt;&#10;                &lt;/Box&gt;&#10;                &lt;Box style={{ width: 200, alignItems: 'flex-end', justifyContent: 'center' }}&gt;&#10;                    &lt;Text style={{ fontSize: 16, color: '#8B97A8', lineHeight: 1.4 }}&gt;solver.py · 分题型提示词&lt;/Text&gt;&#10;                &lt;/Box&gt;&#10;            &lt;/Box&gt;&#10;&#10;            &lt;Box style={{ flexDirection: 'row', alignItems: 'stretch', gap: 16, height: 72, background: '#0E3F8C', borderRadius: 8, padding: 12 }}&gt;&#10;                &lt;Box style={{ width: 46, height: 46, background: '#FFC107', borderRadius: 6, alignItems: 'center', justifyContent: 'center' }}&gt;&#10;                    &lt;Text style={{ fontSize: 22, fontWeight: 'bold', color: '#0E3F8C' }}&gt;3&lt;/Text&gt;&#10;                &lt;/Box&gt;&#10;                &lt;Box style={{ flex: 1, flexDirection: 'column', justifyContent: 'center', gap: 4 }}&gt;&#10;                    &lt;Text style={{ fontSize: 22, fontWeight: 'bold', color: '#FFFFFF' }}&gt;契约层&lt;/Text&gt;&#10;                    &lt;Text style={{ fontSize: 17, color: '#C8DCF7', lineHeight: 1.4 }}&gt;每步含标准过程、详细过程、知识点、五维难度&lt;/Text&gt;&#10;                &lt;/Box&gt;&#10;                &lt;Box style={{ width: 200, alignItems: 'flex-end', justifyContent: 'center' }}&gt;&#10;                    &lt;Text style={{ fontSize: 16, color: '#9EC1F0', lineHeight: 1.4 }}&gt;全系统唯一中间产物&lt;/Text&gt;&#10;                &lt;/Box&gt;&#10;            &lt;/Box&gt;&#10;&#10;            &lt;Box style={{ flexDirection: 'row', alignItems: 'stretch', gap: 16, height: 72, background: '#F0F5FC', borderRadius: 8, border: '1px solid #D6DCE5', padding: 12 }}&gt;&#10;                &lt;Box style={{ width: 46, height: 46, background: '#1E4FA8', borderRadius: 6, alignItems: 'center', justifyContent: 'center' }}&gt;&#10;                    &lt;Text style={{ fontSize: 22, fontWeight: 'bold', color: '#FFFFFF' }}&gt;4&lt;/Text&gt;&#10;                &lt;/Box&gt;&#10;                &lt;Box style={{ flex: 1, flexDirection: 'column', justifyContent: 'center', gap: 4 }}&gt;&#10;                    &lt;Text style={{ fontSize: 22, fontWeight: 'bold', color: '#1A2230' }}&gt;消费层&lt;/Text&gt;&#10;                    &lt;Text style={{ fontSize: 17, color: '#4A5568', lineHeight: 1.4 }}&gt;难度 · 批改 · 教学 · 仿题 · 组卷 · 规划 · 智能体&lt;/Text&gt;&#10;                &lt;/Box&gt;&#10;                &lt;Box style={{ width: 200, alignItems: 'flex-end', justifyContent: 'center' }}&gt;&#10;                    &lt;Text style={{ fontSize: 16, color: '#8B97A8', lineHeight: 1.4 }}&gt;共享同一份步骤数据&lt;/Text&gt;&#10;                &lt;/Box&gt;&#10;            &lt;/Box&gt;&#10;&#10;            &lt;Box style={{ flexDirection: 'row', alignItems: 'stretch', gap: 16, height: 72, background: '#F0F5FC', borderRadius: 8, border: '1px solid #D6DCE5', padding: 12 }}&gt;&#10;                &lt;Box style={{ width: 46, height: 46, background: '#1E4FA8', borderRadius: 6, alignItems: 'center', justifyContent: 'center' }}&gt;&#10;                    &lt;Text style={{ fontSize: 22, fontWeight: 'bold', color: '#FFFFFF' }}&gt;5&lt;/Text&gt;&#10;                &lt;/Box&gt;&#10;                &lt;Box style={{ flex: 1, flexDirection: 'column', justifyContent: 'center', gap: 4 }}&gt;&#10;                    &lt;Text style={{ fontSize: 22, fontWeight: 'bold', color: '#1A2230' }}&gt;沉淀层&lt;/Text&gt;&#10;                    &lt;Text style={{ fontSize: 17, color: '#4A5568', lineHeight: 1.4 }}&gt;题库 · 题单 · 套路掌握 · 巩固日历 · 整卷报告&lt;/Text&gt;&#10;                &lt;/Box&gt;&#10;                &lt;Box style={{ width: 200, alignItems: 'flex-end', justifyContent: 'center' }}&gt;&#10;                    &lt;Text style={{ fontSize: 16, color: '#8B97A8', lineHeight: 1.4 }}&gt;SQLite · 按用户隔离&lt;/Text&gt;&#10;                &lt;/Box&gt;&#10;            &lt;/Box&gt;&#10;        &lt;/Box&gt;&#10;&#10;        &lt;Box style={{ flexDirection: 'row', gap: 20 }}&gt;&#10;            &lt;Box style={{ flex: 1, background: '#FFFFFF', borderRadius: 8, border: '1px solid #D6DCE5', padding: 14, flexDirection: 'column', gap: 6 }}&gt;&#10;                &lt;Text style={{ fontSize: 20, fontWeight: 'bold', color: '#1E4FA8' }}&gt;选型&lt;/Text&gt;&#10;                &lt;Text style={{ fontSize: 18, color: '#4A5568', lineHeight: 1.5 }}&gt;FastAPI + SQLite + 原生 HTML/JS；公式与几何库全部本地化，不依赖外部服务。&lt;/Text&gt;&#10;            &lt;/Box&gt;&#10;            &lt;Box style={{ flex: 1, background: '#FFFFFF', borderRadius: 8, border: '1px solid #D6DCE5', padding: 14, flexDirection: 'column', gap: 6 }}&gt;&#10;                &lt;Text style={{ fontSize: 20, fontWeight: 'bold', color: '#1E4FA8' }}&gt;规模&lt;/Text&gt;&#10;                &lt;Text style={{ fontSize: 18, color: '#4A5568', lineHeight: 1.5 }}&gt;后端约 25,000 行，前端 23 个页面，803 个 Python 测试方法与 28 个前端用例。&lt;/Text&gt;&#10;            &lt;/Box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09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技术总览：五层架构与选型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技术选型刻意保守：主要风险不在工程，而在判断标准本身，因此把复杂度留给领域问题。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381000" y="1304925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495300" y="14192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57225" y="1514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1085850" y="1419225"/>
            <a:ext cx="8553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输入层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1085850" y="1714500"/>
            <a:ext cx="8553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文本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PDF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图片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docx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切题；手写作答识别后回填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10010775" y="1524000"/>
            <a:ext cx="16859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multimodal.py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分页渲染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381000" y="2066925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915" name=""/>
          <p:cNvSpPr/>
          <p:nvPr/>
        </p:nvSpPr>
        <p:spPr>
          <a:xfrm rot="0" flipH="0" flipV="0">
            <a:off x="495300" y="21812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57225" y="2276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085850" y="2181225"/>
            <a:ext cx="8553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生产层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085850" y="2476500"/>
            <a:ext cx="8553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三段流水线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四档老师路由（质量与成本权衡）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10039350" y="2286000"/>
            <a:ext cx="1657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solver.py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分题型提示词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381000" y="2828925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21" name=""/>
          <p:cNvSpPr/>
          <p:nvPr/>
        </p:nvSpPr>
        <p:spPr>
          <a:xfrm rot="0" flipH="0" flipV="0">
            <a:off x="495300" y="29432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57225" y="3038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1085850" y="2943225"/>
            <a:ext cx="8553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契约层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085850" y="3238500"/>
            <a:ext cx="8553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C8DCF7"/>
                </a:solidFill>
                <a:latin typeface="Microsoft YaHei"/>
                <a:ea typeface="Microsoft YaHei"/>
              </a:rPr>
              <a:t>每步含标准过程、详细过程、知识点、五维难度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10325100" y="3048000"/>
            <a:ext cx="13716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9EC1F0"/>
                </a:solidFill>
                <a:latin typeface="Microsoft YaHei"/>
                <a:ea typeface="Microsoft YaHei"/>
              </a:rPr>
              <a:t>全系统唯一中间产物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381000" y="3590925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27" name=""/>
          <p:cNvSpPr/>
          <p:nvPr/>
        </p:nvSpPr>
        <p:spPr>
          <a:xfrm rot="0" flipH="0" flipV="0">
            <a:off x="495300" y="37052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657225" y="3800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1085850" y="3705225"/>
            <a:ext cx="8553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消费层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1085850" y="4000500"/>
            <a:ext cx="8553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难度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批改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教学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仿题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组卷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规划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10325100" y="3810000"/>
            <a:ext cx="13716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共享同一份步骤数据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381000" y="4352925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3" name=""/>
          <p:cNvSpPr/>
          <p:nvPr/>
        </p:nvSpPr>
        <p:spPr>
          <a:xfrm rot="0" flipH="0" flipV="0">
            <a:off x="495300" y="4467225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57225" y="4562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1085850" y="4467225"/>
            <a:ext cx="8553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沉淀层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1085850" y="4762500"/>
            <a:ext cx="8553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题库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题单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套路掌握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巩固日历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整卷报告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10325100" y="4572000"/>
            <a:ext cx="13716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SQLite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按用户隔离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381000" y="5153025"/>
            <a:ext cx="561975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514350" y="5286375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选型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514350" y="557212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FastAPI + SQLite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原生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HTML/JS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；公式与几何库全部本地化，不依赖外部服务。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6191250" y="5153025"/>
            <a:ext cx="5619750" cy="1171575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324600" y="5286375"/>
            <a:ext cx="535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规模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324600" y="557212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后端约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25,000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行，前端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个页面，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803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测试方法与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个前端用例。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步骤对象：全系统的唯一数据契约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上游只生产这一种数据，下游只消费这一种数据——它是所有能力之间的共同语言。&#10;        &lt;/Text&gt;&#10;&#10;        &lt;Box style={{ flexDirection: 'row', gap: 22, flex: 1, alignItems: 'stretch' }}&gt;&#10;            &lt;Box style={{ flex: 1, background: '#F7F9FC', borderRadius: 8, border: '1px solid #D6DCE5', padding: 18, justifyContent: 'space-between' }}&gt;&#10;                &lt;Box style={{ flexDirection: 'column', gap: 8 }}&gt;&#10;                    &lt;Text style={{ fontSize: 24, fontWeight: 'bold', color: '#1E4FA8' }}&gt;每个步骤包含&lt;/Text&gt;&#10;                    &lt;Text style={{ fontSize: 18, color: '#8B97A8', lineHeight: 1.4 }}&gt;教学会话还会补充引导问题与参考答案&lt;/Text&gt;&#10;                &lt;/Box&gt;&#10;                &lt;Box style={{ flexDirection: 'column', gap: 7 }}&gt;&#10;                    &lt;Box style={{ flexDirection: 'row', gap: 10, alignItems: 'center' }}&gt;&#10;                        &lt;Text style={{ fontSize: 18, fontWeight: 'bold', color: '#0E3F8C', width: 190 }}&gt;step_number / title&lt;/Text&gt;&#10;                        &lt;Text style={{ fontSize: 18, color: '#4A5568', flex: 1, lineHeight: 1.4 }}&gt;步骤号与一级步骤名&lt;/Text&gt;&#10;                    &lt;/Box&gt;&#10;                    &lt;Box style={{ flexDirection: 'row', gap: 10, alignItems: 'center' }}&gt;&#10;                        &lt;Text style={{ fontSize: 18, fontWeight: 'bold', color: '#0E3F8C', width: 190 }}&gt;step_level1&lt;/Text&gt;&#10;                        &lt;Text style={{ fontSize: 18, color: '#4A5568', flex: 1, lineHeight: 1.4 }}&gt;二级步骤名，回表校验&lt;/Text&gt;&#10;                    &lt;/Box&gt;&#10;                    &lt;Box style={{ flexDirection: 'row', gap: 10, alignItems: 'center' }}&gt;&#10;                        &lt;Text style={{ fontSize: 18, fontWeight: 'bold', color: '#0E3F8C', width: 190 }}&gt;standard_writing&lt;/Text&gt;&#10;                        &lt;Text style={{ fontSize: 18, color: '#4A5568', flex: 1, lineHeight: 1.4 }}&gt;标准过程，保留关键公式&lt;/Text&gt;&#10;                    &lt;/Box&gt;&#10;                    &lt;Box style={{ flexDirection: 'row', gap: 10, alignItems: 'center' }}&gt;&#10;                        &lt;Text style={{ fontSize: 18, fontWeight: 'bold', color: '#0E3F8C', width: 190 }}&gt;detailed_writing&lt;/Text&gt;&#10;                        &lt;Text style={{ fontSize: 18, color: '#4A5568', flex: 1, lineHeight: 1.4 }}&gt;详细过程，保护公式边界&lt;/Text&gt;&#10;                    &lt;/Box&gt;&#10;                    &lt;Box style={{ flexDirection: 'row', gap: 10, alignItems: 'center' }}&gt;&#10;                        &lt;Text style={{ fontSize: 18, fontWeight: 'bold', color: '#0E3F8C', width: 190 }}&gt;knowledge_point&lt;/Text&gt;&#10;                        &lt;Text style={{ fontSize: 18, color: '#4A5568', flex: 1, lineHeight: 1.4 }}&gt;该步骤涉及的知识点&lt;/Text&gt;&#10;                    &lt;/Box&gt;&#10;                    &lt;Box style={{ flexDirection: 'row', gap: 10, alignItems: 'center' }}&gt;&#10;                        &lt;Text style={{ fontSize: 18, fontWeight: 'bold', color: '#0E3F8C', width: 190 }}&gt;step_difficulty&lt;/Text&gt;&#10;                        &lt;Text style={{ fontSize: 18, color: '#4A5568', flex: 1, lineHeight: 1.4 }}&gt;五维难度，每维 0–3 整数&lt;/Text&gt;&#10;                    &lt;/Box&gt;&#10;                &lt;/Box&gt;&#10;                &lt;Box style={{ background: '#FFFFFF', borderRadius: 6, padding: 12 }}&gt;&#10;                    &lt;Text style={{ fontSize: 18, color: '#1A2230', lineHeight: 1.5 }}&gt;&#10;                        最终答案也以步骤形式保存（编号 999），保证整条链路结构统一。&#10;                    &lt;/Text&gt;&#10;                &lt;/Box&gt;&#10;            &lt;/Box&gt;&#10;&#10;            &lt;Box style={{ flex: 1, flexDirection: 'column', gap: 12, justifyContent: 'space-between' }}&gt;&#10;                &lt;Box style={{ flexDirection: 'column', gap: 6 }}&gt;&#10;                    &lt;Text style={{ fontSize: 24, fontWeight: 'bold', color: '#1A2230' }}&gt;四个消费方共享它&lt;/Text&gt;&#10;                    &lt;Text style={{ fontSize: 18, color: '#4A5568', lineHeight: 1.4 }}&gt;它们不各自调用模型，而是读取同一份步骤数据后做不同加工。&lt;/Text&gt;&#10;                &lt;/Box&gt;&#10;                &lt;Box style={{ flexDirection: 'column', gap: 10 }}&gt;&#10;                    &lt;Box style={{ background: '#E8EFF8', borderRadius: 8, border: '1px solid #3D7BD9', padding: 14, flexDirection: 'row', gap: 12, alignItems: 'center' }}&gt;&#10;                        &lt;Box style={{ width: 6, height: 40, background: '#0E3F8C' }} /&gt;&#10;                        &lt;Box style={{ flex: 1, flexDirection: 'column', gap: 3 }}&gt;&#10;                            &lt;Text style={{ fontSize: 21, fontWeight: 'bold', color: '#0E3F8C' }}&gt;难度聚合&lt;/Text&gt;&#10;                            &lt;Text style={{ fontSize: 17, color: '#4A5568', lineHeight: 1.4 }}&gt;读每步五维 → 确定性公式 → 整题难度&lt;/Text&gt;&#10;                        &lt;/Box&gt;&#10;                    &lt;/Box&gt;&#10;                    &lt;Box style={{ background: '#E8EFF8', borderRadius: 8, border: '1px solid #3D7BD9', padding: 14, flexDirection: 'row', gap: 12, alignItems: 'center' }}&gt;&#10;                        &lt;Box style={{ width: 6, height: 40, background: '#0E3F8C' }} /&gt;&#10;                        &lt;Box style={{ flex: 1, flexDirection: 'column', gap: 3 }}&gt;&#10;                            &lt;Text style={{ fontSize: 21, fontWeight: 'bold', color: '#0E3F8C' }}&gt;AI 批改&lt;/Text&gt;&#10;                            &lt;Text style={{ fontSize: 17, color: '#4A5568', lineHeight: 1.4 }}&gt;按步骤编号回填四态判分与错因&lt;/Text&gt;&#10;                        &lt;/Box&gt;&#10;                    &lt;/Box&gt;&#10;                    &lt;Box style={{ background: '#E8EFF8', borderRadius: 8, border: '1px solid #3D7BD9', padding: 14, flexDirection: 'row', gap: 12, alignItems: 'center' }}&gt;&#10;                        &lt;Box style={{ width: 6, height: 40, background: '#0E3F8C' }} /&gt;&#10;                        &lt;Box style={{ flex: 1, flexDirection: 'column', gap: 3 }}&gt;&#10;                            &lt;Text style={{ fontSize: 21, fontWeight: 'bold', color: '#0E3F8C' }}&gt;手把手教学&lt;/Text&gt;&#10;                            &lt;Text style={{ fontSize: 17, color: '#4A5568', lineHeight: 1.4 }}&gt;逐步骤生成引导问题与参考答案&lt;/Text&gt;&#10;                        &lt;/Box&gt;&#10;                    &lt;/Box&gt;&#10;                    &lt;Box style={{ background: '#E8EFF8', borderRadius: 8, border: '1px solid #3D7BD9', padding: 14, flexDirection: 'row', gap: 12, alignItems: 'center' }}&gt;&#10;                        &lt;Box style={{ width: 6, height: 40, background: '#0E3F8C' }} /&gt;&#10;                        &lt;Box style={{ flex: 1, flexDirection: 'column', gap: 3 }}&gt;&#10;                            &lt;Text style={{ fontSize: 21, fontWeight: 'bold', color: '#0E3F8C' }}&gt;AI 仿题&lt;/Text&gt;&#10;                            &lt;Text style={{ fontSize: 17, color: '#4A5568', lineHeight: 1.4 }}&gt;变式题必须产出同样结构才能入库&lt;/Text&gt;&#10;                        &lt;/Box&gt;&#10;                    &lt;/Box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因为共享同一份结构，同一道作答在批改与教学中必然得到同一套评分与错因——一致性不是靠约定，而是靠结构保证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1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步骤对象：全系统的唯一数据契约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上游只生产这一种数据，下游只消费这一种数据——它是所有能力之间的共同语言。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81000" y="1181100"/>
            <a:ext cx="5610225" cy="4581525"/>
          </a:xfrm>
          <a:prstGeom prst="roundRect">
            <a:avLst>
              <a:gd name="adj" fmla="val 16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5267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每个步骤包含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52450" y="1704975"/>
            <a:ext cx="5267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教学会话还会补充引导问题与参考答案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52450" y="23717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step_number / title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457450" y="23241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步骤号与一级步骤名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52450" y="27336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step_level1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457450" y="268605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二级步骤名，回表校验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52450" y="30956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standard_writing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457450" y="30480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标准过程，保留关键公式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52450" y="34575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detailed_writing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2457450" y="340995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详细过程，保护公式边界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52450" y="381952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knowledge_point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457450" y="37719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该步骤涉及的知识点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52450" y="4181475"/>
            <a:ext cx="1809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step_difficulty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457450" y="413385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五维难度，每维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0–3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整数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52450" y="4743450"/>
            <a:ext cx="5267325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66750" y="4857750"/>
            <a:ext cx="5038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最终答案也以步骤形式保存（编号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999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），保证整条链路结构统一。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200775" y="1181100"/>
            <a:ext cx="561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四个消费方共享它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200775" y="151447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它们不各自调用模型，而是读取同一份步骤数据后做不同加工。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200775" y="2200275"/>
            <a:ext cx="5610225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6334125" y="2419350"/>
            <a:ext cx="5715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505575" y="2333625"/>
            <a:ext cx="5172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难度聚合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505575" y="2609850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读每步五维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确定性公式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整题难度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200775" y="3114675"/>
            <a:ext cx="5610225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334125" y="3333750"/>
            <a:ext cx="5715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505575" y="3248025"/>
            <a:ext cx="5172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批改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505575" y="3524250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按步骤编号回填四态判分与错因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200775" y="4029075"/>
            <a:ext cx="5610225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6334125" y="4248150"/>
            <a:ext cx="5715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505575" y="4162425"/>
            <a:ext cx="5172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手把手教学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505575" y="4438650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逐步骤生成引导问题与参考答案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200775" y="4943475"/>
            <a:ext cx="5610225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334125" y="5162550"/>
            <a:ext cx="5715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505575" y="5076825"/>
            <a:ext cx="5172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仿题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505575" y="5353050"/>
            <a:ext cx="51720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变式题必须产出同样结构才能入库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因为共享同一份结构，同一道作答在批改与教学中必然得到同一套评分与错因——一致性不是靠约定，而是靠结构保证。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382375" y="6562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2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解题流水线：三段分工与失败降级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每段只做一件事：不让同一个模型既解题又评分，从而把错误限制在最小环节。&#10;        &lt;/Text&gt;&#10;&#10;        &lt;Box style={{ flexDirection: 'row', alignItems: 'stretch', gap: 20, flex: 1 }}&gt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8, color: '#8B97A8' }}&gt;第一段&lt;/Text&gt;&#10;                    &lt;Text style={{ fontSize: 26, fontWeight: 'bold', color: '#1E4FA8' }}&gt;Solver&lt;/Text&gt;&#10;                &lt;/Box&gt;&#10;                &lt;Text style={{ fontSize: 20, color: '#1A2230', lineHeight: 1.5 }}&gt;解出完整过程，并判断题型、板块与是否可解。&lt;/Text&gt;&#10;                &lt;Box style={{ flexDirection: 'column', gap: 8 }}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限定高中知识范围&lt;/Text&gt;&#10;                    &lt;/Box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禁止洛必达、泰勒等超纲方法&lt;/Text&gt;&#10;                    &lt;/Box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无法完成时如实声明，不硬解&lt;/Text&gt;&#10;                    &lt;/Box&gt;&#10;                &lt;/Box&gt;&#10;            &lt;/Box&gt;&#10;&#10;            &lt;Box style={{ width: 44, alignItems: 'center' }}&gt;&#10;                &lt;Box style={{ width: 6, flex: 1, background: '#D6DCE5' }} /&gt;&#10;                &lt;Box style={{ width: 12, height: 12, background: '#1E4FA8' }} /&gt;&#10;                &lt;Box style={{ width: 6, flex: 1, background: '#D6DCE5' }} /&gt;&#10;            &lt;/Box&gt;&#10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8, color: '#8B97A8' }}&gt;第二段&lt;/Text&gt;&#10;                    &lt;Text style={{ fontSize: 26, fontWeight: 'bold', color: '#1E4FA8' }}&gt;Verifier&lt;/Text&gt;&#10;                &lt;/Box&gt;&#10;                &lt;Text style={{ fontSize: 20, color: '#1A2230', lineHeight: 1.5 }}&gt;把解答切成块与步骤，并对齐标准命名。&lt;/Text&gt;&#10;                &lt;Box style={{ flexDirection: 'column', gap: 8 }}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步骤名回表校验步骤表&lt;/Text&gt;&#10;                    &lt;/Box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知识点从 541 个三级表映射过滤&lt;/Text&gt;&#10;                    &lt;/Box&gt;&#10;                    &lt;Box style={{ flexDirection: 'row', gap: 8 }}&gt;&#10;                        &lt;Box style={{ width: 7, height: 7, background: '#3D7BD9', marginTop: 7 }} /&gt;&#10;                        &lt;Text style={{ fontSize: 18, color: '#4A5568', flex: 1, lineHeight: 1.4 }}&gt;12 个题型各有专用提示词&lt;/Text&gt;&#10;                    &lt;/Box&gt;&#10;                &lt;/Box&gt;&#10;            &lt;/Box&gt;&#10;&#10;            &lt;Box style={{ width: 44, alignItems: 'center' }}&gt;&#10;                &lt;Box style={{ width: 6, flex: 1, background: '#D6DCE5' }} /&gt;&#10;                &lt;Box style={{ width: 12, height: 12, background: '#1E4FA8' }} /&gt;&#10;                &lt;Box style={{ width: 6, flex: 1, background: '#D6DCE5' }} /&gt;&#10;            &lt;/Box&gt;&#10;&#10;            &lt;Box style={{ flex: 1, background: '#E8EFF8', borderRadius: 8, border: '1px solid #3D7BD9', padding: 18, justifyContent: 'space-between' }}&gt;&#10;                &lt;Box style={{ flexDirection: 'column', gap: 6 }}&gt;&#10;                    &lt;Text style={{ fontSize: 18, color: '#8B97A8' }}&gt;第三段&lt;/Text&gt;&#10;                    &lt;Text style={{ fontSize: 26, fontWeight: 'bold', color: '#0E3F8C' }}&gt;Formatter&lt;/Text&gt;&#10;                &lt;/Box&gt;&#10;                &lt;Text style={{ fontSize: 20, color: '#1A2230', lineHeight: 1.5 }}&gt;做全局一致性校验，并为每个步骤打五维难度。&lt;/Text&gt;&#10;                &lt;Box style={{ flexDirection: 'column', gap: 8 }}&gt;&#10;                    &lt;Box style={{ flexDirection: 'row', gap: 8 }}&gt;&#10;                        &lt;Box style={{ width: 7, height: 7, background: '#0E3F8C', marginTop: 7 }} /&gt;&#10;                        &lt;Text style={{ fontSize: 18, color: '#4A5568', flex: 1, lineHeight: 1.4 }}&gt;检查各块答案是否互相矛盾&lt;/Text&gt;&#10;                    &lt;/Box&gt;&#10;                    &lt;Box style={{ flexDirection: 'row', gap: 8 }}&gt;&#10;                        &lt;Box style={{ width: 7, height: 7, background: '#0E3F8C', marginTop: 7 }} /&gt;&#10;                        &lt;Text style={{ fontSize: 18, color: '#4A5568', flex: 1, lineHeight: 1.4 }}&gt;步骤被删减或字段缺失即判失败&lt;/Text&gt;&#10;                    &lt;/Box&gt;&#10;                    &lt;Box style={{ flexDirection: 'row', gap: 8 }}&gt;&#10;                        &lt;Box style={{ width: 7, height: 7, background: '#0E3F8C', marginTop: 7 }} /&gt;&#10;                        &lt;Text style={{ fontSize: 18, color: '#4A5568', flex: 1, lineHeight: 1.4 }}&gt;只给五维，不打总分&lt;/Text&gt;&#10;                    &lt;/Box&gt;&#10;                &lt;/Box&gt;&#10;            &lt;/Box&gt;&#10;        &lt;/Box&gt;&#10;&#10;        &lt;Box style={{ background: '#FFFFFF', borderRadius: 8, border: '1px solid #D6DCE5', padding: 14, flexDirection: 'column', gap: 8 }}&gt;&#10;            &lt;Text style={{ fontSize: 21, fontWeight: 'bold', color: '#1A2230' }}&gt;失败降级路径：不伪造分数&lt;/Text&gt;&#10;            &lt;Box style={{ flexDirection: 'row', alignItems: 'center', gap: 10 }}&gt;&#10;                &lt;Box style={{ flex: 1, background: '#F0F5FC', borderRadius: 6, padding: 8, alignItems: 'center', justifyContent: 'center' }}&gt;&#10;                    &lt;Text style={{ fontSize: 17, color: '#1A2230', textAlign: 'center' }}&gt;Formatter 校验失败&lt;/Text&gt;&#10;                &lt;/Box&gt;&#10;                &lt;Box style={{ width: 34, height: 3, background: '#8B97A8' }} /&gt;&#10;                &lt;Box style={{ flex: 1, background: '#F0F5FC', borderRadius: 6, padding: 8, alignItems: 'center', justifyContent: 'center' }}&gt;&#10;                    &lt;Text style={{ fontSize: 17, color: '#1A2230', textAlign: 'center' }}&gt;自动重跑一次 Verifier&lt;/Text&gt;&#10;                &lt;/Box&gt;&#10;                &lt;Box style={{ width: 34, height: 3, background: '#8B97A8' }} /&gt;&#10;                &lt;Box style={{ flex: 1, background: '#F0F5FC', borderRadius: 6, padding: 8, alignItems: 'center', justifyContent: 'center' }}&gt;&#10;                    &lt;Text style={{ fontSize: 17, color: '#1A2230', textAlign: 'center' }}&gt;再跑 Formatter&lt;/Text&gt;&#10;                &lt;/Box&gt;&#10;                &lt;Box style={{ width: 34, height: 3, background: '#D9534F' }} /&gt;&#10;                &lt;Box style={{ flex: 1, background: '#F0F5FC', borderRadius: 6, padding: 8, alignItems: 'center', justifyContent: 'center' }}&gt;&#10;                    &lt;Text style={{ fontSize: 17, color: '#D9534F', textAlign: 'center' }}&gt;仍失败：保留结果，难度标记「未知」&lt;/Text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系统的一贯态度：宁可不给分，也不给假的分数。&#10;            &lt;/Text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10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解题流水线：三段分工与失败降级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每段只做一件事：不让同一个模型既解题又评分，从而把错误限制在最小环节。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81000" y="1181100"/>
            <a:ext cx="3276600" cy="3448050"/>
          </a:xfrm>
          <a:prstGeom prst="roundRect">
            <a:avLst>
              <a:gd name="adj" fmla="val 232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第一段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Solver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52450" y="2333625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解出完整过程，并判断题型、板块与是否可解。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52450" y="3486150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95325" y="341947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限定高中知识范围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52450" y="3857625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95325" y="3790950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禁止洛必达、泰勒等超纲方法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52450" y="4229100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95325" y="416242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无法完成时如实声明，不硬解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029075" y="1181100"/>
            <a:ext cx="57150" cy="16668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4000500" y="2847975"/>
            <a:ext cx="1143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4029075" y="2962275"/>
            <a:ext cx="57150" cy="16668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457700" y="1181100"/>
            <a:ext cx="3276600" cy="3448050"/>
          </a:xfrm>
          <a:prstGeom prst="roundRect">
            <a:avLst>
              <a:gd name="adj" fmla="val 232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629150" y="135255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第二段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629150" y="161925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E4FA8"/>
                </a:solidFill>
                <a:latin typeface="Microsoft YaHei"/>
                <a:ea typeface="Microsoft YaHei"/>
              </a:rPr>
              <a:t>Verifier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629150" y="2333625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把解答切成块与步骤，并对齐标准命名。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629150" y="3486150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772025" y="341947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步骤名回表校验步骤表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4629150" y="3857625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772025" y="3790950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知识点从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541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个三级表映射过滤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629150" y="4229100"/>
            <a:ext cx="66675" cy="666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772025" y="416242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个题型各有专用提示词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105775" y="1181100"/>
            <a:ext cx="57150" cy="16668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077200" y="2847975"/>
            <a:ext cx="1143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8105775" y="2962275"/>
            <a:ext cx="57150" cy="16668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534400" y="1181100"/>
            <a:ext cx="3276600" cy="3448050"/>
          </a:xfrm>
          <a:prstGeom prst="roundRect">
            <a:avLst>
              <a:gd name="adj" fmla="val 2326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705850" y="135255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第三段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705850" y="1619250"/>
            <a:ext cx="2933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Formatter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705850" y="2333625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做全局一致性校验，并为每个步骤打五维难度。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705850" y="3486150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848725" y="341947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检查各块答案是否互相矛盾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705850" y="3857625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848725" y="3790950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步骤被删减或字段缺失即判失败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705850" y="4229100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848725" y="4162425"/>
            <a:ext cx="27908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只给五维，不打总分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381000" y="4629150"/>
            <a:ext cx="11430000" cy="1133475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14350" y="4762500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失败降级路径：不伪造分数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14350" y="5181600"/>
            <a:ext cx="2409825" cy="352425"/>
          </a:xfrm>
          <a:prstGeom prst="roundRect">
            <a:avLst>
              <a:gd name="adj" fmla="val 1621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19175" y="5257800"/>
            <a:ext cx="14001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Formatter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校验失败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3019425" y="5343525"/>
            <a:ext cx="323850" cy="285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3438525" y="5181600"/>
            <a:ext cx="2400300" cy="352425"/>
          </a:xfrm>
          <a:prstGeom prst="roundRect">
            <a:avLst>
              <a:gd name="adj" fmla="val 1621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76675" y="5257800"/>
            <a:ext cx="15240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自动重跑一次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Verifier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934075" y="5343525"/>
            <a:ext cx="323850" cy="285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353175" y="5181600"/>
            <a:ext cx="2409825" cy="352425"/>
          </a:xfrm>
          <a:prstGeom prst="roundRect">
            <a:avLst>
              <a:gd name="adj" fmla="val 1621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019925" y="5257800"/>
            <a:ext cx="10763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再跑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Formatter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858250" y="5343525"/>
            <a:ext cx="323850" cy="2857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9277350" y="5086350"/>
            <a:ext cx="2400300" cy="542925"/>
          </a:xfrm>
          <a:prstGeom prst="roundRect">
            <a:avLst>
              <a:gd name="adj" fmla="val 1052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353550" y="5162550"/>
            <a:ext cx="2247900" cy="3905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D9534F"/>
                </a:solidFill>
                <a:latin typeface="Microsoft YaHei"/>
                <a:ea typeface="Microsoft YaHei"/>
              </a:rPr>
              <a:t>仍失败：保留结果，难度标记「未知」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系统的一贯态度：宁可不给分，也不给假的分数。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难度体系：AI 只做最小判断，聚合交给代码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让模型直接给整题打总分，两次运行可能不一致，就无法做偏差分析。因此把模型判断限制在最小粒度。&#10;        &lt;/Text&gt;&#10;&#10;        &lt;Box style={{ flexDirection: 'row', gap: 20, flex: 1, alignItems: 'stretch' }}&gt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9, color: '#8B97A8' }}&gt;模型负责&lt;/Text&gt;&#10;                    &lt;Text style={{ fontSize: 25, fontWeight: 'bold', color: '#1E4FA8' }}&gt;每个步骤打五维 0–3&lt;/Text&gt;&#10;                &lt;/Box&gt;&#10;                &lt;Box style={{ flexDirection: 'column', gap: 9 }}&gt;&#10;                    &lt;Box style={{ background: '#FFFFFF', borderRadius: 6, padding: 10, flexDirection: 'row', gap: 10, alignItems: 'center' }}&gt;&#10;                        &lt;Box style={{ width: 26, height: 26, background: '#1E4FA8', borderRadius: 4, alignItems: 'center', justifyContent: 'center' }}&gt;&#10;                            &lt;Text style={{ fontSize: 15, fontWeight: 'bold', color: '#FFFFFF' }}&gt;1&lt;/Text&gt;&#10;                        &lt;/Box&gt;&#10;                        &lt;Text style={{ fontSize: 19, color: '#1A2230', flex: 1 }}&gt;非常规程度&lt;/Text&gt;&#10;                    &lt;/Box&gt;&#10;                    &lt;Box style={{ background: '#FFFFFF', borderRadius: 6, padding: 10, flexDirection: 'row', gap: 10, alignItems: 'center' }}&gt;&#10;                        &lt;Box style={{ width: 26, height: 26, background: '#1E4FA8', borderRadius: 4, alignItems: 'center', justifyContent: 'center' }}&gt;&#10;                            &lt;Text style={{ fontSize: 15, fontWeight: 'bold', color: '#FFFFFF' }}&gt;2&lt;/Text&gt;&#10;                        &lt;/Box&gt;&#10;                        &lt;Text style={{ fontSize: 19, color: '#1A2230', flex: 1 }}&gt;计算量&lt;/Text&gt;&#10;                    &lt;/Box&gt;&#10;                    &lt;Box style={{ background: '#FFFFFF', borderRadius: 6, padding: 10, flexDirection: 'row', gap: 10, alignItems: 'center' }}&gt;&#10;                        &lt;Box style={{ width: 26, height: 26, background: '#1E4FA8', borderRadius: 4, alignItems: 'center', justifyContent: 'center' }}&gt;&#10;                            &lt;Text style={{ fontSize: 15, fontWeight: 'bold', color: '#FFFFFF' }}&gt;3&lt;/Text&gt;&#10;                        &lt;/Box&gt;&#10;                        &lt;Text style={{ fontSize: 19, color: '#1A2230', flex: 1 }}&gt;分类讨论&lt;/Text&gt;&#10;                    &lt;/Box&gt;&#10;                    &lt;Box style={{ background: '#FFFFFF', borderRadius: 6, padding: 10, flexDirection: 'row', gap: 10, alignItems: 'center' }}&gt;&#10;                        &lt;Box style={{ width: 26, height: 26, background: '#1E4FA8', borderRadius: 4, alignItems: 'center', justifyContent: 'center' }}&gt;&#10;                            &lt;Text style={{ fontSize: 15, fontWeight: 'bold', color: '#FFFFFF' }}&gt;4&lt;/Text&gt;&#10;                        &lt;/Box&gt;&#10;                        &lt;Text style={{ fontSize: 19, color: '#1A2230', flex: 1 }}&gt;知识广度&lt;/Text&gt;&#10;                    &lt;/Box&gt;&#10;                    &lt;Box style={{ background: '#FFFFFF', borderRadius: 6, padding: 10, flexDirection: 'row', gap: 10, alignItems: 'center' }}&gt;&#10;                        &lt;Box style={{ width: 26, height: 26, background: '#1E4FA8', borderRadius: 4, alignItems: 'center', justifyContent: 'center' }}&gt;&#10;                            &lt;Text style={{ fontSize: 15, fontWeight: 'bold', color: '#FFFFFF' }}&gt;5&lt;/Text&gt;&#10;                        &lt;/Box&gt;&#10;                        &lt;Text style={{ fontSize: 19, color: '#1A2230', flex: 1 }}&gt;条件转化难度&lt;/Text&gt;&#10;                    &lt;/Box&gt;&#10;                &lt;/Box&gt;&#10;                &lt;Text style={{ fontSize: 17, color: '#8B97A8', lineHeight: 1.4 }}&gt;0 是默认分；2 分与 3 分设有硬门槛&lt;/Text&gt;&#10;            &lt;/Box&gt;&#10;&#10;            &lt;Box style={{ width: 60, alignItems: 'center', justifyContent: 'center', flexDirection: 'column', gap: 6 }}&gt;&#10;                &lt;Text style={{ fontSize: 16, fontWeight: 'bold', color: '#FFC107' }}&gt;聚合&lt;/Text&gt;&#10;                &lt;Box style={{ width: 40, height: 3, background: '#1E4FA8' }} /&gt;&#10;                &lt;Box style={{ width: 10, height: 10, background: '#1E4FA8' }} /&gt;&#10;            &lt;/Box&gt;&#10;&#10;            &lt;Box style={{ flex: 1, background: '#0E3F8C', borderRadius: 10, padding: 20, justifyContent: 'space-between' }}&gt;&#10;                &lt;Box style={{ flexDirection: 'column', gap: 6 }}&gt;&#10;                    &lt;Text style={{ fontSize: 19, color: '#9EC1F0' }}&gt;代码负责&lt;/Text&gt;&#10;                    &lt;Text style={{ fontSize: 25, fontWeight: 'bold', color: '#FFFFFF' }}&gt;确定性聚合&lt;/Text&gt;&#10;                &lt;/Box&gt;&#10;                &lt;Box style={{ flexDirection: 'column', gap: 10 }}&gt;&#10;                    &lt;Box style={{ background: '#123D7F', borderRadius: 6, padding: 12 }}&gt;&#10;                        &lt;Text style={{ fontSize: 18, color: '#C8DCF7', lineHeight: 1.5 }}&gt;&#10;                            维度分 = min(3, 峰值 + floor(0.5 × 非零均值 × 非零覆盖率))&#10;                        &lt;/Text&gt;&#10;                    &lt;/Box&gt;&#10;                    &lt;Box style={{ background: '#123D7F', borderRadius: 6, padding: 12 }}&gt;&#10;                        &lt;Text style={{ fontSize: 18, color: '#C8DCF7', lineHeight: 1.5 }}&gt;&#10;                            总分 = min(15, Σ 权重)，权重默认 [0, 1, 2, 4]&#10;                        &lt;/Text&gt;&#10;                    &lt;/Box&gt;&#10;                    &lt;Box style={{ background: '#123D7F', borderRadius: 6, padding: 12 }}&gt;&#10;                        &lt;Text style={{ fontSize: 18, color: '#C8DCF7', lineHeight: 1.5 }}&gt;&#10;                            等级：0–3 容易 · 4–6 中等 · 7–9 困难 · ≥10 极难&#10;                        &lt;/Text&gt;&#10;                    &lt;/Box&gt;&#10;                &lt;/Box&gt;&#10;                &lt;Box style={{ flexDirection: 'column', gap: 6 }}&gt;&#10;                    &lt;Text style={{ fontSize: 18, color: '#FFC107', lineHeight: 1.4 }}&gt;可复现 · 可调参 · 可写进论文&lt;/Text&gt;&#10;                    &lt;Text style={{ fontSize: 17, color: '#9EC1F0', lineHeight: 1.4 }}&gt;权重、封顶与等级阈值均可在设置页热修改，无需重启。&lt;/Text&gt;&#10;                &lt;/Box&gt;&#10;            &lt;/Box&gt;&#10;        &lt;/Box&gt;&#10;&#10;        &lt;Box style={{ flexDirection: 'row', gap: 20 }}&gt;&#10;            &lt;Box style={{ flex: 1, background: '#FFFFFF', borderRadius: 8, border: '1px solid #D6DCE5', padding: 14, flexDirection: 'column', gap: 6 }}&gt;&#10;                &lt;Text style={{ fontSize: 21, fontWeight: 'bold', color: '#1E4FA8' }}&gt;提示词里的硬门槛&lt;/Text&gt;&#10;                &lt;Text style={{ fontSize: 18, color: '#4A5568', lineHeight: 1.5 }}&gt;2 分要求真实三分类或跨两板块联动；3 分要求压轴级（构造思路、四分类以上、三板块综合）。&lt;/Text&gt;&#10;            &lt;/Box&gt;&#10;            &lt;Box style={{ flex: 1, background: '#FFFFFF', borderRadius: 8, border: '1px solid #D6DCE5', padding: 14, flexDirection: 'column', gap: 6 }}&gt;&#10;                &lt;Text style={{ fontSize: 21, fontWeight: 'bold', color: '#1E4FA8' }}&gt;为什么不打总分&lt;/Text&gt;&#10;                &lt;Text style={{ fontSize: 18, color: '#4A5568', lineHeight: 1.5 }}&gt;总分不可复现就无法做整卷偏差分析；把判断压到步骤粒度，聚合才稳定。&lt;/Text&gt;&#10;            &lt;/Box&gt;&#10;        &lt;/Box&gt;&#10;    &lt;/Box&gt;&#10;&#10;    &lt;Box style={{ height: 44, paddingLeft: 40, paddingRight: 40, flexDirection: 'row', justifyContent: 'space-between', alignItems: 'center' }}&gt;&#10;        &lt;Text style={{ fontSize: 14, color: '#8B97A8' }}&gt;高中数学 AI 学习系统 · 技术框架汇报&lt;/Text&gt;&#10;        &lt;Text style={{ fontSize: 15, color: '#1E4FA8' }}&gt;1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难度体系：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只做最小判断，聚合交给代码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让模型直接给整题打总分，两次运行可能不一致，就无法做偏差分析。因此把模型判断限制在最小粒度。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81000" y="1181100"/>
            <a:ext cx="5238750" cy="3952875"/>
          </a:xfrm>
          <a:prstGeom prst="roundRect">
            <a:avLst>
              <a:gd name="adj" fmla="val 192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模型负责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52450" y="1628775"/>
            <a:ext cx="4895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每个步骤打五维</a:t>
            </a:r>
            <a:r>
              <a:rPr lang="en-US" sz="187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0–3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52450" y="2038350"/>
            <a:ext cx="48958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47700" y="213360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33425" y="21717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90600" y="2152650"/>
            <a:ext cx="4362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非常规程度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52450" y="2562225"/>
            <a:ext cx="48958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47700" y="2657475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33425" y="26955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90600" y="2676525"/>
            <a:ext cx="4362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计算量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52450" y="3086100"/>
            <a:ext cx="48958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47700" y="318135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33425" y="32194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90600" y="3200400"/>
            <a:ext cx="4362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分类讨论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52450" y="3609975"/>
            <a:ext cx="48958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47700" y="3705225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33425" y="37433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90600" y="3724275"/>
            <a:ext cx="4362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知识广度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52450" y="4133850"/>
            <a:ext cx="48958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47700" y="422910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33425" y="426720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90600" y="4248150"/>
            <a:ext cx="4362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条件转化难度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2450" y="468630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是默认分；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分与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分设有硬门槛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943600" y="29432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C107"/>
                </a:solidFill>
                <a:latin typeface="Microsoft YaHei"/>
                <a:ea typeface="Microsoft YaHei"/>
              </a:rPr>
              <a:t>聚合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905500" y="3190875"/>
            <a:ext cx="381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048375" y="32766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572250" y="1181100"/>
            <a:ext cx="5238750" cy="3952875"/>
          </a:xfrm>
          <a:prstGeom prst="roundRect">
            <a:avLst>
              <a:gd name="adj" fmla="val 241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762750" y="1371600"/>
            <a:ext cx="4857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EC1F0"/>
                </a:solidFill>
                <a:latin typeface="Microsoft YaHei"/>
                <a:ea typeface="Microsoft YaHei"/>
              </a:rPr>
              <a:t>代码负责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762750" y="164782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确定性聚合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762750" y="2219325"/>
            <a:ext cx="4857750" cy="542925"/>
          </a:xfrm>
          <a:prstGeom prst="roundRect">
            <a:avLst>
              <a:gd name="adj" fmla="val 10526"/>
            </a:avLst>
          </a:prstGeom>
          <a:solidFill>
            <a:srgbClr val="123D7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77050" y="2333625"/>
            <a:ext cx="4629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维度分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= min(3,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峰值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+ floor(0.5 ×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非零均值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非零覆盖率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>))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762750" y="2857500"/>
            <a:ext cx="4857750" cy="542925"/>
          </a:xfrm>
          <a:prstGeom prst="roundRect">
            <a:avLst>
              <a:gd name="adj" fmla="val 10526"/>
            </a:avLst>
          </a:prstGeom>
          <a:solidFill>
            <a:srgbClr val="123D7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77050" y="2971800"/>
            <a:ext cx="4629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总分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= min(15, Σ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权重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>)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，权重默认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[0, 1, 2, 4]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762750" y="3495675"/>
            <a:ext cx="4857750" cy="542925"/>
          </a:xfrm>
          <a:prstGeom prst="roundRect">
            <a:avLst>
              <a:gd name="adj" fmla="val 10526"/>
            </a:avLst>
          </a:prstGeom>
          <a:solidFill>
            <a:srgbClr val="123D7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77050" y="3609975"/>
            <a:ext cx="4629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等级：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0–3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容易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· 4–6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中等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· 7–9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困难</a:t>
            </a:r>
            <a:r>
              <a:rPr lang="en-US" sz="1350">
                <a:solidFill>
                  <a:srgbClr val="C8DCF7"/>
                </a:solidFill>
                <a:latin typeface="Microsoft YaHei"/>
                <a:ea typeface="Microsoft YaHei"/>
              </a:rPr>
              <a:t xml:space="preserve"> · ≥10 </a:t>
            </a: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极难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762750" y="4314825"/>
            <a:ext cx="48577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可复现</a:t>
            </a:r>
            <a:r>
              <a:rPr lang="en-US" sz="1350">
                <a:solidFill>
                  <a:srgbClr val="FFC10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可调参</a:t>
            </a:r>
            <a:r>
              <a:rPr lang="en-US" sz="1350">
                <a:solidFill>
                  <a:srgbClr val="FFC10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C107"/>
                </a:solidFill>
                <a:latin typeface="Microsoft YaHei"/>
                <a:ea typeface="Microsoft YaHei"/>
              </a:rPr>
              <a:t>可写进论文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762750" y="4667250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9EC1F0"/>
                </a:solidFill>
                <a:latin typeface="Microsoft YaHei"/>
                <a:ea typeface="Microsoft YaHei"/>
              </a:rPr>
              <a:t>权重、封顶与等级阈值均可在设置页热修改，无需重启。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5133975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14350" y="526732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提示词里的硬门槛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14350" y="557212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分要求真实三分类或跨两板块联动；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分要求压轴级（构造思路、四分类以上、三板块综合）。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191250" y="5133975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324600" y="526732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为什么不打总分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324600" y="557212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总分不可复现就无法做整卷偏差分析；把判断压到步骤粒度，聚合才稳定。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372850" y="6562725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182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四老师路由：把质量与成本的权衡交给用户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同一条流水线配四档算力：从「快但可能出错」到「最慢但最审慎」，按题目重要性选择。&#10;        &lt;/Text&gt;&#10;&#10;        &lt;Box style={{ flex: 1, paddingTop: 4, paddingBottom: 4 }}&gt;&#10;            &lt;Table&#10;                style={{ width: '100%', height: '100%' }}&#10;                defaultTextStyle={{ fontSize: 19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老师', textStyle: { bold: true, fontSize: 20, color: '#FFFFFF' }, cellStyle: { background: { color: '#1E4FA8' } } },&#10;                        { text: 'Solver', textStyle: { bold: true, fontSize: 20, color: '#FFFFFF' }, cellStyle: { background: { color: '#1E4FA8' } } },&#10;                        { text: 'Verifier', textStyle: { bold: true, fontSize: 20, color: '#FFFFFF' }, cellStyle: { background: { color: '#1E4FA8' } } },&#10;                        { text: 'Formatter', textStyle: { bold: true, fontSize: 20, color: '#FFFFFF' }, cellStyle: { background: { color: '#1E4FA8' } } },&#10;                        { text: '适用场景', textStyle: { bold: true, fontSize: 20, color: '#FFFFFF' }, cellStyle: { background: { color: '#1E4FA8' } } },&#10;                    ],&#10;                    [&#10;                        { text: '梁梁', textStyle: { bold: true }, cellStyle: { background: { color: '#F7F9FC' } } },&#10;                        { text: 'flash', cellStyle: { background: { color: '#F7F9FC' } } },&#10;                        { text: 'flash · low', cellStyle: { background: { color: '#F7F9FC' } } },&#10;                        { text: 'flash · low', cellStyle: { background: { color: '#F7F9FC' } } },&#10;                        { text: '快速过一遍，允许出错', cellStyle: { background: { color: '#F7F9FC' } } },&#10;                    ],&#10;                    [&#10;                        { text: '韬韬', textStyle: { bold: true } },&#10;                        { text: 'v4-pro · low' },&#10;                        { text: 'flash · medium' },&#10;                        { text: 'flash · low' },&#10;                        { text: '慢一点，但更稳' },&#10;                    ],&#10;                    [&#10;                        { text: '雪峰', textStyle: { bold: true }, cellStyle: { background: { color: '#F7F9FC' } } },&#10;                        { text: 'v4-pro · high', cellStyle: { background: { color: '#F7F9FC' } } },&#10;                        { text: 'flash · medium', cellStyle: { background: { color: '#F7F9FC' } } },&#10;                        { text: 'flash · low', cellStyle: { background: { color: '#F7F9FC' } } },&#10;                        { text: '每个步骤想得更多', cellStyle: { background: { color: '#F7F9FC' } } },&#10;                    ],&#10;                    [&#10;                        { text: '鸡', textStyle: { bold: true } },&#10;                        { text: 'v4-pro · high' },&#10;                        { text: 'flash · high' },&#10;                        { text: 'flash · high' },&#10;                        { text: '压轴题，逐步审慎' },&#10;                    ],&#10;                ]}&#10;            /&gt;&#10;        &lt;/Box&gt;&#10;&#10;        &lt;Box style={{ flexDirection: 'row', gap: 20 }}&gt;&#10;            &lt;Box style={{ flex: 1, background: '#FFFFFF', borderRadius: 8, border: '1px solid #D6DCE5', padding: 14, flexDirection: 'column', gap: 6 }}&gt;&#10;                &lt;Text style={{ fontSize: 21, fontWeight: 'bold', color: '#1E4FA8' }}&gt;可热修改&lt;/Text&gt;&#10;                &lt;Text style={{ fontSize: 18, color: '#4A5568', lineHeight: 1.5 }}&gt;四个老师的三阶段模型与思考强度都能在设置页调整，保存后立即生效。&lt;/Text&gt;&#10;            &lt;/Box&gt;&#10;            &lt;Box style={{ flex: 1, background: '#FFFFFF', borderRadius: 8, border: '1px solid #D6DCE5', padding: 14, flexDirection: 'column', gap: 6 }}&gt;&#10;                &lt;Text style={{ fontSize: 21, fontWeight: 'bold', color: '#1E4FA8' }}&gt;设计原则&lt;/Text&gt;&#10;                &lt;Text style={{ fontSize: 18, color: '#4A5568', lineHeight: 1.5 }}&gt;凡是由人定义的阈值与权衡，都应当可见可调，而不是硬编码在代码里。&lt;/Text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同一道题换老师会得到不同成本与不同审慎程度的解答，但评分标准不变——变的是算力，不是判据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四老师路由：把质量与成本的权衡交给用户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同一条流水线配四档算力：从「快但可能出错」到「最慢但最审慎」，按题目重要性选择。</a:t>
            </a:r>
            <a:endParaRPr/>
          </a:p>
        </p:txBody>
      </p:sp>
      <p:graphicFrame>
        <p:nvGraphicFramePr>
          <p:cNvPr id="187" name=""/>
          <p:cNvGraphicFramePr/>
          <p:nvPr/>
        </p:nvGraphicFramePr>
        <p:xfrm rot="0" flipH="0" flipV="0">
          <a:off x="381000" y="1219200"/>
          <a:ext cx="11430000" cy="3314700"/>
        </p:xfrm>
        <a:graphic>
          <a:graphicData uri="http://schemas.openxmlformats.org/drawingml/2006/table">
            <a:tbl>
              <a:tblGrid>
                <a:gridCol w="938623">
                  <a:extLst>
                    <a:ext uri="{9D8B030D-6E8A-4147-A177-3AD203B41FA5}">
                      <a16:colId val="1"/>
                    </a:ext>
                  </a:extLst>
                </a:gridCol>
                <a:gridCol w="2206520">
                  <a:extLst>
                    <a:ext uri="{9D8B030D-6E8A-4147-A177-3AD203B41FA5}">
                      <a16:colId val="2"/>
                    </a:ext>
                  </a:extLst>
                </a:gridCol>
                <a:gridCol w="2547149">
                  <a:extLst>
                    <a:ext uri="{9D8B030D-6E8A-4147-A177-3AD203B41FA5}">
                      <a16:colId val="3"/>
                    </a:ext>
                  </a:extLst>
                </a:gridCol>
                <a:gridCol w="1960510">
                  <a:extLst>
                    <a:ext uri="{9D8B030D-6E8A-4147-A177-3AD203B41FA5}">
                      <a16:colId val="4"/>
                    </a:ext>
                  </a:extLst>
                </a:gridCol>
                <a:gridCol w="377719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7697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老师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Solver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Verifier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Formatter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适用场景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5943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梁梁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快速过一遍，允许出错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5943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韬韬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v4-pro · 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medium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慢一点，但更稳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5943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雪峰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v4-pro · high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medium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low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每个步骤想得更多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5943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v4-pro · high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high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flash · high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压轴题，逐步审慎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88" name=""/>
          <p:cNvSpPr/>
          <p:nvPr/>
        </p:nvSpPr>
        <p:spPr>
          <a:xfrm rot="0" flipH="0" flipV="0">
            <a:off x="381000" y="4572000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14350" y="4705350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可热修改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14350" y="5010150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四个老师的三阶段模型与思考强度都能在设置页调整，保存后立即生效。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191250" y="4572000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324600" y="4705350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设计原则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324600" y="5010150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凡是由人定义的阈值与权衡，都应当可见可调，而不是硬编码在代码里。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同一道题换老师会得到不同成本与不同审慎程度的解答，但评分标准不变——变的是算力，不是判据。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01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内容三层模型：知识、操作、方法是三件事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很多产品只有知识点标签一层，于是「考了什么知识」与「该用什么方法」被混为一谈。&#10;        &lt;/Text&gt;&#10;&#10;        &lt;Box style={{ flexDirection: 'column', gap: 12, flex: 1, justifyContent: 'center' }}&gt;&#10;            &lt;Box style={{ flexDirection: 'row', alignItems: 'stretch', gap: 16, height: 96, background: '#F0F5FC', borderRadius: 8, border: '1px solid #D6DCE5', padding: 14 }}&gt;&#10;                &lt;Box style={{ width: 52, height: 52, background: '#1E4FA8', borderRadius: 6, alignItems: 'center', justifyContent: 'center' }}&gt;&#10;                    &lt;Text style={{ fontSize: 20, fontWeight: 'bold', color: '#FFFFFF' }}&gt;知识&lt;/Text&gt;&#10;                &lt;/Box&gt;&#10;                &lt;Box style={{ flex: 1, flexDirection: 'column', justifyContent: 'center', gap: 4 }}&gt;&#10;                    &lt;Text style={{ fontSize: 23, fontWeight: 'bold', color: '#1A2230' }}&gt;categories.yaml · 541 个三级知识点&lt;/Text&gt;&#10;                    &lt;Text style={{ fontSize: 18, color: '#4A5568', lineHeight: 1.4 }}&gt;回答：这道题用了什么知识。12 个板块 / 100 个二级分类。&lt;/Text&gt;&#10;                &lt;/Box&gt;&#10;                &lt;Box style={{ width: 210, alignItems: 'flex-end', justifyContent: 'center' }}&gt;&#10;                    &lt;Text style={{ fontSize: 17, color: '#8B97A8', lineHeight: 1.4 }}&gt;所有 AI 输出都要回表校验&lt;/Text&gt;&#10;                &lt;/Box&gt;&#10;            &lt;/Box&gt;&#10;&#10;            &lt;Box style={{ flexDirection: 'row', alignItems: 'stretch', gap: 16, height: 96, background: '#F0F5FC', borderRadius: 8, border: '1px solid #D6DCE5', padding: 14 }}&gt;&#10;                &lt;Box style={{ width: 52, height: 52, background: '#1E4FA8', borderRadius: 6, alignItems: 'center', justifyContent: 'center' }}&gt;&#10;                    &lt;Text style={{ fontSize: 20, fontWeight: 'bold', color: '#FFFFFF' }}&gt;操作&lt;/Text&gt;&#10;                &lt;/Box&gt;&#10;                &lt;Box style={{ flex: 1, flexDirection: 'column', justifyContent: 'center', gap: 4 }}&gt;&#10;                    &lt;Text style={{ fontSize: 23, fontWeight: 'bold', color: '#1A2230' }}&gt;steps.yaml · 12 个题型的步骤表&lt;/Text&gt;&#10;                    &lt;Text style={{ fontSize: 18, color: '#4A5568', lineHeight: 1.4 }}&gt;回答：这一步做什么。题型 → 一级步骤 → 二级步骤。&lt;/Text&gt;&#10;                &lt;/Box&gt;&#10;                &lt;Box style={{ width: 210, alignItems: 'flex-end', justifyContent: 'center' }}&gt;&#10;                    &lt;Text style={{ fontSize: 17, color: '#8B97A8', lineHeight: 1.4 }}&gt;非法步骤名会被重置&lt;/Text&gt;&#10;                &lt;/Box&gt;&#10;            &lt;/Box&gt;&#10;&#10;            &lt;Box style={{ flexDirection: 'row', alignItems: 'stretch', gap: 16, height: 96, background: '#E8EFF8', borderRadius: 8, border: '1px solid #3D7BD9', padding: 14 }}&gt;&#10;                &lt;Box style={{ width: 52, height: 52, background: '#0E3F8C', borderRadius: 6, alignItems: 'center', justifyContent: 'center' }}&gt;&#10;                    &lt;Text style={{ fontSize: 20, fontWeight: 'bold', color: '#FFFFFF' }}&gt;方法&lt;/Text&gt;&#10;                &lt;/Box&gt;&#10;                &lt;Box style={{ flex: 1, flexDirection: 'column', justifyContent: 'center', gap: 4 }}&gt;&#10;                    &lt;Text style={{ fontSize: 23, fontWeight: 'bold', color: '#0E3F8C' }}&gt;routine_catalog.json · 288 条套路&lt;/Text&gt;&#10;                    &lt;Text style={{ fontSize: 18, color: '#4A5568', lineHeight: 1.4 }}&gt;回答：何时用这个方法、容易与哪个搞混。&lt;/Text&gt;&#10;                &lt;/Box&gt;&#10;                &lt;Box style={{ width: 210, alignItems: 'flex-end', justifyContent: 'center' }}&gt;&#10;                    &lt;Text style={{ fontSize: 17, color: '#8B97A8', lineHeight: 1.4 }}&gt;含 exclusions 与 confusable_ids&lt;/Text&gt;&#10;                &lt;/Box&gt;&#10;            &lt;/Box&gt;&#10;        &lt;/Box&gt;&#10;&#10;        &lt;Box style={{ background: '#FFFFFF', borderRadius: 8, border: '1px solid #D6DCE5', padding: 14, flexDirection: 'row', gap: 16, alignItems: 'center' }}&gt;&#10;            &lt;Box style={{ flexDirection: 'column', gap: 4, width: 250 }}&gt;&#10;                &lt;Text style={{ fontSize: 21, fontWeight: 'bold', color: '#1A2230' }}&gt;同一道题的三层标注&lt;/Text&gt;&#10;                &lt;Text style={{ fontSize: 17, color: '#8B97A8', lineHeight: 1.4 }}&gt;三者不可互相替代&lt;/Text&gt;&#10;            &lt;/Box&gt;&#10;            &lt;Box style={{ flex: 1, flexDirection: 'row', gap: 12 }}&gt;&#10;                &lt;Box style={{ flex: 1, background: '#F7F9FC', borderRadius: 6, padding: 10 }}&gt;&#10;                    &lt;Text style={{ fontSize: 17, color: '#8B97A8' }}&gt;知识&lt;/Text&gt;&#10;                    &lt;Text style={{ fontSize: 18, color: '#1A2230', lineHeight: 1.4 }}&gt;导数&lt;/Text&gt;&#10;                &lt;/Box&gt;&#10;                &lt;Box style={{ flex: 1, background: '#F7F9FC', borderRadius: 6, padding: 10 }}&gt;&#10;                    &lt;Text style={{ fontSize: 17, color: '#8B97A8' }}&gt;操作&lt;/Text&gt;&#10;                    &lt;Text style={{ fontSize: 18, color: '#1A2230', lineHeight: 1.4 }}&gt;求导并讨论符号&lt;/Text&gt;&#10;                &lt;/Box&gt;&#10;                &lt;Box style={{ flex: 1, background: '#F7F9FC', borderRadius: 6, padding: 10 }}&gt;&#10;                    &lt;Text style={{ fontSize: 17, color: '#8B97A8' }}&gt;方法&lt;/Text&gt;&#10;                    &lt;Text style={{ fontSize: 18, color: '#1A2230', lineHeight: 1.4 }}&gt;构造差函数证明不等式&lt;/Text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区分「不会这个知识」与「选错了方法」，是能够做错因归因的前提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内容三层模型：知识、操作、方法是三件事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很多产品只有知识点标签一层，于是「考了什么知识」与「该用什么方法」被混为一谈。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81000" y="1514475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514350" y="16478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71500" y="17811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知识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62050" y="1676400"/>
            <a:ext cx="8362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categories.yaml · 541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个三级知识点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62050" y="1981200"/>
            <a:ext cx="83629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回答：这道题用了什么知识。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个板块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100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个二级分类。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810750" y="18383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所有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输出都要回表校验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" y="2543175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514350" y="26765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28098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62050" y="2705100"/>
            <a:ext cx="8362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steps.yaml · 12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个题型的步骤表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62050" y="3009900"/>
            <a:ext cx="83629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回答：这一步做什么。题型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一级步骤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二级步骤。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220325" y="2867025"/>
            <a:ext cx="145732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非法步骤名会被重置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381000" y="3571875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514350" y="370522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38385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62050" y="3733800"/>
            <a:ext cx="8362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routine_catalog.json · 288 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条套路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62050" y="4038600"/>
            <a:ext cx="83629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回答：何时用这个方法、容易与哪个搞混。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677400" y="3752850"/>
            <a:ext cx="2000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含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exclusions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confusable_ids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" y="4810125"/>
            <a:ext cx="114300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14350" y="5010150"/>
            <a:ext cx="2381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同一道题的三层标注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14350" y="5295900"/>
            <a:ext cx="23812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三者不可互相替代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3048000" y="4943475"/>
            <a:ext cx="28003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143250" y="5038725"/>
            <a:ext cx="260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知识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143250" y="5238750"/>
            <a:ext cx="26098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导数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962650" y="4943475"/>
            <a:ext cx="28003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57900" y="5038725"/>
            <a:ext cx="260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57900" y="5238750"/>
            <a:ext cx="26098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求导并讨论符号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877300" y="4943475"/>
            <a:ext cx="2800350" cy="68580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972550" y="5038725"/>
            <a:ext cx="2609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972550" y="5238750"/>
            <a:ext cx="26098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构造差函数证明不等式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区分「不会这个知识」与「选错了方法」，是能够做错因归因的前提。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43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套路匹配：AI 可以建议，但不能擅自定案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目的是判断「这道题该用哪个套路」，难点在于避免把检索漏检误判为发现了新套路。&#10;        &lt;/Text&gt;&#10;&#10;        &lt;Box style={{ flexDirection: 'row', alignItems: 'stretch', gap: 18, flex: 1 }}&gt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9, color: '#8B97A8' }}&gt;第一步&lt;/Text&gt;&#10;                    &lt;Text style={{ fontSize: 25, fontWeight: 'bold', color: '#1E4FA8' }}&gt;词项检索&lt;/Text&gt;&#10;                &lt;/Box&gt;&#10;                &lt;Box style={{ flexDirection: 'column', gap: 8 }}&gt;&#10;                    &lt;Text style={{ fontSize: 19, color: '#1A2230', lineHeight: 1.5 }}&gt;按词频倒数加权打分，解析命中权重高于题干命中。&lt;/Text&gt;&#10;                    &lt;Text style={{ fontSize: 18, color: '#4A5568', lineHeight: 1.5 }}&gt;同板块额外加分；得分过低时回退到全目录。&lt;/Text&gt;&#10;                &lt;/Box&gt;&#10;                &lt;Box style={{ background: '#FFFFFF', borderRadius: 6, padding: 11 }}&gt;&#10;                    &lt;Text style={{ fontSize: 18, color: '#0E3F8C', lineHeight: 1.5 }}&gt;关键设计：结果强制并入同板块全部项与易混淆项。&lt;/Text&gt;&#10;                &lt;/Box&gt;&#10;            &lt;/Box&gt;&#10;&#10;            &lt;Box style={{ width: 50, alignItems: 'center' }}&gt;&#10;                &lt;Box style={{ width: 6, flex: 1, background: '#D6DCE5' }} /&gt;&#10;                &lt;Box style={{ width: 12, height: 12, background: '#1E4FA8' }} /&gt;&#10;                &lt;Box style={{ width: 6, flex: 1, background: '#D6DCE5' }} /&gt;&#10;            &lt;/Box&gt;&#10;&#10;            &lt;Box style={{ flex: 1, background: '#E8EFF8', borderRadius: 8, border: '1px solid #3D7BD9', padding: 18, justifyContent: 'space-between' }}&gt;&#10;                &lt;Box style={{ flexDirection: 'column', gap: 6 }}&gt;&#10;                    &lt;Text style={{ fontSize: 19, color: '#8B97A8' }}&gt;第二步&lt;/Text&gt;&#10;                    &lt;Text style={{ fontSize: 25, fontWeight: 'bold', color: '#0E3F8C' }}&gt;模型判定&lt;/Text&gt;&#10;                &lt;/Box&gt;&#10;                &lt;Box style={{ flexDirection: 'column', gap: 8 }}&gt;&#10;                    &lt;Text style={{ fontSize: 19, color: '#1A2230', lineHeight: 1.5 }}&gt;仅在检索不确定时才调用，必要时把 288 条全目录整体过一遍。&lt;/Text&gt;&#10;                    &lt;Text style={{ fontSize: 18, color: '#4A5568', lineHeight: 1.5 }}&gt;检索器可替换为向量检索，但判定规则始终从权威目录重读。&lt;/Text&gt;&#10;                &lt;/Box&gt;&#10;                &lt;Box style={{ background: '#FFFFFF', borderRadius: 6, padding: 11 }}&gt;&#10;                    &lt;Text style={{ fontSize: 18, color: '#0E3F8C', lineHeight: 1.5 }}&gt;关键设计：全目录复查专门消灭「漏检即新套路」。&lt;/Text&gt;&#10;                &lt;/Box&gt;&#10;            &lt;/Box&gt;&#10;        &lt;/Box&gt;&#10;&#10;        &lt;Box style={{ background: '#FFFFFF', borderRadius: 8, border: '1px solid #3D7BD9', padding: 14, flexDirection: 'column', gap: 8 }}&gt;&#10;            &lt;Text style={{ fontSize: 22, fontWeight: 'bold', color: '#0E3F8C' }}&gt;建立新套路的三道闸门&lt;/Text&gt;&#10;            &lt;Box style={{ flexDirection: 'row', gap: 12 }}&gt;&#10;                &lt;Box style={{ flex: 1, background: '#F0F5FC', borderRadius: 6, padding: 10, flexDirection: 'column', gap: 4 }}&gt;&#10;                    &lt;Text style={{ fontSize: 19, fontWeight: 'bold', color: '#1E4FA8' }}&gt;证据必须是原文&lt;/Text&gt;&#10;                    &lt;Text style={{ fontSize: 17, color: '#4A5568', lineHeight: 1.4 }}&gt;引用的片段必须是题干或解析的原文子串&lt;/Text&gt;&#10;                &lt;/Box&gt;&#10;                &lt;Box style={{ flex: 1, background: '#F0F5FC', borderRadius: 6, padding: 10, flexDirection: 'column', gap: 4 }}&gt;&#10;                    &lt;Text style={{ fontSize: 19, fontWeight: 'bold', color: '#1E4FA8' }}&gt;强制人工复核&lt;/Text&gt;&#10;                    &lt;Text style={{ fontSize: 17, color: '#4A5568', lineHeight: 1.4 }}&gt;任何建议的新套路都被标记为待审核&lt;/Text&gt;&#10;                &lt;/Box&gt;&#10;                &lt;Box style={{ flex: 1, background: '#F0F5FC', borderRadius: 6, padding: 10, flexDirection: 'column', gap: 4 }}&gt;&#10;                    &lt;Text style={{ fontSize: 19, fontWeight: 'bold', color: '#1E4FA8' }}&gt;目录哈希留痕&lt;/Text&gt;&#10;                    &lt;Text style={{ fontSize: 17, color: '#4A5568', lineHeight: 1.4 }}&gt;需带目录版本哈希与全目录复查证据&lt;/Text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全部结果写入独立参考目录，不自动修改正式课程——AI 的建议永远只是建议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5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套路匹配：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可以建议，但不能擅自定案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目的是判断「这道题该用哪个套路」，难点在于避免把检索漏检误判为发现了新套路。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81000" y="1181100"/>
            <a:ext cx="5305425" cy="3257550"/>
          </a:xfrm>
          <a:prstGeom prst="roundRect">
            <a:avLst>
              <a:gd name="adj" fmla="val 23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496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52450" y="1628775"/>
            <a:ext cx="49625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词项检索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52450" y="2466975"/>
            <a:ext cx="49625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按词频倒数加权打分，解析命中权重高于题干命中。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52450" y="2876550"/>
            <a:ext cx="4962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同板块额外加分；得分过低时回退到全目录。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52450" y="3743325"/>
            <a:ext cx="49625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57225" y="3848100"/>
            <a:ext cx="4752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关键设计：结果强制并入同板块全部项与易混淆项。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67425" y="1181100"/>
            <a:ext cx="57150" cy="15716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038850" y="2752725"/>
            <a:ext cx="1143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6067425" y="2867025"/>
            <a:ext cx="57150" cy="15716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505575" y="1181100"/>
            <a:ext cx="5305425" cy="3257550"/>
          </a:xfrm>
          <a:prstGeom prst="roundRect">
            <a:avLst>
              <a:gd name="adj" fmla="val 2339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677025" y="1352550"/>
            <a:ext cx="496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677025" y="1628775"/>
            <a:ext cx="49625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模型判定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77025" y="2305050"/>
            <a:ext cx="496252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仅在检索不确定时才调用，必要时把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288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条全目录整体过一遍。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77025" y="3038475"/>
            <a:ext cx="49625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检索器可替换为向量检索，但判定规则始终从权威目录重读。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677025" y="3743325"/>
            <a:ext cx="49625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781800" y="3848100"/>
            <a:ext cx="4752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关键设计：全目录复查专门消灭「漏检即新套路」。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381000" y="4438650"/>
            <a:ext cx="11430000" cy="1323975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14350" y="4572000"/>
            <a:ext cx="1116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建立新套路的三道闸门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14350" y="4905375"/>
            <a:ext cx="3648075" cy="723900"/>
          </a:xfrm>
          <a:prstGeom prst="roundRect">
            <a:avLst>
              <a:gd name="adj" fmla="val 789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3457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证据必须是原文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5257800"/>
            <a:ext cx="34575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引用的片段必须是题干或解析的原文子串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276725" y="4905375"/>
            <a:ext cx="3638550" cy="723900"/>
          </a:xfrm>
          <a:prstGeom prst="roundRect">
            <a:avLst>
              <a:gd name="adj" fmla="val 789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371975" y="5000625"/>
            <a:ext cx="3448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强制人工复核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371975" y="5257800"/>
            <a:ext cx="34480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任何建议的新套路都被标记为待审核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8029575" y="4905375"/>
            <a:ext cx="3648075" cy="723900"/>
          </a:xfrm>
          <a:prstGeom prst="roundRect">
            <a:avLst>
              <a:gd name="adj" fmla="val 789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124825" y="5000625"/>
            <a:ext cx="3457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目录哈希留痕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124825" y="5257800"/>
            <a:ext cx="34575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需带目录版本哈希与全目录复查证据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全部结果写入独立参考目录，不自动修改正式课程——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的建议永远只是建议。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AI 批改：缺失是观察，不是原因证据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先把解答展平成带编号的步骤表，模型按编号回填判分——越界的编号直接丢弃，避免编造。&#10;        &lt;/Text&gt;&#10;&#10;        &lt;Box style={{ flexDirection: 'row', gap: 24, alignItems: 'stretch', flex: 1 }}&gt;&#10;            &lt;Box style={{ width: 520, flexDirection: 'column', gap: 10 }}&gt;&#10;                &lt;Text style={{ fontSize: 22, fontWeight: 'bold', color: '#1A2230' }}&gt;每个步骤的四态判分&lt;/Text&gt;&#10;                &lt;Box style={{ flex: 1, flexDirection: 'row', gap: 10 }}&gt;&#10;                    &lt;Box style={{ flex: 1, background: '#E8EFF8', borderRadius: 8, border: '1px solid #3D7BD9', padding: 12, justifyContent: 'space-between' }}&gt;&#10;                        &lt;Text style={{ fontSize: 20, fontWeight: 'bold', color: '#0E3F8C' }}&gt;correct&lt;/Text&gt;&#10;                        &lt;Text style={{ fontSize: 17, color: '#4A5568', lineHeight: 1.4 }}&gt;这一步完全正确&lt;/Text&gt;&#10;                    &lt;/Box&gt;&#10;                    &lt;Box style={{ flex: 1, background: '#F0F5FC', borderRadius: 8, border: '1px solid #D6DCE5', padding: 12, justifyContent: 'space-between' }}&gt;&#10;                        &lt;Text style={{ fontSize: 20, fontWeight: 'bold', color: '#1A2230' }}&gt;partial&lt;/Text&gt;&#10;                        &lt;Text style={{ fontSize: 17, color: '#4A5568', lineHeight: 1.4 }}&gt;方向对，过程不完整&lt;/Text&gt;&#10;                    &lt;/Box&gt;&#10;                &lt;/Box&gt;&#10;                &lt;Box style={{ flex: 1, flexDirection: 'row', gap: 10 }}&gt;&#10;                    &lt;Box style={{ flex: 1, background: '#F0F5FC', borderRadius: 8, border: '1px solid #D6DCE5', padding: 12, justifyContent: 'space-between' }}&gt;&#10;                        &lt;Text style={{ fontSize: 20, fontWeight: 'bold', color: '#1A2230' }}&gt;missing&lt;/Text&gt;&#10;                        &lt;Text style={{ fontSize: 17, color: '#4A5568', lineHeight: 1.4 }}&gt;这一步没写，仅此而已&lt;/Text&gt;&#10;                    &lt;/Box&gt;&#10;                    &lt;Box style={{ flex: 1, background: '#F0F5FC', borderRadius: 8, border: '1px solid #D6DCE5', padding: 12, justifyContent: 'space-between' }}&gt;&#10;                        &lt;Text style={{ fontSize: 20, fontWeight: 'bold', color: '#1A2230' }}&gt;not_applicable&lt;/Text&gt;&#10;                        &lt;Text style={{ fontSize: 17, color: '#4A5568', lineHeight: 1.4 }}&gt;思路不同，不适用对照&lt;/Text&gt;&#10;                    &lt;/Box&gt;&#10;                &lt;/Box&gt;&#10;                &lt;Box style={{ background: '#FFFFFF', borderRadius: 6, border: '1px solid #D6DCE5', padding: 11 }}&gt;&#10;                    &lt;Text style={{ fontSize: 18, color: '#4A5568', lineHeight: 1.4 }}&gt;思路不同时不逐条对照，而是独立判分并记录新思路。&lt;/Text&gt;&#10;                &lt;/Box&gt;&#10;            &lt;/Box&gt;&#10;&#10;            &lt;Box style={{ flex: 1, background: '#F0F5FC', borderRadius: 8, border: '1px solid #D6DCE5', padding: 16, justifyContent: 'space-between' }}&gt;&#10;                &lt;Box style={{ flexDirection: 'column', gap: 6 }}&gt;&#10;                    &lt;Text style={{ fontSize: 22, fontWeight: 'bold', color: '#0E3F8C' }}&gt;四条防幻觉硬约束&lt;/Text&gt;&#10;                    &lt;Text style={{ fontSize: 17, color: '#8B97A8', lineHeight: 1.4 }}&gt;写在代码里，不由模型自行决定&lt;/Text&gt;&#10;                &lt;/Box&gt;&#10;                &lt;Box style={{ flexDirection: 'column', gap: 9 }}&gt;&#10;                    &lt;Box style={{ flexDirection: 'row', gap: 10 }}&gt;&#10;                        &lt;Box style={{ width: 24, height: 24, background: '#1E4FA8', borderRadius: 4, alignItems: 'center', justifyContent: 'center' }}&gt;&#10;                            &lt;Text style={{ fontSize: 14, fontWeight: 'bold', color: '#FFFFFF' }}&gt;1&lt;/Text&gt;&#10;                        &lt;/Box&gt;&#10;                        &lt;Text style={{ fontSize: 18, color: '#1A2230', flex: 1, lineHeight: 1.4 }}&gt;缺失步骤强制清空错因标签，成因标记一律设为未知，不允许由缺失反推原因。&lt;/Text&gt;&#10;                    &lt;/Box&gt;&#10;                    &lt;Box style={{ flexDirection: 'row', gap: 10 }}&gt;&#10;                        &lt;Box style={{ width: 24, height: 24, background: '#1E4FA8', borderRadius: 4, alignItems: 'center', justifyContent: 'center' }}&gt;&#10;                            &lt;Text style={{ fontSize: 14, fontWeight: 'bold', color: '#FFFFFF' }}&gt;2&lt;/Text&gt;&#10;                        &lt;/Box&gt;&#10;                        &lt;Text style={{ fontSize: 18, color: '#1A2230', flex: 1, lineHeight: 1.4 }}&gt;思路相同却出现缺失步骤时，整题是否正确由代码强制置否，不受模型影响。&lt;/Text&gt;&#10;                    &lt;/Box&gt;&#10;                    &lt;Box style={{ flexDirection: 'row', gap: 10 }}&gt;&#10;                        &lt;Box style={{ width: 24, height: 24, background: '#1E4FA8', borderRadius: 4, alignItems: 'center', justifyContent: 'center' }}&gt;&#10;                            &lt;Text style={{ fontSize: 14, fontWeight: 'bold', color: '#FFFFFF' }}&gt;3&lt;/Text&gt;&#10;                        &lt;/Box&gt;&#10;                        &lt;Text style={{ fontSize: 18, color: '#1A2230', flex: 1, lineHeight: 1.4 }}&gt;客观题等价判断返回正确、错误、无法确认三值；无法确认时转人工复核，不硬判错。&lt;/Text&gt;&#10;                    &lt;/Box&gt;&#10;                    &lt;Box style={{ flexDirection: 'row', gap: 10 }}&gt;&#10;                        &lt;Box style={{ width: 24, height: 24, background: '#1E4FA8', borderRadius: 4, alignItems: 'center', justifyContent: 'center' }}&gt;&#10;                            &lt;Text style={{ fontSize: 14, fontWeight: 'bold', color: '#FFFFFF' }}&gt;4&lt;/Text&gt;&#10;                        &lt;/Box&gt;&#10;                        &lt;Text style={{ fontSize: 18, color: '#1A2230', flex: 1, lineHeight: 1.4 }}&gt;教师提供评分细则时按步累加并逐项封顶，强制校验各项得分之和等于该题满分。&lt;/Text&gt;&#10;                    &lt;/Box&gt;&#10;                &lt;/Box&gt;&#10;                &lt;Box style={{ background: '#FFFFFF', borderRadius: 6, padding: 11 }}&gt;&#10;                    &lt;Text style={{ fontSize: 18, color: '#4A5568', lineHeight: 1.4 }}&gt;七类错因：符号 · 计算 · 公式记错 · 知识性 · 审题 · 思路 · 其他&lt;/Text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学生没写这一步，只能说明他没写，不能推断他因为什么没写——这个区分决定错因能否作为教学依据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6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AI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批改：缺失是观察，不是原因证据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先把解答展平成带编号的步骤表，模型按编号回填判分——越界的编号直接丢弃，避免编造。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1181100"/>
            <a:ext cx="495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每个步骤的四态判分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381000" y="1533525"/>
            <a:ext cx="2428875" cy="1771650"/>
          </a:xfrm>
          <a:prstGeom prst="roundRect">
            <a:avLst>
              <a:gd name="adj" fmla="val 430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95300" y="1647825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correct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95300" y="2914650"/>
            <a:ext cx="22002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这一步完全正确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2905125" y="1533525"/>
            <a:ext cx="2428875" cy="1771650"/>
          </a:xfrm>
          <a:prstGeom prst="roundRect">
            <a:avLst>
              <a:gd name="adj" fmla="val 430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019425" y="1647825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partial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019425" y="2914650"/>
            <a:ext cx="22002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方向对，过程不完整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381000" y="3400425"/>
            <a:ext cx="2428875" cy="1762125"/>
          </a:xfrm>
          <a:prstGeom prst="roundRect">
            <a:avLst>
              <a:gd name="adj" fmla="val 432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95300" y="3514725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missing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95300" y="4772025"/>
            <a:ext cx="22002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这一步没写，仅此而已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2905125" y="3400425"/>
            <a:ext cx="2428875" cy="1762125"/>
          </a:xfrm>
          <a:prstGeom prst="roundRect">
            <a:avLst>
              <a:gd name="adj" fmla="val 432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019425" y="3514725"/>
            <a:ext cx="220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not_applicable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019425" y="4772025"/>
            <a:ext cx="220027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思路不同，不适用对照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81000" y="5257800"/>
            <a:ext cx="4953000" cy="5048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85775" y="5362575"/>
            <a:ext cx="47434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思路不同时不逐条对照，而是独立判分并记录新思路。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5562600" y="1181100"/>
            <a:ext cx="6248400" cy="4581525"/>
          </a:xfrm>
          <a:prstGeom prst="roundRect">
            <a:avLst>
              <a:gd name="adj" fmla="val 166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715000" y="1333500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四条防幻觉硬约束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15000" y="1647825"/>
            <a:ext cx="59436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写在代码里，不由模型自行决定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715000" y="22288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791200" y="226695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38850" y="2228850"/>
            <a:ext cx="5619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缺失步骤强制清空错因标签，成因标记一律设为未知，不允许由缺失反推原因。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715000" y="28956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91200" y="293370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38850" y="2895600"/>
            <a:ext cx="5619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思路相同却出现缺失步骤时，整题是否正确由代码强制置否，不受模型影响。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715000" y="35623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791200" y="360045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38850" y="3562350"/>
            <a:ext cx="5619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客观题等价判断返回正确、错误、无法确认三值；无法确认时转人工复核，不硬判错。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715000" y="42291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791200" y="4267200"/>
            <a:ext cx="7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38850" y="4229100"/>
            <a:ext cx="56197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教师提供评分细则时按步累加并逐项封顶，强制校验各项得分之和等于该题满分。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0" y="5105400"/>
            <a:ext cx="5943600" cy="5048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819775" y="5210175"/>
            <a:ext cx="57340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七类错因：符号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计算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公式记错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知识性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审题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思路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其他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学生没写这一步，只能说明他没写，不能推断他因为什么没写——这个区分决定错因能否作为教学依据。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27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试卷质量分析：出卷质量第一次可以被量化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不看学生作答，只评价卷子本身：先有目标，再衡量偏差与缺口。&#10;        &lt;/Text&gt;&#10;&#10;        &lt;Box style={{ flexDirection: 'row', gap: 20, alignItems: 'stretch', flex: 1 }}&gt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9, color: '#8B97A8' }}&gt;指标一&lt;/Text&gt;&#10;                    &lt;Text style={{ fontSize: 25, fontWeight: 'bold', color: '#1E4FA8' }}&gt;难度拟合&lt;/Text&gt;&#10;                &lt;/Box&gt;&#10;                &lt;Box style={{ background: '#FFFFFF', borderRadius: 6, padding: 12 }}&gt;&#10;                    &lt;Text style={{ fontSize: 18, color: '#0E3F8C', lineHeight: 1.5 }}&gt;得分 = 15 − RMSE(实际难度, 目标难度)&lt;/Text&gt;&#10;                &lt;/Box&gt;&#10;                &lt;Box style={{ flexDirection: 'column', gap: 8 }}&gt;&#10;                    &lt;Text style={{ fontSize: 19, color: '#1A2230', lineHeight: 1.5 }}&gt;模板为每题设定目标难度区间，逐题比对后给出偏差。&lt;/Text&gt;&#10;                    &lt;Text style={{ fontSize: 18, color: '#4A5568', lineHeight: 1.5 }}&gt;每题输出偏难 / 偏易 / 匹配的方向，并支持小问级细分。&lt;/Text&gt;&#10;                &lt;/Box&gt;&#10;                &lt;Box style={{ background: '#FFFFFF', borderRadius: 6, padding: 11 }}&gt;&#10;                    &lt;Text style={{ fontSize: 18, color: '#4A5568', lineHeight: 1.4 }}&gt;整卷得分越高，说明实际难度越贴近命题意图。&lt;/Text&gt;&#10;                &lt;/Box&gt;&#10;            &lt;/Box&gt;&#10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19, color: '#8B97A8' }}&gt;指标二&lt;/Text&gt;&#10;                    &lt;Text style={{ fontSize: 25, fontWeight: 'bold', color: '#1E4FA8' }}&gt;覆盖评估&lt;/Text&gt;&#10;                &lt;/Box&gt;&#10;                &lt;Box style={{ background: '#FFFFFF', borderRadius: 6, padding: 12 }}&gt;&#10;                    &lt;Text style={{ fontSize: 18, color: '#0E3F8C', lineHeight: 1.5 }}&gt;得分 = Σ权重·下限² − Σ权重·缺口²&lt;/Text&gt;&#10;                &lt;/Box&gt;&#10;                &lt;Box style={{ flexDirection: 'column', gap: 8 }}&gt;&#10;                    &lt;Text style={{ fontSize: 19, color: '#1A2230', lineHeight: 1.5 }}&gt;知识点与解题属性双重覆盖，缺口区分「不足」与「超出」。&lt;/Text&gt;&#10;                    &lt;Text style={{ fontSize: 18, color: '#4A5568', lineHeight: 1.5 }}&gt;二次罚函数让「严重缺失」比「多处轻微缺失」扣得更多。&lt;/Text&gt;&#10;                &lt;/Box&gt;&#10;                &lt;Box style={{ background: '#FFFFFF', borderRadius: 6, padding: 11 }}&gt;&#10;                    &lt;Text style={{ fontSize: 18, color: '#4A5568', lineHeight: 1.4 }}&gt;属性六维由正则触发与步骤五维共同判定，标记为候选待确认。&lt;/Text&gt;&#10;                &lt;/Box&gt;&#10;            &lt;/Box&gt;&#10;        &lt;/Box&gt;&#10;&#10;        &lt;Box style={{ background: '#E8EFF8', borderRadius: 8, border: '1px solid #3D7BD9', padding: 14, flexDirection: 'row', gap: 16, alignItems: 'center' }}&gt;&#10;            &lt;Box style={{ width: 240, flexDirection: 'column', gap: 4 }}&gt;&#10;                &lt;Text style={{ fontSize: 21, fontWeight: 'bold', color: '#0E3F8C' }}&gt;克制的设计&lt;/Text&gt;&#10;                &lt;Text style={{ fontSize: 17, color: '#4A5568', lineHeight: 1.4 }}&gt;不确定时不假装确定&lt;/Text&gt;&#10;            &lt;/Box&gt;&#10;            &lt;Text style={{ fontSize: 19, color: '#1A2230', flex: 1, lineHeight: 1.5 }}&gt;&#10;                当知识点尚未核对完、或仍有题目未解答时，系统不会把「不足」计为确定缺失，只给出预览分并说明原因。&#10;            &lt;/Text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输出：逐题难度明细、知识点与属性覆盖矩阵、以及需要人工复核的题目清单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7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试卷质量分析：出卷质量第一次可以被量化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不看学生作答，只评价卷子本身：先有目标，再衡量偏差与缺口。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81000" y="1181100"/>
            <a:ext cx="5619750" cy="3752850"/>
          </a:xfrm>
          <a:prstGeom prst="roundRect">
            <a:avLst>
              <a:gd name="adj" fmla="val 203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指标一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52450" y="1628775"/>
            <a:ext cx="5276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难度拟合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552450" y="2276475"/>
            <a:ext cx="527685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66750" y="2390775"/>
            <a:ext cx="50482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得分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= 15 − RMSE(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实际难度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目标难度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52450" y="3171825"/>
            <a:ext cx="5276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模板为每题设定目标难度区间，逐题比对后给出偏差。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52450" y="3581400"/>
            <a:ext cx="5276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每题输出偏难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偏易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匹配的方向，并支持小问级细分。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52450" y="4257675"/>
            <a:ext cx="5276850" cy="5048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57225" y="4362450"/>
            <a:ext cx="50673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整卷得分越高，说明实际难度越贴近命题意图。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6191250" y="1181100"/>
            <a:ext cx="5619750" cy="3752850"/>
          </a:xfrm>
          <a:prstGeom prst="roundRect">
            <a:avLst>
              <a:gd name="adj" fmla="val 203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362700" y="1352550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指标二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362700" y="1628775"/>
            <a:ext cx="5276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4FA8"/>
                </a:solidFill>
                <a:latin typeface="Microsoft YaHei"/>
                <a:ea typeface="Microsoft YaHei"/>
              </a:rPr>
              <a:t>覆盖评估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362700" y="2276475"/>
            <a:ext cx="527685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0" y="2390775"/>
            <a:ext cx="50482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得分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= Σ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权重·下限²</a:t>
            </a:r>
            <a:r>
              <a:rPr lang="en-US" sz="1350">
                <a:solidFill>
                  <a:srgbClr val="0E3F8C"/>
                </a:solidFill>
                <a:latin typeface="Microsoft YaHei"/>
                <a:ea typeface="Microsoft YaHei"/>
              </a:rPr>
              <a:t xml:space="preserve"> − Σ</a:t>
            </a:r>
            <a:r>
              <a:rPr lang="zh-CN" sz="1350">
                <a:solidFill>
                  <a:srgbClr val="0E3F8C"/>
                </a:solidFill>
                <a:latin typeface="Microsoft YaHei"/>
                <a:ea typeface="Microsoft YaHei"/>
              </a:rPr>
              <a:t>权重·缺口²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362700" y="3171825"/>
            <a:ext cx="5276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知识点与解题属性双重覆盖，缺口区分「不足」与「超出」。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362700" y="3581400"/>
            <a:ext cx="5276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二次罚函数让「严重缺失」比「多处轻微缺失」扣得更多。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362700" y="4257675"/>
            <a:ext cx="5276850" cy="5048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467475" y="4362450"/>
            <a:ext cx="50673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属性六维由正则触发与步骤五维共同判定，标记为候选待确认。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81000" y="4933950"/>
            <a:ext cx="11430000" cy="828675"/>
          </a:xfrm>
          <a:prstGeom prst="roundRect">
            <a:avLst>
              <a:gd name="adj" fmla="val 919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14350" y="5067300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克制的设计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14350" y="535305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不确定时不假装确定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2952750" y="5181600"/>
            <a:ext cx="8724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当知识点尚未核对完、或仍有题目未解答时，系统不会把「不足」计为确定缺失，只给出预览分并说明原因。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输出：逐题难度明细、知识点与属性覆盖矩阵、以及需要人工复核的题目清单。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a16="http://schemas.microsoft.com/office/drawing/2014/main" xmlns:p="http://schemas.openxmlformats.org/presentationml/2006/main" xmlns:a="http://schemas.openxmlformats.org/drawingml/2006/main" xmlns:mc="http://schemas.openxmlformats.org/markup-compatibility/2006" mc:Ignorable="a16">
  <p:cSld>
    <p:spTree>
      <p:nvGrpSpPr>
        <p:cNvPr id="361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3 · 学生全卷评价：从一次错误到稳定模式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单题只能判对错；跨题才能判断「这是不是一个问题」，以及它属于哪一类问题。&#10;        &lt;/Text&gt;&#10;&#10;        &lt;Box style={{ height: 286, paddingTop: 4, paddingBottom: 4 }}&gt;&#10;            &lt;Table&#10;                style={{ width: '100%', height: '100%' }}&#10;                defaultTextStyle={{ fontSize: 18, textAlign: 'left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发现类型', textStyle: { bold: true, fontSize: 19, color: '#FFFFFF' }, cellStyle: { background: { color: '#1E4FA8' } } },&#10;                        { text: '判据', textStyle: { bold: true, fontSize: 19, color: '#FFFFFF' }, cellStyle: { background: { color: '#1E4FA8' } } },&#10;                        { text: '对应的补救方向', textStyle: { bold: true, fontSize: 19, color: '#FFFFFF' }, cellStyle: { background: { color: '#1E4FA8' } } },&#10;                    ],&#10;                    [&#10;                        { text: '知识环节', textStyle: { bold: true, fontSize: 18 }, cellStyle: { background: { color: '#F0F5FC' } } },&#10;                        { text: '同一知识环节在多次考试、多道不同题中出错', cellStyle: { background: { color: '#F0F5FC' } } },&#10;                        { text: '先做基础变式题，逐题核对后再安排间隔复测', cellStyle: { background: { color: '#F0F5FC' } } },&#10;                    ],&#10;                    [&#10;                        { text: '基础发挥', textStyle: { bold: true, fontSize: 18 } },&#10;                        { text: '同难度、同知识点下正确与错误并存', },&#10;                        { text: '分别做不限时与限时题，标记检查过程与错误位置' },&#10;                    ],&#10;                    [&#10;                        { text: '方法选择', textStyle: { bold: true, fontSize: 18 }, cellStyle: { background: { color: '#F0F5FC' } } },&#10;                        { text: '已确认的方法题中多次未能完整完成', cellStyle: { background: { color: '#F0F5FC' } } },&#10;                        { text: '先口述方法选择条件，再独立完成母题与变式', cellStyle: { background: { color: '#F0F5FC' } } },&#10;                    ],&#10;                    [&#10;                        { text: '时间分配', textStyle: { bold: true, fontSize: 18 } },&#10;                        { text: '空白题与部分得分题，结合学生自述' },&#10;                        { text: '练习分段计时、先跳过卡题再返回，并记录用时' },&#10;                    ],&#10;                ]}&#10;            /&gt;&#10;        &lt;/Box&gt;&#10;&#10;        &lt;Box style={{ flexDirection: 'row', gap: 20 }}&gt;&#10;            &lt;Box style={{ flex: 1, background: '#E8EFF8', borderRadius: 8, border: '1px solid #3D7BD9', padding: 14, flexDirection: 'column', gap: 6 }}&gt;&#10;                &lt;Text style={{ fontSize: 21, fontWeight: 'bold', color: '#0E3F8C' }}&gt;证据门槛&lt;/Text&gt;&#10;                &lt;Text style={{ fontSize: 18, color: '#4A5568', lineHeight: 1.5 }}&gt;需「≥2 次独立考试 且 ≥2 道不同题」才算重复出现；独立复测记录可回挂为新的证据。&lt;/Text&gt;&#10;            &lt;/Box&gt;&#10;            &lt;Box style={{ flex: 1, background: '#E8EFF8', borderRadius: 8, border: '1px solid #3D7BD9', padding: 14, flexDirection: 'column', gap: 6 }}&gt;&#10;                &lt;Text style={{ fontSize: 21, fontWeight: 'bold', color: '#0E3F8C' }}&gt;每条发现的三件套&lt;/Text&gt;&#10;                &lt;Text style={{ fontSize: 18, color: '#4A5568', lineHeight: 1.5 }}&gt;支持证据与反证并列、成因默认未确认、并写明下一步用什么方式验证。&lt;/Text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「会做也错」是稳定性问题而不是知识问题——它只能靠同条件下正误并存来推断，补救方式也完全不同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8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学生全卷评价：从一次错误到稳定模式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单题只能判对错；跨题才能判断「这是不是一个问题」，以及它属于哪一类问题。</a:t>
            </a:r>
            <a:endParaRPr/>
          </a:p>
        </p:txBody>
      </p:sp>
      <p:graphicFrame>
        <p:nvGraphicFramePr>
          <p:cNvPr id="366" name=""/>
          <p:cNvGraphicFramePr/>
          <p:nvPr/>
        </p:nvGraphicFramePr>
        <p:xfrm rot="0" flipH="0" flipV="0">
          <a:off x="381000" y="1438275"/>
          <a:ext cx="11430000" cy="2647950"/>
        </p:xfrm>
        <a:graphic>
          <a:graphicData uri="http://schemas.openxmlformats.org/drawingml/2006/table">
            <a:tbl>
              <a:tblGrid>
                <a:gridCol w="1136626">
                  <a:extLst>
                    <a:ext uri="{9D8B030D-6E8A-4147-A177-3AD203B41FA5}">
                      <a16:colId val="1"/>
                    </a:ext>
                  </a:extLst>
                </a:gridCol>
                <a:gridCol w="4907677">
                  <a:extLst>
                    <a:ext uri="{9D8B030D-6E8A-4147-A177-3AD203B41FA5}">
                      <a16:colId val="2"/>
                    </a:ext>
                  </a:extLst>
                </a:gridCol>
                <a:gridCol w="538569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5312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发现类型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对应的补救方向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237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知识环节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同一知识环节在多次考试、多道不同题中出错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先做基础变式题，逐题核对后再安排间隔复测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237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基础发挥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同难度、同知识点下正确与错误并存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分别做不限时与限时题，标记检查过程与错误位置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237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方法选择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已确认的方法题中多次未能完整完成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先口述方法选择条件，再独立完成母题与变式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237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时间分配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空白题与部分得分题，结合学生自述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练习分段计时、先跳过卡题再返回，并记录用时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67" name=""/>
          <p:cNvSpPr/>
          <p:nvPr/>
        </p:nvSpPr>
        <p:spPr>
          <a:xfrm rot="0" flipH="0" flipV="0">
            <a:off x="381000" y="4352925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14350" y="448627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证据门槛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14350" y="479107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需「≥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次独立考试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且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≥2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道不同题」才算重复出现；独立复测记录可回挂为新的证据。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191250" y="4352925"/>
            <a:ext cx="5619750" cy="1190625"/>
          </a:xfrm>
          <a:prstGeom prst="roundRect">
            <a:avLst>
              <a:gd name="adj" fmla="val 6400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324600" y="448627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每条发现的三件套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324600" y="4791075"/>
            <a:ext cx="535305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支持证据与反证并列、成因默认未确认、并写明下一步用什么方式验证。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「会做也错」是稳定性问题而不是知识问题——它只能靠同条件下正误并存来推断，补救方式也完全不同。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80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4 · 数据资产：原题池分层与许可合规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候选与正式严格分层：这一层看似不性感，却决定了系统能不能公开、能不能发表。&#10;        &lt;/Text&gt;&#10;&#10;        &lt;Box style={{ flexDirection: 'row', gap: 22, alignItems: 'stretch', flex: 1 }}&gt;&#10;            &lt;Box style={{ flex: 1, background: '#F0F5FC', borderRadius: 8, border: '1px solid #D6DCE5', padding: 18, justifyContent: 'space-between' }}&gt;&#10;                &lt;Text style={{ fontSize: 23, fontWeight: 'bold', color: '#1E4FA8' }}&gt;漏斗：候选到正式&lt;/Text&gt;&#10;                &lt;Box style={{ alignItems: 'center', gap: 8, flexDirection: 'column' }}&gt;&#10;                    &lt;Box style={{ width: 480, height: 76, background: '#1E4FA8', borderRadius: 8, flexDirection: 'row', alignItems: 'center', justifyContent: 'center', gap: 12 }}&gt;&#10;                        &lt;Text style={{ fontSize: 30, fontWeight: 'bold', color: '#FFFFFF' }}&gt;23,255&lt;/Text&gt;&#10;                        &lt;Text style={{ fontSize: 18, color: '#C8DCF7' }}&gt;道原题池候选&lt;/Text&gt;&#10;                    &lt;/Box&gt;&#10;                    &lt;Box style={{ width: 4, height: 14, background: '#8B97A8' }} /&gt;&#10;                    &lt;Box style={{ width: 360, height: 76, background: '#3D7BD9', borderRadius: 8, flexDirection: 'row', alignItems: 'center', justifyContent: 'center', gap: 12 }}&gt;&#10;                        &lt;Text style={{ fontSize: 26, fontWeight: 'bold', color: '#FFFFFF' }}&gt;人工审核&lt;/Text&gt;&#10;                        &lt;Text style={{ fontSize: 17, color: '#E8EFF8' }}&gt;题源 · 答案 · 步骤&lt;/Text&gt;&#10;                    &lt;/Box&gt;&#10;                    &lt;Box style={{ width: 4, height: 14, background: '#8B97A8' }} /&gt;&#10;                    &lt;Box style={{ width: 250, height: 76, background: '#0E3F8C', borderRadius: 8, flexDirection: 'row', alignItems: 'center', justifyContent: 'center', gap: 12 }}&gt;&#10;                        &lt;Text style={{ fontSize: 30, fontWeight: 'bold', color: '#FFC107' }}&gt;33&lt;/Text&gt;&#10;                        &lt;Text style={{ fontSize: 18, color: '#C8DCF7' }}&gt;道正式入库&lt;/Text&gt;&#10;                    &lt;/Box&gt;&#10;                &lt;/Box&gt;&#10;                &lt;Text style={{ fontSize: 18, color: '#4A5568', lineHeight: 1.4, textAlign: 'center' }}&gt;中间没有自动通道，全部由人工闸门控制。&lt;/Text&gt;&#10;            &lt;/Box&gt;&#10;&#10;            &lt;Box style={{ flex: 1, flexDirection: 'column', gap: 10, justifyContent: 'space-between' }}&gt;&#10;                &lt;Text style={{ fontSize: 23, fontWeight: 'bold', color: '#1A2230' }}&gt;合规四要素&lt;/Text&gt;&#10;                &lt;Box style={{ flexDirection: 'column', gap: 9 }}&gt;&#10;                    &lt;Box style={{ flex: 1, background: '#F0F5FC', borderRadius: 8, border: '1px solid #D6DCE5', padding: 12, flexDirection: 'column', justifyContent: 'center', gap: 4 }}&gt;&#10;                        &lt;Text style={{ fontSize: 20, fontWeight: 'bold', color: '#1E4FA8' }}&gt;默认不公开&lt;/Text&gt;&#10;                        &lt;Text style={{ fontSize: 18, color: '#4A5568', lineHeight: 1.4 }}&gt;原题池每条记录带许可字段，每条记录都带许可字段与来源地址，默认不允许公开，需逐条核对。&lt;/Text&gt;&#10;                    &lt;/Box&gt;&#10;                    &lt;Box style={{ flex: 1, background: '#F0F5FC', borderRadius: 8, border: '1px solid #D6DCE5', padding: 12, flexDirection: 'column', justifyContent: 'center', gap: 4 }}&gt;&#10;                        &lt;Text style={{ fontSize: 20, fontWeight: 'bold', color: '#1E4FA8' }}&gt;年份只从卷面取证&lt;/Text&gt;&#10;                        &lt;Text style={{ fontSize: 18, color: '#4A5568', lineHeight: 1.4 }}&gt;最低年份 2016，禁止用答案或更新日期推断，已据此清理 13,001 道旧题。&lt;/Text&gt;&#10;                    &lt;/Box&gt;&#10;                    &lt;Box style={{ flex: 1, background: '#F0F5FC', borderRadius: 8, border: '1px solid #D6DCE5', padding: 12, flexDirection: 'column', justifyContent: 'center', gap: 4 }}&gt;&#10;                        &lt;Text style={{ fontSize: 20, fontWeight: 'bold', color: '#1E4FA8' }}&gt;完整性分级&lt;/Text&gt;&#10;                        &lt;Text style={{ fontSize: 18, color: '#4A5568', lineHeight: 1.4 }}&gt;完整性分为四级，题干或题图不全时不允许进入解析环节。&lt;/Text&gt;&#10;                    &lt;/Box&gt;&#10;                    &lt;Box style={{ flex: 1, background: '#F0F5FC', borderRadius: 8, border: '1px solid #D6DCE5', padding: 12, flexDirection: 'column', justifyContent: 'center', gap: 4 }}&gt;&#10;                        &lt;Text style={{ fontSize: 20, fontWeight: 'bold', color: '#1E4FA8' }}&gt;离线可回放&lt;/Text&gt;&#10;                        &lt;Text style={{ fontSize: 18, color: '#4A5568', lineHeight: 1.4 }}&gt;采集结果输出为结构化文件，按内容哈希缓存，重跑幂等且可供离线复现。&lt;/Text&gt;&#10;                    &lt;/Box&gt;&#10;                &lt;/Box&gt;&#10;            &lt;/Box&gt;&#10;        &lt;/Box&gt;&#10;&#10;        &lt;Box style={{ background: '#FFFFFF', borderRadius: 8, border: '1px solid #D6DCE5', padding: 13, flexDirection: 'column', gap: 7 }}&gt;&#10;            &lt;Text style={{ fontSize: 20, fontWeight: 'bold', color: '#1A2230' }}&gt;采集链路：自动发现 → 校验免费下载 → 文件转换 → 分页识别缓存 → 结构化输出&lt;/Text&gt;&#10;            &lt;Text style={{ fontSize: 18, color: '#4A5568', lineHeight: 1.5 }}&gt;识别结果按「文件哈希 + 模型 + 分辨率 + 提示词哈希」缓存，重跑幂等；缺原答案也不影响采集。&lt;/Text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教育类项目最容易在版权与许可上翻车；把它做成数据结构的一部分，而不是事后补救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19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数据资产：原题池分层与许可合规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候选与正式严格分层：这一层看似不性感，却决定了系统能不能公开、能不能发表。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81000" y="1181100"/>
            <a:ext cx="5610225" cy="4638675"/>
          </a:xfrm>
          <a:prstGeom prst="roundRect">
            <a:avLst>
              <a:gd name="adj" fmla="val 164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52450" y="1352550"/>
            <a:ext cx="5267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漏斗：候选到正式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904875" y="2114550"/>
            <a:ext cx="4572000" cy="723900"/>
          </a:xfrm>
          <a:prstGeom prst="roundRect">
            <a:avLst>
              <a:gd name="adj" fmla="val 1052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2181225" y="2305050"/>
            <a:ext cx="876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23,255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171825" y="23717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道原题池候选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171825" y="2914650"/>
            <a:ext cx="38100" cy="1333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1476375" y="3124200"/>
            <a:ext cx="3429000" cy="723900"/>
          </a:xfrm>
          <a:prstGeom prst="roundRect">
            <a:avLst>
              <a:gd name="adj" fmla="val 10526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009775" y="3333750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人工审核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3114675" y="3390900"/>
            <a:ext cx="1266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题源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答案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步骤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3171825" y="3924300"/>
            <a:ext cx="38100" cy="1333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2000250" y="4133850"/>
            <a:ext cx="2381250" cy="723900"/>
          </a:xfrm>
          <a:prstGeom prst="roundRect">
            <a:avLst>
              <a:gd name="adj" fmla="val 1052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2543175" y="432435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C107"/>
                </a:solidFill>
                <a:latin typeface="Microsoft YaHei"/>
                <a:ea typeface="Microsoft YaHei"/>
              </a:rPr>
              <a:t>33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2981325" y="4391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8DCF7"/>
                </a:solidFill>
                <a:latin typeface="Microsoft YaHei"/>
                <a:ea typeface="Microsoft YaHei"/>
              </a:rPr>
              <a:t>道正式入库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52450" y="5353050"/>
            <a:ext cx="5267325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中间没有自动通道，全部由人工闸门控制。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200775" y="1181100"/>
            <a:ext cx="5610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合规四要素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200775" y="1543050"/>
            <a:ext cx="5610225" cy="1076325"/>
          </a:xfrm>
          <a:prstGeom prst="roundRect">
            <a:avLst>
              <a:gd name="adj" fmla="val 708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315075" y="1657350"/>
            <a:ext cx="5381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默认不公开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315075" y="1924050"/>
            <a:ext cx="538162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原题池每条记录带许可字段，每条记录都带许可字段与来源地址，默认不允许公开，需逐条核对。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200775" y="2705100"/>
            <a:ext cx="5610225" cy="1076325"/>
          </a:xfrm>
          <a:prstGeom prst="roundRect">
            <a:avLst>
              <a:gd name="adj" fmla="val 708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315075" y="2819400"/>
            <a:ext cx="5381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年份只从卷面取证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315075" y="3086100"/>
            <a:ext cx="538162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最低年份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2016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，禁止用答案或更新日期推断，已据此清理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13,001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道旧题。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200775" y="3867150"/>
            <a:ext cx="5610225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315075" y="3981450"/>
            <a:ext cx="5381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完整性分级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315075" y="4248150"/>
            <a:ext cx="53816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完整性分为四级，题干或题图不全时不允许进入解析环节。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200775" y="4743450"/>
            <a:ext cx="5610225" cy="1076325"/>
          </a:xfrm>
          <a:prstGeom prst="roundRect">
            <a:avLst>
              <a:gd name="adj" fmla="val 708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315075" y="4857750"/>
            <a:ext cx="5381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离线可回放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315075" y="5124450"/>
            <a:ext cx="538162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采集结果输出为结构化文件，按内容哈希缓存，重跑幂等且可供离线复现。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381000" y="5819775"/>
            <a:ext cx="11430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04825" y="5943600"/>
            <a:ext cx="11182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采集链路：自动发现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校验免费下载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文件转换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分页识别缓存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04825" y="6238875"/>
            <a:ext cx="11182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识别结果按「文件哈希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分辨率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提示词哈希」缓存，重跑幂等；缺原答案也不影响采集。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381000" y="66770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495300" y="68103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85800" y="67913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教育类项目最容易在版权与许可上翻车；把它做成数据结构的一部分，而不是事后补救。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0" y="73628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0" y="73533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81000" y="74866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372850" y="74866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53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4 · 工程底座：六种运行形态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从个人工具到多人协作，半径逐级放大；每一步都配套相应的隔离与合规措施。&#10;        &lt;/Text&gt;&#10;&#10;        &lt;Box style={{ flexDirection: 'row', gap: 16, flexWrap: 'wrap', flex: 1, alignContent: 'space-between' }}&gt;&#10;            &lt;Box style={{ width: 386, background: '#F0F5FC', borderRadius: 8, border: '1px solid #D6DCE5', padding: 14, flexDirection: 'column', gap: 6 }}&gt;&#10;                &lt;Box style={{ flexDirection: 'row', gap: 10, alignItems: 'center' }}&gt;&#10;                    &lt;Box style={{ width: 30, height: 30, background: '#1E4FA8', borderRadius: 5, alignItems: 'center', justifyContent: 'center' }}&gt;&#10;                        &lt;Text style={{ fontSize: 16, fontWeight: 'bold', color: '#FFFFFF' }}&gt;1&lt;/Text&gt;&#10;                    &lt;/Box&gt;&#10;                    &lt;Text style={{ fontSize: 21, fontWeight: 'bold', color: '#1A2230', flex: 1 }}&gt;本地一键启动&lt;/Text&gt;&#10;                &lt;/Box&gt;&#10;                &lt;Text style={{ fontSize: 18, color: '#4A5568', lineHeight: 1.4 }}&gt;macOS 与 Windows 双击运行，自动准备环境并复制演示数据。&lt;/Text&gt;&#10;            &lt;/Box&gt;&#10;&#10;            &lt;Box style={{ width: 386, background: '#F0F5FC', borderRadius: 8, border: '1px solid #D6DCE5', padding: 14, flexDirection: 'column', gap: 6 }}&gt;&#10;                &lt;Box style={{ flexDirection: 'row', gap: 10, alignItems: 'center' }}&gt;&#10;                    &lt;Box style={{ width: 30, height: 30, background: '#1E4FA8', borderRadius: 5, alignItems: 'center', justifyContent: 'center' }}&gt;&#10;                        &lt;Text style={{ fontSize: 16, fontWeight: 'bold', color: '#FFFFFF' }}&gt;2&lt;/Text&gt;&#10;                    &lt;/Box&gt;&#10;                    &lt;Text style={{ fontSize: 21, fontWeight: 'bold', color: '#1A2230', flex: 1 }}&gt;服务器部署&lt;/Text&gt;&#10;                &lt;/Box&gt;&#10;                &lt;Text style={{ fontSize: 18, color: '#4A5568', lineHeight: 1.4 }}&gt;系统服务托管双站点，含备份、回滚与发布前检查脚本。&lt;/Text&gt;&#10;            &lt;/Box&gt;&#10;&#10;            &lt;Box style={{ width: 386, background: '#F0F5FC', borderRadius: 8, border: '1px solid #D6DCE5', padding: 14, flexDirection: 'column', gap: 6 }}&gt;&#10;                &lt;Box style={{ flexDirection: 'row', gap: 10, alignItems: 'center' }}&gt;&#10;                    &lt;Box style={{ width: 30, height: 30, background: '#1E4FA8', borderRadius: 5, alignItems: 'center', justifyContent: 'center' }}&gt;&#10;                        &lt;Text style={{ fontSize: 16, fontWeight: 'bold', color: '#FFFFFF' }}&gt;3&lt;/Text&gt;&#10;                    &lt;/Box&gt;&#10;                    &lt;Text style={{ fontSize: 21, fontWeight: 'bold', color: '#1A2230', flex: 1 }}&gt;加密隧道邀请预览&lt;/Text&gt;&#10;                &lt;/Box&gt;&#10;                &lt;Text style={{ fontSize: 18, color: '#4A5568', lineHeight: 1.4 }}&gt;朋友在本机浏览器访问同一份题库，权限被限制为仅转发。&lt;/Text&gt;&#10;            &lt;/Box&gt;&#10;&#10;            &lt;Box style={{ width: 386, background: '#F0F5FC', borderRadius: 8, border: '1px solid #D6DCE5', padding: 14, flexDirection: 'column', gap: 6 }}&gt;&#10;                &lt;Box style={{ flexDirection: 'row', gap: 10, alignItems: 'center' }}&gt;&#10;                    &lt;Box style={{ width: 30, height: 30, background: '#1E4FA8', borderRadius: 5, alignItems: 'center', justifyContent: 'center' }}&gt;&#10;                        &lt;Text style={{ fontSize: 16, fontWeight: 'bold', color: '#FFFFFF' }}&gt;4&lt;/Text&gt;&#10;                    &lt;/Box&gt;&#10;                    &lt;Text style={{ fontSize: 21, fontWeight: 'bold', color: '#1A2230', flex: 1 }}&gt;只读展示站&lt;/Text&gt;&#10;                &lt;/Box&gt;&#10;                &lt;Text style={{ fontSize: 18, color: '#4A5568', lineHeight: 1.4 }}&gt;独立服务与资源白名单，不读取个人数据，也不调用模型。&lt;/Text&gt;&#10;            &lt;/Box&gt;&#10;&#10;            &lt;Box style={{ width: 386, background: '#F0F5FC', borderRadius: 8, border: '1px solid #D6DCE5', padding: 14, flexDirection: 'column', gap: 6 }}&gt;&#10;                &lt;Box style={{ flexDirection: 'row', gap: 10, alignItems: 'center' }}&gt;&#10;                    &lt;Box style={{ width: 30, height: 30, background: '#1E4FA8', borderRadius: 5, alignItems: 'center', justifyContent: 'center' }}&gt;&#10;                        &lt;Text style={{ fontSize: 16, fontWeight: 'bold', color: '#FFFFFF' }}&gt;5&lt;/Text&gt;&#10;                    &lt;/Box&gt;&#10;                    &lt;Text style={{ fontSize: 21, fontWeight: 'bold', color: '#1A2230', flex: 1 }}&gt;账号多用户&lt;/Text&gt;&#10;                &lt;/Box&gt;&#10;                &lt;Text style={{ fontSize: 18, color: '#4A5568', lineHeight: 1.4 }}&gt;按目录隔离各人工作区，公共母题以独立编号投影到个人库。&lt;/Text&gt;&#10;            &lt;/Box&gt;&#10;&#10;            &lt;Box style={{ width: 386, background: '#E8EFF8', borderRadius: 8, border: '1px solid #3D7BD9', padding: 14, flexDirection: 'column', gap: 6 }}&gt;&#10;                &lt;Box style={{ flexDirection: 'row', gap: 10, alignItems: 'center' }}&gt;&#10;                    &lt;Box style={{ width: 30, height: 30, background: '#0E3F8C', borderRadius: 5, alignItems: 'center', justifyContent: 'center' }}&gt;&#10;                        &lt;Text style={{ fontSize: 16, fontWeight: 'bold', color: '#FFFFFF' }}&gt;6&lt;/Text&gt;&#10;                    &lt;/Box&gt;&#10;                    &lt;Text style={{ fontSize: 21, fontWeight: 'bold', color: '#0E3F8C', flex: 1 }}&gt;原生客户端&lt;/Text&gt;&#10;                &lt;/Box&gt;&#10;                &lt;Text style={{ fontSize: 18, color: '#4A5568', lineHeight: 1.4 }}&gt;覆盖手机、平板与电脑，本地缓存与草稿，共用云端接口。&lt;/Text&gt;&#10;            &lt;/Box&gt;&#10;        &lt;/Box&gt;&#10;&#10;        &lt;Box style={{ background: '#FFFFFF', borderRadius: 8, border: '1px solid #D6DCE5', padding: 13, flexDirection: 'row', gap: 16 }}&gt;&#10;            &lt;Box style={{ flex: 1, flexDirection: 'column', gap: 4 }}&gt;&#10;                &lt;Text style={{ fontSize: 20, fontWeight: 'bold', color: '#1E4FA8' }}&gt;运维&lt;/Text&gt;&#10;                &lt;Text style={{ fontSize: 18, color: '#4A5568', lineHeight: 1.4 }}&gt;日志按天滚动并保留 14 天，部署脚本含任务检查、数据备份与回滚前导出。&lt;/Text&gt;&#10;            &lt;/Box&gt;&#10;            &lt;Box style={{ flex: 1, flexDirection: 'column', gap: 4 }}&gt;&#10;                &lt;Text style={{ fontSize: 20, fontWeight: 'bold', color: '#1E4FA8' }}&gt;合规&lt;/Text&gt;&#10;                &lt;Text style={{ fontSize: 18, color: '#4A5568', lineHeight: 1.4 }}&gt;公开入口页展示备案信息，学习接口由访问保护隔离，不直接暴露。&lt;/Text&gt;&#10;            &lt;/Box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20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工程底座：六种运行形态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从个人工具到多人协作，半径逐级放大；每一步都配套相应的隔离与合规措施。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81000" y="1181100"/>
            <a:ext cx="3676650" cy="1952625"/>
          </a:xfrm>
          <a:prstGeom prst="roundRect">
            <a:avLst>
              <a:gd name="adj" fmla="val 39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514350" y="13144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19125" y="13620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95350" y="13335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本地一键启动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14350" y="1657350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macOS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Windows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双击运行，自动准备环境并复制演示数据。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210050" y="1181100"/>
            <a:ext cx="3676650" cy="1952625"/>
          </a:xfrm>
          <a:prstGeom prst="roundRect">
            <a:avLst>
              <a:gd name="adj" fmla="val 39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4343400" y="13144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448175" y="13620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724400" y="13335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服务器部署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343400" y="1657350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系统服务托管双站点，含备份、回滚与发布前检查脚本。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8039100" y="1181100"/>
            <a:ext cx="3676650" cy="1952625"/>
          </a:xfrm>
          <a:prstGeom prst="roundRect">
            <a:avLst>
              <a:gd name="adj" fmla="val 39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8172450" y="131445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277225" y="1362075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553450" y="1333500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加密隧道邀请预览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72450" y="1657350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朋友在本机浏览器访问同一份题库，权限被限制为仅转发。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81000" y="3286125"/>
            <a:ext cx="3676650" cy="1943100"/>
          </a:xfrm>
          <a:prstGeom prst="roundRect">
            <a:avLst>
              <a:gd name="adj" fmla="val 392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514350" y="3419475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19125" y="3467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95350" y="343852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只读展示站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514350" y="3762375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独立服务与资源白名单，不读取个人数据，也不调用模型。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210050" y="3286125"/>
            <a:ext cx="3676650" cy="1943100"/>
          </a:xfrm>
          <a:prstGeom prst="roundRect">
            <a:avLst>
              <a:gd name="adj" fmla="val 392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4343400" y="3419475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448175" y="3467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724400" y="343852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账号多用户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4343400" y="3762375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按目录隔离各人工作区，公共母题以独立编号投影到个人库。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8039100" y="3286125"/>
            <a:ext cx="3676650" cy="1943100"/>
          </a:xfrm>
          <a:prstGeom prst="roundRect">
            <a:avLst>
              <a:gd name="adj" fmla="val 3922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8172450" y="3419475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277225" y="3467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553450" y="3438525"/>
            <a:ext cx="3028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原生客户端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172450" y="3762375"/>
            <a:ext cx="34099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覆盖手机、平板与电脑，本地缓存与草稿，共用云端接口。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81000" y="5229225"/>
            <a:ext cx="114300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04825" y="5353050"/>
            <a:ext cx="551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运维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04825" y="5619750"/>
            <a:ext cx="55149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日志按天滚动并保留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天，部署脚本含任务检查、数据备份与回滚前导出。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172200" y="5353050"/>
            <a:ext cx="551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172200" y="5619750"/>
            <a:ext cx="55149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公开入口页展示备案信息，学习接口由访问保护隔离，不直接暴露。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97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4 · 全局智能体：负责编排，不负责判断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智能体决定「调哪个能力」；各能力内部的校验与人工闸门照常生效，不因经过智能体而绕过。&#10;        &lt;/Text&gt;&#10;&#10;        &lt;Box style={{ flexDirection: 'row', gap: 22, alignItems: 'stretch', flex: 1 }}&gt;&#10;            &lt;Box style={{ flex: 1, flexDirection: 'column', gap: 12 }}&gt;&#10;                &lt;Box style={{ flex: 1, background: '#F0F5FC', borderRadius: 8, border: '1px solid #D6DCE5', padding: 16, flexDirection: 'row', gap: 14, alignItems: 'center' }}&gt;&#10;                    &lt;Box style={{ width: 44, height: 44, background: '#1E4FA8', borderRadius: 6, alignItems: 'center', justifyContent: 'center' }}&gt;&#10;                        &lt;Text style={{ fontSize: 19, fontWeight: 'bold', color: '#FFFFFF' }}&gt;快&lt;/Text&gt;&#10;                    &lt;/Box&gt;&#10;                    &lt;Box style={{ flex: 1, flexDirection: 'column', gap: 4 }}&gt;&#10;                        &lt;Text style={{ fontSize: 22, fontWeight: 'bold', color: '#1A2230' }}&gt;规则快路径&lt;/Text&gt;&#10;                        &lt;Text style={{ fontSize: 18, color: '#4A5568', lineHeight: 1.45 }}&gt;学情查询、页面导航、题号识别直接命中，不调用模型，因此响应最快也没有额外成本。&lt;/Text&gt;&#10;                    &lt;/Box&gt;&#10;                &lt;/Box&gt;&#10;&#10;                &lt;Box style={{ flex: 1, background: '#E8EFF8', borderRadius: 8, border: '1px solid #3D7BD9', padding: 16, flexDirection: 'row', gap: 14, alignItems: 'center' }}&gt;&#10;                    &lt;Box style={{ width: 44, height: 44, background: '#0E3F8C', borderRadius: 6, alignItems: 'center', justifyContent: 'center' }}&gt;&#10;                        &lt;Text style={{ fontSize: 19, fontWeight: 'bold', color: '#FFFFFF' }}&gt;轮&lt;/Text&gt;&#10;                    &lt;/Box&gt;&#10;                    &lt;Box style={{ flex: 1, flexDirection: 'column', gap: 4 }}&gt;&#10;                        &lt;Text style={{ fontSize: 22, fontWeight: 'bold', color: '#0E3F8C' }}&gt;工具循环&lt;/Text&gt;&#10;                        &lt;Text style={{ fontSize: 18, color: '#4A5568', lineHeight: 1.4 }}&gt;最多四轮，工具结果以消息形式回灌后继续决策；单个工具异常只降级为提示，不中断整体流程。&lt;/Text&gt;&#10;                    &lt;/Box&gt;&#10;                &lt;/Box&gt;&#10;&#10;                &lt;Box style={{ flex: 1, background: '#F0F5FC', borderRadius: 8, border: '1px solid #D6DCE5', padding: 16, flexDirection: 'row', gap: 14, alignItems: 'center' }}&gt;&#10;                    &lt;Box style={{ width: 44, height: 44, background: '#1E4FA8', borderRadius: 6, alignItems: 'center', justifyContent: 'center' }}&gt;&#10;                        &lt;Text style={{ fontSize: 19, fontWeight: 'bold', color: '#FFFFFF' }}&gt;底&lt;/Text&gt;&#10;                    &lt;/Box&gt;&#10;                    &lt;Box style={{ flex: 1, flexDirection: 'column', gap: 4 }}&gt;&#10;                        &lt;Text style={{ fontSize: 22, fontWeight: 'bold', color: '#1A2230' }}&gt;规则兜底&lt;/Text&gt;&#10;                        &lt;Text style={{ fontSize: 18, color: '#4A5568', lineHeight: 1.4 }}&gt;模型不可用时纯规则回退，即使完全没有模型，常用查询与页面导航依然可用。&lt;/Text&gt;&#10;                    &lt;/Box&gt;&#10;                &lt;/Box&gt;&#10;            &lt;/Box&gt;&#10;&#10;            &lt;Box style={{ flex: 1, background: '#F0F5FC', borderRadius: 8, border: '1px solid #D6DCE5', padding: 18, justifyContent: 'space-between' }}&gt;&#10;                &lt;Box style={{ flexDirection: 'column', gap: 6 }}&gt;&#10;                    &lt;Text style={{ fontSize: 23, fontWeight: 'bold', color: '#1A2230' }}&gt;可调用的六项能力&lt;/Text&gt;&#10;                    &lt;Text style={{ fontSize: 18, color: '#8B97A8', lineHeight: 1.4 }}&gt;每次请求都会注入当前学情快照&lt;/Text&gt;&#10;                &lt;/Box&gt;&#10;                &lt;Box style={{ flexDirection: 'row', gap: 9, flexWrap: 'wrap' }}&gt;&#10;                    &lt;Box style={{ background: '#FFFFFF', borderRadius: 6, padding: 10, border: '1px solid #D6DCE5' }}&gt;&#10;                        &lt;Text style={{ fontSize: 18, color: '#1A2230' }}&gt;搜题&lt;/Text&gt;&#10;                    &lt;/Box&gt;&#10;                    &lt;Box style={{ background: '#FFFFFF', borderRadius: 6, padding: 10, border: '1px solid #D6DCE5' }}&gt;&#10;                        &lt;Text style={{ fontSize: 18, color: '#1A2230' }}&gt;解题&lt;/Text&gt;&#10;                    &lt;/Box&gt;&#10;                    &lt;Box style={{ background: '#FFFFFF', borderRadius: 6, padding: 10, border: '1px solid #D6DCE5' }}&gt;&#10;                        &lt;Text style={{ fontSize: 18, color: '#1A2230' }}&gt;教学&lt;/Text&gt;&#10;                    &lt;/Box&gt;&#10;                    &lt;Box style={{ background: '#FFFFFF', borderRadius: 6, padding: 10, border: '1px solid #D6DCE5' }}&gt;&#10;                        &lt;Text style={{ fontSize: 18, color: '#1A2230' }}&gt;批改&lt;/Text&gt;&#10;                    &lt;/Box&gt;&#10;                    &lt;Box style={{ background: '#FFFFFF', borderRadius: 6, padding: 10, border: '1px solid #D6DCE5' }}&gt;&#10;                        &lt;Text style={{ fontSize: 18, color: '#1A2230' }}&gt;规划&lt;/Text&gt;&#10;                    &lt;/Box&gt;&#10;                    &lt;Box style={{ background: '#FFFFFF', borderRadius: 6, padding: 10, border: '1px solid #D6DCE5' }}&gt;&#10;                        &lt;Text style={{ fontSize: 18, color: '#1A2230' }}&gt;学情&lt;/Text&gt;&#10;                    &lt;/Box&gt;&#10;                &lt;/Box&gt;&#10;                &lt;Box style={{ background: '#FFFFFF', borderRadius: 6, padding: 11 }}&gt;&#10;                    &lt;Text style={{ fontSize: 18, color: '#4A5568', lineHeight: 1.4 }}&gt;每个工具都保持各自的校验规则，不因调用方不同而放宽标准。&lt;/Text&gt;&#10;                &lt;/Box&gt;&#10;                &lt;Box style={{ background: '#FFFFFF', borderRadius: 6, padding: 12, flexDirection: 'column', gap: 5 }}&gt;&#10;                    &lt;Text style={{ fontSize: 19, fontWeight: 'bold', color: '#1E4FA8' }}&gt;人机分工&lt;/Text&gt;&#10;                    &lt;Text style={{ fontSize: 18, color: '#4A5568', lineHeight: 1.5 }}&gt;编排交给智能体，判断标准由人定义并由代码强制执行，二者不互相替代。&lt;/Text&gt;&#10;                &lt;/Box&gt;&#10;                &lt;Box style={{ background: '#FFFFFF', borderRadius: 6, padding: 12 }}&gt;&#10;                    &lt;Text style={{ fontSize: 18, color: '#4A5568', lineHeight: 1.5 }}&gt;回复以流式返回，前端同步渲染公式，可保留最近若干轮对话上下文。&lt;/Text&gt;&#10;    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它可以决定调用批改，但批改自己的防幻觉约束依然生效——智能体不能绕过闸门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21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全局智能体：负责编排，不负责判断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智能体决定「调哪个能力」；各能力内部的校验与人工闸门照常生效，不因经过智能体而绕过。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381000" y="1181100"/>
            <a:ext cx="5610225" cy="1466850"/>
          </a:xfrm>
          <a:prstGeom prst="roundRect">
            <a:avLst>
              <a:gd name="adj" fmla="val 5195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533400" y="17049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57225" y="18097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快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085850" y="1466850"/>
            <a:ext cx="4752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规则快路径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85850" y="1762125"/>
            <a:ext cx="47529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学情查询、页面导航、题号识别直接命中，不调用模型，因此响应最快也没有额外成本。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381000" y="2762250"/>
            <a:ext cx="5610225" cy="1438275"/>
          </a:xfrm>
          <a:prstGeom prst="roundRect">
            <a:avLst>
              <a:gd name="adj" fmla="val 5298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533400" y="327660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57225" y="3381375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085850" y="3048000"/>
            <a:ext cx="4752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工具循环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085850" y="3343275"/>
            <a:ext cx="47529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最多四轮，工具结果以消息形式回灌后继续决策；单个工具异常只降级为提示，不中断整体流程。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381000" y="4314825"/>
            <a:ext cx="5610225" cy="144780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533400" y="482917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57225" y="4933950"/>
            <a:ext cx="180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底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85850" y="4600575"/>
            <a:ext cx="4752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规则兜底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085850" y="4895850"/>
            <a:ext cx="47529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模型不可用时纯规则回退，即使完全没有模型，常用查询与页面导航依然可用。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200775" y="1181100"/>
            <a:ext cx="5610225" cy="4581525"/>
          </a:xfrm>
          <a:prstGeom prst="roundRect">
            <a:avLst>
              <a:gd name="adj" fmla="val 166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372225" y="1352550"/>
            <a:ext cx="52673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可调用的六项能力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372225" y="1676400"/>
            <a:ext cx="52673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每次请求都会注入当前学情快照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372225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467475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搜题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991350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086600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解题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610475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705725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教学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8229600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324850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批改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8848725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943975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规划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9467850" y="2162175"/>
            <a:ext cx="5334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63100" y="22574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学情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372225" y="2752725"/>
            <a:ext cx="5267325" cy="504825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477000" y="2857500"/>
            <a:ext cx="50577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每个工具都保持各自的校验规则，不因调用方不同而放宽标准。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372225" y="3438525"/>
            <a:ext cx="5267325" cy="111442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486525" y="3552825"/>
            <a:ext cx="5038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人机分工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486525" y="3819525"/>
            <a:ext cx="5038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编排交给智能体，判断标准由人定义并由代码强制执行，二者不互相替代。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372225" y="4743450"/>
            <a:ext cx="5267325" cy="84772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486525" y="4857750"/>
            <a:ext cx="50387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回复以流式返回，前端同步渲染公式，可保留最近若干轮对话上下文。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它可以决定调用批改，但批改自己的防幻觉约束依然生效——智能体不能绕过闸门。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46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5 · 四大优势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优势不在功能数量，而在三个别人做不到的判断，以及一套让这些判断站得住的约束。&#10;        &lt;/Text&gt;&#10;&#10;        &lt;Box style={{ flexDirection: 'column', gap: 16, flex: 1 }}&gt;&#10;            &lt;Box style={{ flexDirection: 'row', gap: 16, flex: 1 }}&gt;&#10;            &lt;Box style={{ flex: 1, background: '#E8EFF8', borderRadius: 10, border: '1px solid #3D7BD9', padding: 18, flexDirection: 'column', gap: 8 }}&gt;&#10;                &lt;Box style={{ flexDirection: 'row', gap: 12, alignItems: 'center' }}&gt;&#10;                    &lt;Box style={{ width: 46, height: 46, background: '#0E3F8C', borderRadius: 8, alignItems: 'center', justifyContent: 'center' }}&gt;&#10;                        &lt;Text style={{ fontSize: 22, fontWeight: 'bold', color: '#FFFFFF' }}&gt;1&lt;/Text&gt;&#10;                    &lt;/Box&gt;&#10;                    &lt;Text style={{ fontSize: 25, fontWeight: 'bold', color: '#0E3F8C', flex: 1 }}&gt;评价维度升维&lt;/Text&gt;&#10;                &lt;/Box&gt;&#10;                &lt;Text style={{ fontSize: 19, color: '#1A2230', lineHeight: 1.5, flex: 1 }}&gt;&#10;                    试题升到试卷，得到偏差、缺口与稳定性；知识点升到套路，得到「何时用」与「易混什么」。上层结论在下层不可归约。&#10;                &lt;/Text&gt;&#10;                &lt;Box style={{ background: '#FFFFFF', borderRadius: 6, padding: 10 }}&gt;&#10;                    &lt;Text style={{ fontSize: 17, color: '#8B97A8', lineHeight: 1.4 }}&gt;证据：跨题结论需 ≥2 次考试且 ≥2 道不同题；288 条套路全部含排除条件与易混淆关系。&lt;/Text&gt;&#10;                &lt;/Box&gt;&#10;            &lt;/Box&gt;&#10;&#10;            &lt;Box style={{ flex: 1, background: '#E8EFF8', borderRadius: 10, border: '1px solid #3D7BD9', padding: 18, flexDirection: 'column', gap: 8 }}&gt;&#10;                &lt;Box style={{ flexDirection: 'row', gap: 12, alignItems: 'center' }}&gt;&#10;                    &lt;Box style={{ width: 46, height: 46, background: '#0E3F8C', borderRadius: 8, alignItems: 'center', justifyContent: 'center' }}&gt;&#10;                        &lt;Text style={{ fontSize: 22, fontWeight: 'bold', color: '#FFFFFF' }}&gt;2&lt;/Text&gt;&#10;                    &lt;/Box&gt;&#10;                    &lt;Text style={{ fontSize: 25, fontWeight: 'bold', color: '#0E3F8C', flex: 1 }}&gt;难度可复现&lt;/Text&gt;&#10;                &lt;/Box&gt;&#10;                &lt;Text style={{ fontSize: 19, color: '#1A2230', lineHeight: 1.5, flex: 1 }}&gt;&#10;                    模型只给每个步骤打五维，块与整题难度由确定性公式聚合；同一道题两次运行结果一致，权重与阈值可调。&#10;                &lt;/Text&gt;&#10;                &lt;Box style={{ background: '#FFFFFF', borderRadius: 6, padding: 10 }}&gt;&#10;                    &lt;Text style={{ fontSize: 17, color: '#8B97A8', lineHeight: 1.4 }}&gt;证据：峰值加半量均值乘覆盖率，向下取整并封顶 3；总分封顶 15。&lt;/Text&gt;&#10;                &lt;/Box&gt;&#10;            &lt;/Box&gt;&#10;&#10;            &lt;/Box&gt;&#10;&#10;            &lt;Box style={{ flexDirection: 'row', gap: 16, flex: 1 }}&gt;&#10;            &lt;Box style={{ flex: 1, background: '#F0F5FC', borderRadius: 10, border: '1px solid #D6DCE5', padding: 18, flexDirection: 'column', gap: 8 }}&gt;&#10;                &lt;Box style={{ flexDirection: 'row', gap: 12, alignItems: 'center' }}&gt;&#10;                    &lt;Box style={{ width: 46, height: 46, background: '#1E4FA8', borderRadius: 8, alignItems: 'center', justifyContent: 'center' }}&gt;&#10;                        &lt;Text style={{ fontSize: 22, fontWeight: 'bold', color: '#FFFFFF' }}&gt;3&lt;/Text&gt;&#10;                    &lt;/Box&gt;&#10;                    &lt;Text style={{ fontSize: 25, fontWeight: 'bold', color: '#1A2230', flex: 1 }}&gt;证据链可复核&lt;/Text&gt;&#10;                &lt;/Box&gt;&#10;                &lt;Text style={{ fontSize: 19, color: '#1A2230', lineHeight: 1.5, flex: 1 }}&gt;&#10;                    每次批改保留题目、作答、标准依据、模型与提示词版本以及人工修改记录；低置信度与歧义进入人工确认。&#10;                &lt;/Text&gt;&#10;                &lt;Box style={{ background: '#FFFFFF', borderRadius: 6, padding: 10 }}&gt;&#10;                    &lt;Text style={{ fontSize: 17, color: '#8B97A8', lineHeight: 1.4 }}&gt;证据：缺失步骤强制清空错因；客观题等价判断返回三值而非二值。&lt;/Text&gt;&#10;                &lt;/Box&gt;&#10;            &lt;/Box&gt;&#10;&#10;            &lt;Box style={{ flex: 1, background: '#F0F5FC', borderRadius: 10, border: '1px solid #D6DCE5', padding: 18, flexDirection: 'column', gap: 8 }}&gt;&#10;                &lt;Box style={{ flexDirection: 'row', gap: 12, alignItems: 'center' }}&gt;&#10;                    &lt;Box style={{ width: 46, height: 46, background: '#1E4FA8', borderRadius: 8, alignItems: 'center', justifyContent: 'center' }}&gt;&#10;                        &lt;Text style={{ fontSize: 22, fontWeight: 'bold', color: '#FFFFFF' }}&gt;4&lt;/Text&gt;&#10;                    &lt;/Box&gt;&#10;                    &lt;Text style={{ fontSize: 25, fontWeight: 'bold', color: '#1A2230', flex: 1 }}&gt;内容合规可控&lt;/Text&gt;&#10;                &lt;/Box&gt;&#10;                &lt;Text style={{ fontSize: 19, color: '#1A2230', lineHeight: 1.5, flex: 1 }}&gt;&#10;                    候选与正式分层，默认不公开，年份与许可留证；几何演示用受限解析器处理，不执行模型生成的代码。&#10;                &lt;/Text&gt;&#10;                &lt;Box style={{ background: '#FFFFFF', borderRadius: 6, padding: 10 }}&gt;&#10;                    &lt;Text style={{ fontSize: 17, color: '#8B97A8', lineHeight: 1.4 }}&gt;证据：23,255 道候选中有 33 道正式入库；年份只从卷面取证。&lt;/Text&gt;&#10;                &lt;/Box&gt;&#10;            &lt;/Box&gt;&#10;            &lt;/Box&gt;&#10;        &lt;/Box&gt;&#10;&#10;        &lt;Box style={{ background: '#0E3F8C', borderRadius: 8, padding: 12, flexDirection: 'row', alignItems: 'center', gap: 14 }}&gt;&#10;            &lt;Box style={{ width: 6, height: 32, background: '#FFC107' }} /&gt;&#10;            &lt;Text style={{ fontSize: 19, color: '#FFFFFF', lineHeight: 1.5, flex: 1 }}&gt;&#10;                若时间有限，只讲前两条：第一条回答「为什么值得做」，第二条回答「为什么别人做不了」。&#10;            &lt;/Text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22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05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四大优势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优势不在功能数量，而在三个别人做不到的判断，以及一套让这些判断站得住的约束。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381000" y="1181100"/>
            <a:ext cx="5638800" cy="2352675"/>
          </a:xfrm>
          <a:prstGeom prst="roundRect">
            <a:avLst>
              <a:gd name="adj" fmla="val 4049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552450" y="13525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14375" y="14478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04900" y="1428750"/>
            <a:ext cx="4743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评价维度升维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52450" y="1866900"/>
            <a:ext cx="52959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试题升到试卷，得到偏差、缺口与稳定性；知识点升到套路，得到「何时用」与「易混什么」。上层结论在下层不可归约。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52450" y="2619375"/>
            <a:ext cx="5295900" cy="7429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47700" y="2714625"/>
            <a:ext cx="5105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证据：跨题结论需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≥2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次考试且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≥2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道不同题；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条套路全部含排除条件与易混淆关系。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172200" y="1181100"/>
            <a:ext cx="5638800" cy="2352675"/>
          </a:xfrm>
          <a:prstGeom prst="roundRect">
            <a:avLst>
              <a:gd name="adj" fmla="val 4049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6343650" y="13525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505575" y="14478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96100" y="1428750"/>
            <a:ext cx="4743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难度可复现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343650" y="1866900"/>
            <a:ext cx="529590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模型只给每个步骤打五维，块与整题难度由确定性公式聚合；同一道题两次运行结果一致，权重与阈值可调。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343650" y="2895600"/>
            <a:ext cx="5295900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438900" y="2990850"/>
            <a:ext cx="51054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证据：峰值加半量均值乘覆盖率，向下取整并封顶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；总分封顶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15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381000" y="3686175"/>
            <a:ext cx="5638800" cy="2076450"/>
          </a:xfrm>
          <a:prstGeom prst="roundRect">
            <a:avLst>
              <a:gd name="adj" fmla="val 458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552450" y="38576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14375" y="39528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104900" y="3933825"/>
            <a:ext cx="4743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证据链可复核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552450" y="4371975"/>
            <a:ext cx="52959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每次批改保留题目、作答、标准依据、模型与提示词版本以及人工修改记录；低置信度与歧义进入人工确认。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552450" y="5124450"/>
            <a:ext cx="5295900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47700" y="5219700"/>
            <a:ext cx="51054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证据：缺失步骤强制清空错因；客观题等价判断返回三值而非二值。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172200" y="3686175"/>
            <a:ext cx="5638800" cy="2076450"/>
          </a:xfrm>
          <a:prstGeom prst="roundRect">
            <a:avLst>
              <a:gd name="adj" fmla="val 458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6343650" y="3857625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505575" y="39528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896100" y="3933825"/>
            <a:ext cx="4743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内容合规可控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343650" y="4371975"/>
            <a:ext cx="52959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候选与正式分层，默认不公开，年份与许可留证；几何演示用受限解析器处理，不执行模型生成的代码。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343650" y="5124450"/>
            <a:ext cx="5295900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438900" y="5219700"/>
            <a:ext cx="51054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证据：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23,255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道候选中有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33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道正式入库；年份只从卷面取证。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81000" y="5762625"/>
            <a:ext cx="114300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495300" y="5895975"/>
            <a:ext cx="57150" cy="3048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85800" y="5876925"/>
            <a:ext cx="1101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若时间有限，只讲前两条：第一条回答「为什么值得做」，第二条回答「为什么别人做不了」。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86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5 · 作用：同一份数据，三种用法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学生产生的每一步数据，最终沉淀为三类不同的价值：个人画像、教学依据与研究材料。&#10;        &lt;/Text&gt;&#10;&#10;        &lt;Box style={{ flexDirection: 'column', gap: 14, flex: 1, justifyContent: 'space-between' }}&gt;&#10;            &lt;Box style={{ flexDirection: 'row', alignItems: 'stretch', gap: 16, background: '#F0F5FC', borderRadius: 8, border: '1px solid #D6DCE5', padding: 16 }}&gt;&#10;                &lt;Box style={{ width: 130, background: '#1E4FA8', borderRadius: 6, alignItems: 'center', justifyContent: 'center' }}&gt;&#10;                    &lt;Text style={{ fontSize: 23, fontWeight: 'bold', color: '#FFFFFF' }}&gt;学生&lt;/Text&gt;&#10;                &lt;/Box&gt;&#10;                &lt;Box style={{ flex: 1, flexDirection: 'column', justifyContent: 'center', gap: 5 }}&gt;&#10;                    &lt;Text style={{ fontSize: 22, fontWeight: 'bold', color: '#1A2230' }}&gt;拿到的不是「你错了」，而是错在哪一步、属于哪类原因、接下来该练什么&lt;/Text&gt;&#10;                    &lt;Text style={{ fontSize: 18, color: '#4A5568', lineHeight: 1.4 }}&gt;系统区分「不会」与「不稳」，按掌握状态安排复习；仿题只针对自己的错因生成。&lt;/Text&gt;&#10;                &lt;/Box&gt;&#10;                &lt;Box style={{ width: 210, alignItems: 'flex-end', justifyContent: 'center' }}&gt;&#10;                    &lt;Text style={{ fontSize: 17, color: '#8B97A8', lineHeight: 1.4 }}&gt;诊断 → 针对性变式 → 再校验 → 入库&lt;/Text&gt;&#10;                &lt;/Box&gt;&#10;            &lt;/Box&gt;&#10;&#10;            &lt;Box style={{ flexDirection: 'row', alignItems: 'stretch', gap: 16, background: '#F0F5FC', borderRadius: 8, border: '1px solid #D6DCE5', padding: 16 }}&gt;&#10;                &lt;Box style={{ width: 130, background: '#1E4FA8', borderRadius: 6, alignItems: 'center', justifyContent: 'center' }}&gt;&#10;                    &lt;Text style={{ fontSize: 23, fontWeight: 'bold', color: '#FFFFFF' }}&gt;教师&lt;/Text&gt;&#10;                &lt;/Box&gt;&#10;                &lt;Box style={{ flex: 1, flexDirection: 'column', justifyContent: 'center', gap: 5 }}&gt;&#10;                    &lt;Text style={{ fontSize: 22, fontWeight: 'bold', color: '#1A2230' }}&gt;逐题逐步骤批改，整卷的知识点与难度分布，以及可复核的异常清单&lt;/Text&gt;&#10;                    &lt;Text style={{ fontSize: 18, color: '#4A5568', lineHeight: 1.4 }}&gt;班级共性错因可直接定位到知识环节或方法选择，用于调整讲评重点。&lt;/Text&gt;&#10;                &lt;/Box&gt;&#10;                &lt;Box style={{ width: 210, alignItems: 'flex-end', justifyContent: 'center' }}&gt;&#10;                    &lt;Text style={{ fontSize: 17, color: '#8B97A8', lineHeight: 1.4 }}&gt;从批改机器转为成长管理者&lt;/Text&gt;&#10;                &lt;/Box&gt;&#10;            &lt;/Box&gt;&#10;&#10;            &lt;Box style={{ flexDirection: 'row', alignItems: 'stretch', gap: 16, background: '#E8EFF8', borderRadius: 8, border: '1px solid #3D7BD9', padding: 16 }}&gt;&#10;                &lt;Box style={{ width: 130, background: '#0E3F8C', borderRadius: 6, alignItems: 'center', justifyContent: 'center' }}&gt;&#10;                    &lt;Text style={{ fontSize: 23, fontWeight: 'bold', color: '#FFFFFF' }}&gt;教研&lt;/Text&gt;&#10;                &lt;/Box&gt;&#10;                &lt;Box style={{ flex: 1, flexDirection: 'column', justifyContent: 'center', gap: 5 }}&gt;&#10;                    &lt;Text style={{ fontSize: 22, fontWeight: 'bold', color: '#0E3F8C' }}&gt;套路目录与易混淆关系、试卷质量的量化指标、标注规范与版本追踪&lt;/Text&gt;&#10;                    &lt;Text style={{ fontSize: 18, color: '#4A5568', lineHeight: 1.4 }}&gt;内容审核、分歧仲裁与版本留痕，为后续建立评测集提供基础。&lt;/Text&gt;&#10;                &lt;/Box&gt;&#10;                &lt;Box style={{ width: 210, alignItems: 'flex-end', justifyContent: 'center' }}&gt;&#10;                    &lt;Text style={{ fontSize: 17, color: '#8B97A8', lineHeight: 1.4 }}&gt;可审计的内容治理&lt;/Text&gt;&#10;                &lt;/Box&gt;&#10;            &lt;/Box&gt;&#10;        &lt;/Box&gt;&#10;&#10;        &lt;Box style={{ background: '#FFFFFF', borderRadius: 8, border: '1px solid #D6DCE5', padding: 13, flexDirection: 'row', gap: 16 }}&gt;&#10;            &lt;Box style={{ flex: 1, flexDirection: 'column', gap: 4 }}&gt;&#10;                &lt;Text style={{ fontSize: 20, fontWeight: 'bold', color: '#1E4FA8' }}&gt;闭环怎么转起来&lt;/Text&gt;&#10;                &lt;Text style={{ fontSize: 18, color: '#4A5568', lineHeight: 1.4 }}&gt;作答被批改 → 错因被标记 → 匹配或新建套路 → 写入巩固日历 → 生成针对性变式 → 再次校验。&lt;/Text&gt;&#10;            &lt;/Box&gt;&#10;            &lt;Box style={{ flex: 1, flexDirection: 'column', gap: 4 }}&gt;&#10;                &lt;Text style={{ fontSize: 20, fontWeight: 'bold', color: '#1E4FA8' }}&gt;当前边界&lt;/Text&gt;&#10;                &lt;Text style={{ fontSize: 18, color: '#4A5568', lineHeight: 1.4 }}&gt;教师端与学校端仍是规划，尚未实现班级作业、跨班学情与组织权限。&lt;/Text&gt;&#10;            &lt;/Box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23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05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作用：同一份数据，三种用法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学生产生的每一步数据，最终沉淀为三类不同的价值：个人画像、教学依据与研究材料。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381000" y="1181100"/>
            <a:ext cx="11430000" cy="904875"/>
          </a:xfrm>
          <a:prstGeom prst="roundRect">
            <a:avLst>
              <a:gd name="adj" fmla="val 84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533400" y="1333500"/>
            <a:ext cx="1238250" cy="600075"/>
          </a:xfrm>
          <a:prstGeom prst="roundRect">
            <a:avLst>
              <a:gd name="adj" fmla="val 95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33450" y="1504950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学生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924050" y="1333500"/>
            <a:ext cx="7581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拿到的不是「你错了」，而是错在哪一步、属于哪类原因、接下来该练什么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924050" y="1638300"/>
            <a:ext cx="7581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系统区分「不会」与「不稳」，按掌握状态安排复习；仿题只针对自己的错因生成。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9658350" y="1362075"/>
            <a:ext cx="2000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诊断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针对性变式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再校验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入库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81000" y="2752725"/>
            <a:ext cx="11430000" cy="904875"/>
          </a:xfrm>
          <a:prstGeom prst="roundRect">
            <a:avLst>
              <a:gd name="adj" fmla="val 84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533400" y="2905125"/>
            <a:ext cx="1238250" cy="600075"/>
          </a:xfrm>
          <a:prstGeom prst="roundRect">
            <a:avLst>
              <a:gd name="adj" fmla="val 952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33450" y="3076575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教师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924050" y="2905125"/>
            <a:ext cx="7581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逐题逐步骤批改，整卷的知识点与难度分布，以及可复核的异常清单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924050" y="3209925"/>
            <a:ext cx="7581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班级共性错因可直接定位到知识环节或方法选择，用于调整讲评重点。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9715500" y="3067050"/>
            <a:ext cx="19431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从批改机器转为成长管理者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381000" y="4324350"/>
            <a:ext cx="11430000" cy="904875"/>
          </a:xfrm>
          <a:prstGeom prst="roundRect">
            <a:avLst>
              <a:gd name="adj" fmla="val 842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533400" y="4476750"/>
            <a:ext cx="1238250" cy="600075"/>
          </a:xfrm>
          <a:prstGeom prst="roundRect">
            <a:avLst>
              <a:gd name="adj" fmla="val 952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33450" y="4648200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教研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924050" y="4476750"/>
            <a:ext cx="7581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套路目录与易混淆关系、试卷质量的量化指标、标注规范与版本追踪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924050" y="4781550"/>
            <a:ext cx="7581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内容审核、分歧仲裁与版本留痕，为后续建立评测集提供基础。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10363200" y="4638675"/>
            <a:ext cx="12954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可审计的内容治理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381000" y="5229225"/>
            <a:ext cx="114300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504825" y="5353050"/>
            <a:ext cx="551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闭环怎么转起来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04825" y="5619750"/>
            <a:ext cx="55149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作答被批改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错因被标记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匹配或新建套路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写入巩固日历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生成针对性变式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再次校验。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172200" y="5353050"/>
            <a:ext cx="551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当前边界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172200" y="5619750"/>
            <a:ext cx="55149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教师端与学校端仍是规划，尚未实现班级作业、跨班学情与组织权限。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15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18" name="" descr="&lt;Slide style={{ padding: 0, background: '#FFFFFF' }}&gt;&#10;    &lt;Box style={{ height: 72, background: '#1E4FA8', paddingLeft: 40, paddingRight: 40, justifyContent: 'center' }}&gt;&#10;        &lt;Text style={{ fontSize: 32, fontWeight: 'bold', color: '#FFFFFF' }}&gt;05 · 诚实边界与下一步&lt;/Text&gt;&#10;    &lt;/Box&gt;&#10;&#10;    &lt;Box style={{ flex: 1, paddingTop: 14, paddingBottom: 12, paddingLeft: 40, paddingRight: 40, justifyContent: 'space-between' }}&gt;&#10;        &lt;Text style={{ fontSize: 21, color: '#4A5568', lineHeight: 1.5 }}&gt;&#10;            把所有「还没做」的摊开讲：这个项目的可信度，恰恰来自它自己写下了待解决问题清单。&#10;        &lt;/Text&gt;&#10;&#10;        &lt;Box style={{ flexDirection: 'row', gap: 20, alignItems: 'stretch', flex: 1 }}&gt;&#10;            &lt;Box style={{ flex: 1, background: '#E8EFF8', borderRadius: 8, border: '1px solid #3D7BD9', padding: 16, justifyContent: 'space-between' }}&gt;&#10;                &lt;Box style={{ flexDirection: 'column', gap: 6 }}&gt;&#10;                    &lt;Text style={{ fontSize: 22, fontWeight: 'bold', color: '#0E3F8C' }}&gt;已完成&lt;/Text&gt;&#10;                    &lt;Text style={{ fontSize: 17, color: '#8B97A8', lineHeight: 1.4 }}&gt;框架已实现并跑通本地流程&lt;/Text&gt;&#10;                &lt;/Box&gt;&#10;                &lt;Box style={{ flexDirection: 'column', gap: 8 }}&gt;&#10;                    &lt;Box style={{ flexDirection: 'row', gap: 8 }}&gt;&#10;                        &lt;Box style={{ width: 7, height: 7, background: '#0E3F8C', marginTop: 7 }} /&gt;&#10;                        &lt;Text style={{ fontSize: 18, color: '#1A2230', flex: 1, lineHeight: 1.4 }}&gt;两次升维的评价框架与不可归约论证&lt;/Text&gt;&#10;                    &lt;/Box&gt;&#10;                    &lt;Box style={{ flexDirection: 'row', gap: 8 }}&gt;&#10;                        &lt;Box style={{ width: 7, height: 7, background: '#0E3F8C', marginTop: 7 }} /&gt;&#10;                        &lt;Text style={{ fontSize: 18, color: '#1A2230', flex: 1, lineHeight: 1.4 }}&gt;288 条套路目录，字段完整&lt;/Text&gt;&#10;                    &lt;/Box&gt;&#10;                    &lt;Box style={{ flexDirection: 'row', gap: 8 }}&gt;&#10;                        &lt;Box style={{ width: 7, height: 7, background: '#0E3F8C', marginTop: 7 }} /&gt;&#10;                        &lt;Text style={{ fontSize: 18, color: '#1A2230', flex: 1, lineHeight: 1.4 }}&gt;防幻觉约束与人工闸门已落到代码&lt;/Text&gt;&#10;                    &lt;/Box&gt;&#10;                    &lt;Box style={{ flexDirection: 'row', gap: 8 }}&gt;&#10;                        &lt;Box style={{ width: 7, height: 7, background: '#0E3F8C', marginTop: 7 }} /&gt;&#10;                        &lt;Text style={{ fontSize: 18, color: '#1A2230', flex: 1, lineHeight: 1.4 }}&gt;803 个自动化测试覆盖全部接口与模块&lt;/Text&gt;&#10;                    &lt;/Box&gt;&#10;                &lt;/Box&gt;&#10;                &lt;Box style={{ background: '#FFFFFF', borderRadius: 6, padding: 10 }}&gt;&#10;                    &lt;Text style={{ fontSize: 17, color: '#4A5568', lineHeight: 1.4 }}&gt;测试验证的是代码行为，不等于模型质量。&lt;/Text&gt;&#10;                &lt;/Box&gt;&#10;            &lt;/Box&gt;&#10;&#10;            &lt;Box style={{ flex: 1, background: '#F0F5FC', borderRadius: 8, border: '1px solid #D6DCE5', padding: 16, justifyContent: 'space-between' }}&gt;&#10;                &lt;Box style={{ flexDirection: 'column', gap: 6 }}&gt;&#10;                    &lt;Text style={{ fontSize: 22, fontWeight: 'bold', color: '#1A2230' }}&gt;尚未验证&lt;/Text&gt;&#10;                    &lt;Text style={{ fontSize: 17, color: '#8B97A8', lineHeight: 1.4 }}&gt;这些是研究计划，不是缺陷&lt;/Text&gt;&#10;                &lt;/Box&gt;&#10;                &lt;Box style={{ flexDirection: 'column', gap: 8 }}&gt;&#10;                    &lt;Box style={{ flexDirection: 'row', gap: 8 }}&gt;&#10;                        &lt;Box style={{ width: 7, height: 7, background: '#8B97A8', marginTop: 7 }} /&gt;&#10;                        &lt;Text style={{ fontSize: 18, color: '#4A5568', flex: 1, lineHeight: 1.4 }}&gt;没有独立封存的评测集，未做人工双标注一致性检验&lt;/Text&gt;&#10;                    &lt;/Box&gt;&#10;                    &lt;Box style={{ flexDirection: 'row', gap: 8 }}&gt;&#10;                        &lt;Box style={{ width: 7, height: 7, background: '#8B97A8', marginTop: 7 }} /&gt;&#10;                        &lt;Text style={{ fontSize: 18, color: '#4A5568', flex: 1, lineHeight: 1.4 }}&gt;没有真人试用，因此不作任何提分主张&lt;/Text&gt;&#10;                    &lt;/Box&gt;&#10;                    &lt;Box style={{ flexDirection: 'row', gap: 8 }}&gt;&#10;                        &lt;Box style={{ width: 7, height: 7, background: '#8B97A8', marginTop: 7 }} /&gt;&#10;                        &lt;Text style={{ fontSize: 18, color: '#4A5568', flex: 1, lineHeight: 1.4 }}&gt;试卷层框架尚未用真实整卷跑通，时间维度缺客观时间戳&lt;/Text&gt;&#10;                    &lt;/Box&gt;&#10;                    &lt;Box style={{ flexDirection: 'row', gap: 8 }}&gt;&#10;                        &lt;Box style={{ width: 7, height: 7, background: '#8B97A8', marginTop: 7 }} /&gt;&#10;                        &lt;Text style={{ fontSize: 18, color: '#4A5568', flex: 1, lineHeight: 1.4 }}&gt;内容落差：288 条目录对应 29 个母题，23,255 道候选对应 33 道入库&lt;/Text&gt;&#10;                    &lt;/Box&gt;&#10;                &lt;/Box&gt;&#10;                &lt;Box style={{ background: '#FFFFFF', borderRadius: 6, padding: 10 }}&gt;&#10;                    &lt;Text style={{ fontSize: 17, color: '#4A5568', lineHeight: 1.4 }}&gt;项目自审文档已列出十九项待解决问题。&lt;/Text&gt;&#10;                &lt;/Box&gt;&#10;            &lt;/Box&gt;&#10;        &lt;/Box&gt;&#10;&#10;        &lt;Box style={{ background: '#FFFFFF', borderRadius: 8, border: '1px solid #D6DCE5', padding: 14, flexDirection: 'column', gap: 9 }}&gt;&#10;            &lt;Text style={{ fontSize: 21, fontWeight: 'bold', color: '#1A2230' }}&gt;下一步&lt;/Text&gt;&#10;            &lt;Box style={{ flexDirection: 'row', gap: 10, alignItems: 'stretch' }}&gt;&#10;                &lt;Box style={{ flex: 1, background: '#F0F5FC', borderRadius: 6, padding: 11, flexDirection: 'column', gap: 3 }}&gt;&#10;                    &lt;Text style={{ fontSize: 18, fontWeight: 'bold', color: '#1E4FA8' }}&gt;2026 Q4&lt;/Text&gt;&#10;                    &lt;Text style={{ fontSize: 17, color: '#4A5568', lineHeight: 1.4 }}&gt;冻结目标目录，完成首批内容审核，统一标注规范&lt;/Text&gt;&#10;                &lt;/Box&gt;&#10;                &lt;Box style={{ width: 16, alignItems: 'center', justifyContent: 'center' }}&gt;&#10;                    &lt;Box style={{ width: 12, height: 3, background: '#3D7BD9' }} /&gt;&#10;                &lt;/Box&gt;&#10;                &lt;Box style={{ flex: 1, background: '#F0F5FC', borderRadius: 6, padding: 11, flexDirection: 'column', gap: 3 }}&gt;&#10;                    &lt;Text style={{ fontSize: 18, fontWeight: 'bold', color: '#1E4FA8' }}&gt;2027 Q1&lt;/Text&gt;&#10;                    &lt;Text style={{ fontSize: 17, color: '#4A5568', lineHeight: 1.4 }}&gt;建立标注手册，切分开发集与封存测试集&lt;/Text&gt;&#10;                &lt;/Box&gt;&#10;                &lt;Box style={{ width: 16, alignItems: 'center', justifyContent: 'center' }}&gt;&#10;                    &lt;Box style={{ width: 12, height: 3, background: '#3D7BD9' }} /&gt;&#10;                &lt;/Box&gt;&#10;                &lt;Box style={{ flex: 1, background: '#F0F5FC', borderRadius: 6, padding: 11, flexDirection: 'column', gap: 3 }}&gt;&#10;                    &lt;Text style={{ fontSize: 18, fontWeight: 'bold', color: '#1E4FA8' }}&gt;2027 Q2&lt;/Text&gt;&#10;                    &lt;Text style={{ fontSize: 17, color: '#4A5568', lineHeight: 1.4 }}&gt;开放接口与专用智能体，小规模受控试用&lt;/Text&gt;&#10;                &lt;/Box&gt;&#10;                &lt;Box style={{ width: 16, alignItems: 'center', justifyContent: 'center' }}&gt;&#10;                    &lt;Box style={{ width: 12, height: 3, background: '#3D7BD9' }} /&gt;&#10;                &lt;/Box&gt;&#10;                &lt;Box style={{ flex: 1, background: '#E8EFF8', borderRadius: 6, padding: 11, flexDirection: 'column', gap: 3 }}&gt;&#10;                    &lt;Text style={{ fontSize: 18, fontWeight: 'bold', color: '#0E3F8C' }}&gt;2027 Q3&lt;/Text&gt;&#10;                    &lt;Text style={{ fontSize: 17, color: '#4A5568', lineHeight: 1.4 }}&gt;真人试用、实验分析、结题与论文&lt;/Text&gt;&#10;                &lt;/Box&gt;&#10;            &lt;/Box&gt;&#10;        &lt;/Box&gt;&#10;    &lt;/Box&gt;&#10;&#10;    &lt;Box style={{ height: 44, paddingLeft: 40, paddingRight: 40, flexDirection: 'row', justifyContent: 'space-between', alignItems: 'center', background: '#F7F9FC', borderTop: '1px solid #E5E7EB' }}&gt;&#10;        &lt;Text style={{ fontSize: 14, color: '#8B97A8' }}&gt;高中数学 AI 学习系统 · 技术框架汇报&lt;/Text&gt;&#10;        &lt;Text style={{ fontSize: 15, color: '#1E4FA8' }}&gt;24 / 2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05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诚实边界与下一步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381000" y="819150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把所有「还没做」的摊开讲：这个项目的可信度，恰恰来自它自己写下了待解决问题清单。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381000" y="1181100"/>
            <a:ext cx="5619750" cy="3543300"/>
          </a:xfrm>
          <a:prstGeom prst="roundRect">
            <a:avLst>
              <a:gd name="adj" fmla="val 2151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33400" y="164782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框架已实现并跑通本地流程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533400" y="2381250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76275" y="2314575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两次升维的评价框架与不可归约论证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533400" y="2752725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76275" y="2686050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条套路目录，字段完整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533400" y="3124200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76275" y="3057525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防幻觉约束与人工闸门已落到代码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533400" y="3495675"/>
            <a:ext cx="66675" cy="6667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76275" y="3429000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803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个自动化测试覆盖全部接口与模块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533400" y="4105275"/>
            <a:ext cx="5314950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28650" y="4200525"/>
            <a:ext cx="5124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测试验证的是代码行为，不等于模型质量。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191250" y="1181100"/>
            <a:ext cx="5619750" cy="3543300"/>
          </a:xfrm>
          <a:prstGeom prst="roundRect">
            <a:avLst>
              <a:gd name="adj" fmla="val 215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343650" y="1333500"/>
            <a:ext cx="5314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尚未验证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343650" y="1647825"/>
            <a:ext cx="53149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这些是研究计划，不是缺陷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343650" y="2238375"/>
            <a:ext cx="66675" cy="666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486525" y="2171700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没有独立封存的评测集，未做人工双标注一致性检验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343650" y="2609850"/>
            <a:ext cx="66675" cy="666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486525" y="2543175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没有真人试用，因此不作任何提分主张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343650" y="2981325"/>
            <a:ext cx="66675" cy="666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486525" y="2914650"/>
            <a:ext cx="51720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试卷层框架尚未用真实整卷跑通，时间维度缺客观时间戳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343650" y="3352800"/>
            <a:ext cx="66675" cy="66675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486525" y="3286125"/>
            <a:ext cx="51720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内容落差：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条目录对应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29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个母题，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23,255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道候选对应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33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道入库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343650" y="4105275"/>
            <a:ext cx="5314950" cy="466725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438900" y="4200525"/>
            <a:ext cx="51244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项目自审文档已列出十九项待解决问题。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381000" y="4724400"/>
            <a:ext cx="114300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514350" y="4857750"/>
            <a:ext cx="11163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514350" y="5191125"/>
            <a:ext cx="2533650" cy="1000125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19125" y="52959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2026 Q4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19125" y="5534025"/>
            <a:ext cx="232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冻结目标目录，完成首批内容审核，统一标注规范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3162300" y="5676900"/>
            <a:ext cx="1143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3390900" y="5191125"/>
            <a:ext cx="2533650" cy="1000125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495675" y="52959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2027 Q1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3495675" y="5534025"/>
            <a:ext cx="232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建立标注手册，切分开发集与封存测试集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6038850" y="5676900"/>
            <a:ext cx="1143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267450" y="5191125"/>
            <a:ext cx="2533650" cy="1000125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372225" y="52959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2027 Q2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372225" y="5534025"/>
            <a:ext cx="232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开放接口与专用智能体，小规模受控试用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8915400" y="5676900"/>
            <a:ext cx="1143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9144000" y="5191125"/>
            <a:ext cx="2533650" cy="1000125"/>
          </a:xfrm>
          <a:prstGeom prst="roundRect">
            <a:avLst>
              <a:gd name="adj" fmla="val 5714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248775" y="529590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2027 Q3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9248775" y="5534025"/>
            <a:ext cx="2324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真人试用、实验分析、结题与论文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0" y="6448425"/>
            <a:ext cx="12192000" cy="4095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0" y="6438900"/>
            <a:ext cx="12192000" cy="419100"/>
          </a:xfrm>
          <a:custGeom>
            <a:pathLst>
              <a:path w="1280" h="4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81000" y="65722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高中数学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学习系统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技术框架汇报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1372850" y="65722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2026-10-24T04:18:32Z</dcterms:created>
  <dcterms:modified xsi:type="dcterms:W3CDTF">2026-10-24T04:18:32Z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{"AIGC":{"Label":"1","ContentProducer":"00119111010856365494821B355","ProduceID":"01a16a499a4f7c9083af39092903475a","ReservedCode1":"","ContentPropagator":"00119111010856365494821B355","PropagateID":"01a16a499a4f7c9083af39092903475a","ReservedCode2":""}}</vt:lpwstr>
  </property>
</Properties>
</file>