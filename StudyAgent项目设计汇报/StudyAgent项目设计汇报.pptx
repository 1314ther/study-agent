
<file path=[Content_Types].xml><?xml version="1.0" encoding="utf-8"?>
<Types xmlns="http://schemas.openxmlformats.org/package/2006/content-types">
  <Default Extension="svg" ContentType="image/svg+xml"/>
  <Default Extension="xml" ContentType="application/xml"/>
  <Default Extension="rels" ContentType="application/vnd.openxmlformats-package.relationships+xml"/>
  <Override PartName="/ppt/slides/slide93.xml" ContentType="application/vnd.openxmlformats-officedocument.presentationml.slide+xml"/>
  <Override PartName="/ppt/slides/slide74.xml" ContentType="application/vnd.openxmlformats-officedocument.presentationml.slide+xml"/>
  <Override PartName="/ppt/slides/slide101.xml" ContentType="application/vnd.openxmlformats-officedocument.presentationml.slide+xml"/>
  <Override PartName="/ppt/slides/slide109.xml" ContentType="application/vnd.openxmlformats-officedocument.presentationml.slide+xml"/>
  <Override PartName="/ppt/slides/slide92.xml" ContentType="application/vnd.openxmlformats-officedocument.presentationml.slide+xml"/>
  <Override PartName="/ppt/slides/slide105.xml" ContentType="application/vnd.openxmlformats-officedocument.presentationml.slide+xml"/>
  <Override PartName="/ppt/slides/slide103.xml" ContentType="application/vnd.openxmlformats-officedocument.presentationml.slide+xml"/>
  <Override PartName="/ppt/slides/slide68.xml" ContentType="application/vnd.openxmlformats-officedocument.presentationml.slide+xml"/>
  <Override PartName="/ppt/slides/slide120.xml" ContentType="application/vnd.openxmlformats-officedocument.presentationml.slide+xml"/>
  <Override PartName="/ppt/slides/slide60.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slides/slide106.xml" ContentType="application/vnd.openxmlformats-officedocument.presentationml.slide+xml"/>
  <Override PartName="/ppt/slides/slide24.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s/slide6.xml" ContentType="application/vnd.openxmlformats-officedocument.presentationml.slide+xml"/>
  <Override PartName="/ppt/slides/slide115.xml" ContentType="application/vnd.openxmlformats-officedocument.presentationml.slide+xml"/>
  <Override PartName="/ppt/slides/slide33.xml" ContentType="application/vnd.openxmlformats-officedocument.presentationml.slide+xml"/>
  <Override PartName="/ppt/slides/slide17.xml" ContentType="application/vnd.openxmlformats-officedocument.presentationml.slide+xml"/>
  <Override PartName="/ppt/slides/slide102.xml" ContentType="application/vnd.openxmlformats-officedocument.presentationml.slide+xml"/>
  <Override PartName="/ppt/slides/slide90.xml" ContentType="application/vnd.openxmlformats-officedocument.presentationml.slide+xml"/>
  <Override PartName="/ppt/slides/slide15.xml" ContentType="application/vnd.openxmlformats-officedocument.presentationml.slide+xml"/>
  <Override PartName="/ppt/presentation.xml" ContentType="application/vnd.openxmlformats-officedocument.presentationml.presentation.main+xml"/>
  <Override PartName="/ppt/slides/slide40.xml" ContentType="application/vnd.openxmlformats-officedocument.presentationml.slide+xml"/>
  <Override PartName="/ppt/slides/slide52.xml" ContentType="application/vnd.openxmlformats-officedocument.presentationml.slide+xml"/>
  <Override PartName="/ppt/slides/slide19.xml" ContentType="application/vnd.openxmlformats-officedocument.presentationml.slide+xml"/>
  <Override PartName="/ppt/viewProps.xml" ContentType="application/vnd.openxmlformats-officedocument.presentationml.viewProps+xml"/>
  <Override PartName="/ppt/slides/slide13.xml" ContentType="application/vnd.openxmlformats-officedocument.presentationml.slide+xml"/>
  <Override PartName="/ppt/presProps.xml" ContentType="application/vnd.openxmlformats-officedocument.presentationml.presProps+xml"/>
  <Override PartName="/ppt/slides/slide124.xml" ContentType="application/vnd.openxmlformats-officedocument.presentationml.slide+xml"/>
  <Override PartName="/ppt/slides/slide10.xml" ContentType="application/vnd.openxmlformats-officedocument.presentationml.slide+xml"/>
  <Override PartName="/ppt/slides/slide118.xml" ContentType="application/vnd.openxmlformats-officedocument.presentationml.slide+xml"/>
  <Override PartName="/ppt/slides/slide87.xml" ContentType="application/vnd.openxmlformats-officedocument.presentationml.slide+xml"/>
  <Override PartName="/ppt/slideLayouts/slideLayout1.xml" ContentType="application/vnd.openxmlformats-officedocument.presentationml.slideLayout+xml"/>
  <Override PartName="/ppt/slides/slide104.xml" ContentType="application/vnd.openxmlformats-officedocument.presentationml.slide+xml"/>
  <Override PartName="/ppt/slides/slide99.xml" ContentType="application/vnd.openxmlformats-officedocument.presentationml.slide+xml"/>
  <Override PartName="/ppt/slides/slide27.xml" ContentType="application/vnd.openxmlformats-officedocument.presentationml.slide+xml"/>
  <Override PartName="/ppt/slides/slide73.xml" ContentType="application/vnd.openxmlformats-officedocument.presentationml.slide+xml"/>
  <Override PartName="/ppt/slides/slide39.xml" ContentType="application/vnd.openxmlformats-officedocument.presentationml.slide+xml"/>
  <Override PartName="/ppt/slides/slide76.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1.xml" ContentType="application/vnd.openxmlformats-officedocument.presentationml.slide+xml"/>
  <Override PartName="/ppt/slides/slide37.xml" ContentType="application/vnd.openxmlformats-officedocument.presentationml.slide+xml"/>
  <Override PartName="/ppt/slides/slide117.xml" ContentType="application/vnd.openxmlformats-officedocument.presentationml.slide+xml"/>
  <Override PartName="/ppt/slides/slide121.xml" ContentType="application/vnd.openxmlformats-officedocument.presentationml.slide+xml"/>
  <Override PartName="/ppt/slides/slide84.xml" ContentType="application/vnd.openxmlformats-officedocument.presentationml.slide+xml"/>
  <Override PartName="/ppt/slides/slide61.xml" ContentType="application/vnd.openxmlformats-officedocument.presentationml.slide+xml"/>
  <Override PartName="/ppt/slides/slide46.xml" ContentType="application/vnd.openxmlformats-officedocument.presentationml.slide+xml"/>
  <Override PartName="/ppt/slides/slide77.xml" ContentType="application/vnd.openxmlformats-officedocument.presentationml.slide+xml"/>
  <Override PartName="/ppt/slides/slide91.xml" ContentType="application/vnd.openxmlformats-officedocument.presentationml.slide+xml"/>
  <Override PartName="/ppt/slides/slide32.xml" ContentType="application/vnd.openxmlformats-officedocument.presentationml.slide+xml"/>
  <Override PartName="/ppt/slides/slide86.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theme/theme2.xml" ContentType="application/vnd.openxmlformats-officedocument.theme+xml"/>
  <Override PartName="/ppt/slides/slide45.xml" ContentType="application/vnd.openxmlformats-officedocument.presentationml.slide+xml"/>
  <Override PartName="/ppt/slides/slide75.xml" ContentType="application/vnd.openxmlformats-officedocument.presentationml.slide+xml"/>
  <Override PartName="/ppt/slides/slide110.xml" ContentType="application/vnd.openxmlformats-officedocument.presentationml.slide+xml"/>
  <Override PartName="/ppt/slides/slide78.xml" ContentType="application/vnd.openxmlformats-officedocument.presentationml.slide+xml"/>
  <Override PartName="/ppt/slides/slide65.xml" ContentType="application/vnd.openxmlformats-officedocument.presentationml.slide+xml"/>
  <Override PartName="/ppt/slides/slide42.xml" ContentType="application/vnd.openxmlformats-officedocument.presentationml.slide+xml"/>
  <Override PartName="/ppt/slides/slide97.xml" ContentType="application/vnd.openxmlformats-officedocument.presentationml.slide+xml"/>
  <Override PartName="/ppt/slides/slide5.xml" ContentType="application/vnd.openxmlformats-officedocument.presentationml.slide+xml"/>
  <Override PartName="/ppt/slides/slide96.xml" ContentType="application/vnd.openxmlformats-officedocument.presentationml.slide+xml"/>
  <Override PartName="/ppt/slides/slide47.xml" ContentType="application/vnd.openxmlformats-officedocument.presentationml.slide+xml"/>
  <Override PartName="/ppt/slides/slide54.xml" ContentType="application/vnd.openxmlformats-officedocument.presentationml.slide+xml"/>
  <Override PartName="/ppt/slides/slide122.xml" ContentType="application/vnd.openxmlformats-officedocument.presentationml.slide+xml"/>
  <Override PartName="/ppt/slides/slide50.xml" ContentType="application/vnd.openxmlformats-officedocument.presentationml.slide+xml"/>
  <Override PartName="/ppt/slides/slide22.xml" ContentType="application/vnd.openxmlformats-officedocument.presentationml.slide+xml"/>
  <Override PartName="/ppt/slides/slide7.xml" ContentType="application/vnd.openxmlformats-officedocument.presentationml.slide+xml"/>
  <Override PartName="/ppt/slides/slide4.xml" ContentType="application/vnd.openxmlformats-officedocument.presentationml.slide+xml"/>
  <Override PartName="/ppt/slides/slide57.xml" ContentType="application/vnd.openxmlformats-officedocument.presentationml.slide+xml"/>
  <Override PartName="/ppt/slides/slide114.xml" ContentType="application/vnd.openxmlformats-officedocument.presentationml.slide+xml"/>
  <Override PartName="/ppt/slides/slide55.xml" ContentType="application/vnd.openxmlformats-officedocument.presentationml.slide+xml"/>
  <Override PartName="/ppt/slides/slide113.xml" ContentType="application/vnd.openxmlformats-officedocument.presentationml.slide+xml"/>
  <Override PartName="/ppt/slides/slide80.xml" ContentType="application/vnd.openxmlformats-officedocument.presentationml.slide+xml"/>
  <Override PartName="/ppt/slides/slide53.xml" ContentType="application/vnd.openxmlformats-officedocument.presentationml.slide+xml"/>
  <Override PartName="/ppt/slides/slide123.xml" ContentType="application/vnd.openxmlformats-officedocument.presentationml.slide+xml"/>
  <Override PartName="/ppt/slides/slide108.xml" ContentType="application/vnd.openxmlformats-officedocument.presentationml.slide+xml"/>
  <Override PartName="/ppt/slides/slide89.xml" ContentType="application/vnd.openxmlformats-officedocument.presentationml.slide+xml"/>
  <Override PartName="/ppt/slides/slide107.xml" ContentType="application/vnd.openxmlformats-officedocument.presentationml.slide+xml"/>
  <Override PartName="/ppt/slides/slide83.xml" ContentType="application/vnd.openxmlformats-officedocument.presentationml.slide+xml"/>
  <Override PartName="/ppt/slides/slide56.xml" ContentType="application/vnd.openxmlformats-officedocument.presentationml.slide+xml"/>
  <Override PartName="/ppt/slides/slide16.xml" ContentType="application/vnd.openxmlformats-officedocument.presentationml.slide+xml"/>
  <Override PartName="/ppt/slides/slide31.xml" ContentType="application/vnd.openxmlformats-officedocument.presentationml.slide+xml"/>
  <Override PartName="/ppt/slides/slide48.xml" ContentType="application/vnd.openxmlformats-officedocument.presentationml.slide+xml"/>
  <Override PartName="/ppt/slides/slide8.xml" ContentType="application/vnd.openxmlformats-officedocument.presentationml.slide+xml"/>
  <Override PartName="/ppt/slides/slide23.xml" ContentType="application/vnd.openxmlformats-officedocument.presentationml.slide+xml"/>
  <Override PartName="/ppt/slides/slide116.xml" ContentType="application/vnd.openxmlformats-officedocument.presentationml.slide+xml"/>
  <Override PartName="/ppt/slides/slide59.xml" ContentType="application/vnd.openxmlformats-officedocument.presentationml.slide+xml"/>
  <Override PartName="/ppt/slides/slide34.xml" ContentType="application/vnd.openxmlformats-officedocument.presentationml.slide+xml"/>
  <Override PartName="/ppt/slides/slide88.xml" ContentType="application/vnd.openxmlformats-officedocument.presentationml.slide+xml"/>
  <Override PartName="/ppt/slides/slide14.xml" ContentType="application/vnd.openxmlformats-officedocument.presentationml.slide+xml"/>
  <Override PartName="/ppt/slides/slide67.xml" ContentType="application/vnd.openxmlformats-officedocument.presentationml.slide+xml"/>
  <Override PartName="/ppt/slides/slide81.xml" ContentType="application/vnd.openxmlformats-officedocument.presentationml.slide+xml"/>
  <Override PartName="/ppt/slides/slide49.xml" ContentType="application/vnd.openxmlformats-officedocument.presentationml.slide+xml"/>
  <Override PartName="/ppt/slides/slide63.xml" ContentType="application/vnd.openxmlformats-officedocument.presentationml.slide+xml"/>
  <Override PartName="/ppt/slides/slide111.xml" ContentType="application/vnd.openxmlformats-officedocument.presentationml.slide+xml"/>
  <Override PartName="/ppt/slides/slide70.xml" ContentType="application/vnd.openxmlformats-officedocument.presentationml.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25.xml" ContentType="application/vnd.openxmlformats-officedocument.presentationml.slide+xml"/>
  <Override PartName="/ppt/slides/slide69.xml" ContentType="application/vnd.openxmlformats-officedocument.presentationml.slide+xml"/>
  <Override PartName="/ppt/slides/slide66.xml" ContentType="application/vnd.openxmlformats-officedocument.presentationml.slide+xml"/>
  <Override PartName="/ppt/slides/slide71.xml" ContentType="application/vnd.openxmlformats-officedocument.presentationml.slide+xml"/>
  <Override PartName="/ppt/slides/slide2.xml" ContentType="application/vnd.openxmlformats-officedocument.presentationml.slide+xml"/>
  <Override PartName="/ppt/slides/slide98.xml" ContentType="application/vnd.openxmlformats-officedocument.presentationml.slide+xml"/>
  <Override PartName="/ppt/slides/slide26.xml" ContentType="application/vnd.openxmlformats-officedocument.presentationml.slide+xml"/>
  <Override PartName="/docProps/custom.xml" ContentType="application/vnd.openxmlformats-officedocument.custom-properties+xml"/>
  <Override PartName="/ppt/slides/slide28.xml" ContentType="application/vnd.openxmlformats-officedocument.presentationml.slide+xml"/>
  <Override PartName="/ppt/slides/slide44.xml" ContentType="application/vnd.openxmlformats-officedocument.presentationml.slide+xml"/>
  <Override PartName="/ppt/slides/slide51.xml" ContentType="application/vnd.openxmlformats-officedocument.presentationml.slide+xml"/>
  <Override PartName="/ppt/slides/slide82.xml" ContentType="application/vnd.openxmlformats-officedocument.presentationml.slide+xml"/>
  <Override PartName="/ppt/slides/slide64.xml" ContentType="application/vnd.openxmlformats-officedocument.presentationml.slide+xml"/>
  <Override PartName="/ppt/slides/slide20.xml" ContentType="application/vnd.openxmlformats-officedocument.presentationml.slide+xml"/>
  <Override PartName="/ppt/slides/slide43.xml" ContentType="application/vnd.openxmlformats-officedocument.presentationml.slide+xml"/>
  <Override PartName="/ppt/slides/slide85.xml" ContentType="application/vnd.openxmlformats-officedocument.presentationml.slide+xml"/>
  <Override PartName="/docProps/app.xml" ContentType="application/vnd.openxmlformats-officedocument.extended-properties+xml"/>
  <Override PartName="/ppt/slides/slide119.xml" ContentType="application/vnd.openxmlformats-officedocument.presentationml.slide+xml"/>
  <Override PartName="/ppt/slides/slide58.xml" ContentType="application/vnd.openxmlformats-officedocument.presentationml.slide+xml"/>
  <Override PartName="/ppt/slides/slide9.xml" ContentType="application/vnd.openxmlformats-officedocument.presentationml.slide+xml"/>
  <Override PartName="/ppt/slides/slide1.xml" ContentType="application/vnd.openxmlformats-officedocument.presentationml.slide+xml"/>
  <Override PartName="/ppt/slides/slide41.xml" ContentType="application/vnd.openxmlformats-officedocument.presentationml.slide+xml"/>
  <Override PartName="/ppt/slides/slide95.xml" ContentType="application/vnd.openxmlformats-officedocument.presentationml.slide+xml"/>
  <Override PartName="/docProps/core.xml" ContentType="application/vnd.openxmlformats-package.core-properties+xml"/>
  <Override PartName="/ppt/slides/slide94.xml" ContentType="application/vnd.openxmlformats-officedocument.presentationml.slide+xml"/>
  <Override PartName="/ppt/slides/slide62.xml" ContentType="application/vnd.openxmlformats-officedocument.presentationml.slide+xml"/>
  <Override PartName="/ppt/slides/slide38.xml" ContentType="application/vnd.openxmlformats-officedocument.presentationml.slide+xml"/>
  <Override PartName="/ppt/slides/slide18.xml" ContentType="application/vnd.openxmlformats-officedocument.presentationml.slide+xml"/>
  <Override PartName="/ppt/slides/slide79.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Types>
</file>

<file path=_rels/.rels><?xml version="1.0" encoding="UTF-8" standalone="yes"?><Relationships xmlns="http://schemas.openxmlformats.org/package/2006/relationships"><Relationship Id="rId3" Type="http://schemas.openxmlformats.org/officeDocument/2006/relationships/custom-properties" Target="docProps/custom.xml" /><Relationship Id="rId2" Type="http://schemas.openxmlformats.org/officeDocument/2006/relationships/extended-properties" Target="docProps/app.xml" /><Relationship Id="rId1" Type="http://schemas.openxmlformats.org/package/2006/relationships/metadata/core-properties" Target="docProps/core.xml" /><Relationship Id="rId0" Type="http://schemas.openxmlformats.org/officeDocument/2006/relationships/officeDocument" Target="ppt/presentation.xml" /></Relationships>
</file>

<file path=ppt/presentation.xml><?xml version="1.0" encoding="utf-8"?>
<p:presentation xmlns:r="http://schemas.openxmlformats.org/officeDocument/2006/relationships" xmlns:p="http://schemas.openxmlformats.org/presentationml/2006/main" xmlns:a="http://schemas.openxmlformats.org/drawingml/2006/main" firstSlideNum="1">
  <p:sldMasterIdLst>
    <p:sldMasterId id="2147483648" r:id="rId0"/>
  </p:sldMasterIdLst>
  <p:notesMasterIdLst>
    <p:notesMasterId r:id="rId125"/>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370" r:id="rId115"/>
    <p:sldId id="371" r:id="rId116"/>
    <p:sldId id="372" r:id="rId117"/>
    <p:sldId id="373" r:id="rId118"/>
    <p:sldId id="374" r:id="rId119"/>
    <p:sldId id="375" r:id="rId120"/>
    <p:sldId id="376" r:id="rId121"/>
    <p:sldId id="377" r:id="rId122"/>
    <p:sldId id="378" r:id="rId123"/>
    <p:sldId id="379" r:id="rId1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97" Type="http://schemas.openxmlformats.org/officeDocument/2006/relationships/slide" Target="slides/slide97.xml" /><Relationship Id="rId95" Type="http://schemas.openxmlformats.org/officeDocument/2006/relationships/slide" Target="slides/slide95.xml" /><Relationship Id="rId91" Type="http://schemas.openxmlformats.org/officeDocument/2006/relationships/slide" Target="slides/slide91.xml" /><Relationship Id="rId90" Type="http://schemas.openxmlformats.org/officeDocument/2006/relationships/slide" Target="slides/slide90.xml" /><Relationship Id="rId9" Type="http://schemas.openxmlformats.org/officeDocument/2006/relationships/slide" Target="slides/slide9.xml" /><Relationship Id="rId89" Type="http://schemas.openxmlformats.org/officeDocument/2006/relationships/slide" Target="slides/slide89.xml" /><Relationship Id="rId88" Type="http://schemas.openxmlformats.org/officeDocument/2006/relationships/slide" Target="slides/slide88.xml" /><Relationship Id="rId85" Type="http://schemas.openxmlformats.org/officeDocument/2006/relationships/slide" Target="slides/slide85.xml" /><Relationship Id="rId84" Type="http://schemas.openxmlformats.org/officeDocument/2006/relationships/slide" Target="slides/slide84.xml" /><Relationship Id="rId83" Type="http://schemas.openxmlformats.org/officeDocument/2006/relationships/slide" Target="slides/slide83.xml" /><Relationship Id="rId82" Type="http://schemas.openxmlformats.org/officeDocument/2006/relationships/slide" Target="slides/slide82.xml" /><Relationship Id="rId98" Type="http://schemas.openxmlformats.org/officeDocument/2006/relationships/slide" Target="slides/slide98.xml" /><Relationship Id="rId80" Type="http://schemas.openxmlformats.org/officeDocument/2006/relationships/slide" Target="slides/slide80.xml" /><Relationship Id="rId8" Type="http://schemas.openxmlformats.org/officeDocument/2006/relationships/slide" Target="slides/slide8.xml" /><Relationship Id="rId79" Type="http://schemas.openxmlformats.org/officeDocument/2006/relationships/slide" Target="slides/slide79.xml" /><Relationship Id="rId73" Type="http://schemas.openxmlformats.org/officeDocument/2006/relationships/slide" Target="slides/slide73.xml" /><Relationship Id="rId71" Type="http://schemas.openxmlformats.org/officeDocument/2006/relationships/slide" Target="slides/slide71.xml" /><Relationship Id="rId70" Type="http://schemas.openxmlformats.org/officeDocument/2006/relationships/slide" Target="slides/slide70.xml" /><Relationship Id="rId69" Type="http://schemas.openxmlformats.org/officeDocument/2006/relationships/slide" Target="slides/slide69.xml" /><Relationship Id="rId67" Type="http://schemas.openxmlformats.org/officeDocument/2006/relationships/slide" Target="slides/slide67.xml" /><Relationship Id="rId66" Type="http://schemas.openxmlformats.org/officeDocument/2006/relationships/slide" Target="slides/slide66.xml" /><Relationship Id="rId64" Type="http://schemas.openxmlformats.org/officeDocument/2006/relationships/slide" Target="slides/slide64.xml" /><Relationship Id="rId44" Type="http://schemas.openxmlformats.org/officeDocument/2006/relationships/slide" Target="slides/slide44.xml" /><Relationship Id="rId63" Type="http://schemas.openxmlformats.org/officeDocument/2006/relationships/slide" Target="slides/slide63.xml" /><Relationship Id="rId62" Type="http://schemas.openxmlformats.org/officeDocument/2006/relationships/slide" Target="slides/slide62.xml" /><Relationship Id="rId56" Type="http://schemas.openxmlformats.org/officeDocument/2006/relationships/slide" Target="slides/slide56.xml" /><Relationship Id="rId61" Type="http://schemas.openxmlformats.org/officeDocument/2006/relationships/slide" Target="slides/slide61.xml" /><Relationship Id="rId59" Type="http://schemas.openxmlformats.org/officeDocument/2006/relationships/slide" Target="slides/slide59.xml" /><Relationship Id="rId57" Type="http://schemas.openxmlformats.org/officeDocument/2006/relationships/slide" Target="slides/slide57.xml" /><Relationship Id="rId21" Type="http://schemas.openxmlformats.org/officeDocument/2006/relationships/slide" Target="slides/slide21.xml" /><Relationship Id="rId55" Type="http://schemas.openxmlformats.org/officeDocument/2006/relationships/slide" Target="slides/slide55.xml" /><Relationship Id="rId5" Type="http://schemas.openxmlformats.org/officeDocument/2006/relationships/slide" Target="slides/slide5.xml" /><Relationship Id="rId53" Type="http://schemas.openxmlformats.org/officeDocument/2006/relationships/slide" Target="slides/slide53.xml" /><Relationship Id="rId51" Type="http://schemas.openxmlformats.org/officeDocument/2006/relationships/slide" Target="slides/slide51.xml" /><Relationship Id="rId50" Type="http://schemas.openxmlformats.org/officeDocument/2006/relationships/slide" Target="slides/slide50.xml" /><Relationship Id="rId107" Type="http://schemas.openxmlformats.org/officeDocument/2006/relationships/slide" Target="slides/slide107.xml" /><Relationship Id="rId122" Type="http://schemas.openxmlformats.org/officeDocument/2006/relationships/slide" Target="slides/slide122.xml" /><Relationship Id="rId48" Type="http://schemas.openxmlformats.org/officeDocument/2006/relationships/slide" Target="slides/slide48.xml" /><Relationship Id="rId45" Type="http://schemas.openxmlformats.org/officeDocument/2006/relationships/slide" Target="slides/slide45.xml" /><Relationship Id="rId47" Type="http://schemas.openxmlformats.org/officeDocument/2006/relationships/slide" Target="slides/slide47.xml" /><Relationship Id="rId96" Type="http://schemas.openxmlformats.org/officeDocument/2006/relationships/slide" Target="slides/slide96.xml" /><Relationship Id="rId13" Type="http://schemas.openxmlformats.org/officeDocument/2006/relationships/slide" Target="slides/slide13.xml" /><Relationship Id="rId43" Type="http://schemas.openxmlformats.org/officeDocument/2006/relationships/slide" Target="slides/slide43.xml" /><Relationship Id="rId42" Type="http://schemas.openxmlformats.org/officeDocument/2006/relationships/slide" Target="slides/slide42.xml" /><Relationship Id="rId78" Type="http://schemas.openxmlformats.org/officeDocument/2006/relationships/slide" Target="slides/slide78.xml" /><Relationship Id="rId41" Type="http://schemas.openxmlformats.org/officeDocument/2006/relationships/slide" Target="slides/slide41.xml" /><Relationship Id="rId4" Type="http://schemas.openxmlformats.org/officeDocument/2006/relationships/slide" Target="slides/slide4.xml" /><Relationship Id="rId37" Type="http://schemas.openxmlformats.org/officeDocument/2006/relationships/slide" Target="slides/slide37.xml" /><Relationship Id="rId94" Type="http://schemas.openxmlformats.org/officeDocument/2006/relationships/slide" Target="slides/slide94.xml" /><Relationship Id="rId36" Type="http://schemas.openxmlformats.org/officeDocument/2006/relationships/slide" Target="slides/slide36.xml" /><Relationship Id="rId35" Type="http://schemas.openxmlformats.org/officeDocument/2006/relationships/slide" Target="slides/slide35.xml" /><Relationship Id="rId34" Type="http://schemas.openxmlformats.org/officeDocument/2006/relationships/slide" Target="slides/slide34.xml" /><Relationship Id="rId32" Type="http://schemas.openxmlformats.org/officeDocument/2006/relationships/slide" Target="slides/slide32.xml" /><Relationship Id="rId7" Type="http://schemas.openxmlformats.org/officeDocument/2006/relationships/slide" Target="slides/slide7.xml" /><Relationship Id="rId46" Type="http://schemas.openxmlformats.org/officeDocument/2006/relationships/slide" Target="slides/slide46.xml" /><Relationship Id="rId117" Type="http://schemas.openxmlformats.org/officeDocument/2006/relationships/slide" Target="slides/slide117.xml" /><Relationship Id="rId31" Type="http://schemas.openxmlformats.org/officeDocument/2006/relationships/slide" Target="slides/slide31.xml" /><Relationship Id="rId54" Type="http://schemas.openxmlformats.org/officeDocument/2006/relationships/slide" Target="slides/slide54.xml" /><Relationship Id="rId30" Type="http://schemas.openxmlformats.org/officeDocument/2006/relationships/slide" Target="slides/slide30.xml" /><Relationship Id="rId123" Type="http://schemas.openxmlformats.org/officeDocument/2006/relationships/slide" Target="slides/slide123.xml" /><Relationship Id="rId33" Type="http://schemas.openxmlformats.org/officeDocument/2006/relationships/slide" Target="slides/slide33.xml" /><Relationship Id="rId76" Type="http://schemas.openxmlformats.org/officeDocument/2006/relationships/slide" Target="slides/slide76.xml" /><Relationship Id="rId28" Type="http://schemas.openxmlformats.org/officeDocument/2006/relationships/slide" Target="slides/slide28.xml" /><Relationship Id="rId26" Type="http://schemas.openxmlformats.org/officeDocument/2006/relationships/slide" Target="slides/slide26.xml" /><Relationship Id="rId39" Type="http://schemas.openxmlformats.org/officeDocument/2006/relationships/slide" Target="slides/slide39.xml" /><Relationship Id="rId27" Type="http://schemas.openxmlformats.org/officeDocument/2006/relationships/slide" Target="slides/slide27.xml" /><Relationship Id="rId118" Type="http://schemas.openxmlformats.org/officeDocument/2006/relationships/slide" Target="slides/slide118.xml" /><Relationship Id="rId23" Type="http://schemas.openxmlformats.org/officeDocument/2006/relationships/slide" Target="slides/slide23.xml" /><Relationship Id="rId99" Type="http://schemas.openxmlformats.org/officeDocument/2006/relationships/slide" Target="slides/slide99.xml" /><Relationship Id="rId18" Type="http://schemas.openxmlformats.org/officeDocument/2006/relationships/slide" Target="slides/slide18.xml" /><Relationship Id="rId75" Type="http://schemas.openxmlformats.org/officeDocument/2006/relationships/slide" Target="slides/slide75.xml" /><Relationship Id="rId10" Type="http://schemas.openxmlformats.org/officeDocument/2006/relationships/slide" Target="slides/slide10.xml" /><Relationship Id="rId22" Type="http://schemas.openxmlformats.org/officeDocument/2006/relationships/slide" Target="slides/slide22.xml" /><Relationship Id="rId110" Type="http://schemas.openxmlformats.org/officeDocument/2006/relationships/slide" Target="slides/slide110.xml" /><Relationship Id="rId38" Type="http://schemas.openxmlformats.org/officeDocument/2006/relationships/slide" Target="slides/slide38.xml" /><Relationship Id="rId104" Type="http://schemas.openxmlformats.org/officeDocument/2006/relationships/slide" Target="slides/slide104.xml" /><Relationship Id="rId20" Type="http://schemas.openxmlformats.org/officeDocument/2006/relationships/slide" Target="slides/slide20.xml" /><Relationship Id="rId52" Type="http://schemas.openxmlformats.org/officeDocument/2006/relationships/slide" Target="slides/slide52.xml" /><Relationship Id="rId126" Type="http://schemas.openxmlformats.org/officeDocument/2006/relationships/presProps" Target="presProps.xml" /><Relationship Id="rId19" Type="http://schemas.openxmlformats.org/officeDocument/2006/relationships/slide" Target="slides/slide19.xml" /><Relationship Id="rId72" Type="http://schemas.openxmlformats.org/officeDocument/2006/relationships/slide" Target="slides/slide72.xml" /><Relationship Id="rId40" Type="http://schemas.openxmlformats.org/officeDocument/2006/relationships/slide" Target="slides/slide40.xml" /><Relationship Id="rId14" Type="http://schemas.openxmlformats.org/officeDocument/2006/relationships/slide" Target="slides/slide14.xml" /><Relationship Id="rId25" Type="http://schemas.openxmlformats.org/officeDocument/2006/relationships/slide" Target="slides/slide25.xml" /><Relationship Id="rId15" Type="http://schemas.openxmlformats.org/officeDocument/2006/relationships/slide" Target="slides/slide15.xml" /><Relationship Id="rId17" Type="http://schemas.openxmlformats.org/officeDocument/2006/relationships/slide" Target="slides/slide17.xml" /><Relationship Id="rId16" Type="http://schemas.openxmlformats.org/officeDocument/2006/relationships/slide" Target="slides/slide16.xml" /><Relationship Id="rId114" Type="http://schemas.openxmlformats.org/officeDocument/2006/relationships/slide" Target="slides/slide114.xml" /><Relationship Id="rId121" Type="http://schemas.openxmlformats.org/officeDocument/2006/relationships/slide" Target="slides/slide121.xml" /><Relationship Id="rId6" Type="http://schemas.openxmlformats.org/officeDocument/2006/relationships/slide" Target="slides/slide6.xml" /><Relationship Id="rId3" Type="http://schemas.openxmlformats.org/officeDocument/2006/relationships/slide" Target="slides/slide3.xml" /><Relationship Id="rId128" Type="http://schemas.openxmlformats.org/officeDocument/2006/relationships/viewProps" Target="viewProps.xml" /><Relationship Id="rId127" Type="http://schemas.openxmlformats.org/officeDocument/2006/relationships/tableStyles" Target="tableStyles.xml" /><Relationship Id="rId100" Type="http://schemas.openxmlformats.org/officeDocument/2006/relationships/slide" Target="slides/slide100.xml" /><Relationship Id="rId116" Type="http://schemas.openxmlformats.org/officeDocument/2006/relationships/slide" Target="slides/slide116.xml" /><Relationship Id="rId24" Type="http://schemas.openxmlformats.org/officeDocument/2006/relationships/slide" Target="slides/slide24.xml" /><Relationship Id="rId49" Type="http://schemas.openxmlformats.org/officeDocument/2006/relationships/slide" Target="slides/slide49.xml" /><Relationship Id="rId87" Type="http://schemas.openxmlformats.org/officeDocument/2006/relationships/slide" Target="slides/slide87.xml" /><Relationship Id="rId125" Type="http://schemas.openxmlformats.org/officeDocument/2006/relationships/notesMaster" Target="notesMasters/notesMaster1.xml" /><Relationship Id="rId12" Type="http://schemas.openxmlformats.org/officeDocument/2006/relationships/slide" Target="slides/slide12.xml" /><Relationship Id="rId112" Type="http://schemas.openxmlformats.org/officeDocument/2006/relationships/slide" Target="slides/slide112.xml" /><Relationship Id="rId60" Type="http://schemas.openxmlformats.org/officeDocument/2006/relationships/slide" Target="slides/slide60.xml" /><Relationship Id="rId120" Type="http://schemas.openxmlformats.org/officeDocument/2006/relationships/slide" Target="slides/slide120.xml" /><Relationship Id="rId58" Type="http://schemas.openxmlformats.org/officeDocument/2006/relationships/slide" Target="slides/slide58.xml" /><Relationship Id="rId11" Type="http://schemas.openxmlformats.org/officeDocument/2006/relationships/slide" Target="slides/slide11.xml" /><Relationship Id="rId113" Type="http://schemas.openxmlformats.org/officeDocument/2006/relationships/slide" Target="slides/slide113.xml" /><Relationship Id="rId1" Type="http://schemas.openxmlformats.org/officeDocument/2006/relationships/slide" Target="slides/slide1.xml" /><Relationship Id="rId103" Type="http://schemas.openxmlformats.org/officeDocument/2006/relationships/slide" Target="slides/slide103.xml" /><Relationship Id="rId29" Type="http://schemas.openxmlformats.org/officeDocument/2006/relationships/slide" Target="slides/slide29.xml" /><Relationship Id="rId111" Type="http://schemas.openxmlformats.org/officeDocument/2006/relationships/slide" Target="slides/slide111.xml" /><Relationship Id="rId108" Type="http://schemas.openxmlformats.org/officeDocument/2006/relationships/slide" Target="slides/slide108.xml" /><Relationship Id="rId77" Type="http://schemas.openxmlformats.org/officeDocument/2006/relationships/slide" Target="slides/slide77.xml" /><Relationship Id="rId105" Type="http://schemas.openxmlformats.org/officeDocument/2006/relationships/slide" Target="slides/slide105.xml" /><Relationship Id="rId68" Type="http://schemas.openxmlformats.org/officeDocument/2006/relationships/slide" Target="slides/slide68.xml" /><Relationship Id="rId119" Type="http://schemas.openxmlformats.org/officeDocument/2006/relationships/slide" Target="slides/slide119.xml" /><Relationship Id="rId65" Type="http://schemas.openxmlformats.org/officeDocument/2006/relationships/slide" Target="slides/slide65.xml" /><Relationship Id="rId92" Type="http://schemas.openxmlformats.org/officeDocument/2006/relationships/slide" Target="slides/slide92.xml" /><Relationship Id="rId109" Type="http://schemas.openxmlformats.org/officeDocument/2006/relationships/slide" Target="slides/slide109.xml" /><Relationship Id="rId106" Type="http://schemas.openxmlformats.org/officeDocument/2006/relationships/slide" Target="slides/slide106.xml" /><Relationship Id="rId124" Type="http://schemas.openxmlformats.org/officeDocument/2006/relationships/slide" Target="slides/slide124.xml" /><Relationship Id="rId86" Type="http://schemas.openxmlformats.org/officeDocument/2006/relationships/slide" Target="slides/slide86.xml" /><Relationship Id="rId0" Type="http://schemas.openxmlformats.org/officeDocument/2006/relationships/slideMaster" Target="slideMasters/slideMaster1.xml" /><Relationship Id="rId81" Type="http://schemas.openxmlformats.org/officeDocument/2006/relationships/slide" Target="slides/slide81.xml" /><Relationship Id="rId101" Type="http://schemas.openxmlformats.org/officeDocument/2006/relationships/slide" Target="slides/slide101.xml" /><Relationship Id="rId2" Type="http://schemas.openxmlformats.org/officeDocument/2006/relationships/slide" Target="slides/slide2.xml" /><Relationship Id="rId74" Type="http://schemas.openxmlformats.org/officeDocument/2006/relationships/slide" Target="slides/slide74.xml" /><Relationship Id="rId102" Type="http://schemas.openxmlformats.org/officeDocument/2006/relationships/slide" Target="slides/slide102.xml" /><Relationship Id="rId93" Type="http://schemas.openxmlformats.org/officeDocument/2006/relationships/slide" Target="slides/slide93.xml" /><Relationship Id="rId115" Type="http://schemas.openxmlformats.org/officeDocument/2006/relationships/slide" Target="slides/slide115.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 /><Relationship Id="rId0" Type="http://schemas.openxmlformats.org/officeDocument/2006/relationships/slideLayout" Target="../slideLayouts/slideLayout1.xml" /></Relationships>
</file>

<file path=ppt/slideMasters/slideMaster1.xml><?xml version="1.0" encoding="utf-8"?>
<p:sldMaster xmlns:r="http://schemas.openxmlformats.org/officeDocument/2006/relationships"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image" Target="media/image1.svg" /><Relationship Id="rId0" Type="http://schemas.openxmlformats.org/officeDocument/2006/relationships/slideLayout" Target="../slideLayouts/slideLayout1.xml"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xml.rels><?xml version="1.0" encoding="UTF-8" standalone="yes"?><Relationships xmlns="http://schemas.openxmlformats.org/package/2006/relationships"><Relationship Id="rId1" Type="http://schemas.openxmlformats.org/officeDocument/2006/relationships/image" Target="media/image26.svg" /><Relationship Id="rId0" Type="http://schemas.openxmlformats.org/officeDocument/2006/relationships/slideLayout" Target="../slideLayouts/slideLayout1.xml" /></Relationships>
</file>

<file path=ppt/slides/_rels/slide4.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5.xml.rels><?xml version="1.0" encoding="UTF-8" standalone="yes"?><Relationships xmlns="http://schemas.openxmlformats.org/package/2006/relationships"><Relationship Id="rId1" Type="http://schemas.openxmlformats.org/officeDocument/2006/relationships/image" Target="media/image5.svg" /><Relationship Id="rId0" Type="http://schemas.openxmlformats.org/officeDocument/2006/relationships/slideLayout" Target="../slideLayouts/slideLayout1.xml" /></Relationships>
</file>

<file path=ppt/slides/_rels/slide6.xml.rels><?xml version="1.0" encoding="UTF-8" standalone="yes"?><Relationships xmlns="http://schemas.openxmlformats.org/package/2006/relationships"><Relationship Id="rId1" Type="http://schemas.openxmlformats.org/officeDocument/2006/relationships/image" Target="media/image40.svg" /><Relationship Id="rId2" Type="http://schemas.openxmlformats.org/officeDocument/2006/relationships/image" Target="media/image41.svg" /><Relationship Id="rId0" Type="http://schemas.openxmlformats.org/officeDocument/2006/relationships/slideLayout" Target="../slideLayouts/slideLayout1.xml" /></Relationships>
</file>

<file path=ppt/slides/_rels/slide7.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8.xml.rels><?xml version="1.0" encoding="UTF-8" standalone="yes"?><Relationships xmlns="http://schemas.openxmlformats.org/package/2006/relationships"><Relationship Id="rId1" Type="http://schemas.openxmlformats.org/officeDocument/2006/relationships/image" Target="media/image52.svg" /><Relationship Id="rId0" Type="http://schemas.openxmlformats.org/officeDocument/2006/relationships/slideLayout" Target="../slideLayouts/slideLayout1.xml" /></Relationships>
</file>

<file path=ppt/slides/_rels/slide9.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1.xml.rels><?xml version="1.0" encoding="UTF-8" standalone="yes"?><Relationships xmlns="http://schemas.openxmlformats.org/package/2006/relationships"><Relationship Id="rId1" Type="http://schemas.openxmlformats.org/officeDocument/2006/relationships/image" Target="media/image5.svg" /><Relationship Id="rId0" Type="http://schemas.openxmlformats.org/officeDocument/2006/relationships/slideLayout" Target="../slideLayouts/slideLayout1.xml" /></Relationships>
</file>

<file path=ppt/slides/_rels/slide1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3.xml.rels><?xml version="1.0" encoding="UTF-8" standalone="yes"?><Relationships xmlns="http://schemas.openxmlformats.org/package/2006/relationships"><Relationship Id="rId2" Type="http://schemas.openxmlformats.org/officeDocument/2006/relationships/image" Target="media/image13.svg" /><Relationship Id="rId1" Type="http://schemas.openxmlformats.org/officeDocument/2006/relationships/image" Target="media/image12.svg" /><Relationship Id="rId0" Type="http://schemas.openxmlformats.org/officeDocument/2006/relationships/slideLayout" Target="../slideLayouts/slideLayout1.xml" /></Relationships>
</file>

<file path=ppt/slides/_rels/slide14.xml.rels><?xml version="1.0" encoding="UTF-8" standalone="yes"?><Relationships xmlns="http://schemas.openxmlformats.org/package/2006/relationships"><Relationship Id="rId1" Type="http://schemas.openxmlformats.org/officeDocument/2006/relationships/image" Target="media/image14.svg" /><Relationship Id="rId0" Type="http://schemas.openxmlformats.org/officeDocument/2006/relationships/slideLayout" Target="../slideLayouts/slideLayout1.xml" /></Relationships>
</file>

<file path=ppt/slides/_rels/slide15.xml.rels><?xml version="1.0" encoding="UTF-8" standalone="yes"?><Relationships xmlns="http://schemas.openxmlformats.org/package/2006/relationships"><Relationship Id="rId2" Type="http://schemas.openxmlformats.org/officeDocument/2006/relationships/image" Target="media/image16.svg" /><Relationship Id="rId1" Type="http://schemas.openxmlformats.org/officeDocument/2006/relationships/image" Target="media/image15.svg" /><Relationship Id="rId0" Type="http://schemas.openxmlformats.org/officeDocument/2006/relationships/slideLayout" Target="../slideLayouts/slideLayout1.xml" /></Relationships>
</file>

<file path=ppt/slides/_rels/slide16.xml.rels><?xml version="1.0" encoding="UTF-8" standalone="yes"?><Relationships xmlns="http://schemas.openxmlformats.org/package/2006/relationships"><Relationship Id="rId1" Type="http://schemas.openxmlformats.org/officeDocument/2006/relationships/image" Target="media/image17.svg" /><Relationship Id="rId0" Type="http://schemas.openxmlformats.org/officeDocument/2006/relationships/slideLayout" Target="../slideLayouts/slideLayout1.xml" /></Relationships>
</file>

<file path=ppt/slides/_rels/slide17.xml.rels><?xml version="1.0" encoding="UTF-8" standalone="yes"?><Relationships xmlns="http://schemas.openxmlformats.org/package/2006/relationships"><Relationship Id="rId1" Type="http://schemas.openxmlformats.org/officeDocument/2006/relationships/image" Target="media/image18.svg" /><Relationship Id="rId0" Type="http://schemas.openxmlformats.org/officeDocument/2006/relationships/slideLayout" Target="../slideLayouts/slideLayout1.xml" /></Relationships>
</file>

<file path=ppt/slides/_rels/slide18.xml.rels><?xml version="1.0" encoding="UTF-8" standalone="yes"?><Relationships xmlns="http://schemas.openxmlformats.org/package/2006/relationships"><Relationship Id="rId1" Type="http://schemas.openxmlformats.org/officeDocument/2006/relationships/image" Target="media/image19.svg" /><Relationship Id="rId0" Type="http://schemas.openxmlformats.org/officeDocument/2006/relationships/slideLayout" Target="../slideLayouts/slideLayout1.xml" /></Relationships>
</file>

<file path=ppt/slides/_rels/slide19.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0.xml.rels><?xml version="1.0" encoding="UTF-8" standalone="yes"?><Relationships xmlns="http://schemas.openxmlformats.org/package/2006/relationships"><Relationship Id="rId1" Type="http://schemas.openxmlformats.org/officeDocument/2006/relationships/image" Target="media/image20.svg" /><Relationship Id="rId0" Type="http://schemas.openxmlformats.org/officeDocument/2006/relationships/slideLayout" Target="../slideLayouts/slideLayout1.xml" /></Relationships>
</file>

<file path=ppt/slides/_rels/slide21.xml.rels><?xml version="1.0" encoding="UTF-8" standalone="yes"?><Relationships xmlns="http://schemas.openxmlformats.org/package/2006/relationships"><Relationship Id="rId1" Type="http://schemas.openxmlformats.org/officeDocument/2006/relationships/image" Target="media/image5.svg" /><Relationship Id="rId0" Type="http://schemas.openxmlformats.org/officeDocument/2006/relationships/slideLayout" Target="../slideLayouts/slideLayout1.xml" /></Relationships>
</file>

<file path=ppt/slides/_rels/slide22.xml.rels><?xml version="1.0" encoding="UTF-8" standalone="yes"?><Relationships xmlns="http://schemas.openxmlformats.org/package/2006/relationships"><Relationship Id="rId1" Type="http://schemas.openxmlformats.org/officeDocument/2006/relationships/image" Target="media/image21.svg" /><Relationship Id="rId0" Type="http://schemas.openxmlformats.org/officeDocument/2006/relationships/slideLayout" Target="../slideLayouts/slideLayout1.xml" /></Relationships>
</file>

<file path=ppt/slides/_rels/slide2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4.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5.xml.rels><?xml version="1.0" encoding="UTF-8" standalone="yes"?><Relationships xmlns="http://schemas.openxmlformats.org/package/2006/relationships"><Relationship Id="rId1" Type="http://schemas.openxmlformats.org/officeDocument/2006/relationships/image" Target="media/image22.svg" /><Relationship Id="rId0" Type="http://schemas.openxmlformats.org/officeDocument/2006/relationships/slideLayout" Target="../slideLayouts/slideLayout1.xml" /></Relationships>
</file>

<file path=ppt/slides/_rels/slide26.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7.xml.rels><?xml version="1.0" encoding="UTF-8" standalone="yes"?><Relationships xmlns="http://schemas.openxmlformats.org/package/2006/relationships"><Relationship Id="rId1" Type="http://schemas.openxmlformats.org/officeDocument/2006/relationships/image" Target="media/image23.svg" /><Relationship Id="rId0" Type="http://schemas.openxmlformats.org/officeDocument/2006/relationships/slideLayout" Target="../slideLayouts/slideLayout1.xml" /></Relationships>
</file>

<file path=ppt/slides/_rels/slide28.xml.rels><?xml version="1.0" encoding="UTF-8" standalone="yes"?><Relationships xmlns="http://schemas.openxmlformats.org/package/2006/relationships"><Relationship Id="rId1" Type="http://schemas.openxmlformats.org/officeDocument/2006/relationships/image" Target="media/image24.svg" /><Relationship Id="rId0" Type="http://schemas.openxmlformats.org/officeDocument/2006/relationships/slideLayout" Target="../slideLayouts/slideLayout1.xml" /></Relationships>
</file>

<file path=ppt/slides/_rels/slide29.xml.rels><?xml version="1.0" encoding="UTF-8" standalone="yes"?><Relationships xmlns="http://schemas.openxmlformats.org/package/2006/relationships"><Relationship Id="rId1" Type="http://schemas.openxmlformats.org/officeDocument/2006/relationships/image" Target="media/image25.svg" /><Relationship Id="rId0" Type="http://schemas.openxmlformats.org/officeDocument/2006/relationships/slideLayout" Target="../slideLayouts/slideLayout1.xml" /></Relationships>
</file>

<file path=ppt/slides/_rels/slide30.xml.rels><?xml version="1.0" encoding="UTF-8" standalone="yes"?><Relationships xmlns="http://schemas.openxmlformats.org/package/2006/relationships"><Relationship Id="rId1" Type="http://schemas.openxmlformats.org/officeDocument/2006/relationships/image" Target="media/image27.svg" /><Relationship Id="rId0" Type="http://schemas.openxmlformats.org/officeDocument/2006/relationships/slideLayout" Target="../slideLayouts/slideLayout1.xml" /></Relationships>
</file>

<file path=ppt/slides/_rels/slide3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2.xml.rels><?xml version="1.0" encoding="UTF-8" standalone="yes"?><Relationships xmlns="http://schemas.openxmlformats.org/package/2006/relationships"><Relationship Id="rId1" Type="http://schemas.openxmlformats.org/officeDocument/2006/relationships/image" Target="media/image28.svg" /><Relationship Id="rId0" Type="http://schemas.openxmlformats.org/officeDocument/2006/relationships/slideLayout" Target="../slideLayouts/slideLayout1.xml" /></Relationships>
</file>

<file path=ppt/slides/_rels/slide3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4.xml.rels><?xml version="1.0" encoding="UTF-8" standalone="yes"?><Relationships xmlns="http://schemas.openxmlformats.org/package/2006/relationships"><Relationship Id="rId1" Type="http://schemas.openxmlformats.org/officeDocument/2006/relationships/image" Target="media/image29.svg" /><Relationship Id="rId0" Type="http://schemas.openxmlformats.org/officeDocument/2006/relationships/slideLayout" Target="../slideLayouts/slideLayout1.xml" /></Relationships>
</file>

<file path=ppt/slides/_rels/slide35.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6.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7.xml.rels><?xml version="1.0" encoding="UTF-8" standalone="yes"?><Relationships xmlns="http://schemas.openxmlformats.org/package/2006/relationships"><Relationship Id="rId1" Type="http://schemas.openxmlformats.org/officeDocument/2006/relationships/image" Target="media/image5.svg" /><Relationship Id="rId0" Type="http://schemas.openxmlformats.org/officeDocument/2006/relationships/slideLayout" Target="../slideLayouts/slideLayout1.xml" /></Relationships>
</file>

<file path=ppt/slides/_rels/slide38.xml.rels><?xml version="1.0" encoding="UTF-8" standalone="yes"?><Relationships xmlns="http://schemas.openxmlformats.org/package/2006/relationships"><Relationship Id="rId1" Type="http://schemas.openxmlformats.org/officeDocument/2006/relationships/image" Target="media/image30.svg" /><Relationship Id="rId0" Type="http://schemas.openxmlformats.org/officeDocument/2006/relationships/slideLayout" Target="../slideLayouts/slideLayout1.xml" /></Relationships>
</file>

<file path=ppt/slides/_rels/slide39.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4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41.xml.rels><?xml version="1.0" encoding="UTF-8" standalone="yes"?><Relationships xmlns="http://schemas.openxmlformats.org/package/2006/relationships"><Relationship Id="rId1" Type="http://schemas.openxmlformats.org/officeDocument/2006/relationships/image" Target="media/image31.svg" /><Relationship Id="rId0" Type="http://schemas.openxmlformats.org/officeDocument/2006/relationships/slideLayout" Target="../slideLayouts/slideLayout1.xml" /></Relationships>
</file>

<file path=ppt/slides/_rels/slide42.xml.rels><?xml version="1.0" encoding="UTF-8" standalone="yes"?><Relationships xmlns="http://schemas.openxmlformats.org/package/2006/relationships"><Relationship Id="rId2" Type="http://schemas.openxmlformats.org/officeDocument/2006/relationships/image" Target="media/image33.svg" /><Relationship Id="rId1" Type="http://schemas.openxmlformats.org/officeDocument/2006/relationships/image" Target="media/image32.svg" /><Relationship Id="rId0" Type="http://schemas.openxmlformats.org/officeDocument/2006/relationships/slideLayout" Target="../slideLayouts/slideLayout1.xml" /></Relationships>
</file>

<file path=ppt/slides/_rels/slide4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44.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45.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46.xml.rels><?xml version="1.0" encoding="UTF-8" standalone="yes"?><Relationships xmlns="http://schemas.openxmlformats.org/package/2006/relationships"><Relationship Id="rId1" Type="http://schemas.openxmlformats.org/officeDocument/2006/relationships/image" Target="media/image5.svg" /><Relationship Id="rId0" Type="http://schemas.openxmlformats.org/officeDocument/2006/relationships/slideLayout" Target="../slideLayouts/slideLayout1.xml" /></Relationships>
</file>

<file path=ppt/slides/_rels/slide47.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48.xml.rels><?xml version="1.0" encoding="UTF-8" standalone="yes"?><Relationships xmlns="http://schemas.openxmlformats.org/package/2006/relationships"><Relationship Id="rId1" Type="http://schemas.openxmlformats.org/officeDocument/2006/relationships/image" Target="media/image34.svg" /><Relationship Id="rId0" Type="http://schemas.openxmlformats.org/officeDocument/2006/relationships/slideLayout" Target="../slideLayouts/slideLayout1.xml" /></Relationships>
</file>

<file path=ppt/slides/_rels/slide49.xml.rels><?xml version="1.0" encoding="UTF-8" standalone="yes"?><Relationships xmlns="http://schemas.openxmlformats.org/package/2006/relationships"><Relationship Id="rId1" Type="http://schemas.openxmlformats.org/officeDocument/2006/relationships/image" Target="media/image35.svg" /><Relationship Id="rId0" Type="http://schemas.openxmlformats.org/officeDocument/2006/relationships/slideLayout" Target="../slideLayouts/slideLayout1.xml" /></Relationships>
</file>

<file path=ppt/slides/_rels/slide5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5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52.xml.rels><?xml version="1.0" encoding="UTF-8" standalone="yes"?><Relationships xmlns="http://schemas.openxmlformats.org/package/2006/relationships"><Relationship Id="rId1" Type="http://schemas.openxmlformats.org/officeDocument/2006/relationships/image" Target="media/image36.svg" /><Relationship Id="rId0" Type="http://schemas.openxmlformats.org/officeDocument/2006/relationships/slideLayout" Target="../slideLayouts/slideLayout1.xml" /></Relationships>
</file>

<file path=ppt/slides/_rels/slide53.xml.rels><?xml version="1.0" encoding="UTF-8" standalone="yes"?><Relationships xmlns="http://schemas.openxmlformats.org/package/2006/relationships"><Relationship Id="rId1" Type="http://schemas.openxmlformats.org/officeDocument/2006/relationships/image" Target="media/image37.svg" /><Relationship Id="rId0" Type="http://schemas.openxmlformats.org/officeDocument/2006/relationships/slideLayout" Target="../slideLayouts/slideLayout1.xml" /></Relationships>
</file>

<file path=ppt/slides/_rels/slide54.xml.rels><?xml version="1.0" encoding="UTF-8" standalone="yes"?><Relationships xmlns="http://schemas.openxmlformats.org/package/2006/relationships"><Relationship Id="rId1" Type="http://schemas.openxmlformats.org/officeDocument/2006/relationships/image" Target="media/image38.svg" /><Relationship Id="rId0" Type="http://schemas.openxmlformats.org/officeDocument/2006/relationships/slideLayout" Target="../slideLayouts/slideLayout1.xml" /></Relationships>
</file>

<file path=ppt/slides/_rels/slide55.xml.rels><?xml version="1.0" encoding="UTF-8" standalone="yes"?><Relationships xmlns="http://schemas.openxmlformats.org/package/2006/relationships"><Relationship Id="rId1" Type="http://schemas.openxmlformats.org/officeDocument/2006/relationships/image" Target="media/image39.svg" /><Relationship Id="rId0" Type="http://schemas.openxmlformats.org/officeDocument/2006/relationships/slideLayout" Target="../slideLayouts/slideLayout1.xml" /></Relationships>
</file>

<file path=ppt/slides/_rels/slide56.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57.xml.rels><?xml version="1.0" encoding="UTF-8" standalone="yes"?><Relationships xmlns="http://schemas.openxmlformats.org/package/2006/relationships"><Relationship Id="rId1" Type="http://schemas.openxmlformats.org/officeDocument/2006/relationships/image" Target="media/image5.svg" /><Relationship Id="rId0" Type="http://schemas.openxmlformats.org/officeDocument/2006/relationships/slideLayout" Target="../slideLayouts/slideLayout1.xml" /></Relationships>
</file>

<file path=ppt/slides/_rels/slide5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59.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60.xml.rels><?xml version="1.0" encoding="UTF-8" standalone="yes"?><Relationships xmlns="http://schemas.openxmlformats.org/package/2006/relationships"><Relationship Id="rId1" Type="http://schemas.openxmlformats.org/officeDocument/2006/relationships/image" Target="media/image42.svg" /><Relationship Id="rId0" Type="http://schemas.openxmlformats.org/officeDocument/2006/relationships/slideLayout" Target="../slideLayouts/slideLayout1.xml" /></Relationships>
</file>

<file path=ppt/slides/_rels/slide61.xml.rels><?xml version="1.0" encoding="UTF-8" standalone="yes"?><Relationships xmlns="http://schemas.openxmlformats.org/package/2006/relationships"><Relationship Id="rId1" Type="http://schemas.openxmlformats.org/officeDocument/2006/relationships/image" Target="media/image43.svg" /><Relationship Id="rId0" Type="http://schemas.openxmlformats.org/officeDocument/2006/relationships/slideLayout" Target="../slideLayouts/slideLayout1.xml" /></Relationships>
</file>

<file path=ppt/slides/_rels/slide6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6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64.xml.rels><?xml version="1.0" encoding="UTF-8" standalone="yes"?><Relationships xmlns="http://schemas.openxmlformats.org/package/2006/relationships"><Relationship Id="rId1" Type="http://schemas.openxmlformats.org/officeDocument/2006/relationships/image" Target="media/image44.svg" /><Relationship Id="rId0" Type="http://schemas.openxmlformats.org/officeDocument/2006/relationships/slideLayout" Target="../slideLayouts/slideLayout1.xml" /></Relationships>
</file>

<file path=ppt/slides/_rels/slide65.xml.rels><?xml version="1.0" encoding="UTF-8" standalone="yes"?><Relationships xmlns="http://schemas.openxmlformats.org/package/2006/relationships"><Relationship Id="rId1" Type="http://schemas.openxmlformats.org/officeDocument/2006/relationships/image" Target="media/image5.svg" /><Relationship Id="rId0" Type="http://schemas.openxmlformats.org/officeDocument/2006/relationships/slideLayout" Target="../slideLayouts/slideLayout1.xml" /></Relationships>
</file>

<file path=ppt/slides/_rels/slide66.xml.rels><?xml version="1.0" encoding="UTF-8" standalone="yes"?><Relationships xmlns="http://schemas.openxmlformats.org/package/2006/relationships"><Relationship Id="rId1" Type="http://schemas.openxmlformats.org/officeDocument/2006/relationships/image" Target="media/image45.svg" /><Relationship Id="rId0" Type="http://schemas.openxmlformats.org/officeDocument/2006/relationships/slideLayout" Target="../slideLayouts/slideLayout1.xml" /></Relationships>
</file>

<file path=ppt/slides/_rels/slide67.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6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69.xml.rels><?xml version="1.0" encoding="UTF-8" standalone="yes"?><Relationships xmlns="http://schemas.openxmlformats.org/package/2006/relationships"><Relationship Id="rId1" Type="http://schemas.openxmlformats.org/officeDocument/2006/relationships/image" Target="media/image46.svg" /><Relationship Id="rId0" Type="http://schemas.openxmlformats.org/officeDocument/2006/relationships/slideLayout" Target="../slideLayouts/slideLayout1.xml" /></Relationships>
</file>

<file path=ppt/slides/_rels/slide70.xml.rels><?xml version="1.0" encoding="UTF-8" standalone="yes"?><Relationships xmlns="http://schemas.openxmlformats.org/package/2006/relationships"><Relationship Id="rId1" Type="http://schemas.openxmlformats.org/officeDocument/2006/relationships/image" Target="media/image47.svg" /><Relationship Id="rId0" Type="http://schemas.openxmlformats.org/officeDocument/2006/relationships/slideLayout" Target="../slideLayouts/slideLayout1.xml" /></Relationships>
</file>

<file path=ppt/slides/_rels/slide7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7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7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74.xml.rels><?xml version="1.0" encoding="UTF-8" standalone="yes"?><Relationships xmlns="http://schemas.openxmlformats.org/package/2006/relationships"><Relationship Id="rId1" Type="http://schemas.openxmlformats.org/officeDocument/2006/relationships/image" Target="media/image48.svg" /><Relationship Id="rId0" Type="http://schemas.openxmlformats.org/officeDocument/2006/relationships/slideLayout" Target="../slideLayouts/slideLayout1.xml" /></Relationships>
</file>

<file path=ppt/slides/_rels/slide75.xml.rels><?xml version="1.0" encoding="UTF-8" standalone="yes"?><Relationships xmlns="http://schemas.openxmlformats.org/package/2006/relationships"><Relationship Id="rId1" Type="http://schemas.openxmlformats.org/officeDocument/2006/relationships/image" Target="media/image49.svg" /><Relationship Id="rId0" Type="http://schemas.openxmlformats.org/officeDocument/2006/relationships/slideLayout" Target="../slideLayouts/slideLayout1.xml" /></Relationships>
</file>

<file path=ppt/slides/_rels/slide76.xml.rels><?xml version="1.0" encoding="UTF-8" standalone="yes"?><Relationships xmlns="http://schemas.openxmlformats.org/package/2006/relationships"><Relationship Id="rId1" Type="http://schemas.openxmlformats.org/officeDocument/2006/relationships/image" Target="media/image5.svg" /><Relationship Id="rId0" Type="http://schemas.openxmlformats.org/officeDocument/2006/relationships/slideLayout" Target="../slideLayouts/slideLayout1.xml" /></Relationships>
</file>

<file path=ppt/slides/_rels/slide77.xml.rels><?xml version="1.0" encoding="UTF-8" standalone="yes"?><Relationships xmlns="http://schemas.openxmlformats.org/package/2006/relationships"><Relationship Id="rId1" Type="http://schemas.openxmlformats.org/officeDocument/2006/relationships/image" Target="media/image50.svg" /><Relationship Id="rId0" Type="http://schemas.openxmlformats.org/officeDocument/2006/relationships/slideLayout" Target="../slideLayouts/slideLayout1.xml" /></Relationships>
</file>

<file path=ppt/slides/_rels/slide7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79.xml.rels><?xml version="1.0" encoding="UTF-8" standalone="yes"?><Relationships xmlns="http://schemas.openxmlformats.org/package/2006/relationships"><Relationship Id="rId1" Type="http://schemas.openxmlformats.org/officeDocument/2006/relationships/image" Target="media/image51.svg" /><Relationship Id="rId0" Type="http://schemas.openxmlformats.org/officeDocument/2006/relationships/slideLayout" Target="../slideLayouts/slideLayout1.xml" /></Relationships>
</file>

<file path=ppt/slides/_rels/slide8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8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8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83.xml.rels><?xml version="1.0" encoding="UTF-8" standalone="yes"?><Relationships xmlns="http://schemas.openxmlformats.org/package/2006/relationships"><Relationship Id="rId1" Type="http://schemas.openxmlformats.org/officeDocument/2006/relationships/image" Target="media/image53.svg" /><Relationship Id="rId0" Type="http://schemas.openxmlformats.org/officeDocument/2006/relationships/slideLayout" Target="../slideLayouts/slideLayout1.xml" /></Relationships>
</file>

<file path=ppt/slides/_rels/slide84.xml.rels><?xml version="1.0" encoding="UTF-8" standalone="yes"?><Relationships xmlns="http://schemas.openxmlformats.org/package/2006/relationships"><Relationship Id="rId1" Type="http://schemas.openxmlformats.org/officeDocument/2006/relationships/image" Target="media/image54.svg" /><Relationship Id="rId0" Type="http://schemas.openxmlformats.org/officeDocument/2006/relationships/slideLayout" Target="../slideLayouts/slideLayout1.xml" /></Relationships>
</file>

<file path=ppt/slides/_rels/slide85.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86.xml.rels><?xml version="1.0" encoding="UTF-8" standalone="yes"?><Relationships xmlns="http://schemas.openxmlformats.org/package/2006/relationships"><Relationship Id="rId1" Type="http://schemas.openxmlformats.org/officeDocument/2006/relationships/image" Target="media/image5.svg" /><Relationship Id="rId0" Type="http://schemas.openxmlformats.org/officeDocument/2006/relationships/slideLayout" Target="../slideLayouts/slideLayout1.xml" /></Relationships>
</file>

<file path=ppt/slides/_rels/slide87.xml.rels><?xml version="1.0" encoding="UTF-8" standalone="yes"?><Relationships xmlns="http://schemas.openxmlformats.org/package/2006/relationships"><Relationship Id="rId1" Type="http://schemas.openxmlformats.org/officeDocument/2006/relationships/image" Target="media/image55.svg" /><Relationship Id="rId0" Type="http://schemas.openxmlformats.org/officeDocument/2006/relationships/slideLayout" Target="../slideLayouts/slideLayout1.xml" /></Relationships>
</file>

<file path=ppt/slides/_rels/slide8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89.xml.rels><?xml version="1.0" encoding="UTF-8" standalone="yes"?><Relationships xmlns="http://schemas.openxmlformats.org/package/2006/relationships"><Relationship Id="rId1" Type="http://schemas.openxmlformats.org/officeDocument/2006/relationships/image" Target="media/image56.svg" /><Relationship Id="rId0" Type="http://schemas.openxmlformats.org/officeDocument/2006/relationships/slideLayout" Target="../slideLayouts/slideLayout1.xml" /></Relationships>
</file>

<file path=ppt/slides/_rels/slide9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9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9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9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94.xml.rels><?xml version="1.0" encoding="UTF-8" standalone="yes"?><Relationships xmlns="http://schemas.openxmlformats.org/package/2006/relationships"><Relationship Id="rId1" Type="http://schemas.openxmlformats.org/officeDocument/2006/relationships/image" Target="media/image57.svg" /><Relationship Id="rId0" Type="http://schemas.openxmlformats.org/officeDocument/2006/relationships/slideLayout" Target="../slideLayouts/slideLayout1.xml" /></Relationships>
</file>

<file path=ppt/slides/_rels/slide95.xml.rels><?xml version="1.0" encoding="UTF-8" standalone="yes"?><Relationships xmlns="http://schemas.openxmlformats.org/package/2006/relationships"><Relationship Id="rId1" Type="http://schemas.openxmlformats.org/officeDocument/2006/relationships/image" Target="media/image5.svg" /><Relationship Id="rId0" Type="http://schemas.openxmlformats.org/officeDocument/2006/relationships/slideLayout" Target="../slideLayouts/slideLayout1.xml" /></Relationships>
</file>

<file path=ppt/slides/_rels/slide96.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97.xml.rels><?xml version="1.0" encoding="UTF-8" standalone="yes"?><Relationships xmlns="http://schemas.openxmlformats.org/package/2006/relationships"><Relationship Id="rId1" Type="http://schemas.openxmlformats.org/officeDocument/2006/relationships/image" Target="media/image58.svg" /><Relationship Id="rId0" Type="http://schemas.openxmlformats.org/officeDocument/2006/relationships/slideLayout" Target="../slideLayouts/slideLayout1.xml" /></Relationships>
</file>

<file path=ppt/slides/_rels/slide9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99.xml.rels><?xml version="1.0" encoding="UTF-8" standalone="yes"?><Relationships xmlns="http://schemas.openxmlformats.org/package/2006/relationships"><Relationship Id="rId1" Type="http://schemas.openxmlformats.org/officeDocument/2006/relationships/image" Target="media/image59.svg" /><Relationship Id="rId0" Type="http://schemas.openxmlformats.org/officeDocument/2006/relationships/slideLayout" Target="../slideLayouts/slideLayout1.xml" /></Relationships>
</file>

<file path=ppt/slides/_rels/slide100.xml.rels><?xml version="1.0" encoding="UTF-8" standalone="yes"?><Relationships xmlns="http://schemas.openxmlformats.org/package/2006/relationships"><Relationship Id="rId1" Type="http://schemas.openxmlformats.org/officeDocument/2006/relationships/image" Target="media/image2.svg" /><Relationship Id="rId0" Type="http://schemas.openxmlformats.org/officeDocument/2006/relationships/slideLayout" Target="../slideLayouts/slideLayout1.xml" /></Relationships>
</file>

<file path=ppt/slides/_rels/slide101.xml.rels><?xml version="1.0" encoding="UTF-8" standalone="yes"?><Relationships xmlns="http://schemas.openxmlformats.org/package/2006/relationships"><Relationship Id="rId1" Type="http://schemas.openxmlformats.org/officeDocument/2006/relationships/image" Target="media/image3.svg" /><Relationship Id="rId0" Type="http://schemas.openxmlformats.org/officeDocument/2006/relationships/slideLayout" Target="../slideLayouts/slideLayout1.xml" /></Relationships>
</file>

<file path=ppt/slides/_rels/slide102.xml.rels><?xml version="1.0" encoding="UTF-8" standalone="yes"?><Relationships xmlns="http://schemas.openxmlformats.org/package/2006/relationships"><Relationship Id="rId1" Type="http://schemas.openxmlformats.org/officeDocument/2006/relationships/image" Target="media/image4.svg" /><Relationship Id="rId0" Type="http://schemas.openxmlformats.org/officeDocument/2006/relationships/slideLayout" Target="../slideLayouts/slideLayout1.xml" /></Relationships>
</file>

<file path=ppt/slides/_rels/slide10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04.xml.rels><?xml version="1.0" encoding="UTF-8" standalone="yes"?><Relationships xmlns="http://schemas.openxmlformats.org/package/2006/relationships"><Relationship Id="rId1" Type="http://schemas.openxmlformats.org/officeDocument/2006/relationships/image" Target="media/image5.svg" /><Relationship Id="rId0" Type="http://schemas.openxmlformats.org/officeDocument/2006/relationships/slideLayout" Target="../slideLayouts/slideLayout1.xml" /></Relationships>
</file>

<file path=ppt/slides/_rels/slide105.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06.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07.xml.rels><?xml version="1.0" encoding="UTF-8" standalone="yes"?><Relationships xmlns="http://schemas.openxmlformats.org/package/2006/relationships"><Relationship Id="rId1" Type="http://schemas.openxmlformats.org/officeDocument/2006/relationships/image" Target="media/image6.svg" /><Relationship Id="rId0" Type="http://schemas.openxmlformats.org/officeDocument/2006/relationships/slideLayout" Target="../slideLayouts/slideLayout1.xml" /></Relationships>
</file>

<file path=ppt/slides/_rels/slide10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09.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1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1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12.xml.rels><?xml version="1.0" encoding="UTF-8" standalone="yes"?><Relationships xmlns="http://schemas.openxmlformats.org/package/2006/relationships"><Relationship Id="rId1" Type="http://schemas.openxmlformats.org/officeDocument/2006/relationships/image" Target="media/image7.svg" /><Relationship Id="rId0" Type="http://schemas.openxmlformats.org/officeDocument/2006/relationships/slideLayout" Target="../slideLayouts/slideLayout1.xml" /></Relationships>
</file>

<file path=ppt/slides/_rels/slide113.xml.rels><?xml version="1.0" encoding="UTF-8" standalone="yes"?><Relationships xmlns="http://schemas.openxmlformats.org/package/2006/relationships"><Relationship Id="rId1" Type="http://schemas.openxmlformats.org/officeDocument/2006/relationships/image" Target="media/image5.svg" /><Relationship Id="rId0" Type="http://schemas.openxmlformats.org/officeDocument/2006/relationships/slideLayout" Target="../slideLayouts/slideLayout1.xml" /></Relationships>
</file>

<file path=ppt/slides/_rels/slide114.xml.rels><?xml version="1.0" encoding="UTF-8" standalone="yes"?><Relationships xmlns="http://schemas.openxmlformats.org/package/2006/relationships"><Relationship Id="rId1" Type="http://schemas.openxmlformats.org/officeDocument/2006/relationships/image" Target="media/image8.svg" /><Relationship Id="rId0" Type="http://schemas.openxmlformats.org/officeDocument/2006/relationships/slideLayout" Target="../slideLayouts/slideLayout1.xml" /></Relationships>
</file>

<file path=ppt/slides/_rels/slide115.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16.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17.xml.rels><?xml version="1.0" encoding="UTF-8" standalone="yes"?><Relationships xmlns="http://schemas.openxmlformats.org/package/2006/relationships"><Relationship Id="rId1" Type="http://schemas.openxmlformats.org/officeDocument/2006/relationships/image" Target="media/image9.svg" /><Relationship Id="rId0" Type="http://schemas.openxmlformats.org/officeDocument/2006/relationships/slideLayout" Target="../slideLayouts/slideLayout1.xml" /></Relationships>
</file>

<file path=ppt/slides/_rels/slide11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19.xml.rels><?xml version="1.0" encoding="UTF-8" standalone="yes"?><Relationships xmlns="http://schemas.openxmlformats.org/package/2006/relationships"><Relationship Id="rId1" Type="http://schemas.openxmlformats.org/officeDocument/2006/relationships/image" Target="media/image10.svg" /><Relationship Id="rId0" Type="http://schemas.openxmlformats.org/officeDocument/2006/relationships/slideLayout" Target="../slideLayouts/slideLayout1.xml" /></Relationships>
</file>

<file path=ppt/slides/_rels/slide12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21.xml.rels><?xml version="1.0" encoding="UTF-8" standalone="yes"?><Relationships xmlns="http://schemas.openxmlformats.org/package/2006/relationships"><Relationship Id="rId1" Type="http://schemas.openxmlformats.org/officeDocument/2006/relationships/image" Target="media/image11.svg" /><Relationship Id="rId0" Type="http://schemas.openxmlformats.org/officeDocument/2006/relationships/slideLayout" Target="../slideLayouts/slideLayout1.xml" /></Relationships>
</file>

<file path=ppt/slides/_rels/slide12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2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24.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slide1.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 name="" descr="&lt;Slide style={{ width: '1280px', height: '720px', background: '#FFFFFF', padding: 0 }}&gt;&lt;Box style={{ position: 'absolute', top: 0, left: 0 }}&gt;&lt;svg width={1280} height={720} viewBox='0 0 1280 720'&gt;&lt;line x1='0' y1='0' x2='0' y2='720' stroke='#E3E8EF' stroke-width='1' opacity='0.5'/&gt;&lt;line x1='90' y1='0' x2='90' y2='720' stroke='#E3E8EF' stroke-width='1' opacity='0.5'/&gt;&lt;line x1='180' y1='0' x2='180' y2='720' stroke='#E3E8EF' stroke-width='1' opacity='0.5'/&gt;&lt;line x1='270' y1='0' x2='270' y2='720' stroke='#E3E8EF' stroke-width='1' opacity='0.5'/&gt;&lt;line x1='360' y1='0' x2='360' y2='720' stroke='#E3E8EF' stroke-width='1' opacity='0.5'/&gt;&lt;line x1='450' y1='0' x2='450' y2='720' stroke='#E3E8EF' stroke-width='1' opacity='0.5'/&gt;&lt;line x1='540' y1='0' x2='540' y2='720' stroke='#E3E8EF' stroke-width='1' opacity='0.5'/&gt;&lt;line x1='630' y1='0' x2='630' y2='720' stroke='#E3E8EF' stroke-width='1' opacity='0.5'/&gt;&lt;line x1='720' y1='0' x2='720' y2='720' stroke='#E3E8EF' stroke-width='1' opacity='0.5'/&gt;&lt;line x1='0' y1='0' x2='1280' y2='0' stroke='#E3E8EF' stroke-width='1' opacity='0.5'/&gt;&lt;line x1='0' y1='90' x2='1280' y2='90' stroke='#E3E8EF' stroke-width='1' opacity='0.5'/&gt;&lt;line x1='0' y1='180' x2='1280' y2='180' stroke='#E3E8EF' stroke-width='1' opacity='0.5'/&gt;&lt;line x1='0' y1='270' x2='1280' y2='270' stroke='#E3E8EF' stroke-width='1' opacity='0.5'/&gt;&lt;line x1='0' y1='360' x2='1280' y2='360' stroke='#E3E8EF' stroke-width='1' opacity='0.5'/&gt;&lt;line x1='0' y1='450' x2='1280' y2='450' stroke='#E3E8EF' stroke-width='1' opacity='0.5'/&gt;&lt;line x1='0' y1='540' x2='1280' y2='540' stroke='#E3E8EF' stroke-width='1' opacity='0.5'/&gt;&lt;line x1='0' y1='630' x2='1280' y2='630' stroke='#E3E8EF' stroke-width='1' opacity='0.5'/&gt;&lt;line x1='0' y1='720' x2='1280' y2='720' stroke='#E3E8EF' stroke-width='1' opacity='0.5'/&gt;&lt;circle cx='1140' cy='150' r='150' fill='none' stroke='#1E7BE0' stroke-width='2' opacity='0.5'/&gt;&lt;circle cx='1140' cy='150' r='96' fill='none' stroke='#00A9B5' stroke-width='2' opacity='0.5'/&gt;&lt;circle cx='1140' cy='150' r='46' fill='#1E7BE0' opacity='0.10'/&gt;&lt;line x1='700' y1='470' x2='1280' y2='470' stroke='#E3E8EF' stroke-width='1' opacity='0.6'/&gt;&lt;line x1='700' y1='560' x2='1280' y2='560' stroke='#E3E8EF' stroke-width='1' opacity='0.6'/&gt;&lt;/svg&gt;&lt;/Box&gt;&lt;Box style={{ position: 'relative', padding: '74px 80px 60px', flexDirection: 'column', gap: 16, zIndex: 2, flex: 1 }}&gt;&lt;Box style={{ width: 92, height: 5, background: 'linear-gradient(90deg, #1E7BE0 0%, #00A9B5 100%)' }} /&gt;&lt;Text style={{ fontSize: 18, color: '#1E7BE0', fontWeight: 600, lineHeight: 1.4, letterSpacing: 2 }}&gt;STUDYAGENT · DESIGN REVIEW&lt;/Text&gt;&lt;Text style={{ fontSize: 62, color: '#0E2340', fontWeight: 700, lineHeight: 1.1 }}&gt;StudyAgent 项目设计汇报&lt;/Text&gt;&lt;Text style={{ fontSize: 25, color: '#333A45', fontWeight: 400, lineHeight: 1.5 }}&gt;以结构化步骤为核心的高中数学 AI 学习系统&lt;/Text&gt;&lt;Box style={{ marginTop: 18, flexDirection: 'column', gap: 6 }}&gt;&lt;Text style={{ fontSize: 16, color: '#7A8699', fontWeight: 400, lineHeight: 1.6 }}&gt;技术评审版 · 2026 年 10 月&lt;/Text&gt;&lt;Text style={{ fontSize: 16, color: '#7A8699', fontWeight: 400, lineHeight: 1.6 }}&gt;覆盖 12 份设计文档 · 115 页&lt;/Text&gt;&lt;Text style={{ fontSize: 16, color: '#7A8699', fontWeight: 400, lineHeight: 1.6 }}&gt;全部结论均标注来源文档与实现状态&lt;/Text&gt;&lt;/Box&gt;&lt;Box style={{ marginTop: 'auto', flexDirection: 'row', gap: 18 }}&gt;&lt;Box style={{ flex: 1, background: '#F5F7FA', borderTop: '3px solid #1E7BE0', borderRadius: 6, padding: '14px 18px' }}&gt;&lt;Text style={{ fontSize: 30, color: '#0E2340', fontWeight: 700, lineHeight: 1.1 }}&gt;329&lt;/Text&gt;&lt;Text style={{ fontSize: 15, color: '#7A8699', fontWeight: 400, lineHeight: 1.4 }}&gt;课时&lt;/Text&gt;&lt;/Box&gt;&lt;Box style={{ flex: 1, background: '#F5F7FA', borderTop: '3px solid #1E7BE0', borderRadius: 6, padding: '14px 18px' }}&gt;&lt;Text style={{ fontSize: 30, color: '#0E2340', fontWeight: 700, lineHeight: 1.1 }}&gt;541&lt;/Text&gt;&lt;Text style={{ fontSize: 15, color: '#7A8699', fontWeight: 400, lineHeight: 1.4 }}&gt;三级知识点&lt;/Text&gt;&lt;/Box&gt;&lt;Box style={{ flex: 1, background: '#F5F7FA', borderTop: '3px solid #1E7BE0', borderRadius: 6, padding: '14px 18px' }}&gt;&lt;Text style={{ fontSize: 30, color: '#0E2340', fontWeight: 700, lineHeight: 1.1 }}&gt;359&lt;/Text&gt;&lt;Text style={{ fontSize: 15, color: '#7A8699', fontWeight: 400, lineHeight: 1.4 }}&gt;二级步骤&lt;/Text&gt;&lt;/Box&gt;&lt;Box style={{ flex: 1, background: '#F5F7FA', borderTop: '3px solid #1E7BE0', borderRadius: 6, padding: '14px 18px' }}&gt;&lt;Text style={{ fontSize: 30, color: '#0E2340', fontWeight: 700, lineHeight: 1.1 }}&gt;1019&lt;/Text&gt;&lt;Text style={{ fontSize: 15, color: '#7A8699', fontWeight: 400, lineHeight: 1.4 }}&gt;套路目录&lt;/Text&gt;&lt;/Box&gt;&lt;/Box&gt;&lt;/Box&gt;&lt;Box style={{ position: 'absolute', left: 700, top: 292, width: 420, zIndex: 3, background: '#FFFFFF', border: '1px solid #E3E8EF', borderRadius: 8, padding: '16px 18px', flexDirection: 'column', gap: 10 }}&gt;&lt;Text style={{ fontSize: 18, color: '#0E2340', fontWeight: 700, lineHeight: 1.4 }}&gt;本次汇报的六幕结构&lt;/Text&gt;&lt;Box style={{ flexDirection: 'row', gap: 10 }}&gt;&lt;Box style={{ width: 182, background: '#F5F7FA', borderRadius: 6, padding: '9px 10px' }}&gt;&lt;Text style={{ fontSize: 14, color: '#0E2340', fontWeight: 600, lineHeight: 1.4 }}&gt;一 · 概念地基&lt;/Text&gt;&lt;/Box&gt;&lt;Box style={{ width: 182, background: '#F5F7FA', borderRadius: 6, padding: '9px 10px' }}&gt;&lt;Text style={{ fontSize: 14, color: '#0E2340', fontWeight: 600, lineHeight: 1.4 }}&gt;二 · 现状与引擎&lt;/Text&gt;&lt;/Box&gt;&lt;/Box&gt;&lt;Box style={{ flexDirection: 'row', gap: 10 }}&gt;&lt;Box style={{ width: 182, background: '#F5F7FA', borderRadius: 6, padding: '9px 10px' }}&gt;&lt;Text style={{ fontSize: 14, color: '#0E2340', fontWeight: 600, lineHeight: 1.4 }}&gt;三 · 三端与场景&lt;/Text&gt;&lt;/Box&gt;&lt;Box style={{ width: 182, background: '#F5F7FA', borderRadius: 6, padding: '9px 10px' }}&gt;&lt;Text style={{ fontSize: 14, color: '#0E2340', fontWeight: 600, lineHeight: 1.4 }}&gt;四 · 协同与接入&lt;/Text&gt;&lt;/Box&gt;&lt;/Box&gt;&lt;Box style={{ flexDirection: 'row', gap: 10 }}&gt;&lt;Box style={{ width: 182, background: '#F5F7FA', borderRadius: 6, padding: '9px 10px' }}&gt;&lt;Text style={{ fontSize: 14, color: '#0E2340', fontWeight: 600, lineHeight: 1.4 }}&gt;五 · 边界与演进&lt;/Text&gt;&lt;/Box&gt;&lt;Box style={{ width: 182, background: '#F5F7FA', borderRadius: 6, padding: '9px 10px' }}&gt;&lt;Text style={{ fontSize: 14, color: '#0E2340', fontWeight: 600, lineHeight: 1.4 }}&gt;六 · 自进化与收尾&lt;/Text&gt;&lt;/Box&gt;&lt;/Box&gt;&lt;Box style={{ borderTop: '1px solid #E3E8EF', paddingTop: 9 }}&gt;&lt;Text style={{ fontSize: 13, color: '#7A8699', fontWeight: 400, lineHeight: 1.5 }}&gt;每页标注实现状态与来源文档，可逐页回溯&lt;/Text&gt;&lt;/Box&gt;&lt;/Box&gt;&lt;/Slide&gt;"/>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FFFFFF"/>
          </a:solidFill>
          <a:ln/>
        </p:spPr>
        <p:txBody>
          <a:bodyPr/>
          <a:p/>
        </p:txBody>
      </p:sp>
      <p:pic>
        <p:nvPicPr>
          <p:cNvPr id="3" name=""/>
          <p:cNvPicPr>
            <a:picLocks noChangeAspect="1"/>
          </p:cNvPicPr>
          <p:nvPr/>
        </p:nvPicPr>
        <p:blipFill>
          <a:blip>
            <a:extLst>
              <a:ext uri="{96DAC541-7B7A-43D3-8B79-37D633B846F1}">
                <asvg:svgBlip r:embed="rId1"/>
              </a:ext>
            </a:extLst>
          </a:blip>
          <a:stretch>
            <a:fillRect/>
          </a:stretch>
        </p:blipFill>
        <p:spPr>
          <a:xfrm rot="0" flipH="0" flipV="0">
            <a:off x="0" y="0"/>
            <a:ext cx="12192000" cy="6858000"/>
          </a:xfrm>
          <a:prstGeom prst="rect">
            <a:avLst/>
          </a:prstGeom>
          <a:ln/>
        </p:spPr>
      </p:pic>
      <p:sp>
        <p:nvSpPr>
          <p:cNvPr id="4" name=""/>
          <p:cNvSpPr/>
          <p:nvPr/>
        </p:nvSpPr>
        <p:spPr>
          <a:xfrm rot="0" flipH="0" flipV="0">
            <a:off x="762000" y="704850"/>
            <a:ext cx="876300" cy="47625"/>
          </a:xfrm>
          <a:prstGeom prst="rect">
            <a:avLst/>
          </a:prstGeom>
          <a:gradFill>
            <a:gsLst>
              <a:gs pos="0">
                <a:srgbClr val="1E7BE0"/>
              </a:gs>
              <a:gs pos="100000">
                <a:srgbClr val="00A9B5"/>
              </a:gs>
            </a:gsLst>
            <a:lin ang="0" scaled="1"/>
          </a:gradFill>
          <a:ln/>
        </p:spPr>
        <p:txBody>
          <a:bodyPr/>
          <a:p/>
        </p:txBody>
      </p:sp>
      <p:sp>
        <p:nvSpPr>
          <p:cNvPr id="5" name="" descr="{&quot;isTemplate&quot;:true,&quot;type&quot;:&quot;text&quot;}"/>
          <p:cNvSpPr txBox="1"/>
          <p:nvPr/>
        </p:nvSpPr>
        <p:spPr>
          <a:xfrm rot="0" flipH="0" flipV="0">
            <a:off x="762000" y="904875"/>
            <a:ext cx="10668000" cy="295275"/>
          </a:xfrm>
          <a:prstGeom prst="rect"/>
        </p:spPr>
        <p:txBody>
          <a:bodyPr wrap="none" lIns="0" tIns="0" rIns="0" bIns="0"/>
          <a:p>
            <a:pPr>
              <a:lnSpc>
                <a:spcPct val="140000"/>
              </a:lnSpc>
            </a:pPr>
            <a:r>
              <a:rPr lang="en-US" sz="1350" b="1" spc="150">
                <a:solidFill>
                  <a:srgbClr val="1E7BE0"/>
                </a:solidFill>
                <a:latin typeface="Microsoft YaHei"/>
                <a:ea typeface="Microsoft YaHei"/>
              </a:rPr>
              <a:t>STUDYAGENT · DESIGN REVIEW</a:t>
            </a:r>
            <a:endParaRPr/>
          </a:p>
        </p:txBody>
      </p:sp>
      <p:sp>
        <p:nvSpPr>
          <p:cNvPr id="6" name="" descr="{&quot;isTemplate&quot;:true,&quot;type&quot;:&quot;text&quot;}"/>
          <p:cNvSpPr txBox="1"/>
          <p:nvPr/>
        </p:nvSpPr>
        <p:spPr>
          <a:xfrm rot="0" flipH="0" flipV="0">
            <a:off x="762000" y="1352550"/>
            <a:ext cx="10668000" cy="781050"/>
          </a:xfrm>
          <a:prstGeom prst="rect"/>
        </p:spPr>
        <p:txBody>
          <a:bodyPr wrap="none" lIns="0" tIns="0" rIns="0" bIns="0"/>
          <a:p>
            <a:pPr>
              <a:lnSpc>
                <a:spcPct val="110000"/>
              </a:lnSpc>
            </a:pPr>
            <a:r>
              <a:rPr lang="en-US" sz="4650" b="1">
                <a:solidFill>
                  <a:srgbClr val="0E2340"/>
                </a:solidFill>
                <a:latin typeface="Microsoft YaHei"/>
                <a:ea typeface="Microsoft YaHei"/>
              </a:rPr>
              <a:t xml:space="preserve">StudyAgent </a:t>
            </a:r>
            <a:r>
              <a:rPr lang="zh-CN" sz="4650" b="1">
                <a:solidFill>
                  <a:srgbClr val="0E2340"/>
                </a:solidFill>
                <a:latin typeface="Microsoft YaHei"/>
                <a:ea typeface="Microsoft YaHei"/>
              </a:rPr>
              <a:t>项目设计汇报</a:t>
            </a:r>
            <a:endParaRPr/>
          </a:p>
        </p:txBody>
      </p:sp>
      <p:sp>
        <p:nvSpPr>
          <p:cNvPr id="7" name="" descr="{&quot;isTemplate&quot;:true,&quot;type&quot;:&quot;text&quot;}"/>
          <p:cNvSpPr txBox="1"/>
          <p:nvPr/>
        </p:nvSpPr>
        <p:spPr>
          <a:xfrm rot="0" flipH="0" flipV="0">
            <a:off x="762000" y="2286000"/>
            <a:ext cx="10668000" cy="428625"/>
          </a:xfrm>
          <a:prstGeom prst="rect"/>
        </p:spPr>
        <p:txBody>
          <a:bodyPr wrap="none" lIns="0" tIns="0" rIns="0" bIns="0"/>
          <a:p>
            <a:pPr>
              <a:lnSpc>
                <a:spcPct val="150000"/>
              </a:lnSpc>
            </a:pPr>
            <a:r>
              <a:rPr lang="zh-CN" sz="1875">
                <a:solidFill>
                  <a:srgbClr val="333A45"/>
                </a:solidFill>
                <a:latin typeface="Microsoft YaHei"/>
                <a:ea typeface="Microsoft YaHei"/>
              </a:rPr>
              <a:t>以结构化步骤为核心的高中数学</a:t>
            </a:r>
            <a:r>
              <a:rPr lang="en-US" sz="1875">
                <a:solidFill>
                  <a:srgbClr val="333A45"/>
                </a:solidFill>
                <a:latin typeface="Microsoft YaHei"/>
                <a:ea typeface="Microsoft YaHei"/>
              </a:rPr>
              <a:t xml:space="preserve"> AI </a:t>
            </a:r>
            <a:r>
              <a:rPr lang="zh-CN" sz="1875">
                <a:solidFill>
                  <a:srgbClr val="333A45"/>
                </a:solidFill>
                <a:latin typeface="Microsoft YaHei"/>
                <a:ea typeface="Microsoft YaHei"/>
              </a:rPr>
              <a:t>学习系统</a:t>
            </a:r>
            <a:endParaRPr/>
          </a:p>
        </p:txBody>
      </p:sp>
      <p:sp>
        <p:nvSpPr>
          <p:cNvPr id="8" name="" descr="{&quot;isTemplate&quot;:true,&quot;type&quot;:&quot;text&quot;}"/>
          <p:cNvSpPr txBox="1"/>
          <p:nvPr/>
        </p:nvSpPr>
        <p:spPr>
          <a:xfrm rot="0" flipH="0" flipV="0">
            <a:off x="762000" y="3038475"/>
            <a:ext cx="10668000" cy="295275"/>
          </a:xfrm>
          <a:prstGeom prst="rect"/>
        </p:spPr>
        <p:txBody>
          <a:bodyPr wrap="none" lIns="0" tIns="0" rIns="0" bIns="0"/>
          <a:p>
            <a:pPr>
              <a:lnSpc>
                <a:spcPct val="160000"/>
              </a:lnSpc>
            </a:pPr>
            <a:r>
              <a:rPr lang="zh-CN" sz="1200">
                <a:solidFill>
                  <a:srgbClr val="7A8699"/>
                </a:solidFill>
                <a:latin typeface="Microsoft YaHei"/>
                <a:ea typeface="Microsoft YaHei"/>
              </a:rPr>
              <a:t>技术评审版</a:t>
            </a:r>
            <a:r>
              <a:rPr lang="en-US" sz="1200">
                <a:solidFill>
                  <a:srgbClr val="7A8699"/>
                </a:solidFill>
                <a:latin typeface="Microsoft YaHei"/>
                <a:ea typeface="Microsoft YaHei"/>
              </a:rPr>
              <a:t xml:space="preserve"> · 2026 </a:t>
            </a:r>
            <a:r>
              <a:rPr lang="zh-CN" sz="1200">
                <a:solidFill>
                  <a:srgbClr val="7A8699"/>
                </a:solidFill>
                <a:latin typeface="Microsoft YaHei"/>
                <a:ea typeface="Microsoft YaHei"/>
              </a:rPr>
              <a:t>年</a:t>
            </a:r>
            <a:r>
              <a:rPr lang="en-US" sz="1200">
                <a:solidFill>
                  <a:srgbClr val="7A8699"/>
                </a:solidFill>
                <a:latin typeface="Microsoft YaHei"/>
                <a:ea typeface="Microsoft YaHei"/>
              </a:rPr>
              <a:t xml:space="preserve"> 10 </a:t>
            </a:r>
            <a:r>
              <a:rPr lang="zh-CN" sz="1200">
                <a:solidFill>
                  <a:srgbClr val="7A8699"/>
                </a:solidFill>
                <a:latin typeface="Microsoft YaHei"/>
                <a:ea typeface="Microsoft YaHei"/>
              </a:rPr>
              <a:t>月</a:t>
            </a:r>
            <a:endParaRPr/>
          </a:p>
        </p:txBody>
      </p:sp>
      <p:sp>
        <p:nvSpPr>
          <p:cNvPr id="9" name="" descr="{&quot;isTemplate&quot;:true,&quot;type&quot;:&quot;text&quot;}"/>
          <p:cNvSpPr txBox="1"/>
          <p:nvPr/>
        </p:nvSpPr>
        <p:spPr>
          <a:xfrm rot="0" flipH="0" flipV="0">
            <a:off x="762000" y="3390900"/>
            <a:ext cx="10668000" cy="295275"/>
          </a:xfrm>
          <a:prstGeom prst="rect"/>
        </p:spPr>
        <p:txBody>
          <a:bodyPr wrap="none" lIns="0" tIns="0" rIns="0" bIns="0"/>
          <a:p>
            <a:pPr>
              <a:lnSpc>
                <a:spcPct val="160000"/>
              </a:lnSpc>
            </a:pPr>
            <a:r>
              <a:rPr lang="zh-CN" sz="1200">
                <a:solidFill>
                  <a:srgbClr val="7A8699"/>
                </a:solidFill>
                <a:latin typeface="Microsoft YaHei"/>
                <a:ea typeface="Microsoft YaHei"/>
              </a:rPr>
              <a:t>覆盖</a:t>
            </a:r>
            <a:r>
              <a:rPr lang="en-US" sz="1200">
                <a:solidFill>
                  <a:srgbClr val="7A8699"/>
                </a:solidFill>
                <a:latin typeface="Microsoft YaHei"/>
                <a:ea typeface="Microsoft YaHei"/>
              </a:rPr>
              <a:t xml:space="preserve"> 12 </a:t>
            </a:r>
            <a:r>
              <a:rPr lang="zh-CN" sz="1200">
                <a:solidFill>
                  <a:srgbClr val="7A8699"/>
                </a:solidFill>
                <a:latin typeface="Microsoft YaHei"/>
                <a:ea typeface="Microsoft YaHei"/>
              </a:rPr>
              <a:t>份设计文档</a:t>
            </a:r>
            <a:r>
              <a:rPr lang="en-US" sz="1200">
                <a:solidFill>
                  <a:srgbClr val="7A8699"/>
                </a:solidFill>
                <a:latin typeface="Microsoft YaHei"/>
                <a:ea typeface="Microsoft YaHei"/>
              </a:rPr>
              <a:t xml:space="preserve"> · 115 </a:t>
            </a:r>
            <a:r>
              <a:rPr lang="zh-CN" sz="1200">
                <a:solidFill>
                  <a:srgbClr val="7A8699"/>
                </a:solidFill>
                <a:latin typeface="Microsoft YaHei"/>
                <a:ea typeface="Microsoft YaHei"/>
              </a:rPr>
              <a:t>页</a:t>
            </a:r>
            <a:endParaRPr/>
          </a:p>
        </p:txBody>
      </p:sp>
      <p:sp>
        <p:nvSpPr>
          <p:cNvPr id="10" name="" descr="{&quot;isTemplate&quot;:true,&quot;type&quot;:&quot;text&quot;}"/>
          <p:cNvSpPr txBox="1"/>
          <p:nvPr/>
        </p:nvSpPr>
        <p:spPr>
          <a:xfrm rot="0" flipH="0" flipV="0">
            <a:off x="762000" y="3743325"/>
            <a:ext cx="10668000" cy="295275"/>
          </a:xfrm>
          <a:prstGeom prst="rect"/>
        </p:spPr>
        <p:txBody>
          <a:bodyPr wrap="none" lIns="0" tIns="0" rIns="0" bIns="0"/>
          <a:p>
            <a:pPr>
              <a:lnSpc>
                <a:spcPct val="160000"/>
              </a:lnSpc>
            </a:pPr>
            <a:r>
              <a:rPr lang="zh-CN" sz="1200">
                <a:solidFill>
                  <a:srgbClr val="7A8699"/>
                </a:solidFill>
                <a:latin typeface="Microsoft YaHei"/>
                <a:ea typeface="Microsoft YaHei"/>
              </a:rPr>
              <a:t>全部结论均标注来源文档与实现状态</a:t>
            </a:r>
            <a:endParaRPr/>
          </a:p>
        </p:txBody>
      </p:sp>
      <p:sp>
        <p:nvSpPr>
          <p:cNvPr id="11" name=""/>
          <p:cNvSpPr/>
          <p:nvPr/>
        </p:nvSpPr>
        <p:spPr>
          <a:xfrm rot="0" flipH="0" flipV="0">
            <a:off x="762000" y="5391150"/>
            <a:ext cx="2543175" cy="923925"/>
          </a:xfrm>
          <a:prstGeom prst="roundRect">
            <a:avLst>
              <a:gd name="adj" fmla="val 6186"/>
            </a:avLst>
          </a:prstGeom>
          <a:solidFill>
            <a:srgbClr val="F5F7FA"/>
          </a:solidFill>
          <a:ln/>
        </p:spPr>
        <p:txBody>
          <a:bodyPr/>
          <a:p/>
        </p:txBody>
      </p:sp>
      <p:sp>
        <p:nvSpPr>
          <p:cNvPr id="12" name=""/>
          <p:cNvSpPr/>
          <p:nvPr/>
        </p:nvSpPr>
        <p:spPr>
          <a:xfrm rot="0" flipH="0" flipV="0">
            <a:off x="762000" y="5391150"/>
            <a:ext cx="2543175" cy="923925"/>
          </a:xfrm>
          <a:custGeom>
            <a:pathLst>
              <a:path w="267" h="97">
                <a:moveTo>
                  <a:pt x="261" y="0"/>
                </a:moveTo>
                <a:cubicBezTo>
                  <a:pt x="264" y="0"/>
                  <a:pt x="267" y="2"/>
                  <a:pt x="267" y="5"/>
                </a:cubicBezTo>
                <a:cubicBezTo>
                  <a:pt x="266" y="4"/>
                  <a:pt x="265" y="3"/>
                  <a:pt x="264" y="3"/>
                </a:cubicBezTo>
                <a:lnTo>
                  <a:pt x="3" y="3"/>
                </a:lnTo>
                <a:cubicBezTo>
                  <a:pt x="2" y="3"/>
                  <a:pt x="0" y="4"/>
                  <a:pt x="0" y="5"/>
                </a:cubicBezTo>
                <a:cubicBezTo>
                  <a:pt x="0" y="2"/>
                  <a:pt x="3" y="0"/>
                  <a:pt x="6" y="0"/>
                </a:cubicBezTo>
                <a:lnTo>
                  <a:pt x="261" y="0"/>
                </a:lnTo>
                <a:close/>
              </a:path>
            </a:pathLst>
          </a:custGeom>
          <a:solidFill>
            <a:srgbClr val="1E7BE0"/>
          </a:solidFill>
          <a:ln/>
        </p:spPr>
        <p:txBody>
          <a:bodyPr/>
          <a:p/>
        </p:txBody>
      </p:sp>
      <p:sp>
        <p:nvSpPr>
          <p:cNvPr id="13" name="" descr="{&quot;isTemplate&quot;:true,&quot;type&quot;:&quot;text&quot;}"/>
          <p:cNvSpPr txBox="1"/>
          <p:nvPr/>
        </p:nvSpPr>
        <p:spPr>
          <a:xfrm rot="0" flipH="0" flipV="0">
            <a:off x="933450" y="5524500"/>
            <a:ext cx="2200275" cy="381000"/>
          </a:xfrm>
          <a:prstGeom prst="rect"/>
        </p:spPr>
        <p:txBody>
          <a:bodyPr wrap="none" lIns="0" tIns="0" rIns="0" bIns="0"/>
          <a:p>
            <a:pPr>
              <a:lnSpc>
                <a:spcPct val="110000"/>
              </a:lnSpc>
            </a:pPr>
            <a:r>
              <a:rPr lang="en-US" sz="2250" b="1">
                <a:solidFill>
                  <a:srgbClr val="0E2340"/>
                </a:solidFill>
                <a:latin typeface="Microsoft YaHei"/>
                <a:ea typeface="Microsoft YaHei"/>
              </a:rPr>
              <a:t>329</a:t>
            </a:r>
            <a:endParaRPr/>
          </a:p>
        </p:txBody>
      </p:sp>
      <p:sp>
        <p:nvSpPr>
          <p:cNvPr id="14" name="" descr="{&quot;isTemplate&quot;:true,&quot;type&quot;:&quot;text&quot;}"/>
          <p:cNvSpPr txBox="1"/>
          <p:nvPr/>
        </p:nvSpPr>
        <p:spPr>
          <a:xfrm rot="0" flipH="0" flipV="0">
            <a:off x="933450" y="5905500"/>
            <a:ext cx="2200275" cy="247650"/>
          </a:xfrm>
          <a:prstGeom prst="rect"/>
        </p:spPr>
        <p:txBody>
          <a:bodyPr wrap="none" lIns="0" tIns="0" rIns="0" bIns="0"/>
          <a:p>
            <a:pPr>
              <a:lnSpc>
                <a:spcPct val="140000"/>
              </a:lnSpc>
            </a:pPr>
            <a:r>
              <a:rPr lang="zh-CN" sz="1125">
                <a:solidFill>
                  <a:srgbClr val="7A8699"/>
                </a:solidFill>
                <a:latin typeface="Microsoft YaHei"/>
                <a:ea typeface="Microsoft YaHei"/>
              </a:rPr>
              <a:t>课时</a:t>
            </a:r>
            <a:endParaRPr/>
          </a:p>
        </p:txBody>
      </p:sp>
      <p:sp>
        <p:nvSpPr>
          <p:cNvPr id="15" name=""/>
          <p:cNvSpPr/>
          <p:nvPr/>
        </p:nvSpPr>
        <p:spPr>
          <a:xfrm rot="0" flipH="0" flipV="0">
            <a:off x="3476625" y="5391150"/>
            <a:ext cx="2533650" cy="923925"/>
          </a:xfrm>
          <a:prstGeom prst="roundRect">
            <a:avLst>
              <a:gd name="adj" fmla="val 6186"/>
            </a:avLst>
          </a:prstGeom>
          <a:solidFill>
            <a:srgbClr val="F5F7FA"/>
          </a:solidFill>
          <a:ln/>
        </p:spPr>
        <p:txBody>
          <a:bodyPr/>
          <a:p/>
        </p:txBody>
      </p:sp>
      <p:sp>
        <p:nvSpPr>
          <p:cNvPr id="16" name=""/>
          <p:cNvSpPr/>
          <p:nvPr/>
        </p:nvSpPr>
        <p:spPr>
          <a:xfrm rot="0" flipH="0" flipV="0">
            <a:off x="3476625" y="5391150"/>
            <a:ext cx="2533650" cy="923925"/>
          </a:xfrm>
          <a:custGeom>
            <a:pathLst>
              <a:path w="266" h="97">
                <a:moveTo>
                  <a:pt x="260" y="0"/>
                </a:moveTo>
                <a:cubicBezTo>
                  <a:pt x="263" y="0"/>
                  <a:pt x="266" y="2"/>
                  <a:pt x="266" y="5"/>
                </a:cubicBezTo>
                <a:cubicBezTo>
                  <a:pt x="265" y="4"/>
                  <a:pt x="264" y="3"/>
                  <a:pt x="263" y="3"/>
                </a:cubicBezTo>
                <a:lnTo>
                  <a:pt x="3" y="3"/>
                </a:lnTo>
                <a:cubicBezTo>
                  <a:pt x="2" y="3"/>
                  <a:pt x="0" y="4"/>
                  <a:pt x="0" y="5"/>
                </a:cubicBezTo>
                <a:cubicBezTo>
                  <a:pt x="0" y="2"/>
                  <a:pt x="3" y="0"/>
                  <a:pt x="6" y="0"/>
                </a:cubicBezTo>
                <a:lnTo>
                  <a:pt x="260" y="0"/>
                </a:lnTo>
                <a:close/>
              </a:path>
            </a:pathLst>
          </a:custGeom>
          <a:solidFill>
            <a:srgbClr val="1E7BE0"/>
          </a:solidFill>
          <a:ln/>
        </p:spPr>
        <p:txBody>
          <a:bodyPr/>
          <a:p/>
        </p:txBody>
      </p:sp>
      <p:sp>
        <p:nvSpPr>
          <p:cNvPr id="17" name="" descr="{&quot;isTemplate&quot;:true,&quot;type&quot;:&quot;text&quot;}"/>
          <p:cNvSpPr txBox="1"/>
          <p:nvPr/>
        </p:nvSpPr>
        <p:spPr>
          <a:xfrm rot="0" flipH="0" flipV="0">
            <a:off x="3648075" y="5524500"/>
            <a:ext cx="2190750" cy="381000"/>
          </a:xfrm>
          <a:prstGeom prst="rect"/>
        </p:spPr>
        <p:txBody>
          <a:bodyPr wrap="none" lIns="0" tIns="0" rIns="0" bIns="0"/>
          <a:p>
            <a:pPr>
              <a:lnSpc>
                <a:spcPct val="110000"/>
              </a:lnSpc>
            </a:pPr>
            <a:r>
              <a:rPr lang="en-US" sz="2250" b="1">
                <a:solidFill>
                  <a:srgbClr val="0E2340"/>
                </a:solidFill>
                <a:latin typeface="Microsoft YaHei"/>
                <a:ea typeface="Microsoft YaHei"/>
              </a:rPr>
              <a:t>541</a:t>
            </a:r>
            <a:endParaRPr/>
          </a:p>
        </p:txBody>
      </p:sp>
      <p:sp>
        <p:nvSpPr>
          <p:cNvPr id="18" name="" descr="{&quot;isTemplate&quot;:true,&quot;type&quot;:&quot;text&quot;}"/>
          <p:cNvSpPr txBox="1"/>
          <p:nvPr/>
        </p:nvSpPr>
        <p:spPr>
          <a:xfrm rot="0" flipH="0" flipV="0">
            <a:off x="3648075" y="5905500"/>
            <a:ext cx="2190750" cy="247650"/>
          </a:xfrm>
          <a:prstGeom prst="rect"/>
        </p:spPr>
        <p:txBody>
          <a:bodyPr wrap="none" lIns="0" tIns="0" rIns="0" bIns="0"/>
          <a:p>
            <a:pPr>
              <a:lnSpc>
                <a:spcPct val="140000"/>
              </a:lnSpc>
            </a:pPr>
            <a:r>
              <a:rPr lang="zh-CN" sz="1125">
                <a:solidFill>
                  <a:srgbClr val="7A8699"/>
                </a:solidFill>
                <a:latin typeface="Microsoft YaHei"/>
                <a:ea typeface="Microsoft YaHei"/>
              </a:rPr>
              <a:t>三级知识点</a:t>
            </a:r>
            <a:endParaRPr/>
          </a:p>
        </p:txBody>
      </p:sp>
      <p:sp>
        <p:nvSpPr>
          <p:cNvPr id="19" name=""/>
          <p:cNvSpPr/>
          <p:nvPr/>
        </p:nvSpPr>
        <p:spPr>
          <a:xfrm rot="0" flipH="0" flipV="0">
            <a:off x="6181725" y="5391150"/>
            <a:ext cx="2543175" cy="923925"/>
          </a:xfrm>
          <a:prstGeom prst="roundRect">
            <a:avLst>
              <a:gd name="adj" fmla="val 6186"/>
            </a:avLst>
          </a:prstGeom>
          <a:solidFill>
            <a:srgbClr val="F5F7FA"/>
          </a:solidFill>
          <a:ln/>
        </p:spPr>
        <p:txBody>
          <a:bodyPr/>
          <a:p/>
        </p:txBody>
      </p:sp>
      <p:sp>
        <p:nvSpPr>
          <p:cNvPr id="20" name=""/>
          <p:cNvSpPr/>
          <p:nvPr/>
        </p:nvSpPr>
        <p:spPr>
          <a:xfrm rot="0" flipH="0" flipV="0">
            <a:off x="6181725" y="5391150"/>
            <a:ext cx="2543175" cy="923925"/>
          </a:xfrm>
          <a:custGeom>
            <a:pathLst>
              <a:path w="267" h="97">
                <a:moveTo>
                  <a:pt x="261" y="0"/>
                </a:moveTo>
                <a:cubicBezTo>
                  <a:pt x="264" y="0"/>
                  <a:pt x="267" y="2"/>
                  <a:pt x="267" y="5"/>
                </a:cubicBezTo>
                <a:cubicBezTo>
                  <a:pt x="266" y="4"/>
                  <a:pt x="265" y="3"/>
                  <a:pt x="264" y="3"/>
                </a:cubicBezTo>
                <a:lnTo>
                  <a:pt x="3" y="3"/>
                </a:lnTo>
                <a:cubicBezTo>
                  <a:pt x="2" y="3"/>
                  <a:pt x="0" y="4"/>
                  <a:pt x="0" y="5"/>
                </a:cubicBezTo>
                <a:cubicBezTo>
                  <a:pt x="0" y="2"/>
                  <a:pt x="3" y="0"/>
                  <a:pt x="6" y="0"/>
                </a:cubicBezTo>
                <a:lnTo>
                  <a:pt x="261" y="0"/>
                </a:lnTo>
                <a:close/>
              </a:path>
            </a:pathLst>
          </a:custGeom>
          <a:solidFill>
            <a:srgbClr val="1E7BE0"/>
          </a:solidFill>
          <a:ln/>
        </p:spPr>
        <p:txBody>
          <a:bodyPr/>
          <a:p/>
        </p:txBody>
      </p:sp>
      <p:sp>
        <p:nvSpPr>
          <p:cNvPr id="21" name="" descr="{&quot;isTemplate&quot;:true,&quot;type&quot;:&quot;text&quot;}"/>
          <p:cNvSpPr txBox="1"/>
          <p:nvPr/>
        </p:nvSpPr>
        <p:spPr>
          <a:xfrm rot="0" flipH="0" flipV="0">
            <a:off x="6353175" y="5524500"/>
            <a:ext cx="2200275" cy="381000"/>
          </a:xfrm>
          <a:prstGeom prst="rect"/>
        </p:spPr>
        <p:txBody>
          <a:bodyPr wrap="none" lIns="0" tIns="0" rIns="0" bIns="0"/>
          <a:p>
            <a:pPr>
              <a:lnSpc>
                <a:spcPct val="110000"/>
              </a:lnSpc>
            </a:pPr>
            <a:r>
              <a:rPr lang="en-US" sz="2250" b="1">
                <a:solidFill>
                  <a:srgbClr val="0E2340"/>
                </a:solidFill>
                <a:latin typeface="Microsoft YaHei"/>
                <a:ea typeface="Microsoft YaHei"/>
              </a:rPr>
              <a:t>359</a:t>
            </a:r>
            <a:endParaRPr/>
          </a:p>
        </p:txBody>
      </p:sp>
      <p:sp>
        <p:nvSpPr>
          <p:cNvPr id="22" name="" descr="{&quot;isTemplate&quot;:true,&quot;type&quot;:&quot;text&quot;}"/>
          <p:cNvSpPr txBox="1"/>
          <p:nvPr/>
        </p:nvSpPr>
        <p:spPr>
          <a:xfrm rot="0" flipH="0" flipV="0">
            <a:off x="6353175" y="5905500"/>
            <a:ext cx="2200275" cy="247650"/>
          </a:xfrm>
          <a:prstGeom prst="rect"/>
        </p:spPr>
        <p:txBody>
          <a:bodyPr wrap="none" lIns="0" tIns="0" rIns="0" bIns="0"/>
          <a:p>
            <a:pPr>
              <a:lnSpc>
                <a:spcPct val="140000"/>
              </a:lnSpc>
            </a:pPr>
            <a:r>
              <a:rPr lang="zh-CN" sz="1125">
                <a:solidFill>
                  <a:srgbClr val="7A8699"/>
                </a:solidFill>
                <a:latin typeface="Microsoft YaHei"/>
                <a:ea typeface="Microsoft YaHei"/>
              </a:rPr>
              <a:t>二级步骤</a:t>
            </a:r>
            <a:endParaRPr/>
          </a:p>
        </p:txBody>
      </p:sp>
      <p:sp>
        <p:nvSpPr>
          <p:cNvPr id="23" name=""/>
          <p:cNvSpPr/>
          <p:nvPr/>
        </p:nvSpPr>
        <p:spPr>
          <a:xfrm rot="0" flipH="0" flipV="0">
            <a:off x="8896350" y="5391150"/>
            <a:ext cx="2533650" cy="923925"/>
          </a:xfrm>
          <a:prstGeom prst="roundRect">
            <a:avLst>
              <a:gd name="adj" fmla="val 6186"/>
            </a:avLst>
          </a:prstGeom>
          <a:solidFill>
            <a:srgbClr val="F5F7FA"/>
          </a:solidFill>
          <a:ln/>
        </p:spPr>
        <p:txBody>
          <a:bodyPr/>
          <a:p/>
        </p:txBody>
      </p:sp>
      <p:sp>
        <p:nvSpPr>
          <p:cNvPr id="24" name=""/>
          <p:cNvSpPr/>
          <p:nvPr/>
        </p:nvSpPr>
        <p:spPr>
          <a:xfrm rot="0" flipH="0" flipV="0">
            <a:off x="8896350" y="5391150"/>
            <a:ext cx="2533650" cy="923925"/>
          </a:xfrm>
          <a:custGeom>
            <a:pathLst>
              <a:path w="266" h="97">
                <a:moveTo>
                  <a:pt x="260" y="0"/>
                </a:moveTo>
                <a:cubicBezTo>
                  <a:pt x="263" y="0"/>
                  <a:pt x="266" y="2"/>
                  <a:pt x="266" y="5"/>
                </a:cubicBezTo>
                <a:cubicBezTo>
                  <a:pt x="265" y="4"/>
                  <a:pt x="264" y="3"/>
                  <a:pt x="263" y="3"/>
                </a:cubicBezTo>
                <a:lnTo>
                  <a:pt x="3" y="3"/>
                </a:lnTo>
                <a:cubicBezTo>
                  <a:pt x="2" y="3"/>
                  <a:pt x="0" y="4"/>
                  <a:pt x="0" y="5"/>
                </a:cubicBezTo>
                <a:cubicBezTo>
                  <a:pt x="0" y="2"/>
                  <a:pt x="3" y="0"/>
                  <a:pt x="6" y="0"/>
                </a:cubicBezTo>
                <a:lnTo>
                  <a:pt x="260" y="0"/>
                </a:lnTo>
                <a:close/>
              </a:path>
            </a:pathLst>
          </a:custGeom>
          <a:solidFill>
            <a:srgbClr val="1E7BE0"/>
          </a:solidFill>
          <a:ln/>
        </p:spPr>
        <p:txBody>
          <a:bodyPr/>
          <a:p/>
        </p:txBody>
      </p:sp>
      <p:sp>
        <p:nvSpPr>
          <p:cNvPr id="25" name="" descr="{&quot;isTemplate&quot;:true,&quot;type&quot;:&quot;text&quot;}"/>
          <p:cNvSpPr txBox="1"/>
          <p:nvPr/>
        </p:nvSpPr>
        <p:spPr>
          <a:xfrm rot="0" flipH="0" flipV="0">
            <a:off x="9067800" y="5524500"/>
            <a:ext cx="2190750" cy="381000"/>
          </a:xfrm>
          <a:prstGeom prst="rect"/>
        </p:spPr>
        <p:txBody>
          <a:bodyPr wrap="none" lIns="0" tIns="0" rIns="0" bIns="0"/>
          <a:p>
            <a:pPr>
              <a:lnSpc>
                <a:spcPct val="110000"/>
              </a:lnSpc>
            </a:pPr>
            <a:r>
              <a:rPr lang="en-US" sz="2250" b="1">
                <a:solidFill>
                  <a:srgbClr val="0E2340"/>
                </a:solidFill>
                <a:latin typeface="Microsoft YaHei"/>
                <a:ea typeface="Microsoft YaHei"/>
              </a:rPr>
              <a:t>1019</a:t>
            </a:r>
            <a:endParaRPr/>
          </a:p>
        </p:txBody>
      </p:sp>
      <p:sp>
        <p:nvSpPr>
          <p:cNvPr id="26" name="" descr="{&quot;isTemplate&quot;:true,&quot;type&quot;:&quot;text&quot;}"/>
          <p:cNvSpPr txBox="1"/>
          <p:nvPr/>
        </p:nvSpPr>
        <p:spPr>
          <a:xfrm rot="0" flipH="0" flipV="0">
            <a:off x="9067800" y="5905500"/>
            <a:ext cx="2190750" cy="247650"/>
          </a:xfrm>
          <a:prstGeom prst="rect"/>
        </p:spPr>
        <p:txBody>
          <a:bodyPr wrap="none" lIns="0" tIns="0" rIns="0" bIns="0"/>
          <a:p>
            <a:pPr>
              <a:lnSpc>
                <a:spcPct val="140000"/>
              </a:lnSpc>
            </a:pPr>
            <a:r>
              <a:rPr lang="zh-CN" sz="1125">
                <a:solidFill>
                  <a:srgbClr val="7A8699"/>
                </a:solidFill>
                <a:latin typeface="Microsoft YaHei"/>
                <a:ea typeface="Microsoft YaHei"/>
              </a:rPr>
              <a:t>套路目录</a:t>
            </a:r>
            <a:endParaRPr/>
          </a:p>
        </p:txBody>
      </p:sp>
      <p:sp>
        <p:nvSpPr>
          <p:cNvPr id="27" name=""/>
          <p:cNvSpPr/>
          <p:nvPr/>
        </p:nvSpPr>
        <p:spPr>
          <a:xfrm rot="0" flipH="0" flipV="0">
            <a:off x="6667500" y="2781300"/>
            <a:ext cx="4000500" cy="2505075"/>
          </a:xfrm>
          <a:prstGeom prst="roundRect">
            <a:avLst>
              <a:gd name="adj" fmla="val 3042"/>
            </a:avLst>
          </a:prstGeom>
          <a:solidFill>
            <a:srgbClr val="FFFFFF"/>
          </a:solidFill>
          <a:ln w="12700">
            <a:solidFill>
              <a:srgbClr val="E3E8EF"/>
            </a:solidFill>
            <a:prstDash val="solid"/>
          </a:ln>
        </p:spPr>
        <p:txBody>
          <a:bodyPr/>
          <a:p/>
        </p:txBody>
      </p:sp>
      <p:sp>
        <p:nvSpPr>
          <p:cNvPr id="28" name="" descr="{&quot;isTemplate&quot;:true,&quot;type&quot;:&quot;text&quot;}"/>
          <p:cNvSpPr txBox="1"/>
          <p:nvPr/>
        </p:nvSpPr>
        <p:spPr>
          <a:xfrm rot="0" flipH="0" flipV="0">
            <a:off x="6838950" y="2933700"/>
            <a:ext cx="3657600" cy="295275"/>
          </a:xfrm>
          <a:prstGeom prst="rect"/>
        </p:spPr>
        <p:txBody>
          <a:bodyPr wrap="none" lIns="0" tIns="0" rIns="0" bIns="0"/>
          <a:p>
            <a:pPr>
              <a:lnSpc>
                <a:spcPct val="140000"/>
              </a:lnSpc>
            </a:pPr>
            <a:r>
              <a:rPr lang="zh-CN" sz="1350" b="1">
                <a:solidFill>
                  <a:srgbClr val="0E2340"/>
                </a:solidFill>
                <a:latin typeface="Microsoft YaHei"/>
                <a:ea typeface="Microsoft YaHei"/>
              </a:rPr>
              <a:t>本次汇报的六幕结构</a:t>
            </a:r>
            <a:endParaRPr/>
          </a:p>
        </p:txBody>
      </p:sp>
      <p:sp>
        <p:nvSpPr>
          <p:cNvPr id="29" name=""/>
          <p:cNvSpPr/>
          <p:nvPr/>
        </p:nvSpPr>
        <p:spPr>
          <a:xfrm rot="0" flipH="0" flipV="0">
            <a:off x="6838950" y="3324225"/>
            <a:ext cx="1733550" cy="400050"/>
          </a:xfrm>
          <a:prstGeom prst="roundRect">
            <a:avLst>
              <a:gd name="adj" fmla="val 14286"/>
            </a:avLst>
          </a:prstGeom>
          <a:solidFill>
            <a:srgbClr val="F5F7FA"/>
          </a:solidFill>
          <a:ln/>
        </p:spPr>
        <p:txBody>
          <a:bodyPr/>
          <a:p/>
        </p:txBody>
      </p:sp>
      <p:sp>
        <p:nvSpPr>
          <p:cNvPr id="30" name="" descr="{&quot;isTemplate&quot;:true,&quot;type&quot;:&quot;text&quot;}"/>
          <p:cNvSpPr txBox="1"/>
          <p:nvPr/>
        </p:nvSpPr>
        <p:spPr>
          <a:xfrm rot="0" flipH="0" flipV="0">
            <a:off x="6934200" y="3409950"/>
            <a:ext cx="1543050" cy="228600"/>
          </a:xfrm>
          <a:prstGeom prst="rect"/>
        </p:spPr>
        <p:txBody>
          <a:bodyPr wrap="none" lIns="0" tIns="0" rIns="0" bIns="0"/>
          <a:p>
            <a:pPr>
              <a:lnSpc>
                <a:spcPct val="140000"/>
              </a:lnSpc>
            </a:pPr>
            <a:r>
              <a:rPr lang="zh-CN" sz="1050" b="1">
                <a:solidFill>
                  <a:srgbClr val="0E2340"/>
                </a:solidFill>
                <a:latin typeface="Microsoft YaHei"/>
                <a:ea typeface="Microsoft YaHei"/>
              </a:rPr>
              <a:t>一</a:t>
            </a:r>
            <a:r>
              <a:rPr lang="en-US" sz="1050" b="1">
                <a:solidFill>
                  <a:srgbClr val="0E2340"/>
                </a:solidFill>
                <a:latin typeface="Microsoft YaHei"/>
                <a:ea typeface="Microsoft YaHei"/>
              </a:rPr>
              <a:t xml:space="preserve"> · </a:t>
            </a:r>
            <a:r>
              <a:rPr lang="zh-CN" sz="1050" b="1">
                <a:solidFill>
                  <a:srgbClr val="0E2340"/>
                </a:solidFill>
                <a:latin typeface="Microsoft YaHei"/>
                <a:ea typeface="Microsoft YaHei"/>
              </a:rPr>
              <a:t>概念地基</a:t>
            </a:r>
            <a:endParaRPr/>
          </a:p>
        </p:txBody>
      </p:sp>
      <p:sp>
        <p:nvSpPr>
          <p:cNvPr id="31" name=""/>
          <p:cNvSpPr/>
          <p:nvPr/>
        </p:nvSpPr>
        <p:spPr>
          <a:xfrm rot="0" flipH="0" flipV="0">
            <a:off x="8667750" y="3324225"/>
            <a:ext cx="1733550" cy="400050"/>
          </a:xfrm>
          <a:prstGeom prst="roundRect">
            <a:avLst>
              <a:gd name="adj" fmla="val 14286"/>
            </a:avLst>
          </a:prstGeom>
          <a:solidFill>
            <a:srgbClr val="F5F7FA"/>
          </a:solidFill>
          <a:ln/>
        </p:spPr>
        <p:txBody>
          <a:bodyPr/>
          <a:p/>
        </p:txBody>
      </p:sp>
      <p:sp>
        <p:nvSpPr>
          <p:cNvPr id="32" name="" descr="{&quot;isTemplate&quot;:true,&quot;type&quot;:&quot;text&quot;}"/>
          <p:cNvSpPr txBox="1"/>
          <p:nvPr/>
        </p:nvSpPr>
        <p:spPr>
          <a:xfrm rot="0" flipH="0" flipV="0">
            <a:off x="8763000" y="3409950"/>
            <a:ext cx="1543050" cy="228600"/>
          </a:xfrm>
          <a:prstGeom prst="rect"/>
        </p:spPr>
        <p:txBody>
          <a:bodyPr wrap="none" lIns="0" tIns="0" rIns="0" bIns="0"/>
          <a:p>
            <a:pPr>
              <a:lnSpc>
                <a:spcPct val="140000"/>
              </a:lnSpc>
            </a:pPr>
            <a:r>
              <a:rPr lang="zh-CN" sz="1050" b="1">
                <a:solidFill>
                  <a:srgbClr val="0E2340"/>
                </a:solidFill>
                <a:latin typeface="Microsoft YaHei"/>
                <a:ea typeface="Microsoft YaHei"/>
              </a:rPr>
              <a:t>二</a:t>
            </a:r>
            <a:r>
              <a:rPr lang="en-US" sz="1050" b="1">
                <a:solidFill>
                  <a:srgbClr val="0E2340"/>
                </a:solidFill>
                <a:latin typeface="Microsoft YaHei"/>
                <a:ea typeface="Microsoft YaHei"/>
              </a:rPr>
              <a:t xml:space="preserve"> · </a:t>
            </a:r>
            <a:r>
              <a:rPr lang="zh-CN" sz="1050" b="1">
                <a:solidFill>
                  <a:srgbClr val="0E2340"/>
                </a:solidFill>
                <a:latin typeface="Microsoft YaHei"/>
                <a:ea typeface="Microsoft YaHei"/>
              </a:rPr>
              <a:t>现状与引擎</a:t>
            </a:r>
            <a:endParaRPr/>
          </a:p>
        </p:txBody>
      </p:sp>
      <p:sp>
        <p:nvSpPr>
          <p:cNvPr id="33" name=""/>
          <p:cNvSpPr/>
          <p:nvPr/>
        </p:nvSpPr>
        <p:spPr>
          <a:xfrm rot="0" flipH="0" flipV="0">
            <a:off x="6838950" y="3819525"/>
            <a:ext cx="1733550" cy="400050"/>
          </a:xfrm>
          <a:prstGeom prst="roundRect">
            <a:avLst>
              <a:gd name="adj" fmla="val 14286"/>
            </a:avLst>
          </a:prstGeom>
          <a:solidFill>
            <a:srgbClr val="F5F7FA"/>
          </a:solidFill>
          <a:ln/>
        </p:spPr>
        <p:txBody>
          <a:bodyPr/>
          <a:p/>
        </p:txBody>
      </p:sp>
      <p:sp>
        <p:nvSpPr>
          <p:cNvPr id="34" name="" descr="{&quot;isTemplate&quot;:true,&quot;type&quot;:&quot;text&quot;}"/>
          <p:cNvSpPr txBox="1"/>
          <p:nvPr/>
        </p:nvSpPr>
        <p:spPr>
          <a:xfrm rot="0" flipH="0" flipV="0">
            <a:off x="6934200" y="3905250"/>
            <a:ext cx="1543050" cy="228600"/>
          </a:xfrm>
          <a:prstGeom prst="rect"/>
        </p:spPr>
        <p:txBody>
          <a:bodyPr wrap="none" lIns="0" tIns="0" rIns="0" bIns="0"/>
          <a:p>
            <a:pPr>
              <a:lnSpc>
                <a:spcPct val="140000"/>
              </a:lnSpc>
            </a:pPr>
            <a:r>
              <a:rPr lang="zh-CN" sz="1050" b="1">
                <a:solidFill>
                  <a:srgbClr val="0E2340"/>
                </a:solidFill>
                <a:latin typeface="Microsoft YaHei"/>
                <a:ea typeface="Microsoft YaHei"/>
              </a:rPr>
              <a:t>三</a:t>
            </a:r>
            <a:r>
              <a:rPr lang="en-US" sz="1050" b="1">
                <a:solidFill>
                  <a:srgbClr val="0E2340"/>
                </a:solidFill>
                <a:latin typeface="Microsoft YaHei"/>
                <a:ea typeface="Microsoft YaHei"/>
              </a:rPr>
              <a:t xml:space="preserve"> · </a:t>
            </a:r>
            <a:r>
              <a:rPr lang="zh-CN" sz="1050" b="1">
                <a:solidFill>
                  <a:srgbClr val="0E2340"/>
                </a:solidFill>
                <a:latin typeface="Microsoft YaHei"/>
                <a:ea typeface="Microsoft YaHei"/>
              </a:rPr>
              <a:t>三端与场景</a:t>
            </a:r>
            <a:endParaRPr/>
          </a:p>
        </p:txBody>
      </p:sp>
      <p:sp>
        <p:nvSpPr>
          <p:cNvPr id="35" name=""/>
          <p:cNvSpPr/>
          <p:nvPr/>
        </p:nvSpPr>
        <p:spPr>
          <a:xfrm rot="0" flipH="0" flipV="0">
            <a:off x="8667750" y="3819525"/>
            <a:ext cx="1733550" cy="400050"/>
          </a:xfrm>
          <a:prstGeom prst="roundRect">
            <a:avLst>
              <a:gd name="adj" fmla="val 14286"/>
            </a:avLst>
          </a:prstGeom>
          <a:solidFill>
            <a:srgbClr val="F5F7FA"/>
          </a:solidFill>
          <a:ln/>
        </p:spPr>
        <p:txBody>
          <a:bodyPr/>
          <a:p/>
        </p:txBody>
      </p:sp>
      <p:sp>
        <p:nvSpPr>
          <p:cNvPr id="36" name="" descr="{&quot;isTemplate&quot;:true,&quot;type&quot;:&quot;text&quot;}"/>
          <p:cNvSpPr txBox="1"/>
          <p:nvPr/>
        </p:nvSpPr>
        <p:spPr>
          <a:xfrm rot="0" flipH="0" flipV="0">
            <a:off x="8763000" y="3905250"/>
            <a:ext cx="1543050" cy="228600"/>
          </a:xfrm>
          <a:prstGeom prst="rect"/>
        </p:spPr>
        <p:txBody>
          <a:bodyPr wrap="none" lIns="0" tIns="0" rIns="0" bIns="0"/>
          <a:p>
            <a:pPr>
              <a:lnSpc>
                <a:spcPct val="140000"/>
              </a:lnSpc>
            </a:pPr>
            <a:r>
              <a:rPr lang="zh-CN" sz="1050" b="1">
                <a:solidFill>
                  <a:srgbClr val="0E2340"/>
                </a:solidFill>
                <a:latin typeface="Microsoft YaHei"/>
                <a:ea typeface="Microsoft YaHei"/>
              </a:rPr>
              <a:t>四</a:t>
            </a:r>
            <a:r>
              <a:rPr lang="en-US" sz="1050" b="1">
                <a:solidFill>
                  <a:srgbClr val="0E2340"/>
                </a:solidFill>
                <a:latin typeface="Microsoft YaHei"/>
                <a:ea typeface="Microsoft YaHei"/>
              </a:rPr>
              <a:t xml:space="preserve"> · </a:t>
            </a:r>
            <a:r>
              <a:rPr lang="zh-CN" sz="1050" b="1">
                <a:solidFill>
                  <a:srgbClr val="0E2340"/>
                </a:solidFill>
                <a:latin typeface="Microsoft YaHei"/>
                <a:ea typeface="Microsoft YaHei"/>
              </a:rPr>
              <a:t>协同与接入</a:t>
            </a:r>
            <a:endParaRPr/>
          </a:p>
        </p:txBody>
      </p:sp>
      <p:sp>
        <p:nvSpPr>
          <p:cNvPr id="37" name=""/>
          <p:cNvSpPr/>
          <p:nvPr/>
        </p:nvSpPr>
        <p:spPr>
          <a:xfrm rot="0" flipH="0" flipV="0">
            <a:off x="6838950" y="4314825"/>
            <a:ext cx="1733550" cy="400050"/>
          </a:xfrm>
          <a:prstGeom prst="roundRect">
            <a:avLst>
              <a:gd name="adj" fmla="val 14286"/>
            </a:avLst>
          </a:prstGeom>
          <a:solidFill>
            <a:srgbClr val="F5F7FA"/>
          </a:solidFill>
          <a:ln/>
        </p:spPr>
        <p:txBody>
          <a:bodyPr/>
          <a:p/>
        </p:txBody>
      </p:sp>
      <p:sp>
        <p:nvSpPr>
          <p:cNvPr id="38" name="" descr="{&quot;isTemplate&quot;:true,&quot;type&quot;:&quot;text&quot;}"/>
          <p:cNvSpPr txBox="1"/>
          <p:nvPr/>
        </p:nvSpPr>
        <p:spPr>
          <a:xfrm rot="0" flipH="0" flipV="0">
            <a:off x="6934200" y="4400550"/>
            <a:ext cx="1543050" cy="228600"/>
          </a:xfrm>
          <a:prstGeom prst="rect"/>
        </p:spPr>
        <p:txBody>
          <a:bodyPr wrap="none" lIns="0" tIns="0" rIns="0" bIns="0"/>
          <a:p>
            <a:pPr>
              <a:lnSpc>
                <a:spcPct val="140000"/>
              </a:lnSpc>
            </a:pPr>
            <a:r>
              <a:rPr lang="zh-CN" sz="1050" b="1">
                <a:solidFill>
                  <a:srgbClr val="0E2340"/>
                </a:solidFill>
                <a:latin typeface="Microsoft YaHei"/>
                <a:ea typeface="Microsoft YaHei"/>
              </a:rPr>
              <a:t>五</a:t>
            </a:r>
            <a:r>
              <a:rPr lang="en-US" sz="1050" b="1">
                <a:solidFill>
                  <a:srgbClr val="0E2340"/>
                </a:solidFill>
                <a:latin typeface="Microsoft YaHei"/>
                <a:ea typeface="Microsoft YaHei"/>
              </a:rPr>
              <a:t xml:space="preserve"> · </a:t>
            </a:r>
            <a:r>
              <a:rPr lang="zh-CN" sz="1050" b="1">
                <a:solidFill>
                  <a:srgbClr val="0E2340"/>
                </a:solidFill>
                <a:latin typeface="Microsoft YaHei"/>
                <a:ea typeface="Microsoft YaHei"/>
              </a:rPr>
              <a:t>边界与演进</a:t>
            </a:r>
            <a:endParaRPr/>
          </a:p>
        </p:txBody>
      </p:sp>
      <p:sp>
        <p:nvSpPr>
          <p:cNvPr id="39" name=""/>
          <p:cNvSpPr/>
          <p:nvPr/>
        </p:nvSpPr>
        <p:spPr>
          <a:xfrm rot="0" flipH="0" flipV="0">
            <a:off x="8667750" y="4314825"/>
            <a:ext cx="1733550" cy="400050"/>
          </a:xfrm>
          <a:prstGeom prst="roundRect">
            <a:avLst>
              <a:gd name="adj" fmla="val 14286"/>
            </a:avLst>
          </a:prstGeom>
          <a:solidFill>
            <a:srgbClr val="F5F7FA"/>
          </a:solidFill>
          <a:ln/>
        </p:spPr>
        <p:txBody>
          <a:bodyPr/>
          <a:p/>
        </p:txBody>
      </p:sp>
      <p:sp>
        <p:nvSpPr>
          <p:cNvPr id="40" name="" descr="{&quot;isTemplate&quot;:true,&quot;type&quot;:&quot;text&quot;}"/>
          <p:cNvSpPr txBox="1"/>
          <p:nvPr/>
        </p:nvSpPr>
        <p:spPr>
          <a:xfrm rot="0" flipH="0" flipV="0">
            <a:off x="8763000" y="4400550"/>
            <a:ext cx="1543050" cy="228600"/>
          </a:xfrm>
          <a:prstGeom prst="rect"/>
        </p:spPr>
        <p:txBody>
          <a:bodyPr wrap="none" lIns="0" tIns="0" rIns="0" bIns="0"/>
          <a:p>
            <a:pPr>
              <a:lnSpc>
                <a:spcPct val="140000"/>
              </a:lnSpc>
            </a:pPr>
            <a:r>
              <a:rPr lang="zh-CN" sz="1050" b="1">
                <a:solidFill>
                  <a:srgbClr val="0E2340"/>
                </a:solidFill>
                <a:latin typeface="Microsoft YaHei"/>
                <a:ea typeface="Microsoft YaHei"/>
              </a:rPr>
              <a:t>六</a:t>
            </a:r>
            <a:r>
              <a:rPr lang="en-US" sz="1050" b="1">
                <a:solidFill>
                  <a:srgbClr val="0E2340"/>
                </a:solidFill>
                <a:latin typeface="Microsoft YaHei"/>
                <a:ea typeface="Microsoft YaHei"/>
              </a:rPr>
              <a:t xml:space="preserve"> · </a:t>
            </a:r>
            <a:r>
              <a:rPr lang="zh-CN" sz="1050" b="1">
                <a:solidFill>
                  <a:srgbClr val="0E2340"/>
                </a:solidFill>
                <a:latin typeface="Microsoft YaHei"/>
                <a:ea typeface="Microsoft YaHei"/>
              </a:rPr>
              <a:t>自进化与收尾</a:t>
            </a:r>
            <a:endParaRPr/>
          </a:p>
        </p:txBody>
      </p:sp>
      <p:sp>
        <p:nvSpPr>
          <p:cNvPr id="41" name=""/>
          <p:cNvSpPr/>
          <p:nvPr/>
        </p:nvSpPr>
        <p:spPr>
          <a:xfrm rot="0" flipH="0" flipV="0">
            <a:off x="6838950" y="4810125"/>
            <a:ext cx="3657600" cy="333375"/>
          </a:xfrm>
          <a:custGeom>
            <a:pathLst>
              <a:path w="384" h="35">
                <a:moveTo>
                  <a:pt x="0" y="0"/>
                </a:moveTo>
                <a:lnTo>
                  <a:pt x="384" y="0"/>
                </a:lnTo>
                <a:lnTo>
                  <a:pt x="384" y="1"/>
                </a:lnTo>
                <a:lnTo>
                  <a:pt x="0" y="1"/>
                </a:lnTo>
                <a:close/>
              </a:path>
            </a:pathLst>
          </a:custGeom>
          <a:solidFill>
            <a:srgbClr val="E3E8EF"/>
          </a:solidFill>
          <a:ln/>
        </p:spPr>
        <p:txBody>
          <a:bodyPr/>
          <a:p/>
        </p:txBody>
      </p:sp>
      <p:sp>
        <p:nvSpPr>
          <p:cNvPr id="42" name="" descr="{&quot;isTemplate&quot;:true,&quot;type&quot;:&quot;text&quot;}"/>
          <p:cNvSpPr txBox="1"/>
          <p:nvPr/>
        </p:nvSpPr>
        <p:spPr>
          <a:xfrm rot="0" flipH="0" flipV="0">
            <a:off x="6838950" y="4905375"/>
            <a:ext cx="3657600" cy="228600"/>
          </a:xfrm>
          <a:prstGeom prst="rect"/>
        </p:spPr>
        <p:txBody>
          <a:bodyPr wrap="none" lIns="0" tIns="0" rIns="0" bIns="0"/>
          <a:p>
            <a:pPr>
              <a:lnSpc>
                <a:spcPct val="150000"/>
              </a:lnSpc>
            </a:pPr>
            <a:r>
              <a:rPr lang="zh-CN" sz="975">
                <a:solidFill>
                  <a:srgbClr val="7A8699"/>
                </a:solidFill>
                <a:latin typeface="Microsoft YaHei"/>
                <a:ea typeface="Microsoft YaHei"/>
              </a:rPr>
              <a:t>每页标注实现状态与来源文档，可逐页回溯</a:t>
            </a:r>
            <a:endParaRPr/>
          </a:p>
        </p:txBody>
      </p:sp>
    </p:spTree>
  </p:cSld>
</p:sld>
</file>

<file path=ppt/slides/slide2.xml><?xml version="1.0" encoding="utf-8"?>
<p:sld xmlns:p="http://schemas.openxmlformats.org/presentationml/2006/main" xmlns:a="http://schemas.openxmlformats.org/drawingml/2006/main">
  <p:cSld>
    <p:spTree>
      <p:nvGrpSpPr>
        <p:cNvPr id="934"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0 / 导读&lt;/Text&gt;&lt;Text style={{ fontSize: 32, color: '#0E2340', fontWeight: 700, lineHeight: 1.3 }}&gt;汇报导览：六幕结构与阅读顺序&lt;/Text&gt;&lt;/Box&gt;&lt;/Box&gt;&lt;Box style={{ height: 532, paddingTop: 8, flexDirection: 'column' }}&gt;&lt;Box style={{ flexDirection: 'column', gap: 18, flex: 1 }}&gt;&lt;Box style={{ flexDirection: 'row', gap: 20, flex: 1 }}&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一 · 概念地基 · P5–P10&lt;/Text&gt;&lt;Text style={{ fontSize: 16, color: '#333A45', fontWeight: 400, lineHeight: 1.6 }}&gt;四层概念前置链：课时 → 知识点 → 步骤 → 套路。全篇术语基准，先建立共识，避免后面的“步骤”被理解成普通解题步骤。&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二 · 现状与引擎 · P11–P36&lt;/Text&gt;&lt;Text style={{ fontSize: 16, color: '#333A45', fontWeight: 400, lineHeight: 1.6 }}&gt;先盘点当前实现能力与数据规模，说明已做到哪一步；再展开单题五大功能的技术心脏。&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三 · 三端与场景 · P37–P72&lt;/Text&gt;&lt;Text style={{ fontSize: 16, color: '#333A45', fontWeight: 400, lineHeight: 1.6 }}&gt;学生套路训练、教师端七项、学校端治理、试卷与生涯维度，覆盖系统真正的用户面。&lt;/Text&gt;&lt;/Box&gt;&lt;/Box&gt;&lt;/Box&gt;&lt;Box style={{ flexDirection: 'row', gap: 20, flex: 1 }}&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四 · 协同与接入 · P73–P89&lt;/Text&gt;&lt;Text style={{ fontSize: 16, color: '#333A45', fontWeight: 400, lineHeight: 1.6 }}&gt;教学协同 Agent 的三类角色视角，以及通过 MCP 对外提供教育能力服务的接入设计。&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五 · 边界与演进 · P90–P104&lt;/Text&gt;&lt;Text style={{ fontSize: 16, color: '#333A45', fontWeight: 400, lineHeight: 1.6 }}&gt;待深化研究方向、两种落地模式，以及效果评价中什么能作为证据、什么不能。&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六 · 自进化与收尾 · P105–P124&lt;/Text&gt;&lt;Text style={{ fontSize: 16, color: '#333A45', fontWeight: 400, lineHeight: 1.6 }}&gt;自我改进闭环、跨学科扩展、实施路线图与能力状态总表。&lt;/Text&gt;&lt;/Box&gt;&lt;/Box&gt;&lt;/Box&gt;&lt;/Box&gt;&lt;/Box&gt;&lt;Box style={{ height: 40, flexDirection: 'row', justifyContent: 'space-between', alignItems: 'center', borderTop: '1px solid #E3E8EF', marginTop: 8 }}&gt;&lt;Text style={{ fontSize: 13, color: '#7A8699', fontWeight: 400, lineHeight: 1.4 }}&gt;依据：12 份设计文档整体结构&lt;/Text&gt;&lt;Text style={{ fontSize: 14, color: '#7A8699', fontWeight: 400, lineHeight: 1.4 }}&gt; 2 / 124 &lt;/Text&gt;&lt;/Box&gt;&lt;/Slide&gt;"/>
        <p:cNvGrpSpPr/>
        <p:nvPr/>
      </p:nvGrpSpPr>
      <p:grpSpPr>
        <a:xfrm>
          <a:off x="0" y="0"/>
          <a:ext cx="0" cy="0"/>
          <a:chOff x="0" y="0"/>
          <a:chExt cx="0" cy="0"/>
        </a:xfrm>
      </p:grpSpPr>
      <p:sp>
        <p:nvSpPr>
          <p:cNvPr id="935" name=""/>
          <p:cNvSpPr/>
          <p:nvPr/>
        </p:nvSpPr>
        <p:spPr>
          <a:xfrm rot="0" flipH="0" flipV="0">
            <a:off x="0" y="0"/>
            <a:ext cx="12192000" cy="6858000"/>
          </a:xfrm>
          <a:prstGeom prst="rect">
            <a:avLst/>
          </a:prstGeom>
          <a:solidFill>
            <a:srgbClr val="FFFFFF"/>
          </a:solidFill>
          <a:ln/>
        </p:spPr>
        <p:txBody>
          <a:bodyPr/>
          <a:p/>
        </p:txBody>
      </p:sp>
      <p:sp>
        <p:nvSpPr>
          <p:cNvPr id="936" name="" descr="{&quot;isTemplate&quot;:true,&quot;type&quot;:&quot;text&quot;}"/>
          <p:cNvSpPr txBox="1"/>
          <p:nvPr/>
        </p:nvSpPr>
        <p:spPr>
          <a:xfrm rot="0" flipH="0" flipV="0">
            <a:off x="666750" y="381000"/>
            <a:ext cx="42672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00 / </a:t>
            </a:r>
            <a:r>
              <a:rPr lang="zh-CN" sz="1050" spc="75">
                <a:solidFill>
                  <a:srgbClr val="7A8699"/>
                </a:solidFill>
                <a:latin typeface="Microsoft YaHei"/>
                <a:ea typeface="Microsoft YaHei"/>
              </a:rPr>
              <a:t>导读</a:t>
            </a:r>
            <a:endParaRPr/>
          </a:p>
        </p:txBody>
      </p:sp>
      <p:sp>
        <p:nvSpPr>
          <p:cNvPr id="937" name="" descr="{&quot;isTemplate&quot;:true,&quot;type&quot;:&quot;text&quot;}"/>
          <p:cNvSpPr txBox="1"/>
          <p:nvPr/>
        </p:nvSpPr>
        <p:spPr>
          <a:xfrm rot="0" flipH="0" flipV="0">
            <a:off x="666750" y="666750"/>
            <a:ext cx="4267200" cy="476250"/>
          </a:xfrm>
          <a:prstGeom prst="rect"/>
        </p:spPr>
        <p:txBody>
          <a:bodyPr wrap="none" lIns="0" tIns="0" rIns="0" bIns="0"/>
          <a:p>
            <a:pPr>
              <a:lnSpc>
                <a:spcPct val="130000"/>
              </a:lnSpc>
            </a:pPr>
            <a:r>
              <a:rPr lang="zh-CN" sz="2400" b="1">
                <a:solidFill>
                  <a:srgbClr val="0E2340"/>
                </a:solidFill>
                <a:latin typeface="Microsoft YaHei"/>
                <a:ea typeface="Microsoft YaHei"/>
              </a:rPr>
              <a:t>汇报导览：六幕结构与阅读顺序</a:t>
            </a:r>
            <a:endParaRPr/>
          </a:p>
        </p:txBody>
      </p:sp>
      <p:sp>
        <p:nvSpPr>
          <p:cNvPr id="938" name=""/>
          <p:cNvSpPr/>
          <p:nvPr/>
        </p:nvSpPr>
        <p:spPr>
          <a:xfrm rot="0" flipH="0" flipV="0">
            <a:off x="666750" y="1219200"/>
            <a:ext cx="3486150" cy="2562225"/>
          </a:xfrm>
          <a:prstGeom prst="roundRect">
            <a:avLst>
              <a:gd name="adj" fmla="val 2974"/>
            </a:avLst>
          </a:prstGeom>
          <a:solidFill>
            <a:srgbClr val="FFFFFF"/>
          </a:solidFill>
          <a:ln w="12700">
            <a:solidFill>
              <a:srgbClr val="E3E8EF"/>
            </a:solidFill>
            <a:prstDash val="solid"/>
          </a:ln>
        </p:spPr>
        <p:txBody>
          <a:bodyPr/>
          <a:p/>
        </p:txBody>
      </p:sp>
      <p:sp>
        <p:nvSpPr>
          <p:cNvPr id="939" name=""/>
          <p:cNvSpPr/>
          <p:nvPr/>
        </p:nvSpPr>
        <p:spPr>
          <a:xfrm rot="0" flipH="0" flipV="0">
            <a:off x="666750" y="12192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940" name="" descr="{&quot;isTemplate&quot;:true,&quot;type&quot;:&quot;text&quot;}"/>
          <p:cNvSpPr txBox="1"/>
          <p:nvPr/>
        </p:nvSpPr>
        <p:spPr>
          <a:xfrm rot="0" flipH="0" flipV="0">
            <a:off x="857250" y="1447800"/>
            <a:ext cx="3105150" cy="323850"/>
          </a:xfrm>
          <a:prstGeom prst="rect"/>
        </p:spPr>
        <p:txBody>
          <a:bodyPr wrap="none" lIns="0" tIns="0" rIns="0" bIns="0"/>
          <a:p>
            <a:pPr>
              <a:lnSpc>
                <a:spcPct val="140000"/>
              </a:lnSpc>
            </a:pPr>
            <a:r>
              <a:rPr lang="zh-CN" sz="1500" b="1">
                <a:solidFill>
                  <a:srgbClr val="0E2340"/>
                </a:solidFill>
                <a:latin typeface="Microsoft YaHei"/>
                <a:ea typeface="Microsoft YaHei"/>
              </a:rPr>
              <a:t>一</a:t>
            </a:r>
            <a:r>
              <a:rPr lang="en-US" sz="1500" b="1">
                <a:solidFill>
                  <a:srgbClr val="0E2340"/>
                </a:solidFill>
                <a:latin typeface="Microsoft YaHei"/>
                <a:ea typeface="Microsoft YaHei"/>
              </a:rPr>
              <a:t xml:space="preserve"> · </a:t>
            </a:r>
            <a:r>
              <a:rPr lang="zh-CN" sz="1500" b="1">
                <a:solidFill>
                  <a:srgbClr val="0E2340"/>
                </a:solidFill>
                <a:latin typeface="Microsoft YaHei"/>
                <a:ea typeface="Microsoft YaHei"/>
              </a:rPr>
              <a:t>概念地基</a:t>
            </a:r>
            <a:r>
              <a:rPr lang="en-US" sz="1500" b="1">
                <a:solidFill>
                  <a:srgbClr val="0E2340"/>
                </a:solidFill>
                <a:latin typeface="Microsoft YaHei"/>
                <a:ea typeface="Microsoft YaHei"/>
              </a:rPr>
              <a:t xml:space="preserve"> · P5–P10</a:t>
            </a:r>
            <a:endParaRPr/>
          </a:p>
        </p:txBody>
      </p:sp>
      <p:sp>
        <p:nvSpPr>
          <p:cNvPr id="941" name="" descr="{&quot;isTemplate&quot;:true,&quot;type&quot;:&quot;text&quot;}"/>
          <p:cNvSpPr txBox="1"/>
          <p:nvPr/>
        </p:nvSpPr>
        <p:spPr>
          <a:xfrm rot="0" flipH="0" flipV="0">
            <a:off x="857250" y="1866900"/>
            <a:ext cx="3105150" cy="88582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四层概念前置链：课时</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知识点</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步骤</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套路。全篇术语基准，先建立共识，避免后面的“步骤”被理解成普通解题步骤。</a:t>
            </a:r>
            <a:endParaRPr/>
          </a:p>
        </p:txBody>
      </p:sp>
      <p:sp>
        <p:nvSpPr>
          <p:cNvPr id="942" name=""/>
          <p:cNvSpPr/>
          <p:nvPr/>
        </p:nvSpPr>
        <p:spPr>
          <a:xfrm rot="0" flipH="0" flipV="0">
            <a:off x="4343400" y="1219200"/>
            <a:ext cx="3486150" cy="2562225"/>
          </a:xfrm>
          <a:prstGeom prst="roundRect">
            <a:avLst>
              <a:gd name="adj" fmla="val 2974"/>
            </a:avLst>
          </a:prstGeom>
          <a:solidFill>
            <a:srgbClr val="FFFFFF"/>
          </a:solidFill>
          <a:ln w="12700">
            <a:solidFill>
              <a:srgbClr val="E3E8EF"/>
            </a:solidFill>
            <a:prstDash val="solid"/>
          </a:ln>
        </p:spPr>
        <p:txBody>
          <a:bodyPr/>
          <a:p/>
        </p:txBody>
      </p:sp>
      <p:sp>
        <p:nvSpPr>
          <p:cNvPr id="943" name=""/>
          <p:cNvSpPr/>
          <p:nvPr/>
        </p:nvSpPr>
        <p:spPr>
          <a:xfrm rot="0" flipH="0" flipV="0">
            <a:off x="4343400" y="12192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944" name="" descr="{&quot;isTemplate&quot;:true,&quot;type&quot;:&quot;text&quot;}"/>
          <p:cNvSpPr txBox="1"/>
          <p:nvPr/>
        </p:nvSpPr>
        <p:spPr>
          <a:xfrm rot="0" flipH="0" flipV="0">
            <a:off x="4533900" y="1447800"/>
            <a:ext cx="3105150" cy="323850"/>
          </a:xfrm>
          <a:prstGeom prst="rect"/>
        </p:spPr>
        <p:txBody>
          <a:bodyPr wrap="none" lIns="0" tIns="0" rIns="0" bIns="0"/>
          <a:p>
            <a:pPr>
              <a:lnSpc>
                <a:spcPct val="140000"/>
              </a:lnSpc>
            </a:pPr>
            <a:r>
              <a:rPr lang="zh-CN" sz="1500" b="1">
                <a:solidFill>
                  <a:srgbClr val="0E2340"/>
                </a:solidFill>
                <a:latin typeface="Microsoft YaHei"/>
                <a:ea typeface="Microsoft YaHei"/>
              </a:rPr>
              <a:t>二</a:t>
            </a:r>
            <a:r>
              <a:rPr lang="en-US" sz="1500" b="1">
                <a:solidFill>
                  <a:srgbClr val="0E2340"/>
                </a:solidFill>
                <a:latin typeface="Microsoft YaHei"/>
                <a:ea typeface="Microsoft YaHei"/>
              </a:rPr>
              <a:t xml:space="preserve"> · </a:t>
            </a:r>
            <a:r>
              <a:rPr lang="zh-CN" sz="1500" b="1">
                <a:solidFill>
                  <a:srgbClr val="0E2340"/>
                </a:solidFill>
                <a:latin typeface="Microsoft YaHei"/>
                <a:ea typeface="Microsoft YaHei"/>
              </a:rPr>
              <a:t>现状与引擎</a:t>
            </a:r>
            <a:r>
              <a:rPr lang="en-US" sz="1500" b="1">
                <a:solidFill>
                  <a:srgbClr val="0E2340"/>
                </a:solidFill>
                <a:latin typeface="Microsoft YaHei"/>
                <a:ea typeface="Microsoft YaHei"/>
              </a:rPr>
              <a:t xml:space="preserve"> · P11–P36</a:t>
            </a:r>
            <a:endParaRPr/>
          </a:p>
        </p:txBody>
      </p:sp>
      <p:sp>
        <p:nvSpPr>
          <p:cNvPr id="945" name="" descr="{&quot;isTemplate&quot;:true,&quot;type&quot;:&quot;text&quot;}"/>
          <p:cNvSpPr txBox="1"/>
          <p:nvPr/>
        </p:nvSpPr>
        <p:spPr>
          <a:xfrm rot="0" flipH="0" flipV="0">
            <a:off x="4533900" y="1866900"/>
            <a:ext cx="310515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先盘点当前实现能力与数据规模，说明已做到哪一步；再展开单题五大功能的技术心脏。</a:t>
            </a:r>
            <a:endParaRPr/>
          </a:p>
        </p:txBody>
      </p:sp>
      <p:sp>
        <p:nvSpPr>
          <p:cNvPr id="946" name=""/>
          <p:cNvSpPr/>
          <p:nvPr/>
        </p:nvSpPr>
        <p:spPr>
          <a:xfrm rot="0" flipH="0" flipV="0">
            <a:off x="8020050" y="1219200"/>
            <a:ext cx="3486150" cy="2562225"/>
          </a:xfrm>
          <a:prstGeom prst="roundRect">
            <a:avLst>
              <a:gd name="adj" fmla="val 2974"/>
            </a:avLst>
          </a:prstGeom>
          <a:solidFill>
            <a:srgbClr val="FFFFFF"/>
          </a:solidFill>
          <a:ln w="12700">
            <a:solidFill>
              <a:srgbClr val="E3E8EF"/>
            </a:solidFill>
            <a:prstDash val="solid"/>
          </a:ln>
        </p:spPr>
        <p:txBody>
          <a:bodyPr/>
          <a:p/>
        </p:txBody>
      </p:sp>
      <p:sp>
        <p:nvSpPr>
          <p:cNvPr id="947" name=""/>
          <p:cNvSpPr/>
          <p:nvPr/>
        </p:nvSpPr>
        <p:spPr>
          <a:xfrm rot="0" flipH="0" flipV="0">
            <a:off x="8020050" y="12192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948" name="" descr="{&quot;isTemplate&quot;:true,&quot;type&quot;:&quot;text&quot;}"/>
          <p:cNvSpPr txBox="1"/>
          <p:nvPr/>
        </p:nvSpPr>
        <p:spPr>
          <a:xfrm rot="0" flipH="0" flipV="0">
            <a:off x="8210550" y="1447800"/>
            <a:ext cx="3105150" cy="323850"/>
          </a:xfrm>
          <a:prstGeom prst="rect"/>
        </p:spPr>
        <p:txBody>
          <a:bodyPr wrap="none" lIns="0" tIns="0" rIns="0" bIns="0"/>
          <a:p>
            <a:pPr>
              <a:lnSpc>
                <a:spcPct val="140000"/>
              </a:lnSpc>
            </a:pPr>
            <a:r>
              <a:rPr lang="zh-CN" sz="1500" b="1">
                <a:solidFill>
                  <a:srgbClr val="0E2340"/>
                </a:solidFill>
                <a:latin typeface="Microsoft YaHei"/>
                <a:ea typeface="Microsoft YaHei"/>
              </a:rPr>
              <a:t>三</a:t>
            </a:r>
            <a:r>
              <a:rPr lang="en-US" sz="1500" b="1">
                <a:solidFill>
                  <a:srgbClr val="0E2340"/>
                </a:solidFill>
                <a:latin typeface="Microsoft YaHei"/>
                <a:ea typeface="Microsoft YaHei"/>
              </a:rPr>
              <a:t xml:space="preserve"> · </a:t>
            </a:r>
            <a:r>
              <a:rPr lang="zh-CN" sz="1500" b="1">
                <a:solidFill>
                  <a:srgbClr val="0E2340"/>
                </a:solidFill>
                <a:latin typeface="Microsoft YaHei"/>
                <a:ea typeface="Microsoft YaHei"/>
              </a:rPr>
              <a:t>三端与场景</a:t>
            </a:r>
            <a:r>
              <a:rPr lang="en-US" sz="1500" b="1">
                <a:solidFill>
                  <a:srgbClr val="0E2340"/>
                </a:solidFill>
                <a:latin typeface="Microsoft YaHei"/>
                <a:ea typeface="Microsoft YaHei"/>
              </a:rPr>
              <a:t xml:space="preserve"> · P37–P72</a:t>
            </a:r>
            <a:endParaRPr/>
          </a:p>
        </p:txBody>
      </p:sp>
      <p:sp>
        <p:nvSpPr>
          <p:cNvPr id="949" name="" descr="{&quot;isTemplate&quot;:true,&quot;type&quot;:&quot;text&quot;}"/>
          <p:cNvSpPr txBox="1"/>
          <p:nvPr/>
        </p:nvSpPr>
        <p:spPr>
          <a:xfrm rot="0" flipH="0" flipV="0">
            <a:off x="8210550" y="1866900"/>
            <a:ext cx="310515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学生套路训练、教师端七项、学校端治理、试卷与生涯维度，覆盖系统真正的用户面。</a:t>
            </a:r>
            <a:endParaRPr/>
          </a:p>
        </p:txBody>
      </p:sp>
      <p:sp>
        <p:nvSpPr>
          <p:cNvPr id="950" name=""/>
          <p:cNvSpPr/>
          <p:nvPr/>
        </p:nvSpPr>
        <p:spPr>
          <a:xfrm rot="0" flipH="0" flipV="0">
            <a:off x="666750" y="3952875"/>
            <a:ext cx="3486150" cy="2257425"/>
          </a:xfrm>
          <a:prstGeom prst="roundRect">
            <a:avLst>
              <a:gd name="adj" fmla="val 3376"/>
            </a:avLst>
          </a:prstGeom>
          <a:solidFill>
            <a:srgbClr val="FFFFFF"/>
          </a:solidFill>
          <a:ln w="12700">
            <a:solidFill>
              <a:srgbClr val="E3E8EF"/>
            </a:solidFill>
            <a:prstDash val="solid"/>
          </a:ln>
        </p:spPr>
        <p:txBody>
          <a:bodyPr/>
          <a:p/>
        </p:txBody>
      </p:sp>
      <p:sp>
        <p:nvSpPr>
          <p:cNvPr id="951" name=""/>
          <p:cNvSpPr/>
          <p:nvPr/>
        </p:nvSpPr>
        <p:spPr>
          <a:xfrm rot="0" flipH="0" flipV="0">
            <a:off x="666750" y="3952875"/>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952" name="" descr="{&quot;isTemplate&quot;:true,&quot;type&quot;:&quot;text&quot;}"/>
          <p:cNvSpPr txBox="1"/>
          <p:nvPr/>
        </p:nvSpPr>
        <p:spPr>
          <a:xfrm rot="0" flipH="0" flipV="0">
            <a:off x="857250" y="4181475"/>
            <a:ext cx="3105150" cy="323850"/>
          </a:xfrm>
          <a:prstGeom prst="rect"/>
        </p:spPr>
        <p:txBody>
          <a:bodyPr wrap="none" lIns="0" tIns="0" rIns="0" bIns="0"/>
          <a:p>
            <a:pPr>
              <a:lnSpc>
                <a:spcPct val="140000"/>
              </a:lnSpc>
            </a:pPr>
            <a:r>
              <a:rPr lang="zh-CN" sz="1500" b="1">
                <a:solidFill>
                  <a:srgbClr val="0E2340"/>
                </a:solidFill>
                <a:latin typeface="Microsoft YaHei"/>
                <a:ea typeface="Microsoft YaHei"/>
              </a:rPr>
              <a:t>四</a:t>
            </a:r>
            <a:r>
              <a:rPr lang="en-US" sz="1500" b="1">
                <a:solidFill>
                  <a:srgbClr val="0E2340"/>
                </a:solidFill>
                <a:latin typeface="Microsoft YaHei"/>
                <a:ea typeface="Microsoft YaHei"/>
              </a:rPr>
              <a:t xml:space="preserve"> · </a:t>
            </a:r>
            <a:r>
              <a:rPr lang="zh-CN" sz="1500" b="1">
                <a:solidFill>
                  <a:srgbClr val="0E2340"/>
                </a:solidFill>
                <a:latin typeface="Microsoft YaHei"/>
                <a:ea typeface="Microsoft YaHei"/>
              </a:rPr>
              <a:t>协同与接入</a:t>
            </a:r>
            <a:r>
              <a:rPr lang="en-US" sz="1500" b="1">
                <a:solidFill>
                  <a:srgbClr val="0E2340"/>
                </a:solidFill>
                <a:latin typeface="Microsoft YaHei"/>
                <a:ea typeface="Microsoft YaHei"/>
              </a:rPr>
              <a:t xml:space="preserve"> · P73–P89</a:t>
            </a:r>
            <a:endParaRPr/>
          </a:p>
        </p:txBody>
      </p:sp>
      <p:sp>
        <p:nvSpPr>
          <p:cNvPr id="953" name="" descr="{&quot;isTemplate&quot;:true,&quot;type&quot;:&quot;text&quot;}"/>
          <p:cNvSpPr txBox="1"/>
          <p:nvPr/>
        </p:nvSpPr>
        <p:spPr>
          <a:xfrm rot="0" flipH="0" flipV="0">
            <a:off x="857250" y="4600575"/>
            <a:ext cx="310515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教学协同</a:t>
            </a:r>
            <a:r>
              <a:rPr lang="en-US" sz="1200">
                <a:solidFill>
                  <a:srgbClr val="333A45"/>
                </a:solidFill>
                <a:latin typeface="Microsoft YaHei"/>
                <a:ea typeface="Microsoft YaHei"/>
              </a:rPr>
              <a:t xml:space="preserve"> Agent </a:t>
            </a:r>
            <a:r>
              <a:rPr lang="zh-CN" sz="1200">
                <a:solidFill>
                  <a:srgbClr val="333A45"/>
                </a:solidFill>
                <a:latin typeface="Microsoft YaHei"/>
                <a:ea typeface="Microsoft YaHei"/>
              </a:rPr>
              <a:t>的三类角色视角，以及通过</a:t>
            </a:r>
            <a:r>
              <a:rPr lang="en-US" sz="1200">
                <a:solidFill>
                  <a:srgbClr val="333A45"/>
                </a:solidFill>
                <a:latin typeface="Microsoft YaHei"/>
                <a:ea typeface="Microsoft YaHei"/>
              </a:rPr>
              <a:t xml:space="preserve"> MCP </a:t>
            </a:r>
            <a:r>
              <a:rPr lang="zh-CN" sz="1200">
                <a:solidFill>
                  <a:srgbClr val="333A45"/>
                </a:solidFill>
                <a:latin typeface="Microsoft YaHei"/>
                <a:ea typeface="Microsoft YaHei"/>
              </a:rPr>
              <a:t>对外提供教育能力服务的接入设计。</a:t>
            </a:r>
            <a:endParaRPr/>
          </a:p>
        </p:txBody>
      </p:sp>
      <p:sp>
        <p:nvSpPr>
          <p:cNvPr id="954" name=""/>
          <p:cNvSpPr/>
          <p:nvPr/>
        </p:nvSpPr>
        <p:spPr>
          <a:xfrm rot="0" flipH="0" flipV="0">
            <a:off x="4343400" y="3952875"/>
            <a:ext cx="3486150" cy="2257425"/>
          </a:xfrm>
          <a:prstGeom prst="roundRect">
            <a:avLst>
              <a:gd name="adj" fmla="val 3376"/>
            </a:avLst>
          </a:prstGeom>
          <a:solidFill>
            <a:srgbClr val="FFFFFF"/>
          </a:solidFill>
          <a:ln w="12700">
            <a:solidFill>
              <a:srgbClr val="E3E8EF"/>
            </a:solidFill>
            <a:prstDash val="solid"/>
          </a:ln>
        </p:spPr>
        <p:txBody>
          <a:bodyPr/>
          <a:p/>
        </p:txBody>
      </p:sp>
      <p:sp>
        <p:nvSpPr>
          <p:cNvPr id="955" name=""/>
          <p:cNvSpPr/>
          <p:nvPr/>
        </p:nvSpPr>
        <p:spPr>
          <a:xfrm rot="0" flipH="0" flipV="0">
            <a:off x="4343400" y="3952875"/>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956" name="" descr="{&quot;isTemplate&quot;:true,&quot;type&quot;:&quot;text&quot;}"/>
          <p:cNvSpPr txBox="1"/>
          <p:nvPr/>
        </p:nvSpPr>
        <p:spPr>
          <a:xfrm rot="0" flipH="0" flipV="0">
            <a:off x="4533900" y="4181475"/>
            <a:ext cx="3105150" cy="323850"/>
          </a:xfrm>
          <a:prstGeom prst="rect"/>
        </p:spPr>
        <p:txBody>
          <a:bodyPr wrap="none" lIns="0" tIns="0" rIns="0" bIns="0"/>
          <a:p>
            <a:pPr>
              <a:lnSpc>
                <a:spcPct val="140000"/>
              </a:lnSpc>
            </a:pPr>
            <a:r>
              <a:rPr lang="zh-CN" sz="1500" b="1">
                <a:solidFill>
                  <a:srgbClr val="0E2340"/>
                </a:solidFill>
                <a:latin typeface="Microsoft YaHei"/>
                <a:ea typeface="Microsoft YaHei"/>
              </a:rPr>
              <a:t>五</a:t>
            </a:r>
            <a:r>
              <a:rPr lang="en-US" sz="1500" b="1">
                <a:solidFill>
                  <a:srgbClr val="0E2340"/>
                </a:solidFill>
                <a:latin typeface="Microsoft YaHei"/>
                <a:ea typeface="Microsoft YaHei"/>
              </a:rPr>
              <a:t xml:space="preserve"> · </a:t>
            </a:r>
            <a:r>
              <a:rPr lang="zh-CN" sz="1500" b="1">
                <a:solidFill>
                  <a:srgbClr val="0E2340"/>
                </a:solidFill>
                <a:latin typeface="Microsoft YaHei"/>
                <a:ea typeface="Microsoft YaHei"/>
              </a:rPr>
              <a:t>边界与演进</a:t>
            </a:r>
            <a:r>
              <a:rPr lang="en-US" sz="1500" b="1">
                <a:solidFill>
                  <a:srgbClr val="0E2340"/>
                </a:solidFill>
                <a:latin typeface="Microsoft YaHei"/>
                <a:ea typeface="Microsoft YaHei"/>
              </a:rPr>
              <a:t xml:space="preserve"> · P90–P104</a:t>
            </a:r>
            <a:endParaRPr/>
          </a:p>
        </p:txBody>
      </p:sp>
      <p:sp>
        <p:nvSpPr>
          <p:cNvPr id="957" name="" descr="{&quot;isTemplate&quot;:true,&quot;type&quot;:&quot;text&quot;}"/>
          <p:cNvSpPr txBox="1"/>
          <p:nvPr/>
        </p:nvSpPr>
        <p:spPr>
          <a:xfrm rot="0" flipH="0" flipV="0">
            <a:off x="4533900" y="4600575"/>
            <a:ext cx="310515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待深化研究方向、两种落地模式，以及效果评价中什么能作为证据、什么不能。</a:t>
            </a:r>
            <a:endParaRPr/>
          </a:p>
        </p:txBody>
      </p:sp>
      <p:sp>
        <p:nvSpPr>
          <p:cNvPr id="958" name=""/>
          <p:cNvSpPr/>
          <p:nvPr/>
        </p:nvSpPr>
        <p:spPr>
          <a:xfrm rot="0" flipH="0" flipV="0">
            <a:off x="8020050" y="3952875"/>
            <a:ext cx="3486150" cy="2257425"/>
          </a:xfrm>
          <a:prstGeom prst="roundRect">
            <a:avLst>
              <a:gd name="adj" fmla="val 3376"/>
            </a:avLst>
          </a:prstGeom>
          <a:solidFill>
            <a:srgbClr val="FFFFFF"/>
          </a:solidFill>
          <a:ln w="12700">
            <a:solidFill>
              <a:srgbClr val="E3E8EF"/>
            </a:solidFill>
            <a:prstDash val="solid"/>
          </a:ln>
        </p:spPr>
        <p:txBody>
          <a:bodyPr/>
          <a:p/>
        </p:txBody>
      </p:sp>
      <p:sp>
        <p:nvSpPr>
          <p:cNvPr id="959" name=""/>
          <p:cNvSpPr/>
          <p:nvPr/>
        </p:nvSpPr>
        <p:spPr>
          <a:xfrm rot="0" flipH="0" flipV="0">
            <a:off x="8020050" y="3952875"/>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960" name="" descr="{&quot;isTemplate&quot;:true,&quot;type&quot;:&quot;text&quot;}"/>
          <p:cNvSpPr txBox="1"/>
          <p:nvPr/>
        </p:nvSpPr>
        <p:spPr>
          <a:xfrm rot="0" flipH="0" flipV="0">
            <a:off x="8210550" y="4181475"/>
            <a:ext cx="3105150" cy="323850"/>
          </a:xfrm>
          <a:prstGeom prst="rect"/>
        </p:spPr>
        <p:txBody>
          <a:bodyPr wrap="none" lIns="0" tIns="0" rIns="0" bIns="0"/>
          <a:p>
            <a:pPr>
              <a:lnSpc>
                <a:spcPct val="140000"/>
              </a:lnSpc>
            </a:pPr>
            <a:r>
              <a:rPr lang="zh-CN" sz="1500" b="1">
                <a:solidFill>
                  <a:srgbClr val="0E2340"/>
                </a:solidFill>
                <a:latin typeface="Microsoft YaHei"/>
                <a:ea typeface="Microsoft YaHei"/>
              </a:rPr>
              <a:t>六</a:t>
            </a:r>
            <a:r>
              <a:rPr lang="en-US" sz="1500" b="1">
                <a:solidFill>
                  <a:srgbClr val="0E2340"/>
                </a:solidFill>
                <a:latin typeface="Microsoft YaHei"/>
                <a:ea typeface="Microsoft YaHei"/>
              </a:rPr>
              <a:t xml:space="preserve"> · </a:t>
            </a:r>
            <a:r>
              <a:rPr lang="zh-CN" sz="1500" b="1">
                <a:solidFill>
                  <a:srgbClr val="0E2340"/>
                </a:solidFill>
                <a:latin typeface="Microsoft YaHei"/>
                <a:ea typeface="Microsoft YaHei"/>
              </a:rPr>
              <a:t>自进化与收尾</a:t>
            </a:r>
            <a:r>
              <a:rPr lang="en-US" sz="1500" b="1">
                <a:solidFill>
                  <a:srgbClr val="0E2340"/>
                </a:solidFill>
                <a:latin typeface="Microsoft YaHei"/>
                <a:ea typeface="Microsoft YaHei"/>
              </a:rPr>
              <a:t xml:space="preserve"> · P105–P124</a:t>
            </a:r>
            <a:endParaRPr/>
          </a:p>
        </p:txBody>
      </p:sp>
      <p:sp>
        <p:nvSpPr>
          <p:cNvPr id="961" name="" descr="{&quot;isTemplate&quot;:true,&quot;type&quot;:&quot;text&quot;}"/>
          <p:cNvSpPr txBox="1"/>
          <p:nvPr/>
        </p:nvSpPr>
        <p:spPr>
          <a:xfrm rot="0" flipH="0" flipV="0">
            <a:off x="8210550" y="4600575"/>
            <a:ext cx="310515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自我改进闭环、跨学科扩展、实施路线图与能力状态总表。</a:t>
            </a:r>
            <a:endParaRPr/>
          </a:p>
        </p:txBody>
      </p:sp>
      <p:sp>
        <p:nvSpPr>
          <p:cNvPr id="962"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963" name="" descr="{&quot;isTemplate&quot;:true,&quot;type&quot;:&quot;text&quot;}"/>
          <p:cNvSpPr txBox="1"/>
          <p:nvPr/>
        </p:nvSpPr>
        <p:spPr>
          <a:xfrm rot="0" flipH="0" flipV="0">
            <a:off x="666750" y="6381750"/>
            <a:ext cx="1666875" cy="209550"/>
          </a:xfrm>
          <a:prstGeom prst="rect"/>
        </p:spPr>
        <p:txBody>
          <a:bodyPr wrap="none" lIns="0" tIns="0" rIns="0" bIns="0"/>
          <a:p>
            <a:pPr>
              <a:lnSpc>
                <a:spcPct val="140000"/>
              </a:lnSpc>
            </a:pPr>
            <a:r>
              <a:rPr lang="zh-CN" sz="975">
                <a:solidFill>
                  <a:srgbClr val="7A8699"/>
                </a:solidFill>
                <a:latin typeface="Microsoft YaHei"/>
                <a:ea typeface="Microsoft YaHei"/>
              </a:rPr>
              <a:t>依据：</a:t>
            </a:r>
            <a:r>
              <a:rPr lang="en-US" sz="975">
                <a:solidFill>
                  <a:srgbClr val="7A8699"/>
                </a:solidFill>
                <a:latin typeface="Microsoft YaHei"/>
                <a:ea typeface="Microsoft YaHei"/>
              </a:rPr>
              <a:t xml:space="preserve">12 </a:t>
            </a:r>
            <a:r>
              <a:rPr lang="zh-CN" sz="975">
                <a:solidFill>
                  <a:srgbClr val="7A8699"/>
                </a:solidFill>
                <a:latin typeface="Microsoft YaHei"/>
                <a:ea typeface="Microsoft YaHei"/>
              </a:rPr>
              <a:t>份设计文档整体结构</a:t>
            </a:r>
            <a:endParaRPr/>
          </a:p>
        </p:txBody>
      </p:sp>
      <p:sp>
        <p:nvSpPr>
          <p:cNvPr id="964" name="" descr="{&quot;isTemplate&quot;:true,&quot;type&quot;:&quot;text&quot;}"/>
          <p:cNvSpPr txBox="1"/>
          <p:nvPr/>
        </p:nvSpPr>
        <p:spPr>
          <a:xfrm rot="0" flipH="0" flipV="0">
            <a:off x="11039475" y="6372225"/>
            <a:ext cx="4857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2 / 124 </a:t>
            </a:r>
            <a:endParaRPr/>
          </a:p>
        </p:txBody>
      </p:sp>
    </p:spTree>
  </p:cSld>
</p:sld>
</file>

<file path=ppt/slides/slide3.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222"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0 / 导读&lt;/Text&gt;&lt;Text style={{ fontSize: 32, color: '#0E2340', fontWeight: 700, lineHeight: 1.3 }}&gt;一页看懂 StudyAgent&lt;/Text&gt;&lt;/Box&gt;&lt;/Box&gt;&lt;Box style={{ height: 532, paddingTop: 8, flexDirection: 'column' }}&gt;&lt;Box style={{ flexDirection: 'row', gap: 28, flex: 1 }}&gt;&lt;Box style={{ width: 700, justifyContent: 'center' }}&gt;&lt;svg width={700} height={330} viewBox='0 0 700 330'&gt;&lt;line x1='350.0' y1='62' x2='126.0' y2='112' stroke='#1E7BE0' stroke-width='2'/&gt;&lt;line x1='350.0' y1='62' x2='350.0' y2='112' stroke='#1E7BE0' stroke-width='2'/&gt;&lt;line x1='350.0' y1='62' x2='574.0' y2='112' stroke='#1E7BE0' stroke-width='2'/&gt;&lt;rect x='240.0' y='6' width='220' height='56' rx='8' fill='#0E2340'/&gt;&lt;text x='350.0' y='41' font-size='18' fill='#FFFFFF' text-anchor='middle' font-weight='700'&gt;教学协同 Agent&lt;/text&gt;&lt;rect x='26.0' y='118' width='200' height='52' rx='8' fill='#FFFFFF' stroke='#1E7BE0' stroke-width='1.5'/&gt;&lt;text x='126.0' y='150' font-size='16' fill='#0E2340' text-anchor='middle' font-weight='600'&gt;学生端 · 套路训练&lt;/text&gt;&lt;rect x='250.0' y='118' width='200' height='52' rx='8' fill='#FFFFFF' stroke='#1E7BE0' stroke-width='1.5'/&gt;&lt;text x='350.0' y='150' font-size='16' fill='#0E2340' text-anchor='middle' font-weight='600'&gt;教师端 · 课时教学&lt;/text&gt;&lt;rect x='474.0' y='118' width='200' height='52' rx='8' fill='#FFFFFF' stroke='#1E7BE0' stroke-width='1.5'/&gt;&lt;text x='574.0' y='150' font-size='16' fill='#0E2340' text-anchor='middle' font-weight='600'&gt;学校端 · 教研管理&lt;/text&gt;&lt;rect x='33.0' y='214' width='186' height='48' rx='8' fill='#F5F7FA'/&gt;&lt;text x='126.0' y='244' font-size='15' fill='#333A45' text-anchor='middle' font-weight='400'&gt;单题引擎：解题/改题/教学/出题/错题&lt;/text&gt;&lt;rect x='257.0' y='214' width='186' height='48' rx='8' fill='#F5F7FA'/&gt;&lt;text x='350.0' y='244' font-size='15' fill='#333A45' text-anchor='middle' font-weight='400'&gt;试卷与生涯维度&lt;/text&gt;&lt;rect x='481.0' y='214' width='186' height='48' rx='8' fill='#F5F7FA'/&gt;&lt;text x='574.0' y='244' font-size='15' fill='#333A45' text-anchor='middle' font-weight='400'&gt;底层体系版本与质量分析&lt;/text&gt;&lt;rect x='257.0' y='268' width='186' height='48' rx='8' fill='#F5F7FA'/&gt;&lt;text x='350.0' y='298' font-size='15' fill='#333A45' text-anchor='middle' font-weight='400'&gt;MCP 能力服务（对外）&lt;/text&gt;&lt;/svg&gt;&lt;/Box&gt;&lt;Box style={{ flex: 1, flexDirection: 'column', gap: 11, justifyContent: 'center' }}&gt;&lt;Text style={{ fontSize: 21, color: '#0E2340', fontWeight: 700, lineHeight: 1.4 }}&gt;系统定位&lt;/Text&gt;&lt;Box style={{ flexDirection: 'column', gap: 10 }}&gt;&lt;Box style={{ flexDirection: 'row', gap: 12, alignItems: 'flex-start' }}&gt;&lt;Box style={{ width: 8, height: 8, borderRadius: 4, background: '#1E7BE0', marginTop: 9 }} /&gt;&lt;Box style={{ flex: 1 }}&gt;&lt;Text style={{ fontSize: 17, color: '#333A45', fontWeight: 400, lineHeight: 1.6 }}&gt;一套系统覆盖学生、教师、学校三类使用者，共用课程、知识点、步骤与套路定义。&lt;/Text&gt;&lt;/Box&gt;&lt;/Box&gt;&lt;Box style={{ flexDirection: 'row', gap: 12, alignItems: 'flex-start' }}&gt;&lt;Box style={{ width: 8, height: 8, borderRadius: 4, background: '#1E7BE0', marginTop: 9 }} /&gt;&lt;Box style={{ flex: 1 }}&gt;&lt;Text style={{ fontSize: 17, color: '#333A45', fontWeight: 400, lineHeight: 1.6 }}&gt;单题引擎是能力底座，向上支撑刷题、作业、考试与生涯档案。&lt;/Text&gt;&lt;/Box&gt;&lt;/Box&gt;&lt;Box style={{ flexDirection: 'row', gap: 12, alignItems: 'flex-start' }}&gt;&lt;Box style={{ width: 8, height: 8, borderRadius: 4, background: '#1E7BE0', marginTop: 9 }} /&gt;&lt;Box style={{ flex: 1 }}&gt;&lt;Text style={{ fontSize: 17, color: '#333A45', fontWeight: 400, lineHeight: 1.6 }}&gt;教学协同 Agent 是统一对话入口，按已认证身份切换角色视角。&lt;/Text&gt;&lt;/Box&gt;&lt;/Box&gt;&lt;Box style={{ flexDirection: 'row', gap: 12, alignItems: 'flex-start' }}&gt;&lt;Box style={{ width: 8, height: 8, borderRadius: 4, background: '#1E7BE0', marginTop: 9 }} /&gt;&lt;Box style={{ flex: 1 }}&gt;&lt;Text style={{ fontSize: 17, color: '#333A45', fontWeight: 400, lineHeight: 1.6 }}&gt;通过 MCP 对外提供教育能力服务，宿主负责对话与通用办公能力。&lt;/Text&gt;&lt;/Box&gt;&lt;/Box&gt;&lt;/Box&gt;&lt;/Box&gt;&lt;/Box&gt;&lt;/Box&gt;&lt;Box style={{ height: 40, flexDirection: 'row', justifyContent: 'space-between', alignItems: 'center', borderTop: '1px solid #E3E8EF', marginTop: 8 }}&gt;&lt;Text style={{ fontSize: 13, color: '#7A8699', fontWeight: 400, lineHeight: 1.4 }}&gt;依据：全部 12 份设计文档综述&lt;/Text&gt;&lt;Text style={{ fontSize: 14, color: '#7A8699', fontWeight: 400, lineHeight: 1.4 }}&gt; 3 / 124 &lt;/Text&gt;&lt;/Box&gt;&lt;/Slide&gt;"/>
        <p:cNvGrpSpPr/>
        <p:nvPr/>
      </p:nvGrpSpPr>
      <p:grpSpPr>
        <a:xfrm>
          <a:off x="0" y="0"/>
          <a:ext cx="0" cy="0"/>
          <a:chOff x="0" y="0"/>
          <a:chExt cx="0" cy="0"/>
        </a:xfrm>
      </p:grpSpPr>
      <p:sp>
        <p:nvSpPr>
          <p:cNvPr id="1223" name=""/>
          <p:cNvSpPr/>
          <p:nvPr/>
        </p:nvSpPr>
        <p:spPr>
          <a:xfrm rot="0" flipH="0" flipV="0">
            <a:off x="0" y="0"/>
            <a:ext cx="12192000" cy="6858000"/>
          </a:xfrm>
          <a:prstGeom prst="rect">
            <a:avLst/>
          </a:prstGeom>
          <a:solidFill>
            <a:srgbClr val="FFFFFF"/>
          </a:solidFill>
          <a:ln/>
        </p:spPr>
        <p:txBody>
          <a:bodyPr/>
          <a:p/>
        </p:txBody>
      </p:sp>
      <p:sp>
        <p:nvSpPr>
          <p:cNvPr id="1224" name="" descr="{&quot;isTemplate&quot;:true,&quot;type&quot;:&quot;text&quot;}"/>
          <p:cNvSpPr txBox="1"/>
          <p:nvPr/>
        </p:nvSpPr>
        <p:spPr>
          <a:xfrm rot="0" flipH="0" flipV="0">
            <a:off x="666750" y="381000"/>
            <a:ext cx="3019425"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00 / </a:t>
            </a:r>
            <a:r>
              <a:rPr lang="zh-CN" sz="1050" spc="75">
                <a:solidFill>
                  <a:srgbClr val="7A8699"/>
                </a:solidFill>
                <a:latin typeface="Microsoft YaHei"/>
                <a:ea typeface="Microsoft YaHei"/>
              </a:rPr>
              <a:t>导读</a:t>
            </a:r>
            <a:endParaRPr/>
          </a:p>
        </p:txBody>
      </p:sp>
      <p:sp>
        <p:nvSpPr>
          <p:cNvPr id="1225" name="" descr="{&quot;isTemplate&quot;:true,&quot;type&quot;:&quot;text&quot;}"/>
          <p:cNvSpPr txBox="1"/>
          <p:nvPr/>
        </p:nvSpPr>
        <p:spPr>
          <a:xfrm rot="0" flipH="0" flipV="0">
            <a:off x="666750" y="666750"/>
            <a:ext cx="3019425" cy="476250"/>
          </a:xfrm>
          <a:prstGeom prst="rect"/>
        </p:spPr>
        <p:txBody>
          <a:bodyPr wrap="none" lIns="0" tIns="0" rIns="0" bIns="0"/>
          <a:p>
            <a:pPr>
              <a:lnSpc>
                <a:spcPct val="130000"/>
              </a:lnSpc>
            </a:pPr>
            <a:r>
              <a:rPr lang="zh-CN" sz="2400" b="1">
                <a:solidFill>
                  <a:srgbClr val="0E2340"/>
                </a:solidFill>
                <a:latin typeface="Microsoft YaHei"/>
                <a:ea typeface="Microsoft YaHei"/>
              </a:rPr>
              <a:t>一页看懂</a:t>
            </a:r>
            <a:r>
              <a:rPr lang="en-US" sz="2400" b="1">
                <a:solidFill>
                  <a:srgbClr val="0E2340"/>
                </a:solidFill>
                <a:latin typeface="Microsoft YaHei"/>
                <a:ea typeface="Microsoft YaHei"/>
              </a:rPr>
              <a:t xml:space="preserve"> StudyAgent</a:t>
            </a:r>
            <a:endParaRPr/>
          </a:p>
        </p:txBody>
      </p:sp>
      <p:pic>
        <p:nvPicPr>
          <p:cNvPr id="1226" name=""/>
          <p:cNvPicPr>
            <a:picLocks noChangeAspect="1"/>
          </p:cNvPicPr>
          <p:nvPr/>
        </p:nvPicPr>
        <p:blipFill>
          <a:blip>
            <a:extLst>
              <a:ext uri="{96DAC541-7B7A-43D3-8B79-37D633B846F1}">
                <asvg:svgBlip r:embed="rId1"/>
              </a:ext>
            </a:extLst>
          </a:blip>
          <a:stretch>
            <a:fillRect/>
          </a:stretch>
        </p:blipFill>
        <p:spPr>
          <a:xfrm rot="0" flipH="0" flipV="0">
            <a:off x="666750" y="2143125"/>
            <a:ext cx="6667500" cy="3143250"/>
          </a:xfrm>
          <a:prstGeom prst="rect">
            <a:avLst/>
          </a:prstGeom>
          <a:ln/>
        </p:spPr>
      </p:pic>
      <p:sp>
        <p:nvSpPr>
          <p:cNvPr id="1227" name="" descr="{&quot;isTemplate&quot;:true,&quot;type&quot;:&quot;text&quot;}"/>
          <p:cNvSpPr txBox="1"/>
          <p:nvPr/>
        </p:nvSpPr>
        <p:spPr>
          <a:xfrm rot="0" flipH="0" flipV="0">
            <a:off x="7600950" y="2095500"/>
            <a:ext cx="3924300" cy="342900"/>
          </a:xfrm>
          <a:prstGeom prst="rect"/>
        </p:spPr>
        <p:txBody>
          <a:bodyPr wrap="none" lIns="0" tIns="0" rIns="0" bIns="0"/>
          <a:p>
            <a:pPr>
              <a:lnSpc>
                <a:spcPct val="140000"/>
              </a:lnSpc>
            </a:pPr>
            <a:r>
              <a:rPr lang="zh-CN" sz="1575" b="1">
                <a:solidFill>
                  <a:srgbClr val="0E2340"/>
                </a:solidFill>
                <a:latin typeface="Microsoft YaHei"/>
                <a:ea typeface="Microsoft YaHei"/>
              </a:rPr>
              <a:t>系统定位</a:t>
            </a:r>
            <a:endParaRPr/>
          </a:p>
        </p:txBody>
      </p:sp>
      <p:sp>
        <p:nvSpPr>
          <p:cNvPr id="1228" name=""/>
          <p:cNvSpPr/>
          <p:nvPr/>
        </p:nvSpPr>
        <p:spPr>
          <a:xfrm rot="0" flipH="0" flipV="0">
            <a:off x="7600950" y="2628900"/>
            <a:ext cx="76200" cy="76200"/>
          </a:xfrm>
          <a:prstGeom prst="roundRect">
            <a:avLst>
              <a:gd name="adj" fmla="val 50000"/>
            </a:avLst>
          </a:prstGeom>
          <a:solidFill>
            <a:srgbClr val="1E7BE0"/>
          </a:solidFill>
          <a:ln/>
        </p:spPr>
        <p:txBody>
          <a:bodyPr/>
          <a:p/>
        </p:txBody>
      </p:sp>
      <p:sp>
        <p:nvSpPr>
          <p:cNvPr id="1229" name="" descr="{&quot;isTemplate&quot;:true,&quot;type&quot;:&quot;text&quot;}"/>
          <p:cNvSpPr txBox="1"/>
          <p:nvPr/>
        </p:nvSpPr>
        <p:spPr>
          <a:xfrm rot="0" flipH="0" flipV="0">
            <a:off x="7791450" y="254317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一套系统覆盖学生、教师、学校三类使用者，共用课程、知识点、步骤与套路定义。</a:t>
            </a:r>
            <a:endParaRPr/>
          </a:p>
        </p:txBody>
      </p:sp>
      <p:sp>
        <p:nvSpPr>
          <p:cNvPr id="1230" name=""/>
          <p:cNvSpPr/>
          <p:nvPr/>
        </p:nvSpPr>
        <p:spPr>
          <a:xfrm rot="0" flipH="0" flipV="0">
            <a:off x="7600950" y="3352800"/>
            <a:ext cx="76200" cy="76200"/>
          </a:xfrm>
          <a:prstGeom prst="roundRect">
            <a:avLst>
              <a:gd name="adj" fmla="val 50000"/>
            </a:avLst>
          </a:prstGeom>
          <a:solidFill>
            <a:srgbClr val="1E7BE0"/>
          </a:solidFill>
          <a:ln/>
        </p:spPr>
        <p:txBody>
          <a:bodyPr/>
          <a:p/>
        </p:txBody>
      </p:sp>
      <p:sp>
        <p:nvSpPr>
          <p:cNvPr id="1231" name="" descr="{&quot;isTemplate&quot;:true,&quot;type&quot;:&quot;text&quot;}"/>
          <p:cNvSpPr txBox="1"/>
          <p:nvPr/>
        </p:nvSpPr>
        <p:spPr>
          <a:xfrm rot="0" flipH="0" flipV="0">
            <a:off x="7791450" y="326707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单题引擎是能力底座，向上支撑刷题、作业、考试与生涯档案。</a:t>
            </a:r>
            <a:endParaRPr/>
          </a:p>
        </p:txBody>
      </p:sp>
      <p:sp>
        <p:nvSpPr>
          <p:cNvPr id="1232" name=""/>
          <p:cNvSpPr/>
          <p:nvPr/>
        </p:nvSpPr>
        <p:spPr>
          <a:xfrm rot="0" flipH="0" flipV="0">
            <a:off x="7600950" y="4076700"/>
            <a:ext cx="76200" cy="76200"/>
          </a:xfrm>
          <a:prstGeom prst="roundRect">
            <a:avLst>
              <a:gd name="adj" fmla="val 50000"/>
            </a:avLst>
          </a:prstGeom>
          <a:solidFill>
            <a:srgbClr val="1E7BE0"/>
          </a:solidFill>
          <a:ln/>
        </p:spPr>
        <p:txBody>
          <a:bodyPr/>
          <a:p/>
        </p:txBody>
      </p:sp>
      <p:sp>
        <p:nvSpPr>
          <p:cNvPr id="1233" name="" descr="{&quot;isTemplate&quot;:true,&quot;type&quot;:&quot;text&quot;}"/>
          <p:cNvSpPr txBox="1"/>
          <p:nvPr/>
        </p:nvSpPr>
        <p:spPr>
          <a:xfrm rot="0" flipH="0" flipV="0">
            <a:off x="7791450" y="399097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教学协同</a:t>
            </a:r>
            <a:r>
              <a:rPr lang="en-US" sz="1275">
                <a:solidFill>
                  <a:srgbClr val="333A45"/>
                </a:solidFill>
                <a:latin typeface="Microsoft YaHei"/>
                <a:ea typeface="Microsoft YaHei"/>
              </a:rPr>
              <a:t xml:space="preserve"> Agent </a:t>
            </a:r>
            <a:r>
              <a:rPr lang="zh-CN" sz="1275">
                <a:solidFill>
                  <a:srgbClr val="333A45"/>
                </a:solidFill>
                <a:latin typeface="Microsoft YaHei"/>
                <a:ea typeface="Microsoft YaHei"/>
              </a:rPr>
              <a:t>是统一对话入口，按已认证身份切换角色视角。</a:t>
            </a:r>
            <a:endParaRPr/>
          </a:p>
        </p:txBody>
      </p:sp>
      <p:sp>
        <p:nvSpPr>
          <p:cNvPr id="1234" name=""/>
          <p:cNvSpPr/>
          <p:nvPr/>
        </p:nvSpPr>
        <p:spPr>
          <a:xfrm rot="0" flipH="0" flipV="0">
            <a:off x="7600950" y="4800600"/>
            <a:ext cx="76200" cy="76200"/>
          </a:xfrm>
          <a:prstGeom prst="roundRect">
            <a:avLst>
              <a:gd name="adj" fmla="val 50000"/>
            </a:avLst>
          </a:prstGeom>
          <a:solidFill>
            <a:srgbClr val="1E7BE0"/>
          </a:solidFill>
          <a:ln/>
        </p:spPr>
        <p:txBody>
          <a:bodyPr/>
          <a:p/>
        </p:txBody>
      </p:sp>
      <p:sp>
        <p:nvSpPr>
          <p:cNvPr id="1235" name="" descr="{&quot;isTemplate&quot;:true,&quot;type&quot;:&quot;text&quot;}"/>
          <p:cNvSpPr txBox="1"/>
          <p:nvPr/>
        </p:nvSpPr>
        <p:spPr>
          <a:xfrm rot="0" flipH="0" flipV="0">
            <a:off x="7791450" y="471487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通过</a:t>
            </a:r>
            <a:r>
              <a:rPr lang="en-US" sz="1275">
                <a:solidFill>
                  <a:srgbClr val="333A45"/>
                </a:solidFill>
                <a:latin typeface="Microsoft YaHei"/>
                <a:ea typeface="Microsoft YaHei"/>
              </a:rPr>
              <a:t xml:space="preserve"> MCP </a:t>
            </a:r>
            <a:r>
              <a:rPr lang="zh-CN" sz="1275">
                <a:solidFill>
                  <a:srgbClr val="333A45"/>
                </a:solidFill>
                <a:latin typeface="Microsoft YaHei"/>
                <a:ea typeface="Microsoft YaHei"/>
              </a:rPr>
              <a:t>对外提供教育能力服务，宿主负责对话与通用办公能力。</a:t>
            </a:r>
            <a:endParaRPr/>
          </a:p>
        </p:txBody>
      </p:sp>
      <p:sp>
        <p:nvSpPr>
          <p:cNvPr id="1236"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237" name="" descr="{&quot;isTemplate&quot;:true,&quot;type&quot;:&quot;text&quot;}"/>
          <p:cNvSpPr txBox="1"/>
          <p:nvPr/>
        </p:nvSpPr>
        <p:spPr>
          <a:xfrm rot="0" flipH="0" flipV="0">
            <a:off x="666750" y="6381750"/>
            <a:ext cx="1695450" cy="209550"/>
          </a:xfrm>
          <a:prstGeom prst="rect"/>
        </p:spPr>
        <p:txBody>
          <a:bodyPr wrap="none" lIns="0" tIns="0" rIns="0" bIns="0"/>
          <a:p>
            <a:pPr>
              <a:lnSpc>
                <a:spcPct val="140000"/>
              </a:lnSpc>
            </a:pPr>
            <a:r>
              <a:rPr lang="zh-CN" sz="975">
                <a:solidFill>
                  <a:srgbClr val="7A8699"/>
                </a:solidFill>
                <a:latin typeface="Microsoft YaHei"/>
                <a:ea typeface="Microsoft YaHei"/>
              </a:rPr>
              <a:t>依据：全部</a:t>
            </a:r>
            <a:r>
              <a:rPr lang="en-US" sz="975">
                <a:solidFill>
                  <a:srgbClr val="7A8699"/>
                </a:solidFill>
                <a:latin typeface="Microsoft YaHei"/>
                <a:ea typeface="Microsoft YaHei"/>
              </a:rPr>
              <a:t xml:space="preserve"> 12 </a:t>
            </a:r>
            <a:r>
              <a:rPr lang="zh-CN" sz="975">
                <a:solidFill>
                  <a:srgbClr val="7A8699"/>
                </a:solidFill>
                <a:latin typeface="Microsoft YaHei"/>
                <a:ea typeface="Microsoft YaHei"/>
              </a:rPr>
              <a:t>份设计文档综述</a:t>
            </a:r>
            <a:endParaRPr/>
          </a:p>
        </p:txBody>
      </p:sp>
      <p:sp>
        <p:nvSpPr>
          <p:cNvPr id="1238" name="" descr="{&quot;isTemplate&quot;:true,&quot;type&quot;:&quot;text&quot;}"/>
          <p:cNvSpPr txBox="1"/>
          <p:nvPr/>
        </p:nvSpPr>
        <p:spPr>
          <a:xfrm rot="0" flipH="0" flipV="0">
            <a:off x="11039475" y="6372225"/>
            <a:ext cx="4857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3 / 124 </a:t>
            </a:r>
            <a:endParaRPr/>
          </a:p>
        </p:txBody>
      </p:sp>
    </p:spTree>
  </p:cSld>
</p:sld>
</file>

<file path=ppt/slides/slide4.xml><?xml version="1.0" encoding="utf-8"?>
<p:sld xmlns:p="http://schemas.openxmlformats.org/presentationml/2006/main" xmlns:a="http://schemas.openxmlformats.org/drawingml/2006/main">
  <p:cSld>
    <p:spTree>
      <p:nvGrpSpPr>
        <p:cNvPr id="1508"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0 / 导读&lt;/Text&gt;&lt;Text style={{ fontSize: 32, color: '#0E2340', fontWeight: 700, lineHeight: 1.3 }}&gt;阅读约定：状态图例与证据边界&lt;/Text&gt;&lt;/Box&gt;&lt;/Box&gt;&lt;Box style={{ height: 532, paddingTop: 8, flexDirection: 'column' }}&gt;&lt;Box style={{ flexDirection: 'column', gap: 20, flex: 1, justifyContent: 'center' }}&gt;&lt;Box style={{ flexDirection: 'row', alignItems: 'center', background: '#F5F7FA', borderLeft: '4px solid #0E2340', borderRadius: 6, padding: '14px 20px' }}&gt;&lt;Text style={{ fontSize: 20, color: '#0E2340', fontWeight: 600, lineHeight: 1.5 }}&gt;每页右上角的状态标签，表示该项能力在当前代码库中的落地情况&lt;/Text&gt;&lt;/Box&gt;&lt;Box style={{ flexDirection: 'row', gap: 20 }}&gt;&lt;Box style={{ width: 268, background: '#FFFFFF', border: '1px solid #E3E8EF', borderRadius: 8, overflow: 'hidden', flexDirection: 'column' }}&gt;&lt;Box style={{ flexDirection: 'column', gap: 10, padding: 20, flex: 1 }}&gt;&lt;Text style={{ fontSize: 22, color: '#1E9E62', fontWeight: 700, lineHeight: 1.4 }}&gt;已实现&lt;/Text&gt;&lt;Text style={{ fontSize: 17, color: '#333A45', fontWeight: 400, lineHeight: 1.6 }}&gt;代码已落地，并经静态代码核对与本地库统计确认&lt;/Text&gt;&lt;/Box&gt;&lt;/Box&gt;&lt;Box style={{ width: 268, background: '#FFFFFF', border: '1px solid #E3E8EF', borderRadius: 8, overflow: 'hidden', flexDirection: 'column' }}&gt;&lt;Box style={{ flexDirection: 'column', gap: 10, padding: 20, flex: 1 }}&gt;&lt;Text style={{ fontSize: 22, color: '#E8A33D', fontWeight: 700, lineHeight: 1.4 }}&gt;部分实现&lt;/Text&gt;&lt;Text style={{ fontSize: 17, color: '#333A45', fontWeight: 400, lineHeight: 1.6 }}&gt;存在代码基础，但文档明确列出了当前缺口或未接通的环节&lt;/Text&gt;&lt;/Box&gt;&lt;/Box&gt;&lt;Box style={{ width: 268, background: '#FFFFFF', border: '1px solid #E3E8EF', borderRadius: 8, overflow: 'hidden', flexDirection: 'column' }}&gt;&lt;Box style={{ flexDirection: 'column', gap: 10, padding: 20, flex: 1 }}&gt;&lt;Text style={{ fontSize: 22, color: '#1E7BE0', fontWeight: 700, lineHeight: 1.4 }}&gt;设计中&lt;/Text&gt;&lt;Text style={{ fontSize: 17, color: '#333A45', fontWeight: 400, lineHeight: 1.6 }}&gt;仅有设计文档描述，尚未进入实现，不作为已实现能力宣称&lt;/Text&gt;&lt;/Box&gt;&lt;/Box&gt;&lt;Box style={{ width: 268, background: '#FFFFFF', border: '1px solid #E3E8EF', borderRadius: 8, overflow: 'hidden', flexDirection: 'column' }}&gt;&lt;Box style={{ flexDirection: 'column', gap: 10, padding: 20, flex: 1 }}&gt;&lt;Text style={{ fontSize: 22, color: '#98A2B3', fontWeight: 700, lineHeight: 1.4 }}&gt;待研究&lt;/Text&gt;&lt;Text style={{ fontSize: 17, color: '#333A45', fontWeight: 400, lineHeight: 1.6 }}&gt;研究性方向，需要先形成原型与标注规范，无实现承诺&lt;/Text&gt;&lt;/Box&gt;&lt;/Box&gt;&lt;/Box&gt;&lt;Box style={{ flexDirection: 'row', alignItems: 'center', background: '#F5F7FA', borderLeft: '4px solid #98A2B3', borderRadius: 6, padding: '14px 20px' }}&gt;&lt;Text style={{ fontSize: 18, color: '#0E2340', fontWeight: 600, lineHeight: 1.5 }}&gt;本次汇报只呈现设计思路与已核对的技术结构，不提供准确率提升、教学效果或出题质量优于其他系统的实验结论&lt;/Text&gt;&lt;/Box&gt;&lt;/Box&gt;&lt;/Box&gt;&lt;Box style={{ height: 40, flexDirection: 'row', justifyContent: 'space-between', alignItems: 'center', borderTop: '1px solid #E3E8EF', marginTop: 8 }}&gt;&lt;Text style={{ fontSize: 13, color: '#7A8699', fontWeight: 400, lineHeight: 1.4 }}&gt;依据：各文档开头的口径声明&lt;/Text&gt;&lt;Text style={{ fontSize: 14, color: '#7A8699', fontWeight: 400, lineHeight: 1.4 }}&gt; 4 / 124 &lt;/Text&gt;&lt;/Box&gt;&lt;/Slide&gt;"/>
        <p:cNvGrpSpPr/>
        <p:nvPr/>
      </p:nvGrpSpPr>
      <p:grpSpPr>
        <a:xfrm>
          <a:off x="0" y="0"/>
          <a:ext cx="0" cy="0"/>
          <a:chOff x="0" y="0"/>
          <a:chExt cx="0" cy="0"/>
        </a:xfrm>
      </p:grpSpPr>
      <p:sp>
        <p:nvSpPr>
          <p:cNvPr id="1509" name=""/>
          <p:cNvSpPr/>
          <p:nvPr/>
        </p:nvSpPr>
        <p:spPr>
          <a:xfrm rot="0" flipH="0" flipV="0">
            <a:off x="0" y="0"/>
            <a:ext cx="12192000" cy="6858000"/>
          </a:xfrm>
          <a:prstGeom prst="rect">
            <a:avLst/>
          </a:prstGeom>
          <a:solidFill>
            <a:srgbClr val="FFFFFF"/>
          </a:solidFill>
          <a:ln/>
        </p:spPr>
        <p:txBody>
          <a:bodyPr/>
          <a:p/>
        </p:txBody>
      </p:sp>
      <p:sp>
        <p:nvSpPr>
          <p:cNvPr id="1510" name="" descr="{&quot;isTemplate&quot;:true,&quot;type&quot;:&quot;text&quot;}"/>
          <p:cNvSpPr txBox="1"/>
          <p:nvPr/>
        </p:nvSpPr>
        <p:spPr>
          <a:xfrm rot="0" flipH="0" flipV="0">
            <a:off x="666750" y="381000"/>
            <a:ext cx="42672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00 / </a:t>
            </a:r>
            <a:r>
              <a:rPr lang="zh-CN" sz="1050" spc="75">
                <a:solidFill>
                  <a:srgbClr val="7A8699"/>
                </a:solidFill>
                <a:latin typeface="Microsoft YaHei"/>
                <a:ea typeface="Microsoft YaHei"/>
              </a:rPr>
              <a:t>导读</a:t>
            </a:r>
            <a:endParaRPr/>
          </a:p>
        </p:txBody>
      </p:sp>
      <p:sp>
        <p:nvSpPr>
          <p:cNvPr id="1511" name="" descr="{&quot;isTemplate&quot;:true,&quot;type&quot;:&quot;text&quot;}"/>
          <p:cNvSpPr txBox="1"/>
          <p:nvPr/>
        </p:nvSpPr>
        <p:spPr>
          <a:xfrm rot="0" flipH="0" flipV="0">
            <a:off x="666750" y="666750"/>
            <a:ext cx="4267200" cy="476250"/>
          </a:xfrm>
          <a:prstGeom prst="rect"/>
        </p:spPr>
        <p:txBody>
          <a:bodyPr wrap="none" lIns="0" tIns="0" rIns="0" bIns="0"/>
          <a:p>
            <a:pPr>
              <a:lnSpc>
                <a:spcPct val="130000"/>
              </a:lnSpc>
            </a:pPr>
            <a:r>
              <a:rPr lang="zh-CN" sz="2400" b="1">
                <a:solidFill>
                  <a:srgbClr val="0E2340"/>
                </a:solidFill>
                <a:latin typeface="Microsoft YaHei"/>
                <a:ea typeface="Microsoft YaHei"/>
              </a:rPr>
              <a:t>阅读约定：状态图例与证据边界</a:t>
            </a:r>
            <a:endParaRPr/>
          </a:p>
        </p:txBody>
      </p:sp>
      <p:sp>
        <p:nvSpPr>
          <p:cNvPr id="1512" name=""/>
          <p:cNvSpPr/>
          <p:nvPr/>
        </p:nvSpPr>
        <p:spPr>
          <a:xfrm rot="0" flipH="0" flipV="0">
            <a:off x="704850" y="2200275"/>
            <a:ext cx="10858500" cy="609600"/>
          </a:xfrm>
          <a:prstGeom prst="roundRect">
            <a:avLst>
              <a:gd name="adj" fmla="val 9375"/>
            </a:avLst>
          </a:prstGeom>
          <a:solidFill>
            <a:srgbClr val="F5F7FA"/>
          </a:solidFill>
          <a:ln/>
        </p:spPr>
        <p:txBody>
          <a:bodyPr/>
          <a:p/>
        </p:txBody>
      </p:sp>
      <p:sp>
        <p:nvSpPr>
          <p:cNvPr id="1513" name=""/>
          <p:cNvSpPr/>
          <p:nvPr/>
        </p:nvSpPr>
        <p:spPr>
          <a:xfrm rot="0" flipH="0" flipV="0">
            <a:off x="704850" y="2200275"/>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1514" name="" descr="{&quot;isTemplate&quot;:true,&quot;type&quot;:&quot;text&quot;}"/>
          <p:cNvSpPr txBox="1"/>
          <p:nvPr/>
        </p:nvSpPr>
        <p:spPr>
          <a:xfrm rot="0" flipH="0" flipV="0">
            <a:off x="895350" y="2333625"/>
            <a:ext cx="5524500" cy="342900"/>
          </a:xfrm>
          <a:prstGeom prst="rect"/>
        </p:spPr>
        <p:txBody>
          <a:bodyPr wrap="none" lIns="0" tIns="0" rIns="0" bIns="0"/>
          <a:p>
            <a:pPr>
              <a:lnSpc>
                <a:spcPct val="150000"/>
              </a:lnSpc>
            </a:pPr>
            <a:r>
              <a:rPr lang="zh-CN" sz="1500" b="1">
                <a:solidFill>
                  <a:srgbClr val="0E2340"/>
                </a:solidFill>
                <a:latin typeface="Microsoft YaHei"/>
                <a:ea typeface="Microsoft YaHei"/>
              </a:rPr>
              <a:t>每页右上角的状态标签，表示该项能力在当前代码库中的落地情况</a:t>
            </a:r>
            <a:endParaRPr/>
          </a:p>
        </p:txBody>
      </p:sp>
      <p:sp>
        <p:nvSpPr>
          <p:cNvPr id="1515" name=""/>
          <p:cNvSpPr/>
          <p:nvPr/>
        </p:nvSpPr>
        <p:spPr>
          <a:xfrm rot="0" flipH="0" flipV="0">
            <a:off x="666750" y="3000375"/>
            <a:ext cx="2552700" cy="1457325"/>
          </a:xfrm>
          <a:prstGeom prst="roundRect">
            <a:avLst>
              <a:gd name="adj" fmla="val 5229"/>
            </a:avLst>
          </a:prstGeom>
          <a:solidFill>
            <a:srgbClr val="FFFFFF"/>
          </a:solidFill>
          <a:ln w="12700">
            <a:solidFill>
              <a:srgbClr val="E3E8EF"/>
            </a:solidFill>
            <a:prstDash val="solid"/>
          </a:ln>
        </p:spPr>
        <p:txBody>
          <a:bodyPr/>
          <a:p/>
        </p:txBody>
      </p:sp>
      <p:sp>
        <p:nvSpPr>
          <p:cNvPr id="1516" name="" descr="{&quot;isTemplate&quot;:true,&quot;type&quot;:&quot;text&quot;}"/>
          <p:cNvSpPr txBox="1"/>
          <p:nvPr/>
        </p:nvSpPr>
        <p:spPr>
          <a:xfrm rot="0" flipH="0" flipV="0">
            <a:off x="857250" y="3190875"/>
            <a:ext cx="2171700" cy="352425"/>
          </a:xfrm>
          <a:prstGeom prst="rect"/>
        </p:spPr>
        <p:txBody>
          <a:bodyPr wrap="none" lIns="0" tIns="0" rIns="0" bIns="0"/>
          <a:p>
            <a:pPr>
              <a:lnSpc>
                <a:spcPct val="140000"/>
              </a:lnSpc>
            </a:pPr>
            <a:r>
              <a:rPr lang="zh-CN" sz="1650" b="1">
                <a:solidFill>
                  <a:srgbClr val="1E9E62"/>
                </a:solidFill>
                <a:latin typeface="Microsoft YaHei"/>
                <a:ea typeface="Microsoft YaHei"/>
              </a:rPr>
              <a:t>已实现</a:t>
            </a:r>
            <a:endParaRPr/>
          </a:p>
        </p:txBody>
      </p:sp>
      <p:sp>
        <p:nvSpPr>
          <p:cNvPr id="1517" name="" descr="{&quot;isTemplate&quot;:true,&quot;type&quot;:&quot;text&quot;}"/>
          <p:cNvSpPr txBox="1"/>
          <p:nvPr/>
        </p:nvSpPr>
        <p:spPr>
          <a:xfrm rot="0" flipH="0" flipV="0">
            <a:off x="857250" y="3638550"/>
            <a:ext cx="21717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代码已落地，并经静态代码核对与本地库统计确认</a:t>
            </a:r>
            <a:endParaRPr/>
          </a:p>
        </p:txBody>
      </p:sp>
      <p:sp>
        <p:nvSpPr>
          <p:cNvPr id="1518" name=""/>
          <p:cNvSpPr/>
          <p:nvPr/>
        </p:nvSpPr>
        <p:spPr>
          <a:xfrm rot="0" flipH="0" flipV="0">
            <a:off x="3409950" y="3000375"/>
            <a:ext cx="2552700" cy="1457325"/>
          </a:xfrm>
          <a:prstGeom prst="roundRect">
            <a:avLst>
              <a:gd name="adj" fmla="val 5229"/>
            </a:avLst>
          </a:prstGeom>
          <a:solidFill>
            <a:srgbClr val="FFFFFF"/>
          </a:solidFill>
          <a:ln w="12700">
            <a:solidFill>
              <a:srgbClr val="E3E8EF"/>
            </a:solidFill>
            <a:prstDash val="solid"/>
          </a:ln>
        </p:spPr>
        <p:txBody>
          <a:bodyPr/>
          <a:p/>
        </p:txBody>
      </p:sp>
      <p:sp>
        <p:nvSpPr>
          <p:cNvPr id="1519" name="" descr="{&quot;isTemplate&quot;:true,&quot;type&quot;:&quot;text&quot;}"/>
          <p:cNvSpPr txBox="1"/>
          <p:nvPr/>
        </p:nvSpPr>
        <p:spPr>
          <a:xfrm rot="0" flipH="0" flipV="0">
            <a:off x="3600450" y="3190875"/>
            <a:ext cx="2171700" cy="352425"/>
          </a:xfrm>
          <a:prstGeom prst="rect"/>
        </p:spPr>
        <p:txBody>
          <a:bodyPr wrap="none" lIns="0" tIns="0" rIns="0" bIns="0"/>
          <a:p>
            <a:pPr>
              <a:lnSpc>
                <a:spcPct val="140000"/>
              </a:lnSpc>
            </a:pPr>
            <a:r>
              <a:rPr lang="zh-CN" sz="1650" b="1">
                <a:solidFill>
                  <a:srgbClr val="E8A33D"/>
                </a:solidFill>
                <a:latin typeface="Microsoft YaHei"/>
                <a:ea typeface="Microsoft YaHei"/>
              </a:rPr>
              <a:t>部分实现</a:t>
            </a:r>
            <a:endParaRPr/>
          </a:p>
        </p:txBody>
      </p:sp>
      <p:sp>
        <p:nvSpPr>
          <p:cNvPr id="1520" name="" descr="{&quot;isTemplate&quot;:true,&quot;type&quot;:&quot;text&quot;}"/>
          <p:cNvSpPr txBox="1"/>
          <p:nvPr/>
        </p:nvSpPr>
        <p:spPr>
          <a:xfrm rot="0" flipH="0" flipV="0">
            <a:off x="3600450" y="3638550"/>
            <a:ext cx="21717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存在代码基础，但文档明确列出了当前缺口或未接通的环节</a:t>
            </a:r>
            <a:endParaRPr/>
          </a:p>
        </p:txBody>
      </p:sp>
      <p:sp>
        <p:nvSpPr>
          <p:cNvPr id="1521" name=""/>
          <p:cNvSpPr/>
          <p:nvPr/>
        </p:nvSpPr>
        <p:spPr>
          <a:xfrm rot="0" flipH="0" flipV="0">
            <a:off x="6153150" y="3000375"/>
            <a:ext cx="2552700" cy="1457325"/>
          </a:xfrm>
          <a:prstGeom prst="roundRect">
            <a:avLst>
              <a:gd name="adj" fmla="val 5229"/>
            </a:avLst>
          </a:prstGeom>
          <a:solidFill>
            <a:srgbClr val="FFFFFF"/>
          </a:solidFill>
          <a:ln w="12700">
            <a:solidFill>
              <a:srgbClr val="E3E8EF"/>
            </a:solidFill>
            <a:prstDash val="solid"/>
          </a:ln>
        </p:spPr>
        <p:txBody>
          <a:bodyPr/>
          <a:p/>
        </p:txBody>
      </p:sp>
      <p:sp>
        <p:nvSpPr>
          <p:cNvPr id="1522" name="" descr="{&quot;isTemplate&quot;:true,&quot;type&quot;:&quot;text&quot;}"/>
          <p:cNvSpPr txBox="1"/>
          <p:nvPr/>
        </p:nvSpPr>
        <p:spPr>
          <a:xfrm rot="0" flipH="0" flipV="0">
            <a:off x="6343650" y="3190875"/>
            <a:ext cx="2171700" cy="352425"/>
          </a:xfrm>
          <a:prstGeom prst="rect"/>
        </p:spPr>
        <p:txBody>
          <a:bodyPr wrap="none" lIns="0" tIns="0" rIns="0" bIns="0"/>
          <a:p>
            <a:pPr>
              <a:lnSpc>
                <a:spcPct val="140000"/>
              </a:lnSpc>
            </a:pPr>
            <a:r>
              <a:rPr lang="zh-CN" sz="1650" b="1">
                <a:solidFill>
                  <a:srgbClr val="1E7BE0"/>
                </a:solidFill>
                <a:latin typeface="Microsoft YaHei"/>
                <a:ea typeface="Microsoft YaHei"/>
              </a:rPr>
              <a:t>设计中</a:t>
            </a:r>
            <a:endParaRPr/>
          </a:p>
        </p:txBody>
      </p:sp>
      <p:sp>
        <p:nvSpPr>
          <p:cNvPr id="1523" name="" descr="{&quot;isTemplate&quot;:true,&quot;type&quot;:&quot;text&quot;}"/>
          <p:cNvSpPr txBox="1"/>
          <p:nvPr/>
        </p:nvSpPr>
        <p:spPr>
          <a:xfrm rot="0" flipH="0" flipV="0">
            <a:off x="6343650" y="3638550"/>
            <a:ext cx="21717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仅有设计文档描述，尚未进入实现，不作为已实现能力宣称</a:t>
            </a:r>
            <a:endParaRPr/>
          </a:p>
        </p:txBody>
      </p:sp>
      <p:sp>
        <p:nvSpPr>
          <p:cNvPr id="1524" name=""/>
          <p:cNvSpPr/>
          <p:nvPr/>
        </p:nvSpPr>
        <p:spPr>
          <a:xfrm rot="0" flipH="0" flipV="0">
            <a:off x="8896350" y="3000375"/>
            <a:ext cx="2552700" cy="1457325"/>
          </a:xfrm>
          <a:prstGeom prst="roundRect">
            <a:avLst>
              <a:gd name="adj" fmla="val 5229"/>
            </a:avLst>
          </a:prstGeom>
          <a:solidFill>
            <a:srgbClr val="FFFFFF"/>
          </a:solidFill>
          <a:ln w="12700">
            <a:solidFill>
              <a:srgbClr val="E3E8EF"/>
            </a:solidFill>
            <a:prstDash val="solid"/>
          </a:ln>
        </p:spPr>
        <p:txBody>
          <a:bodyPr/>
          <a:p/>
        </p:txBody>
      </p:sp>
      <p:sp>
        <p:nvSpPr>
          <p:cNvPr id="1525" name="" descr="{&quot;isTemplate&quot;:true,&quot;type&quot;:&quot;text&quot;}"/>
          <p:cNvSpPr txBox="1"/>
          <p:nvPr/>
        </p:nvSpPr>
        <p:spPr>
          <a:xfrm rot="0" flipH="0" flipV="0">
            <a:off x="9086850" y="3190875"/>
            <a:ext cx="2171700" cy="352425"/>
          </a:xfrm>
          <a:prstGeom prst="rect"/>
        </p:spPr>
        <p:txBody>
          <a:bodyPr wrap="none" lIns="0" tIns="0" rIns="0" bIns="0"/>
          <a:p>
            <a:pPr>
              <a:lnSpc>
                <a:spcPct val="140000"/>
              </a:lnSpc>
            </a:pPr>
            <a:r>
              <a:rPr lang="zh-CN" sz="1650" b="1">
                <a:solidFill>
                  <a:srgbClr val="98A2B3"/>
                </a:solidFill>
                <a:latin typeface="Microsoft YaHei"/>
                <a:ea typeface="Microsoft YaHei"/>
              </a:rPr>
              <a:t>待研究</a:t>
            </a:r>
            <a:endParaRPr/>
          </a:p>
        </p:txBody>
      </p:sp>
      <p:sp>
        <p:nvSpPr>
          <p:cNvPr id="1526" name="" descr="{&quot;isTemplate&quot;:true,&quot;type&quot;:&quot;text&quot;}"/>
          <p:cNvSpPr txBox="1"/>
          <p:nvPr/>
        </p:nvSpPr>
        <p:spPr>
          <a:xfrm rot="0" flipH="0" flipV="0">
            <a:off x="9086850" y="3638550"/>
            <a:ext cx="21717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研究性方向，需要先形成原型与标注规范，无实现承诺</a:t>
            </a:r>
            <a:endParaRPr/>
          </a:p>
        </p:txBody>
      </p:sp>
      <p:sp>
        <p:nvSpPr>
          <p:cNvPr id="1527" name=""/>
          <p:cNvSpPr/>
          <p:nvPr/>
        </p:nvSpPr>
        <p:spPr>
          <a:xfrm rot="0" flipH="0" flipV="0">
            <a:off x="704850" y="4648200"/>
            <a:ext cx="10858500" cy="581025"/>
          </a:xfrm>
          <a:prstGeom prst="roundRect">
            <a:avLst>
              <a:gd name="adj" fmla="val 9836"/>
            </a:avLst>
          </a:prstGeom>
          <a:solidFill>
            <a:srgbClr val="F5F7FA"/>
          </a:solidFill>
          <a:ln/>
        </p:spPr>
        <p:txBody>
          <a:bodyPr/>
          <a:p/>
        </p:txBody>
      </p:sp>
      <p:sp>
        <p:nvSpPr>
          <p:cNvPr id="1528" name=""/>
          <p:cNvSpPr/>
          <p:nvPr/>
        </p:nvSpPr>
        <p:spPr>
          <a:xfrm rot="0" flipH="0" flipV="0">
            <a:off x="704850" y="4648200"/>
            <a:ext cx="10858500" cy="581025"/>
          </a:xfrm>
          <a:custGeom>
            <a:pathLst>
              <a:path w="1140" h="61">
                <a:moveTo>
                  <a:pt x="6" y="0"/>
                </a:moveTo>
                <a:cubicBezTo>
                  <a:pt x="5" y="0"/>
                  <a:pt x="4" y="1"/>
                  <a:pt x="4" y="2"/>
                </a:cubicBezTo>
                <a:lnTo>
                  <a:pt x="4" y="59"/>
                </a:lnTo>
                <a:cubicBezTo>
                  <a:pt x="4" y="60"/>
                  <a:pt x="5" y="61"/>
                  <a:pt x="6" y="61"/>
                </a:cubicBezTo>
                <a:cubicBezTo>
                  <a:pt x="3" y="61"/>
                  <a:pt x="0" y="58"/>
                  <a:pt x="0" y="55"/>
                </a:cubicBezTo>
                <a:lnTo>
                  <a:pt x="0" y="6"/>
                </a:lnTo>
                <a:cubicBezTo>
                  <a:pt x="0" y="3"/>
                  <a:pt x="3" y="0"/>
                  <a:pt x="6" y="0"/>
                </a:cubicBezTo>
                <a:close/>
              </a:path>
            </a:pathLst>
          </a:custGeom>
          <a:solidFill>
            <a:srgbClr val="98A2B3"/>
          </a:solidFill>
          <a:ln/>
        </p:spPr>
        <p:txBody>
          <a:bodyPr/>
          <a:p/>
        </p:txBody>
      </p:sp>
      <p:sp>
        <p:nvSpPr>
          <p:cNvPr id="1529" name="" descr="{&quot;isTemplate&quot;:true,&quot;type&quot;:&quot;text&quot;}"/>
          <p:cNvSpPr txBox="1"/>
          <p:nvPr/>
        </p:nvSpPr>
        <p:spPr>
          <a:xfrm rot="0" flipH="0" flipV="0">
            <a:off x="895350" y="4781550"/>
            <a:ext cx="8572500" cy="314325"/>
          </a:xfrm>
          <a:prstGeom prst="rect"/>
        </p:spPr>
        <p:txBody>
          <a:bodyPr wrap="none" lIns="0" tIns="0" rIns="0" bIns="0"/>
          <a:p>
            <a:pPr>
              <a:lnSpc>
                <a:spcPct val="150000"/>
              </a:lnSpc>
            </a:pPr>
            <a:r>
              <a:rPr lang="zh-CN" sz="1350" b="1">
                <a:solidFill>
                  <a:srgbClr val="0E2340"/>
                </a:solidFill>
                <a:latin typeface="Microsoft YaHei"/>
                <a:ea typeface="Microsoft YaHei"/>
              </a:rPr>
              <a:t>本次汇报只呈现设计思路与已核对的技术结构，不提供准确率提升、教学效果或出题质量优于其他系统的实验结论</a:t>
            </a:r>
            <a:endParaRPr/>
          </a:p>
        </p:txBody>
      </p:sp>
      <p:sp>
        <p:nvSpPr>
          <p:cNvPr id="1530"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531" name="" descr="{&quot;isTemplate&quot;:true,&quot;type&quot;:&quot;text&quot;}"/>
          <p:cNvSpPr txBox="1"/>
          <p:nvPr/>
        </p:nvSpPr>
        <p:spPr>
          <a:xfrm rot="0" flipH="0" flipV="0">
            <a:off x="666750" y="6381750"/>
            <a:ext cx="1609725" cy="209550"/>
          </a:xfrm>
          <a:prstGeom prst="rect"/>
        </p:spPr>
        <p:txBody>
          <a:bodyPr wrap="none" lIns="0" tIns="0" rIns="0" bIns="0"/>
          <a:p>
            <a:pPr>
              <a:lnSpc>
                <a:spcPct val="140000"/>
              </a:lnSpc>
            </a:pPr>
            <a:r>
              <a:rPr lang="zh-CN" sz="975">
                <a:solidFill>
                  <a:srgbClr val="7A8699"/>
                </a:solidFill>
                <a:latin typeface="Microsoft YaHei"/>
                <a:ea typeface="Microsoft YaHei"/>
              </a:rPr>
              <a:t>依据：各文档开头的口径声明</a:t>
            </a:r>
            <a:endParaRPr/>
          </a:p>
        </p:txBody>
      </p:sp>
      <p:sp>
        <p:nvSpPr>
          <p:cNvPr id="1532" name="" descr="{&quot;isTemplate&quot;:true,&quot;type&quot;:&quot;text&quot;}"/>
          <p:cNvSpPr txBox="1"/>
          <p:nvPr/>
        </p:nvSpPr>
        <p:spPr>
          <a:xfrm rot="0" flipH="0" flipV="0">
            <a:off x="11039475" y="6372225"/>
            <a:ext cx="4857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4 / 124 </a:t>
            </a:r>
            <a:endParaRPr/>
          </a:p>
        </p:txBody>
      </p:sp>
    </p:spTree>
  </p:cSld>
</p:sld>
</file>

<file path=ppt/slides/slide5.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795" name="" descr="&lt;Slide style={{ width: '1280px', height: '720px', background: '#FFFFFF', padding: 0 }}&gt;&lt;Box style={{ position: 'absolute', top: 0, left: 0 }}&gt;&lt;svg width={1280} height={720} viewBox='0 0 1280 720'&gt;&lt;line x1='0' y1='0' x2='1280' y2='0' stroke='#E3E8EF' stroke-width='1' opacity='0.55'/&gt;&lt;line x1='0' y1='90' x2='1280' y2='90' stroke='#E3E8EF' stroke-width='1' opacity='0.55'/&gt;&lt;line x1='0' y1='180' x2='1280' y2='180' stroke='#E3E8EF' stroke-width='1' opacity='0.55'/&gt;&lt;line x1='0' y1='270' x2='1280' y2='270' stroke='#E3E8EF' stroke-width='1' opacity='0.55'/&gt;&lt;line x1='0' y1='360' x2='1280' y2='360' stroke='#E3E8EF' stroke-width='1' opacity='0.55'/&gt;&lt;line x1='0' y1='450' x2='1280' y2='450' stroke='#E3E8EF' stroke-width='1' opacity='0.55'/&gt;&lt;line x1='0' y1='540' x2='1280' y2='540' stroke='#E3E8EF' stroke-width='1' opacity='0.55'/&gt;&lt;line x1='0' y1='630' x2='1280' y2='630' stroke='#E3E8EF' stroke-width='1' opacity='0.55'/&gt;&lt;line x1='0' y1='720' x2='1280' y2='720' stroke='#E3E8EF' stroke-width='1' opacity='0.55'/&gt;&lt;/svg&gt;&lt;/Box&gt;&lt;Box style={{ position: 'relative', zIndex: 2, flexDirection: 'row', flex: 1, padding: '48px 80px 52px', gap: 44 }}&gt;&lt;Box style={{ width: 520, flexDirection: 'column', justifyContent: 'space-between' }}&gt;&lt;Box style={{ flexDirection: 'column' }}&gt;&lt;Text style={{ fontSize: 15, color: '#1E7BE0', fontWeight: 600, lineHeight: 1.4, letterSpacing: 2 }}&gt;STUDYAGENT · DESIGN REVIEW&lt;/Text&gt;&lt;/Box&gt;&lt;Box style={{ flexDirection: 'column' }}&gt;&lt;Text style={{ fontSize: 100, color: '#0E2340', fontWeight: 700, lineHeight: 1.0, fontFamily: 'JetBrains Mono, Inter' }}&gt;01&lt;/Text&gt;&lt;Box style={{ width: 78, height: 5, background: '#1E7BE0', marginTop: 10 }} /&gt;&lt;Text style={{ fontSize: 44, color: '#0E2340', fontWeight: 700, lineHeight: 1.2 }}&gt;概念地基&lt;/Text&gt;&lt;/Box&gt;&lt;Box style={{ flexDirection: 'column', gap: 12 }}&gt;&lt;Box style={{ flexDirection: 'row', alignItems: 'center', background: '#F5F7FA', borderLeft: '4px solid #1E7BE0', borderRadius: 6, padding: '14px 20px' }}&gt;&lt;Text style={{ fontSize: 19, color: '#0E2340', fontWeight: 600, lineHeight: 1.5 }}&gt;课时 → 知识点 → 步骤 → 套路（母题）&lt;/Text&gt;&lt;/Box&gt;&lt;Box style={{ flexDirection: 'row', alignItems: 'center', background: '#F5F7FA', borderLeft: '4px solid #1E7BE0', borderRadius: 6, padding: '14px 20px' }}&gt;&lt;Text style={{ fontSize: 19, color: '#0E2340', fontWeight: 600, lineHeight: 1.5 }}&gt;步骤是单题功能的地基&lt;/Text&gt;&lt;/Box&gt;&lt;Box style={{ flexDirection: 'row', alignItems: 'center', background: '#F5F7FA', borderLeft: '4px solid #1E7BE0', borderRadius: 6, padding: '14px 20px' }}&gt;&lt;Text style={{ fontSize: 19, color: '#0E2340', fontWeight: 600, lineHeight: 1.5 }}&gt;两条并行的教学与训练路线&lt;/Text&gt;&lt;/Box&gt;&lt;/Box&gt;&lt;Box style={{ flexDirection: 'column' }}&gt;&lt;Text style={{ fontSize: 13, color: '#7A8699', fontWeight: 400, lineHeight: 1.5 }}&gt;来源：项目名词与教学关系定义.md（定义日期 2026-10-24）&lt;/Text&gt;&lt;/Box&gt;&lt;/Box&gt;&lt;Box style={{ flex: 1, flexDirection: 'column', justifyContent: 'space-between', gap: 12 }}&gt;&lt;Text style={{ fontSize: 20, color: '#0E2340', fontWeight: 700, lineHeight: 1.4 }}&gt;汇报结构 · 13 章&lt;/Text&gt;&lt;Box style={{ flexDirection: 'column', gap: 10 }}&gt;&lt;Box style={{ flexDirection: 'row', gap: 10 }}&gt;&lt;Box style={{ width: 172, height: 64, borderRadius: 6, padding: '9px 12px', background: '#0E2340', flexDirection: 'column', justifyContent: 'center' }}&gt;&lt;Text style={{ fontSize: 18, color: '#FFFFFF', fontWeight: 700, lineHeight: 1.2 }}&gt;01&lt;/Text&gt;&lt;Text style={{ fontSize: 13, color: '#C8DCF2', fontWeight: 400, lineHeight: 1.3 }}&gt;概念地基&lt;/Text&gt;&lt;/Box&gt;&lt;Box style={{ width: 172, height: 64, borderRadius: 6, padding: '9px 12px', background: '#F5F7FA', flexDirection: 'column', justifyContent: 'center' }}&gt;&lt;Text style={{ fontSize: 18, color: '#0E2340', fontWeight: 700, lineHeight: 1.2 }}&gt;02&lt;/Text&gt;&lt;Text style={{ fontSize: 13, color: '#7A8699', fontWeight: 400, lineHeight: 1.3 }}&gt;现状盘点&lt;/Text&gt;&lt;/Box&gt;&lt;Box style={{ width: 172, height: 64, borderRadius: 6, padding: '9px 12px', background: '#F5F7FA', flexDirection: 'column', justifyContent: 'center' }}&gt;&lt;Text style={{ fontSize: 18, color: '#0E2340', fontWeight: 700, lineHeight: 1.2 }}&gt;03&lt;/Text&gt;&lt;Text style={{ fontSize: 13, color: '#7A8699', fontWeight: 400, lineHeight: 1.3 }}&gt;单题引擎&lt;/Text&gt;&lt;/Box&gt;&lt;/Box&gt;&lt;Box style={{ flexDirection: 'row', gap: 10 }}&gt;&lt;Box style={{ width: 172, height: 64, borderRadius: 6, padding: '9px 12px', background: '#F5F7FA', flexDirection: 'column', justifyContent: 'center' }}&gt;&lt;Text style={{ fontSize: 18, color: '#0E2340', fontWeight: 700, lineHeight: 1.2 }}&gt;04&lt;/Text&gt;&lt;Text style={{ fontSize: 13, color: '#7A8699', fontWeight: 400, lineHeight: 1.3 }}&gt;套路层面&lt;/Text&gt;&lt;/Box&gt;&lt;Box style={{ width: 172, height: 64, borderRadius: 6, padding: '9px 12px', background: '#F5F7FA', flexDirection: 'column', justifyContent: 'center' }}&gt;&lt;Text style={{ fontSize: 18, color: '#0E2340', fontWeight: 700, lineHeight: 1.2 }}&gt;05&lt;/Text&gt;&lt;Text style={{ fontSize: 13, color: '#7A8699', fontWeight: 400, lineHeight: 1.3 }}&gt;教师端&lt;/Text&gt;&lt;/Box&gt;&lt;Box style={{ width: 172, height: 64, borderRadius: 6, padding: '9px 12px', background: '#F5F7FA', flexDirection: 'column', justifyContent: 'center' }}&gt;&lt;Text style={{ fontSize: 18, color: '#0E2340', fontWeight: 700, lineHeight: 1.2 }}&gt;06&lt;/Text&gt;&lt;Text style={{ fontSize: 13, color: '#7A8699', fontWeight: 400, lineHeight: 1.3 }}&gt;学校端&lt;/Text&gt;&lt;/Box&gt;&lt;/Box&gt;&lt;Box style={{ flexDirection: 'row', gap: 10 }}&gt;&lt;Box style={{ width: 172, height: 64, borderRadius: 6, padding: '9px 12px', background: '#F5F7FA', flexDirection: 'column', justifyContent: 'center' }}&gt;&lt;Text style={{ fontSize: 18, color: '#0E2340', fontWeight: 700, lineHeight: 1.2 }}&gt;07&lt;/Text&gt;&lt;Text style={{ fontSize: 13, color: '#7A8699', fontWeight: 400, lineHeight: 1.3 }}&gt;试卷与生涯&lt;/Text&gt;&lt;/Box&gt;&lt;Box style={{ width: 172, height: 64, borderRadius: 6, padding: '9px 12px', background: '#F5F7FA', flexDirection: 'column', justifyContent: 'center' }}&gt;&lt;Text style={{ fontSize: 18, color: '#0E2340', fontWeight: 700, lineHeight: 1.2 }}&gt;08&lt;/Text&gt;&lt;Text style={{ fontSize: 13, color: '#7A8699', fontWeight: 400, lineHeight: 1.3 }}&gt;协同 Agent&lt;/Text&gt;&lt;/Box&gt;&lt;Box style={{ width: 172, height: 64, borderRadius: 6, padding: '9px 12px', background: '#F5F7FA', flexDirection: 'column', justifyContent: 'center' }}&gt;&lt;Text style={{ fontSize: 18, color: '#0E2340', fontWeight: 700, lineHeight: 1.2 }}&gt;09&lt;/Text&gt;&lt;Text style={{ fontSize: 13, color: '#7A8699', fontWeight: 400, lineHeight: 1.3 }}&gt;MCP 接入&lt;/Text&gt;&lt;/Box&gt;&lt;/Box&gt;&lt;Box style={{ flexDirection: 'row', gap: 10 }}&gt;&lt;Box style={{ width: 172, height: 64, borderRadius: 6, padding: '9px 12px', background: '#F5F7FA', flexDirection: 'column', justifyContent: 'center' }}&gt;&lt;Text style={{ fontSize: 18, color: '#0E2340', fontWeight: 700, lineHeight: 1.2 }}&gt;10&lt;/Text&gt;&lt;Text style={{ fontSize: 13, color: '#7A8699', fontWeight: 400, lineHeight: 1.3 }}&gt;待深化研究&lt;/Text&gt;&lt;/Box&gt;&lt;Box style={{ width: 172, height: 64, borderRadius: 6, padding: '9px 12px', background: '#F5F7FA', flexDirection: 'column', justifyContent: 'center' }}&gt;&lt;Text style={{ fontSize: 18, color: '#0E2340', fontWeight: 700, lineHeight: 1.2 }}&gt;11&lt;/Text&gt;&lt;Text style={{ fontSize: 13, color: '#7A8699', fontWeight: 400, lineHeight: 1.3 }}&gt;落地与边界&lt;/Text&gt;&lt;/Box&gt;&lt;Box style={{ width: 172, height: 64, borderRadius: 6, padding: '9px 12px', background: '#F5F7FA', flexDirection: 'column', justifyContent: 'center' }}&gt;&lt;Text style={{ fontSize: 18, color: '#0E2340', fontWeight: 700, lineHeight: 1.2 }}&gt;12&lt;/Text&gt;&lt;Text style={{ fontSize: 13, color: '#7A8699', fontWeight: 400, lineHeight: 1.3 }}&gt;自进化与扩展&lt;/Text&gt;&lt;/Box&gt;&lt;/Box&gt;&lt;Box style={{ flexDirection: 'row', gap: 10 }}&gt;&lt;Box style={{ width: 172, height: 64, borderRadius: 6, padding: '9px 12px', background: '#F5F7FA', flexDirection: 'column', justifyContent: 'center' }}&gt;&lt;Text style={{ fontSize: 18, color: '#0E2340', fontWeight: 700, lineHeight: 1.2 }}&gt;13&lt;/Text&gt;&lt;Text style={{ fontSize: 13, color: '#7A8699', fontWeight: 400, lineHeight: 1.3 }}&gt;收尾&lt;/Text&gt;&lt;/Box&gt;&lt;/Box&gt;&lt;/Box&gt;&lt;Box style={{ flexDirection: 'row', alignItems: 'center', gap: 10, background: '#F5F7FA', borderRadius: 6, padding: '10px 14px' }}&gt;&lt;Box style={{ width: 6, height: 22, background: '#00A9B5' }} /&gt;&lt;Text style={{ fontSize: 15, color: '#0E2340', fontWeight: 600, lineHeight: 1.4 }}&gt;当前位置：第 01 章 · 概念地基&lt;/Text&gt;&lt;/Box&gt;&lt;Box style={{ flexDirection: 'row', gap: 10 }}&gt;&lt;Box style={{ flex: 1, flexDirection: 'row', alignItems: 'center', gap: 8, borderRadius: 6, padding: '9px 10px', background: '#F5F7FA' }}&gt;&lt;Box style={{ width: 10, height: 10, borderRadius: 5, background: '#1E9E62' }} /&gt;&lt;Text style={{ fontSize: 14, color: '#333A45', fontWeight: 600, lineHeight: 1.3 }}&gt;已实现&lt;/Text&gt;&lt;/Box&gt;&lt;Box style={{ flex: 1, flexDirection: 'row', alignItems: 'center', gap: 8, borderRadius: 6, padding: '9px 10px', background: '#F5F7FA' }}&gt;&lt;Box style={{ width: 10, height: 10, borderRadius: 5, background: '#E8A33D' }} /&gt;&lt;Text style={{ fontSize: 14, color: '#333A45', fontWeight: 600, lineHeight: 1.3 }}&gt;部分实现&lt;/Text&gt;&lt;/Box&gt;&lt;Box style={{ flex: 1, flexDirection: 'row', alignItems: 'center', gap: 8, borderRadius: 6, padding: '9px 10px', background: '#F5F7FA' }}&gt;&lt;Box style={{ width: 10, height: 10, borderRadius: 5, background: '#1E7BE0' }} /&gt;&lt;Text style={{ fontSize: 14, color: '#333A45', fontWeight: 600, lineHeight: 1.3 }}&gt;设计中&lt;/Text&gt;&lt;/Box&gt;&lt;Box style={{ flex: 1, flexDirection: 'row', alignItems: 'center', gap: 8, borderRadius: 6, padding: '9px 10px', background: '#F5F7FA' }}&gt;&lt;Box style={{ width: 10, height: 10, borderRadius: 5, background: '#98A2B3' }} /&gt;&lt;Text style={{ fontSize: 14, color: '#333A45', fontWeight: 600, lineHeight: 1.3 }}&gt;待研究&lt;/Text&gt;&lt;/Box&gt;&lt;/Box&gt;&lt;Box style={{ flexDirection: 'row', alignItems: 'center', gap: 12, borderTop: '1px solid #E3E8EF', paddingTop: 14 }}&gt;&lt;Box style={{ width: 46, height: 5, background: '#00A9B5' }} /&gt;&lt;Text style={{ fontSize: 15, color: '#7A8699', fontWeight: 600, lineHeight: 1.4 }}&gt;StudyAgent 项目设计汇报 · 技术评审版 · 共 124 页&lt;/Text&gt;&lt;/Box&gt;&lt;/Box&gt;&lt;/Box&gt;&lt;/Slide&gt;"/>
        <p:cNvGrpSpPr/>
        <p:nvPr/>
      </p:nvGrpSpPr>
      <p:grpSpPr>
        <a:xfrm>
          <a:off x="0" y="0"/>
          <a:ext cx="0" cy="0"/>
          <a:chOff x="0" y="0"/>
          <a:chExt cx="0" cy="0"/>
        </a:xfrm>
      </p:grpSpPr>
      <p:sp>
        <p:nvSpPr>
          <p:cNvPr id="1796" name=""/>
          <p:cNvSpPr/>
          <p:nvPr/>
        </p:nvSpPr>
        <p:spPr>
          <a:xfrm rot="0" flipH="0" flipV="0">
            <a:off x="0" y="0"/>
            <a:ext cx="12192000" cy="6858000"/>
          </a:xfrm>
          <a:prstGeom prst="rect">
            <a:avLst/>
          </a:prstGeom>
          <a:solidFill>
            <a:srgbClr val="FFFFFF"/>
          </a:solidFill>
          <a:ln/>
        </p:spPr>
        <p:txBody>
          <a:bodyPr/>
          <a:p/>
        </p:txBody>
      </p:sp>
      <p:pic>
        <p:nvPicPr>
          <p:cNvPr id="1797" name=""/>
          <p:cNvPicPr>
            <a:picLocks noChangeAspect="1"/>
          </p:cNvPicPr>
          <p:nvPr/>
        </p:nvPicPr>
        <p:blipFill>
          <a:blip>
            <a:extLst>
              <a:ext uri="{96DAC541-7B7A-43D3-8B79-37D633B846F1}">
                <asvg:svgBlip r:embed="rId1"/>
              </a:ext>
            </a:extLst>
          </a:blip>
          <a:stretch>
            <a:fillRect/>
          </a:stretch>
        </p:blipFill>
        <p:spPr>
          <a:xfrm rot="0" flipH="0" flipV="0">
            <a:off x="0" y="0"/>
            <a:ext cx="12192000" cy="6858000"/>
          </a:xfrm>
          <a:prstGeom prst="rect">
            <a:avLst/>
          </a:prstGeom>
          <a:ln/>
        </p:spPr>
      </p:pic>
      <p:sp>
        <p:nvSpPr>
          <p:cNvPr id="1798" name="" descr="{&quot;isTemplate&quot;:true,&quot;type&quot;:&quot;text&quot;}"/>
          <p:cNvSpPr txBox="1"/>
          <p:nvPr/>
        </p:nvSpPr>
        <p:spPr>
          <a:xfrm rot="0" flipH="0" flipV="0">
            <a:off x="762000" y="457200"/>
            <a:ext cx="4953000" cy="247650"/>
          </a:xfrm>
          <a:prstGeom prst="rect"/>
        </p:spPr>
        <p:txBody>
          <a:bodyPr wrap="none" lIns="0" tIns="0" rIns="0" bIns="0"/>
          <a:p>
            <a:pPr>
              <a:lnSpc>
                <a:spcPct val="140000"/>
              </a:lnSpc>
            </a:pPr>
            <a:r>
              <a:rPr lang="en-US" sz="1125" b="1" spc="150">
                <a:solidFill>
                  <a:srgbClr val="1E7BE0"/>
                </a:solidFill>
                <a:latin typeface="Microsoft YaHei"/>
                <a:ea typeface="Microsoft YaHei"/>
              </a:rPr>
              <a:t>STUDYAGENT · DESIGN REVIEW</a:t>
            </a:r>
            <a:endParaRPr/>
          </a:p>
        </p:txBody>
      </p:sp>
      <p:sp>
        <p:nvSpPr>
          <p:cNvPr id="1799" name="" descr="{&quot;isTemplate&quot;:true,&quot;type&quot;:&quot;text&quot;}"/>
          <p:cNvSpPr txBox="1"/>
          <p:nvPr/>
        </p:nvSpPr>
        <p:spPr>
          <a:xfrm rot="0" flipH="0" flipV="0">
            <a:off x="762000" y="1209675"/>
            <a:ext cx="4953000" cy="1143000"/>
          </a:xfrm>
          <a:prstGeom prst="rect"/>
        </p:spPr>
        <p:txBody>
          <a:bodyPr wrap="none" lIns="0" tIns="0" rIns="0" bIns="0"/>
          <a:p>
            <a:pPr>
              <a:lnSpc>
                <a:spcPct val="100000"/>
              </a:lnSpc>
            </a:pPr>
            <a:r>
              <a:rPr lang="en-US" sz="7500" b="1">
                <a:solidFill>
                  <a:srgbClr val="0E2340"/>
                </a:solidFill>
                <a:latin typeface="JetBrains Mono"/>
                <a:ea typeface="JetBrains Mono"/>
              </a:rPr>
              <a:t>01</a:t>
            </a:r>
            <a:endParaRPr/>
          </a:p>
        </p:txBody>
      </p:sp>
      <p:sp>
        <p:nvSpPr>
          <p:cNvPr id="1800" name=""/>
          <p:cNvSpPr/>
          <p:nvPr/>
        </p:nvSpPr>
        <p:spPr>
          <a:xfrm rot="0" flipH="0" flipV="0">
            <a:off x="762000" y="2447925"/>
            <a:ext cx="742950" cy="47625"/>
          </a:xfrm>
          <a:prstGeom prst="rect">
            <a:avLst/>
          </a:prstGeom>
          <a:solidFill>
            <a:srgbClr val="1E7BE0"/>
          </a:solidFill>
          <a:ln/>
        </p:spPr>
        <p:txBody>
          <a:bodyPr/>
          <a:p/>
        </p:txBody>
      </p:sp>
      <p:sp>
        <p:nvSpPr>
          <p:cNvPr id="1801" name="" descr="{&quot;isTemplate&quot;:true,&quot;type&quot;:&quot;text&quot;}"/>
          <p:cNvSpPr txBox="1"/>
          <p:nvPr/>
        </p:nvSpPr>
        <p:spPr>
          <a:xfrm rot="0" flipH="0" flipV="0">
            <a:off x="762000" y="2495550"/>
            <a:ext cx="4953000" cy="609600"/>
          </a:xfrm>
          <a:prstGeom prst="rect"/>
        </p:spPr>
        <p:txBody>
          <a:bodyPr wrap="none" lIns="0" tIns="0" rIns="0" bIns="0"/>
          <a:p>
            <a:pPr>
              <a:lnSpc>
                <a:spcPct val="120000"/>
              </a:lnSpc>
            </a:pPr>
            <a:r>
              <a:rPr lang="zh-CN" sz="3300" b="1">
                <a:solidFill>
                  <a:srgbClr val="0E2340"/>
                </a:solidFill>
                <a:latin typeface="Microsoft YaHei"/>
                <a:ea typeface="Microsoft YaHei"/>
              </a:rPr>
              <a:t>概念地基</a:t>
            </a:r>
            <a:endParaRPr/>
          </a:p>
        </p:txBody>
      </p:sp>
      <p:sp>
        <p:nvSpPr>
          <p:cNvPr id="1802" name=""/>
          <p:cNvSpPr/>
          <p:nvPr/>
        </p:nvSpPr>
        <p:spPr>
          <a:xfrm rot="0" flipH="0" flipV="0">
            <a:off x="800100" y="3600450"/>
            <a:ext cx="4953000" cy="600075"/>
          </a:xfrm>
          <a:prstGeom prst="roundRect">
            <a:avLst>
              <a:gd name="adj" fmla="val 9524"/>
            </a:avLst>
          </a:prstGeom>
          <a:solidFill>
            <a:srgbClr val="F5F7FA"/>
          </a:solidFill>
          <a:ln/>
        </p:spPr>
        <p:txBody>
          <a:bodyPr/>
          <a:p/>
        </p:txBody>
      </p:sp>
      <p:sp>
        <p:nvSpPr>
          <p:cNvPr id="1803" name=""/>
          <p:cNvSpPr/>
          <p:nvPr/>
        </p:nvSpPr>
        <p:spPr>
          <a:xfrm rot="0" flipH="0" flipV="0">
            <a:off x="800100" y="360045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1804" name="" descr="{&quot;isTemplate&quot;:true,&quot;type&quot;:&quot;text&quot;}"/>
          <p:cNvSpPr txBox="1"/>
          <p:nvPr/>
        </p:nvSpPr>
        <p:spPr>
          <a:xfrm rot="0" flipH="0" flipV="0">
            <a:off x="990600" y="3733800"/>
            <a:ext cx="3200400" cy="333375"/>
          </a:xfrm>
          <a:prstGeom prst="rect"/>
        </p:spPr>
        <p:txBody>
          <a:bodyPr wrap="none" lIns="0" tIns="0" rIns="0" bIns="0"/>
          <a:p>
            <a:pPr>
              <a:lnSpc>
                <a:spcPct val="150000"/>
              </a:lnSpc>
            </a:pPr>
            <a:r>
              <a:rPr lang="zh-CN" sz="1425" b="1">
                <a:solidFill>
                  <a:srgbClr val="0E2340"/>
                </a:solidFill>
                <a:latin typeface="Microsoft YaHei"/>
                <a:ea typeface="Microsoft YaHei"/>
              </a:rPr>
              <a:t>课时</a:t>
            </a:r>
            <a:r>
              <a:rPr lang="en-US" sz="1425" b="1">
                <a:solidFill>
                  <a:srgbClr val="0E2340"/>
                </a:solidFill>
                <a:latin typeface="Microsoft YaHei"/>
                <a:ea typeface="Microsoft YaHei"/>
              </a:rPr>
              <a:t xml:space="preserve"> → </a:t>
            </a:r>
            <a:r>
              <a:rPr lang="zh-CN" sz="1425" b="1">
                <a:solidFill>
                  <a:srgbClr val="0E2340"/>
                </a:solidFill>
                <a:latin typeface="Microsoft YaHei"/>
                <a:ea typeface="Microsoft YaHei"/>
              </a:rPr>
              <a:t>知识点</a:t>
            </a:r>
            <a:r>
              <a:rPr lang="en-US" sz="1425" b="1">
                <a:solidFill>
                  <a:srgbClr val="0E2340"/>
                </a:solidFill>
                <a:latin typeface="Microsoft YaHei"/>
                <a:ea typeface="Microsoft YaHei"/>
              </a:rPr>
              <a:t xml:space="preserve"> → </a:t>
            </a:r>
            <a:r>
              <a:rPr lang="zh-CN" sz="1425" b="1">
                <a:solidFill>
                  <a:srgbClr val="0E2340"/>
                </a:solidFill>
                <a:latin typeface="Microsoft YaHei"/>
                <a:ea typeface="Microsoft YaHei"/>
              </a:rPr>
              <a:t>步骤</a:t>
            </a:r>
            <a:r>
              <a:rPr lang="en-US" sz="1425" b="1">
                <a:solidFill>
                  <a:srgbClr val="0E2340"/>
                </a:solidFill>
                <a:latin typeface="Microsoft YaHei"/>
                <a:ea typeface="Microsoft YaHei"/>
              </a:rPr>
              <a:t xml:space="preserve"> → </a:t>
            </a:r>
            <a:r>
              <a:rPr lang="zh-CN" sz="1425" b="1">
                <a:solidFill>
                  <a:srgbClr val="0E2340"/>
                </a:solidFill>
                <a:latin typeface="Microsoft YaHei"/>
                <a:ea typeface="Microsoft YaHei"/>
              </a:rPr>
              <a:t>套路（母题）</a:t>
            </a:r>
            <a:endParaRPr/>
          </a:p>
        </p:txBody>
      </p:sp>
      <p:sp>
        <p:nvSpPr>
          <p:cNvPr id="1805" name=""/>
          <p:cNvSpPr/>
          <p:nvPr/>
        </p:nvSpPr>
        <p:spPr>
          <a:xfrm rot="0" flipH="0" flipV="0">
            <a:off x="800100" y="4314825"/>
            <a:ext cx="4953000" cy="600075"/>
          </a:xfrm>
          <a:prstGeom prst="roundRect">
            <a:avLst>
              <a:gd name="adj" fmla="val 9524"/>
            </a:avLst>
          </a:prstGeom>
          <a:solidFill>
            <a:srgbClr val="F5F7FA"/>
          </a:solidFill>
          <a:ln/>
        </p:spPr>
        <p:txBody>
          <a:bodyPr/>
          <a:p/>
        </p:txBody>
      </p:sp>
      <p:sp>
        <p:nvSpPr>
          <p:cNvPr id="1806" name=""/>
          <p:cNvSpPr/>
          <p:nvPr/>
        </p:nvSpPr>
        <p:spPr>
          <a:xfrm rot="0" flipH="0" flipV="0">
            <a:off x="800100" y="4314825"/>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1807" name="" descr="{&quot;isTemplate&quot;:true,&quot;type&quot;:&quot;text&quot;}"/>
          <p:cNvSpPr txBox="1"/>
          <p:nvPr/>
        </p:nvSpPr>
        <p:spPr>
          <a:xfrm rot="0" flipH="0" flipV="0">
            <a:off x="990600" y="4448175"/>
            <a:ext cx="1809750" cy="333375"/>
          </a:xfrm>
          <a:prstGeom prst="rect"/>
        </p:spPr>
        <p:txBody>
          <a:bodyPr wrap="none" lIns="0" tIns="0" rIns="0" bIns="0"/>
          <a:p>
            <a:pPr>
              <a:lnSpc>
                <a:spcPct val="150000"/>
              </a:lnSpc>
            </a:pPr>
            <a:r>
              <a:rPr lang="zh-CN" sz="1425" b="1">
                <a:solidFill>
                  <a:srgbClr val="0E2340"/>
                </a:solidFill>
                <a:latin typeface="Microsoft YaHei"/>
                <a:ea typeface="Microsoft YaHei"/>
              </a:rPr>
              <a:t>步骤是单题功能的地基</a:t>
            </a:r>
            <a:endParaRPr/>
          </a:p>
        </p:txBody>
      </p:sp>
      <p:sp>
        <p:nvSpPr>
          <p:cNvPr id="1808" name=""/>
          <p:cNvSpPr/>
          <p:nvPr/>
        </p:nvSpPr>
        <p:spPr>
          <a:xfrm rot="0" flipH="0" flipV="0">
            <a:off x="800100" y="5029200"/>
            <a:ext cx="4953000" cy="600075"/>
          </a:xfrm>
          <a:prstGeom prst="roundRect">
            <a:avLst>
              <a:gd name="adj" fmla="val 9524"/>
            </a:avLst>
          </a:prstGeom>
          <a:solidFill>
            <a:srgbClr val="F5F7FA"/>
          </a:solidFill>
          <a:ln/>
        </p:spPr>
        <p:txBody>
          <a:bodyPr/>
          <a:p/>
        </p:txBody>
      </p:sp>
      <p:sp>
        <p:nvSpPr>
          <p:cNvPr id="1809" name=""/>
          <p:cNvSpPr/>
          <p:nvPr/>
        </p:nvSpPr>
        <p:spPr>
          <a:xfrm rot="0" flipH="0" flipV="0">
            <a:off x="800100" y="502920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1810" name="" descr="{&quot;isTemplate&quot;:true,&quot;type&quot;:&quot;text&quot;}"/>
          <p:cNvSpPr txBox="1"/>
          <p:nvPr/>
        </p:nvSpPr>
        <p:spPr>
          <a:xfrm rot="0" flipH="0" flipV="0">
            <a:off x="990600" y="5162550"/>
            <a:ext cx="2171700" cy="333375"/>
          </a:xfrm>
          <a:prstGeom prst="rect"/>
        </p:spPr>
        <p:txBody>
          <a:bodyPr wrap="none" lIns="0" tIns="0" rIns="0" bIns="0"/>
          <a:p>
            <a:pPr>
              <a:lnSpc>
                <a:spcPct val="150000"/>
              </a:lnSpc>
            </a:pPr>
            <a:r>
              <a:rPr lang="zh-CN" sz="1425" b="1">
                <a:solidFill>
                  <a:srgbClr val="0E2340"/>
                </a:solidFill>
                <a:latin typeface="Microsoft YaHei"/>
                <a:ea typeface="Microsoft YaHei"/>
              </a:rPr>
              <a:t>两条并行的教学与训练路线</a:t>
            </a:r>
            <a:endParaRPr/>
          </a:p>
        </p:txBody>
      </p:sp>
      <p:sp>
        <p:nvSpPr>
          <p:cNvPr id="1811" name="" descr="{&quot;isTemplate&quot;:true,&quot;type&quot;:&quot;text&quot;}"/>
          <p:cNvSpPr txBox="1"/>
          <p:nvPr/>
        </p:nvSpPr>
        <p:spPr>
          <a:xfrm rot="0" flipH="0" flipV="0">
            <a:off x="762000" y="6134100"/>
            <a:ext cx="4953000" cy="228600"/>
          </a:xfrm>
          <a:prstGeom prst="rect"/>
        </p:spPr>
        <p:txBody>
          <a:bodyPr wrap="none" lIns="0" tIns="0" rIns="0" bIns="0"/>
          <a:p>
            <a:pPr>
              <a:lnSpc>
                <a:spcPct val="150000"/>
              </a:lnSpc>
            </a:pPr>
            <a:r>
              <a:rPr lang="zh-CN" sz="975">
                <a:solidFill>
                  <a:srgbClr val="7A8699"/>
                </a:solidFill>
                <a:latin typeface="Microsoft YaHei"/>
                <a:ea typeface="Microsoft YaHei"/>
              </a:rPr>
              <a:t>来源：项目名词与教学关系定义</a:t>
            </a:r>
            <a:r>
              <a:rPr lang="en-US" sz="975">
                <a:solidFill>
                  <a:srgbClr val="7A8699"/>
                </a:solidFill>
                <a:latin typeface="Microsoft YaHei"/>
                <a:ea typeface="Microsoft YaHei"/>
              </a:rPr>
              <a:t>.md</a:t>
            </a:r>
            <a:r>
              <a:rPr lang="zh-CN" sz="975">
                <a:solidFill>
                  <a:srgbClr val="7A8699"/>
                </a:solidFill>
                <a:latin typeface="Microsoft YaHei"/>
                <a:ea typeface="Microsoft YaHei"/>
              </a:rPr>
              <a:t>（定义日期</a:t>
            </a:r>
            <a:r>
              <a:rPr lang="en-US" sz="975">
                <a:solidFill>
                  <a:srgbClr val="7A8699"/>
                </a:solidFill>
                <a:latin typeface="Microsoft YaHei"/>
                <a:ea typeface="Microsoft YaHei"/>
              </a:rPr>
              <a:t xml:space="preserve"> 2026-10-24</a:t>
            </a:r>
            <a:r>
              <a:rPr lang="zh-CN" sz="975">
                <a:solidFill>
                  <a:srgbClr val="7A8699"/>
                </a:solidFill>
                <a:latin typeface="Microsoft YaHei"/>
                <a:ea typeface="Microsoft YaHei"/>
              </a:rPr>
              <a:t>）</a:t>
            </a:r>
            <a:endParaRPr/>
          </a:p>
        </p:txBody>
      </p:sp>
      <p:sp>
        <p:nvSpPr>
          <p:cNvPr id="1812" name="" descr="{&quot;isTemplate&quot;:true,&quot;type&quot;:&quot;text&quot;}"/>
          <p:cNvSpPr txBox="1"/>
          <p:nvPr/>
        </p:nvSpPr>
        <p:spPr>
          <a:xfrm rot="0" flipH="0" flipV="0">
            <a:off x="6134100" y="457200"/>
            <a:ext cx="5295900" cy="323850"/>
          </a:xfrm>
          <a:prstGeom prst="rect"/>
        </p:spPr>
        <p:txBody>
          <a:bodyPr wrap="none" lIns="0" tIns="0" rIns="0" bIns="0"/>
          <a:p>
            <a:pPr>
              <a:lnSpc>
                <a:spcPct val="140000"/>
              </a:lnSpc>
            </a:pPr>
            <a:r>
              <a:rPr lang="zh-CN" sz="1500" b="1">
                <a:solidFill>
                  <a:srgbClr val="0E2340"/>
                </a:solidFill>
                <a:latin typeface="Microsoft YaHei"/>
                <a:ea typeface="Microsoft YaHei"/>
              </a:rPr>
              <a:t>汇报结构</a:t>
            </a:r>
            <a:r>
              <a:rPr lang="en-US" sz="1500" b="1">
                <a:solidFill>
                  <a:srgbClr val="0E2340"/>
                </a:solidFill>
                <a:latin typeface="Microsoft YaHei"/>
                <a:ea typeface="Microsoft YaHei"/>
              </a:rPr>
              <a:t xml:space="preserve"> · 13 </a:t>
            </a:r>
            <a:r>
              <a:rPr lang="zh-CN" sz="1500" b="1">
                <a:solidFill>
                  <a:srgbClr val="0E2340"/>
                </a:solidFill>
                <a:latin typeface="Microsoft YaHei"/>
                <a:ea typeface="Microsoft YaHei"/>
              </a:rPr>
              <a:t>章</a:t>
            </a:r>
            <a:endParaRPr/>
          </a:p>
        </p:txBody>
      </p:sp>
      <p:sp>
        <p:nvSpPr>
          <p:cNvPr id="1813" name=""/>
          <p:cNvSpPr/>
          <p:nvPr/>
        </p:nvSpPr>
        <p:spPr>
          <a:xfrm rot="0" flipH="0" flipV="0">
            <a:off x="6134100" y="1019175"/>
            <a:ext cx="1638300" cy="609600"/>
          </a:xfrm>
          <a:prstGeom prst="roundRect">
            <a:avLst>
              <a:gd name="adj" fmla="val 9375"/>
            </a:avLst>
          </a:prstGeom>
          <a:solidFill>
            <a:srgbClr val="0E2340"/>
          </a:solidFill>
          <a:ln/>
        </p:spPr>
        <p:txBody>
          <a:bodyPr/>
          <a:p/>
        </p:txBody>
      </p:sp>
      <p:sp>
        <p:nvSpPr>
          <p:cNvPr id="1814" name="" descr="{&quot;isTemplate&quot;:true,&quot;type&quot;:&quot;text&quot;}"/>
          <p:cNvSpPr txBox="1"/>
          <p:nvPr/>
        </p:nvSpPr>
        <p:spPr>
          <a:xfrm rot="0" flipH="0" flipV="0">
            <a:off x="6248400" y="1104900"/>
            <a:ext cx="1409700" cy="247650"/>
          </a:xfrm>
          <a:prstGeom prst="rect"/>
        </p:spPr>
        <p:txBody>
          <a:bodyPr wrap="none" lIns="0" tIns="0" rIns="0" bIns="0"/>
          <a:p>
            <a:pPr>
              <a:lnSpc>
                <a:spcPct val="120000"/>
              </a:lnSpc>
            </a:pPr>
            <a:r>
              <a:rPr lang="en-US" sz="1350" b="1">
                <a:solidFill>
                  <a:srgbClr val="FFFFFF"/>
                </a:solidFill>
                <a:latin typeface="Microsoft YaHei"/>
                <a:ea typeface="Microsoft YaHei"/>
              </a:rPr>
              <a:t>01</a:t>
            </a:r>
            <a:endParaRPr/>
          </a:p>
        </p:txBody>
      </p:sp>
      <p:sp>
        <p:nvSpPr>
          <p:cNvPr id="1815" name="" descr="{&quot;isTemplate&quot;:true,&quot;type&quot;:&quot;text&quot;}"/>
          <p:cNvSpPr txBox="1"/>
          <p:nvPr/>
        </p:nvSpPr>
        <p:spPr>
          <a:xfrm rot="0" flipH="0" flipV="0">
            <a:off x="6248400" y="1352550"/>
            <a:ext cx="1409700" cy="200025"/>
          </a:xfrm>
          <a:prstGeom prst="rect"/>
        </p:spPr>
        <p:txBody>
          <a:bodyPr wrap="none" lIns="0" tIns="0" rIns="0" bIns="0"/>
          <a:p>
            <a:pPr>
              <a:lnSpc>
                <a:spcPct val="130000"/>
              </a:lnSpc>
            </a:pPr>
            <a:r>
              <a:rPr lang="zh-CN" sz="975">
                <a:solidFill>
                  <a:srgbClr val="C8DCF2"/>
                </a:solidFill>
                <a:latin typeface="Microsoft YaHei"/>
                <a:ea typeface="Microsoft YaHei"/>
              </a:rPr>
              <a:t>概念地基</a:t>
            </a:r>
            <a:endParaRPr/>
          </a:p>
        </p:txBody>
      </p:sp>
      <p:sp>
        <p:nvSpPr>
          <p:cNvPr id="1816" name=""/>
          <p:cNvSpPr/>
          <p:nvPr/>
        </p:nvSpPr>
        <p:spPr>
          <a:xfrm rot="0" flipH="0" flipV="0">
            <a:off x="7867650" y="1019175"/>
            <a:ext cx="1638300" cy="609600"/>
          </a:xfrm>
          <a:prstGeom prst="roundRect">
            <a:avLst>
              <a:gd name="adj" fmla="val 9375"/>
            </a:avLst>
          </a:prstGeom>
          <a:solidFill>
            <a:srgbClr val="F5F7FA"/>
          </a:solidFill>
          <a:ln/>
        </p:spPr>
        <p:txBody>
          <a:bodyPr/>
          <a:p/>
        </p:txBody>
      </p:sp>
      <p:sp>
        <p:nvSpPr>
          <p:cNvPr id="1817" name="" descr="{&quot;isTemplate&quot;:true,&quot;type&quot;:&quot;text&quot;}"/>
          <p:cNvSpPr txBox="1"/>
          <p:nvPr/>
        </p:nvSpPr>
        <p:spPr>
          <a:xfrm rot="0" flipH="0" flipV="0">
            <a:off x="798195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02</a:t>
            </a:r>
            <a:endParaRPr/>
          </a:p>
        </p:txBody>
      </p:sp>
      <p:sp>
        <p:nvSpPr>
          <p:cNvPr id="1818" name="" descr="{&quot;isTemplate&quot;:true,&quot;type&quot;:&quot;text&quot;}"/>
          <p:cNvSpPr txBox="1"/>
          <p:nvPr/>
        </p:nvSpPr>
        <p:spPr>
          <a:xfrm rot="0" flipH="0" flipV="0">
            <a:off x="798195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现状盘点</a:t>
            </a:r>
            <a:endParaRPr/>
          </a:p>
        </p:txBody>
      </p:sp>
      <p:sp>
        <p:nvSpPr>
          <p:cNvPr id="1819" name=""/>
          <p:cNvSpPr/>
          <p:nvPr/>
        </p:nvSpPr>
        <p:spPr>
          <a:xfrm rot="0" flipH="0" flipV="0">
            <a:off x="9601200" y="1019175"/>
            <a:ext cx="1638300" cy="609600"/>
          </a:xfrm>
          <a:prstGeom prst="roundRect">
            <a:avLst>
              <a:gd name="adj" fmla="val 9375"/>
            </a:avLst>
          </a:prstGeom>
          <a:solidFill>
            <a:srgbClr val="F5F7FA"/>
          </a:solidFill>
          <a:ln/>
        </p:spPr>
        <p:txBody>
          <a:bodyPr/>
          <a:p/>
        </p:txBody>
      </p:sp>
      <p:sp>
        <p:nvSpPr>
          <p:cNvPr id="1820" name="" descr="{&quot;isTemplate&quot;:true,&quot;type&quot;:&quot;text&quot;}"/>
          <p:cNvSpPr txBox="1"/>
          <p:nvPr/>
        </p:nvSpPr>
        <p:spPr>
          <a:xfrm rot="0" flipH="0" flipV="0">
            <a:off x="97155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03</a:t>
            </a:r>
            <a:endParaRPr/>
          </a:p>
        </p:txBody>
      </p:sp>
      <p:sp>
        <p:nvSpPr>
          <p:cNvPr id="1821" name="" descr="{&quot;isTemplate&quot;:true,&quot;type&quot;:&quot;text&quot;}"/>
          <p:cNvSpPr txBox="1"/>
          <p:nvPr/>
        </p:nvSpPr>
        <p:spPr>
          <a:xfrm rot="0" flipH="0" flipV="0">
            <a:off x="97155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单题引擎</a:t>
            </a:r>
            <a:endParaRPr/>
          </a:p>
        </p:txBody>
      </p:sp>
      <p:sp>
        <p:nvSpPr>
          <p:cNvPr id="1822" name=""/>
          <p:cNvSpPr/>
          <p:nvPr/>
        </p:nvSpPr>
        <p:spPr>
          <a:xfrm rot="0" flipH="0" flipV="0">
            <a:off x="6134100" y="1724025"/>
            <a:ext cx="1638300" cy="609600"/>
          </a:xfrm>
          <a:prstGeom prst="roundRect">
            <a:avLst>
              <a:gd name="adj" fmla="val 9375"/>
            </a:avLst>
          </a:prstGeom>
          <a:solidFill>
            <a:srgbClr val="F5F7FA"/>
          </a:solidFill>
          <a:ln/>
        </p:spPr>
        <p:txBody>
          <a:bodyPr/>
          <a:p/>
        </p:txBody>
      </p:sp>
      <p:sp>
        <p:nvSpPr>
          <p:cNvPr id="1823" name="" descr="{&quot;isTemplate&quot;:true,&quot;type&quot;:&quot;text&quot;}"/>
          <p:cNvSpPr txBox="1"/>
          <p:nvPr/>
        </p:nvSpPr>
        <p:spPr>
          <a:xfrm rot="0" flipH="0" flipV="0">
            <a:off x="62484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04</a:t>
            </a:r>
            <a:endParaRPr/>
          </a:p>
        </p:txBody>
      </p:sp>
      <p:sp>
        <p:nvSpPr>
          <p:cNvPr id="1824" name="" descr="{&quot;isTemplate&quot;:true,&quot;type&quot;:&quot;text&quot;}"/>
          <p:cNvSpPr txBox="1"/>
          <p:nvPr/>
        </p:nvSpPr>
        <p:spPr>
          <a:xfrm rot="0" flipH="0" flipV="0">
            <a:off x="62484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套路层面</a:t>
            </a:r>
            <a:endParaRPr/>
          </a:p>
        </p:txBody>
      </p:sp>
      <p:sp>
        <p:nvSpPr>
          <p:cNvPr id="1825" name=""/>
          <p:cNvSpPr/>
          <p:nvPr/>
        </p:nvSpPr>
        <p:spPr>
          <a:xfrm rot="0" flipH="0" flipV="0">
            <a:off x="7867650" y="1724025"/>
            <a:ext cx="1638300" cy="609600"/>
          </a:xfrm>
          <a:prstGeom prst="roundRect">
            <a:avLst>
              <a:gd name="adj" fmla="val 9375"/>
            </a:avLst>
          </a:prstGeom>
          <a:solidFill>
            <a:srgbClr val="F5F7FA"/>
          </a:solidFill>
          <a:ln/>
        </p:spPr>
        <p:txBody>
          <a:bodyPr/>
          <a:p/>
        </p:txBody>
      </p:sp>
      <p:sp>
        <p:nvSpPr>
          <p:cNvPr id="1826" name="" descr="{&quot;isTemplate&quot;:true,&quot;type&quot;:&quot;text&quot;}"/>
          <p:cNvSpPr txBox="1"/>
          <p:nvPr/>
        </p:nvSpPr>
        <p:spPr>
          <a:xfrm rot="0" flipH="0" flipV="0">
            <a:off x="798195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05</a:t>
            </a:r>
            <a:endParaRPr/>
          </a:p>
        </p:txBody>
      </p:sp>
      <p:sp>
        <p:nvSpPr>
          <p:cNvPr id="1827" name="" descr="{&quot;isTemplate&quot;:true,&quot;type&quot;:&quot;text&quot;}"/>
          <p:cNvSpPr txBox="1"/>
          <p:nvPr/>
        </p:nvSpPr>
        <p:spPr>
          <a:xfrm rot="0" flipH="0" flipV="0">
            <a:off x="798195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教师端</a:t>
            </a:r>
            <a:endParaRPr/>
          </a:p>
        </p:txBody>
      </p:sp>
      <p:sp>
        <p:nvSpPr>
          <p:cNvPr id="1828" name=""/>
          <p:cNvSpPr/>
          <p:nvPr/>
        </p:nvSpPr>
        <p:spPr>
          <a:xfrm rot="0" flipH="0" flipV="0">
            <a:off x="9601200" y="1724025"/>
            <a:ext cx="1638300" cy="609600"/>
          </a:xfrm>
          <a:prstGeom prst="roundRect">
            <a:avLst>
              <a:gd name="adj" fmla="val 9375"/>
            </a:avLst>
          </a:prstGeom>
          <a:solidFill>
            <a:srgbClr val="F5F7FA"/>
          </a:solidFill>
          <a:ln/>
        </p:spPr>
        <p:txBody>
          <a:bodyPr/>
          <a:p/>
        </p:txBody>
      </p:sp>
      <p:sp>
        <p:nvSpPr>
          <p:cNvPr id="1829" name="" descr="{&quot;isTemplate&quot;:true,&quot;type&quot;:&quot;text&quot;}"/>
          <p:cNvSpPr txBox="1"/>
          <p:nvPr/>
        </p:nvSpPr>
        <p:spPr>
          <a:xfrm rot="0" flipH="0" flipV="0">
            <a:off x="97155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06</a:t>
            </a:r>
            <a:endParaRPr/>
          </a:p>
        </p:txBody>
      </p:sp>
      <p:sp>
        <p:nvSpPr>
          <p:cNvPr id="1830" name="" descr="{&quot;isTemplate&quot;:true,&quot;type&quot;:&quot;text&quot;}"/>
          <p:cNvSpPr txBox="1"/>
          <p:nvPr/>
        </p:nvSpPr>
        <p:spPr>
          <a:xfrm rot="0" flipH="0" flipV="0">
            <a:off x="97155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学校端</a:t>
            </a:r>
            <a:endParaRPr/>
          </a:p>
        </p:txBody>
      </p:sp>
      <p:sp>
        <p:nvSpPr>
          <p:cNvPr id="1831" name=""/>
          <p:cNvSpPr/>
          <p:nvPr/>
        </p:nvSpPr>
        <p:spPr>
          <a:xfrm rot="0" flipH="0" flipV="0">
            <a:off x="6134100" y="2428875"/>
            <a:ext cx="1638300" cy="609600"/>
          </a:xfrm>
          <a:prstGeom prst="roundRect">
            <a:avLst>
              <a:gd name="adj" fmla="val 9375"/>
            </a:avLst>
          </a:prstGeom>
          <a:solidFill>
            <a:srgbClr val="F5F7FA"/>
          </a:solidFill>
          <a:ln/>
        </p:spPr>
        <p:txBody>
          <a:bodyPr/>
          <a:p/>
        </p:txBody>
      </p:sp>
      <p:sp>
        <p:nvSpPr>
          <p:cNvPr id="1832" name="" descr="{&quot;isTemplate&quot;:true,&quot;type&quot;:&quot;text&quot;}"/>
          <p:cNvSpPr txBox="1"/>
          <p:nvPr/>
        </p:nvSpPr>
        <p:spPr>
          <a:xfrm rot="0" flipH="0" flipV="0">
            <a:off x="62484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07</a:t>
            </a:r>
            <a:endParaRPr/>
          </a:p>
        </p:txBody>
      </p:sp>
      <p:sp>
        <p:nvSpPr>
          <p:cNvPr id="1833" name="" descr="{&quot;isTemplate&quot;:true,&quot;type&quot;:&quot;text&quot;}"/>
          <p:cNvSpPr txBox="1"/>
          <p:nvPr/>
        </p:nvSpPr>
        <p:spPr>
          <a:xfrm rot="0" flipH="0" flipV="0">
            <a:off x="624840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试卷与生涯</a:t>
            </a:r>
            <a:endParaRPr/>
          </a:p>
        </p:txBody>
      </p:sp>
      <p:sp>
        <p:nvSpPr>
          <p:cNvPr id="1834" name=""/>
          <p:cNvSpPr/>
          <p:nvPr/>
        </p:nvSpPr>
        <p:spPr>
          <a:xfrm rot="0" flipH="0" flipV="0">
            <a:off x="7867650" y="2428875"/>
            <a:ext cx="1638300" cy="609600"/>
          </a:xfrm>
          <a:prstGeom prst="roundRect">
            <a:avLst>
              <a:gd name="adj" fmla="val 9375"/>
            </a:avLst>
          </a:prstGeom>
          <a:solidFill>
            <a:srgbClr val="F5F7FA"/>
          </a:solidFill>
          <a:ln/>
        </p:spPr>
        <p:txBody>
          <a:bodyPr/>
          <a:p/>
        </p:txBody>
      </p:sp>
      <p:sp>
        <p:nvSpPr>
          <p:cNvPr id="1835" name="" descr="{&quot;isTemplate&quot;:true,&quot;type&quot;:&quot;text&quot;}"/>
          <p:cNvSpPr txBox="1"/>
          <p:nvPr/>
        </p:nvSpPr>
        <p:spPr>
          <a:xfrm rot="0" flipH="0" flipV="0">
            <a:off x="798195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08</a:t>
            </a:r>
            <a:endParaRPr/>
          </a:p>
        </p:txBody>
      </p:sp>
      <p:sp>
        <p:nvSpPr>
          <p:cNvPr id="1836" name="" descr="{&quot;isTemplate&quot;:true,&quot;type&quot;:&quot;text&quot;}"/>
          <p:cNvSpPr txBox="1"/>
          <p:nvPr/>
        </p:nvSpPr>
        <p:spPr>
          <a:xfrm rot="0" flipH="0" flipV="0">
            <a:off x="798195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协同</a:t>
            </a:r>
            <a:r>
              <a:rPr lang="en-US" sz="975">
                <a:solidFill>
                  <a:srgbClr val="7A8699"/>
                </a:solidFill>
                <a:latin typeface="Microsoft YaHei"/>
                <a:ea typeface="Microsoft YaHei"/>
              </a:rPr>
              <a:t xml:space="preserve"> Agent</a:t>
            </a:r>
            <a:endParaRPr/>
          </a:p>
        </p:txBody>
      </p:sp>
      <p:sp>
        <p:nvSpPr>
          <p:cNvPr id="1837" name=""/>
          <p:cNvSpPr/>
          <p:nvPr/>
        </p:nvSpPr>
        <p:spPr>
          <a:xfrm rot="0" flipH="0" flipV="0">
            <a:off x="9601200" y="2428875"/>
            <a:ext cx="1638300" cy="609600"/>
          </a:xfrm>
          <a:prstGeom prst="roundRect">
            <a:avLst>
              <a:gd name="adj" fmla="val 9375"/>
            </a:avLst>
          </a:prstGeom>
          <a:solidFill>
            <a:srgbClr val="F5F7FA"/>
          </a:solidFill>
          <a:ln/>
        </p:spPr>
        <p:txBody>
          <a:bodyPr/>
          <a:p/>
        </p:txBody>
      </p:sp>
      <p:sp>
        <p:nvSpPr>
          <p:cNvPr id="1838" name="" descr="{&quot;isTemplate&quot;:true,&quot;type&quot;:&quot;text&quot;}"/>
          <p:cNvSpPr txBox="1"/>
          <p:nvPr/>
        </p:nvSpPr>
        <p:spPr>
          <a:xfrm rot="0" flipH="0" flipV="0">
            <a:off x="97155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09</a:t>
            </a:r>
            <a:endParaRPr/>
          </a:p>
        </p:txBody>
      </p:sp>
      <p:sp>
        <p:nvSpPr>
          <p:cNvPr id="1839" name="" descr="{&quot;isTemplate&quot;:true,&quot;type&quot;:&quot;text&quot;}"/>
          <p:cNvSpPr txBox="1"/>
          <p:nvPr/>
        </p:nvSpPr>
        <p:spPr>
          <a:xfrm rot="0" flipH="0" flipV="0">
            <a:off x="9715500" y="2762250"/>
            <a:ext cx="1409700" cy="200025"/>
          </a:xfrm>
          <a:prstGeom prst="rect"/>
        </p:spPr>
        <p:txBody>
          <a:bodyPr wrap="none" lIns="0" tIns="0" rIns="0" bIns="0"/>
          <a:p>
            <a:pPr>
              <a:lnSpc>
                <a:spcPct val="130000"/>
              </a:lnSpc>
            </a:pPr>
            <a:r>
              <a:rPr lang="en-US" sz="975">
                <a:solidFill>
                  <a:srgbClr val="7A8699"/>
                </a:solidFill>
                <a:latin typeface="Microsoft YaHei"/>
                <a:ea typeface="Microsoft YaHei"/>
              </a:rPr>
              <a:t xml:space="preserve">MCP </a:t>
            </a:r>
            <a:r>
              <a:rPr lang="zh-CN" sz="975">
                <a:solidFill>
                  <a:srgbClr val="7A8699"/>
                </a:solidFill>
                <a:latin typeface="Microsoft YaHei"/>
                <a:ea typeface="Microsoft YaHei"/>
              </a:rPr>
              <a:t>接入</a:t>
            </a:r>
            <a:endParaRPr/>
          </a:p>
        </p:txBody>
      </p:sp>
      <p:sp>
        <p:nvSpPr>
          <p:cNvPr id="1840" name=""/>
          <p:cNvSpPr/>
          <p:nvPr/>
        </p:nvSpPr>
        <p:spPr>
          <a:xfrm rot="0" flipH="0" flipV="0">
            <a:off x="6134100" y="3133725"/>
            <a:ext cx="1638300" cy="609600"/>
          </a:xfrm>
          <a:prstGeom prst="roundRect">
            <a:avLst>
              <a:gd name="adj" fmla="val 9375"/>
            </a:avLst>
          </a:prstGeom>
          <a:solidFill>
            <a:srgbClr val="F5F7FA"/>
          </a:solidFill>
          <a:ln/>
        </p:spPr>
        <p:txBody>
          <a:bodyPr/>
          <a:p/>
        </p:txBody>
      </p:sp>
      <p:sp>
        <p:nvSpPr>
          <p:cNvPr id="1841" name="" descr="{&quot;isTemplate&quot;:true,&quot;type&quot;:&quot;text&quot;}"/>
          <p:cNvSpPr txBox="1"/>
          <p:nvPr/>
        </p:nvSpPr>
        <p:spPr>
          <a:xfrm rot="0" flipH="0" flipV="0">
            <a:off x="62484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10</a:t>
            </a:r>
            <a:endParaRPr/>
          </a:p>
        </p:txBody>
      </p:sp>
      <p:sp>
        <p:nvSpPr>
          <p:cNvPr id="1842" name="" descr="{&quot;isTemplate&quot;:true,&quot;type&quot;:&quot;text&quot;}"/>
          <p:cNvSpPr txBox="1"/>
          <p:nvPr/>
        </p:nvSpPr>
        <p:spPr>
          <a:xfrm rot="0" flipH="0" flipV="0">
            <a:off x="62484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待深化研究</a:t>
            </a:r>
            <a:endParaRPr/>
          </a:p>
        </p:txBody>
      </p:sp>
      <p:sp>
        <p:nvSpPr>
          <p:cNvPr id="1843" name=""/>
          <p:cNvSpPr/>
          <p:nvPr/>
        </p:nvSpPr>
        <p:spPr>
          <a:xfrm rot="0" flipH="0" flipV="0">
            <a:off x="7867650" y="3133725"/>
            <a:ext cx="1638300" cy="609600"/>
          </a:xfrm>
          <a:prstGeom prst="roundRect">
            <a:avLst>
              <a:gd name="adj" fmla="val 9375"/>
            </a:avLst>
          </a:prstGeom>
          <a:solidFill>
            <a:srgbClr val="F5F7FA"/>
          </a:solidFill>
          <a:ln/>
        </p:spPr>
        <p:txBody>
          <a:bodyPr/>
          <a:p/>
        </p:txBody>
      </p:sp>
      <p:sp>
        <p:nvSpPr>
          <p:cNvPr id="1844" name="" descr="{&quot;isTemplate&quot;:true,&quot;type&quot;:&quot;text&quot;}"/>
          <p:cNvSpPr txBox="1"/>
          <p:nvPr/>
        </p:nvSpPr>
        <p:spPr>
          <a:xfrm rot="0" flipH="0" flipV="0">
            <a:off x="798195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11</a:t>
            </a:r>
            <a:endParaRPr/>
          </a:p>
        </p:txBody>
      </p:sp>
      <p:sp>
        <p:nvSpPr>
          <p:cNvPr id="1845" name="" descr="{&quot;isTemplate&quot;:true,&quot;type&quot;:&quot;text&quot;}"/>
          <p:cNvSpPr txBox="1"/>
          <p:nvPr/>
        </p:nvSpPr>
        <p:spPr>
          <a:xfrm rot="0" flipH="0" flipV="0">
            <a:off x="798195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落地与边界</a:t>
            </a:r>
            <a:endParaRPr/>
          </a:p>
        </p:txBody>
      </p:sp>
      <p:sp>
        <p:nvSpPr>
          <p:cNvPr id="1846" name=""/>
          <p:cNvSpPr/>
          <p:nvPr/>
        </p:nvSpPr>
        <p:spPr>
          <a:xfrm rot="0" flipH="0" flipV="0">
            <a:off x="9601200" y="3133725"/>
            <a:ext cx="1638300" cy="609600"/>
          </a:xfrm>
          <a:prstGeom prst="roundRect">
            <a:avLst>
              <a:gd name="adj" fmla="val 9375"/>
            </a:avLst>
          </a:prstGeom>
          <a:solidFill>
            <a:srgbClr val="F5F7FA"/>
          </a:solidFill>
          <a:ln/>
        </p:spPr>
        <p:txBody>
          <a:bodyPr/>
          <a:p/>
        </p:txBody>
      </p:sp>
      <p:sp>
        <p:nvSpPr>
          <p:cNvPr id="1847" name="" descr="{&quot;isTemplate&quot;:true,&quot;type&quot;:&quot;text&quot;}"/>
          <p:cNvSpPr txBox="1"/>
          <p:nvPr/>
        </p:nvSpPr>
        <p:spPr>
          <a:xfrm rot="0" flipH="0" flipV="0">
            <a:off x="97155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12</a:t>
            </a:r>
            <a:endParaRPr/>
          </a:p>
        </p:txBody>
      </p:sp>
      <p:sp>
        <p:nvSpPr>
          <p:cNvPr id="1848" name="" descr="{&quot;isTemplate&quot;:true,&quot;type&quot;:&quot;text&quot;}"/>
          <p:cNvSpPr txBox="1"/>
          <p:nvPr/>
        </p:nvSpPr>
        <p:spPr>
          <a:xfrm rot="0" flipH="0" flipV="0">
            <a:off x="97155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自进化与扩展</a:t>
            </a:r>
            <a:endParaRPr/>
          </a:p>
        </p:txBody>
      </p:sp>
      <p:sp>
        <p:nvSpPr>
          <p:cNvPr id="1849" name=""/>
          <p:cNvSpPr/>
          <p:nvPr/>
        </p:nvSpPr>
        <p:spPr>
          <a:xfrm rot="0" flipH="0" flipV="0">
            <a:off x="6134100" y="3838575"/>
            <a:ext cx="1638300" cy="609600"/>
          </a:xfrm>
          <a:prstGeom prst="roundRect">
            <a:avLst>
              <a:gd name="adj" fmla="val 9375"/>
            </a:avLst>
          </a:prstGeom>
          <a:solidFill>
            <a:srgbClr val="F5F7FA"/>
          </a:solidFill>
          <a:ln/>
        </p:spPr>
        <p:txBody>
          <a:bodyPr/>
          <a:p/>
        </p:txBody>
      </p:sp>
      <p:sp>
        <p:nvSpPr>
          <p:cNvPr id="1850" name="" descr="{&quot;isTemplate&quot;:true,&quot;type&quot;:&quot;text&quot;}"/>
          <p:cNvSpPr txBox="1"/>
          <p:nvPr/>
        </p:nvSpPr>
        <p:spPr>
          <a:xfrm rot="0" flipH="0" flipV="0">
            <a:off x="6248400" y="39243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13</a:t>
            </a:r>
            <a:endParaRPr/>
          </a:p>
        </p:txBody>
      </p:sp>
      <p:sp>
        <p:nvSpPr>
          <p:cNvPr id="1851" name="" descr="{&quot;isTemplate&quot;:true,&quot;type&quot;:&quot;text&quot;}"/>
          <p:cNvSpPr txBox="1"/>
          <p:nvPr/>
        </p:nvSpPr>
        <p:spPr>
          <a:xfrm rot="0" flipH="0" flipV="0">
            <a:off x="6248400" y="41719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收尾</a:t>
            </a:r>
            <a:endParaRPr/>
          </a:p>
        </p:txBody>
      </p:sp>
      <p:sp>
        <p:nvSpPr>
          <p:cNvPr id="1852" name=""/>
          <p:cNvSpPr/>
          <p:nvPr/>
        </p:nvSpPr>
        <p:spPr>
          <a:xfrm rot="0" flipH="0" flipV="0">
            <a:off x="6134100" y="4686300"/>
            <a:ext cx="5295900" cy="438150"/>
          </a:xfrm>
          <a:prstGeom prst="roundRect">
            <a:avLst>
              <a:gd name="adj" fmla="val 13043"/>
            </a:avLst>
          </a:prstGeom>
          <a:solidFill>
            <a:srgbClr val="F5F7FA"/>
          </a:solidFill>
          <a:ln/>
        </p:spPr>
        <p:txBody>
          <a:bodyPr/>
          <a:p/>
        </p:txBody>
      </p:sp>
      <p:sp>
        <p:nvSpPr>
          <p:cNvPr id="1853" name=""/>
          <p:cNvSpPr/>
          <p:nvPr/>
        </p:nvSpPr>
        <p:spPr>
          <a:xfrm rot="0" flipH="0" flipV="0">
            <a:off x="6267450" y="4800600"/>
            <a:ext cx="57150" cy="209550"/>
          </a:xfrm>
          <a:prstGeom prst="rect">
            <a:avLst/>
          </a:prstGeom>
          <a:solidFill>
            <a:srgbClr val="00A9B5"/>
          </a:solidFill>
          <a:ln/>
        </p:spPr>
        <p:txBody>
          <a:bodyPr/>
          <a:p/>
        </p:txBody>
      </p:sp>
      <p:sp>
        <p:nvSpPr>
          <p:cNvPr id="1854" name="" descr="{&quot;isTemplate&quot;:true,&quot;type&quot;:&quot;text&quot;}"/>
          <p:cNvSpPr txBox="1"/>
          <p:nvPr/>
        </p:nvSpPr>
        <p:spPr>
          <a:xfrm rot="0" flipH="0" flipV="0">
            <a:off x="6419850" y="4781550"/>
            <a:ext cx="1943100" cy="247650"/>
          </a:xfrm>
          <a:prstGeom prst="rect"/>
        </p:spPr>
        <p:txBody>
          <a:bodyPr wrap="none" lIns="0" tIns="0" rIns="0" bIns="0"/>
          <a:p>
            <a:pPr>
              <a:lnSpc>
                <a:spcPct val="140000"/>
              </a:lnSpc>
            </a:pPr>
            <a:r>
              <a:rPr lang="zh-CN" sz="1125" b="1">
                <a:solidFill>
                  <a:srgbClr val="0E2340"/>
                </a:solidFill>
                <a:latin typeface="Microsoft YaHei"/>
                <a:ea typeface="Microsoft YaHei"/>
              </a:rPr>
              <a:t>当前位置：第</a:t>
            </a:r>
            <a:r>
              <a:rPr lang="en-US" sz="1125" b="1">
                <a:solidFill>
                  <a:srgbClr val="0E2340"/>
                </a:solidFill>
                <a:latin typeface="Microsoft YaHei"/>
                <a:ea typeface="Microsoft YaHei"/>
              </a:rPr>
              <a:t xml:space="preserve"> 01 </a:t>
            </a:r>
            <a:r>
              <a:rPr lang="zh-CN" sz="1125" b="1">
                <a:solidFill>
                  <a:srgbClr val="0E2340"/>
                </a:solidFill>
                <a:latin typeface="Microsoft YaHei"/>
                <a:ea typeface="Microsoft YaHei"/>
              </a:rPr>
              <a:t>章</a:t>
            </a:r>
            <a:r>
              <a:rPr lang="en-US" sz="1125" b="1">
                <a:solidFill>
                  <a:srgbClr val="0E2340"/>
                </a:solidFill>
                <a:latin typeface="Microsoft YaHei"/>
                <a:ea typeface="Microsoft YaHei"/>
              </a:rPr>
              <a:t xml:space="preserve"> · </a:t>
            </a:r>
            <a:r>
              <a:rPr lang="zh-CN" sz="1125" b="1">
                <a:solidFill>
                  <a:srgbClr val="0E2340"/>
                </a:solidFill>
                <a:latin typeface="Microsoft YaHei"/>
                <a:ea typeface="Microsoft YaHei"/>
              </a:rPr>
              <a:t>概念地基</a:t>
            </a:r>
            <a:endParaRPr/>
          </a:p>
        </p:txBody>
      </p:sp>
      <p:sp>
        <p:nvSpPr>
          <p:cNvPr id="1855" name=""/>
          <p:cNvSpPr/>
          <p:nvPr/>
        </p:nvSpPr>
        <p:spPr>
          <a:xfrm rot="0" flipH="0" flipV="0">
            <a:off x="6134100" y="5353050"/>
            <a:ext cx="1257300" cy="381000"/>
          </a:xfrm>
          <a:prstGeom prst="roundRect">
            <a:avLst>
              <a:gd name="adj" fmla="val 15000"/>
            </a:avLst>
          </a:prstGeom>
          <a:solidFill>
            <a:srgbClr val="F5F7FA"/>
          </a:solidFill>
          <a:ln/>
        </p:spPr>
        <p:txBody>
          <a:bodyPr/>
          <a:p/>
        </p:txBody>
      </p:sp>
      <p:sp>
        <p:nvSpPr>
          <p:cNvPr id="1856" name=""/>
          <p:cNvSpPr/>
          <p:nvPr/>
        </p:nvSpPr>
        <p:spPr>
          <a:xfrm rot="0" flipH="0" flipV="0">
            <a:off x="6229350" y="5495925"/>
            <a:ext cx="95250" cy="95250"/>
          </a:xfrm>
          <a:prstGeom prst="roundRect">
            <a:avLst>
              <a:gd name="adj" fmla="val 50000"/>
            </a:avLst>
          </a:prstGeom>
          <a:solidFill>
            <a:srgbClr val="1E9E62"/>
          </a:solidFill>
          <a:ln/>
        </p:spPr>
        <p:txBody>
          <a:bodyPr/>
          <a:p/>
        </p:txBody>
      </p:sp>
      <p:sp>
        <p:nvSpPr>
          <p:cNvPr id="1857" name="" descr="{&quot;isTemplate&quot;:true,&quot;type&quot;:&quot;text&quot;}"/>
          <p:cNvSpPr txBox="1"/>
          <p:nvPr/>
        </p:nvSpPr>
        <p:spPr>
          <a:xfrm rot="0" flipH="0" flipV="0">
            <a:off x="6400800"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已实现</a:t>
            </a:r>
            <a:endParaRPr/>
          </a:p>
        </p:txBody>
      </p:sp>
      <p:sp>
        <p:nvSpPr>
          <p:cNvPr id="1858" name=""/>
          <p:cNvSpPr/>
          <p:nvPr/>
        </p:nvSpPr>
        <p:spPr>
          <a:xfrm rot="0" flipH="0" flipV="0">
            <a:off x="7486650" y="5353050"/>
            <a:ext cx="1247775" cy="381000"/>
          </a:xfrm>
          <a:prstGeom prst="roundRect">
            <a:avLst>
              <a:gd name="adj" fmla="val 15000"/>
            </a:avLst>
          </a:prstGeom>
          <a:solidFill>
            <a:srgbClr val="F5F7FA"/>
          </a:solidFill>
          <a:ln/>
        </p:spPr>
        <p:txBody>
          <a:bodyPr/>
          <a:p/>
        </p:txBody>
      </p:sp>
      <p:sp>
        <p:nvSpPr>
          <p:cNvPr id="1859" name=""/>
          <p:cNvSpPr/>
          <p:nvPr/>
        </p:nvSpPr>
        <p:spPr>
          <a:xfrm rot="0" flipH="0" flipV="0">
            <a:off x="7581900" y="5495925"/>
            <a:ext cx="95250" cy="95250"/>
          </a:xfrm>
          <a:prstGeom prst="roundRect">
            <a:avLst>
              <a:gd name="adj" fmla="val 50000"/>
            </a:avLst>
          </a:prstGeom>
          <a:solidFill>
            <a:srgbClr val="E8A33D"/>
          </a:solidFill>
          <a:ln/>
        </p:spPr>
        <p:txBody>
          <a:bodyPr/>
          <a:p/>
        </p:txBody>
      </p:sp>
      <p:sp>
        <p:nvSpPr>
          <p:cNvPr id="1860" name="" descr="{&quot;isTemplate&quot;:true,&quot;type&quot;:&quot;text&quot;}"/>
          <p:cNvSpPr txBox="1"/>
          <p:nvPr/>
        </p:nvSpPr>
        <p:spPr>
          <a:xfrm rot="0" flipH="0" flipV="0">
            <a:off x="7753350" y="5438775"/>
            <a:ext cx="533400" cy="209550"/>
          </a:xfrm>
          <a:prstGeom prst="rect"/>
        </p:spPr>
        <p:txBody>
          <a:bodyPr wrap="none" lIns="0" tIns="0" rIns="0" bIns="0"/>
          <a:p>
            <a:pPr>
              <a:lnSpc>
                <a:spcPct val="130000"/>
              </a:lnSpc>
            </a:pPr>
            <a:r>
              <a:rPr lang="zh-CN" sz="1050" b="1">
                <a:solidFill>
                  <a:srgbClr val="333A45"/>
                </a:solidFill>
                <a:latin typeface="Microsoft YaHei"/>
                <a:ea typeface="Microsoft YaHei"/>
              </a:rPr>
              <a:t>部分实现</a:t>
            </a:r>
            <a:endParaRPr/>
          </a:p>
        </p:txBody>
      </p:sp>
      <p:sp>
        <p:nvSpPr>
          <p:cNvPr id="1861" name=""/>
          <p:cNvSpPr/>
          <p:nvPr/>
        </p:nvSpPr>
        <p:spPr>
          <a:xfrm rot="0" flipH="0" flipV="0">
            <a:off x="8829675" y="5353050"/>
            <a:ext cx="1257300" cy="381000"/>
          </a:xfrm>
          <a:prstGeom prst="roundRect">
            <a:avLst>
              <a:gd name="adj" fmla="val 15000"/>
            </a:avLst>
          </a:prstGeom>
          <a:solidFill>
            <a:srgbClr val="F5F7FA"/>
          </a:solidFill>
          <a:ln/>
        </p:spPr>
        <p:txBody>
          <a:bodyPr/>
          <a:p/>
        </p:txBody>
      </p:sp>
      <p:sp>
        <p:nvSpPr>
          <p:cNvPr id="1862" name=""/>
          <p:cNvSpPr/>
          <p:nvPr/>
        </p:nvSpPr>
        <p:spPr>
          <a:xfrm rot="0" flipH="0" flipV="0">
            <a:off x="8924925" y="5495925"/>
            <a:ext cx="95250" cy="95250"/>
          </a:xfrm>
          <a:prstGeom prst="roundRect">
            <a:avLst>
              <a:gd name="adj" fmla="val 50000"/>
            </a:avLst>
          </a:prstGeom>
          <a:solidFill>
            <a:srgbClr val="1E7BE0"/>
          </a:solidFill>
          <a:ln/>
        </p:spPr>
        <p:txBody>
          <a:bodyPr/>
          <a:p/>
        </p:txBody>
      </p:sp>
      <p:sp>
        <p:nvSpPr>
          <p:cNvPr id="1863" name="" descr="{&quot;isTemplate&quot;:true,&quot;type&quot;:&quot;text&quot;}"/>
          <p:cNvSpPr txBox="1"/>
          <p:nvPr/>
        </p:nvSpPr>
        <p:spPr>
          <a:xfrm rot="0" flipH="0" flipV="0">
            <a:off x="909637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设计中</a:t>
            </a:r>
            <a:endParaRPr/>
          </a:p>
        </p:txBody>
      </p:sp>
      <p:sp>
        <p:nvSpPr>
          <p:cNvPr id="1864" name=""/>
          <p:cNvSpPr/>
          <p:nvPr/>
        </p:nvSpPr>
        <p:spPr>
          <a:xfrm rot="0" flipH="0" flipV="0">
            <a:off x="10182225" y="5353050"/>
            <a:ext cx="1247775" cy="381000"/>
          </a:xfrm>
          <a:prstGeom prst="roundRect">
            <a:avLst>
              <a:gd name="adj" fmla="val 15000"/>
            </a:avLst>
          </a:prstGeom>
          <a:solidFill>
            <a:srgbClr val="F5F7FA"/>
          </a:solidFill>
          <a:ln/>
        </p:spPr>
        <p:txBody>
          <a:bodyPr/>
          <a:p/>
        </p:txBody>
      </p:sp>
      <p:sp>
        <p:nvSpPr>
          <p:cNvPr id="1865" name=""/>
          <p:cNvSpPr/>
          <p:nvPr/>
        </p:nvSpPr>
        <p:spPr>
          <a:xfrm rot="0" flipH="0" flipV="0">
            <a:off x="10277475" y="5495925"/>
            <a:ext cx="95250" cy="95250"/>
          </a:xfrm>
          <a:prstGeom prst="roundRect">
            <a:avLst>
              <a:gd name="adj" fmla="val 50000"/>
            </a:avLst>
          </a:prstGeom>
          <a:solidFill>
            <a:srgbClr val="98A2B3"/>
          </a:solidFill>
          <a:ln/>
        </p:spPr>
        <p:txBody>
          <a:bodyPr/>
          <a:p/>
        </p:txBody>
      </p:sp>
      <p:sp>
        <p:nvSpPr>
          <p:cNvPr id="1866" name="" descr="{&quot;isTemplate&quot;:true,&quot;type&quot;:&quot;text&quot;}"/>
          <p:cNvSpPr txBox="1"/>
          <p:nvPr/>
        </p:nvSpPr>
        <p:spPr>
          <a:xfrm rot="0" flipH="0" flipV="0">
            <a:off x="1044892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待研究</a:t>
            </a:r>
            <a:endParaRPr/>
          </a:p>
        </p:txBody>
      </p:sp>
      <p:sp>
        <p:nvSpPr>
          <p:cNvPr id="1867" name=""/>
          <p:cNvSpPr/>
          <p:nvPr/>
        </p:nvSpPr>
        <p:spPr>
          <a:xfrm rot="0" flipH="0" flipV="0">
            <a:off x="6134100" y="5972175"/>
            <a:ext cx="5295900" cy="400050"/>
          </a:xfrm>
          <a:custGeom>
            <a:pathLst>
              <a:path w="556" h="42">
                <a:moveTo>
                  <a:pt x="0" y="0"/>
                </a:moveTo>
                <a:lnTo>
                  <a:pt x="556" y="0"/>
                </a:lnTo>
                <a:lnTo>
                  <a:pt x="556" y="1"/>
                </a:lnTo>
                <a:lnTo>
                  <a:pt x="0" y="1"/>
                </a:lnTo>
                <a:close/>
              </a:path>
            </a:pathLst>
          </a:custGeom>
          <a:solidFill>
            <a:srgbClr val="E3E8EF"/>
          </a:solidFill>
          <a:ln/>
        </p:spPr>
        <p:txBody>
          <a:bodyPr/>
          <a:p/>
        </p:txBody>
      </p:sp>
      <p:sp>
        <p:nvSpPr>
          <p:cNvPr id="1868" name=""/>
          <p:cNvSpPr/>
          <p:nvPr/>
        </p:nvSpPr>
        <p:spPr>
          <a:xfrm rot="0" flipH="0" flipV="0">
            <a:off x="6134100" y="6219825"/>
            <a:ext cx="438150" cy="47625"/>
          </a:xfrm>
          <a:prstGeom prst="rect">
            <a:avLst/>
          </a:prstGeom>
          <a:solidFill>
            <a:srgbClr val="00A9B5"/>
          </a:solidFill>
          <a:ln/>
        </p:spPr>
        <p:txBody>
          <a:bodyPr/>
          <a:p/>
        </p:txBody>
      </p:sp>
      <p:sp>
        <p:nvSpPr>
          <p:cNvPr id="1869" name="" descr="{&quot;isTemplate&quot;:true,&quot;type&quot;:&quot;text&quot;}"/>
          <p:cNvSpPr txBox="1"/>
          <p:nvPr/>
        </p:nvSpPr>
        <p:spPr>
          <a:xfrm rot="0" flipH="0" flipV="0">
            <a:off x="6686550" y="6115050"/>
            <a:ext cx="3276600" cy="247650"/>
          </a:xfrm>
          <a:prstGeom prst="rect"/>
        </p:spPr>
        <p:txBody>
          <a:bodyPr wrap="none" lIns="0" tIns="0" rIns="0" bIns="0"/>
          <a:p>
            <a:pPr>
              <a:lnSpc>
                <a:spcPct val="140000"/>
              </a:lnSpc>
            </a:pPr>
            <a:r>
              <a:rPr lang="en-US" sz="1125" b="1">
                <a:solidFill>
                  <a:srgbClr val="7A8699"/>
                </a:solidFill>
                <a:latin typeface="Microsoft YaHei"/>
                <a:ea typeface="Microsoft YaHei"/>
              </a:rPr>
              <a:t xml:space="preserve">StudyAgent </a:t>
            </a:r>
            <a:r>
              <a:rPr lang="zh-CN" sz="1125" b="1">
                <a:solidFill>
                  <a:srgbClr val="7A8699"/>
                </a:solidFill>
                <a:latin typeface="Microsoft YaHei"/>
                <a:ea typeface="Microsoft YaHei"/>
              </a:rPr>
              <a:t>项目设计汇报</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技术评审版</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共</a:t>
            </a:r>
            <a:r>
              <a:rPr lang="en-US" sz="1125" b="1">
                <a:solidFill>
                  <a:srgbClr val="7A8699"/>
                </a:solidFill>
                <a:latin typeface="Microsoft YaHei"/>
                <a:ea typeface="Microsoft YaHei"/>
              </a:rPr>
              <a:t xml:space="preserve"> 124 </a:t>
            </a:r>
            <a:r>
              <a:rPr lang="zh-CN" sz="1125" b="1">
                <a:solidFill>
                  <a:srgbClr val="7A8699"/>
                </a:solidFill>
                <a:latin typeface="Microsoft YaHei"/>
                <a:ea typeface="Microsoft YaHei"/>
              </a:rPr>
              <a:t>页</a:t>
            </a:r>
            <a:endParaRPr/>
          </a:p>
        </p:txBody>
      </p:sp>
    </p:spTree>
  </p:cSld>
</p:sld>
</file>

<file path=ppt/slides/slide6.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128"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1 / 概念地基&lt;/Text&gt;&lt;Text style={{ fontSize: 32, color: '#0E2340', fontWeight: 700, lineHeight: 1.3 }}&gt;四层概念前置链&lt;/Text&gt;&lt;/Box&gt;&lt;Box style={{ flexDirection: 'row', alignItems: 'center', padding: '7px 16px', borderRadius: 20, background: '#1E9E62' }}&gt;&lt;Text style={{ fontSize: 14, color: '#FFFFFF', fontWeight: 600 }}&gt;已实现&lt;/Text&gt;&lt;/Box&gt;&lt;/Box&gt;&lt;Box style={{ height: 532, paddingTop: 8, flexDirection: 'column' }}&gt;&lt;Box style={{ flexDirection: 'column', gap: 16, flex: 1, justifyContent: 'center' }}&gt;&lt;svg width={1140} height={210} viewBox='0 0 1140 210'&gt;&lt;rect x='0' y='40' width='250' height='88' rx='8' fill='#0E2340' stroke='#1E7BE0' stroke-width='1.5'/&gt;&lt;text x='125.0' y='78.0' font-size='20' fill='#FFFFFF' text-anchor='middle' font-weight='600'&gt;课时&lt;/text&gt;&lt;text x='125.0' y='104.0' font-size='15' fill='#FFFFFF' text-anchor='middle' font-weight='400'&gt;教学内容的组织单位&lt;/text&gt;&lt;line x1='256' y1='84' x2='282' y2='84' stroke='#1E7BE0' stroke-width='2'/&gt;&lt;path d='M282 78 l10 -6 l0 12 z' fill='#1E7BE0'/&gt;&lt;rect x='296' y='40' width='250' height='88' rx='8' fill='#FFFFFF' stroke='#1E7BE0' stroke-width='1.5'/&gt;&lt;text x='421.0' y='78.0' font-size='20' fill='#0E2340' text-anchor='middle' font-weight='600'&gt;知识点&lt;/text&gt;&lt;text x='421.0' y='104.0' font-size='15' fill='#7A8699' text-anchor='middle' font-weight='400'&gt;衡量掌握程度的标准&lt;/text&gt;&lt;line x1='552' y1='84' x2='578' y2='84' stroke='#1E7BE0' stroke-width='2'/&gt;&lt;path d='M578 78 l10 -6 l0 12 z' fill='#1E7BE0'/&gt;&lt;rect x='592' y='40' width='250' height='88' rx='8' fill='#FFFFFF' stroke='#1E7BE0' stroke-width='1.5'/&gt;&lt;text x='717.0' y='78.0' font-size='20' fill='#0E2340' text-anchor='middle' font-weight='600'&gt;步骤&lt;/text&gt;&lt;text x='717.0' y='104.0' font-size='15' fill='#7A8699' text-anchor='middle' font-weight='400'&gt;结构化解题操作单元&lt;/text&gt;&lt;line x1='848' y1='84' x2='874' y2='84' stroke='#1E7BE0' stroke-width='2'/&gt;&lt;path d='M874 78 l10 -6 l0 12 z' fill='#1E7BE0'/&gt;&lt;rect x='888' y='40' width='250' height='88' rx='8' fill='#F5F7FA' stroke='#1E7BE0' stroke-width='1.5'/&gt;&lt;text x='1013.0' y='78.0' font-size='20' fill='#0E2340' text-anchor='middle' font-weight='600'&gt;套路（母题）&lt;/text&gt;&lt;text x='1013.0' y='104.0' font-size='15' fill='#7A8699' text-anchor='middle' font-weight='400'&gt;若干步骤的有序组合&lt;/text&gt;&lt;/svg&gt;&lt;svg width={1140} height={120} viewBox='0 0 1140 120'&gt;&lt;rect x='0' y='8' width='1140' height='96' rx='8' fill='#F5F7FA'/&gt;&lt;text x='570' y='40' font-size='19' fill='#0E2340' text-anchor='middle' font-weight='700'&gt;箭头统一表示：左侧是右侧学习或掌握的前置&lt;/text&gt;&lt;text x='570' y='74' font-size='16' fill='#333A45' text-anchor='middle' font-weight='400'&gt;这是一条概念上的前置链，不表示各层一一对应，也不表示学生必须重新学习已掌握的内容&lt;/text&gt;&lt;/svg&gt;&lt;Box style={{ flexDirection: 'row', alignItems: 'center', background: '#F5F7FA', borderLeft: '4px solid #1E7BE0', borderRadius: 6, padding: '14px 20px' }}&gt;&lt;Text style={{ fontSize: 20, color: '#0E2340', fontWeight: 600, lineHeight: 1.5 }}&gt;课时之间还有教学先后关系；若干课时讲授若干知识点，但不要求严格一一对应。&lt;/Text&gt;&lt;/Box&gt;&lt;/Box&gt;&lt;/Box&gt;&lt;Box style={{ height: 40, flexDirection: 'row', justifyContent: 'space-between', alignItems: 'center', borderTop: '1px solid #E3E8EF', marginTop: 8 }}&gt;&lt;Text style={{ fontSize: 13, color: '#7A8699', fontWeight: 400, lineHeight: 1.4 }}&gt;依据：项目名词与教学关系定义.md §1–§5&lt;/Text&gt;&lt;Text style={{ fontSize: 14, color: '#7A8699', fontWeight: 400, lineHeight: 1.4 }}&gt; 6 / 124 &lt;/Text&gt;&lt;/Box&gt;&lt;/Slide&gt;"/>
        <p:cNvGrpSpPr/>
        <p:nvPr/>
      </p:nvGrpSpPr>
      <p:grpSpPr>
        <a:xfrm>
          <a:off x="0" y="0"/>
          <a:ext cx="0" cy="0"/>
          <a:chOff x="0" y="0"/>
          <a:chExt cx="0" cy="0"/>
        </a:xfrm>
      </p:grpSpPr>
      <p:sp>
        <p:nvSpPr>
          <p:cNvPr id="2129" name=""/>
          <p:cNvSpPr/>
          <p:nvPr/>
        </p:nvSpPr>
        <p:spPr>
          <a:xfrm rot="0" flipH="0" flipV="0">
            <a:off x="0" y="0"/>
            <a:ext cx="12192000" cy="6858000"/>
          </a:xfrm>
          <a:prstGeom prst="rect">
            <a:avLst/>
          </a:prstGeom>
          <a:solidFill>
            <a:srgbClr val="FFFFFF"/>
          </a:solidFill>
          <a:ln/>
        </p:spPr>
        <p:txBody>
          <a:bodyPr/>
          <a:p/>
        </p:txBody>
      </p:sp>
      <p:sp>
        <p:nvSpPr>
          <p:cNvPr id="2130" name="" descr="{&quot;isTemplate&quot;:true,&quot;type&quot;:&quot;text&quot;}"/>
          <p:cNvSpPr txBox="1"/>
          <p:nvPr/>
        </p:nvSpPr>
        <p:spPr>
          <a:xfrm rot="0" flipH="0" flipV="0">
            <a:off x="666750" y="381000"/>
            <a:ext cx="2133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01 / </a:t>
            </a:r>
            <a:r>
              <a:rPr lang="zh-CN" sz="1050" spc="75">
                <a:solidFill>
                  <a:srgbClr val="7A8699"/>
                </a:solidFill>
                <a:latin typeface="Microsoft YaHei"/>
                <a:ea typeface="Microsoft YaHei"/>
              </a:rPr>
              <a:t>概念地基</a:t>
            </a:r>
            <a:endParaRPr/>
          </a:p>
        </p:txBody>
      </p:sp>
      <p:sp>
        <p:nvSpPr>
          <p:cNvPr id="2131" name="" descr="{&quot;isTemplate&quot;:true,&quot;type&quot;:&quot;text&quot;}"/>
          <p:cNvSpPr txBox="1"/>
          <p:nvPr/>
        </p:nvSpPr>
        <p:spPr>
          <a:xfrm rot="0" flipH="0" flipV="0">
            <a:off x="666750" y="666750"/>
            <a:ext cx="2133600" cy="476250"/>
          </a:xfrm>
          <a:prstGeom prst="rect"/>
        </p:spPr>
        <p:txBody>
          <a:bodyPr wrap="none" lIns="0" tIns="0" rIns="0" bIns="0"/>
          <a:p>
            <a:pPr>
              <a:lnSpc>
                <a:spcPct val="130000"/>
              </a:lnSpc>
            </a:pPr>
            <a:r>
              <a:rPr lang="zh-CN" sz="2400" b="1">
                <a:solidFill>
                  <a:srgbClr val="0E2340"/>
                </a:solidFill>
                <a:latin typeface="Microsoft YaHei"/>
                <a:ea typeface="Microsoft YaHei"/>
              </a:rPr>
              <a:t>四层概念前置链</a:t>
            </a:r>
            <a:endParaRPr/>
          </a:p>
        </p:txBody>
      </p:sp>
      <p:sp>
        <p:nvSpPr>
          <p:cNvPr id="2132" name=""/>
          <p:cNvSpPr/>
          <p:nvPr/>
        </p:nvSpPr>
        <p:spPr>
          <a:xfrm rot="0" flipH="0" flipV="0">
            <a:off x="10820400" y="847725"/>
            <a:ext cx="704850" cy="295275"/>
          </a:xfrm>
          <a:prstGeom prst="roundRect">
            <a:avLst>
              <a:gd name="adj" fmla="val 64516"/>
            </a:avLst>
          </a:prstGeom>
          <a:solidFill>
            <a:srgbClr val="1E9E62"/>
          </a:solidFill>
          <a:ln/>
        </p:spPr>
        <p:txBody>
          <a:bodyPr/>
          <a:p/>
        </p:txBody>
      </p:sp>
      <p:sp>
        <p:nvSpPr>
          <p:cNvPr id="2133"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已实现</a:t>
            </a:r>
            <a:endParaRPr/>
          </a:p>
        </p:txBody>
      </p:sp>
      <p:pic>
        <p:nvPicPr>
          <p:cNvPr id="2134" name=""/>
          <p:cNvPicPr>
            <a:picLocks noChangeAspect="1"/>
          </p:cNvPicPr>
          <p:nvPr/>
        </p:nvPicPr>
        <p:blipFill>
          <a:blip>
            <a:extLst>
              <a:ext uri="{96DAC541-7B7A-43D3-8B79-37D633B846F1}">
                <asvg:svgBlip r:embed="rId1"/>
              </a:ext>
            </a:extLst>
          </a:blip>
          <a:stretch>
            <a:fillRect/>
          </a:stretch>
        </p:blipFill>
        <p:spPr>
          <a:xfrm rot="0" flipH="0" flipV="0">
            <a:off x="666750" y="1685925"/>
            <a:ext cx="10858500" cy="2000250"/>
          </a:xfrm>
          <a:prstGeom prst="rect">
            <a:avLst/>
          </a:prstGeom>
          <a:ln/>
        </p:spPr>
      </p:pic>
      <p:pic>
        <p:nvPicPr>
          <p:cNvPr id="2135" name=""/>
          <p:cNvPicPr>
            <a:picLocks noChangeAspect="1"/>
          </p:cNvPicPr>
          <p:nvPr/>
        </p:nvPicPr>
        <p:blipFill>
          <a:blip>
            <a:extLst>
              <a:ext uri="{96DAC541-7B7A-43D3-8B79-37D633B846F1}">
                <asvg:svgBlip r:embed="rId2"/>
              </a:ext>
            </a:extLst>
          </a:blip>
          <a:stretch>
            <a:fillRect/>
          </a:stretch>
        </p:blipFill>
        <p:spPr>
          <a:xfrm rot="0" flipH="0" flipV="0">
            <a:off x="666750" y="3838575"/>
            <a:ext cx="10858500" cy="1143000"/>
          </a:xfrm>
          <a:prstGeom prst="rect">
            <a:avLst/>
          </a:prstGeom>
          <a:ln/>
        </p:spPr>
      </p:pic>
      <p:sp>
        <p:nvSpPr>
          <p:cNvPr id="2136" name=""/>
          <p:cNvSpPr/>
          <p:nvPr/>
        </p:nvSpPr>
        <p:spPr>
          <a:xfrm rot="0" flipH="0" flipV="0">
            <a:off x="704850" y="5133975"/>
            <a:ext cx="10858500" cy="609600"/>
          </a:xfrm>
          <a:prstGeom prst="roundRect">
            <a:avLst>
              <a:gd name="adj" fmla="val 9375"/>
            </a:avLst>
          </a:prstGeom>
          <a:solidFill>
            <a:srgbClr val="F5F7FA"/>
          </a:solidFill>
          <a:ln/>
        </p:spPr>
        <p:txBody>
          <a:bodyPr/>
          <a:p/>
        </p:txBody>
      </p:sp>
      <p:sp>
        <p:nvSpPr>
          <p:cNvPr id="2137" name=""/>
          <p:cNvSpPr/>
          <p:nvPr/>
        </p:nvSpPr>
        <p:spPr>
          <a:xfrm rot="0" flipH="0" flipV="0">
            <a:off x="704850" y="5133975"/>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1E7BE0"/>
          </a:solidFill>
          <a:ln/>
        </p:spPr>
        <p:txBody>
          <a:bodyPr/>
          <a:p/>
        </p:txBody>
      </p:sp>
      <p:sp>
        <p:nvSpPr>
          <p:cNvPr id="2138" name="" descr="{&quot;isTemplate&quot;:true,&quot;type&quot;:&quot;text&quot;}"/>
          <p:cNvSpPr txBox="1"/>
          <p:nvPr/>
        </p:nvSpPr>
        <p:spPr>
          <a:xfrm rot="0" flipH="0" flipV="0">
            <a:off x="895350" y="5267325"/>
            <a:ext cx="6858000" cy="342900"/>
          </a:xfrm>
          <a:prstGeom prst="rect"/>
        </p:spPr>
        <p:txBody>
          <a:bodyPr wrap="none" lIns="0" tIns="0" rIns="0" bIns="0"/>
          <a:p>
            <a:pPr>
              <a:lnSpc>
                <a:spcPct val="150000"/>
              </a:lnSpc>
            </a:pPr>
            <a:r>
              <a:rPr lang="zh-CN" sz="1500" b="1">
                <a:solidFill>
                  <a:srgbClr val="0E2340"/>
                </a:solidFill>
                <a:latin typeface="Microsoft YaHei"/>
                <a:ea typeface="Microsoft YaHei"/>
              </a:rPr>
              <a:t>课时之间还有教学先后关系；若干课时讲授若干知识点，但不要求严格一一对应。</a:t>
            </a:r>
            <a:endParaRPr/>
          </a:p>
        </p:txBody>
      </p:sp>
      <p:sp>
        <p:nvSpPr>
          <p:cNvPr id="2139"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140" name="" descr="{&quot;isTemplate&quot;:true,&quot;type&quot;:&quot;text&quot;}"/>
          <p:cNvSpPr txBox="1"/>
          <p:nvPr/>
        </p:nvSpPr>
        <p:spPr>
          <a:xfrm rot="0" flipH="0" flipV="0">
            <a:off x="666750" y="6381750"/>
            <a:ext cx="2324100" cy="209550"/>
          </a:xfrm>
          <a:prstGeom prst="rect"/>
        </p:spPr>
        <p:txBody>
          <a:bodyPr wrap="none" lIns="0" tIns="0" rIns="0" bIns="0"/>
          <a:p>
            <a:pPr>
              <a:lnSpc>
                <a:spcPct val="140000"/>
              </a:lnSpc>
            </a:pPr>
            <a:r>
              <a:rPr lang="zh-CN" sz="975">
                <a:solidFill>
                  <a:srgbClr val="7A8699"/>
                </a:solidFill>
                <a:latin typeface="Microsoft YaHei"/>
                <a:ea typeface="Microsoft YaHei"/>
              </a:rPr>
              <a:t>依据：项目名词与教学关系定义</a:t>
            </a:r>
            <a:r>
              <a:rPr lang="en-US" sz="975">
                <a:solidFill>
                  <a:srgbClr val="7A8699"/>
                </a:solidFill>
                <a:latin typeface="Microsoft YaHei"/>
                <a:ea typeface="Microsoft YaHei"/>
              </a:rPr>
              <a:t>.md §1–§5</a:t>
            </a:r>
            <a:endParaRPr/>
          </a:p>
        </p:txBody>
      </p:sp>
      <p:sp>
        <p:nvSpPr>
          <p:cNvPr id="2141" name="" descr="{&quot;isTemplate&quot;:true,&quot;type&quot;:&quot;text&quot;}"/>
          <p:cNvSpPr txBox="1"/>
          <p:nvPr/>
        </p:nvSpPr>
        <p:spPr>
          <a:xfrm rot="0" flipH="0" flipV="0">
            <a:off x="11039475" y="6372225"/>
            <a:ext cx="4857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6 / 124 </a:t>
            </a:r>
            <a:endParaRPr/>
          </a:p>
        </p:txBody>
      </p:sp>
    </p:spTree>
  </p:cSld>
</p:sld>
</file>

<file path=ppt/slides/slide7.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2390"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1 / 概念地基&lt;/Text&gt;&lt;Text style={{ fontSize: 32, color: '#0E2340', fontWeight: 700, lineHeight: 1.3 }}&gt;四要素关系与术语辨析&lt;/Text&gt;&lt;/Box&gt;&lt;Box style={{ flexDirection: 'row', alignItems: 'center', padding: '7px 16px', borderRadius: 20, background: '#1E9E62' }}&gt;&lt;Text style={{ fontSize: 14, color: '#FFFFFF', fontWeight: 600 }}&gt;已实现&lt;/Text&gt;&lt;/Box&gt;&lt;/Box&gt;&lt;Box style={{ height: 532, paddingTop: 8, flexDirection: 'column' }}&gt;&lt;Box style={{ flexDirection: 'column', gap: 16, flex: 1 }}&gt;&lt;Box style={{ height: 210 }}&gt;&lt;Table style={{ width: '100%', height: '100%' }} defaultTextStyle={{ fontSize: 16, textAlign: 'left', color: '#333A45' }} defaultCellStyle={{ padding: 10, border: { left: { width: 1, color: '#E3E8EF' }, right: { width: 1, color: '#E3E8EF' }, top: { width: 1, color: '#E3E8EF' }, bottom: { width: 1, color: '#E3E8EF' } } }} cells={[[{ text: '关系', textStyle: { color: '#FFFFFF', fontWeight: 600, fontSize: 16 }, cellStyle: { background: { color: '#0E2340' } } }, { text: '含义', textStyle: { color: '#FFFFFF', fontWeight: 600, fontSize: 16 }, cellStyle: { background: { color: '#0E2340' } } }, { text: '方向', textStyle: { color: '#FFFFFF', fontWeight: 600, fontSize: 16 }, cellStyle: { background: { color: '#0E2340' } } }],&#10;        [{ text: '课时 ↔ 课时', textStyle: { fontWeight: 600, fontSize: 16 } }, { text: '教学内容上的先后关系，不能只视为无序集合', textStyle: { fontSize: 16 } }, { text: '前置', textStyle: { fontSize: 16 } }],&#10;        [{ text: '课时 → 知识点', textStyle: { fontWeight: 600, fontSize: 16 }, cellStyle: { background: { color: '#F5F7FA' } } }, { text: '课时承担知识点教学；学生学习知识点需要相应课时作为前置', textStyle: { fontSize: 16 }, cellStyle: { background: { color: '#F5F7FA' } } }, { text: '讲授 / 前置', textStyle: { fontSize: 16 }, cellStyle: { background: { color: '#F5F7FA' } } }],&#10;        [{ text: '知识点 → 步骤', textStyle: { fontWeight: 600, fontSize: 16 } }, { text: '学会一个步骤，需要先掌握它所依赖的若干知识点', textStyle: { fontSize: 16 } }, { text: '依赖 / 前置', textStyle: { fontSize: 16 } }],&#10;        [{ text: '步骤 → 套路', textStyle: { fontWeight: 600, fontSize: 16 }, cellStyle: { background: { color: '#F5F7FA' } } }, { text: '套路由若干确定的解题步骤按确定顺序组合而成', textStyle: { fontSize: 16 }, cellStyle: { background: { color: '#F5F7FA' } } }, { text: '组合顺序 / 前置', textStyle: { fontSize: 16 }, cellStyle: { background: { color: '#F5F7FA' } } }]]} /&gt;&lt;/Box&gt;&lt;Box style={{ flexDirection: 'row', alignItems: 'center', background: '#F5F7FA', borderLeft: '4px solid #00A9B5', borderRadius: 6, padding: '14px 20px' }}&gt;&lt;Text style={{ fontSize: 18, color: '#0E2340', fontWeight: 600, lineHeight: 1.5 }}&gt;术语辨析：套路＝题类的方法结构；需指代题库中用于示范该套路的某一道具体题目时，称为“母题示例题”&lt;/Text&gt;&lt;/Box&gt;&lt;/Box&gt;&lt;/Box&gt;&lt;Box style={{ height: 40, flexDirection: 'row', justifyContent: 'space-between', alignItems: 'center', borderTop: '1px solid #E3E8EF', marginTop: 8 }}&gt;&lt;Text style={{ fontSize: 13, color: '#7A8699', fontWeight: 400, lineHeight: 1.4 }}&gt;依据：项目名词与教学关系定义.md §4–§5&lt;/Text&gt;&lt;Text style={{ fontSize: 14, color: '#7A8699', fontWeight: 400, lineHeight: 1.4 }}&gt; 7 / 124 &lt;/Text&gt;&lt;/Box&gt;&lt;/Slide&gt;"/>
        <p:cNvGrpSpPr/>
        <p:nvPr/>
      </p:nvGrpSpPr>
      <p:grpSpPr>
        <a:xfrm>
          <a:off x="0" y="0"/>
          <a:ext cx="0" cy="0"/>
          <a:chOff x="0" y="0"/>
          <a:chExt cx="0" cy="0"/>
        </a:xfrm>
      </p:grpSpPr>
      <p:sp>
        <p:nvSpPr>
          <p:cNvPr id="2391" name=""/>
          <p:cNvSpPr/>
          <p:nvPr/>
        </p:nvSpPr>
        <p:spPr>
          <a:xfrm rot="0" flipH="0" flipV="0">
            <a:off x="0" y="0"/>
            <a:ext cx="12192000" cy="6858000"/>
          </a:xfrm>
          <a:prstGeom prst="rect">
            <a:avLst/>
          </a:prstGeom>
          <a:solidFill>
            <a:srgbClr val="FFFFFF"/>
          </a:solidFill>
          <a:ln/>
        </p:spPr>
        <p:txBody>
          <a:bodyPr/>
          <a:p/>
        </p:txBody>
      </p:sp>
      <p:sp>
        <p:nvSpPr>
          <p:cNvPr id="2392" name="" descr="{&quot;isTemplate&quot;:true,&quot;type&quot;:&quot;text&quot;}"/>
          <p:cNvSpPr txBox="1"/>
          <p:nvPr/>
        </p:nvSpPr>
        <p:spPr>
          <a:xfrm rot="0" flipH="0" flipV="0">
            <a:off x="666750" y="381000"/>
            <a:ext cx="30480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01 / </a:t>
            </a:r>
            <a:r>
              <a:rPr lang="zh-CN" sz="1050" spc="75">
                <a:solidFill>
                  <a:srgbClr val="7A8699"/>
                </a:solidFill>
                <a:latin typeface="Microsoft YaHei"/>
                <a:ea typeface="Microsoft YaHei"/>
              </a:rPr>
              <a:t>概念地基</a:t>
            </a:r>
            <a:endParaRPr/>
          </a:p>
        </p:txBody>
      </p:sp>
      <p:sp>
        <p:nvSpPr>
          <p:cNvPr id="2393" name="" descr="{&quot;isTemplate&quot;:true,&quot;type&quot;:&quot;text&quot;}"/>
          <p:cNvSpPr txBox="1"/>
          <p:nvPr/>
        </p:nvSpPr>
        <p:spPr>
          <a:xfrm rot="0" flipH="0" flipV="0">
            <a:off x="666750" y="666750"/>
            <a:ext cx="3048000" cy="476250"/>
          </a:xfrm>
          <a:prstGeom prst="rect"/>
        </p:spPr>
        <p:txBody>
          <a:bodyPr wrap="none" lIns="0" tIns="0" rIns="0" bIns="0"/>
          <a:p>
            <a:pPr>
              <a:lnSpc>
                <a:spcPct val="130000"/>
              </a:lnSpc>
            </a:pPr>
            <a:r>
              <a:rPr lang="zh-CN" sz="2400" b="1">
                <a:solidFill>
                  <a:srgbClr val="0E2340"/>
                </a:solidFill>
                <a:latin typeface="Microsoft YaHei"/>
                <a:ea typeface="Microsoft YaHei"/>
              </a:rPr>
              <a:t>四要素关系与术语辨析</a:t>
            </a:r>
            <a:endParaRPr/>
          </a:p>
        </p:txBody>
      </p:sp>
      <p:sp>
        <p:nvSpPr>
          <p:cNvPr id="2394" name=""/>
          <p:cNvSpPr/>
          <p:nvPr/>
        </p:nvSpPr>
        <p:spPr>
          <a:xfrm rot="0" flipH="0" flipV="0">
            <a:off x="10820400" y="847725"/>
            <a:ext cx="704850" cy="295275"/>
          </a:xfrm>
          <a:prstGeom prst="roundRect">
            <a:avLst>
              <a:gd name="adj" fmla="val 64516"/>
            </a:avLst>
          </a:prstGeom>
          <a:solidFill>
            <a:srgbClr val="1E9E62"/>
          </a:solidFill>
          <a:ln/>
        </p:spPr>
        <p:txBody>
          <a:bodyPr/>
          <a:p/>
        </p:txBody>
      </p:sp>
      <p:sp>
        <p:nvSpPr>
          <p:cNvPr id="2395"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已实现</a:t>
            </a:r>
            <a:endParaRPr/>
          </a:p>
        </p:txBody>
      </p:sp>
      <p:graphicFrame>
        <p:nvGraphicFramePr>
          <p:cNvPr id="2396" name=""/>
          <p:cNvGraphicFramePr/>
          <p:nvPr/>
        </p:nvGraphicFramePr>
        <p:xfrm rot="0" flipH="0" flipV="0">
          <a:off x="666750" y="1219200"/>
          <a:ext cx="10858500" cy="2000250"/>
        </p:xfrm>
        <a:graphic>
          <a:graphicData uri="http://schemas.openxmlformats.org/drawingml/2006/table">
            <a:tbl>
              <a:tblGrid>
                <a:gridCol w="1841350">
                  <a:extLst>
                    <a:ext uri="{9D8B030D-6E8A-4147-A177-3AD203B41FA5}">
                      <a16:colId val="1"/>
                    </a:ext>
                  </a:extLst>
                </a:gridCol>
                <a:gridCol w="7095463">
                  <a:extLst>
                    <a:ext uri="{9D8B030D-6E8A-4147-A177-3AD203B41FA5}">
                      <a16:colId val="2"/>
                    </a:ext>
                  </a:extLst>
                </a:gridCol>
                <a:gridCol w="1921688">
                  <a:extLst>
                    <a:ext uri="{9D8B030D-6E8A-4147-A177-3AD203B41FA5}">
                      <a16:colId val="3"/>
                    </a:ext>
                  </a:extLst>
                </a:gridCol>
              </a:tblGrid>
              <a:tr h="400050">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关系</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含义</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方向</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400050">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课时 ↔ 课时</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教学内容上的先后关系，不能只视为无序集合</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前置</a:t>
                      </a:r>
                      <a:endParaRPr/>
                    </a:p>
                  </a:txBody>
                  <a:tcPr marL="45720" marR="45720" marT="45720" marB="45720" anchor="ctr">
                    <a:lnL>
                      <a:noFill/>
                    </a:lnL>
                    <a:lnR>
                      <a:noFill/>
                    </a:lnR>
                    <a:lnT>
                      <a:noFill/>
                    </a:lnT>
                    <a:lnB>
                      <a:noFill/>
                    </a:lnB>
                  </a:tcPr>
                </a:tc>
                <a:extLst>
                  <a:ext uri="{0D108BD9-81ED-4DB2-BD59-A6C34878D82A}">
                    <a16:rowId val="2"/>
                  </a:ext>
                </a:extLst>
              </a:tr>
              <a:tr h="400050">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课时 → 知识点</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课时承担知识点教学；学生学习知识点需要相应课时作为前置</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讲授 / 前置</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400050">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知识点 → 步骤</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学会一个步骤，需要先掌握它所依赖的若干知识点</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依赖 / 前置</a:t>
                      </a:r>
                      <a:endParaRPr/>
                    </a:p>
                  </a:txBody>
                  <a:tcPr marL="45720" marR="45720" marT="45720" marB="45720" anchor="ctr">
                    <a:lnL>
                      <a:noFill/>
                    </a:lnL>
                    <a:lnR>
                      <a:noFill/>
                    </a:lnR>
                    <a:lnT>
                      <a:noFill/>
                    </a:lnT>
                    <a:lnB>
                      <a:noFill/>
                    </a:lnB>
                  </a:tcPr>
                </a:tc>
                <a:extLst>
                  <a:ext uri="{0D108BD9-81ED-4DB2-BD59-A6C34878D82A}">
                    <a16:rowId val="4"/>
                  </a:ext>
                </a:extLst>
              </a:tr>
              <a:tr h="400050">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步骤 → 套路</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套路由若干确定的解题步骤按确定顺序组合而成</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组合顺序 / 前置</a:t>
                      </a:r>
                      <a:endParaRPr/>
                    </a:p>
                  </a:txBody>
                  <a:tcPr marL="45720" marR="45720" marT="45720" marB="45720" anchor="ctr">
                    <a:lnL>
                      <a:noFill/>
                    </a:lnL>
                    <a:lnR>
                      <a:noFill/>
                    </a:lnR>
                    <a:lnT>
                      <a:noFill/>
                    </a:lnT>
                    <a:lnB>
                      <a:noFill/>
                    </a:lnB>
                    <a:solidFill>
                      <a:srgbClr val="F5F7FA"/>
                    </a:solidFill>
                  </a:tcPr>
                </a:tc>
                <a:extLst>
                  <a:ext uri="{0D108BD9-81ED-4DB2-BD59-A6C34878D82A}">
                    <a16:rowId val="5"/>
                  </a:ext>
                </a:extLst>
              </a:tr>
            </a:tbl>
          </a:graphicData>
        </a:graphic>
      </p:graphicFrame>
      <p:sp>
        <p:nvSpPr>
          <p:cNvPr id="2397" name=""/>
          <p:cNvSpPr/>
          <p:nvPr/>
        </p:nvSpPr>
        <p:spPr>
          <a:xfrm rot="0" flipH="0" flipV="0">
            <a:off x="704850" y="3371850"/>
            <a:ext cx="10858500" cy="581025"/>
          </a:xfrm>
          <a:prstGeom prst="roundRect">
            <a:avLst>
              <a:gd name="adj" fmla="val 9836"/>
            </a:avLst>
          </a:prstGeom>
          <a:solidFill>
            <a:srgbClr val="F5F7FA"/>
          </a:solidFill>
          <a:ln/>
        </p:spPr>
        <p:txBody>
          <a:bodyPr/>
          <a:p/>
        </p:txBody>
      </p:sp>
      <p:sp>
        <p:nvSpPr>
          <p:cNvPr id="2398" name=""/>
          <p:cNvSpPr/>
          <p:nvPr/>
        </p:nvSpPr>
        <p:spPr>
          <a:xfrm rot="0" flipH="0" flipV="0">
            <a:off x="704850" y="3371850"/>
            <a:ext cx="10858500" cy="581025"/>
          </a:xfrm>
          <a:custGeom>
            <a:pathLst>
              <a:path w="1140" h="61">
                <a:moveTo>
                  <a:pt x="6" y="0"/>
                </a:moveTo>
                <a:cubicBezTo>
                  <a:pt x="5" y="0"/>
                  <a:pt x="4" y="1"/>
                  <a:pt x="4" y="2"/>
                </a:cubicBezTo>
                <a:lnTo>
                  <a:pt x="4" y="59"/>
                </a:lnTo>
                <a:cubicBezTo>
                  <a:pt x="4" y="60"/>
                  <a:pt x="5" y="61"/>
                  <a:pt x="6" y="61"/>
                </a:cubicBezTo>
                <a:cubicBezTo>
                  <a:pt x="3" y="61"/>
                  <a:pt x="0" y="58"/>
                  <a:pt x="0" y="55"/>
                </a:cubicBezTo>
                <a:lnTo>
                  <a:pt x="0" y="6"/>
                </a:lnTo>
                <a:cubicBezTo>
                  <a:pt x="0" y="3"/>
                  <a:pt x="3" y="0"/>
                  <a:pt x="6" y="0"/>
                </a:cubicBezTo>
                <a:close/>
              </a:path>
            </a:pathLst>
          </a:custGeom>
          <a:solidFill>
            <a:srgbClr val="00A9B5"/>
          </a:solidFill>
          <a:ln/>
        </p:spPr>
        <p:txBody>
          <a:bodyPr/>
          <a:p/>
        </p:txBody>
      </p:sp>
      <p:sp>
        <p:nvSpPr>
          <p:cNvPr id="2399" name="" descr="{&quot;isTemplate&quot;:true,&quot;type&quot;:&quot;text&quot;}"/>
          <p:cNvSpPr txBox="1"/>
          <p:nvPr/>
        </p:nvSpPr>
        <p:spPr>
          <a:xfrm rot="0" flipH="0" flipV="0">
            <a:off x="895350" y="3505200"/>
            <a:ext cx="8058150" cy="314325"/>
          </a:xfrm>
          <a:prstGeom prst="rect"/>
        </p:spPr>
        <p:txBody>
          <a:bodyPr wrap="none" lIns="0" tIns="0" rIns="0" bIns="0"/>
          <a:p>
            <a:pPr>
              <a:lnSpc>
                <a:spcPct val="150000"/>
              </a:lnSpc>
            </a:pPr>
            <a:r>
              <a:rPr lang="zh-CN" sz="1350" b="1">
                <a:solidFill>
                  <a:srgbClr val="0E2340"/>
                </a:solidFill>
                <a:latin typeface="Microsoft YaHei"/>
                <a:ea typeface="Microsoft YaHei"/>
              </a:rPr>
              <a:t>术语辨析：套路＝题类的方法结构；需指代题库中用于示范该套路的某一道具体题目时，称为“母题示例题”</a:t>
            </a:r>
            <a:endParaRPr/>
          </a:p>
        </p:txBody>
      </p:sp>
      <p:sp>
        <p:nvSpPr>
          <p:cNvPr id="2400"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401" name="" descr="{&quot;isTemplate&quot;:true,&quot;type&quot;:&quot;text&quot;}"/>
          <p:cNvSpPr txBox="1"/>
          <p:nvPr/>
        </p:nvSpPr>
        <p:spPr>
          <a:xfrm rot="0" flipH="0" flipV="0">
            <a:off x="666750" y="6381750"/>
            <a:ext cx="2324100" cy="209550"/>
          </a:xfrm>
          <a:prstGeom prst="rect"/>
        </p:spPr>
        <p:txBody>
          <a:bodyPr wrap="none" lIns="0" tIns="0" rIns="0" bIns="0"/>
          <a:p>
            <a:pPr>
              <a:lnSpc>
                <a:spcPct val="140000"/>
              </a:lnSpc>
            </a:pPr>
            <a:r>
              <a:rPr lang="zh-CN" sz="975">
                <a:solidFill>
                  <a:srgbClr val="7A8699"/>
                </a:solidFill>
                <a:latin typeface="Microsoft YaHei"/>
                <a:ea typeface="Microsoft YaHei"/>
              </a:rPr>
              <a:t>依据：项目名词与教学关系定义</a:t>
            </a:r>
            <a:r>
              <a:rPr lang="en-US" sz="975">
                <a:solidFill>
                  <a:srgbClr val="7A8699"/>
                </a:solidFill>
                <a:latin typeface="Microsoft YaHei"/>
                <a:ea typeface="Microsoft YaHei"/>
              </a:rPr>
              <a:t>.md §4–§5</a:t>
            </a:r>
            <a:endParaRPr/>
          </a:p>
        </p:txBody>
      </p:sp>
      <p:sp>
        <p:nvSpPr>
          <p:cNvPr id="2402" name="" descr="{&quot;isTemplate&quot;:true,&quot;type&quot;:&quot;text&quot;}"/>
          <p:cNvSpPr txBox="1"/>
          <p:nvPr/>
        </p:nvSpPr>
        <p:spPr>
          <a:xfrm rot="0" flipH="0" flipV="0">
            <a:off x="11039475" y="6372225"/>
            <a:ext cx="4857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7 / 124 </a:t>
            </a:r>
            <a:endParaRPr/>
          </a:p>
        </p:txBody>
      </p:sp>
    </p:spTree>
  </p:cSld>
</p:sld>
</file>

<file path=ppt/slides/slide8.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662"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1 / 概念地基&lt;/Text&gt;&lt;Text style={{ fontSize: 32, color: '#0E2340', fontWeight: 700, lineHeight: 1.3 }}&gt;步骤：可被识别、讲解与单独训练的最小单元&lt;/Text&gt;&lt;/Box&gt;&lt;Box style={{ flexDirection: 'row', alignItems: 'center', padding: '7px 16px', borderRadius: 20, background: '#1E9E62' }}&gt;&lt;Text style={{ fontSize: 14, color: '#FFFFFF', fontWeight: 600 }}&gt;已实现&lt;/Text&gt;&lt;/Box&gt;&lt;/Box&gt;&lt;Box style={{ height: 532, paddingTop: 8, flexDirection: 'column' }}&gt;&lt;Box style={{ flexDirection: 'row', gap: 28, flex: 1 }}&gt;&lt;Box style={{ width: 700, justifyContent: 'center' }}&gt;&lt;svg width={700} height={340} viewBox='0 0 700 340'&gt;&lt;circle cx='350' cy='170' r='78' fill='#0E2340'/&gt;&lt;text x='350' y='160' font-size='26' fill='#FFFFFF' text-anchor='middle' font-weight='700'&gt;步骤&lt;/text&gt;&lt;text x='350' y='190' font-size='14' fill='#C8DCF2' text-anchor='middle' font-weight='400'&gt;结构化解题操作&lt;/text&gt;&lt;rect x='30' y='20' width='250' height='62' rx='8' fill='#FFFFFF' stroke='#1E7BE0' stroke-width='1.5'/&gt;&lt;text x='155' y='56' font-size='18' fill='#0E2340' text-anchor='middle' font-weight='600'&gt;可被识别&lt;/text&gt;&lt;rect x='420' y='20' width='250' height='62' rx='8' fill='#FFFFFF' stroke='#1E7BE0' stroke-width='1.5'/&gt;&lt;text x='545' y='56' font-size='18' fill='#0E2340' text-anchor='middle' font-weight='600'&gt;可被讲解&lt;/text&gt;&lt;rect x='30' y='258' width='250' height='62' rx='8' fill='#FFFFFF' stroke='#1E7BE0' stroke-width='1.5'/&gt;&lt;text x='155' y='294' font-size='18' fill='#0E2340' text-anchor='middle' font-weight='600'&gt;可单独训练&lt;/text&gt;&lt;rect x='420' y='258' width='250' height='62' rx='8' fill='#FFFFFF' stroke='#1E7BE0' stroke-width='1.5'/&gt;&lt;text x='545' y='294' font-size='18' fill='#0E2340' text-anchor='middle' font-weight='600'&gt;可跨题复用&lt;/text&gt;&lt;line x1='180' y1='82' x2='290' y2='128' stroke='#1E7BE0' stroke-width='2'/&gt;&lt;line x1='520' y1='82' x2='410' y2='128' stroke='#1E7BE0' stroke-width='2'/&gt;&lt;line x1='180' y1='258' x2='290' y2='212' stroke='#1E7BE0' stroke-width='2'/&gt;&lt;line x1='520' y1='258' x2='410' y2='212' stroke='#1E7BE0' stroke-width='2'/&gt;&lt;/svg&gt;&lt;/Box&gt;&lt;Box style={{ flex: 1, flexDirection: 'column', gap: 11, justifyContent: 'center' }}&gt;&lt;Text style={{ fontSize: 21, color: '#0E2340', fontWeight: 700, lineHeight: 1.4 }}&gt;为什么是步骤&lt;/Text&gt;&lt;Box style={{ flexDirection: 'column', gap: 10 }}&gt;&lt;Box style={{ flexDirection: 'row', gap: 12, alignItems: 'flex-start' }}&gt;&lt;Box style={{ width: 8, height: 8, borderRadius: 4, background: '#1E7BE0', marginTop: 9 }} /&gt;&lt;Box style={{ flex: 1 }}&gt;&lt;Text style={{ fontSize: 17, color: '#333A45', fontWeight: 400, lineHeight: 1.6 }}&gt;步骤预先定义在 YAML（backend/steps.yaml），不在单题处理时随意生成新口径。&lt;/Text&gt;&lt;/Box&gt;&lt;/Box&gt;&lt;Box style={{ flexDirection: 'row', gap: 12, alignItems: 'flex-start' }}&gt;&lt;Box style={{ width: 8, height: 8, borderRadius: 4, background: '#1E7BE0', marginTop: 9 }} /&gt;&lt;Box style={{ flex: 1 }}&gt;&lt;Text style={{ fontSize: 17, color: '#333A45', fontWeight: 400, lineHeight: 1.6 }}&gt;步骤体系覆盖大题、选择题、填空题三类题型。&lt;/Text&gt;&lt;/Box&gt;&lt;/Box&gt;&lt;Box style={{ flexDirection: 'row', gap: 12, alignItems: 'flex-start' }}&gt;&lt;Box style={{ width: 8, height: 8, borderRadius: 4, background: '#1E7BE0', marginTop: 9 }} /&gt;&lt;Box style={{ flex: 1 }}&gt;&lt;Text style={{ fontSize: 17, color: '#333A45', fontWeight: 400, lineHeight: 1.6 }}&gt;“该题的某一步”是结构化步骤在具体题目中的应用，包含该题条件下的推导、计算与书写。&lt;/Text&gt;&lt;/Box&gt;&lt;/Box&gt;&lt;Box style={{ flexDirection: 'row', gap: 12, alignItems: 'flex-start' }}&gt;&lt;Box style={{ width: 8, height: 8, borderRadius: 4, background: '#1E7BE0', marginTop: 9 }} /&gt;&lt;Box style={{ flex: 1 }}&gt;&lt;Text style={{ fontSize: 17, color: '#333A45', fontWeight: 400, lineHeight: 1.6 }}&gt;单题层面的几乎所有功能都以步骤为基础实现：既组织解题过程，也组织讲解与训练。&lt;/Text&gt;&lt;/Box&gt;&lt;/Box&gt;&lt;/Box&gt;&lt;/Box&gt;&lt;/Box&gt;&lt;/Box&gt;&lt;Box style={{ height: 40, flexDirection: 'row', justifyContent: 'space-between', alignItems: 'center', borderTop: '1px solid #E3E8EF', marginTop: 8 }}&gt;&lt;Text style={{ fontSize: 13, color: '#7A8699', fontWeight: 400, lineHeight: 1.4 }}&gt;依据：项目名词与教学关系定义.md §3、§8&lt;/Text&gt;&lt;Text style={{ fontSize: 14, color: '#7A8699', fontWeight: 400, lineHeight: 1.4 }}&gt; 8 / 124 &lt;/Text&gt;&lt;/Box&gt;&lt;/Slide&gt;"/>
        <p:cNvGrpSpPr/>
        <p:nvPr/>
      </p:nvGrpSpPr>
      <p:grpSpPr>
        <a:xfrm>
          <a:off x="0" y="0"/>
          <a:ext cx="0" cy="0"/>
          <a:chOff x="0" y="0"/>
          <a:chExt cx="0" cy="0"/>
        </a:xfrm>
      </p:grpSpPr>
      <p:sp>
        <p:nvSpPr>
          <p:cNvPr id="2663" name=""/>
          <p:cNvSpPr/>
          <p:nvPr/>
        </p:nvSpPr>
        <p:spPr>
          <a:xfrm rot="0" flipH="0" flipV="0">
            <a:off x="0" y="0"/>
            <a:ext cx="12192000" cy="6858000"/>
          </a:xfrm>
          <a:prstGeom prst="rect">
            <a:avLst/>
          </a:prstGeom>
          <a:solidFill>
            <a:srgbClr val="FFFFFF"/>
          </a:solidFill>
          <a:ln/>
        </p:spPr>
        <p:txBody>
          <a:bodyPr/>
          <a:p/>
        </p:txBody>
      </p:sp>
      <p:sp>
        <p:nvSpPr>
          <p:cNvPr id="2664" name="" descr="{&quot;isTemplate&quot;:true,&quot;type&quot;:&quot;text&quot;}"/>
          <p:cNvSpPr txBox="1"/>
          <p:nvPr/>
        </p:nvSpPr>
        <p:spPr>
          <a:xfrm rot="0" flipH="0" flipV="0">
            <a:off x="666750" y="381000"/>
            <a:ext cx="60960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01 / </a:t>
            </a:r>
            <a:r>
              <a:rPr lang="zh-CN" sz="1050" spc="75">
                <a:solidFill>
                  <a:srgbClr val="7A8699"/>
                </a:solidFill>
                <a:latin typeface="Microsoft YaHei"/>
                <a:ea typeface="Microsoft YaHei"/>
              </a:rPr>
              <a:t>概念地基</a:t>
            </a:r>
            <a:endParaRPr/>
          </a:p>
        </p:txBody>
      </p:sp>
      <p:sp>
        <p:nvSpPr>
          <p:cNvPr id="2665" name="" descr="{&quot;isTemplate&quot;:true,&quot;type&quot;:&quot;text&quot;}"/>
          <p:cNvSpPr txBox="1"/>
          <p:nvPr/>
        </p:nvSpPr>
        <p:spPr>
          <a:xfrm rot="0" flipH="0" flipV="0">
            <a:off x="666750" y="666750"/>
            <a:ext cx="6096000" cy="476250"/>
          </a:xfrm>
          <a:prstGeom prst="rect"/>
        </p:spPr>
        <p:txBody>
          <a:bodyPr wrap="none" lIns="0" tIns="0" rIns="0" bIns="0"/>
          <a:p>
            <a:pPr>
              <a:lnSpc>
                <a:spcPct val="130000"/>
              </a:lnSpc>
            </a:pPr>
            <a:r>
              <a:rPr lang="zh-CN" sz="2400" b="1">
                <a:solidFill>
                  <a:srgbClr val="0E2340"/>
                </a:solidFill>
                <a:latin typeface="Microsoft YaHei"/>
                <a:ea typeface="Microsoft YaHei"/>
              </a:rPr>
              <a:t>步骤：可被识别、讲解与单独训练的最小单元</a:t>
            </a:r>
            <a:endParaRPr/>
          </a:p>
        </p:txBody>
      </p:sp>
      <p:sp>
        <p:nvSpPr>
          <p:cNvPr id="2666" name=""/>
          <p:cNvSpPr/>
          <p:nvPr/>
        </p:nvSpPr>
        <p:spPr>
          <a:xfrm rot="0" flipH="0" flipV="0">
            <a:off x="10820400" y="847725"/>
            <a:ext cx="704850" cy="295275"/>
          </a:xfrm>
          <a:prstGeom prst="roundRect">
            <a:avLst>
              <a:gd name="adj" fmla="val 64516"/>
            </a:avLst>
          </a:prstGeom>
          <a:solidFill>
            <a:srgbClr val="1E9E62"/>
          </a:solidFill>
          <a:ln/>
        </p:spPr>
        <p:txBody>
          <a:bodyPr/>
          <a:p/>
        </p:txBody>
      </p:sp>
      <p:sp>
        <p:nvSpPr>
          <p:cNvPr id="2667"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已实现</a:t>
            </a:r>
            <a:endParaRPr/>
          </a:p>
        </p:txBody>
      </p:sp>
      <p:pic>
        <p:nvPicPr>
          <p:cNvPr id="2668" name=""/>
          <p:cNvPicPr>
            <a:picLocks noChangeAspect="1"/>
          </p:cNvPicPr>
          <p:nvPr/>
        </p:nvPicPr>
        <p:blipFill>
          <a:blip>
            <a:extLst>
              <a:ext uri="{96DAC541-7B7A-43D3-8B79-37D633B846F1}">
                <asvg:svgBlip r:embed="rId1"/>
              </a:ext>
            </a:extLst>
          </a:blip>
          <a:stretch>
            <a:fillRect/>
          </a:stretch>
        </p:blipFill>
        <p:spPr>
          <a:xfrm rot="0" flipH="0" flipV="0">
            <a:off x="666750" y="2095500"/>
            <a:ext cx="6667500" cy="3238500"/>
          </a:xfrm>
          <a:prstGeom prst="rect">
            <a:avLst/>
          </a:prstGeom>
          <a:ln/>
        </p:spPr>
      </p:pic>
      <p:sp>
        <p:nvSpPr>
          <p:cNvPr id="2669" name="" descr="{&quot;isTemplate&quot;:true,&quot;type&quot;:&quot;text&quot;}"/>
          <p:cNvSpPr txBox="1"/>
          <p:nvPr/>
        </p:nvSpPr>
        <p:spPr>
          <a:xfrm rot="0" flipH="0" flipV="0">
            <a:off x="7600950" y="2247900"/>
            <a:ext cx="3924300" cy="342900"/>
          </a:xfrm>
          <a:prstGeom prst="rect"/>
        </p:spPr>
        <p:txBody>
          <a:bodyPr wrap="none" lIns="0" tIns="0" rIns="0" bIns="0"/>
          <a:p>
            <a:pPr>
              <a:lnSpc>
                <a:spcPct val="140000"/>
              </a:lnSpc>
            </a:pPr>
            <a:r>
              <a:rPr lang="zh-CN" sz="1575" b="1">
                <a:solidFill>
                  <a:srgbClr val="0E2340"/>
                </a:solidFill>
                <a:latin typeface="Microsoft YaHei"/>
                <a:ea typeface="Microsoft YaHei"/>
              </a:rPr>
              <a:t>为什么是步骤</a:t>
            </a:r>
            <a:endParaRPr/>
          </a:p>
        </p:txBody>
      </p:sp>
      <p:sp>
        <p:nvSpPr>
          <p:cNvPr id="2670" name=""/>
          <p:cNvSpPr/>
          <p:nvPr/>
        </p:nvSpPr>
        <p:spPr>
          <a:xfrm rot="0" flipH="0" flipV="0">
            <a:off x="7600950" y="2781300"/>
            <a:ext cx="76200" cy="76200"/>
          </a:xfrm>
          <a:prstGeom prst="roundRect">
            <a:avLst>
              <a:gd name="adj" fmla="val 50000"/>
            </a:avLst>
          </a:prstGeom>
          <a:solidFill>
            <a:srgbClr val="1E7BE0"/>
          </a:solidFill>
          <a:ln/>
        </p:spPr>
        <p:txBody>
          <a:bodyPr/>
          <a:p/>
        </p:txBody>
      </p:sp>
      <p:sp>
        <p:nvSpPr>
          <p:cNvPr id="2671" name="" descr="{&quot;isTemplate&quot;:true,&quot;type&quot;:&quot;text&quot;}"/>
          <p:cNvSpPr txBox="1"/>
          <p:nvPr/>
        </p:nvSpPr>
        <p:spPr>
          <a:xfrm rot="0" flipH="0" flipV="0">
            <a:off x="7791450" y="269557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步骤预先定义在</a:t>
            </a:r>
            <a:r>
              <a:rPr lang="en-US" sz="1275">
                <a:solidFill>
                  <a:srgbClr val="333A45"/>
                </a:solidFill>
                <a:latin typeface="Microsoft YaHei"/>
                <a:ea typeface="Microsoft YaHei"/>
              </a:rPr>
              <a:t xml:space="preserve"> YAML</a:t>
            </a:r>
            <a:r>
              <a:rPr lang="zh-CN" sz="1275">
                <a:solidFill>
                  <a:srgbClr val="333A45"/>
                </a:solidFill>
                <a:latin typeface="Microsoft YaHei"/>
                <a:ea typeface="Microsoft YaHei"/>
              </a:rPr>
              <a:t>（</a:t>
            </a:r>
            <a:r>
              <a:rPr lang="en-US" sz="1275">
                <a:solidFill>
                  <a:srgbClr val="333A45"/>
                </a:solidFill>
                <a:latin typeface="Microsoft YaHei"/>
                <a:ea typeface="Microsoft YaHei"/>
              </a:rPr>
              <a:t>backend/steps.yaml</a:t>
            </a:r>
            <a:r>
              <a:rPr lang="zh-CN" sz="1275">
                <a:solidFill>
                  <a:srgbClr val="333A45"/>
                </a:solidFill>
                <a:latin typeface="Microsoft YaHei"/>
                <a:ea typeface="Microsoft YaHei"/>
              </a:rPr>
              <a:t>），不在单题处理时随意生成新口径。</a:t>
            </a:r>
            <a:endParaRPr/>
          </a:p>
        </p:txBody>
      </p:sp>
      <p:sp>
        <p:nvSpPr>
          <p:cNvPr id="2672" name=""/>
          <p:cNvSpPr/>
          <p:nvPr/>
        </p:nvSpPr>
        <p:spPr>
          <a:xfrm rot="0" flipH="0" flipV="0">
            <a:off x="7600950" y="3505200"/>
            <a:ext cx="76200" cy="76200"/>
          </a:xfrm>
          <a:prstGeom prst="roundRect">
            <a:avLst>
              <a:gd name="adj" fmla="val 50000"/>
            </a:avLst>
          </a:prstGeom>
          <a:solidFill>
            <a:srgbClr val="1E7BE0"/>
          </a:solidFill>
          <a:ln/>
        </p:spPr>
        <p:txBody>
          <a:bodyPr/>
          <a:p/>
        </p:txBody>
      </p:sp>
      <p:sp>
        <p:nvSpPr>
          <p:cNvPr id="2673" name="" descr="{&quot;isTemplate&quot;:true,&quot;type&quot;:&quot;text&quot;}"/>
          <p:cNvSpPr txBox="1"/>
          <p:nvPr/>
        </p:nvSpPr>
        <p:spPr>
          <a:xfrm rot="0" flipH="0" flipV="0">
            <a:off x="7791450" y="3419475"/>
            <a:ext cx="3733800" cy="314325"/>
          </a:xfrm>
          <a:prstGeom prst="rect"/>
        </p:spPr>
        <p:txBody>
          <a:bodyPr wrap="none" lIns="0" tIns="0" rIns="0" bIns="0"/>
          <a:p>
            <a:pPr>
              <a:lnSpc>
                <a:spcPct val="160000"/>
              </a:lnSpc>
            </a:pPr>
            <a:r>
              <a:rPr lang="zh-CN" sz="1275">
                <a:solidFill>
                  <a:srgbClr val="333A45"/>
                </a:solidFill>
                <a:latin typeface="Microsoft YaHei"/>
                <a:ea typeface="Microsoft YaHei"/>
              </a:rPr>
              <a:t>步骤体系覆盖大题、选择题、填空题三类题型。</a:t>
            </a:r>
            <a:endParaRPr/>
          </a:p>
        </p:txBody>
      </p:sp>
      <p:sp>
        <p:nvSpPr>
          <p:cNvPr id="2674" name=""/>
          <p:cNvSpPr/>
          <p:nvPr/>
        </p:nvSpPr>
        <p:spPr>
          <a:xfrm rot="0" flipH="0" flipV="0">
            <a:off x="7600950" y="3914775"/>
            <a:ext cx="76200" cy="76200"/>
          </a:xfrm>
          <a:prstGeom prst="roundRect">
            <a:avLst>
              <a:gd name="adj" fmla="val 50000"/>
            </a:avLst>
          </a:prstGeom>
          <a:solidFill>
            <a:srgbClr val="1E7BE0"/>
          </a:solidFill>
          <a:ln/>
        </p:spPr>
        <p:txBody>
          <a:bodyPr/>
          <a:p/>
        </p:txBody>
      </p:sp>
      <p:sp>
        <p:nvSpPr>
          <p:cNvPr id="2675" name="" descr="{&quot;isTemplate&quot;:true,&quot;type&quot;:&quot;text&quot;}"/>
          <p:cNvSpPr txBox="1"/>
          <p:nvPr/>
        </p:nvSpPr>
        <p:spPr>
          <a:xfrm rot="0" flipH="0" flipV="0">
            <a:off x="7791450" y="3829050"/>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“该题的某一步”是结构化步骤在具体题目中的应用，包含该题条件下的推导、计算与书写。</a:t>
            </a:r>
            <a:endParaRPr/>
          </a:p>
        </p:txBody>
      </p:sp>
      <p:sp>
        <p:nvSpPr>
          <p:cNvPr id="2676" name=""/>
          <p:cNvSpPr/>
          <p:nvPr/>
        </p:nvSpPr>
        <p:spPr>
          <a:xfrm rot="0" flipH="0" flipV="0">
            <a:off x="7600950" y="4638675"/>
            <a:ext cx="76200" cy="76200"/>
          </a:xfrm>
          <a:prstGeom prst="roundRect">
            <a:avLst>
              <a:gd name="adj" fmla="val 50000"/>
            </a:avLst>
          </a:prstGeom>
          <a:solidFill>
            <a:srgbClr val="1E7BE0"/>
          </a:solidFill>
          <a:ln/>
        </p:spPr>
        <p:txBody>
          <a:bodyPr/>
          <a:p/>
        </p:txBody>
      </p:sp>
      <p:sp>
        <p:nvSpPr>
          <p:cNvPr id="2677" name="" descr="{&quot;isTemplate&quot;:true,&quot;type&quot;:&quot;text&quot;}"/>
          <p:cNvSpPr txBox="1"/>
          <p:nvPr/>
        </p:nvSpPr>
        <p:spPr>
          <a:xfrm rot="0" flipH="0" flipV="0">
            <a:off x="7791450" y="4552950"/>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单题层面的几乎所有功能都以步骤为基础实现：既组织解题过程，也组织讲解与训练。</a:t>
            </a:r>
            <a:endParaRPr/>
          </a:p>
        </p:txBody>
      </p:sp>
      <p:sp>
        <p:nvSpPr>
          <p:cNvPr id="2678"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679" name="" descr="{&quot;isTemplate&quot;:true,&quot;type&quot;:&quot;text&quot;}"/>
          <p:cNvSpPr txBox="1"/>
          <p:nvPr/>
        </p:nvSpPr>
        <p:spPr>
          <a:xfrm rot="0" flipH="0" flipV="0">
            <a:off x="666750" y="6381750"/>
            <a:ext cx="2381250" cy="209550"/>
          </a:xfrm>
          <a:prstGeom prst="rect"/>
        </p:spPr>
        <p:txBody>
          <a:bodyPr wrap="none" lIns="0" tIns="0" rIns="0" bIns="0"/>
          <a:p>
            <a:pPr>
              <a:lnSpc>
                <a:spcPct val="140000"/>
              </a:lnSpc>
            </a:pPr>
            <a:r>
              <a:rPr lang="zh-CN" sz="975">
                <a:solidFill>
                  <a:srgbClr val="7A8699"/>
                </a:solidFill>
                <a:latin typeface="Microsoft YaHei"/>
                <a:ea typeface="Microsoft YaHei"/>
              </a:rPr>
              <a:t>依据：项目名词与教学关系定义</a:t>
            </a:r>
            <a:r>
              <a:rPr lang="en-US" sz="975">
                <a:solidFill>
                  <a:srgbClr val="7A8699"/>
                </a:solidFill>
                <a:latin typeface="Microsoft YaHei"/>
                <a:ea typeface="Microsoft YaHei"/>
              </a:rPr>
              <a:t>.md §3</a:t>
            </a:r>
            <a:r>
              <a:rPr lang="zh-CN" sz="975">
                <a:solidFill>
                  <a:srgbClr val="7A8699"/>
                </a:solidFill>
                <a:latin typeface="Microsoft YaHei"/>
                <a:ea typeface="Microsoft YaHei"/>
              </a:rPr>
              <a:t>、§</a:t>
            </a:r>
            <a:r>
              <a:rPr lang="en-US" sz="975">
                <a:solidFill>
                  <a:srgbClr val="7A8699"/>
                </a:solidFill>
                <a:latin typeface="Microsoft YaHei"/>
                <a:ea typeface="Microsoft YaHei"/>
              </a:rPr>
              <a:t>8</a:t>
            </a:r>
            <a:endParaRPr/>
          </a:p>
        </p:txBody>
      </p:sp>
      <p:sp>
        <p:nvSpPr>
          <p:cNvPr id="2680" name="" descr="{&quot;isTemplate&quot;:true,&quot;type&quot;:&quot;text&quot;}"/>
          <p:cNvSpPr txBox="1"/>
          <p:nvPr/>
        </p:nvSpPr>
        <p:spPr>
          <a:xfrm rot="0" flipH="0" flipV="0">
            <a:off x="11039475" y="6372225"/>
            <a:ext cx="4857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8 / 124 </a:t>
            </a:r>
            <a:endParaRPr/>
          </a:p>
        </p:txBody>
      </p:sp>
    </p:spTree>
  </p:cSld>
</p:sld>
</file>

<file path=ppt/slides/slide9.xml><?xml version="1.0" encoding="utf-8"?>
<p:sld xmlns:p="http://schemas.openxmlformats.org/presentationml/2006/main" xmlns:a="http://schemas.openxmlformats.org/drawingml/2006/main">
  <p:cSld>
    <p:spTree>
      <p:nvGrpSpPr>
        <p:cNvPr id="2948"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1 / 概念地基&lt;/Text&gt;&lt;Text style={{ fontSize: 32, color: '#0E2340', fontWeight: 700, lineHeight: 1.3 }}&gt;两条并行的教学与训练路线&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gt;&lt;Box style={{ marginBottom: 16 }}&gt;&lt;Box style={{ flexDirection: 'row', alignItems: 'center', background: '#F5F7FA', borderLeft: '4px solid #0E2340', borderRadius: 6, padding: '14px 20px' }}&gt;&lt;Text style={{ fontSize: 20, color: '#0E2340', fontWeight: 600, lineHeight: 1.5 }}&gt;两条路线并行支持，共用知识点、步骤与套路的定义及前置关系&lt;/Text&gt;&lt;/Box&gt;&lt;/Box&gt;&lt;Box style={{ flexDirection: 'row', gap: 20, flex: 1 }}&gt;&lt;Box style={{ width: 560,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路线一 · 以题目为入口&lt;/Text&gt;&lt;Text style={{ fontSize: 18, color: '#333A45', fontWeight: 400, lineHeight: 1.6 }}&gt;按传统线下授课方式，从题目角度组织教学。教授一个母题前，先确保学生掌握该母题包含的全部步骤及其所需知识点，再围绕母题整体教学与训练。通常不会把单独步骤作为独立课程或专项训练对象。&lt;/Text&gt;&lt;/Box&gt;&lt;/Box&gt;&lt;Box style={{ width: 560,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路线二 · 单步骤专项训练&lt;/Text&gt;&lt;Text style={{ fontSize: 18, color: '#333A45', fontWeight: 400, lineHeight: 1.6 }}&gt;允许直接针对某一个步骤补充训练。学生某一步薄弱时，可在具备该步骤前置知识点的基础上单独学习、练习该步骤，再应用回完整题目与套路中。&lt;/Text&gt;&lt;/Box&gt;&lt;/Box&gt;&lt;/Box&gt;&lt;/Box&gt;&lt;/Box&gt;&lt;Box style={{ height: 40, flexDirection: 'row', justifyContent: 'space-between', alignItems: 'center', borderTop: '1px solid #E3E8EF', marginTop: 8 }}&gt;&lt;Text style={{ fontSize: 13, color: '#7A8699', fontWeight: 400, lineHeight: 1.4 }}&gt;依据：项目名词与教学关系定义.md §6&lt;/Text&gt;&lt;Text style={{ fontSize: 14, color: '#7A8699', fontWeight: 400, lineHeight: 1.4 }}&gt; 9 / 124 &lt;/Text&gt;&lt;/Box&gt;&lt;/Slide&gt;"/>
        <p:cNvGrpSpPr/>
        <p:nvPr/>
      </p:nvGrpSpPr>
      <p:grpSpPr>
        <a:xfrm>
          <a:off x="0" y="0"/>
          <a:ext cx="0" cy="0"/>
          <a:chOff x="0" y="0"/>
          <a:chExt cx="0" cy="0"/>
        </a:xfrm>
      </p:grpSpPr>
      <p:sp>
        <p:nvSpPr>
          <p:cNvPr id="2949" name=""/>
          <p:cNvSpPr/>
          <p:nvPr/>
        </p:nvSpPr>
        <p:spPr>
          <a:xfrm rot="0" flipH="0" flipV="0">
            <a:off x="0" y="0"/>
            <a:ext cx="12192000" cy="6858000"/>
          </a:xfrm>
          <a:prstGeom prst="rect">
            <a:avLst/>
          </a:prstGeom>
          <a:solidFill>
            <a:srgbClr val="FFFFFF"/>
          </a:solidFill>
          <a:ln/>
        </p:spPr>
        <p:txBody>
          <a:bodyPr/>
          <a:p/>
        </p:txBody>
      </p:sp>
      <p:sp>
        <p:nvSpPr>
          <p:cNvPr id="2950" name="" descr="{&quot;isTemplate&quot;:true,&quot;type&quot;:&quot;text&quot;}"/>
          <p:cNvSpPr txBox="1"/>
          <p:nvPr/>
        </p:nvSpPr>
        <p:spPr>
          <a:xfrm rot="0" flipH="0" flipV="0">
            <a:off x="666750" y="381000"/>
            <a:ext cx="3657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01 / </a:t>
            </a:r>
            <a:r>
              <a:rPr lang="zh-CN" sz="1050" spc="75">
                <a:solidFill>
                  <a:srgbClr val="7A8699"/>
                </a:solidFill>
                <a:latin typeface="Microsoft YaHei"/>
                <a:ea typeface="Microsoft YaHei"/>
              </a:rPr>
              <a:t>概念地基</a:t>
            </a:r>
            <a:endParaRPr/>
          </a:p>
        </p:txBody>
      </p:sp>
      <p:sp>
        <p:nvSpPr>
          <p:cNvPr id="2951" name="" descr="{&quot;isTemplate&quot;:true,&quot;type&quot;:&quot;text&quot;}"/>
          <p:cNvSpPr txBox="1"/>
          <p:nvPr/>
        </p:nvSpPr>
        <p:spPr>
          <a:xfrm rot="0" flipH="0" flipV="0">
            <a:off x="666750" y="666750"/>
            <a:ext cx="3657600" cy="476250"/>
          </a:xfrm>
          <a:prstGeom prst="rect"/>
        </p:spPr>
        <p:txBody>
          <a:bodyPr wrap="none" lIns="0" tIns="0" rIns="0" bIns="0"/>
          <a:p>
            <a:pPr>
              <a:lnSpc>
                <a:spcPct val="130000"/>
              </a:lnSpc>
            </a:pPr>
            <a:r>
              <a:rPr lang="zh-CN" sz="2400" b="1">
                <a:solidFill>
                  <a:srgbClr val="0E2340"/>
                </a:solidFill>
                <a:latin typeface="Microsoft YaHei"/>
                <a:ea typeface="Microsoft YaHei"/>
              </a:rPr>
              <a:t>两条并行的教学与训练路线</a:t>
            </a:r>
            <a:endParaRPr/>
          </a:p>
        </p:txBody>
      </p:sp>
      <p:sp>
        <p:nvSpPr>
          <p:cNvPr id="2952"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953"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2954" name=""/>
          <p:cNvSpPr/>
          <p:nvPr/>
        </p:nvSpPr>
        <p:spPr>
          <a:xfrm rot="0" flipH="0" flipV="0">
            <a:off x="704850" y="1219200"/>
            <a:ext cx="10858500" cy="609600"/>
          </a:xfrm>
          <a:prstGeom prst="roundRect">
            <a:avLst>
              <a:gd name="adj" fmla="val 9375"/>
            </a:avLst>
          </a:prstGeom>
          <a:solidFill>
            <a:srgbClr val="F5F7FA"/>
          </a:solidFill>
          <a:ln/>
        </p:spPr>
        <p:txBody>
          <a:bodyPr/>
          <a:p/>
        </p:txBody>
      </p:sp>
      <p:sp>
        <p:nvSpPr>
          <p:cNvPr id="2955" name=""/>
          <p:cNvSpPr/>
          <p:nvPr/>
        </p:nvSpPr>
        <p:spPr>
          <a:xfrm rot="0" flipH="0" flipV="0">
            <a:off x="704850" y="12192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2956" name="" descr="{&quot;isTemplate&quot;:true,&quot;type&quot;:&quot;text&quot;}"/>
          <p:cNvSpPr txBox="1"/>
          <p:nvPr/>
        </p:nvSpPr>
        <p:spPr>
          <a:xfrm rot="0" flipH="0" flipV="0">
            <a:off x="895350" y="1352550"/>
            <a:ext cx="5334000" cy="342900"/>
          </a:xfrm>
          <a:prstGeom prst="rect"/>
        </p:spPr>
        <p:txBody>
          <a:bodyPr wrap="none" lIns="0" tIns="0" rIns="0" bIns="0"/>
          <a:p>
            <a:pPr>
              <a:lnSpc>
                <a:spcPct val="150000"/>
              </a:lnSpc>
            </a:pPr>
            <a:r>
              <a:rPr lang="zh-CN" sz="1500" b="1">
                <a:solidFill>
                  <a:srgbClr val="0E2340"/>
                </a:solidFill>
                <a:latin typeface="Microsoft YaHei"/>
                <a:ea typeface="Microsoft YaHei"/>
              </a:rPr>
              <a:t>两条路线并行支持，共用知识点、步骤与套路的定义及前置关系</a:t>
            </a:r>
            <a:endParaRPr/>
          </a:p>
        </p:txBody>
      </p:sp>
      <p:sp>
        <p:nvSpPr>
          <p:cNvPr id="2957" name=""/>
          <p:cNvSpPr/>
          <p:nvPr/>
        </p:nvSpPr>
        <p:spPr>
          <a:xfrm rot="0" flipH="0" flipV="0">
            <a:off x="666750" y="1981200"/>
            <a:ext cx="5334000" cy="4229100"/>
          </a:xfrm>
          <a:prstGeom prst="roundRect">
            <a:avLst>
              <a:gd name="adj" fmla="val 1802"/>
            </a:avLst>
          </a:prstGeom>
          <a:solidFill>
            <a:srgbClr val="FFFFFF"/>
          </a:solidFill>
          <a:ln w="12700">
            <a:solidFill>
              <a:srgbClr val="E3E8EF"/>
            </a:solidFill>
            <a:prstDash val="solid"/>
          </a:ln>
        </p:spPr>
        <p:txBody>
          <a:bodyPr/>
          <a:p/>
        </p:txBody>
      </p:sp>
      <p:sp>
        <p:nvSpPr>
          <p:cNvPr id="2958" name=""/>
          <p:cNvSpPr/>
          <p:nvPr/>
        </p:nvSpPr>
        <p:spPr>
          <a:xfrm rot="0" flipH="0" flipV="0">
            <a:off x="666750" y="1981200"/>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2959" name="" descr="{&quot;isTemplate&quot;:true,&quot;type&quot;:&quot;text&quot;}"/>
          <p:cNvSpPr txBox="1"/>
          <p:nvPr/>
        </p:nvSpPr>
        <p:spPr>
          <a:xfrm rot="0" flipH="0" flipV="0">
            <a:off x="857250" y="2209800"/>
            <a:ext cx="4953000" cy="390525"/>
          </a:xfrm>
          <a:prstGeom prst="rect"/>
        </p:spPr>
        <p:txBody>
          <a:bodyPr wrap="none" lIns="0" tIns="0" rIns="0" bIns="0"/>
          <a:p>
            <a:pPr>
              <a:lnSpc>
                <a:spcPct val="140000"/>
              </a:lnSpc>
            </a:pPr>
            <a:r>
              <a:rPr lang="zh-CN" sz="1800" b="1">
                <a:solidFill>
                  <a:srgbClr val="0E2340"/>
                </a:solidFill>
                <a:latin typeface="Microsoft YaHei"/>
                <a:ea typeface="Microsoft YaHei"/>
              </a:rPr>
              <a:t>路线一</a:t>
            </a:r>
            <a:r>
              <a:rPr lang="en-US" sz="1800" b="1">
                <a:solidFill>
                  <a:srgbClr val="0E2340"/>
                </a:solidFill>
                <a:latin typeface="Microsoft YaHei"/>
                <a:ea typeface="Microsoft YaHei"/>
              </a:rPr>
              <a:t xml:space="preserve"> · </a:t>
            </a:r>
            <a:r>
              <a:rPr lang="zh-CN" sz="1800" b="1">
                <a:solidFill>
                  <a:srgbClr val="0E2340"/>
                </a:solidFill>
                <a:latin typeface="Microsoft YaHei"/>
                <a:ea typeface="Microsoft YaHei"/>
              </a:rPr>
              <a:t>以题目为入口</a:t>
            </a:r>
            <a:endParaRPr/>
          </a:p>
        </p:txBody>
      </p:sp>
      <p:sp>
        <p:nvSpPr>
          <p:cNvPr id="2960" name="" descr="{&quot;isTemplate&quot;:true,&quot;type&quot;:&quot;text&quot;}"/>
          <p:cNvSpPr txBox="1"/>
          <p:nvPr/>
        </p:nvSpPr>
        <p:spPr>
          <a:xfrm rot="0" flipH="0" flipV="0">
            <a:off x="857250" y="2695575"/>
            <a:ext cx="4953000" cy="1323975"/>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按传统线下授课方式，从题目角度组织教学。教授一个母题前，先确保学生掌握该母题包含的全部步骤及其所需知识点，再围绕母题整体教学与训练。通常不会把单独步骤作为独立课程或专项训练对象。</a:t>
            </a:r>
            <a:endParaRPr/>
          </a:p>
        </p:txBody>
      </p:sp>
      <p:sp>
        <p:nvSpPr>
          <p:cNvPr id="2961" name=""/>
          <p:cNvSpPr/>
          <p:nvPr/>
        </p:nvSpPr>
        <p:spPr>
          <a:xfrm rot="0" flipH="0" flipV="0">
            <a:off x="6191250" y="1981200"/>
            <a:ext cx="5334000" cy="4229100"/>
          </a:xfrm>
          <a:prstGeom prst="roundRect">
            <a:avLst>
              <a:gd name="adj" fmla="val 1802"/>
            </a:avLst>
          </a:prstGeom>
          <a:solidFill>
            <a:srgbClr val="FFFFFF"/>
          </a:solidFill>
          <a:ln w="12700">
            <a:solidFill>
              <a:srgbClr val="E3E8EF"/>
            </a:solidFill>
            <a:prstDash val="solid"/>
          </a:ln>
        </p:spPr>
        <p:txBody>
          <a:bodyPr/>
          <a:p/>
        </p:txBody>
      </p:sp>
      <p:sp>
        <p:nvSpPr>
          <p:cNvPr id="2962" name=""/>
          <p:cNvSpPr/>
          <p:nvPr/>
        </p:nvSpPr>
        <p:spPr>
          <a:xfrm rot="0" flipH="0" flipV="0">
            <a:off x="6191250" y="1981200"/>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2963" name="" descr="{&quot;isTemplate&quot;:true,&quot;type&quot;:&quot;text&quot;}"/>
          <p:cNvSpPr txBox="1"/>
          <p:nvPr/>
        </p:nvSpPr>
        <p:spPr>
          <a:xfrm rot="0" flipH="0" flipV="0">
            <a:off x="6381750" y="2209800"/>
            <a:ext cx="4953000" cy="390525"/>
          </a:xfrm>
          <a:prstGeom prst="rect"/>
        </p:spPr>
        <p:txBody>
          <a:bodyPr wrap="none" lIns="0" tIns="0" rIns="0" bIns="0"/>
          <a:p>
            <a:pPr>
              <a:lnSpc>
                <a:spcPct val="140000"/>
              </a:lnSpc>
            </a:pPr>
            <a:r>
              <a:rPr lang="zh-CN" sz="1800" b="1">
                <a:solidFill>
                  <a:srgbClr val="0E2340"/>
                </a:solidFill>
                <a:latin typeface="Microsoft YaHei"/>
                <a:ea typeface="Microsoft YaHei"/>
              </a:rPr>
              <a:t>路线二</a:t>
            </a:r>
            <a:r>
              <a:rPr lang="en-US" sz="1800" b="1">
                <a:solidFill>
                  <a:srgbClr val="0E2340"/>
                </a:solidFill>
                <a:latin typeface="Microsoft YaHei"/>
                <a:ea typeface="Microsoft YaHei"/>
              </a:rPr>
              <a:t xml:space="preserve"> · </a:t>
            </a:r>
            <a:r>
              <a:rPr lang="zh-CN" sz="1800" b="1">
                <a:solidFill>
                  <a:srgbClr val="0E2340"/>
                </a:solidFill>
                <a:latin typeface="Microsoft YaHei"/>
                <a:ea typeface="Microsoft YaHei"/>
              </a:rPr>
              <a:t>单步骤专项训练</a:t>
            </a:r>
            <a:endParaRPr/>
          </a:p>
        </p:txBody>
      </p:sp>
      <p:sp>
        <p:nvSpPr>
          <p:cNvPr id="2964" name="" descr="{&quot;isTemplate&quot;:true,&quot;type&quot;:&quot;text&quot;}"/>
          <p:cNvSpPr txBox="1"/>
          <p:nvPr/>
        </p:nvSpPr>
        <p:spPr>
          <a:xfrm rot="0" flipH="0" flipV="0">
            <a:off x="6381750" y="2695575"/>
            <a:ext cx="4953000" cy="990600"/>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允许直接针对某一个步骤补充训练。学生某一步薄弱时，可在具备该步骤前置知识点的基础上单独学习、练习该步骤，再应用回完整题目与套路中。</a:t>
            </a:r>
            <a:endParaRPr/>
          </a:p>
        </p:txBody>
      </p:sp>
      <p:sp>
        <p:nvSpPr>
          <p:cNvPr id="2965"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966"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依据：项目名词与教学关系定义</a:t>
            </a:r>
            <a:r>
              <a:rPr lang="en-US" sz="975">
                <a:solidFill>
                  <a:srgbClr val="7A8699"/>
                </a:solidFill>
                <a:latin typeface="Microsoft YaHei"/>
                <a:ea typeface="Microsoft YaHei"/>
              </a:rPr>
              <a:t>.md §6</a:t>
            </a:r>
            <a:endParaRPr/>
          </a:p>
        </p:txBody>
      </p:sp>
      <p:sp>
        <p:nvSpPr>
          <p:cNvPr id="2967" name="" descr="{&quot;isTemplate&quot;:true,&quot;type&quot;:&quot;text&quot;}"/>
          <p:cNvSpPr txBox="1"/>
          <p:nvPr/>
        </p:nvSpPr>
        <p:spPr>
          <a:xfrm rot="0" flipH="0" flipV="0">
            <a:off x="11039475" y="6372225"/>
            <a:ext cx="4857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9 / 124 </a:t>
            </a:r>
            <a:endParaRPr/>
          </a:p>
        </p:txBody>
      </p:sp>
    </p:spTree>
  </p:cSld>
</p:sld>
</file>

<file path=ppt/slides/slide10.xml><?xml version="1.0" encoding="utf-8"?>
<p:sld xmlns:p="http://schemas.openxmlformats.org/presentationml/2006/main" xmlns:a="http://schemas.openxmlformats.org/drawingml/2006/main">
  <p:cSld>
    <p:spTree>
      <p:nvGrpSpPr>
        <p:cNvPr id="43"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1 / 概念地基&lt;/Text&gt;&lt;Text style={{ fontSize: 32, color: '#0E2340', fontWeight: 700, lineHeight: 1.3 }}&gt;难度：步骤默认难度 ≠ 题目综合难度&lt;/Text&gt;&lt;/Box&gt;&lt;Box style={{ flexDirection: 'row', alignItems: 'center', padding: '7px 16px', borderRadius: 20, background: '#E8A33D' }}&gt;&lt;Text style={{ fontSize: 14, color: '#FFFFFF', fontWeight: 600 }}&gt;部分实现&lt;/Text&gt;&lt;/Box&gt;&lt;/Box&gt;&lt;Box style={{ height: 532, paddingTop: 8, flexDirection: 'column' }}&gt;&lt;Box style={{ flexDirection: 'column', gap: 18, flex: 1, justifyContent: 'center' }}&gt;&lt;Box style={{ flexDirection: 'row', alignItems: 'center', background: '#F5F7FA', borderLeft: '4px solid #0E2340', borderRadius: 6, padding: '14px 20px' }}&gt;&lt;Text style={{ fontSize: 20, color: '#0E2340', fontWeight: 600, lineHeight: 1.5 }}&gt;同一个步骤在不同题目中的实际难度可能不同；步骤默认难度只是评分依据之一，不能直接等同于具体题目的最终难度&lt;/Text&gt;&lt;/Box&gt;&lt;Box style={{ flexDirection: 'row', gap: 20 }}&gt;&lt;Box style={{ width: 268,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700, lineHeight: 1.4 }}&gt;步骤默认难度&lt;/Text&gt;&lt;Text style={{ fontSize: 17, color: '#333A45', fontWeight: 400, lineHeight: 1.6 }}&gt;为每一个结构化步骤给出的基准难度评分，属于后续需要补充的基础数据&lt;/Text&gt;&lt;/Box&gt;&lt;/Box&gt;&lt;Box style={{ width: 268,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700, lineHeight: 1.4 }}&gt;题目计算量&lt;/Text&gt;&lt;Text style={{ fontSize: 17, color: '#333A45', fontWeight: 400, lineHeight: 1.6 }}&gt;题目本身的推导与计算规模&lt;/Text&gt;&lt;/Box&gt;&lt;/Box&gt;&lt;Box style={{ width: 268,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700, lineHeight: 1.4 }}&gt;非常规程度&lt;/Text&gt;&lt;Text style={{ fontSize: 17, color: '#333A45', fontWeight: 400, lineHeight: 1.6 }}&gt;相对默认母题的偏离程度&lt;/Text&gt;&lt;/Box&gt;&lt;/Box&gt;&lt;Box style={{ width: 268,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700, lineHeight: 1.4 }}&gt;其他因素&lt;/Text&gt;&lt;Text style={{ fontSize: 17, color: '#333A45', fontWeight: 400, lineHeight: 1.6 }}&gt;其他影响实际解题难度的因素&lt;/Text&gt;&lt;/Box&gt;&lt;/Box&gt;&lt;/Box&gt;&lt;Box style={{ flexDirection: 'row', alignItems: 'center', background: '#F5F7FA', borderLeft: '4px solid #1E7BE0', borderRadius: 6, padding: '14px 20px' }}&gt;&lt;Text style={{ fontSize: 17, color: '#0E2340', fontWeight: 600, lineHeight: 1.5 }}&gt;当前实现：Formatter 对实例步骤输出五维评分（非常规程度 / 计算量 / 分类讨论 / 知识广度 / 条件转化难度），每维 0–3，整题默认上限 15；具体分值范围、权重与综合公式尚未确定&lt;/Text&gt;&lt;/Box&gt;&lt;/Box&gt;&lt;/Box&gt;&lt;Box style={{ height: 40, flexDirection: 'row', justifyContent: 'space-between', alignItems: 'center', borderTop: '1px solid #E3E8EF', marginTop: 8 }}&gt;&lt;Text style={{ fontSize: 13, color: '#7A8699', fontWeight: 400, lineHeight: 1.4 }}&gt;依据：项目名词与教学关系定义.md §7；当前实现能力与名词数量.md §7&lt;/Text&gt;&lt;Text style={{ fontSize: 14, color: '#7A8699', fontWeight: 400, lineHeight: 1.4 }}&gt; 10 / 124 &lt;/Text&gt;&lt;/Box&gt;&lt;/Slide&gt;"/>
        <p:cNvGrpSpPr/>
        <p:nvPr/>
      </p:nvGrpSpPr>
      <p:grpSpPr>
        <a:xfrm>
          <a:off x="0" y="0"/>
          <a:ext cx="0" cy="0"/>
          <a:chOff x="0" y="0"/>
          <a:chExt cx="0" cy="0"/>
        </a:xfrm>
      </p:grpSpPr>
      <p:sp>
        <p:nvSpPr>
          <p:cNvPr id="44" name=""/>
          <p:cNvSpPr/>
          <p:nvPr/>
        </p:nvSpPr>
        <p:spPr>
          <a:xfrm rot="0" flipH="0" flipV="0">
            <a:off x="0" y="0"/>
            <a:ext cx="12192000" cy="6858000"/>
          </a:xfrm>
          <a:prstGeom prst="rect">
            <a:avLst/>
          </a:prstGeom>
          <a:solidFill>
            <a:srgbClr val="FFFFFF"/>
          </a:solidFill>
          <a:ln/>
        </p:spPr>
        <p:txBody>
          <a:bodyPr/>
          <a:p/>
        </p:txBody>
      </p:sp>
      <p:sp>
        <p:nvSpPr>
          <p:cNvPr id="45" name="" descr="{&quot;isTemplate&quot;:true,&quot;type&quot;:&quot;text&quot;}"/>
          <p:cNvSpPr txBox="1"/>
          <p:nvPr/>
        </p:nvSpPr>
        <p:spPr>
          <a:xfrm rot="0" flipH="0" flipV="0">
            <a:off x="666750" y="381000"/>
            <a:ext cx="49149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01 / </a:t>
            </a:r>
            <a:r>
              <a:rPr lang="zh-CN" sz="1050" spc="75">
                <a:solidFill>
                  <a:srgbClr val="7A8699"/>
                </a:solidFill>
                <a:latin typeface="Microsoft YaHei"/>
                <a:ea typeface="Microsoft YaHei"/>
              </a:rPr>
              <a:t>概念地基</a:t>
            </a:r>
            <a:endParaRPr/>
          </a:p>
        </p:txBody>
      </p:sp>
      <p:sp>
        <p:nvSpPr>
          <p:cNvPr id="46" name="" descr="{&quot;isTemplate&quot;:true,&quot;type&quot;:&quot;text&quot;}"/>
          <p:cNvSpPr txBox="1"/>
          <p:nvPr/>
        </p:nvSpPr>
        <p:spPr>
          <a:xfrm rot="0" flipH="0" flipV="0">
            <a:off x="666750" y="666750"/>
            <a:ext cx="4914900" cy="476250"/>
          </a:xfrm>
          <a:prstGeom prst="rect"/>
        </p:spPr>
        <p:txBody>
          <a:bodyPr wrap="none" lIns="0" tIns="0" rIns="0" bIns="0"/>
          <a:p>
            <a:pPr>
              <a:lnSpc>
                <a:spcPct val="130000"/>
              </a:lnSpc>
            </a:pPr>
            <a:r>
              <a:rPr lang="zh-CN" sz="2400" b="1">
                <a:solidFill>
                  <a:srgbClr val="0E2340"/>
                </a:solidFill>
                <a:latin typeface="Microsoft YaHei"/>
                <a:ea typeface="Microsoft YaHei"/>
              </a:rPr>
              <a:t>难度：步骤默认难度</a:t>
            </a:r>
            <a:r>
              <a:rPr lang="en-US" sz="2400" b="1">
                <a:solidFill>
                  <a:srgbClr val="0E2340"/>
                </a:solidFill>
                <a:latin typeface="Microsoft YaHei"/>
                <a:ea typeface="Microsoft YaHei"/>
              </a:rPr>
              <a:t xml:space="preserve"> ≠ </a:t>
            </a:r>
            <a:r>
              <a:rPr lang="zh-CN" sz="2400" b="1">
                <a:solidFill>
                  <a:srgbClr val="0E2340"/>
                </a:solidFill>
                <a:latin typeface="Microsoft YaHei"/>
                <a:ea typeface="Microsoft YaHei"/>
              </a:rPr>
              <a:t>题目综合难度</a:t>
            </a:r>
            <a:endParaRPr/>
          </a:p>
        </p:txBody>
      </p:sp>
      <p:sp>
        <p:nvSpPr>
          <p:cNvPr id="47" name=""/>
          <p:cNvSpPr/>
          <p:nvPr/>
        </p:nvSpPr>
        <p:spPr>
          <a:xfrm rot="0" flipH="0" flipV="0">
            <a:off x="10687050" y="847725"/>
            <a:ext cx="838200" cy="295275"/>
          </a:xfrm>
          <a:prstGeom prst="roundRect">
            <a:avLst>
              <a:gd name="adj" fmla="val 64516"/>
            </a:avLst>
          </a:prstGeom>
          <a:solidFill>
            <a:srgbClr val="E8A33D"/>
          </a:solidFill>
          <a:ln/>
        </p:spPr>
        <p:txBody>
          <a:bodyPr/>
          <a:p/>
        </p:txBody>
      </p:sp>
      <p:sp>
        <p:nvSpPr>
          <p:cNvPr id="48" name="" descr="{&quot;isTemplate&quot;:true,&quot;type&quot;:&quot;text&quot;}"/>
          <p:cNvSpPr txBox="1"/>
          <p:nvPr/>
        </p:nvSpPr>
        <p:spPr>
          <a:xfrm rot="0" flipH="0" flipV="0">
            <a:off x="10839450" y="914400"/>
            <a:ext cx="533400" cy="161925"/>
          </a:xfrm>
          <a:prstGeom prst="rect"/>
        </p:spPr>
        <p:txBody>
          <a:bodyPr wrap="none" lIns="0" tIns="0" rIns="0" bIns="0"/>
          <a:p>
            <a:pPr>
              <a:lnSpc>
                <a:spcPct val="100000"/>
              </a:lnSpc>
            </a:pPr>
            <a:r>
              <a:rPr lang="zh-CN" sz="1050" b="1">
                <a:solidFill>
                  <a:srgbClr val="FFFFFF"/>
                </a:solidFill>
                <a:latin typeface="Microsoft YaHei"/>
                <a:ea typeface="Microsoft YaHei"/>
              </a:rPr>
              <a:t>部分实现</a:t>
            </a:r>
            <a:endParaRPr/>
          </a:p>
        </p:txBody>
      </p:sp>
      <p:sp>
        <p:nvSpPr>
          <p:cNvPr id="49" name=""/>
          <p:cNvSpPr/>
          <p:nvPr/>
        </p:nvSpPr>
        <p:spPr>
          <a:xfrm rot="0" flipH="0" flipV="0">
            <a:off x="704850" y="1914525"/>
            <a:ext cx="10858500" cy="609600"/>
          </a:xfrm>
          <a:prstGeom prst="roundRect">
            <a:avLst>
              <a:gd name="adj" fmla="val 9375"/>
            </a:avLst>
          </a:prstGeom>
          <a:solidFill>
            <a:srgbClr val="F5F7FA"/>
          </a:solidFill>
          <a:ln/>
        </p:spPr>
        <p:txBody>
          <a:bodyPr/>
          <a:p/>
        </p:txBody>
      </p:sp>
      <p:sp>
        <p:nvSpPr>
          <p:cNvPr id="50" name=""/>
          <p:cNvSpPr/>
          <p:nvPr/>
        </p:nvSpPr>
        <p:spPr>
          <a:xfrm rot="0" flipH="0" flipV="0">
            <a:off x="704850" y="1914525"/>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51" name="" descr="{&quot;isTemplate&quot;:true,&quot;type&quot;:&quot;text&quot;}"/>
          <p:cNvSpPr txBox="1"/>
          <p:nvPr/>
        </p:nvSpPr>
        <p:spPr>
          <a:xfrm rot="0" flipH="0" flipV="0">
            <a:off x="895350" y="2047875"/>
            <a:ext cx="9906000" cy="342900"/>
          </a:xfrm>
          <a:prstGeom prst="rect"/>
        </p:spPr>
        <p:txBody>
          <a:bodyPr wrap="none" lIns="0" tIns="0" rIns="0" bIns="0"/>
          <a:p>
            <a:pPr>
              <a:lnSpc>
                <a:spcPct val="150000"/>
              </a:lnSpc>
            </a:pPr>
            <a:r>
              <a:rPr lang="zh-CN" sz="1500" b="1">
                <a:solidFill>
                  <a:srgbClr val="0E2340"/>
                </a:solidFill>
                <a:latin typeface="Microsoft YaHei"/>
                <a:ea typeface="Microsoft YaHei"/>
              </a:rPr>
              <a:t>同一个步骤在不同题目中的实际难度可能不同；步骤默认难度只是评分依据之一，不能直接等同于具体题目的最终难度</a:t>
            </a:r>
            <a:endParaRPr/>
          </a:p>
        </p:txBody>
      </p:sp>
      <p:sp>
        <p:nvSpPr>
          <p:cNvPr id="52" name=""/>
          <p:cNvSpPr/>
          <p:nvPr/>
        </p:nvSpPr>
        <p:spPr>
          <a:xfrm rot="0" flipH="0" flipV="0">
            <a:off x="666750" y="2695575"/>
            <a:ext cx="2552700" cy="1790700"/>
          </a:xfrm>
          <a:prstGeom prst="roundRect">
            <a:avLst>
              <a:gd name="adj" fmla="val 4255"/>
            </a:avLst>
          </a:prstGeom>
          <a:solidFill>
            <a:srgbClr val="FFFFFF"/>
          </a:solidFill>
          <a:ln w="12700">
            <a:solidFill>
              <a:srgbClr val="E3E8EF"/>
            </a:solidFill>
            <a:prstDash val="solid"/>
          </a:ln>
        </p:spPr>
        <p:txBody>
          <a:bodyPr/>
          <a:p/>
        </p:txBody>
      </p:sp>
      <p:sp>
        <p:nvSpPr>
          <p:cNvPr id="53" name=""/>
          <p:cNvSpPr/>
          <p:nvPr/>
        </p:nvSpPr>
        <p:spPr>
          <a:xfrm rot="0" flipH="0" flipV="0">
            <a:off x="666750" y="2695575"/>
            <a:ext cx="2552700" cy="38100"/>
          </a:xfrm>
          <a:custGeom>
            <a:pathLst>
              <a:path w="268" h="4">
                <a:moveTo>
                  <a:pt x="260" y="0"/>
                </a:moveTo>
                <a:cubicBezTo>
                  <a:pt x="263" y="0"/>
                  <a:pt x="266" y="2"/>
                  <a:pt x="267" y="4"/>
                </a:cubicBezTo>
                <a:lnTo>
                  <a:pt x="1" y="4"/>
                </a:lnTo>
                <a:cubicBezTo>
                  <a:pt x="3" y="2"/>
                  <a:pt x="5" y="0"/>
                  <a:pt x="8" y="0"/>
                </a:cubicBezTo>
                <a:lnTo>
                  <a:pt x="260" y="0"/>
                </a:lnTo>
                <a:close/>
              </a:path>
            </a:pathLst>
          </a:custGeom>
          <a:gradFill>
            <a:gsLst>
              <a:gs pos="0">
                <a:srgbClr val="1E7BE0"/>
              </a:gs>
              <a:gs pos="100000">
                <a:srgbClr val="00A9B5"/>
              </a:gs>
            </a:gsLst>
            <a:lin ang="0" scaled="1"/>
          </a:gradFill>
          <a:ln/>
        </p:spPr>
        <p:txBody>
          <a:bodyPr/>
          <a:p/>
        </p:txBody>
      </p:sp>
      <p:sp>
        <p:nvSpPr>
          <p:cNvPr id="54" name="" descr="{&quot;isTemplate&quot;:true,&quot;type&quot;:&quot;text&quot;}"/>
          <p:cNvSpPr txBox="1"/>
          <p:nvPr/>
        </p:nvSpPr>
        <p:spPr>
          <a:xfrm rot="0" flipH="0" flipV="0">
            <a:off x="857250" y="2924175"/>
            <a:ext cx="2171700" cy="342900"/>
          </a:xfrm>
          <a:prstGeom prst="rect"/>
        </p:spPr>
        <p:txBody>
          <a:bodyPr wrap="none" lIns="0" tIns="0" rIns="0" bIns="0"/>
          <a:p>
            <a:pPr>
              <a:lnSpc>
                <a:spcPct val="140000"/>
              </a:lnSpc>
            </a:pPr>
            <a:r>
              <a:rPr lang="zh-CN" sz="1575" b="1">
                <a:solidFill>
                  <a:srgbClr val="0E2340"/>
                </a:solidFill>
                <a:latin typeface="Microsoft YaHei"/>
                <a:ea typeface="Microsoft YaHei"/>
              </a:rPr>
              <a:t>步骤默认难度</a:t>
            </a:r>
            <a:endParaRPr/>
          </a:p>
        </p:txBody>
      </p:sp>
      <p:sp>
        <p:nvSpPr>
          <p:cNvPr id="55" name="" descr="{&quot;isTemplate&quot;:true,&quot;type&quot;:&quot;text&quot;}"/>
          <p:cNvSpPr txBox="1"/>
          <p:nvPr/>
        </p:nvSpPr>
        <p:spPr>
          <a:xfrm rot="0" flipH="0" flipV="0">
            <a:off x="857250" y="3362325"/>
            <a:ext cx="2171700" cy="9334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为每一个结构化步骤给出的基准难度评分，属于后续需要补充的基础数据</a:t>
            </a:r>
            <a:endParaRPr/>
          </a:p>
        </p:txBody>
      </p:sp>
      <p:sp>
        <p:nvSpPr>
          <p:cNvPr id="56" name=""/>
          <p:cNvSpPr/>
          <p:nvPr/>
        </p:nvSpPr>
        <p:spPr>
          <a:xfrm rot="0" flipH="0" flipV="0">
            <a:off x="3409950" y="2695575"/>
            <a:ext cx="2552700" cy="1790700"/>
          </a:xfrm>
          <a:prstGeom prst="roundRect">
            <a:avLst>
              <a:gd name="adj" fmla="val 4255"/>
            </a:avLst>
          </a:prstGeom>
          <a:solidFill>
            <a:srgbClr val="FFFFFF"/>
          </a:solidFill>
          <a:ln w="12700">
            <a:solidFill>
              <a:srgbClr val="E3E8EF"/>
            </a:solidFill>
            <a:prstDash val="solid"/>
          </a:ln>
        </p:spPr>
        <p:txBody>
          <a:bodyPr/>
          <a:p/>
        </p:txBody>
      </p:sp>
      <p:sp>
        <p:nvSpPr>
          <p:cNvPr id="57" name=""/>
          <p:cNvSpPr/>
          <p:nvPr/>
        </p:nvSpPr>
        <p:spPr>
          <a:xfrm rot="0" flipH="0" flipV="0">
            <a:off x="3409950" y="2695575"/>
            <a:ext cx="2552700" cy="38100"/>
          </a:xfrm>
          <a:custGeom>
            <a:pathLst>
              <a:path w="268" h="4">
                <a:moveTo>
                  <a:pt x="260" y="0"/>
                </a:moveTo>
                <a:cubicBezTo>
                  <a:pt x="263" y="0"/>
                  <a:pt x="266" y="2"/>
                  <a:pt x="267" y="4"/>
                </a:cubicBezTo>
                <a:lnTo>
                  <a:pt x="1" y="4"/>
                </a:lnTo>
                <a:cubicBezTo>
                  <a:pt x="3" y="2"/>
                  <a:pt x="5" y="0"/>
                  <a:pt x="8" y="0"/>
                </a:cubicBezTo>
                <a:lnTo>
                  <a:pt x="260" y="0"/>
                </a:lnTo>
                <a:close/>
              </a:path>
            </a:pathLst>
          </a:custGeom>
          <a:gradFill>
            <a:gsLst>
              <a:gs pos="0">
                <a:srgbClr val="1E7BE0"/>
              </a:gs>
              <a:gs pos="100000">
                <a:srgbClr val="00A9B5"/>
              </a:gs>
            </a:gsLst>
            <a:lin ang="0" scaled="1"/>
          </a:gradFill>
          <a:ln/>
        </p:spPr>
        <p:txBody>
          <a:bodyPr/>
          <a:p/>
        </p:txBody>
      </p:sp>
      <p:sp>
        <p:nvSpPr>
          <p:cNvPr id="58" name="" descr="{&quot;isTemplate&quot;:true,&quot;type&quot;:&quot;text&quot;}"/>
          <p:cNvSpPr txBox="1"/>
          <p:nvPr/>
        </p:nvSpPr>
        <p:spPr>
          <a:xfrm rot="0" flipH="0" flipV="0">
            <a:off x="3600450" y="2924175"/>
            <a:ext cx="2171700" cy="342900"/>
          </a:xfrm>
          <a:prstGeom prst="rect"/>
        </p:spPr>
        <p:txBody>
          <a:bodyPr wrap="none" lIns="0" tIns="0" rIns="0" bIns="0"/>
          <a:p>
            <a:pPr>
              <a:lnSpc>
                <a:spcPct val="140000"/>
              </a:lnSpc>
            </a:pPr>
            <a:r>
              <a:rPr lang="zh-CN" sz="1575" b="1">
                <a:solidFill>
                  <a:srgbClr val="0E2340"/>
                </a:solidFill>
                <a:latin typeface="Microsoft YaHei"/>
                <a:ea typeface="Microsoft YaHei"/>
              </a:rPr>
              <a:t>题目计算量</a:t>
            </a:r>
            <a:endParaRPr/>
          </a:p>
        </p:txBody>
      </p:sp>
      <p:sp>
        <p:nvSpPr>
          <p:cNvPr id="59" name="" descr="{&quot;isTemplate&quot;:true,&quot;type&quot;:&quot;text&quot;}"/>
          <p:cNvSpPr txBox="1"/>
          <p:nvPr/>
        </p:nvSpPr>
        <p:spPr>
          <a:xfrm rot="0" flipH="0" flipV="0">
            <a:off x="3600450" y="3362325"/>
            <a:ext cx="2171700" cy="314325"/>
          </a:xfrm>
          <a:prstGeom prst="rect"/>
        </p:spPr>
        <p:txBody>
          <a:bodyPr wrap="none" lIns="0" tIns="0" rIns="0" bIns="0"/>
          <a:p>
            <a:pPr>
              <a:lnSpc>
                <a:spcPct val="160000"/>
              </a:lnSpc>
            </a:pPr>
            <a:r>
              <a:rPr lang="zh-CN" sz="1275">
                <a:solidFill>
                  <a:srgbClr val="333A45"/>
                </a:solidFill>
                <a:latin typeface="Microsoft YaHei"/>
                <a:ea typeface="Microsoft YaHei"/>
              </a:rPr>
              <a:t>题目本身的推导与计算规模</a:t>
            </a:r>
            <a:endParaRPr/>
          </a:p>
        </p:txBody>
      </p:sp>
      <p:sp>
        <p:nvSpPr>
          <p:cNvPr id="60" name=""/>
          <p:cNvSpPr/>
          <p:nvPr/>
        </p:nvSpPr>
        <p:spPr>
          <a:xfrm rot="0" flipH="0" flipV="0">
            <a:off x="6153150" y="2695575"/>
            <a:ext cx="2552700" cy="1790700"/>
          </a:xfrm>
          <a:prstGeom prst="roundRect">
            <a:avLst>
              <a:gd name="adj" fmla="val 4255"/>
            </a:avLst>
          </a:prstGeom>
          <a:solidFill>
            <a:srgbClr val="FFFFFF"/>
          </a:solidFill>
          <a:ln w="12700">
            <a:solidFill>
              <a:srgbClr val="E3E8EF"/>
            </a:solidFill>
            <a:prstDash val="solid"/>
          </a:ln>
        </p:spPr>
        <p:txBody>
          <a:bodyPr/>
          <a:p/>
        </p:txBody>
      </p:sp>
      <p:sp>
        <p:nvSpPr>
          <p:cNvPr id="61" name=""/>
          <p:cNvSpPr/>
          <p:nvPr/>
        </p:nvSpPr>
        <p:spPr>
          <a:xfrm rot="0" flipH="0" flipV="0">
            <a:off x="6153150" y="2695575"/>
            <a:ext cx="2552700" cy="38100"/>
          </a:xfrm>
          <a:custGeom>
            <a:pathLst>
              <a:path w="268" h="4">
                <a:moveTo>
                  <a:pt x="260" y="0"/>
                </a:moveTo>
                <a:cubicBezTo>
                  <a:pt x="263" y="0"/>
                  <a:pt x="266" y="2"/>
                  <a:pt x="267" y="4"/>
                </a:cubicBezTo>
                <a:lnTo>
                  <a:pt x="1" y="4"/>
                </a:lnTo>
                <a:cubicBezTo>
                  <a:pt x="3" y="2"/>
                  <a:pt x="5" y="0"/>
                  <a:pt x="8" y="0"/>
                </a:cubicBezTo>
                <a:lnTo>
                  <a:pt x="260" y="0"/>
                </a:lnTo>
                <a:close/>
              </a:path>
            </a:pathLst>
          </a:custGeom>
          <a:gradFill>
            <a:gsLst>
              <a:gs pos="0">
                <a:srgbClr val="1E7BE0"/>
              </a:gs>
              <a:gs pos="100000">
                <a:srgbClr val="00A9B5"/>
              </a:gs>
            </a:gsLst>
            <a:lin ang="0" scaled="1"/>
          </a:gradFill>
          <a:ln/>
        </p:spPr>
        <p:txBody>
          <a:bodyPr/>
          <a:p/>
        </p:txBody>
      </p:sp>
      <p:sp>
        <p:nvSpPr>
          <p:cNvPr id="62" name="" descr="{&quot;isTemplate&quot;:true,&quot;type&quot;:&quot;text&quot;}"/>
          <p:cNvSpPr txBox="1"/>
          <p:nvPr/>
        </p:nvSpPr>
        <p:spPr>
          <a:xfrm rot="0" flipH="0" flipV="0">
            <a:off x="6343650" y="2924175"/>
            <a:ext cx="2171700" cy="342900"/>
          </a:xfrm>
          <a:prstGeom prst="rect"/>
        </p:spPr>
        <p:txBody>
          <a:bodyPr wrap="none" lIns="0" tIns="0" rIns="0" bIns="0"/>
          <a:p>
            <a:pPr>
              <a:lnSpc>
                <a:spcPct val="140000"/>
              </a:lnSpc>
            </a:pPr>
            <a:r>
              <a:rPr lang="zh-CN" sz="1575" b="1">
                <a:solidFill>
                  <a:srgbClr val="0E2340"/>
                </a:solidFill>
                <a:latin typeface="Microsoft YaHei"/>
                <a:ea typeface="Microsoft YaHei"/>
              </a:rPr>
              <a:t>非常规程度</a:t>
            </a:r>
            <a:endParaRPr/>
          </a:p>
        </p:txBody>
      </p:sp>
      <p:sp>
        <p:nvSpPr>
          <p:cNvPr id="63" name="" descr="{&quot;isTemplate&quot;:true,&quot;type&quot;:&quot;text&quot;}"/>
          <p:cNvSpPr txBox="1"/>
          <p:nvPr/>
        </p:nvSpPr>
        <p:spPr>
          <a:xfrm rot="0" flipH="0" flipV="0">
            <a:off x="6343650" y="3362325"/>
            <a:ext cx="2171700" cy="314325"/>
          </a:xfrm>
          <a:prstGeom prst="rect"/>
        </p:spPr>
        <p:txBody>
          <a:bodyPr wrap="none" lIns="0" tIns="0" rIns="0" bIns="0"/>
          <a:p>
            <a:pPr>
              <a:lnSpc>
                <a:spcPct val="160000"/>
              </a:lnSpc>
            </a:pPr>
            <a:r>
              <a:rPr lang="zh-CN" sz="1275">
                <a:solidFill>
                  <a:srgbClr val="333A45"/>
                </a:solidFill>
                <a:latin typeface="Microsoft YaHei"/>
                <a:ea typeface="Microsoft YaHei"/>
              </a:rPr>
              <a:t>相对默认母题的偏离程度</a:t>
            </a:r>
            <a:endParaRPr/>
          </a:p>
        </p:txBody>
      </p:sp>
      <p:sp>
        <p:nvSpPr>
          <p:cNvPr id="64" name=""/>
          <p:cNvSpPr/>
          <p:nvPr/>
        </p:nvSpPr>
        <p:spPr>
          <a:xfrm rot="0" flipH="0" flipV="0">
            <a:off x="8896350" y="2695575"/>
            <a:ext cx="2552700" cy="1790700"/>
          </a:xfrm>
          <a:prstGeom prst="roundRect">
            <a:avLst>
              <a:gd name="adj" fmla="val 4255"/>
            </a:avLst>
          </a:prstGeom>
          <a:solidFill>
            <a:srgbClr val="FFFFFF"/>
          </a:solidFill>
          <a:ln w="12700">
            <a:solidFill>
              <a:srgbClr val="E3E8EF"/>
            </a:solidFill>
            <a:prstDash val="solid"/>
          </a:ln>
        </p:spPr>
        <p:txBody>
          <a:bodyPr/>
          <a:p/>
        </p:txBody>
      </p:sp>
      <p:sp>
        <p:nvSpPr>
          <p:cNvPr id="65" name=""/>
          <p:cNvSpPr/>
          <p:nvPr/>
        </p:nvSpPr>
        <p:spPr>
          <a:xfrm rot="0" flipH="0" flipV="0">
            <a:off x="8896350" y="2695575"/>
            <a:ext cx="2552700" cy="38100"/>
          </a:xfrm>
          <a:custGeom>
            <a:pathLst>
              <a:path w="268" h="4">
                <a:moveTo>
                  <a:pt x="260" y="0"/>
                </a:moveTo>
                <a:cubicBezTo>
                  <a:pt x="263" y="0"/>
                  <a:pt x="266" y="2"/>
                  <a:pt x="267" y="4"/>
                </a:cubicBezTo>
                <a:lnTo>
                  <a:pt x="1" y="4"/>
                </a:lnTo>
                <a:cubicBezTo>
                  <a:pt x="3" y="2"/>
                  <a:pt x="5" y="0"/>
                  <a:pt x="8" y="0"/>
                </a:cubicBezTo>
                <a:lnTo>
                  <a:pt x="260" y="0"/>
                </a:lnTo>
                <a:close/>
              </a:path>
            </a:pathLst>
          </a:custGeom>
          <a:gradFill>
            <a:gsLst>
              <a:gs pos="0">
                <a:srgbClr val="1E7BE0"/>
              </a:gs>
              <a:gs pos="100000">
                <a:srgbClr val="00A9B5"/>
              </a:gs>
            </a:gsLst>
            <a:lin ang="0" scaled="1"/>
          </a:gradFill>
          <a:ln/>
        </p:spPr>
        <p:txBody>
          <a:bodyPr/>
          <a:p/>
        </p:txBody>
      </p:sp>
      <p:sp>
        <p:nvSpPr>
          <p:cNvPr id="66" name="" descr="{&quot;isTemplate&quot;:true,&quot;type&quot;:&quot;text&quot;}"/>
          <p:cNvSpPr txBox="1"/>
          <p:nvPr/>
        </p:nvSpPr>
        <p:spPr>
          <a:xfrm rot="0" flipH="0" flipV="0">
            <a:off x="9086850" y="2924175"/>
            <a:ext cx="2171700" cy="342900"/>
          </a:xfrm>
          <a:prstGeom prst="rect"/>
        </p:spPr>
        <p:txBody>
          <a:bodyPr wrap="none" lIns="0" tIns="0" rIns="0" bIns="0"/>
          <a:p>
            <a:pPr>
              <a:lnSpc>
                <a:spcPct val="140000"/>
              </a:lnSpc>
            </a:pPr>
            <a:r>
              <a:rPr lang="zh-CN" sz="1575" b="1">
                <a:solidFill>
                  <a:srgbClr val="0E2340"/>
                </a:solidFill>
                <a:latin typeface="Microsoft YaHei"/>
                <a:ea typeface="Microsoft YaHei"/>
              </a:rPr>
              <a:t>其他因素</a:t>
            </a:r>
            <a:endParaRPr/>
          </a:p>
        </p:txBody>
      </p:sp>
      <p:sp>
        <p:nvSpPr>
          <p:cNvPr id="67" name="" descr="{&quot;isTemplate&quot;:true,&quot;type&quot;:&quot;text&quot;}"/>
          <p:cNvSpPr txBox="1"/>
          <p:nvPr/>
        </p:nvSpPr>
        <p:spPr>
          <a:xfrm rot="0" flipH="0" flipV="0">
            <a:off x="9086850" y="3362325"/>
            <a:ext cx="2171700" cy="314325"/>
          </a:xfrm>
          <a:prstGeom prst="rect"/>
        </p:spPr>
        <p:txBody>
          <a:bodyPr wrap="none" lIns="0" tIns="0" rIns="0" bIns="0"/>
          <a:p>
            <a:pPr>
              <a:lnSpc>
                <a:spcPct val="160000"/>
              </a:lnSpc>
            </a:pPr>
            <a:r>
              <a:rPr lang="zh-CN" sz="1275">
                <a:solidFill>
                  <a:srgbClr val="333A45"/>
                </a:solidFill>
                <a:latin typeface="Microsoft YaHei"/>
                <a:ea typeface="Microsoft YaHei"/>
              </a:rPr>
              <a:t>其他影响实际解题难度的因素</a:t>
            </a:r>
            <a:endParaRPr/>
          </a:p>
        </p:txBody>
      </p:sp>
      <p:sp>
        <p:nvSpPr>
          <p:cNvPr id="68" name=""/>
          <p:cNvSpPr/>
          <p:nvPr/>
        </p:nvSpPr>
        <p:spPr>
          <a:xfrm rot="0" flipH="0" flipV="0">
            <a:off x="704850" y="4657725"/>
            <a:ext cx="10858500" cy="857250"/>
          </a:xfrm>
          <a:prstGeom prst="roundRect">
            <a:avLst>
              <a:gd name="adj" fmla="val 6667"/>
            </a:avLst>
          </a:prstGeom>
          <a:solidFill>
            <a:srgbClr val="F5F7FA"/>
          </a:solidFill>
          <a:ln/>
        </p:spPr>
        <p:txBody>
          <a:bodyPr/>
          <a:p/>
        </p:txBody>
      </p:sp>
      <p:sp>
        <p:nvSpPr>
          <p:cNvPr id="69" name=""/>
          <p:cNvSpPr/>
          <p:nvPr/>
        </p:nvSpPr>
        <p:spPr>
          <a:xfrm rot="0" flipH="0" flipV="0">
            <a:off x="704850" y="4657725"/>
            <a:ext cx="10858500" cy="857250"/>
          </a:xfrm>
          <a:custGeom>
            <a:pathLst>
              <a:path w="1140" h="90">
                <a:moveTo>
                  <a:pt x="6" y="0"/>
                </a:moveTo>
                <a:cubicBezTo>
                  <a:pt x="5" y="0"/>
                  <a:pt x="4" y="1"/>
                  <a:pt x="4" y="2"/>
                </a:cubicBezTo>
                <a:lnTo>
                  <a:pt x="4" y="88"/>
                </a:lnTo>
                <a:cubicBezTo>
                  <a:pt x="4" y="89"/>
                  <a:pt x="5" y="90"/>
                  <a:pt x="6" y="90"/>
                </a:cubicBezTo>
                <a:cubicBezTo>
                  <a:pt x="3" y="90"/>
                  <a:pt x="0" y="87"/>
                  <a:pt x="0" y="84"/>
                </a:cubicBezTo>
                <a:lnTo>
                  <a:pt x="0" y="6"/>
                </a:lnTo>
                <a:cubicBezTo>
                  <a:pt x="0" y="3"/>
                  <a:pt x="3" y="0"/>
                  <a:pt x="6" y="0"/>
                </a:cubicBezTo>
                <a:close/>
              </a:path>
            </a:pathLst>
          </a:custGeom>
          <a:solidFill>
            <a:srgbClr val="1E7BE0"/>
          </a:solidFill>
          <a:ln/>
        </p:spPr>
        <p:txBody>
          <a:bodyPr/>
          <a:p/>
        </p:txBody>
      </p:sp>
      <p:sp>
        <p:nvSpPr>
          <p:cNvPr id="70" name="" descr="{&quot;isTemplate&quot;:true,&quot;type&quot;:&quot;text&quot;}"/>
          <p:cNvSpPr txBox="1"/>
          <p:nvPr/>
        </p:nvSpPr>
        <p:spPr>
          <a:xfrm rot="0" flipH="0" flipV="0">
            <a:off x="895350" y="4791075"/>
            <a:ext cx="10439400" cy="590550"/>
          </a:xfrm>
          <a:prstGeom prst="rect"/>
        </p:spPr>
        <p:txBody>
          <a:bodyPr wrap="square" lIns="0" tIns="0" rIns="0" bIns="0">
            <a:normAutofit/>
          </a:bodyPr>
          <a:p>
            <a:pPr>
              <a:lnSpc>
                <a:spcPct val="150000"/>
              </a:lnSpc>
            </a:pPr>
            <a:r>
              <a:rPr lang="zh-CN" sz="1275" b="1">
                <a:solidFill>
                  <a:srgbClr val="0E2340"/>
                </a:solidFill>
                <a:latin typeface="Microsoft YaHei"/>
                <a:ea typeface="Microsoft YaHei"/>
              </a:rPr>
              <a:t>当前实现：</a:t>
            </a:r>
            <a:r>
              <a:rPr lang="en-US" sz="1275" b="1">
                <a:solidFill>
                  <a:srgbClr val="0E2340"/>
                </a:solidFill>
                <a:latin typeface="Microsoft YaHei"/>
                <a:ea typeface="Microsoft YaHei"/>
              </a:rPr>
              <a:t xml:space="preserve">Formatter </a:t>
            </a:r>
            <a:r>
              <a:rPr lang="zh-CN" sz="1275" b="1">
                <a:solidFill>
                  <a:srgbClr val="0E2340"/>
                </a:solidFill>
                <a:latin typeface="Microsoft YaHei"/>
                <a:ea typeface="Microsoft YaHei"/>
              </a:rPr>
              <a:t>对实例步骤输出五维评分（非常规程度</a:t>
            </a:r>
            <a:r>
              <a:rPr lang="en-US" sz="1275" b="1">
                <a:solidFill>
                  <a:srgbClr val="0E2340"/>
                </a:solidFill>
                <a:latin typeface="Microsoft YaHei"/>
                <a:ea typeface="Microsoft YaHei"/>
              </a:rPr>
              <a:t xml:space="preserve"> / </a:t>
            </a:r>
            <a:r>
              <a:rPr lang="zh-CN" sz="1275" b="1">
                <a:solidFill>
                  <a:srgbClr val="0E2340"/>
                </a:solidFill>
                <a:latin typeface="Microsoft YaHei"/>
                <a:ea typeface="Microsoft YaHei"/>
              </a:rPr>
              <a:t>计算量</a:t>
            </a:r>
            <a:r>
              <a:rPr lang="en-US" sz="1275" b="1">
                <a:solidFill>
                  <a:srgbClr val="0E2340"/>
                </a:solidFill>
                <a:latin typeface="Microsoft YaHei"/>
                <a:ea typeface="Microsoft YaHei"/>
              </a:rPr>
              <a:t xml:space="preserve"> / </a:t>
            </a:r>
            <a:r>
              <a:rPr lang="zh-CN" sz="1275" b="1">
                <a:solidFill>
                  <a:srgbClr val="0E2340"/>
                </a:solidFill>
                <a:latin typeface="Microsoft YaHei"/>
                <a:ea typeface="Microsoft YaHei"/>
              </a:rPr>
              <a:t>分类讨论</a:t>
            </a:r>
            <a:r>
              <a:rPr lang="en-US" sz="1275" b="1">
                <a:solidFill>
                  <a:srgbClr val="0E2340"/>
                </a:solidFill>
                <a:latin typeface="Microsoft YaHei"/>
                <a:ea typeface="Microsoft YaHei"/>
              </a:rPr>
              <a:t xml:space="preserve"> / </a:t>
            </a:r>
            <a:r>
              <a:rPr lang="zh-CN" sz="1275" b="1">
                <a:solidFill>
                  <a:srgbClr val="0E2340"/>
                </a:solidFill>
                <a:latin typeface="Microsoft YaHei"/>
                <a:ea typeface="Microsoft YaHei"/>
              </a:rPr>
              <a:t>知识广度</a:t>
            </a:r>
            <a:r>
              <a:rPr lang="en-US" sz="1275" b="1">
                <a:solidFill>
                  <a:srgbClr val="0E2340"/>
                </a:solidFill>
                <a:latin typeface="Microsoft YaHei"/>
                <a:ea typeface="Microsoft YaHei"/>
              </a:rPr>
              <a:t xml:space="preserve"> / </a:t>
            </a:r>
            <a:r>
              <a:rPr lang="zh-CN" sz="1275" b="1">
                <a:solidFill>
                  <a:srgbClr val="0E2340"/>
                </a:solidFill>
                <a:latin typeface="Microsoft YaHei"/>
                <a:ea typeface="Microsoft YaHei"/>
              </a:rPr>
              <a:t>条件转化难度），每维</a:t>
            </a:r>
            <a:r>
              <a:rPr lang="en-US" sz="1275" b="1">
                <a:solidFill>
                  <a:srgbClr val="0E2340"/>
                </a:solidFill>
                <a:latin typeface="Microsoft YaHei"/>
                <a:ea typeface="Microsoft YaHei"/>
              </a:rPr>
              <a:t xml:space="preserve"> 0–3</a:t>
            </a:r>
            <a:r>
              <a:rPr lang="zh-CN" sz="1275" b="1">
                <a:solidFill>
                  <a:srgbClr val="0E2340"/>
                </a:solidFill>
                <a:latin typeface="Microsoft YaHei"/>
                <a:ea typeface="Microsoft YaHei"/>
              </a:rPr>
              <a:t>，整题默认上限</a:t>
            </a:r>
            <a:r>
              <a:rPr lang="en-US" sz="1275" b="1">
                <a:solidFill>
                  <a:srgbClr val="0E2340"/>
                </a:solidFill>
                <a:latin typeface="Microsoft YaHei"/>
                <a:ea typeface="Microsoft YaHei"/>
              </a:rPr>
              <a:t xml:space="preserve"> 15</a:t>
            </a:r>
            <a:r>
              <a:rPr lang="zh-CN" sz="1275" b="1">
                <a:solidFill>
                  <a:srgbClr val="0E2340"/>
                </a:solidFill>
                <a:latin typeface="Microsoft YaHei"/>
                <a:ea typeface="Microsoft YaHei"/>
              </a:rPr>
              <a:t>；具体分值范围、权重与综合公式尚未确定</a:t>
            </a:r>
            <a:endParaRPr/>
          </a:p>
        </p:txBody>
      </p:sp>
      <p:sp>
        <p:nvSpPr>
          <p:cNvPr id="71"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72" name="" descr="{&quot;isTemplate&quot;:true,&quot;type&quot;:&quot;text&quot;}"/>
          <p:cNvSpPr txBox="1"/>
          <p:nvPr/>
        </p:nvSpPr>
        <p:spPr>
          <a:xfrm rot="0" flipH="0" flipV="0">
            <a:off x="666750" y="6381750"/>
            <a:ext cx="3981450" cy="209550"/>
          </a:xfrm>
          <a:prstGeom prst="rect"/>
        </p:spPr>
        <p:txBody>
          <a:bodyPr wrap="none" lIns="0" tIns="0" rIns="0" bIns="0"/>
          <a:p>
            <a:pPr>
              <a:lnSpc>
                <a:spcPct val="140000"/>
              </a:lnSpc>
            </a:pPr>
            <a:r>
              <a:rPr lang="zh-CN" sz="975">
                <a:solidFill>
                  <a:srgbClr val="7A8699"/>
                </a:solidFill>
                <a:latin typeface="Microsoft YaHei"/>
                <a:ea typeface="Microsoft YaHei"/>
              </a:rPr>
              <a:t>依据：项目名词与教学关系定义</a:t>
            </a:r>
            <a:r>
              <a:rPr lang="en-US" sz="975">
                <a:solidFill>
                  <a:srgbClr val="7A8699"/>
                </a:solidFill>
                <a:latin typeface="Microsoft YaHei"/>
                <a:ea typeface="Microsoft YaHei"/>
              </a:rPr>
              <a:t>.md §7</a:t>
            </a:r>
            <a:r>
              <a:rPr lang="zh-CN" sz="975">
                <a:solidFill>
                  <a:srgbClr val="7A8699"/>
                </a:solidFill>
                <a:latin typeface="Microsoft YaHei"/>
                <a:ea typeface="Microsoft YaHei"/>
              </a:rPr>
              <a:t>；当前实现能力与名词数量</a:t>
            </a:r>
            <a:r>
              <a:rPr lang="en-US" sz="975">
                <a:solidFill>
                  <a:srgbClr val="7A8699"/>
                </a:solidFill>
                <a:latin typeface="Microsoft YaHei"/>
                <a:ea typeface="Microsoft YaHei"/>
              </a:rPr>
              <a:t>.md §7</a:t>
            </a:r>
            <a:endParaRPr/>
          </a:p>
        </p:txBody>
      </p:sp>
      <p:sp>
        <p:nvSpPr>
          <p:cNvPr id="73"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10 / 124 </a:t>
            </a:r>
            <a:endParaRPr/>
          </a:p>
        </p:txBody>
      </p:sp>
    </p:spTree>
  </p:cSld>
</p:sld>
</file>

<file path=ppt/slides/slide11.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374" name="" descr="&lt;Slide style={{ width: '1280px', height: '720px', background: '#FFFFFF', padding: 0 }}&gt;&lt;Box style={{ position: 'absolute', top: 0, left: 0 }}&gt;&lt;svg width={1280} height={720} viewBox='0 0 1280 720'&gt;&lt;line x1='0' y1='0' x2='1280' y2='0' stroke='#E3E8EF' stroke-width='1' opacity='0.55'/&gt;&lt;line x1='0' y1='90' x2='1280' y2='90' stroke='#E3E8EF' stroke-width='1' opacity='0.55'/&gt;&lt;line x1='0' y1='180' x2='1280' y2='180' stroke='#E3E8EF' stroke-width='1' opacity='0.55'/&gt;&lt;line x1='0' y1='270' x2='1280' y2='270' stroke='#E3E8EF' stroke-width='1' opacity='0.55'/&gt;&lt;line x1='0' y1='360' x2='1280' y2='360' stroke='#E3E8EF' stroke-width='1' opacity='0.55'/&gt;&lt;line x1='0' y1='450' x2='1280' y2='450' stroke='#E3E8EF' stroke-width='1' opacity='0.55'/&gt;&lt;line x1='0' y1='540' x2='1280' y2='540' stroke='#E3E8EF' stroke-width='1' opacity='0.55'/&gt;&lt;line x1='0' y1='630' x2='1280' y2='630' stroke='#E3E8EF' stroke-width='1' opacity='0.55'/&gt;&lt;line x1='0' y1='720' x2='1280' y2='720' stroke='#E3E8EF' stroke-width='1' opacity='0.55'/&gt;&lt;/svg&gt;&lt;/Box&gt;&lt;Box style={{ position: 'relative', zIndex: 2, flexDirection: 'row', flex: 1, padding: '48px 80px 52px', gap: 44 }}&gt;&lt;Box style={{ width: 520, flexDirection: 'column', justifyContent: 'space-between' }}&gt;&lt;Box style={{ flexDirection: 'column' }}&gt;&lt;Text style={{ fontSize: 15, color: '#1E7BE0', fontWeight: 600, lineHeight: 1.4, letterSpacing: 2 }}&gt;STUDYAGENT · DESIGN REVIEW&lt;/Text&gt;&lt;/Box&gt;&lt;Box style={{ flexDirection: 'column' }}&gt;&lt;Text style={{ fontSize: 100, color: '#0E2340', fontWeight: 700, lineHeight: 1.0, fontFamily: 'JetBrains Mono, Inter' }}&gt;02&lt;/Text&gt;&lt;Box style={{ width: 78, height: 5, background: '#1E7BE0', marginTop: 10 }} /&gt;&lt;Text style={{ fontSize: 44, color: '#0E2340', fontWeight: 700, lineHeight: 1.2 }}&gt;现状盘点&lt;/Text&gt;&lt;/Box&gt;&lt;Box style={{ flexDirection: 'column', gap: 12 }}&gt;&lt;Box style={{ flexDirection: 'row', alignItems: 'center', background: '#F5F7FA', borderLeft: '4px solid #1E7BE0', borderRadius: 6, padding: '14px 20px' }}&gt;&lt;Text style={{ fontSize: 19, color: '#0E2340', fontWeight: 600, lineHeight: 1.5 }}&gt;329 课时 · 541 知识点 · 359 步骤 · 1019 套路&lt;/Text&gt;&lt;/Box&gt;&lt;Box style={{ flexDirection: 'row', alignItems: 'center', background: '#F5F7FA', borderLeft: '4px solid #1E7BE0', borderRadius: 6, padding: '14px 20px' }}&gt;&lt;Text style={{ fontSize: 19, color: '#0E2340', fontWeight: 600, lineHeight: 1.5 }}&gt;三阶段流水线已跑通&lt;/Text&gt;&lt;/Box&gt;&lt;Box style={{ flexDirection: 'row', alignItems: 'center', background: '#F5F7FA', borderLeft: '4px solid #1E7BE0', borderRadius: 6, padding: '14px 20px' }}&gt;&lt;Text style={{ fontSize: 19, color: '#0E2340', fontWeight: 600, lineHeight: 1.5 }}&gt;已实现 / 待补齐 / 待验证 八方面&lt;/Text&gt;&lt;/Box&gt;&lt;/Box&gt;&lt;Box style={{ flexDirection: 'column' }}&gt;&lt;Text style={{ fontSize: 13, color: '#7A8699', fontWeight: 400, lineHeight: 1.5 }}&gt;来源：当前实现能力与名词数量.md（代码与数据核对日 2026-10-24）&lt;/Text&gt;&lt;/Box&gt;&lt;/Box&gt;&lt;Box style={{ flex: 1, flexDirection: 'column', justifyContent: 'space-between', gap: 12 }}&gt;&lt;Text style={{ fontSize: 20, color: '#0E2340', fontWeight: 700, lineHeight: 1.4 }}&gt;汇报结构 · 13 章&lt;/Text&gt;&lt;Box style={{ flexDirection: 'column', gap: 10 }}&gt;&lt;Box style={{ flexDirection: 'row', gap: 10 }}&gt;&lt;Box style={{ width: 172, height: 64, borderRadius: 6, padding: '9px 12px', background: '#F5F7FA', flexDirection: 'column', justifyContent: 'center' }}&gt;&lt;Text style={{ fontSize: 18, color: '#0E2340', fontWeight: 700, lineHeight: 1.2 }}&gt;01&lt;/Text&gt;&lt;Text style={{ fontSize: 13, color: '#7A8699', fontWeight: 400, lineHeight: 1.3 }}&gt;概念地基&lt;/Text&gt;&lt;/Box&gt;&lt;Box style={{ width: 172, height: 64, borderRadius: 6, padding: '9px 12px', background: '#0E2340', flexDirection: 'column', justifyContent: 'center' }}&gt;&lt;Text style={{ fontSize: 18, color: '#FFFFFF', fontWeight: 700, lineHeight: 1.2 }}&gt;02&lt;/Text&gt;&lt;Text style={{ fontSize: 13, color: '#C8DCF2', fontWeight: 400, lineHeight: 1.3 }}&gt;现状盘点&lt;/Text&gt;&lt;/Box&gt;&lt;Box style={{ width: 172, height: 64, borderRadius: 6, padding: '9px 12px', background: '#F5F7FA', flexDirection: 'column', justifyContent: 'center' }}&gt;&lt;Text style={{ fontSize: 18, color: '#0E2340', fontWeight: 700, lineHeight: 1.2 }}&gt;03&lt;/Text&gt;&lt;Text style={{ fontSize: 13, color: '#7A8699', fontWeight: 400, lineHeight: 1.3 }}&gt;单题引擎&lt;/Text&gt;&lt;/Box&gt;&lt;/Box&gt;&lt;Box style={{ flexDirection: 'row', gap: 10 }}&gt;&lt;Box style={{ width: 172, height: 64, borderRadius: 6, padding: '9px 12px', background: '#F5F7FA', flexDirection: 'column', justifyContent: 'center' }}&gt;&lt;Text style={{ fontSize: 18, color: '#0E2340', fontWeight: 700, lineHeight: 1.2 }}&gt;04&lt;/Text&gt;&lt;Text style={{ fontSize: 13, color: '#7A8699', fontWeight: 400, lineHeight: 1.3 }}&gt;套路层面&lt;/Text&gt;&lt;/Box&gt;&lt;Box style={{ width: 172, height: 64, borderRadius: 6, padding: '9px 12px', background: '#F5F7FA', flexDirection: 'column', justifyContent: 'center' }}&gt;&lt;Text style={{ fontSize: 18, color: '#0E2340', fontWeight: 700, lineHeight: 1.2 }}&gt;05&lt;/Text&gt;&lt;Text style={{ fontSize: 13, color: '#7A8699', fontWeight: 400, lineHeight: 1.3 }}&gt;教师端&lt;/Text&gt;&lt;/Box&gt;&lt;Box style={{ width: 172, height: 64, borderRadius: 6, padding: '9px 12px', background: '#F5F7FA', flexDirection: 'column', justifyContent: 'center' }}&gt;&lt;Text style={{ fontSize: 18, color: '#0E2340', fontWeight: 700, lineHeight: 1.2 }}&gt;06&lt;/Text&gt;&lt;Text style={{ fontSize: 13, color: '#7A8699', fontWeight: 400, lineHeight: 1.3 }}&gt;学校端&lt;/Text&gt;&lt;/Box&gt;&lt;/Box&gt;&lt;Box style={{ flexDirection: 'row', gap: 10 }}&gt;&lt;Box style={{ width: 172, height: 64, borderRadius: 6, padding: '9px 12px', background: '#F5F7FA', flexDirection: 'column', justifyContent: 'center' }}&gt;&lt;Text style={{ fontSize: 18, color: '#0E2340', fontWeight: 700, lineHeight: 1.2 }}&gt;07&lt;/Text&gt;&lt;Text style={{ fontSize: 13, color: '#7A8699', fontWeight: 400, lineHeight: 1.3 }}&gt;试卷与生涯&lt;/Text&gt;&lt;/Box&gt;&lt;Box style={{ width: 172, height: 64, borderRadius: 6, padding: '9px 12px', background: '#F5F7FA', flexDirection: 'column', justifyContent: 'center' }}&gt;&lt;Text style={{ fontSize: 18, color: '#0E2340', fontWeight: 700, lineHeight: 1.2 }}&gt;08&lt;/Text&gt;&lt;Text style={{ fontSize: 13, color: '#7A8699', fontWeight: 400, lineHeight: 1.3 }}&gt;协同 Agent&lt;/Text&gt;&lt;/Box&gt;&lt;Box style={{ width: 172, height: 64, borderRadius: 6, padding: '9px 12px', background: '#F5F7FA', flexDirection: 'column', justifyContent: 'center' }}&gt;&lt;Text style={{ fontSize: 18, color: '#0E2340', fontWeight: 700, lineHeight: 1.2 }}&gt;09&lt;/Text&gt;&lt;Text style={{ fontSize: 13, color: '#7A8699', fontWeight: 400, lineHeight: 1.3 }}&gt;MCP 接入&lt;/Text&gt;&lt;/Box&gt;&lt;/Box&gt;&lt;Box style={{ flexDirection: 'row', gap: 10 }}&gt;&lt;Box style={{ width: 172, height: 64, borderRadius: 6, padding: '9px 12px', background: '#F5F7FA', flexDirection: 'column', justifyContent: 'center' }}&gt;&lt;Text style={{ fontSize: 18, color: '#0E2340', fontWeight: 700, lineHeight: 1.2 }}&gt;10&lt;/Text&gt;&lt;Text style={{ fontSize: 13, color: '#7A8699', fontWeight: 400, lineHeight: 1.3 }}&gt;待深化研究&lt;/Text&gt;&lt;/Box&gt;&lt;Box style={{ width: 172, height: 64, borderRadius: 6, padding: '9px 12px', background: '#F5F7FA', flexDirection: 'column', justifyContent: 'center' }}&gt;&lt;Text style={{ fontSize: 18, color: '#0E2340', fontWeight: 700, lineHeight: 1.2 }}&gt;11&lt;/Text&gt;&lt;Text style={{ fontSize: 13, color: '#7A8699', fontWeight: 400, lineHeight: 1.3 }}&gt;落地与边界&lt;/Text&gt;&lt;/Box&gt;&lt;Box style={{ width: 172, height: 64, borderRadius: 6, padding: '9px 12px', background: '#F5F7FA', flexDirection: 'column', justifyContent: 'center' }}&gt;&lt;Text style={{ fontSize: 18, color: '#0E2340', fontWeight: 700, lineHeight: 1.2 }}&gt;12&lt;/Text&gt;&lt;Text style={{ fontSize: 13, color: '#7A8699', fontWeight: 400, lineHeight: 1.3 }}&gt;自进化与扩展&lt;/Text&gt;&lt;/Box&gt;&lt;/Box&gt;&lt;Box style={{ flexDirection: 'row', gap: 10 }}&gt;&lt;Box style={{ width: 172, height: 64, borderRadius: 6, padding: '9px 12px', background: '#F5F7FA', flexDirection: 'column', justifyContent: 'center' }}&gt;&lt;Text style={{ fontSize: 18, color: '#0E2340', fontWeight: 700, lineHeight: 1.2 }}&gt;13&lt;/Text&gt;&lt;Text style={{ fontSize: 13, color: '#7A8699', fontWeight: 400, lineHeight: 1.3 }}&gt;收尾&lt;/Text&gt;&lt;/Box&gt;&lt;/Box&gt;&lt;/Box&gt;&lt;Box style={{ flexDirection: 'row', alignItems: 'center', gap: 10, background: '#F5F7FA', borderRadius: 6, padding: '10px 14px' }}&gt;&lt;Box style={{ width: 6, height: 22, background: '#00A9B5' }} /&gt;&lt;Text style={{ fontSize: 15, color: '#0E2340', fontWeight: 600, lineHeight: 1.4 }}&gt;当前位置：第 02 章 · 现状盘点&lt;/Text&gt;&lt;/Box&gt;&lt;Box style={{ flexDirection: 'row', gap: 10 }}&gt;&lt;Box style={{ flex: 1, flexDirection: 'row', alignItems: 'center', gap: 8, borderRadius: 6, padding: '9px 10px', background: '#F5F7FA' }}&gt;&lt;Box style={{ width: 10, height: 10, borderRadius: 5, background: '#1E9E62' }} /&gt;&lt;Text style={{ fontSize: 14, color: '#333A45', fontWeight: 600, lineHeight: 1.3 }}&gt;已实现&lt;/Text&gt;&lt;/Box&gt;&lt;Box style={{ flex: 1, flexDirection: 'row', alignItems: 'center', gap: 8, borderRadius: 6, padding: '9px 10px', background: '#F5F7FA' }}&gt;&lt;Box style={{ width: 10, height: 10, borderRadius: 5, background: '#E8A33D' }} /&gt;&lt;Text style={{ fontSize: 14, color: '#333A45', fontWeight: 600, lineHeight: 1.3 }}&gt;部分实现&lt;/Text&gt;&lt;/Box&gt;&lt;Box style={{ flex: 1, flexDirection: 'row', alignItems: 'center', gap: 8, borderRadius: 6, padding: '9px 10px', background: '#F5F7FA' }}&gt;&lt;Box style={{ width: 10, height: 10, borderRadius: 5, background: '#1E7BE0' }} /&gt;&lt;Text style={{ fontSize: 14, color: '#333A45', fontWeight: 600, lineHeight: 1.3 }}&gt;设计中&lt;/Text&gt;&lt;/Box&gt;&lt;Box style={{ flex: 1, flexDirection: 'row', alignItems: 'center', gap: 8, borderRadius: 6, padding: '9px 10px', background: '#F5F7FA' }}&gt;&lt;Box style={{ width: 10, height: 10, borderRadius: 5, background: '#98A2B3' }} /&gt;&lt;Text style={{ fontSize: 14, color: '#333A45', fontWeight: 600, lineHeight: 1.3 }}&gt;待研究&lt;/Text&gt;&lt;/Box&gt;&lt;/Box&gt;&lt;Box style={{ flexDirection: 'row', alignItems: 'center', gap: 12, borderTop: '1px solid #E3E8EF', paddingTop: 14 }}&gt;&lt;Box style={{ width: 46, height: 5, background: '#00A9B5' }} /&gt;&lt;Text style={{ fontSize: 15, color: '#7A8699', fontWeight: 600, lineHeight: 1.4 }}&gt;StudyAgent 项目设计汇报 · 技术评审版 · 共 124 页&lt;/Text&gt;&lt;/Box&gt;&lt;/Box&gt;&lt;/Box&gt;&lt;/Slide&gt;"/>
        <p:cNvGrpSpPr/>
        <p:nvPr/>
      </p:nvGrpSpPr>
      <p:grpSpPr>
        <a:xfrm>
          <a:off x="0" y="0"/>
          <a:ext cx="0" cy="0"/>
          <a:chOff x="0" y="0"/>
          <a:chExt cx="0" cy="0"/>
        </a:xfrm>
      </p:grpSpPr>
      <p:sp>
        <p:nvSpPr>
          <p:cNvPr id="375" name=""/>
          <p:cNvSpPr/>
          <p:nvPr/>
        </p:nvSpPr>
        <p:spPr>
          <a:xfrm rot="0" flipH="0" flipV="0">
            <a:off x="0" y="0"/>
            <a:ext cx="12192000" cy="6858000"/>
          </a:xfrm>
          <a:prstGeom prst="rect">
            <a:avLst/>
          </a:prstGeom>
          <a:solidFill>
            <a:srgbClr val="FFFFFF"/>
          </a:solidFill>
          <a:ln/>
        </p:spPr>
        <p:txBody>
          <a:bodyPr/>
          <a:p/>
        </p:txBody>
      </p:sp>
      <p:pic>
        <p:nvPicPr>
          <p:cNvPr id="376" name=""/>
          <p:cNvPicPr>
            <a:picLocks noChangeAspect="1"/>
          </p:cNvPicPr>
          <p:nvPr/>
        </p:nvPicPr>
        <p:blipFill>
          <a:blip>
            <a:extLst>
              <a:ext uri="{96DAC541-7B7A-43D3-8B79-37D633B846F1}">
                <asvg:svgBlip r:embed="rId1"/>
              </a:ext>
            </a:extLst>
          </a:blip>
          <a:stretch>
            <a:fillRect/>
          </a:stretch>
        </p:blipFill>
        <p:spPr>
          <a:xfrm rot="0" flipH="0" flipV="0">
            <a:off x="0" y="0"/>
            <a:ext cx="12192000" cy="6858000"/>
          </a:xfrm>
          <a:prstGeom prst="rect">
            <a:avLst/>
          </a:prstGeom>
          <a:ln/>
        </p:spPr>
      </p:pic>
      <p:sp>
        <p:nvSpPr>
          <p:cNvPr id="377" name="" descr="{&quot;isTemplate&quot;:true,&quot;type&quot;:&quot;text&quot;}"/>
          <p:cNvSpPr txBox="1"/>
          <p:nvPr/>
        </p:nvSpPr>
        <p:spPr>
          <a:xfrm rot="0" flipH="0" flipV="0">
            <a:off x="762000" y="457200"/>
            <a:ext cx="4953000" cy="247650"/>
          </a:xfrm>
          <a:prstGeom prst="rect"/>
        </p:spPr>
        <p:txBody>
          <a:bodyPr wrap="none" lIns="0" tIns="0" rIns="0" bIns="0"/>
          <a:p>
            <a:pPr>
              <a:lnSpc>
                <a:spcPct val="140000"/>
              </a:lnSpc>
            </a:pPr>
            <a:r>
              <a:rPr lang="en-US" sz="1125" b="1" spc="150">
                <a:solidFill>
                  <a:srgbClr val="1E7BE0"/>
                </a:solidFill>
                <a:latin typeface="Microsoft YaHei"/>
                <a:ea typeface="Microsoft YaHei"/>
              </a:rPr>
              <a:t>STUDYAGENT · DESIGN REVIEW</a:t>
            </a:r>
            <a:endParaRPr/>
          </a:p>
        </p:txBody>
      </p:sp>
      <p:sp>
        <p:nvSpPr>
          <p:cNvPr id="378" name="" descr="{&quot;isTemplate&quot;:true,&quot;type&quot;:&quot;text&quot;}"/>
          <p:cNvSpPr txBox="1"/>
          <p:nvPr/>
        </p:nvSpPr>
        <p:spPr>
          <a:xfrm rot="0" flipH="0" flipV="0">
            <a:off x="762000" y="1209675"/>
            <a:ext cx="4953000" cy="1143000"/>
          </a:xfrm>
          <a:prstGeom prst="rect"/>
        </p:spPr>
        <p:txBody>
          <a:bodyPr wrap="none" lIns="0" tIns="0" rIns="0" bIns="0"/>
          <a:p>
            <a:pPr>
              <a:lnSpc>
                <a:spcPct val="100000"/>
              </a:lnSpc>
            </a:pPr>
            <a:r>
              <a:rPr lang="en-US" sz="7500" b="1">
                <a:solidFill>
                  <a:srgbClr val="0E2340"/>
                </a:solidFill>
                <a:latin typeface="JetBrains Mono"/>
                <a:ea typeface="JetBrains Mono"/>
              </a:rPr>
              <a:t>02</a:t>
            </a:r>
            <a:endParaRPr/>
          </a:p>
        </p:txBody>
      </p:sp>
      <p:sp>
        <p:nvSpPr>
          <p:cNvPr id="379" name=""/>
          <p:cNvSpPr/>
          <p:nvPr/>
        </p:nvSpPr>
        <p:spPr>
          <a:xfrm rot="0" flipH="0" flipV="0">
            <a:off x="762000" y="2447925"/>
            <a:ext cx="742950" cy="47625"/>
          </a:xfrm>
          <a:prstGeom prst="rect">
            <a:avLst/>
          </a:prstGeom>
          <a:solidFill>
            <a:srgbClr val="1E7BE0"/>
          </a:solidFill>
          <a:ln/>
        </p:spPr>
        <p:txBody>
          <a:bodyPr/>
          <a:p/>
        </p:txBody>
      </p:sp>
      <p:sp>
        <p:nvSpPr>
          <p:cNvPr id="380" name="" descr="{&quot;isTemplate&quot;:true,&quot;type&quot;:&quot;text&quot;}"/>
          <p:cNvSpPr txBox="1"/>
          <p:nvPr/>
        </p:nvSpPr>
        <p:spPr>
          <a:xfrm rot="0" flipH="0" flipV="0">
            <a:off x="762000" y="2495550"/>
            <a:ext cx="4953000" cy="609600"/>
          </a:xfrm>
          <a:prstGeom prst="rect"/>
        </p:spPr>
        <p:txBody>
          <a:bodyPr wrap="none" lIns="0" tIns="0" rIns="0" bIns="0"/>
          <a:p>
            <a:pPr>
              <a:lnSpc>
                <a:spcPct val="120000"/>
              </a:lnSpc>
            </a:pPr>
            <a:r>
              <a:rPr lang="zh-CN" sz="3300" b="1">
                <a:solidFill>
                  <a:srgbClr val="0E2340"/>
                </a:solidFill>
                <a:latin typeface="Microsoft YaHei"/>
                <a:ea typeface="Microsoft YaHei"/>
              </a:rPr>
              <a:t>现状盘点</a:t>
            </a:r>
            <a:endParaRPr/>
          </a:p>
        </p:txBody>
      </p:sp>
      <p:sp>
        <p:nvSpPr>
          <p:cNvPr id="381" name=""/>
          <p:cNvSpPr/>
          <p:nvPr/>
        </p:nvSpPr>
        <p:spPr>
          <a:xfrm rot="0" flipH="0" flipV="0">
            <a:off x="800100" y="3600450"/>
            <a:ext cx="4953000" cy="600075"/>
          </a:xfrm>
          <a:prstGeom prst="roundRect">
            <a:avLst>
              <a:gd name="adj" fmla="val 9524"/>
            </a:avLst>
          </a:prstGeom>
          <a:solidFill>
            <a:srgbClr val="F5F7FA"/>
          </a:solidFill>
          <a:ln/>
        </p:spPr>
        <p:txBody>
          <a:bodyPr/>
          <a:p/>
        </p:txBody>
      </p:sp>
      <p:sp>
        <p:nvSpPr>
          <p:cNvPr id="382" name=""/>
          <p:cNvSpPr/>
          <p:nvPr/>
        </p:nvSpPr>
        <p:spPr>
          <a:xfrm rot="0" flipH="0" flipV="0">
            <a:off x="800100" y="360045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383" name="" descr="{&quot;isTemplate&quot;:true,&quot;type&quot;:&quot;text&quot;}"/>
          <p:cNvSpPr txBox="1"/>
          <p:nvPr/>
        </p:nvSpPr>
        <p:spPr>
          <a:xfrm rot="0" flipH="0" flipV="0">
            <a:off x="990600" y="3733800"/>
            <a:ext cx="3629025" cy="333375"/>
          </a:xfrm>
          <a:prstGeom prst="rect"/>
        </p:spPr>
        <p:txBody>
          <a:bodyPr wrap="none" lIns="0" tIns="0" rIns="0" bIns="0"/>
          <a:p>
            <a:pPr>
              <a:lnSpc>
                <a:spcPct val="150000"/>
              </a:lnSpc>
            </a:pPr>
            <a:r>
              <a:rPr lang="en-US" sz="1425" b="1">
                <a:solidFill>
                  <a:srgbClr val="0E2340"/>
                </a:solidFill>
                <a:latin typeface="Microsoft YaHei"/>
                <a:ea typeface="Microsoft YaHei"/>
              </a:rPr>
              <a:t xml:space="preserve">329 </a:t>
            </a:r>
            <a:r>
              <a:rPr lang="zh-CN" sz="1425" b="1">
                <a:solidFill>
                  <a:srgbClr val="0E2340"/>
                </a:solidFill>
                <a:latin typeface="Microsoft YaHei"/>
                <a:ea typeface="Microsoft YaHei"/>
              </a:rPr>
              <a:t>课时</a:t>
            </a:r>
            <a:r>
              <a:rPr lang="en-US" sz="1425" b="1">
                <a:solidFill>
                  <a:srgbClr val="0E2340"/>
                </a:solidFill>
                <a:latin typeface="Microsoft YaHei"/>
                <a:ea typeface="Microsoft YaHei"/>
              </a:rPr>
              <a:t xml:space="preserve"> · 541 </a:t>
            </a:r>
            <a:r>
              <a:rPr lang="zh-CN" sz="1425" b="1">
                <a:solidFill>
                  <a:srgbClr val="0E2340"/>
                </a:solidFill>
                <a:latin typeface="Microsoft YaHei"/>
                <a:ea typeface="Microsoft YaHei"/>
              </a:rPr>
              <a:t>知识点</a:t>
            </a:r>
            <a:r>
              <a:rPr lang="en-US" sz="1425" b="1">
                <a:solidFill>
                  <a:srgbClr val="0E2340"/>
                </a:solidFill>
                <a:latin typeface="Microsoft YaHei"/>
                <a:ea typeface="Microsoft YaHei"/>
              </a:rPr>
              <a:t xml:space="preserve"> · 359 </a:t>
            </a:r>
            <a:r>
              <a:rPr lang="zh-CN" sz="1425" b="1">
                <a:solidFill>
                  <a:srgbClr val="0E2340"/>
                </a:solidFill>
                <a:latin typeface="Microsoft YaHei"/>
                <a:ea typeface="Microsoft YaHei"/>
              </a:rPr>
              <a:t>步骤</a:t>
            </a:r>
            <a:r>
              <a:rPr lang="en-US" sz="1425" b="1">
                <a:solidFill>
                  <a:srgbClr val="0E2340"/>
                </a:solidFill>
                <a:latin typeface="Microsoft YaHei"/>
                <a:ea typeface="Microsoft YaHei"/>
              </a:rPr>
              <a:t xml:space="preserve"> · 1019 </a:t>
            </a:r>
            <a:r>
              <a:rPr lang="zh-CN" sz="1425" b="1">
                <a:solidFill>
                  <a:srgbClr val="0E2340"/>
                </a:solidFill>
                <a:latin typeface="Microsoft YaHei"/>
                <a:ea typeface="Microsoft YaHei"/>
              </a:rPr>
              <a:t>套路</a:t>
            </a:r>
            <a:endParaRPr/>
          </a:p>
        </p:txBody>
      </p:sp>
      <p:sp>
        <p:nvSpPr>
          <p:cNvPr id="384" name=""/>
          <p:cNvSpPr/>
          <p:nvPr/>
        </p:nvSpPr>
        <p:spPr>
          <a:xfrm rot="0" flipH="0" flipV="0">
            <a:off x="800100" y="4314825"/>
            <a:ext cx="4953000" cy="600075"/>
          </a:xfrm>
          <a:prstGeom prst="roundRect">
            <a:avLst>
              <a:gd name="adj" fmla="val 9524"/>
            </a:avLst>
          </a:prstGeom>
          <a:solidFill>
            <a:srgbClr val="F5F7FA"/>
          </a:solidFill>
          <a:ln/>
        </p:spPr>
        <p:txBody>
          <a:bodyPr/>
          <a:p/>
        </p:txBody>
      </p:sp>
      <p:sp>
        <p:nvSpPr>
          <p:cNvPr id="385" name=""/>
          <p:cNvSpPr/>
          <p:nvPr/>
        </p:nvSpPr>
        <p:spPr>
          <a:xfrm rot="0" flipH="0" flipV="0">
            <a:off x="800100" y="4314825"/>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386" name="" descr="{&quot;isTemplate&quot;:true,&quot;type&quot;:&quot;text&quot;}"/>
          <p:cNvSpPr txBox="1"/>
          <p:nvPr/>
        </p:nvSpPr>
        <p:spPr>
          <a:xfrm rot="0" flipH="0" flipV="0">
            <a:off x="990600" y="4448175"/>
            <a:ext cx="1628775" cy="333375"/>
          </a:xfrm>
          <a:prstGeom prst="rect"/>
        </p:spPr>
        <p:txBody>
          <a:bodyPr wrap="none" lIns="0" tIns="0" rIns="0" bIns="0"/>
          <a:p>
            <a:pPr>
              <a:lnSpc>
                <a:spcPct val="150000"/>
              </a:lnSpc>
            </a:pPr>
            <a:r>
              <a:rPr lang="zh-CN" sz="1425" b="1">
                <a:solidFill>
                  <a:srgbClr val="0E2340"/>
                </a:solidFill>
                <a:latin typeface="Microsoft YaHei"/>
                <a:ea typeface="Microsoft YaHei"/>
              </a:rPr>
              <a:t>三阶段流水线已跑通</a:t>
            </a:r>
            <a:endParaRPr/>
          </a:p>
        </p:txBody>
      </p:sp>
      <p:sp>
        <p:nvSpPr>
          <p:cNvPr id="387" name=""/>
          <p:cNvSpPr/>
          <p:nvPr/>
        </p:nvSpPr>
        <p:spPr>
          <a:xfrm rot="0" flipH="0" flipV="0">
            <a:off x="800100" y="5029200"/>
            <a:ext cx="4953000" cy="600075"/>
          </a:xfrm>
          <a:prstGeom prst="roundRect">
            <a:avLst>
              <a:gd name="adj" fmla="val 9524"/>
            </a:avLst>
          </a:prstGeom>
          <a:solidFill>
            <a:srgbClr val="F5F7FA"/>
          </a:solidFill>
          <a:ln/>
        </p:spPr>
        <p:txBody>
          <a:bodyPr/>
          <a:p/>
        </p:txBody>
      </p:sp>
      <p:sp>
        <p:nvSpPr>
          <p:cNvPr id="388" name=""/>
          <p:cNvSpPr/>
          <p:nvPr/>
        </p:nvSpPr>
        <p:spPr>
          <a:xfrm rot="0" flipH="0" flipV="0">
            <a:off x="800100" y="502920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389" name="" descr="{&quot;isTemplate&quot;:true,&quot;type&quot;:&quot;text&quot;}"/>
          <p:cNvSpPr txBox="1"/>
          <p:nvPr/>
        </p:nvSpPr>
        <p:spPr>
          <a:xfrm rot="0" flipH="0" flipV="0">
            <a:off x="990600" y="5162550"/>
            <a:ext cx="2524125" cy="333375"/>
          </a:xfrm>
          <a:prstGeom prst="rect"/>
        </p:spPr>
        <p:txBody>
          <a:bodyPr wrap="none" lIns="0" tIns="0" rIns="0" bIns="0"/>
          <a:p>
            <a:pPr>
              <a:lnSpc>
                <a:spcPct val="150000"/>
              </a:lnSpc>
            </a:pPr>
            <a:r>
              <a:rPr lang="zh-CN" sz="1425" b="1">
                <a:solidFill>
                  <a:srgbClr val="0E2340"/>
                </a:solidFill>
                <a:latin typeface="Microsoft YaHei"/>
                <a:ea typeface="Microsoft YaHei"/>
              </a:rPr>
              <a:t>已实现</a:t>
            </a:r>
            <a:r>
              <a:rPr lang="en-US" sz="1425" b="1">
                <a:solidFill>
                  <a:srgbClr val="0E2340"/>
                </a:solidFill>
                <a:latin typeface="Microsoft YaHei"/>
                <a:ea typeface="Microsoft YaHei"/>
              </a:rPr>
              <a:t xml:space="preserve"> / </a:t>
            </a:r>
            <a:r>
              <a:rPr lang="zh-CN" sz="1425" b="1">
                <a:solidFill>
                  <a:srgbClr val="0E2340"/>
                </a:solidFill>
                <a:latin typeface="Microsoft YaHei"/>
                <a:ea typeface="Microsoft YaHei"/>
              </a:rPr>
              <a:t>待补齐</a:t>
            </a:r>
            <a:r>
              <a:rPr lang="en-US" sz="1425" b="1">
                <a:solidFill>
                  <a:srgbClr val="0E2340"/>
                </a:solidFill>
                <a:latin typeface="Microsoft YaHei"/>
                <a:ea typeface="Microsoft YaHei"/>
              </a:rPr>
              <a:t xml:space="preserve"> / </a:t>
            </a:r>
            <a:r>
              <a:rPr lang="zh-CN" sz="1425" b="1">
                <a:solidFill>
                  <a:srgbClr val="0E2340"/>
                </a:solidFill>
                <a:latin typeface="Microsoft YaHei"/>
                <a:ea typeface="Microsoft YaHei"/>
              </a:rPr>
              <a:t>待验证</a:t>
            </a:r>
            <a:r>
              <a:rPr lang="en-US" sz="1425" b="1">
                <a:solidFill>
                  <a:srgbClr val="0E2340"/>
                </a:solidFill>
                <a:latin typeface="Microsoft YaHei"/>
                <a:ea typeface="Microsoft YaHei"/>
              </a:rPr>
              <a:t xml:space="preserve"> </a:t>
            </a:r>
            <a:r>
              <a:rPr lang="zh-CN" sz="1425" b="1">
                <a:solidFill>
                  <a:srgbClr val="0E2340"/>
                </a:solidFill>
                <a:latin typeface="Microsoft YaHei"/>
                <a:ea typeface="Microsoft YaHei"/>
              </a:rPr>
              <a:t>八方面</a:t>
            </a:r>
            <a:endParaRPr/>
          </a:p>
        </p:txBody>
      </p:sp>
      <p:sp>
        <p:nvSpPr>
          <p:cNvPr id="390" name="" descr="{&quot;isTemplate&quot;:true,&quot;type&quot;:&quot;text&quot;}"/>
          <p:cNvSpPr txBox="1"/>
          <p:nvPr/>
        </p:nvSpPr>
        <p:spPr>
          <a:xfrm rot="0" flipH="0" flipV="0">
            <a:off x="762000" y="6134100"/>
            <a:ext cx="4953000" cy="228600"/>
          </a:xfrm>
          <a:prstGeom prst="rect"/>
        </p:spPr>
        <p:txBody>
          <a:bodyPr wrap="none" lIns="0" tIns="0" rIns="0" bIns="0"/>
          <a:p>
            <a:pPr>
              <a:lnSpc>
                <a:spcPct val="150000"/>
              </a:lnSpc>
            </a:pPr>
            <a:r>
              <a:rPr lang="zh-CN" sz="975">
                <a:solidFill>
                  <a:srgbClr val="7A8699"/>
                </a:solidFill>
                <a:latin typeface="Microsoft YaHei"/>
                <a:ea typeface="Microsoft YaHei"/>
              </a:rPr>
              <a:t>来源：当前实现能力与名词数量</a:t>
            </a:r>
            <a:r>
              <a:rPr lang="en-US" sz="975">
                <a:solidFill>
                  <a:srgbClr val="7A8699"/>
                </a:solidFill>
                <a:latin typeface="Microsoft YaHei"/>
                <a:ea typeface="Microsoft YaHei"/>
              </a:rPr>
              <a:t>.md</a:t>
            </a:r>
            <a:r>
              <a:rPr lang="zh-CN" sz="975">
                <a:solidFill>
                  <a:srgbClr val="7A8699"/>
                </a:solidFill>
                <a:latin typeface="Microsoft YaHei"/>
                <a:ea typeface="Microsoft YaHei"/>
              </a:rPr>
              <a:t>（代码与数据核对日</a:t>
            </a:r>
            <a:r>
              <a:rPr lang="en-US" sz="975">
                <a:solidFill>
                  <a:srgbClr val="7A8699"/>
                </a:solidFill>
                <a:latin typeface="Microsoft YaHei"/>
                <a:ea typeface="Microsoft YaHei"/>
              </a:rPr>
              <a:t xml:space="preserve"> 2026-10-24</a:t>
            </a:r>
            <a:r>
              <a:rPr lang="zh-CN" sz="975">
                <a:solidFill>
                  <a:srgbClr val="7A8699"/>
                </a:solidFill>
                <a:latin typeface="Microsoft YaHei"/>
                <a:ea typeface="Microsoft YaHei"/>
              </a:rPr>
              <a:t>）</a:t>
            </a:r>
            <a:endParaRPr/>
          </a:p>
        </p:txBody>
      </p:sp>
      <p:sp>
        <p:nvSpPr>
          <p:cNvPr id="391" name="" descr="{&quot;isTemplate&quot;:true,&quot;type&quot;:&quot;text&quot;}"/>
          <p:cNvSpPr txBox="1"/>
          <p:nvPr/>
        </p:nvSpPr>
        <p:spPr>
          <a:xfrm rot="0" flipH="0" flipV="0">
            <a:off x="6134100" y="457200"/>
            <a:ext cx="5295900" cy="323850"/>
          </a:xfrm>
          <a:prstGeom prst="rect"/>
        </p:spPr>
        <p:txBody>
          <a:bodyPr wrap="none" lIns="0" tIns="0" rIns="0" bIns="0"/>
          <a:p>
            <a:pPr>
              <a:lnSpc>
                <a:spcPct val="140000"/>
              </a:lnSpc>
            </a:pPr>
            <a:r>
              <a:rPr lang="zh-CN" sz="1500" b="1">
                <a:solidFill>
                  <a:srgbClr val="0E2340"/>
                </a:solidFill>
                <a:latin typeface="Microsoft YaHei"/>
                <a:ea typeface="Microsoft YaHei"/>
              </a:rPr>
              <a:t>汇报结构</a:t>
            </a:r>
            <a:r>
              <a:rPr lang="en-US" sz="1500" b="1">
                <a:solidFill>
                  <a:srgbClr val="0E2340"/>
                </a:solidFill>
                <a:latin typeface="Microsoft YaHei"/>
                <a:ea typeface="Microsoft YaHei"/>
              </a:rPr>
              <a:t xml:space="preserve"> · 13 </a:t>
            </a:r>
            <a:r>
              <a:rPr lang="zh-CN" sz="1500" b="1">
                <a:solidFill>
                  <a:srgbClr val="0E2340"/>
                </a:solidFill>
                <a:latin typeface="Microsoft YaHei"/>
                <a:ea typeface="Microsoft YaHei"/>
              </a:rPr>
              <a:t>章</a:t>
            </a:r>
            <a:endParaRPr/>
          </a:p>
        </p:txBody>
      </p:sp>
      <p:sp>
        <p:nvSpPr>
          <p:cNvPr id="392" name=""/>
          <p:cNvSpPr/>
          <p:nvPr/>
        </p:nvSpPr>
        <p:spPr>
          <a:xfrm rot="0" flipH="0" flipV="0">
            <a:off x="6134100" y="1019175"/>
            <a:ext cx="1638300" cy="609600"/>
          </a:xfrm>
          <a:prstGeom prst="roundRect">
            <a:avLst>
              <a:gd name="adj" fmla="val 9375"/>
            </a:avLst>
          </a:prstGeom>
          <a:solidFill>
            <a:srgbClr val="F5F7FA"/>
          </a:solidFill>
          <a:ln/>
        </p:spPr>
        <p:txBody>
          <a:bodyPr/>
          <a:p/>
        </p:txBody>
      </p:sp>
      <p:sp>
        <p:nvSpPr>
          <p:cNvPr id="393" name="" descr="{&quot;isTemplate&quot;:true,&quot;type&quot;:&quot;text&quot;}"/>
          <p:cNvSpPr txBox="1"/>
          <p:nvPr/>
        </p:nvSpPr>
        <p:spPr>
          <a:xfrm rot="0" flipH="0" flipV="0">
            <a:off x="62484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01</a:t>
            </a:r>
            <a:endParaRPr/>
          </a:p>
        </p:txBody>
      </p:sp>
      <p:sp>
        <p:nvSpPr>
          <p:cNvPr id="394" name="" descr="{&quot;isTemplate&quot;:true,&quot;type&quot;:&quot;text&quot;}"/>
          <p:cNvSpPr txBox="1"/>
          <p:nvPr/>
        </p:nvSpPr>
        <p:spPr>
          <a:xfrm rot="0" flipH="0" flipV="0">
            <a:off x="62484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概念地基</a:t>
            </a:r>
            <a:endParaRPr/>
          </a:p>
        </p:txBody>
      </p:sp>
      <p:sp>
        <p:nvSpPr>
          <p:cNvPr id="395" name=""/>
          <p:cNvSpPr/>
          <p:nvPr/>
        </p:nvSpPr>
        <p:spPr>
          <a:xfrm rot="0" flipH="0" flipV="0">
            <a:off x="7867650" y="1019175"/>
            <a:ext cx="1638300" cy="609600"/>
          </a:xfrm>
          <a:prstGeom prst="roundRect">
            <a:avLst>
              <a:gd name="adj" fmla="val 9375"/>
            </a:avLst>
          </a:prstGeom>
          <a:solidFill>
            <a:srgbClr val="0E2340"/>
          </a:solidFill>
          <a:ln/>
        </p:spPr>
        <p:txBody>
          <a:bodyPr/>
          <a:p/>
        </p:txBody>
      </p:sp>
      <p:sp>
        <p:nvSpPr>
          <p:cNvPr id="396" name="" descr="{&quot;isTemplate&quot;:true,&quot;type&quot;:&quot;text&quot;}"/>
          <p:cNvSpPr txBox="1"/>
          <p:nvPr/>
        </p:nvSpPr>
        <p:spPr>
          <a:xfrm rot="0" flipH="0" flipV="0">
            <a:off x="7981950" y="1104900"/>
            <a:ext cx="1409700" cy="247650"/>
          </a:xfrm>
          <a:prstGeom prst="rect"/>
        </p:spPr>
        <p:txBody>
          <a:bodyPr wrap="none" lIns="0" tIns="0" rIns="0" bIns="0"/>
          <a:p>
            <a:pPr>
              <a:lnSpc>
                <a:spcPct val="120000"/>
              </a:lnSpc>
            </a:pPr>
            <a:r>
              <a:rPr lang="en-US" sz="1350" b="1">
                <a:solidFill>
                  <a:srgbClr val="FFFFFF"/>
                </a:solidFill>
                <a:latin typeface="Microsoft YaHei"/>
                <a:ea typeface="Microsoft YaHei"/>
              </a:rPr>
              <a:t>02</a:t>
            </a:r>
            <a:endParaRPr/>
          </a:p>
        </p:txBody>
      </p:sp>
      <p:sp>
        <p:nvSpPr>
          <p:cNvPr id="397" name="" descr="{&quot;isTemplate&quot;:true,&quot;type&quot;:&quot;text&quot;}"/>
          <p:cNvSpPr txBox="1"/>
          <p:nvPr/>
        </p:nvSpPr>
        <p:spPr>
          <a:xfrm rot="0" flipH="0" flipV="0">
            <a:off x="7981950" y="1352550"/>
            <a:ext cx="1409700" cy="200025"/>
          </a:xfrm>
          <a:prstGeom prst="rect"/>
        </p:spPr>
        <p:txBody>
          <a:bodyPr wrap="none" lIns="0" tIns="0" rIns="0" bIns="0"/>
          <a:p>
            <a:pPr>
              <a:lnSpc>
                <a:spcPct val="130000"/>
              </a:lnSpc>
            </a:pPr>
            <a:r>
              <a:rPr lang="zh-CN" sz="975">
                <a:solidFill>
                  <a:srgbClr val="C8DCF2"/>
                </a:solidFill>
                <a:latin typeface="Microsoft YaHei"/>
                <a:ea typeface="Microsoft YaHei"/>
              </a:rPr>
              <a:t>现状盘点</a:t>
            </a:r>
            <a:endParaRPr/>
          </a:p>
        </p:txBody>
      </p:sp>
      <p:sp>
        <p:nvSpPr>
          <p:cNvPr id="398" name=""/>
          <p:cNvSpPr/>
          <p:nvPr/>
        </p:nvSpPr>
        <p:spPr>
          <a:xfrm rot="0" flipH="0" flipV="0">
            <a:off x="9601200" y="1019175"/>
            <a:ext cx="1638300" cy="609600"/>
          </a:xfrm>
          <a:prstGeom prst="roundRect">
            <a:avLst>
              <a:gd name="adj" fmla="val 9375"/>
            </a:avLst>
          </a:prstGeom>
          <a:solidFill>
            <a:srgbClr val="F5F7FA"/>
          </a:solidFill>
          <a:ln/>
        </p:spPr>
        <p:txBody>
          <a:bodyPr/>
          <a:p/>
        </p:txBody>
      </p:sp>
      <p:sp>
        <p:nvSpPr>
          <p:cNvPr id="399" name="" descr="{&quot;isTemplate&quot;:true,&quot;type&quot;:&quot;text&quot;}"/>
          <p:cNvSpPr txBox="1"/>
          <p:nvPr/>
        </p:nvSpPr>
        <p:spPr>
          <a:xfrm rot="0" flipH="0" flipV="0">
            <a:off x="97155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03</a:t>
            </a:r>
            <a:endParaRPr/>
          </a:p>
        </p:txBody>
      </p:sp>
      <p:sp>
        <p:nvSpPr>
          <p:cNvPr id="400" name="" descr="{&quot;isTemplate&quot;:true,&quot;type&quot;:&quot;text&quot;}"/>
          <p:cNvSpPr txBox="1"/>
          <p:nvPr/>
        </p:nvSpPr>
        <p:spPr>
          <a:xfrm rot="0" flipH="0" flipV="0">
            <a:off x="97155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单题引擎</a:t>
            </a:r>
            <a:endParaRPr/>
          </a:p>
        </p:txBody>
      </p:sp>
      <p:sp>
        <p:nvSpPr>
          <p:cNvPr id="401" name=""/>
          <p:cNvSpPr/>
          <p:nvPr/>
        </p:nvSpPr>
        <p:spPr>
          <a:xfrm rot="0" flipH="0" flipV="0">
            <a:off x="6134100" y="1724025"/>
            <a:ext cx="1638300" cy="609600"/>
          </a:xfrm>
          <a:prstGeom prst="roundRect">
            <a:avLst>
              <a:gd name="adj" fmla="val 9375"/>
            </a:avLst>
          </a:prstGeom>
          <a:solidFill>
            <a:srgbClr val="F5F7FA"/>
          </a:solidFill>
          <a:ln/>
        </p:spPr>
        <p:txBody>
          <a:bodyPr/>
          <a:p/>
        </p:txBody>
      </p:sp>
      <p:sp>
        <p:nvSpPr>
          <p:cNvPr id="402" name="" descr="{&quot;isTemplate&quot;:true,&quot;type&quot;:&quot;text&quot;}"/>
          <p:cNvSpPr txBox="1"/>
          <p:nvPr/>
        </p:nvSpPr>
        <p:spPr>
          <a:xfrm rot="0" flipH="0" flipV="0">
            <a:off x="62484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04</a:t>
            </a:r>
            <a:endParaRPr/>
          </a:p>
        </p:txBody>
      </p:sp>
      <p:sp>
        <p:nvSpPr>
          <p:cNvPr id="403" name="" descr="{&quot;isTemplate&quot;:true,&quot;type&quot;:&quot;text&quot;}"/>
          <p:cNvSpPr txBox="1"/>
          <p:nvPr/>
        </p:nvSpPr>
        <p:spPr>
          <a:xfrm rot="0" flipH="0" flipV="0">
            <a:off x="62484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套路层面</a:t>
            </a:r>
            <a:endParaRPr/>
          </a:p>
        </p:txBody>
      </p:sp>
      <p:sp>
        <p:nvSpPr>
          <p:cNvPr id="404" name=""/>
          <p:cNvSpPr/>
          <p:nvPr/>
        </p:nvSpPr>
        <p:spPr>
          <a:xfrm rot="0" flipH="0" flipV="0">
            <a:off x="7867650" y="1724025"/>
            <a:ext cx="1638300" cy="609600"/>
          </a:xfrm>
          <a:prstGeom prst="roundRect">
            <a:avLst>
              <a:gd name="adj" fmla="val 9375"/>
            </a:avLst>
          </a:prstGeom>
          <a:solidFill>
            <a:srgbClr val="F5F7FA"/>
          </a:solidFill>
          <a:ln/>
        </p:spPr>
        <p:txBody>
          <a:bodyPr/>
          <a:p/>
        </p:txBody>
      </p:sp>
      <p:sp>
        <p:nvSpPr>
          <p:cNvPr id="405" name="" descr="{&quot;isTemplate&quot;:true,&quot;type&quot;:&quot;text&quot;}"/>
          <p:cNvSpPr txBox="1"/>
          <p:nvPr/>
        </p:nvSpPr>
        <p:spPr>
          <a:xfrm rot="0" flipH="0" flipV="0">
            <a:off x="798195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05</a:t>
            </a:r>
            <a:endParaRPr/>
          </a:p>
        </p:txBody>
      </p:sp>
      <p:sp>
        <p:nvSpPr>
          <p:cNvPr id="406" name="" descr="{&quot;isTemplate&quot;:true,&quot;type&quot;:&quot;text&quot;}"/>
          <p:cNvSpPr txBox="1"/>
          <p:nvPr/>
        </p:nvSpPr>
        <p:spPr>
          <a:xfrm rot="0" flipH="0" flipV="0">
            <a:off x="798195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教师端</a:t>
            </a:r>
            <a:endParaRPr/>
          </a:p>
        </p:txBody>
      </p:sp>
      <p:sp>
        <p:nvSpPr>
          <p:cNvPr id="407" name=""/>
          <p:cNvSpPr/>
          <p:nvPr/>
        </p:nvSpPr>
        <p:spPr>
          <a:xfrm rot="0" flipH="0" flipV="0">
            <a:off x="9601200" y="1724025"/>
            <a:ext cx="1638300" cy="609600"/>
          </a:xfrm>
          <a:prstGeom prst="roundRect">
            <a:avLst>
              <a:gd name="adj" fmla="val 9375"/>
            </a:avLst>
          </a:prstGeom>
          <a:solidFill>
            <a:srgbClr val="F5F7FA"/>
          </a:solidFill>
          <a:ln/>
        </p:spPr>
        <p:txBody>
          <a:bodyPr/>
          <a:p/>
        </p:txBody>
      </p:sp>
      <p:sp>
        <p:nvSpPr>
          <p:cNvPr id="408" name="" descr="{&quot;isTemplate&quot;:true,&quot;type&quot;:&quot;text&quot;}"/>
          <p:cNvSpPr txBox="1"/>
          <p:nvPr/>
        </p:nvSpPr>
        <p:spPr>
          <a:xfrm rot="0" flipH="0" flipV="0">
            <a:off x="97155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06</a:t>
            </a:r>
            <a:endParaRPr/>
          </a:p>
        </p:txBody>
      </p:sp>
      <p:sp>
        <p:nvSpPr>
          <p:cNvPr id="409" name="" descr="{&quot;isTemplate&quot;:true,&quot;type&quot;:&quot;text&quot;}"/>
          <p:cNvSpPr txBox="1"/>
          <p:nvPr/>
        </p:nvSpPr>
        <p:spPr>
          <a:xfrm rot="0" flipH="0" flipV="0">
            <a:off x="97155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学校端</a:t>
            </a:r>
            <a:endParaRPr/>
          </a:p>
        </p:txBody>
      </p:sp>
      <p:sp>
        <p:nvSpPr>
          <p:cNvPr id="410" name=""/>
          <p:cNvSpPr/>
          <p:nvPr/>
        </p:nvSpPr>
        <p:spPr>
          <a:xfrm rot="0" flipH="0" flipV="0">
            <a:off x="6134100" y="2428875"/>
            <a:ext cx="1638300" cy="609600"/>
          </a:xfrm>
          <a:prstGeom prst="roundRect">
            <a:avLst>
              <a:gd name="adj" fmla="val 9375"/>
            </a:avLst>
          </a:prstGeom>
          <a:solidFill>
            <a:srgbClr val="F5F7FA"/>
          </a:solidFill>
          <a:ln/>
        </p:spPr>
        <p:txBody>
          <a:bodyPr/>
          <a:p/>
        </p:txBody>
      </p:sp>
      <p:sp>
        <p:nvSpPr>
          <p:cNvPr id="411" name="" descr="{&quot;isTemplate&quot;:true,&quot;type&quot;:&quot;text&quot;}"/>
          <p:cNvSpPr txBox="1"/>
          <p:nvPr/>
        </p:nvSpPr>
        <p:spPr>
          <a:xfrm rot="0" flipH="0" flipV="0">
            <a:off x="62484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07</a:t>
            </a:r>
            <a:endParaRPr/>
          </a:p>
        </p:txBody>
      </p:sp>
      <p:sp>
        <p:nvSpPr>
          <p:cNvPr id="412" name="" descr="{&quot;isTemplate&quot;:true,&quot;type&quot;:&quot;text&quot;}"/>
          <p:cNvSpPr txBox="1"/>
          <p:nvPr/>
        </p:nvSpPr>
        <p:spPr>
          <a:xfrm rot="0" flipH="0" flipV="0">
            <a:off x="624840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试卷与生涯</a:t>
            </a:r>
            <a:endParaRPr/>
          </a:p>
        </p:txBody>
      </p:sp>
      <p:sp>
        <p:nvSpPr>
          <p:cNvPr id="413" name=""/>
          <p:cNvSpPr/>
          <p:nvPr/>
        </p:nvSpPr>
        <p:spPr>
          <a:xfrm rot="0" flipH="0" flipV="0">
            <a:off x="7867650" y="2428875"/>
            <a:ext cx="1638300" cy="609600"/>
          </a:xfrm>
          <a:prstGeom prst="roundRect">
            <a:avLst>
              <a:gd name="adj" fmla="val 9375"/>
            </a:avLst>
          </a:prstGeom>
          <a:solidFill>
            <a:srgbClr val="F5F7FA"/>
          </a:solidFill>
          <a:ln/>
        </p:spPr>
        <p:txBody>
          <a:bodyPr/>
          <a:p/>
        </p:txBody>
      </p:sp>
      <p:sp>
        <p:nvSpPr>
          <p:cNvPr id="414" name="" descr="{&quot;isTemplate&quot;:true,&quot;type&quot;:&quot;text&quot;}"/>
          <p:cNvSpPr txBox="1"/>
          <p:nvPr/>
        </p:nvSpPr>
        <p:spPr>
          <a:xfrm rot="0" flipH="0" flipV="0">
            <a:off x="798195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08</a:t>
            </a:r>
            <a:endParaRPr/>
          </a:p>
        </p:txBody>
      </p:sp>
      <p:sp>
        <p:nvSpPr>
          <p:cNvPr id="415" name="" descr="{&quot;isTemplate&quot;:true,&quot;type&quot;:&quot;text&quot;}"/>
          <p:cNvSpPr txBox="1"/>
          <p:nvPr/>
        </p:nvSpPr>
        <p:spPr>
          <a:xfrm rot="0" flipH="0" flipV="0">
            <a:off x="798195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协同</a:t>
            </a:r>
            <a:r>
              <a:rPr lang="en-US" sz="975">
                <a:solidFill>
                  <a:srgbClr val="7A8699"/>
                </a:solidFill>
                <a:latin typeface="Microsoft YaHei"/>
                <a:ea typeface="Microsoft YaHei"/>
              </a:rPr>
              <a:t xml:space="preserve"> Agent</a:t>
            </a:r>
            <a:endParaRPr/>
          </a:p>
        </p:txBody>
      </p:sp>
      <p:sp>
        <p:nvSpPr>
          <p:cNvPr id="416" name=""/>
          <p:cNvSpPr/>
          <p:nvPr/>
        </p:nvSpPr>
        <p:spPr>
          <a:xfrm rot="0" flipH="0" flipV="0">
            <a:off x="9601200" y="2428875"/>
            <a:ext cx="1638300" cy="609600"/>
          </a:xfrm>
          <a:prstGeom prst="roundRect">
            <a:avLst>
              <a:gd name="adj" fmla="val 9375"/>
            </a:avLst>
          </a:prstGeom>
          <a:solidFill>
            <a:srgbClr val="F5F7FA"/>
          </a:solidFill>
          <a:ln/>
        </p:spPr>
        <p:txBody>
          <a:bodyPr/>
          <a:p/>
        </p:txBody>
      </p:sp>
      <p:sp>
        <p:nvSpPr>
          <p:cNvPr id="417" name="" descr="{&quot;isTemplate&quot;:true,&quot;type&quot;:&quot;text&quot;}"/>
          <p:cNvSpPr txBox="1"/>
          <p:nvPr/>
        </p:nvSpPr>
        <p:spPr>
          <a:xfrm rot="0" flipH="0" flipV="0">
            <a:off x="97155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09</a:t>
            </a:r>
            <a:endParaRPr/>
          </a:p>
        </p:txBody>
      </p:sp>
      <p:sp>
        <p:nvSpPr>
          <p:cNvPr id="418" name="" descr="{&quot;isTemplate&quot;:true,&quot;type&quot;:&quot;text&quot;}"/>
          <p:cNvSpPr txBox="1"/>
          <p:nvPr/>
        </p:nvSpPr>
        <p:spPr>
          <a:xfrm rot="0" flipH="0" flipV="0">
            <a:off x="9715500" y="2762250"/>
            <a:ext cx="1409700" cy="200025"/>
          </a:xfrm>
          <a:prstGeom prst="rect"/>
        </p:spPr>
        <p:txBody>
          <a:bodyPr wrap="none" lIns="0" tIns="0" rIns="0" bIns="0"/>
          <a:p>
            <a:pPr>
              <a:lnSpc>
                <a:spcPct val="130000"/>
              </a:lnSpc>
            </a:pPr>
            <a:r>
              <a:rPr lang="en-US" sz="975">
                <a:solidFill>
                  <a:srgbClr val="7A8699"/>
                </a:solidFill>
                <a:latin typeface="Microsoft YaHei"/>
                <a:ea typeface="Microsoft YaHei"/>
              </a:rPr>
              <a:t xml:space="preserve">MCP </a:t>
            </a:r>
            <a:r>
              <a:rPr lang="zh-CN" sz="975">
                <a:solidFill>
                  <a:srgbClr val="7A8699"/>
                </a:solidFill>
                <a:latin typeface="Microsoft YaHei"/>
                <a:ea typeface="Microsoft YaHei"/>
              </a:rPr>
              <a:t>接入</a:t>
            </a:r>
            <a:endParaRPr/>
          </a:p>
        </p:txBody>
      </p:sp>
      <p:sp>
        <p:nvSpPr>
          <p:cNvPr id="419" name=""/>
          <p:cNvSpPr/>
          <p:nvPr/>
        </p:nvSpPr>
        <p:spPr>
          <a:xfrm rot="0" flipH="0" flipV="0">
            <a:off x="6134100" y="3133725"/>
            <a:ext cx="1638300" cy="609600"/>
          </a:xfrm>
          <a:prstGeom prst="roundRect">
            <a:avLst>
              <a:gd name="adj" fmla="val 9375"/>
            </a:avLst>
          </a:prstGeom>
          <a:solidFill>
            <a:srgbClr val="F5F7FA"/>
          </a:solidFill>
          <a:ln/>
        </p:spPr>
        <p:txBody>
          <a:bodyPr/>
          <a:p/>
        </p:txBody>
      </p:sp>
      <p:sp>
        <p:nvSpPr>
          <p:cNvPr id="420" name="" descr="{&quot;isTemplate&quot;:true,&quot;type&quot;:&quot;text&quot;}"/>
          <p:cNvSpPr txBox="1"/>
          <p:nvPr/>
        </p:nvSpPr>
        <p:spPr>
          <a:xfrm rot="0" flipH="0" flipV="0">
            <a:off x="62484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10</a:t>
            </a:r>
            <a:endParaRPr/>
          </a:p>
        </p:txBody>
      </p:sp>
      <p:sp>
        <p:nvSpPr>
          <p:cNvPr id="421" name="" descr="{&quot;isTemplate&quot;:true,&quot;type&quot;:&quot;text&quot;}"/>
          <p:cNvSpPr txBox="1"/>
          <p:nvPr/>
        </p:nvSpPr>
        <p:spPr>
          <a:xfrm rot="0" flipH="0" flipV="0">
            <a:off x="62484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待深化研究</a:t>
            </a:r>
            <a:endParaRPr/>
          </a:p>
        </p:txBody>
      </p:sp>
      <p:sp>
        <p:nvSpPr>
          <p:cNvPr id="422" name=""/>
          <p:cNvSpPr/>
          <p:nvPr/>
        </p:nvSpPr>
        <p:spPr>
          <a:xfrm rot="0" flipH="0" flipV="0">
            <a:off x="7867650" y="3133725"/>
            <a:ext cx="1638300" cy="609600"/>
          </a:xfrm>
          <a:prstGeom prst="roundRect">
            <a:avLst>
              <a:gd name="adj" fmla="val 9375"/>
            </a:avLst>
          </a:prstGeom>
          <a:solidFill>
            <a:srgbClr val="F5F7FA"/>
          </a:solidFill>
          <a:ln/>
        </p:spPr>
        <p:txBody>
          <a:bodyPr/>
          <a:p/>
        </p:txBody>
      </p:sp>
      <p:sp>
        <p:nvSpPr>
          <p:cNvPr id="423" name="" descr="{&quot;isTemplate&quot;:true,&quot;type&quot;:&quot;text&quot;}"/>
          <p:cNvSpPr txBox="1"/>
          <p:nvPr/>
        </p:nvSpPr>
        <p:spPr>
          <a:xfrm rot="0" flipH="0" flipV="0">
            <a:off x="798195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11</a:t>
            </a:r>
            <a:endParaRPr/>
          </a:p>
        </p:txBody>
      </p:sp>
      <p:sp>
        <p:nvSpPr>
          <p:cNvPr id="424" name="" descr="{&quot;isTemplate&quot;:true,&quot;type&quot;:&quot;text&quot;}"/>
          <p:cNvSpPr txBox="1"/>
          <p:nvPr/>
        </p:nvSpPr>
        <p:spPr>
          <a:xfrm rot="0" flipH="0" flipV="0">
            <a:off x="798195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落地与边界</a:t>
            </a:r>
            <a:endParaRPr/>
          </a:p>
        </p:txBody>
      </p:sp>
      <p:sp>
        <p:nvSpPr>
          <p:cNvPr id="425" name=""/>
          <p:cNvSpPr/>
          <p:nvPr/>
        </p:nvSpPr>
        <p:spPr>
          <a:xfrm rot="0" flipH="0" flipV="0">
            <a:off x="9601200" y="3133725"/>
            <a:ext cx="1638300" cy="609600"/>
          </a:xfrm>
          <a:prstGeom prst="roundRect">
            <a:avLst>
              <a:gd name="adj" fmla="val 9375"/>
            </a:avLst>
          </a:prstGeom>
          <a:solidFill>
            <a:srgbClr val="F5F7FA"/>
          </a:solidFill>
          <a:ln/>
        </p:spPr>
        <p:txBody>
          <a:bodyPr/>
          <a:p/>
        </p:txBody>
      </p:sp>
      <p:sp>
        <p:nvSpPr>
          <p:cNvPr id="426" name="" descr="{&quot;isTemplate&quot;:true,&quot;type&quot;:&quot;text&quot;}"/>
          <p:cNvSpPr txBox="1"/>
          <p:nvPr/>
        </p:nvSpPr>
        <p:spPr>
          <a:xfrm rot="0" flipH="0" flipV="0">
            <a:off x="97155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12</a:t>
            </a:r>
            <a:endParaRPr/>
          </a:p>
        </p:txBody>
      </p:sp>
      <p:sp>
        <p:nvSpPr>
          <p:cNvPr id="427" name="" descr="{&quot;isTemplate&quot;:true,&quot;type&quot;:&quot;text&quot;}"/>
          <p:cNvSpPr txBox="1"/>
          <p:nvPr/>
        </p:nvSpPr>
        <p:spPr>
          <a:xfrm rot="0" flipH="0" flipV="0">
            <a:off x="97155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自进化与扩展</a:t>
            </a:r>
            <a:endParaRPr/>
          </a:p>
        </p:txBody>
      </p:sp>
      <p:sp>
        <p:nvSpPr>
          <p:cNvPr id="428" name=""/>
          <p:cNvSpPr/>
          <p:nvPr/>
        </p:nvSpPr>
        <p:spPr>
          <a:xfrm rot="0" flipH="0" flipV="0">
            <a:off x="6134100" y="3838575"/>
            <a:ext cx="1638300" cy="609600"/>
          </a:xfrm>
          <a:prstGeom prst="roundRect">
            <a:avLst>
              <a:gd name="adj" fmla="val 9375"/>
            </a:avLst>
          </a:prstGeom>
          <a:solidFill>
            <a:srgbClr val="F5F7FA"/>
          </a:solidFill>
          <a:ln/>
        </p:spPr>
        <p:txBody>
          <a:bodyPr/>
          <a:p/>
        </p:txBody>
      </p:sp>
      <p:sp>
        <p:nvSpPr>
          <p:cNvPr id="429" name="" descr="{&quot;isTemplate&quot;:true,&quot;type&quot;:&quot;text&quot;}"/>
          <p:cNvSpPr txBox="1"/>
          <p:nvPr/>
        </p:nvSpPr>
        <p:spPr>
          <a:xfrm rot="0" flipH="0" flipV="0">
            <a:off x="6248400" y="39243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13</a:t>
            </a:r>
            <a:endParaRPr/>
          </a:p>
        </p:txBody>
      </p:sp>
      <p:sp>
        <p:nvSpPr>
          <p:cNvPr id="430" name="" descr="{&quot;isTemplate&quot;:true,&quot;type&quot;:&quot;text&quot;}"/>
          <p:cNvSpPr txBox="1"/>
          <p:nvPr/>
        </p:nvSpPr>
        <p:spPr>
          <a:xfrm rot="0" flipH="0" flipV="0">
            <a:off x="6248400" y="41719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收尾</a:t>
            </a:r>
            <a:endParaRPr/>
          </a:p>
        </p:txBody>
      </p:sp>
      <p:sp>
        <p:nvSpPr>
          <p:cNvPr id="431" name=""/>
          <p:cNvSpPr/>
          <p:nvPr/>
        </p:nvSpPr>
        <p:spPr>
          <a:xfrm rot="0" flipH="0" flipV="0">
            <a:off x="6134100" y="4686300"/>
            <a:ext cx="5295900" cy="438150"/>
          </a:xfrm>
          <a:prstGeom prst="roundRect">
            <a:avLst>
              <a:gd name="adj" fmla="val 13043"/>
            </a:avLst>
          </a:prstGeom>
          <a:solidFill>
            <a:srgbClr val="F5F7FA"/>
          </a:solidFill>
          <a:ln/>
        </p:spPr>
        <p:txBody>
          <a:bodyPr/>
          <a:p/>
        </p:txBody>
      </p:sp>
      <p:sp>
        <p:nvSpPr>
          <p:cNvPr id="432" name=""/>
          <p:cNvSpPr/>
          <p:nvPr/>
        </p:nvSpPr>
        <p:spPr>
          <a:xfrm rot="0" flipH="0" flipV="0">
            <a:off x="6267450" y="4800600"/>
            <a:ext cx="57150" cy="209550"/>
          </a:xfrm>
          <a:prstGeom prst="rect">
            <a:avLst/>
          </a:prstGeom>
          <a:solidFill>
            <a:srgbClr val="00A9B5"/>
          </a:solidFill>
          <a:ln/>
        </p:spPr>
        <p:txBody>
          <a:bodyPr/>
          <a:p/>
        </p:txBody>
      </p:sp>
      <p:sp>
        <p:nvSpPr>
          <p:cNvPr id="433" name="" descr="{&quot;isTemplate&quot;:true,&quot;type&quot;:&quot;text&quot;}"/>
          <p:cNvSpPr txBox="1"/>
          <p:nvPr/>
        </p:nvSpPr>
        <p:spPr>
          <a:xfrm rot="0" flipH="0" flipV="0">
            <a:off x="6419850" y="4781550"/>
            <a:ext cx="1943100" cy="247650"/>
          </a:xfrm>
          <a:prstGeom prst="rect"/>
        </p:spPr>
        <p:txBody>
          <a:bodyPr wrap="none" lIns="0" tIns="0" rIns="0" bIns="0"/>
          <a:p>
            <a:pPr>
              <a:lnSpc>
                <a:spcPct val="140000"/>
              </a:lnSpc>
            </a:pPr>
            <a:r>
              <a:rPr lang="zh-CN" sz="1125" b="1">
                <a:solidFill>
                  <a:srgbClr val="0E2340"/>
                </a:solidFill>
                <a:latin typeface="Microsoft YaHei"/>
                <a:ea typeface="Microsoft YaHei"/>
              </a:rPr>
              <a:t>当前位置：第</a:t>
            </a:r>
            <a:r>
              <a:rPr lang="en-US" sz="1125" b="1">
                <a:solidFill>
                  <a:srgbClr val="0E2340"/>
                </a:solidFill>
                <a:latin typeface="Microsoft YaHei"/>
                <a:ea typeface="Microsoft YaHei"/>
              </a:rPr>
              <a:t xml:space="preserve"> 02 </a:t>
            </a:r>
            <a:r>
              <a:rPr lang="zh-CN" sz="1125" b="1">
                <a:solidFill>
                  <a:srgbClr val="0E2340"/>
                </a:solidFill>
                <a:latin typeface="Microsoft YaHei"/>
                <a:ea typeface="Microsoft YaHei"/>
              </a:rPr>
              <a:t>章</a:t>
            </a:r>
            <a:r>
              <a:rPr lang="en-US" sz="1125" b="1">
                <a:solidFill>
                  <a:srgbClr val="0E2340"/>
                </a:solidFill>
                <a:latin typeface="Microsoft YaHei"/>
                <a:ea typeface="Microsoft YaHei"/>
              </a:rPr>
              <a:t xml:space="preserve"> · </a:t>
            </a:r>
            <a:r>
              <a:rPr lang="zh-CN" sz="1125" b="1">
                <a:solidFill>
                  <a:srgbClr val="0E2340"/>
                </a:solidFill>
                <a:latin typeface="Microsoft YaHei"/>
                <a:ea typeface="Microsoft YaHei"/>
              </a:rPr>
              <a:t>现状盘点</a:t>
            </a:r>
            <a:endParaRPr/>
          </a:p>
        </p:txBody>
      </p:sp>
      <p:sp>
        <p:nvSpPr>
          <p:cNvPr id="434" name=""/>
          <p:cNvSpPr/>
          <p:nvPr/>
        </p:nvSpPr>
        <p:spPr>
          <a:xfrm rot="0" flipH="0" flipV="0">
            <a:off x="6134100" y="5353050"/>
            <a:ext cx="1257300" cy="381000"/>
          </a:xfrm>
          <a:prstGeom prst="roundRect">
            <a:avLst>
              <a:gd name="adj" fmla="val 15000"/>
            </a:avLst>
          </a:prstGeom>
          <a:solidFill>
            <a:srgbClr val="F5F7FA"/>
          </a:solidFill>
          <a:ln/>
        </p:spPr>
        <p:txBody>
          <a:bodyPr/>
          <a:p/>
        </p:txBody>
      </p:sp>
      <p:sp>
        <p:nvSpPr>
          <p:cNvPr id="435" name=""/>
          <p:cNvSpPr/>
          <p:nvPr/>
        </p:nvSpPr>
        <p:spPr>
          <a:xfrm rot="0" flipH="0" flipV="0">
            <a:off x="6229350" y="5495925"/>
            <a:ext cx="95250" cy="95250"/>
          </a:xfrm>
          <a:prstGeom prst="roundRect">
            <a:avLst>
              <a:gd name="adj" fmla="val 50000"/>
            </a:avLst>
          </a:prstGeom>
          <a:solidFill>
            <a:srgbClr val="1E9E62"/>
          </a:solidFill>
          <a:ln/>
        </p:spPr>
        <p:txBody>
          <a:bodyPr/>
          <a:p/>
        </p:txBody>
      </p:sp>
      <p:sp>
        <p:nvSpPr>
          <p:cNvPr id="436" name="" descr="{&quot;isTemplate&quot;:true,&quot;type&quot;:&quot;text&quot;}"/>
          <p:cNvSpPr txBox="1"/>
          <p:nvPr/>
        </p:nvSpPr>
        <p:spPr>
          <a:xfrm rot="0" flipH="0" flipV="0">
            <a:off x="6400800"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已实现</a:t>
            </a:r>
            <a:endParaRPr/>
          </a:p>
        </p:txBody>
      </p:sp>
      <p:sp>
        <p:nvSpPr>
          <p:cNvPr id="437" name=""/>
          <p:cNvSpPr/>
          <p:nvPr/>
        </p:nvSpPr>
        <p:spPr>
          <a:xfrm rot="0" flipH="0" flipV="0">
            <a:off x="7486650" y="5353050"/>
            <a:ext cx="1247775" cy="381000"/>
          </a:xfrm>
          <a:prstGeom prst="roundRect">
            <a:avLst>
              <a:gd name="adj" fmla="val 15000"/>
            </a:avLst>
          </a:prstGeom>
          <a:solidFill>
            <a:srgbClr val="F5F7FA"/>
          </a:solidFill>
          <a:ln/>
        </p:spPr>
        <p:txBody>
          <a:bodyPr/>
          <a:p/>
        </p:txBody>
      </p:sp>
      <p:sp>
        <p:nvSpPr>
          <p:cNvPr id="438" name=""/>
          <p:cNvSpPr/>
          <p:nvPr/>
        </p:nvSpPr>
        <p:spPr>
          <a:xfrm rot="0" flipH="0" flipV="0">
            <a:off x="7581900" y="5495925"/>
            <a:ext cx="95250" cy="95250"/>
          </a:xfrm>
          <a:prstGeom prst="roundRect">
            <a:avLst>
              <a:gd name="adj" fmla="val 50000"/>
            </a:avLst>
          </a:prstGeom>
          <a:solidFill>
            <a:srgbClr val="E8A33D"/>
          </a:solidFill>
          <a:ln/>
        </p:spPr>
        <p:txBody>
          <a:bodyPr/>
          <a:p/>
        </p:txBody>
      </p:sp>
      <p:sp>
        <p:nvSpPr>
          <p:cNvPr id="439" name="" descr="{&quot;isTemplate&quot;:true,&quot;type&quot;:&quot;text&quot;}"/>
          <p:cNvSpPr txBox="1"/>
          <p:nvPr/>
        </p:nvSpPr>
        <p:spPr>
          <a:xfrm rot="0" flipH="0" flipV="0">
            <a:off x="7753350" y="5438775"/>
            <a:ext cx="533400" cy="209550"/>
          </a:xfrm>
          <a:prstGeom prst="rect"/>
        </p:spPr>
        <p:txBody>
          <a:bodyPr wrap="none" lIns="0" tIns="0" rIns="0" bIns="0"/>
          <a:p>
            <a:pPr>
              <a:lnSpc>
                <a:spcPct val="130000"/>
              </a:lnSpc>
            </a:pPr>
            <a:r>
              <a:rPr lang="zh-CN" sz="1050" b="1">
                <a:solidFill>
                  <a:srgbClr val="333A45"/>
                </a:solidFill>
                <a:latin typeface="Microsoft YaHei"/>
                <a:ea typeface="Microsoft YaHei"/>
              </a:rPr>
              <a:t>部分实现</a:t>
            </a:r>
            <a:endParaRPr/>
          </a:p>
        </p:txBody>
      </p:sp>
      <p:sp>
        <p:nvSpPr>
          <p:cNvPr id="440" name=""/>
          <p:cNvSpPr/>
          <p:nvPr/>
        </p:nvSpPr>
        <p:spPr>
          <a:xfrm rot="0" flipH="0" flipV="0">
            <a:off x="8829675" y="5353050"/>
            <a:ext cx="1257300" cy="381000"/>
          </a:xfrm>
          <a:prstGeom prst="roundRect">
            <a:avLst>
              <a:gd name="adj" fmla="val 15000"/>
            </a:avLst>
          </a:prstGeom>
          <a:solidFill>
            <a:srgbClr val="F5F7FA"/>
          </a:solidFill>
          <a:ln/>
        </p:spPr>
        <p:txBody>
          <a:bodyPr/>
          <a:p/>
        </p:txBody>
      </p:sp>
      <p:sp>
        <p:nvSpPr>
          <p:cNvPr id="441" name=""/>
          <p:cNvSpPr/>
          <p:nvPr/>
        </p:nvSpPr>
        <p:spPr>
          <a:xfrm rot="0" flipH="0" flipV="0">
            <a:off x="8924925" y="5495925"/>
            <a:ext cx="95250" cy="95250"/>
          </a:xfrm>
          <a:prstGeom prst="roundRect">
            <a:avLst>
              <a:gd name="adj" fmla="val 50000"/>
            </a:avLst>
          </a:prstGeom>
          <a:solidFill>
            <a:srgbClr val="1E7BE0"/>
          </a:solidFill>
          <a:ln/>
        </p:spPr>
        <p:txBody>
          <a:bodyPr/>
          <a:p/>
        </p:txBody>
      </p:sp>
      <p:sp>
        <p:nvSpPr>
          <p:cNvPr id="442" name="" descr="{&quot;isTemplate&quot;:true,&quot;type&quot;:&quot;text&quot;}"/>
          <p:cNvSpPr txBox="1"/>
          <p:nvPr/>
        </p:nvSpPr>
        <p:spPr>
          <a:xfrm rot="0" flipH="0" flipV="0">
            <a:off x="909637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设计中</a:t>
            </a:r>
            <a:endParaRPr/>
          </a:p>
        </p:txBody>
      </p:sp>
      <p:sp>
        <p:nvSpPr>
          <p:cNvPr id="443" name=""/>
          <p:cNvSpPr/>
          <p:nvPr/>
        </p:nvSpPr>
        <p:spPr>
          <a:xfrm rot="0" flipH="0" flipV="0">
            <a:off x="10182225" y="5353050"/>
            <a:ext cx="1247775" cy="381000"/>
          </a:xfrm>
          <a:prstGeom prst="roundRect">
            <a:avLst>
              <a:gd name="adj" fmla="val 15000"/>
            </a:avLst>
          </a:prstGeom>
          <a:solidFill>
            <a:srgbClr val="F5F7FA"/>
          </a:solidFill>
          <a:ln/>
        </p:spPr>
        <p:txBody>
          <a:bodyPr/>
          <a:p/>
        </p:txBody>
      </p:sp>
      <p:sp>
        <p:nvSpPr>
          <p:cNvPr id="444" name=""/>
          <p:cNvSpPr/>
          <p:nvPr/>
        </p:nvSpPr>
        <p:spPr>
          <a:xfrm rot="0" flipH="0" flipV="0">
            <a:off x="10277475" y="5495925"/>
            <a:ext cx="95250" cy="95250"/>
          </a:xfrm>
          <a:prstGeom prst="roundRect">
            <a:avLst>
              <a:gd name="adj" fmla="val 50000"/>
            </a:avLst>
          </a:prstGeom>
          <a:solidFill>
            <a:srgbClr val="98A2B3"/>
          </a:solidFill>
          <a:ln/>
        </p:spPr>
        <p:txBody>
          <a:bodyPr/>
          <a:p/>
        </p:txBody>
      </p:sp>
      <p:sp>
        <p:nvSpPr>
          <p:cNvPr id="445" name="" descr="{&quot;isTemplate&quot;:true,&quot;type&quot;:&quot;text&quot;}"/>
          <p:cNvSpPr txBox="1"/>
          <p:nvPr/>
        </p:nvSpPr>
        <p:spPr>
          <a:xfrm rot="0" flipH="0" flipV="0">
            <a:off x="1044892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待研究</a:t>
            </a:r>
            <a:endParaRPr/>
          </a:p>
        </p:txBody>
      </p:sp>
      <p:sp>
        <p:nvSpPr>
          <p:cNvPr id="446" name=""/>
          <p:cNvSpPr/>
          <p:nvPr/>
        </p:nvSpPr>
        <p:spPr>
          <a:xfrm rot="0" flipH="0" flipV="0">
            <a:off x="6134100" y="5972175"/>
            <a:ext cx="5295900" cy="400050"/>
          </a:xfrm>
          <a:custGeom>
            <a:pathLst>
              <a:path w="556" h="42">
                <a:moveTo>
                  <a:pt x="0" y="0"/>
                </a:moveTo>
                <a:lnTo>
                  <a:pt x="556" y="0"/>
                </a:lnTo>
                <a:lnTo>
                  <a:pt x="556" y="1"/>
                </a:lnTo>
                <a:lnTo>
                  <a:pt x="0" y="1"/>
                </a:lnTo>
                <a:close/>
              </a:path>
            </a:pathLst>
          </a:custGeom>
          <a:solidFill>
            <a:srgbClr val="E3E8EF"/>
          </a:solidFill>
          <a:ln/>
        </p:spPr>
        <p:txBody>
          <a:bodyPr/>
          <a:p/>
        </p:txBody>
      </p:sp>
      <p:sp>
        <p:nvSpPr>
          <p:cNvPr id="447" name=""/>
          <p:cNvSpPr/>
          <p:nvPr/>
        </p:nvSpPr>
        <p:spPr>
          <a:xfrm rot="0" flipH="0" flipV="0">
            <a:off x="6134100" y="6219825"/>
            <a:ext cx="438150" cy="47625"/>
          </a:xfrm>
          <a:prstGeom prst="rect">
            <a:avLst/>
          </a:prstGeom>
          <a:solidFill>
            <a:srgbClr val="00A9B5"/>
          </a:solidFill>
          <a:ln/>
        </p:spPr>
        <p:txBody>
          <a:bodyPr/>
          <a:p/>
        </p:txBody>
      </p:sp>
      <p:sp>
        <p:nvSpPr>
          <p:cNvPr id="448" name="" descr="{&quot;isTemplate&quot;:true,&quot;type&quot;:&quot;text&quot;}"/>
          <p:cNvSpPr txBox="1"/>
          <p:nvPr/>
        </p:nvSpPr>
        <p:spPr>
          <a:xfrm rot="0" flipH="0" flipV="0">
            <a:off x="6686550" y="6115050"/>
            <a:ext cx="3276600" cy="247650"/>
          </a:xfrm>
          <a:prstGeom prst="rect"/>
        </p:spPr>
        <p:txBody>
          <a:bodyPr wrap="none" lIns="0" tIns="0" rIns="0" bIns="0"/>
          <a:p>
            <a:pPr>
              <a:lnSpc>
                <a:spcPct val="140000"/>
              </a:lnSpc>
            </a:pPr>
            <a:r>
              <a:rPr lang="en-US" sz="1125" b="1">
                <a:solidFill>
                  <a:srgbClr val="7A8699"/>
                </a:solidFill>
                <a:latin typeface="Microsoft YaHei"/>
                <a:ea typeface="Microsoft YaHei"/>
              </a:rPr>
              <a:t xml:space="preserve">StudyAgent </a:t>
            </a:r>
            <a:r>
              <a:rPr lang="zh-CN" sz="1125" b="1">
                <a:solidFill>
                  <a:srgbClr val="7A8699"/>
                </a:solidFill>
                <a:latin typeface="Microsoft YaHei"/>
                <a:ea typeface="Microsoft YaHei"/>
              </a:rPr>
              <a:t>项目设计汇报</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技术评审版</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共</a:t>
            </a:r>
            <a:r>
              <a:rPr lang="en-US" sz="1125" b="1">
                <a:solidFill>
                  <a:srgbClr val="7A8699"/>
                </a:solidFill>
                <a:latin typeface="Microsoft YaHei"/>
                <a:ea typeface="Microsoft YaHei"/>
              </a:rPr>
              <a:t xml:space="preserve"> 124 </a:t>
            </a:r>
            <a:r>
              <a:rPr lang="zh-CN" sz="1125" b="1">
                <a:solidFill>
                  <a:srgbClr val="7A8699"/>
                </a:solidFill>
                <a:latin typeface="Microsoft YaHei"/>
                <a:ea typeface="Microsoft YaHei"/>
              </a:rPr>
              <a:t>页</a:t>
            </a:r>
            <a:endParaRPr/>
          </a:p>
        </p:txBody>
      </p:sp>
    </p:spTree>
  </p:cSld>
</p:sld>
</file>

<file path=ppt/slides/slide12.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711"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2 / 现状盘点&lt;/Text&gt;&lt;Text style={{ fontSize: 32, color: '#0E2340', fontWeight: 700, lineHeight: 1.3 }}&gt;名词数量全景（2026-10-24 快照）&lt;/Text&gt;&lt;/Box&gt;&lt;Box style={{ flexDirection: 'row', alignItems: 'center', padding: '7px 16px', borderRadius: 20, background: '#1E9E62' }}&gt;&lt;Text style={{ fontSize: 14, color: '#FFFFFF', fontWeight: 600 }}&gt;已实现&lt;/Text&gt;&lt;/Box&gt;&lt;/Box&gt;&lt;Box style={{ height: 532, paddingTop: 8, flexDirection: 'column' }}&gt;&lt;Box style={{ flexDirection: 'column', flex: 1, paddingTop: 4 }}&gt;&lt;Box style={{ marginBottom: 14 }}&gt;&lt;Box style={{ flexDirection: 'row', alignItems: 'center', background: '#F5F7FA', borderLeft: '4px solid #0E2340', borderRadius: 6, padding: '14px 20px' }}&gt;&lt;Text style={{ fontSize: 20, color: '#0E2340', fontWeight: 600, lineHeight: 1.5 }}&gt;各数量来源不同、口径不同，不能相加或混称&lt;/Text&gt;&lt;/Box&gt;&lt;/Box&gt;&lt;Box style={{ flex: 1 }}&gt;&lt;Table style={{ width: '100%', height: '100%' }} defaultTextStyle={{ fontSize: 16, textAlign: 'left', color: '#333A45' }} defaultCellStyle={{ padding: 10, border: { left: { width: 1, color: '#E3E8EF' }, right: { width: 1, color: '#E3E8EF' }, top: { width: 1, color: '#E3E8EF' }, bottom: { width: 1, color: '#E3E8EF' } } }} cells={[[{ text: '对象', textStyle: { color: '#FFFFFF', fontWeight: 600, fontSize: 16 }, cellStyle: { background: { color: '#0E2340' } } }, { text: '当前数量', textStyle: { color: '#FFFFFF', fontWeight: 600, fontSize: 16 }, cellStyle: { background: { color: '#0E2340' } } }, { text: '来源与口径', textStyle: { color: '#FFFFFF', fontWeight: 600, fontSize: 16 }, cellStyle: { background: { color: '#0E2340' } } }],&#10;        [{ text: '课时', textStyle: { fontWeight: 600, fontSize: 16 } }, { text: '暂定 329 课时；本地库有效课时也是 329 条', textStyle: { fontSize: 16 } }, { text: 'curriculum-wiki.sqlite3 的 cw_entities，kind=lesson AND active=1', textStyle: { fontSize: 16 } }],&#10;        [{ text: '知识点 YAML', textStyle: { fontWeight: 600, fontSize: 16 }, cellStyle: { background: { color: '#F5F7FA' } } }, { text: '12 个一级板块、100 个二级分类、541 个三级知识点条目', textStyle: { fontSize: 16 }, cellStyle: { background: { color: '#F5F7FA' } } }, { text: 'backend/categories.yaml；三级名称去重后也是 541 个', textStyle: { fontSize: 16 }, cellStyle: { background: { color: '#F5F7FA' } } }],&#10;        [{ text: '课时库知识实体', textStyle: { fontWeight: 600, fontSize: 16 } }, { text: '174 条有效记录', textStyle: { fontSize: 16 } }, { text: 'kind=knowledge AND active=1；独立教学节点，不能与 541 相加', textStyle: { fontSize: 16 } }],&#10;        [{ text: '步骤词表题型槽位', textStyle: { fontWeight: 600, fontSize: 16 }, cellStyle: { background: { color: '#F5F7FA' } } }, { text: '12 类，其中 7 类有预定义步骤、5 类为空', textStyle: { fontSize: 16 }, cellStyle: { background: { color: '#F5F7FA' } } }, { text: 'backend/steps.yaml', textStyle: { fontSize: 16 }, cellStyle: { background: { color: '#F5F7FA' } } }],&#10;        [{ text: '一级步骤', textStyle: { fontWeight: 600, fontSize: 16 } }, { text: '99 个条目', textStyle: { fontSize: 16 } }, { text: '各题型下一级步骤数量之和，保留题型作用域', textStyle: { fontSize: 16 } }],&#10;        [{ text: '二级具体步骤', textStyle: { fontWeight: 600, fontSize: 16 }, cellStyle: { background: { color: '#F5F7FA' } } }, { text: '359 个条目；仅按文字名称去重为 318 个', textStyle: { fontSize: 16 }, cellStyle: { background: { color: '#F5F7FA' } } }, { text: '318 不是稳定 ID 数量', textStyle: { fontSize: 16 }, cellStyle: { background: { color: '#F5F7FA' } } }],&#10;        [{ text: '套路目录', textStyle: { fontWeight: 600, fontSize: 16 } }, { text: '1019 项', textStyle: { fontSize: 16 } }, { text: 'backend/routine_catalog.json 的 routines 数组', textStyle: { fontSize: 16 } }],&#10;        [{ text: '正式训练套路', textStyle: { fontWeight: 600, fontSize: 16 }, cellStyle: { background: { color: '#F5F7FA' } } }, { text: 'YAML 29 项；本地 mastery.db 的 patterns 29 条', textStyle: { fontSize: 16 }, cellStyle: { background: { color: '#F5F7FA' } } }, { text: 'backend/patterns.yaml；与套路目录是不同编号体系', textStyle: { fontSize: 16 }, cellStyle: { background: { color: '#F5F7FA' } } }],&#10;        [{ text: '课时库套路实体', textStyle: { fontWeight: 600, fontSize: 16 } }, { text: '288 条有效记录', textStyle: { fontSize: 16 } }, { text: 'kind=routine AND active=1', textStyle: { fontSize: 16 } }],&#10;        [{ text: '题目实例', textStyle: { fontWeight: 600, fontSize: 16 }, cellStyle: { background: { color: '#F5F7FA' } } }, { text: '本地题库 33 条', textStyle: { fontSize: 16 }, cellStyle: { background: { color: '#F5F7FA' } } }, { text: 'study_agent.db 的 questions', textStyle: { fontSize: 16 }, cellStyle: { background: { color: '#F5F7FA' } } }],&#10;        [{ text: '题目实例步骤索引', textStyle: { fontWeight: 600, fontSize: 16 } }, { text: '147 条', textStyle: { fontSize: 16 } }, { text: 'study_agent.db 的 question_steps', textStyle: { fontSize: 16 } }]]} /&gt;&lt;/Box&gt;&lt;/Box&gt;&lt;/Box&gt;&lt;Box style={{ height: 40, flexDirection: 'row', justifyContent: 'space-between', alignItems: 'center', borderTop: '1px solid #E3E8EF', marginTop: 8 }}&gt;&lt;Text style={{ fontSize: 13, color: '#7A8699', fontWeight: 400, lineHeight: 1.4 }}&gt;依据：当前实现能力与名词数量.md §1&lt;/Text&gt;&lt;Text style={{ fontSize: 14, color: '#7A8699', fontWeight: 400, lineHeight: 1.4 }}&gt; 12 / 124 &lt;/Text&gt;&lt;/Box&gt;&lt;/Slide&gt;"/>
        <p:cNvGrpSpPr/>
        <p:nvPr/>
      </p:nvGrpSpPr>
      <p:grpSpPr>
        <a:xfrm>
          <a:off x="0" y="0"/>
          <a:ext cx="0" cy="0"/>
          <a:chOff x="0" y="0"/>
          <a:chExt cx="0" cy="0"/>
        </a:xfrm>
      </p:grpSpPr>
      <p:sp>
        <p:nvSpPr>
          <p:cNvPr id="712" name=""/>
          <p:cNvSpPr/>
          <p:nvPr/>
        </p:nvSpPr>
        <p:spPr>
          <a:xfrm rot="0" flipH="0" flipV="0">
            <a:off x="0" y="0"/>
            <a:ext cx="12192000" cy="6858000"/>
          </a:xfrm>
          <a:prstGeom prst="rect">
            <a:avLst/>
          </a:prstGeom>
          <a:solidFill>
            <a:srgbClr val="FFFFFF"/>
          </a:solidFill>
          <a:ln/>
        </p:spPr>
        <p:txBody>
          <a:bodyPr/>
          <a:p/>
        </p:txBody>
      </p:sp>
      <p:sp>
        <p:nvSpPr>
          <p:cNvPr id="713" name="" descr="{&quot;isTemplate&quot;:true,&quot;type&quot;:&quot;text&quot;}"/>
          <p:cNvSpPr txBox="1"/>
          <p:nvPr/>
        </p:nvSpPr>
        <p:spPr>
          <a:xfrm rot="0" flipH="0" flipV="0">
            <a:off x="666750" y="381000"/>
            <a:ext cx="4695825"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02 / </a:t>
            </a:r>
            <a:r>
              <a:rPr lang="zh-CN" sz="1050" spc="75">
                <a:solidFill>
                  <a:srgbClr val="7A8699"/>
                </a:solidFill>
                <a:latin typeface="Microsoft YaHei"/>
                <a:ea typeface="Microsoft YaHei"/>
              </a:rPr>
              <a:t>现状盘点</a:t>
            </a:r>
            <a:endParaRPr/>
          </a:p>
        </p:txBody>
      </p:sp>
      <p:sp>
        <p:nvSpPr>
          <p:cNvPr id="714" name="" descr="{&quot;isTemplate&quot;:true,&quot;type&quot;:&quot;text&quot;}"/>
          <p:cNvSpPr txBox="1"/>
          <p:nvPr/>
        </p:nvSpPr>
        <p:spPr>
          <a:xfrm rot="0" flipH="0" flipV="0">
            <a:off x="666750" y="666750"/>
            <a:ext cx="4695825" cy="476250"/>
          </a:xfrm>
          <a:prstGeom prst="rect"/>
        </p:spPr>
        <p:txBody>
          <a:bodyPr wrap="none" lIns="0" tIns="0" rIns="0" bIns="0"/>
          <a:p>
            <a:pPr>
              <a:lnSpc>
                <a:spcPct val="130000"/>
              </a:lnSpc>
            </a:pPr>
            <a:r>
              <a:rPr lang="zh-CN" sz="2400" b="1">
                <a:solidFill>
                  <a:srgbClr val="0E2340"/>
                </a:solidFill>
                <a:latin typeface="Microsoft YaHei"/>
                <a:ea typeface="Microsoft YaHei"/>
              </a:rPr>
              <a:t>名词数量全景（</a:t>
            </a:r>
            <a:r>
              <a:rPr lang="en-US" sz="2400" b="1">
                <a:solidFill>
                  <a:srgbClr val="0E2340"/>
                </a:solidFill>
                <a:latin typeface="Microsoft YaHei"/>
                <a:ea typeface="Microsoft YaHei"/>
              </a:rPr>
              <a:t xml:space="preserve">2026-10-24 </a:t>
            </a:r>
            <a:r>
              <a:rPr lang="zh-CN" sz="2400" b="1">
                <a:solidFill>
                  <a:srgbClr val="0E2340"/>
                </a:solidFill>
                <a:latin typeface="Microsoft YaHei"/>
                <a:ea typeface="Microsoft YaHei"/>
              </a:rPr>
              <a:t>快照）</a:t>
            </a:r>
            <a:endParaRPr/>
          </a:p>
        </p:txBody>
      </p:sp>
      <p:sp>
        <p:nvSpPr>
          <p:cNvPr id="715" name=""/>
          <p:cNvSpPr/>
          <p:nvPr/>
        </p:nvSpPr>
        <p:spPr>
          <a:xfrm rot="0" flipH="0" flipV="0">
            <a:off x="10820400" y="847725"/>
            <a:ext cx="704850" cy="295275"/>
          </a:xfrm>
          <a:prstGeom prst="roundRect">
            <a:avLst>
              <a:gd name="adj" fmla="val 64516"/>
            </a:avLst>
          </a:prstGeom>
          <a:solidFill>
            <a:srgbClr val="1E9E62"/>
          </a:solidFill>
          <a:ln/>
        </p:spPr>
        <p:txBody>
          <a:bodyPr/>
          <a:p/>
        </p:txBody>
      </p:sp>
      <p:sp>
        <p:nvSpPr>
          <p:cNvPr id="716"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已实现</a:t>
            </a:r>
            <a:endParaRPr/>
          </a:p>
        </p:txBody>
      </p:sp>
      <p:sp>
        <p:nvSpPr>
          <p:cNvPr id="717" name=""/>
          <p:cNvSpPr/>
          <p:nvPr/>
        </p:nvSpPr>
        <p:spPr>
          <a:xfrm rot="0" flipH="0" flipV="0">
            <a:off x="704850" y="1257300"/>
            <a:ext cx="10858500" cy="609600"/>
          </a:xfrm>
          <a:prstGeom prst="roundRect">
            <a:avLst>
              <a:gd name="adj" fmla="val 9375"/>
            </a:avLst>
          </a:prstGeom>
          <a:solidFill>
            <a:srgbClr val="F5F7FA"/>
          </a:solidFill>
          <a:ln/>
        </p:spPr>
        <p:txBody>
          <a:bodyPr/>
          <a:p/>
        </p:txBody>
      </p:sp>
      <p:sp>
        <p:nvSpPr>
          <p:cNvPr id="718" name=""/>
          <p:cNvSpPr/>
          <p:nvPr/>
        </p:nvSpPr>
        <p:spPr>
          <a:xfrm rot="0" flipH="0" flipV="0">
            <a:off x="704850" y="12573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719" name="" descr="{&quot;isTemplate&quot;:true,&quot;type&quot;:&quot;text&quot;}"/>
          <p:cNvSpPr txBox="1"/>
          <p:nvPr/>
        </p:nvSpPr>
        <p:spPr>
          <a:xfrm rot="0" flipH="0" flipV="0">
            <a:off x="895350" y="1390650"/>
            <a:ext cx="3810000" cy="342900"/>
          </a:xfrm>
          <a:prstGeom prst="rect"/>
        </p:spPr>
        <p:txBody>
          <a:bodyPr wrap="none" lIns="0" tIns="0" rIns="0" bIns="0"/>
          <a:p>
            <a:pPr>
              <a:lnSpc>
                <a:spcPct val="150000"/>
              </a:lnSpc>
            </a:pPr>
            <a:r>
              <a:rPr lang="zh-CN" sz="1500" b="1">
                <a:solidFill>
                  <a:srgbClr val="0E2340"/>
                </a:solidFill>
                <a:latin typeface="Microsoft YaHei"/>
                <a:ea typeface="Microsoft YaHei"/>
              </a:rPr>
              <a:t>各数量来源不同、口径不同，不能相加或混称</a:t>
            </a:r>
            <a:endParaRPr/>
          </a:p>
        </p:txBody>
      </p:sp>
      <p:graphicFrame>
        <p:nvGraphicFramePr>
          <p:cNvPr id="720" name=""/>
          <p:cNvGraphicFramePr/>
          <p:nvPr/>
        </p:nvGraphicFramePr>
        <p:xfrm rot="0" flipH="0" flipV="0">
          <a:off x="666750" y="2000250"/>
          <a:ext cx="10858500" cy="4210050"/>
        </p:xfrm>
        <a:graphic>
          <a:graphicData uri="http://schemas.openxmlformats.org/drawingml/2006/table">
            <a:tbl>
              <a:tblGrid>
                <a:gridCol w="1455132">
                  <a:extLst>
                    <a:ext uri="{9D8B030D-6E8A-4147-A177-3AD203B41FA5}">
                      <a16:colId val="1"/>
                    </a:ext>
                  </a:extLst>
                </a:gridCol>
                <a:gridCol w="4384431">
                  <a:extLst>
                    <a:ext uri="{9D8B030D-6E8A-4147-A177-3AD203B41FA5}">
                      <a16:colId val="2"/>
                    </a:ext>
                  </a:extLst>
                </a:gridCol>
                <a:gridCol w="5018937">
                  <a:extLst>
                    <a:ext uri="{9D8B030D-6E8A-4147-A177-3AD203B41FA5}">
                      <a16:colId val="3"/>
                    </a:ext>
                  </a:extLst>
                </a:gridCol>
              </a:tblGrid>
              <a:tr h="350837">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对象</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当前数量</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来源与口径</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350837">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课时</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暂定 329 课时；本地库有效课时也是 329 条</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curriculum-wiki.sqlite3 的 cw_entities，kind=lesson AND active=1</a:t>
                      </a:r>
                      <a:endParaRPr/>
                    </a:p>
                  </a:txBody>
                  <a:tcPr marL="45720" marR="45720" marT="45720" marB="45720" anchor="ctr">
                    <a:lnL>
                      <a:noFill/>
                    </a:lnL>
                    <a:lnR>
                      <a:noFill/>
                    </a:lnR>
                    <a:lnT>
                      <a:noFill/>
                    </a:lnT>
                    <a:lnB>
                      <a:noFill/>
                    </a:lnB>
                  </a:tcPr>
                </a:tc>
                <a:extLst>
                  <a:ext uri="{0D108BD9-81ED-4DB2-BD59-A6C34878D82A}">
                    <a16:rowId val="2"/>
                  </a:ext>
                </a:extLst>
              </a:tr>
              <a:tr h="350837">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知识点 YAML</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12 个一级板块、100 个二级分类、541 个三级知识点条目</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backend/categories.yaml；三级名称去重后也是 541 个</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350837">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课时库知识实体</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174 条有效记录</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kind=knowledge AND active=1；独立教学节点，不能与 541 相加</a:t>
                      </a:r>
                      <a:endParaRPr/>
                    </a:p>
                  </a:txBody>
                  <a:tcPr marL="45720" marR="45720" marT="45720" marB="45720" anchor="ctr">
                    <a:lnL>
                      <a:noFill/>
                    </a:lnL>
                    <a:lnR>
                      <a:noFill/>
                    </a:lnR>
                    <a:lnT>
                      <a:noFill/>
                    </a:lnT>
                    <a:lnB>
                      <a:noFill/>
                    </a:lnB>
                  </a:tcPr>
                </a:tc>
                <a:extLst>
                  <a:ext uri="{0D108BD9-81ED-4DB2-BD59-A6C34878D82A}">
                    <a16:rowId val="4"/>
                  </a:ext>
                </a:extLst>
              </a:tr>
              <a:tr h="350837">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步骤词表题型槽位</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12 类，其中 7 类有预定义步骤、5 类为空</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backend/steps.yaml</a:t>
                      </a:r>
                      <a:endParaRPr/>
                    </a:p>
                  </a:txBody>
                  <a:tcPr marL="45720" marR="45720" marT="45720" marB="45720" anchor="ctr">
                    <a:lnL>
                      <a:noFill/>
                    </a:lnL>
                    <a:lnR>
                      <a:noFill/>
                    </a:lnR>
                    <a:lnT>
                      <a:noFill/>
                    </a:lnT>
                    <a:lnB>
                      <a:noFill/>
                    </a:lnB>
                    <a:solidFill>
                      <a:srgbClr val="F5F7FA"/>
                    </a:solidFill>
                  </a:tcPr>
                </a:tc>
                <a:extLst>
                  <a:ext uri="{0D108BD9-81ED-4DB2-BD59-A6C34878D82A}">
                    <a16:rowId val="5"/>
                  </a:ext>
                </a:extLst>
              </a:tr>
              <a:tr h="350837">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一级步骤</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99 个条目</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各题型下一级步骤数量之和，保留题型作用域</a:t>
                      </a:r>
                      <a:endParaRPr/>
                    </a:p>
                  </a:txBody>
                  <a:tcPr marL="45720" marR="45720" marT="45720" marB="45720" anchor="ctr">
                    <a:lnL>
                      <a:noFill/>
                    </a:lnL>
                    <a:lnR>
                      <a:noFill/>
                    </a:lnR>
                    <a:lnT>
                      <a:noFill/>
                    </a:lnT>
                    <a:lnB>
                      <a:noFill/>
                    </a:lnB>
                  </a:tcPr>
                </a:tc>
                <a:extLst>
                  <a:ext uri="{0D108BD9-81ED-4DB2-BD59-A6C34878D82A}">
                    <a16:rowId val="6"/>
                  </a:ext>
                </a:extLst>
              </a:tr>
              <a:tr h="350837">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二级具体步骤</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359 个条目；仅按文字名称去重为 318 个</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318 不是稳定 ID 数量</a:t>
                      </a:r>
                      <a:endParaRPr/>
                    </a:p>
                  </a:txBody>
                  <a:tcPr marL="45720" marR="45720" marT="45720" marB="45720" anchor="ctr">
                    <a:lnL>
                      <a:noFill/>
                    </a:lnL>
                    <a:lnR>
                      <a:noFill/>
                    </a:lnR>
                    <a:lnT>
                      <a:noFill/>
                    </a:lnT>
                    <a:lnB>
                      <a:noFill/>
                    </a:lnB>
                    <a:solidFill>
                      <a:srgbClr val="F5F7FA"/>
                    </a:solidFill>
                  </a:tcPr>
                </a:tc>
                <a:extLst>
                  <a:ext uri="{0D108BD9-81ED-4DB2-BD59-A6C34878D82A}">
                    <a16:rowId val="7"/>
                  </a:ext>
                </a:extLst>
              </a:tr>
              <a:tr h="350837">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套路目录</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1019 项</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backend/routine_catalog.json 的 routines 数组</a:t>
                      </a:r>
                      <a:endParaRPr/>
                    </a:p>
                  </a:txBody>
                  <a:tcPr marL="45720" marR="45720" marT="45720" marB="45720" anchor="ctr">
                    <a:lnL>
                      <a:noFill/>
                    </a:lnL>
                    <a:lnR>
                      <a:noFill/>
                    </a:lnR>
                    <a:lnT>
                      <a:noFill/>
                    </a:lnT>
                    <a:lnB>
                      <a:noFill/>
                    </a:lnB>
                  </a:tcPr>
                </a:tc>
                <a:extLst>
                  <a:ext uri="{0D108BD9-81ED-4DB2-BD59-A6C34878D82A}">
                    <a16:rowId val="8"/>
                  </a:ext>
                </a:extLst>
              </a:tr>
              <a:tr h="350837">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正式训练套路</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YAML 29 项；本地 mastery.db 的 patterns 29 条</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backend/patterns.yaml；与套路目录是不同编号体系</a:t>
                      </a:r>
                      <a:endParaRPr/>
                    </a:p>
                  </a:txBody>
                  <a:tcPr marL="45720" marR="45720" marT="45720" marB="45720" anchor="ctr">
                    <a:lnL>
                      <a:noFill/>
                    </a:lnL>
                    <a:lnR>
                      <a:noFill/>
                    </a:lnR>
                    <a:lnT>
                      <a:noFill/>
                    </a:lnT>
                    <a:lnB>
                      <a:noFill/>
                    </a:lnB>
                    <a:solidFill>
                      <a:srgbClr val="F5F7FA"/>
                    </a:solidFill>
                  </a:tcPr>
                </a:tc>
                <a:extLst>
                  <a:ext uri="{0D108BD9-81ED-4DB2-BD59-A6C34878D82A}">
                    <a16:rowId val="9"/>
                  </a:ext>
                </a:extLst>
              </a:tr>
              <a:tr h="350837">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课时库套路实体</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288 条有效记录</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kind=routine AND active=1</a:t>
                      </a:r>
                      <a:endParaRPr/>
                    </a:p>
                  </a:txBody>
                  <a:tcPr marL="45720" marR="45720" marT="45720" marB="45720" anchor="ctr">
                    <a:lnL>
                      <a:noFill/>
                    </a:lnL>
                    <a:lnR>
                      <a:noFill/>
                    </a:lnR>
                    <a:lnT>
                      <a:noFill/>
                    </a:lnT>
                    <a:lnB>
                      <a:noFill/>
                    </a:lnB>
                  </a:tcPr>
                </a:tc>
                <a:extLst>
                  <a:ext uri="{0D108BD9-81ED-4DB2-BD59-A6C34878D82A}">
                    <a16:rowId val="10"/>
                  </a:ext>
                </a:extLst>
              </a:tr>
              <a:tr h="350837">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题目实例</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本地题库 33 条</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study_agent.db 的 questions</a:t>
                      </a:r>
                      <a:endParaRPr/>
                    </a:p>
                  </a:txBody>
                  <a:tcPr marL="45720" marR="45720" marT="45720" marB="45720" anchor="ctr">
                    <a:lnL>
                      <a:noFill/>
                    </a:lnL>
                    <a:lnR>
                      <a:noFill/>
                    </a:lnR>
                    <a:lnT>
                      <a:noFill/>
                    </a:lnT>
                    <a:lnB>
                      <a:noFill/>
                    </a:lnB>
                    <a:solidFill>
                      <a:srgbClr val="F5F7FA"/>
                    </a:solidFill>
                  </a:tcPr>
                </a:tc>
                <a:extLst>
                  <a:ext uri="{0D108BD9-81ED-4DB2-BD59-A6C34878D82A}">
                    <a16:rowId val="11"/>
                  </a:ext>
                </a:extLst>
              </a:tr>
              <a:tr h="350837">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题目实例步骤索引</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147 条</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study_agent.db 的 question_steps</a:t>
                      </a:r>
                      <a:endParaRPr/>
                    </a:p>
                  </a:txBody>
                  <a:tcPr marL="45720" marR="45720" marT="45720" marB="45720" anchor="ctr">
                    <a:lnL>
                      <a:noFill/>
                    </a:lnL>
                    <a:lnR>
                      <a:noFill/>
                    </a:lnR>
                    <a:lnT>
                      <a:noFill/>
                    </a:lnT>
                    <a:lnB>
                      <a:noFill/>
                    </a:lnB>
                  </a:tcPr>
                </a:tc>
                <a:extLst>
                  <a:ext uri="{0D108BD9-81ED-4DB2-BD59-A6C34878D82A}">
                    <a16:rowId val="12"/>
                  </a:ext>
                </a:extLst>
              </a:tr>
            </a:tbl>
          </a:graphicData>
        </a:graphic>
      </p:graphicFrame>
      <p:sp>
        <p:nvSpPr>
          <p:cNvPr id="721"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722"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依据：当前实现能力与名词数量</a:t>
            </a:r>
            <a:r>
              <a:rPr lang="en-US" sz="975">
                <a:solidFill>
                  <a:srgbClr val="7A8699"/>
                </a:solidFill>
                <a:latin typeface="Microsoft YaHei"/>
                <a:ea typeface="Microsoft YaHei"/>
              </a:rPr>
              <a:t>.md §1</a:t>
            </a:r>
            <a:endParaRPr/>
          </a:p>
        </p:txBody>
      </p:sp>
      <p:sp>
        <p:nvSpPr>
          <p:cNvPr id="723"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12 / 124 </a:t>
            </a:r>
            <a:endParaRPr/>
          </a:p>
        </p:txBody>
      </p:sp>
    </p:spTree>
  </p:cSld>
</p:sld>
</file>

<file path=ppt/slides/slide13.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814"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2 / 现状盘点&lt;/Text&gt;&lt;Text style={{ fontSize: 32, color: '#0E2340', fontWeight: 700, lineHeight: 1.3 }}&gt;三套“套路”编号体系与题型槽位覆盖&lt;/Text&gt;&lt;/Box&gt;&lt;Box style={{ flexDirection: 'row', alignItems: 'center', padding: '7px 16px', borderRadius: 20, background: '#1E9E62' }}&gt;&lt;Text style={{ fontSize: 14, color: '#FFFFFF', fontWeight: 600 }}&gt;已实现&lt;/Text&gt;&lt;/Box&gt;&lt;/Box&gt;&lt;Box style={{ height: 532, paddingTop: 8, flexDirection: 'column' }}&gt;&lt;Box style={{ flexDirection: 'row', gap: 28, flex: 1 }}&gt;&lt;Box style={{ width: 700, justifyContent: 'center' }}&gt;&lt;svg width={420} height={300} viewBox='0 0 420 300'&gt;&lt;path d='M210.0 36.0 A108 108 0 1 1 158.0 238.6' fill='none' stroke='#1E7BE0' stroke-width='34'/&gt;&lt;text x='357.2246404915519' y='185.80086284905792' font-size='15' fill='#333A45' text-anchor='middle' font-weight='600'&gt;有预定义步骤 58%&lt;/text&gt;&lt;path d='M158.0 238.6 A108 108 0 0 1 210.0 36.0' fill='none' stroke='#CBD5E1' stroke-width='34'/&gt;&lt;text x='62.775359508448105' y='110.19913715094197' font-size='15' fill='#333A45' text-anchor='middle' font-weight='600'&gt;步骤词表为空 42%&lt;/text&gt;&lt;text x='210.0' y='142.0' font-size='30' fill='#0E2340' text-anchor='middle' font-weight='700'&gt;12 类&lt;/text&gt;&lt;text x='210.0' y='170.0' font-size='15' fill='#7A8699' text-anchor='middle' font-weight='400'&gt;题型槽位&lt;/text&gt;&lt;/svg&gt;&lt;svg width={700} height={130} viewBox='0 0 700 130'&gt;&lt;rect x='0' y='10' width='700' height='104' rx='8' fill='#F5F7FA'/&gt;&lt;text x='350' y='40' font-size='17' fill='#0E2340' text-anchor='middle' font-weight='700'&gt;三套编号体系互不等价：1019（目录）/ 29（正式训练）/ 288（课时库实体）&lt;/text&gt;&lt;text x='350' y='74' font-size='15' fill='#333A45' text-anchor='middle' font-weight='400'&gt;引用数量时必须说明来自哪一套，避免把目录规模当成已开通的训练能力&lt;/text&gt;&lt;/svg&gt;&lt;/Box&gt;&lt;Box style={{ flex: 1, flexDirection: 'column', gap: 11, justifyContent: 'center' }}&gt;&lt;Text style={{ fontSize: 21, color: '#0E2340', fontWeight: 700, lineHeight: 1.4 }}&gt;读表提醒&lt;/Text&gt;&lt;Box style={{ flexDirection: 'column', gap: 10 }}&gt;&lt;Box style={{ flexDirection: 'row', gap: 12, alignItems: 'flex-start' }}&gt;&lt;Box style={{ width: 8, height: 8, borderRadius: 4, background: '#1E7BE0', marginTop: 9 }} /&gt;&lt;Box style={{ flex: 1 }}&gt;&lt;Text style={{ fontSize: 17, color: '#333A45', fontWeight: 400, lineHeight: 1.6 }}&gt;有预定义步骤的 7 类：立体几何大题、解析几何大题、函数与导数大题、数列大题、解三角形大题、简单的概率统计大题、困难的概率大题。&lt;/Text&gt;&lt;/Box&gt;&lt;/Box&gt;&lt;Box style={{ flexDirection: 'row', gap: 12, alignItems: 'flex-start' }}&gt;&lt;Box style={{ width: 8, height: 8, borderRadius: 4, background: '#1E7BE0', marginTop: 9 }} /&gt;&lt;Box style={{ flex: 1 }}&gt;&lt;Text style={{ fontSize: 17, color: '#333A45', fontWeight: 400, lineHeight: 1.6 }}&gt;步骤词表为空的 5 类：选择题、多选题、填空题、其他非常规压轴大题、简单的非标准题目。&lt;/Text&gt;&lt;/Box&gt;&lt;/Box&gt;&lt;Box style={{ flexDirection: 'row', gap: 12, alignItems: 'flex-start' }}&gt;&lt;Box style={{ width: 8, height: 8, borderRadius: 4, background: '#1E7BE0', marginTop: 9 }} /&gt;&lt;Box style={{ flex: 1 }}&gt;&lt;Text style={{ fontSize: 17, color: '#333A45', fontWeight: 400, lineHeight: 1.6 }}&gt;一级步骤 99 个条目按题型作用域统计；二级步骤 359 条目仅按文字去重为 318，318 不是稳定 ID 数量。&lt;/Text&gt;&lt;/Box&gt;&lt;/Box&gt;&lt;Box style={{ flexDirection: 'row', gap: 12, alignItems: 'flex-start' }}&gt;&lt;Box style={{ width: 8, height: 8, borderRadius: 4, background: '#1E7BE0', marginTop: 9 }} /&gt;&lt;Box style={{ flex: 1 }}&gt;&lt;Text style={{ fontSize: 17, color: '#333A45', fontWeight: 400, lineHeight: 1.6 }}&gt;统计口径声明：本次为静态代码核对 + 本地库只读统计，未调用付费模型、未开展学生效果实验。&lt;/Text&gt;&lt;/Box&gt;&lt;/Box&gt;&lt;/Box&gt;&lt;/Box&gt;&lt;/Box&gt;&lt;/Box&gt;&lt;Box style={{ height: 40, flexDirection: 'row', justifyContent: 'space-between', alignItems: 'center', borderTop: '1px solid #E3E8EF', marginTop: 8 }}&gt;&lt;Text style={{ fontSize: 13, color: '#7A8699', fontWeight: 400, lineHeight: 1.4 }}&gt;依据：当前实现能力与名词数量.md §1&lt;/Text&gt;&lt;Text style={{ fontSize: 14, color: '#7A8699', fontWeight: 400, lineHeight: 1.4 }}&gt; 13 / 124 &lt;/Text&gt;&lt;/Box&gt;&lt;/Slide&gt;"/>
        <p:cNvGrpSpPr/>
        <p:nvPr/>
      </p:nvGrpSpPr>
      <p:grpSpPr>
        <a:xfrm>
          <a:off x="0" y="0"/>
          <a:ext cx="0" cy="0"/>
          <a:chOff x="0" y="0"/>
          <a:chExt cx="0" cy="0"/>
        </a:xfrm>
      </p:grpSpPr>
      <p:sp>
        <p:nvSpPr>
          <p:cNvPr id="815" name=""/>
          <p:cNvSpPr/>
          <p:nvPr/>
        </p:nvSpPr>
        <p:spPr>
          <a:xfrm rot="0" flipH="0" flipV="0">
            <a:off x="0" y="0"/>
            <a:ext cx="12192000" cy="6858000"/>
          </a:xfrm>
          <a:prstGeom prst="rect">
            <a:avLst/>
          </a:prstGeom>
          <a:solidFill>
            <a:srgbClr val="FFFFFF"/>
          </a:solidFill>
          <a:ln/>
        </p:spPr>
        <p:txBody>
          <a:bodyPr/>
          <a:p/>
        </p:txBody>
      </p:sp>
      <p:sp>
        <p:nvSpPr>
          <p:cNvPr id="816" name="" descr="{&quot;isTemplate&quot;:true,&quot;type&quot;:&quot;text&quot;}"/>
          <p:cNvSpPr txBox="1"/>
          <p:nvPr/>
        </p:nvSpPr>
        <p:spPr>
          <a:xfrm rot="0" flipH="0" flipV="0">
            <a:off x="666750" y="381000"/>
            <a:ext cx="4876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02 / </a:t>
            </a:r>
            <a:r>
              <a:rPr lang="zh-CN" sz="1050" spc="75">
                <a:solidFill>
                  <a:srgbClr val="7A8699"/>
                </a:solidFill>
                <a:latin typeface="Microsoft YaHei"/>
                <a:ea typeface="Microsoft YaHei"/>
              </a:rPr>
              <a:t>现状盘点</a:t>
            </a:r>
            <a:endParaRPr/>
          </a:p>
        </p:txBody>
      </p:sp>
      <p:sp>
        <p:nvSpPr>
          <p:cNvPr id="817" name="" descr="{&quot;isTemplate&quot;:true,&quot;type&quot;:&quot;text&quot;}"/>
          <p:cNvSpPr txBox="1"/>
          <p:nvPr/>
        </p:nvSpPr>
        <p:spPr>
          <a:xfrm rot="0" flipH="0" flipV="0">
            <a:off x="666750" y="666750"/>
            <a:ext cx="4876800" cy="476250"/>
          </a:xfrm>
          <a:prstGeom prst="rect"/>
        </p:spPr>
        <p:txBody>
          <a:bodyPr wrap="none" lIns="0" tIns="0" rIns="0" bIns="0"/>
          <a:p>
            <a:pPr>
              <a:lnSpc>
                <a:spcPct val="130000"/>
              </a:lnSpc>
            </a:pPr>
            <a:r>
              <a:rPr lang="zh-CN" sz="2400" b="1">
                <a:solidFill>
                  <a:srgbClr val="0E2340"/>
                </a:solidFill>
                <a:latin typeface="Microsoft YaHei"/>
                <a:ea typeface="Microsoft YaHei"/>
              </a:rPr>
              <a:t>三套“套路”编号体系与题型槽位覆盖</a:t>
            </a:r>
            <a:endParaRPr/>
          </a:p>
        </p:txBody>
      </p:sp>
      <p:sp>
        <p:nvSpPr>
          <p:cNvPr id="818" name=""/>
          <p:cNvSpPr/>
          <p:nvPr/>
        </p:nvSpPr>
        <p:spPr>
          <a:xfrm rot="0" flipH="0" flipV="0">
            <a:off x="10820400" y="847725"/>
            <a:ext cx="704850" cy="295275"/>
          </a:xfrm>
          <a:prstGeom prst="roundRect">
            <a:avLst>
              <a:gd name="adj" fmla="val 64516"/>
            </a:avLst>
          </a:prstGeom>
          <a:solidFill>
            <a:srgbClr val="1E9E62"/>
          </a:solidFill>
          <a:ln/>
        </p:spPr>
        <p:txBody>
          <a:bodyPr/>
          <a:p/>
        </p:txBody>
      </p:sp>
      <p:sp>
        <p:nvSpPr>
          <p:cNvPr id="819"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已实现</a:t>
            </a:r>
            <a:endParaRPr/>
          </a:p>
        </p:txBody>
      </p:sp>
      <p:pic>
        <p:nvPicPr>
          <p:cNvPr id="820" name=""/>
          <p:cNvPicPr>
            <a:picLocks noChangeAspect="1"/>
          </p:cNvPicPr>
          <p:nvPr/>
        </p:nvPicPr>
        <p:blipFill>
          <a:blip>
            <a:extLst>
              <a:ext uri="{96DAC541-7B7A-43D3-8B79-37D633B846F1}">
                <asvg:svgBlip r:embed="rId1"/>
              </a:ext>
            </a:extLst>
          </a:blip>
          <a:stretch>
            <a:fillRect/>
          </a:stretch>
        </p:blipFill>
        <p:spPr>
          <a:xfrm rot="0" flipH="0" flipV="0">
            <a:off x="666750" y="1666875"/>
            <a:ext cx="4000500" cy="2857500"/>
          </a:xfrm>
          <a:prstGeom prst="rect">
            <a:avLst/>
          </a:prstGeom>
          <a:ln/>
        </p:spPr>
      </p:pic>
      <p:pic>
        <p:nvPicPr>
          <p:cNvPr id="821" name=""/>
          <p:cNvPicPr>
            <a:picLocks noChangeAspect="1"/>
          </p:cNvPicPr>
          <p:nvPr/>
        </p:nvPicPr>
        <p:blipFill>
          <a:blip>
            <a:extLst>
              <a:ext uri="{96DAC541-7B7A-43D3-8B79-37D633B846F1}">
                <asvg:svgBlip r:embed="rId2"/>
              </a:ext>
            </a:extLst>
          </a:blip>
          <a:stretch>
            <a:fillRect/>
          </a:stretch>
        </p:blipFill>
        <p:spPr>
          <a:xfrm rot="0" flipH="0" flipV="0">
            <a:off x="666750" y="4524375"/>
            <a:ext cx="6667500" cy="1238250"/>
          </a:xfrm>
          <a:prstGeom prst="rect">
            <a:avLst/>
          </a:prstGeom>
          <a:ln/>
        </p:spPr>
      </p:pic>
      <p:sp>
        <p:nvSpPr>
          <p:cNvPr id="822" name="" descr="{&quot;isTemplate&quot;:true,&quot;type&quot;:&quot;text&quot;}"/>
          <p:cNvSpPr txBox="1"/>
          <p:nvPr/>
        </p:nvSpPr>
        <p:spPr>
          <a:xfrm rot="0" flipH="0" flipV="0">
            <a:off x="7600950" y="1790700"/>
            <a:ext cx="3924300" cy="342900"/>
          </a:xfrm>
          <a:prstGeom prst="rect"/>
        </p:spPr>
        <p:txBody>
          <a:bodyPr wrap="none" lIns="0" tIns="0" rIns="0" bIns="0"/>
          <a:p>
            <a:pPr>
              <a:lnSpc>
                <a:spcPct val="140000"/>
              </a:lnSpc>
            </a:pPr>
            <a:r>
              <a:rPr lang="zh-CN" sz="1575" b="1">
                <a:solidFill>
                  <a:srgbClr val="0E2340"/>
                </a:solidFill>
                <a:latin typeface="Microsoft YaHei"/>
                <a:ea typeface="Microsoft YaHei"/>
              </a:rPr>
              <a:t>读表提醒</a:t>
            </a:r>
            <a:endParaRPr/>
          </a:p>
        </p:txBody>
      </p:sp>
      <p:sp>
        <p:nvSpPr>
          <p:cNvPr id="823" name=""/>
          <p:cNvSpPr/>
          <p:nvPr/>
        </p:nvSpPr>
        <p:spPr>
          <a:xfrm rot="0" flipH="0" flipV="0">
            <a:off x="7600950" y="2324100"/>
            <a:ext cx="76200" cy="76200"/>
          </a:xfrm>
          <a:prstGeom prst="roundRect">
            <a:avLst>
              <a:gd name="adj" fmla="val 50000"/>
            </a:avLst>
          </a:prstGeom>
          <a:solidFill>
            <a:srgbClr val="1E7BE0"/>
          </a:solidFill>
          <a:ln/>
        </p:spPr>
        <p:txBody>
          <a:bodyPr/>
          <a:p/>
        </p:txBody>
      </p:sp>
      <p:sp>
        <p:nvSpPr>
          <p:cNvPr id="824" name="" descr="{&quot;isTemplate&quot;:true,&quot;type&quot;:&quot;text&quot;}"/>
          <p:cNvSpPr txBox="1"/>
          <p:nvPr/>
        </p:nvSpPr>
        <p:spPr>
          <a:xfrm rot="0" flipH="0" flipV="0">
            <a:off x="7791450" y="2238375"/>
            <a:ext cx="3733800" cy="9334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有预定义步骤的</a:t>
            </a:r>
            <a:r>
              <a:rPr lang="en-US" sz="1275">
                <a:solidFill>
                  <a:srgbClr val="333A45"/>
                </a:solidFill>
                <a:latin typeface="Microsoft YaHei"/>
                <a:ea typeface="Microsoft YaHei"/>
              </a:rPr>
              <a:t xml:space="preserve"> 7 </a:t>
            </a:r>
            <a:r>
              <a:rPr lang="zh-CN" sz="1275">
                <a:solidFill>
                  <a:srgbClr val="333A45"/>
                </a:solidFill>
                <a:latin typeface="Microsoft YaHei"/>
                <a:ea typeface="Microsoft YaHei"/>
              </a:rPr>
              <a:t>类：立体几何大题、解析几何大题、函数与导数大题、数列大题、解三角形大题、简单的概率统计大题、困难的概率大题。</a:t>
            </a:r>
            <a:endParaRPr/>
          </a:p>
        </p:txBody>
      </p:sp>
      <p:sp>
        <p:nvSpPr>
          <p:cNvPr id="825" name=""/>
          <p:cNvSpPr/>
          <p:nvPr/>
        </p:nvSpPr>
        <p:spPr>
          <a:xfrm rot="0" flipH="0" flipV="0">
            <a:off x="7600950" y="3352800"/>
            <a:ext cx="76200" cy="76200"/>
          </a:xfrm>
          <a:prstGeom prst="roundRect">
            <a:avLst>
              <a:gd name="adj" fmla="val 50000"/>
            </a:avLst>
          </a:prstGeom>
          <a:solidFill>
            <a:srgbClr val="1E7BE0"/>
          </a:solidFill>
          <a:ln/>
        </p:spPr>
        <p:txBody>
          <a:bodyPr/>
          <a:p/>
        </p:txBody>
      </p:sp>
      <p:sp>
        <p:nvSpPr>
          <p:cNvPr id="826" name="" descr="{&quot;isTemplate&quot;:true,&quot;type&quot;:&quot;text&quot;}"/>
          <p:cNvSpPr txBox="1"/>
          <p:nvPr/>
        </p:nvSpPr>
        <p:spPr>
          <a:xfrm rot="0" flipH="0" flipV="0">
            <a:off x="7791450" y="326707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步骤词表为空的</a:t>
            </a:r>
            <a:r>
              <a:rPr lang="en-US" sz="1275">
                <a:solidFill>
                  <a:srgbClr val="333A45"/>
                </a:solidFill>
                <a:latin typeface="Microsoft YaHei"/>
                <a:ea typeface="Microsoft YaHei"/>
              </a:rPr>
              <a:t xml:space="preserve"> 5 </a:t>
            </a:r>
            <a:r>
              <a:rPr lang="zh-CN" sz="1275">
                <a:solidFill>
                  <a:srgbClr val="333A45"/>
                </a:solidFill>
                <a:latin typeface="Microsoft YaHei"/>
                <a:ea typeface="Microsoft YaHei"/>
              </a:rPr>
              <a:t>类：选择题、多选题、填空题、其他非常规压轴大题、简单的非标准题目。</a:t>
            </a:r>
            <a:endParaRPr/>
          </a:p>
        </p:txBody>
      </p:sp>
      <p:sp>
        <p:nvSpPr>
          <p:cNvPr id="827" name=""/>
          <p:cNvSpPr/>
          <p:nvPr/>
        </p:nvSpPr>
        <p:spPr>
          <a:xfrm rot="0" flipH="0" flipV="0">
            <a:off x="7600950" y="4076700"/>
            <a:ext cx="76200" cy="76200"/>
          </a:xfrm>
          <a:prstGeom prst="roundRect">
            <a:avLst>
              <a:gd name="adj" fmla="val 50000"/>
            </a:avLst>
          </a:prstGeom>
          <a:solidFill>
            <a:srgbClr val="1E7BE0"/>
          </a:solidFill>
          <a:ln/>
        </p:spPr>
        <p:txBody>
          <a:bodyPr/>
          <a:p/>
        </p:txBody>
      </p:sp>
      <p:sp>
        <p:nvSpPr>
          <p:cNvPr id="828" name="" descr="{&quot;isTemplate&quot;:true,&quot;type&quot;:&quot;text&quot;}"/>
          <p:cNvSpPr txBox="1"/>
          <p:nvPr/>
        </p:nvSpPr>
        <p:spPr>
          <a:xfrm rot="0" flipH="0" flipV="0">
            <a:off x="7791450" y="3990975"/>
            <a:ext cx="3733800" cy="9334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一级步骤</a:t>
            </a:r>
            <a:r>
              <a:rPr lang="en-US" sz="1275">
                <a:solidFill>
                  <a:srgbClr val="333A45"/>
                </a:solidFill>
                <a:latin typeface="Microsoft YaHei"/>
                <a:ea typeface="Microsoft YaHei"/>
              </a:rPr>
              <a:t xml:space="preserve"> 99 </a:t>
            </a:r>
            <a:r>
              <a:rPr lang="zh-CN" sz="1275">
                <a:solidFill>
                  <a:srgbClr val="333A45"/>
                </a:solidFill>
                <a:latin typeface="Microsoft YaHei"/>
                <a:ea typeface="Microsoft YaHei"/>
              </a:rPr>
              <a:t>个条目按题型作用域统计；二级步骤</a:t>
            </a:r>
            <a:r>
              <a:rPr lang="en-US" sz="1275">
                <a:solidFill>
                  <a:srgbClr val="333A45"/>
                </a:solidFill>
                <a:latin typeface="Microsoft YaHei"/>
                <a:ea typeface="Microsoft YaHei"/>
              </a:rPr>
              <a:t xml:space="preserve"> 359 </a:t>
            </a:r>
            <a:r>
              <a:rPr lang="zh-CN" sz="1275">
                <a:solidFill>
                  <a:srgbClr val="333A45"/>
                </a:solidFill>
                <a:latin typeface="Microsoft YaHei"/>
                <a:ea typeface="Microsoft YaHei"/>
              </a:rPr>
              <a:t>条目仅按文字去重为</a:t>
            </a:r>
            <a:r>
              <a:rPr lang="en-US" sz="1275">
                <a:solidFill>
                  <a:srgbClr val="333A45"/>
                </a:solidFill>
                <a:latin typeface="Microsoft YaHei"/>
                <a:ea typeface="Microsoft YaHei"/>
              </a:rPr>
              <a:t xml:space="preserve"> 318</a:t>
            </a:r>
            <a:r>
              <a:rPr lang="zh-CN" sz="1275">
                <a:solidFill>
                  <a:srgbClr val="333A45"/>
                </a:solidFill>
                <a:latin typeface="Microsoft YaHei"/>
                <a:ea typeface="Microsoft YaHei"/>
              </a:rPr>
              <a:t>，</a:t>
            </a:r>
            <a:r>
              <a:rPr lang="en-US" sz="1275">
                <a:solidFill>
                  <a:srgbClr val="333A45"/>
                </a:solidFill>
                <a:latin typeface="Microsoft YaHei"/>
                <a:ea typeface="Microsoft YaHei"/>
              </a:rPr>
              <a:t xml:space="preserve">318 </a:t>
            </a:r>
            <a:r>
              <a:rPr lang="zh-CN" sz="1275">
                <a:solidFill>
                  <a:srgbClr val="333A45"/>
                </a:solidFill>
                <a:latin typeface="Microsoft YaHei"/>
                <a:ea typeface="Microsoft YaHei"/>
              </a:rPr>
              <a:t>不是稳定</a:t>
            </a:r>
            <a:r>
              <a:rPr lang="en-US" sz="1275">
                <a:solidFill>
                  <a:srgbClr val="333A45"/>
                </a:solidFill>
                <a:latin typeface="Microsoft YaHei"/>
                <a:ea typeface="Microsoft YaHei"/>
              </a:rPr>
              <a:t xml:space="preserve"> ID </a:t>
            </a:r>
            <a:r>
              <a:rPr lang="zh-CN" sz="1275">
                <a:solidFill>
                  <a:srgbClr val="333A45"/>
                </a:solidFill>
                <a:latin typeface="Microsoft YaHei"/>
                <a:ea typeface="Microsoft YaHei"/>
              </a:rPr>
              <a:t>数量。</a:t>
            </a:r>
            <a:endParaRPr/>
          </a:p>
        </p:txBody>
      </p:sp>
      <p:sp>
        <p:nvSpPr>
          <p:cNvPr id="829" name=""/>
          <p:cNvSpPr/>
          <p:nvPr/>
        </p:nvSpPr>
        <p:spPr>
          <a:xfrm rot="0" flipH="0" flipV="0">
            <a:off x="7600950" y="5105400"/>
            <a:ext cx="76200" cy="76200"/>
          </a:xfrm>
          <a:prstGeom prst="roundRect">
            <a:avLst>
              <a:gd name="adj" fmla="val 50000"/>
            </a:avLst>
          </a:prstGeom>
          <a:solidFill>
            <a:srgbClr val="1E7BE0"/>
          </a:solidFill>
          <a:ln/>
        </p:spPr>
        <p:txBody>
          <a:bodyPr/>
          <a:p/>
        </p:txBody>
      </p:sp>
      <p:sp>
        <p:nvSpPr>
          <p:cNvPr id="830" name="" descr="{&quot;isTemplate&quot;:true,&quot;type&quot;:&quot;text&quot;}"/>
          <p:cNvSpPr txBox="1"/>
          <p:nvPr/>
        </p:nvSpPr>
        <p:spPr>
          <a:xfrm rot="0" flipH="0" flipV="0">
            <a:off x="7791450" y="501967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统计口径声明：本次为静态代码核对</a:t>
            </a:r>
            <a:r>
              <a:rPr lang="en-US" sz="1275">
                <a:solidFill>
                  <a:srgbClr val="333A45"/>
                </a:solidFill>
                <a:latin typeface="Microsoft YaHei"/>
                <a:ea typeface="Microsoft YaHei"/>
              </a:rPr>
              <a:t xml:space="preserve"> + </a:t>
            </a:r>
            <a:r>
              <a:rPr lang="zh-CN" sz="1275">
                <a:solidFill>
                  <a:srgbClr val="333A45"/>
                </a:solidFill>
                <a:latin typeface="Microsoft YaHei"/>
                <a:ea typeface="Microsoft YaHei"/>
              </a:rPr>
              <a:t>本地库只读统计，未调用付费模型、未开展学生效果实验。</a:t>
            </a:r>
            <a:endParaRPr/>
          </a:p>
        </p:txBody>
      </p:sp>
      <p:sp>
        <p:nvSpPr>
          <p:cNvPr id="831"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832"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依据：当前实现能力与名词数量</a:t>
            </a:r>
            <a:r>
              <a:rPr lang="en-US" sz="975">
                <a:solidFill>
                  <a:srgbClr val="7A8699"/>
                </a:solidFill>
                <a:latin typeface="Microsoft YaHei"/>
                <a:ea typeface="Microsoft YaHei"/>
              </a:rPr>
              <a:t>.md §1</a:t>
            </a:r>
            <a:endParaRPr/>
          </a:p>
        </p:txBody>
      </p:sp>
      <p:sp>
        <p:nvSpPr>
          <p:cNvPr id="833"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13 / 124 </a:t>
            </a:r>
            <a:endParaRPr/>
          </a:p>
        </p:txBody>
      </p:sp>
    </p:spTree>
  </p:cSld>
</p:sld>
</file>

<file path=ppt/slides/slide14.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834"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2 / 现状盘点&lt;/Text&gt;&lt;Text style={{ fontSize: 32, color: '#0E2340', fontWeight: 700, lineHeight: 1.3 }}&gt;共用技术基础：公开 API + 提示词 + 结构保护&lt;/Text&gt;&lt;/Box&gt;&lt;Box style={{ flexDirection: 'row', alignItems: 'center', padding: '7px 16px', borderRadius: 20, background: '#1E9E62' }}&gt;&lt;Text style={{ fontSize: 14, color: '#FFFFFF', fontWeight: 600 }}&gt;已实现&lt;/Text&gt;&lt;/Box&gt;&lt;/Box&gt;&lt;Box style={{ height: 532, paddingTop: 8, flexDirection: 'column' }}&gt;&lt;Box style={{ flexDirection: 'column', flex: 1, justifyContent: 'center', gap: 14 }}&gt;&lt;Box style={{ flexDirection: 'column', gap: 16, flex: 1, justifyContent: 'center' }}&gt;&lt;svg width={1140} height={330} viewBox='0 0 1140 330'&gt;&lt;rect x='0' y='0' width='1140' height='73' rx='8' fill='#0E2340'/&gt;&lt;text x='570.0' y='30.5' font-size='22' fill='#FFFFFF' text-anchor='middle' font-weight='600'&gt;模型调用层&lt;/text&gt;&lt;text x='570.0' y='56.5' font-size='15' fill='#C8DCF2' text-anchor='middle' font-weight='400'&gt;backend/solver.py 的 call_deepseek，默认 DeepSeek，预留本地调用器分支&lt;/text&gt;&lt;path d='M562 74 l8 8 l-8 8' fill='none' stroke='#00A9B5' stroke-width='2'/&gt;&lt;rect x='0' y='85' width='1140' height='73' rx='8' fill='#1B4E8C'/&gt;&lt;text x='570.0' y='115.5' font-size='22' fill='#FFFFFF' text-anchor='middle' font-weight='600'&gt;提示词层&lt;/text&gt;&lt;text x='570.0' y='141.5' font-size='15' fill='#C8DCF2' text-anchor='middle' font-weight='400'&gt;solver.md / verifiers/ / formatter.md / grade.md / teach_format.md / teach_check.md / generate.md&lt;/text&gt;&lt;path d='M562 159 l8 8 l-8 8' fill='none' stroke='#00A9B5' stroke-width='2'/&gt;&lt;rect x='0' y='170' width='1140' height='73' rx='8' fill='#1E7BE0'/&gt;&lt;text x='570.0' y='200.5' font-size='22' fill='#FFFFFF' text-anchor='middle' font-weight='600'&gt;输出保护层&lt;/text&gt;&lt;text x='570.0' y='226.5' font-size='15' fill='#C8DCF2' text-anchor='middle' font-weight='400'&gt;正则提取、JSON 解析、字段检查&lt;/text&gt;&lt;path d='M562 244 l8 8 l-8 8' fill='none' stroke='#00A9B5' stroke-width='2'/&gt;&lt;rect x='0' y='255' width='1140' height='73' rx='8' fill='#9FD0F5'/&gt;&lt;text x='570.0' y='285.5' font-size='22' fill='#0E2340' text-anchor='middle' font-weight='600'&gt;确定性处理层&lt;/text&gt;&lt;text x='570.0' y='311.5' font-size='15' fill='#333A45' text-anchor='middle' font-weight='400'&gt;后端规则处理与聚合，不依赖模型判断&lt;/text&gt;&lt;/svg&gt;&lt;/Box&gt;&lt;Box style={{ flexDirection: 'row', alignItems: 'center', background: '#F5F7FA', borderLeft: '4px solid #E8A33D', borderRadius: 6, padding: '14px 20px' }}&gt;&lt;Text style={{ fontSize: 17, color: '#0E2340', fontWeight: 600, lineHeight: 1.5 }}&gt;边界：主链路无自训练或微调模型环节；正则和 JSON 检查用于保护结构，不能证明推导或答案的数学正确性&lt;/Text&gt;&lt;/Box&gt;&lt;/Box&gt;&lt;/Box&gt;&lt;Box style={{ height: 40, flexDirection: 'row', justifyContent: 'space-between', alignItems: 'center', borderTop: '1px solid #E3E8EF', marginTop: 8 }}&gt;&lt;Text style={{ fontSize: 13, color: '#7A8699', fontWeight: 400, lineHeight: 1.4 }}&gt;依据：当前实现能力与名词数量.md §2&lt;/Text&gt;&lt;Text style={{ fontSize: 14, color: '#7A8699', fontWeight: 400, lineHeight: 1.4 }}&gt; 14 / 124 &lt;/Text&gt;&lt;/Box&gt;&lt;/Slide&gt;"/>
        <p:cNvGrpSpPr/>
        <p:nvPr/>
      </p:nvGrpSpPr>
      <p:grpSpPr>
        <a:xfrm>
          <a:off x="0" y="0"/>
          <a:ext cx="0" cy="0"/>
          <a:chOff x="0" y="0"/>
          <a:chExt cx="0" cy="0"/>
        </a:xfrm>
      </p:grpSpPr>
      <p:sp>
        <p:nvSpPr>
          <p:cNvPr id="835" name=""/>
          <p:cNvSpPr/>
          <p:nvPr/>
        </p:nvSpPr>
        <p:spPr>
          <a:xfrm rot="0" flipH="0" flipV="0">
            <a:off x="0" y="0"/>
            <a:ext cx="12192000" cy="6858000"/>
          </a:xfrm>
          <a:prstGeom prst="rect">
            <a:avLst/>
          </a:prstGeom>
          <a:solidFill>
            <a:srgbClr val="FFFFFF"/>
          </a:solidFill>
          <a:ln/>
        </p:spPr>
        <p:txBody>
          <a:bodyPr/>
          <a:p/>
        </p:txBody>
      </p:sp>
      <p:sp>
        <p:nvSpPr>
          <p:cNvPr id="836" name="" descr="{&quot;isTemplate&quot;:true,&quot;type&quot;:&quot;text&quot;}"/>
          <p:cNvSpPr txBox="1"/>
          <p:nvPr/>
        </p:nvSpPr>
        <p:spPr>
          <a:xfrm rot="0" flipH="0" flipV="0">
            <a:off x="666750" y="381000"/>
            <a:ext cx="61722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02 / </a:t>
            </a:r>
            <a:r>
              <a:rPr lang="zh-CN" sz="1050" spc="75">
                <a:solidFill>
                  <a:srgbClr val="7A8699"/>
                </a:solidFill>
                <a:latin typeface="Microsoft YaHei"/>
                <a:ea typeface="Microsoft YaHei"/>
              </a:rPr>
              <a:t>现状盘点</a:t>
            </a:r>
            <a:endParaRPr/>
          </a:p>
        </p:txBody>
      </p:sp>
      <p:sp>
        <p:nvSpPr>
          <p:cNvPr id="837" name="" descr="{&quot;isTemplate&quot;:true,&quot;type&quot;:&quot;text&quot;}"/>
          <p:cNvSpPr txBox="1"/>
          <p:nvPr/>
        </p:nvSpPr>
        <p:spPr>
          <a:xfrm rot="0" flipH="0" flipV="0">
            <a:off x="666750" y="666750"/>
            <a:ext cx="6172200" cy="476250"/>
          </a:xfrm>
          <a:prstGeom prst="rect"/>
        </p:spPr>
        <p:txBody>
          <a:bodyPr wrap="none" lIns="0" tIns="0" rIns="0" bIns="0"/>
          <a:p>
            <a:pPr>
              <a:lnSpc>
                <a:spcPct val="130000"/>
              </a:lnSpc>
            </a:pPr>
            <a:r>
              <a:rPr lang="zh-CN" sz="2400" b="1">
                <a:solidFill>
                  <a:srgbClr val="0E2340"/>
                </a:solidFill>
                <a:latin typeface="Microsoft YaHei"/>
                <a:ea typeface="Microsoft YaHei"/>
              </a:rPr>
              <a:t>共用技术基础：公开</a:t>
            </a:r>
            <a:r>
              <a:rPr lang="en-US" sz="2400" b="1">
                <a:solidFill>
                  <a:srgbClr val="0E2340"/>
                </a:solidFill>
                <a:latin typeface="Microsoft YaHei"/>
                <a:ea typeface="Microsoft YaHei"/>
              </a:rPr>
              <a:t xml:space="preserve"> API + </a:t>
            </a:r>
            <a:r>
              <a:rPr lang="zh-CN" sz="2400" b="1">
                <a:solidFill>
                  <a:srgbClr val="0E2340"/>
                </a:solidFill>
                <a:latin typeface="Microsoft YaHei"/>
                <a:ea typeface="Microsoft YaHei"/>
              </a:rPr>
              <a:t>提示词</a:t>
            </a:r>
            <a:r>
              <a:rPr lang="en-US" sz="2400" b="1">
                <a:solidFill>
                  <a:srgbClr val="0E2340"/>
                </a:solidFill>
                <a:latin typeface="Microsoft YaHei"/>
                <a:ea typeface="Microsoft YaHei"/>
              </a:rPr>
              <a:t xml:space="preserve"> + </a:t>
            </a:r>
            <a:r>
              <a:rPr lang="zh-CN" sz="2400" b="1">
                <a:solidFill>
                  <a:srgbClr val="0E2340"/>
                </a:solidFill>
                <a:latin typeface="Microsoft YaHei"/>
                <a:ea typeface="Microsoft YaHei"/>
              </a:rPr>
              <a:t>结构保护</a:t>
            </a:r>
            <a:endParaRPr/>
          </a:p>
        </p:txBody>
      </p:sp>
      <p:sp>
        <p:nvSpPr>
          <p:cNvPr id="838" name=""/>
          <p:cNvSpPr/>
          <p:nvPr/>
        </p:nvSpPr>
        <p:spPr>
          <a:xfrm rot="0" flipH="0" flipV="0">
            <a:off x="10820400" y="847725"/>
            <a:ext cx="704850" cy="295275"/>
          </a:xfrm>
          <a:prstGeom prst="roundRect">
            <a:avLst>
              <a:gd name="adj" fmla="val 64516"/>
            </a:avLst>
          </a:prstGeom>
          <a:solidFill>
            <a:srgbClr val="1E9E62"/>
          </a:solidFill>
          <a:ln/>
        </p:spPr>
        <p:txBody>
          <a:bodyPr/>
          <a:p/>
        </p:txBody>
      </p:sp>
      <p:sp>
        <p:nvSpPr>
          <p:cNvPr id="839"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已实现</a:t>
            </a:r>
            <a:endParaRPr/>
          </a:p>
        </p:txBody>
      </p:sp>
      <p:pic>
        <p:nvPicPr>
          <p:cNvPr id="840" name=""/>
          <p:cNvPicPr>
            <a:picLocks noChangeAspect="1"/>
          </p:cNvPicPr>
          <p:nvPr/>
        </p:nvPicPr>
        <p:blipFill>
          <a:blip>
            <a:extLst>
              <a:ext uri="{96DAC541-7B7A-43D3-8B79-37D633B846F1}">
                <asvg:svgBlip r:embed="rId1"/>
              </a:ext>
            </a:extLst>
          </a:blip>
          <a:stretch>
            <a:fillRect/>
          </a:stretch>
        </p:blipFill>
        <p:spPr>
          <a:xfrm rot="0" flipH="0" flipV="0">
            <a:off x="666750" y="1800225"/>
            <a:ext cx="10858500" cy="3143250"/>
          </a:xfrm>
          <a:prstGeom prst="rect">
            <a:avLst/>
          </a:prstGeom>
          <a:ln/>
        </p:spPr>
      </p:pic>
      <p:sp>
        <p:nvSpPr>
          <p:cNvPr id="841" name=""/>
          <p:cNvSpPr/>
          <p:nvPr/>
        </p:nvSpPr>
        <p:spPr>
          <a:xfrm rot="0" flipH="0" flipV="0">
            <a:off x="704850" y="5648325"/>
            <a:ext cx="10858500" cy="561975"/>
          </a:xfrm>
          <a:prstGeom prst="roundRect">
            <a:avLst>
              <a:gd name="adj" fmla="val 10169"/>
            </a:avLst>
          </a:prstGeom>
          <a:solidFill>
            <a:srgbClr val="F5F7FA"/>
          </a:solidFill>
          <a:ln/>
        </p:spPr>
        <p:txBody>
          <a:bodyPr/>
          <a:p/>
        </p:txBody>
      </p:sp>
      <p:sp>
        <p:nvSpPr>
          <p:cNvPr id="842" name=""/>
          <p:cNvSpPr/>
          <p:nvPr/>
        </p:nvSpPr>
        <p:spPr>
          <a:xfrm rot="0" flipH="0" flipV="0">
            <a:off x="704850" y="5648325"/>
            <a:ext cx="10858500" cy="561975"/>
          </a:xfrm>
          <a:custGeom>
            <a:pathLst>
              <a:path w="1140" h="59">
                <a:moveTo>
                  <a:pt x="6" y="0"/>
                </a:moveTo>
                <a:cubicBezTo>
                  <a:pt x="5" y="0"/>
                  <a:pt x="4" y="1"/>
                  <a:pt x="4" y="2"/>
                </a:cubicBezTo>
                <a:lnTo>
                  <a:pt x="4" y="57"/>
                </a:lnTo>
                <a:cubicBezTo>
                  <a:pt x="4" y="58"/>
                  <a:pt x="5" y="59"/>
                  <a:pt x="6" y="59"/>
                </a:cubicBezTo>
                <a:cubicBezTo>
                  <a:pt x="3" y="59"/>
                  <a:pt x="0" y="56"/>
                  <a:pt x="0" y="53"/>
                </a:cubicBezTo>
                <a:lnTo>
                  <a:pt x="0" y="6"/>
                </a:lnTo>
                <a:cubicBezTo>
                  <a:pt x="0" y="3"/>
                  <a:pt x="3" y="0"/>
                  <a:pt x="6" y="0"/>
                </a:cubicBezTo>
                <a:close/>
              </a:path>
            </a:pathLst>
          </a:custGeom>
          <a:solidFill>
            <a:srgbClr val="E8A33D"/>
          </a:solidFill>
          <a:ln/>
        </p:spPr>
        <p:txBody>
          <a:bodyPr/>
          <a:p/>
        </p:txBody>
      </p:sp>
      <p:sp>
        <p:nvSpPr>
          <p:cNvPr id="843" name="" descr="{&quot;isTemplate&quot;:true,&quot;type&quot;:&quot;text&quot;}"/>
          <p:cNvSpPr txBox="1"/>
          <p:nvPr/>
        </p:nvSpPr>
        <p:spPr>
          <a:xfrm rot="0" flipH="0" flipV="0">
            <a:off x="895350" y="5781675"/>
            <a:ext cx="7820025" cy="295275"/>
          </a:xfrm>
          <a:prstGeom prst="rect"/>
        </p:spPr>
        <p:txBody>
          <a:bodyPr wrap="none" lIns="0" tIns="0" rIns="0" bIns="0"/>
          <a:p>
            <a:pPr>
              <a:lnSpc>
                <a:spcPct val="150000"/>
              </a:lnSpc>
            </a:pPr>
            <a:r>
              <a:rPr lang="zh-CN" sz="1275" b="1">
                <a:solidFill>
                  <a:srgbClr val="0E2340"/>
                </a:solidFill>
                <a:latin typeface="Microsoft YaHei"/>
                <a:ea typeface="Microsoft YaHei"/>
              </a:rPr>
              <a:t>边界：主链路无自训练或微调模型环节；正则和</a:t>
            </a:r>
            <a:r>
              <a:rPr lang="en-US" sz="1275" b="1">
                <a:solidFill>
                  <a:srgbClr val="0E2340"/>
                </a:solidFill>
                <a:latin typeface="Microsoft YaHei"/>
                <a:ea typeface="Microsoft YaHei"/>
              </a:rPr>
              <a:t xml:space="preserve"> JSON </a:t>
            </a:r>
            <a:r>
              <a:rPr lang="zh-CN" sz="1275" b="1">
                <a:solidFill>
                  <a:srgbClr val="0E2340"/>
                </a:solidFill>
                <a:latin typeface="Microsoft YaHei"/>
                <a:ea typeface="Microsoft YaHei"/>
              </a:rPr>
              <a:t>检查用于保护结构，不能证明推导或答案的数学正确性</a:t>
            </a:r>
            <a:endParaRPr/>
          </a:p>
        </p:txBody>
      </p:sp>
      <p:sp>
        <p:nvSpPr>
          <p:cNvPr id="844"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845"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依据：当前实现能力与名词数量</a:t>
            </a:r>
            <a:r>
              <a:rPr lang="en-US" sz="975">
                <a:solidFill>
                  <a:srgbClr val="7A8699"/>
                </a:solidFill>
                <a:latin typeface="Microsoft YaHei"/>
                <a:ea typeface="Microsoft YaHei"/>
              </a:rPr>
              <a:t>.md §2</a:t>
            </a:r>
            <a:endParaRPr/>
          </a:p>
        </p:txBody>
      </p:sp>
      <p:sp>
        <p:nvSpPr>
          <p:cNvPr id="846"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14 / 124 </a:t>
            </a:r>
            <a:endParaRPr/>
          </a:p>
        </p:txBody>
      </p:sp>
    </p:spTree>
  </p:cSld>
</p:sld>
</file>

<file path=ppt/slides/slide15.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847"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2 / 现状盘点&lt;/Text&gt;&lt;Text style={{ fontSize: 32, color: '#0E2340', fontWeight: 700, lineHeight: 1.3 }}&gt;AI 解题：已实现的三阶段流水线&lt;/Text&gt;&lt;/Box&gt;&lt;Box style={{ flexDirection: 'row', alignItems: 'center', padding: '7px 16px', borderRadius: 20, background: '#1E9E62' }}&gt;&lt;Text style={{ fontSize: 14, color: '#FFFFFF', fontWeight: 600 }}&gt;已实现&lt;/Text&gt;&lt;/Box&gt;&lt;/Box&gt;&lt;Box style={{ height: 532, paddingTop: 8, flexDirection: 'column' }}&gt;&lt;Box style={{ flexDirection: 'column', gap: 16, flex: 1, justifyContent: 'center' }}&gt;&lt;svg width={1140} height={190} viewBox='0 0 1140 190'&gt;&lt;rect x='0' y='40' width='349' height='88' rx='8' fill='#0E2340' stroke='#1E7BE0' stroke-width='1.5'/&gt;&lt;text x='174.5' y='78.0' font-size='20' fill='#FFFFFF' text-anchor='middle' font-weight='600'&gt;step_solver_only&lt;/text&gt;&lt;text x='174.5' y='104.0' font-size='15' fill='#FFFFFF' text-anchor='middle' font-weight='400'&gt;Solver：理解题目、给出完整解答&lt;/text&gt;&lt;line x1='355' y1='84' x2='381' y2='84' stroke='#1E7BE0' stroke-width='2'/&gt;&lt;path d='M381 78 l10 -6 l0 12 z' fill='#1E7BE0'/&gt;&lt;rect x='395' y='40' width='349' height='88' rx='8' fill='#FFFFFF' stroke='#1E7BE0' stroke-width='1.5'/&gt;&lt;text x='569.5' y='78.0' font-size='20' fill='#0E2340' text-anchor='middle' font-weight='600'&gt;step_verify_all&lt;/text&gt;&lt;text x='569.5' y='104.0' font-size='15' fill='#7A8699' text-anchor='middle' font-weight='400'&gt;Verifier：检查并按步骤拆分、关联知识点&lt;/text&gt;&lt;line x1='750' y1='84' x2='776' y2='84' stroke='#1E7BE0' stroke-width='2'/&gt;&lt;path d='M776 78 l10 -6 l0 12 z' fill='#1E7BE0'/&gt;&lt;rect x='790' y='40' width='349' height='88' rx='8' fill='#F5F7FA' stroke='#1E7BE0' stroke-width='1.5'/&gt;&lt;text x='964.5' y='78.0' font-size='20' fill='#0E2340' text-anchor='middle' font-weight='600'&gt;step_final_check&lt;/text&gt;&lt;text x='964.5' y='104.0' font-size='15' fill='#7A8699' text-anchor='middle' font-weight='400'&gt;Formatter：一致性检查与结构化输出&lt;/text&gt;&lt;/svg&gt;&lt;svg width={1140} height={190} viewBox='0 0 1140 190'&gt;&lt;rect x='0' y='10' width='1140' height='164' rx='8' fill='#F5F7FA'/&gt;&lt;text x='24' y='44' font-size='18' fill='#0E2340' text-anchor='start' font-weight='700'&gt;核心字段&lt;/text&gt;&lt;text x='24' y='76' font-size='15' fill='#333A45' text-anchor='start' font-weight='400'&gt;chunk_id · step_number · title · step_level1 · standard_writing · detailed_writing · knowledge_point · step_difficulty&lt;/text&gt;&lt;text x='24' y='110' font-size='15' fill='#E8A33D' text-anchor='start' font-weight='600'&gt;容错：Formatter 失败时重跑 Verifier 再试 Formatter；仍失败返回 error=formatter_failed、formatter_fallback=true&lt;/text&gt;&lt;text x='24' y='146' font-size='15' fill='#7A8699' text-anchor='start' font-weight='400'&gt;陷阱：step_level1 是历史字段名，实际承载二级具体步骤名，不能凭名字理解层级；并非所有解析步骤都被强制映射成 YAML 唯一 ID&lt;/text&gt;&lt;/svg&gt;&lt;Box style={{ flexDirection: 'row', alignItems: 'center', background: '#F5F7FA', borderLeft: '4px solid #1E7BE0', borderRadius: 6, padding: '14px 20px' }}&gt;&lt;Text style={{ fontSize: 20, color: '#0E2340', fontWeight: 600, lineHeight: 1.5 }}&gt;标准过程用于呈现关键推导与得分内容，详细过程用于帮助理解。&lt;/Text&gt;&lt;/Box&gt;&lt;/Box&gt;&lt;/Box&gt;&lt;Box style={{ height: 40, flexDirection: 'row', justifyContent: 'space-between', alignItems: 'center', borderTop: '1px solid #E3E8EF', marginTop: 8 }}&gt;&lt;Text style={{ fontSize: 13, color: '#7A8699', fontWeight: 400, lineHeight: 1.4 }}&gt;依据：当前实现能力与名词数量.md §3&lt;/Text&gt;&lt;Text style={{ fontSize: 14, color: '#7A8699', fontWeight: 400, lineHeight: 1.4 }}&gt; 15 / 124 &lt;/Text&gt;&lt;/Box&gt;&lt;/Slide&gt;"/>
        <p:cNvGrpSpPr/>
        <p:nvPr/>
      </p:nvGrpSpPr>
      <p:grpSpPr>
        <a:xfrm>
          <a:off x="0" y="0"/>
          <a:ext cx="0" cy="0"/>
          <a:chOff x="0" y="0"/>
          <a:chExt cx="0" cy="0"/>
        </a:xfrm>
      </p:grpSpPr>
      <p:sp>
        <p:nvSpPr>
          <p:cNvPr id="848" name=""/>
          <p:cNvSpPr/>
          <p:nvPr/>
        </p:nvSpPr>
        <p:spPr>
          <a:xfrm rot="0" flipH="0" flipV="0">
            <a:off x="0" y="0"/>
            <a:ext cx="12192000" cy="6858000"/>
          </a:xfrm>
          <a:prstGeom prst="rect">
            <a:avLst/>
          </a:prstGeom>
          <a:solidFill>
            <a:srgbClr val="FFFFFF"/>
          </a:solidFill>
          <a:ln/>
        </p:spPr>
        <p:txBody>
          <a:bodyPr/>
          <a:p/>
        </p:txBody>
      </p:sp>
      <p:sp>
        <p:nvSpPr>
          <p:cNvPr id="849" name="" descr="{&quot;isTemplate&quot;:true,&quot;type&quot;:&quot;text&quot;}"/>
          <p:cNvSpPr txBox="1"/>
          <p:nvPr/>
        </p:nvSpPr>
        <p:spPr>
          <a:xfrm rot="0" flipH="0" flipV="0">
            <a:off x="666750" y="381000"/>
            <a:ext cx="4352925"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02 / </a:t>
            </a:r>
            <a:r>
              <a:rPr lang="zh-CN" sz="1050" spc="75">
                <a:solidFill>
                  <a:srgbClr val="7A8699"/>
                </a:solidFill>
                <a:latin typeface="Microsoft YaHei"/>
                <a:ea typeface="Microsoft YaHei"/>
              </a:rPr>
              <a:t>现状盘点</a:t>
            </a:r>
            <a:endParaRPr/>
          </a:p>
        </p:txBody>
      </p:sp>
      <p:sp>
        <p:nvSpPr>
          <p:cNvPr id="850" name="" descr="{&quot;isTemplate&quot;:true,&quot;type&quot;:&quot;text&quot;}"/>
          <p:cNvSpPr txBox="1"/>
          <p:nvPr/>
        </p:nvSpPr>
        <p:spPr>
          <a:xfrm rot="0" flipH="0" flipV="0">
            <a:off x="666750" y="666750"/>
            <a:ext cx="4352925" cy="476250"/>
          </a:xfrm>
          <a:prstGeom prst="rect"/>
        </p:spPr>
        <p:txBody>
          <a:bodyPr wrap="none" lIns="0" tIns="0" rIns="0" bIns="0"/>
          <a:p>
            <a:pPr>
              <a:lnSpc>
                <a:spcPct val="130000"/>
              </a:lnSpc>
            </a:pPr>
            <a:r>
              <a:rPr lang="en-US" sz="2400" b="1">
                <a:solidFill>
                  <a:srgbClr val="0E2340"/>
                </a:solidFill>
                <a:latin typeface="Microsoft YaHei"/>
                <a:ea typeface="Microsoft YaHei"/>
              </a:rPr>
              <a:t xml:space="preserve">AI </a:t>
            </a:r>
            <a:r>
              <a:rPr lang="zh-CN" sz="2400" b="1">
                <a:solidFill>
                  <a:srgbClr val="0E2340"/>
                </a:solidFill>
                <a:latin typeface="Microsoft YaHei"/>
                <a:ea typeface="Microsoft YaHei"/>
              </a:rPr>
              <a:t>解题：已实现的三阶段流水线</a:t>
            </a:r>
            <a:endParaRPr/>
          </a:p>
        </p:txBody>
      </p:sp>
      <p:sp>
        <p:nvSpPr>
          <p:cNvPr id="851" name=""/>
          <p:cNvSpPr/>
          <p:nvPr/>
        </p:nvSpPr>
        <p:spPr>
          <a:xfrm rot="0" flipH="0" flipV="0">
            <a:off x="10820400" y="847725"/>
            <a:ext cx="704850" cy="295275"/>
          </a:xfrm>
          <a:prstGeom prst="roundRect">
            <a:avLst>
              <a:gd name="adj" fmla="val 64516"/>
            </a:avLst>
          </a:prstGeom>
          <a:solidFill>
            <a:srgbClr val="1E9E62"/>
          </a:solidFill>
          <a:ln/>
        </p:spPr>
        <p:txBody>
          <a:bodyPr/>
          <a:p/>
        </p:txBody>
      </p:sp>
      <p:sp>
        <p:nvSpPr>
          <p:cNvPr id="852"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已实现</a:t>
            </a:r>
            <a:endParaRPr/>
          </a:p>
        </p:txBody>
      </p:sp>
      <p:pic>
        <p:nvPicPr>
          <p:cNvPr id="853" name=""/>
          <p:cNvPicPr>
            <a:picLocks noChangeAspect="1"/>
          </p:cNvPicPr>
          <p:nvPr/>
        </p:nvPicPr>
        <p:blipFill>
          <a:blip>
            <a:extLst>
              <a:ext uri="{96DAC541-7B7A-43D3-8B79-37D633B846F1}">
                <asvg:svgBlip r:embed="rId1"/>
              </a:ext>
            </a:extLst>
          </a:blip>
          <a:stretch>
            <a:fillRect/>
          </a:stretch>
        </p:blipFill>
        <p:spPr>
          <a:xfrm rot="0" flipH="0" flipV="0">
            <a:off x="666750" y="1447800"/>
            <a:ext cx="10858500" cy="1809750"/>
          </a:xfrm>
          <a:prstGeom prst="rect">
            <a:avLst/>
          </a:prstGeom>
          <a:ln/>
        </p:spPr>
      </p:pic>
      <p:pic>
        <p:nvPicPr>
          <p:cNvPr id="854" name=""/>
          <p:cNvPicPr>
            <a:picLocks noChangeAspect="1"/>
          </p:cNvPicPr>
          <p:nvPr/>
        </p:nvPicPr>
        <p:blipFill>
          <a:blip>
            <a:extLst>
              <a:ext uri="{96DAC541-7B7A-43D3-8B79-37D633B846F1}">
                <asvg:svgBlip r:embed="rId2"/>
              </a:ext>
            </a:extLst>
          </a:blip>
          <a:stretch>
            <a:fillRect/>
          </a:stretch>
        </p:blipFill>
        <p:spPr>
          <a:xfrm rot="0" flipH="0" flipV="0">
            <a:off x="666750" y="3409950"/>
            <a:ext cx="10858500" cy="1809750"/>
          </a:xfrm>
          <a:prstGeom prst="rect">
            <a:avLst/>
          </a:prstGeom>
          <a:ln/>
        </p:spPr>
      </p:pic>
      <p:sp>
        <p:nvSpPr>
          <p:cNvPr id="855" name=""/>
          <p:cNvSpPr/>
          <p:nvPr/>
        </p:nvSpPr>
        <p:spPr>
          <a:xfrm rot="0" flipH="0" flipV="0">
            <a:off x="704850" y="5372100"/>
            <a:ext cx="10858500" cy="609600"/>
          </a:xfrm>
          <a:prstGeom prst="roundRect">
            <a:avLst>
              <a:gd name="adj" fmla="val 9375"/>
            </a:avLst>
          </a:prstGeom>
          <a:solidFill>
            <a:srgbClr val="F5F7FA"/>
          </a:solidFill>
          <a:ln/>
        </p:spPr>
        <p:txBody>
          <a:bodyPr/>
          <a:p/>
        </p:txBody>
      </p:sp>
      <p:sp>
        <p:nvSpPr>
          <p:cNvPr id="856" name=""/>
          <p:cNvSpPr/>
          <p:nvPr/>
        </p:nvSpPr>
        <p:spPr>
          <a:xfrm rot="0" flipH="0" flipV="0">
            <a:off x="704850" y="53721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1E7BE0"/>
          </a:solidFill>
          <a:ln/>
        </p:spPr>
        <p:txBody>
          <a:bodyPr/>
          <a:p/>
        </p:txBody>
      </p:sp>
      <p:sp>
        <p:nvSpPr>
          <p:cNvPr id="857" name="" descr="{&quot;isTemplate&quot;:true,&quot;type&quot;:&quot;text&quot;}"/>
          <p:cNvSpPr txBox="1"/>
          <p:nvPr/>
        </p:nvSpPr>
        <p:spPr>
          <a:xfrm rot="0" flipH="0" flipV="0">
            <a:off x="895350" y="5505450"/>
            <a:ext cx="5524500" cy="342900"/>
          </a:xfrm>
          <a:prstGeom prst="rect"/>
        </p:spPr>
        <p:txBody>
          <a:bodyPr wrap="none" lIns="0" tIns="0" rIns="0" bIns="0"/>
          <a:p>
            <a:pPr>
              <a:lnSpc>
                <a:spcPct val="150000"/>
              </a:lnSpc>
            </a:pPr>
            <a:r>
              <a:rPr lang="zh-CN" sz="1500" b="1">
                <a:solidFill>
                  <a:srgbClr val="0E2340"/>
                </a:solidFill>
                <a:latin typeface="Microsoft YaHei"/>
                <a:ea typeface="Microsoft YaHei"/>
              </a:rPr>
              <a:t>标准过程用于呈现关键推导与得分内容，详细过程用于帮助理解。</a:t>
            </a:r>
            <a:endParaRPr/>
          </a:p>
        </p:txBody>
      </p:sp>
      <p:sp>
        <p:nvSpPr>
          <p:cNvPr id="858"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859"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依据：当前实现能力与名词数量</a:t>
            </a:r>
            <a:r>
              <a:rPr lang="en-US" sz="975">
                <a:solidFill>
                  <a:srgbClr val="7A8699"/>
                </a:solidFill>
                <a:latin typeface="Microsoft YaHei"/>
                <a:ea typeface="Microsoft YaHei"/>
              </a:rPr>
              <a:t>.md §3</a:t>
            </a:r>
            <a:endParaRPr/>
          </a:p>
        </p:txBody>
      </p:sp>
      <p:sp>
        <p:nvSpPr>
          <p:cNvPr id="860"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15 / 124 </a:t>
            </a:r>
            <a:endParaRPr/>
          </a:p>
        </p:txBody>
      </p:sp>
    </p:spTree>
  </p:cSld>
</p:sld>
</file>

<file path=ppt/slides/slide16.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861"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2 / 现状盘点&lt;/Text&gt;&lt;Text style={{ fontSize: 32, color: '#0E2340', fontWeight: 700, lineHeight: 1.3 }}&gt;AI 改题：逐步状态与证据字段&lt;/Text&gt;&lt;/Box&gt;&lt;Box style={{ flexDirection: 'row', alignItems: 'center', padding: '7px 16px', borderRadius: 20, background: '#E8A33D' }}&gt;&lt;Text style={{ fontSize: 14, color: '#FFFFFF', fontWeight: 600 }}&gt;部分实现&lt;/Text&gt;&lt;/Box&gt;&lt;/Box&gt;&lt;Box style={{ height: 532, paddingTop: 8, flexDirection: 'column' }}&gt;&lt;Box style={{ flexDirection: 'row', gap: 28, flex: 1 }}&gt;&lt;Box style={{ width: 620, justifyContent: 'center' }}&gt;&lt;svg width={620} height={400} viewBox='0 0 620 400'&gt;&lt;rect x='0' y='0' width='620' height='400' rx='8' fill='#FFFFFF' stroke='#E3E8EF' stroke-width='1.5'/&gt;&lt;rect x='0' y='0' width='620' height='40' rx='8' fill='#0E2340'/&gt;&lt;rect x='0' y='26' width='620' height='14' fill='#0E2340'/&gt;&lt;text x='16' y='26' font-size='15' fill='#FFFFFF' text-anchor='start' font-weight='600'&gt;StudyAgent&lt;/text&gt;&lt;rect x='18' y='58' width='584' height='26' rx='4' fill='#F5F7FA'/&gt;&lt;text x='30' y='76' font-size='14' fill='#0E2340' text-anchor='start' font-weight='600'&gt;题目：已知函数 f(x) = x³ − 3x，求单调区间&lt;/text&gt;&lt;rect x='18' y='92' width='584' height='52' rx='6' fill='#FFFFFF' stroke='#7A8699' stroke-width='1' stroke-dasharray='4 4'/&gt;&lt;text x='30' y='124' font-size='14' fill='#333A45' text-anchor='start' font-weight='400'&gt;步骤 1 求导 f′(x)=3x²−3 —— 状态 correct&lt;/text&gt;&lt;rect x='18' y='152' width='584' height='52' rx='6' fill='#FFFFFF' stroke='#7A8699' stroke-width='1' stroke-dasharray='4 4'/&gt;&lt;text x='30' y='184' font-size='14' fill='#333A45' text-anchor='start' font-weight='400'&gt;步骤 2 解 f′(x)=0 得 x=±1 —— 状态 partial&lt;/text&gt;&lt;rect x='18' y='212' width='584' height='52' rx='6' fill='#FFFFFF' stroke='#7A8699' stroke-width='1' stroke-dasharray='4 4'/&gt;&lt;text x='30' y='244' font-size='14' fill='#333A45' text-anchor='start' font-weight='400'&gt;步骤 3 列表判断单调性 —— 状态 missing&lt;/text&gt;&lt;rect x='18' y='272' width='584' height='28' rx='14' fill='#EAF3FD'/&gt;&lt;text x='30' y='291' font-size='14' fill='#1E7BE0' text-anchor='start' font-weight='600'&gt;answer_evidence：引用学生作答原文片段&lt;/text&gt;&lt;rect x='18' y='308' width='584' height='34' rx='17' fill='#1E7BE0'/&gt;&lt;text x='310.0' y='331' font-size='15' fill='#FFFFFF' text-anchor='middle' font-weight='600'&gt;查看错因与置信度&lt;/text&gt;&lt;text x='608' y='390' font-size='12' fill='#7A8699' text-anchor='end' font-weight='400'&gt;示意占位 · S02&lt;/text&gt;&lt;/svg&gt;&lt;/Box&gt;&lt;Box style={{ flex: 1, flexDirection: 'column', gap: 10, justifyContent: 'center' }}&gt;&lt;Text style={{ fontSize: 21, color: '#0E2340', fontWeight: 700, lineHeight: 1.4 }}&gt;界面要点&lt;/Text&gt;&lt;Box style={{ flexDirection: 'column', gap: 9 }}&gt;&lt;Box style={{ flexDirection: 'row', gap: 12, alignItems: 'flex-start' }}&gt;&lt;Box style={{ width: 8, height: 8, borderRadius: 4, background: '#1E7BE0', marginTop: 9 }} /&gt;&lt;Box style={{ flex: 1 }}&gt;&lt;Text style={{ fontSize: 16, color: '#333A45', fontWeight: 400, lineHeight: 1.6 }}&gt;逐步状态四种：correct / partial / missing / not_applicable，并附 answer_evidence、错因、原因置信度、批改置信度。&lt;/Text&gt;&lt;/Box&gt;&lt;/Box&gt;&lt;Box style={{ flexDirection: 'row', gap: 12, alignItems: 'flex-start' }}&gt;&lt;Box style={{ width: 8, height: 8, borderRadius: 4, background: '#1E7BE0', marginTop: 9 }} /&gt;&lt;Box style={{ flex: 1 }}&gt;&lt;Text style={{ fontSize: 16, color: '#333A45', fontWeight: 400, lineHeight: 1.6 }}&gt;提示词硬要求：步骤缺失不能直接推断为知识或思路错误；原因不明保留未知；不同思路独立判断数学正确性。&lt;/Text&gt;&lt;/Box&gt;&lt;/Box&gt;&lt;Box style={{ flexDirection: 'row', gap: 12, alignItems: 'flex-start' }}&gt;&lt;Box style={{ width: 8, height: 8, borderRadius: 4, background: '#1E7BE0', marginTop: 9 }} /&gt;&lt;Box style={{ flex: 1 }}&gt;&lt;Text style={{ fontSize: 16, color: '#333A45', fontWeight: 400, lineHeight: 1.6 }}&gt;选择题 / 多选题 / 填空题主要走答案匹配路径，不提供逐步 AI 诊断。&lt;/Text&gt;&lt;/Box&gt;&lt;/Box&gt;&lt;Box style={{ flexDirection: 'row', gap: 12, alignItems: 'flex-start' }}&gt;&lt;Box style={{ width: 8, height: 8, borderRadius: 4, background: '#1E7BE0', marginTop: 9 }} /&gt;&lt;Box style={{ flex: 1 }}&gt;&lt;Text style={{ fontSize: 16, color: '#333A45', fontWeight: 400, lineHeight: 1.6 }}&gt;边界：字段齐全不等于已经完全避免 AI 猜测。&lt;/Text&gt;&lt;/Box&gt;&lt;/Box&gt;&lt;/Box&gt;&lt;Box style={{ marginTop: 6, padding: '9px 14px', background: '#F5F7FA', borderRadius: 6, alignSelf: 'flex-start' }}&gt;&lt;Text style={{ fontSize: 14, color: '#7A8699', fontWeight: 600, lineHeight: 1.4 }}&gt;示意占位 S02 · 待替换为实际截图&lt;/Text&gt;&lt;/Box&gt;&lt;/Box&gt;&lt;/Box&gt;&lt;/Box&gt;&lt;Box style={{ height: 40, flexDirection: 'row', justifyContent: 'space-between', alignItems: 'center', borderTop: '1px solid #E3E8EF', marginTop: 8 }}&gt;&lt;Text style={{ fontSize: 13, color: '#7A8699', fontWeight: 400, lineHeight: 1.4 }}&gt;依据：当前实现能力与名词数量.md §4&lt;/Text&gt;&lt;Text style={{ fontSize: 14, color: '#7A8699', fontWeight: 400, lineHeight: 1.4 }}&gt; 16 / 124 &lt;/Text&gt;&lt;/Box&gt;&lt;/Slide&gt;"/>
        <p:cNvGrpSpPr/>
        <p:nvPr/>
      </p:nvGrpSpPr>
      <p:grpSpPr>
        <a:xfrm>
          <a:off x="0" y="0"/>
          <a:ext cx="0" cy="0"/>
          <a:chOff x="0" y="0"/>
          <a:chExt cx="0" cy="0"/>
        </a:xfrm>
      </p:grpSpPr>
      <p:sp>
        <p:nvSpPr>
          <p:cNvPr id="862" name=""/>
          <p:cNvSpPr/>
          <p:nvPr/>
        </p:nvSpPr>
        <p:spPr>
          <a:xfrm rot="0" flipH="0" flipV="0">
            <a:off x="0" y="0"/>
            <a:ext cx="12192000" cy="6858000"/>
          </a:xfrm>
          <a:prstGeom prst="rect">
            <a:avLst/>
          </a:prstGeom>
          <a:solidFill>
            <a:srgbClr val="FFFFFF"/>
          </a:solidFill>
          <a:ln/>
        </p:spPr>
        <p:txBody>
          <a:bodyPr/>
          <a:p/>
        </p:txBody>
      </p:sp>
      <p:sp>
        <p:nvSpPr>
          <p:cNvPr id="863" name="" descr="{&quot;isTemplate&quot;:true,&quot;type&quot;:&quot;text&quot;}"/>
          <p:cNvSpPr txBox="1"/>
          <p:nvPr/>
        </p:nvSpPr>
        <p:spPr>
          <a:xfrm rot="0" flipH="0" flipV="0">
            <a:off x="666750" y="381000"/>
            <a:ext cx="4048125"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02 / </a:t>
            </a:r>
            <a:r>
              <a:rPr lang="zh-CN" sz="1050" spc="75">
                <a:solidFill>
                  <a:srgbClr val="7A8699"/>
                </a:solidFill>
                <a:latin typeface="Microsoft YaHei"/>
                <a:ea typeface="Microsoft YaHei"/>
              </a:rPr>
              <a:t>现状盘点</a:t>
            </a:r>
            <a:endParaRPr/>
          </a:p>
        </p:txBody>
      </p:sp>
      <p:sp>
        <p:nvSpPr>
          <p:cNvPr id="864" name="" descr="{&quot;isTemplate&quot;:true,&quot;type&quot;:&quot;text&quot;}"/>
          <p:cNvSpPr txBox="1"/>
          <p:nvPr/>
        </p:nvSpPr>
        <p:spPr>
          <a:xfrm rot="0" flipH="0" flipV="0">
            <a:off x="666750" y="666750"/>
            <a:ext cx="4048125" cy="476250"/>
          </a:xfrm>
          <a:prstGeom prst="rect"/>
        </p:spPr>
        <p:txBody>
          <a:bodyPr wrap="none" lIns="0" tIns="0" rIns="0" bIns="0"/>
          <a:p>
            <a:pPr>
              <a:lnSpc>
                <a:spcPct val="130000"/>
              </a:lnSpc>
            </a:pPr>
            <a:r>
              <a:rPr lang="en-US" sz="2400" b="1">
                <a:solidFill>
                  <a:srgbClr val="0E2340"/>
                </a:solidFill>
                <a:latin typeface="Microsoft YaHei"/>
                <a:ea typeface="Microsoft YaHei"/>
              </a:rPr>
              <a:t xml:space="preserve">AI </a:t>
            </a:r>
            <a:r>
              <a:rPr lang="zh-CN" sz="2400" b="1">
                <a:solidFill>
                  <a:srgbClr val="0E2340"/>
                </a:solidFill>
                <a:latin typeface="Microsoft YaHei"/>
                <a:ea typeface="Microsoft YaHei"/>
              </a:rPr>
              <a:t>改题：逐步状态与证据字段</a:t>
            </a:r>
            <a:endParaRPr/>
          </a:p>
        </p:txBody>
      </p:sp>
      <p:sp>
        <p:nvSpPr>
          <p:cNvPr id="865" name=""/>
          <p:cNvSpPr/>
          <p:nvPr/>
        </p:nvSpPr>
        <p:spPr>
          <a:xfrm rot="0" flipH="0" flipV="0">
            <a:off x="10687050" y="847725"/>
            <a:ext cx="838200" cy="295275"/>
          </a:xfrm>
          <a:prstGeom prst="roundRect">
            <a:avLst>
              <a:gd name="adj" fmla="val 64516"/>
            </a:avLst>
          </a:prstGeom>
          <a:solidFill>
            <a:srgbClr val="E8A33D"/>
          </a:solidFill>
          <a:ln/>
        </p:spPr>
        <p:txBody>
          <a:bodyPr/>
          <a:p/>
        </p:txBody>
      </p:sp>
      <p:sp>
        <p:nvSpPr>
          <p:cNvPr id="866" name="" descr="{&quot;isTemplate&quot;:true,&quot;type&quot;:&quot;text&quot;}"/>
          <p:cNvSpPr txBox="1"/>
          <p:nvPr/>
        </p:nvSpPr>
        <p:spPr>
          <a:xfrm rot="0" flipH="0" flipV="0">
            <a:off x="10839450" y="914400"/>
            <a:ext cx="533400" cy="161925"/>
          </a:xfrm>
          <a:prstGeom prst="rect"/>
        </p:spPr>
        <p:txBody>
          <a:bodyPr wrap="none" lIns="0" tIns="0" rIns="0" bIns="0"/>
          <a:p>
            <a:pPr>
              <a:lnSpc>
                <a:spcPct val="100000"/>
              </a:lnSpc>
            </a:pPr>
            <a:r>
              <a:rPr lang="zh-CN" sz="1050" b="1">
                <a:solidFill>
                  <a:srgbClr val="FFFFFF"/>
                </a:solidFill>
                <a:latin typeface="Microsoft YaHei"/>
                <a:ea typeface="Microsoft YaHei"/>
              </a:rPr>
              <a:t>部分实现</a:t>
            </a:r>
            <a:endParaRPr/>
          </a:p>
        </p:txBody>
      </p:sp>
      <p:pic>
        <p:nvPicPr>
          <p:cNvPr id="867" name=""/>
          <p:cNvPicPr>
            <a:picLocks noChangeAspect="1"/>
          </p:cNvPicPr>
          <p:nvPr/>
        </p:nvPicPr>
        <p:blipFill>
          <a:blip>
            <a:extLst>
              <a:ext uri="{96DAC541-7B7A-43D3-8B79-37D633B846F1}">
                <asvg:svgBlip r:embed="rId1"/>
              </a:ext>
            </a:extLst>
          </a:blip>
          <a:stretch>
            <a:fillRect/>
          </a:stretch>
        </p:blipFill>
        <p:spPr>
          <a:xfrm rot="0" flipH="0" flipV="0">
            <a:off x="666750" y="1809750"/>
            <a:ext cx="5905500" cy="3810000"/>
          </a:xfrm>
          <a:prstGeom prst="rect">
            <a:avLst/>
          </a:prstGeom>
          <a:ln/>
        </p:spPr>
      </p:pic>
      <p:sp>
        <p:nvSpPr>
          <p:cNvPr id="868" name="" descr="{&quot;isTemplate&quot;:true,&quot;type&quot;:&quot;text&quot;}"/>
          <p:cNvSpPr txBox="1"/>
          <p:nvPr/>
        </p:nvSpPr>
        <p:spPr>
          <a:xfrm rot="0" flipH="0" flipV="0">
            <a:off x="6838950" y="2057400"/>
            <a:ext cx="4686300" cy="342900"/>
          </a:xfrm>
          <a:prstGeom prst="rect"/>
        </p:spPr>
        <p:txBody>
          <a:bodyPr wrap="none" lIns="0" tIns="0" rIns="0" bIns="0"/>
          <a:p>
            <a:pPr>
              <a:lnSpc>
                <a:spcPct val="140000"/>
              </a:lnSpc>
            </a:pPr>
            <a:r>
              <a:rPr lang="zh-CN" sz="1575" b="1">
                <a:solidFill>
                  <a:srgbClr val="0E2340"/>
                </a:solidFill>
                <a:latin typeface="Microsoft YaHei"/>
                <a:ea typeface="Microsoft YaHei"/>
              </a:rPr>
              <a:t>界面要点</a:t>
            </a:r>
            <a:endParaRPr/>
          </a:p>
        </p:txBody>
      </p:sp>
      <p:sp>
        <p:nvSpPr>
          <p:cNvPr id="869" name=""/>
          <p:cNvSpPr/>
          <p:nvPr/>
        </p:nvSpPr>
        <p:spPr>
          <a:xfrm rot="0" flipH="0" flipV="0">
            <a:off x="6838950" y="2581275"/>
            <a:ext cx="76200" cy="76200"/>
          </a:xfrm>
          <a:prstGeom prst="roundRect">
            <a:avLst>
              <a:gd name="adj" fmla="val 50000"/>
            </a:avLst>
          </a:prstGeom>
          <a:solidFill>
            <a:srgbClr val="1E7BE0"/>
          </a:solidFill>
          <a:ln/>
        </p:spPr>
        <p:txBody>
          <a:bodyPr/>
          <a:p/>
        </p:txBody>
      </p:sp>
      <p:sp>
        <p:nvSpPr>
          <p:cNvPr id="870" name="" descr="{&quot;isTemplate&quot;:true,&quot;type&quot;:&quot;text&quot;}"/>
          <p:cNvSpPr txBox="1"/>
          <p:nvPr/>
        </p:nvSpPr>
        <p:spPr>
          <a:xfrm rot="0" flipH="0" flipV="0">
            <a:off x="7029450" y="2495550"/>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逐步状态四种：</a:t>
            </a:r>
            <a:r>
              <a:rPr lang="en-US" sz="1200">
                <a:solidFill>
                  <a:srgbClr val="333A45"/>
                </a:solidFill>
                <a:latin typeface="Microsoft YaHei"/>
                <a:ea typeface="Microsoft YaHei"/>
              </a:rPr>
              <a:t>correct / partial / missing / not_applicable</a:t>
            </a:r>
            <a:r>
              <a:rPr lang="zh-CN" sz="1200">
                <a:solidFill>
                  <a:srgbClr val="333A45"/>
                </a:solidFill>
                <a:latin typeface="Microsoft YaHei"/>
                <a:ea typeface="Microsoft YaHei"/>
              </a:rPr>
              <a:t>，并附</a:t>
            </a:r>
            <a:r>
              <a:rPr lang="en-US" sz="1200">
                <a:solidFill>
                  <a:srgbClr val="333A45"/>
                </a:solidFill>
                <a:latin typeface="Microsoft YaHei"/>
                <a:ea typeface="Microsoft YaHei"/>
              </a:rPr>
              <a:t xml:space="preserve"> answer_evidence</a:t>
            </a:r>
            <a:r>
              <a:rPr lang="zh-CN" sz="1200">
                <a:solidFill>
                  <a:srgbClr val="333A45"/>
                </a:solidFill>
                <a:latin typeface="Microsoft YaHei"/>
                <a:ea typeface="Microsoft YaHei"/>
              </a:rPr>
              <a:t>、错因、原因置信度、批改置信度。</a:t>
            </a:r>
            <a:endParaRPr/>
          </a:p>
        </p:txBody>
      </p:sp>
      <p:sp>
        <p:nvSpPr>
          <p:cNvPr id="871" name=""/>
          <p:cNvSpPr/>
          <p:nvPr/>
        </p:nvSpPr>
        <p:spPr>
          <a:xfrm rot="0" flipH="0" flipV="0">
            <a:off x="6838950" y="3257550"/>
            <a:ext cx="76200" cy="76200"/>
          </a:xfrm>
          <a:prstGeom prst="roundRect">
            <a:avLst>
              <a:gd name="adj" fmla="val 50000"/>
            </a:avLst>
          </a:prstGeom>
          <a:solidFill>
            <a:srgbClr val="1E7BE0"/>
          </a:solidFill>
          <a:ln/>
        </p:spPr>
        <p:txBody>
          <a:bodyPr/>
          <a:p/>
        </p:txBody>
      </p:sp>
      <p:sp>
        <p:nvSpPr>
          <p:cNvPr id="872" name="" descr="{&quot;isTemplate&quot;:true,&quot;type&quot;:&quot;text&quot;}"/>
          <p:cNvSpPr txBox="1"/>
          <p:nvPr/>
        </p:nvSpPr>
        <p:spPr>
          <a:xfrm rot="0" flipH="0" flipV="0">
            <a:off x="7029450" y="3171825"/>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提示词硬要求：步骤缺失不能直接推断为知识或思路错误；原因不明保留未知；不同思路独立判断数学正确性。</a:t>
            </a:r>
            <a:endParaRPr/>
          </a:p>
        </p:txBody>
      </p:sp>
      <p:sp>
        <p:nvSpPr>
          <p:cNvPr id="873" name=""/>
          <p:cNvSpPr/>
          <p:nvPr/>
        </p:nvSpPr>
        <p:spPr>
          <a:xfrm rot="0" flipH="0" flipV="0">
            <a:off x="6838950" y="3933825"/>
            <a:ext cx="76200" cy="76200"/>
          </a:xfrm>
          <a:prstGeom prst="roundRect">
            <a:avLst>
              <a:gd name="adj" fmla="val 50000"/>
            </a:avLst>
          </a:prstGeom>
          <a:solidFill>
            <a:srgbClr val="1E7BE0"/>
          </a:solidFill>
          <a:ln/>
        </p:spPr>
        <p:txBody>
          <a:bodyPr/>
          <a:p/>
        </p:txBody>
      </p:sp>
      <p:sp>
        <p:nvSpPr>
          <p:cNvPr id="874" name="" descr="{&quot;isTemplate&quot;:true,&quot;type&quot;:&quot;text&quot;}"/>
          <p:cNvSpPr txBox="1"/>
          <p:nvPr/>
        </p:nvSpPr>
        <p:spPr>
          <a:xfrm rot="0" flipH="0" flipV="0">
            <a:off x="7029450" y="3848100"/>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选择题</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多选题</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填空题主要走答案匹配路径，不提供逐步</a:t>
            </a:r>
            <a:r>
              <a:rPr lang="en-US" sz="1200">
                <a:solidFill>
                  <a:srgbClr val="333A45"/>
                </a:solidFill>
                <a:latin typeface="Microsoft YaHei"/>
                <a:ea typeface="Microsoft YaHei"/>
              </a:rPr>
              <a:t xml:space="preserve"> AI </a:t>
            </a:r>
            <a:r>
              <a:rPr lang="zh-CN" sz="1200">
                <a:solidFill>
                  <a:srgbClr val="333A45"/>
                </a:solidFill>
                <a:latin typeface="Microsoft YaHei"/>
                <a:ea typeface="Microsoft YaHei"/>
              </a:rPr>
              <a:t>诊断。</a:t>
            </a:r>
            <a:endParaRPr/>
          </a:p>
        </p:txBody>
      </p:sp>
      <p:sp>
        <p:nvSpPr>
          <p:cNvPr id="875" name=""/>
          <p:cNvSpPr/>
          <p:nvPr/>
        </p:nvSpPr>
        <p:spPr>
          <a:xfrm rot="0" flipH="0" flipV="0">
            <a:off x="6838950" y="4610100"/>
            <a:ext cx="76200" cy="76200"/>
          </a:xfrm>
          <a:prstGeom prst="roundRect">
            <a:avLst>
              <a:gd name="adj" fmla="val 50000"/>
            </a:avLst>
          </a:prstGeom>
          <a:solidFill>
            <a:srgbClr val="1E7BE0"/>
          </a:solidFill>
          <a:ln/>
        </p:spPr>
        <p:txBody>
          <a:bodyPr/>
          <a:p/>
        </p:txBody>
      </p:sp>
      <p:sp>
        <p:nvSpPr>
          <p:cNvPr id="876" name="" descr="{&quot;isTemplate&quot;:true,&quot;type&quot;:&quot;text&quot;}"/>
          <p:cNvSpPr txBox="1"/>
          <p:nvPr/>
        </p:nvSpPr>
        <p:spPr>
          <a:xfrm rot="0" flipH="0" flipV="0">
            <a:off x="7029450" y="4524375"/>
            <a:ext cx="4495800" cy="295275"/>
          </a:xfrm>
          <a:prstGeom prst="rect"/>
        </p:spPr>
        <p:txBody>
          <a:bodyPr wrap="none" lIns="0" tIns="0" rIns="0" bIns="0"/>
          <a:p>
            <a:pPr>
              <a:lnSpc>
                <a:spcPct val="160000"/>
              </a:lnSpc>
            </a:pPr>
            <a:r>
              <a:rPr lang="zh-CN" sz="1200">
                <a:solidFill>
                  <a:srgbClr val="333A45"/>
                </a:solidFill>
                <a:latin typeface="Microsoft YaHei"/>
                <a:ea typeface="Microsoft YaHei"/>
              </a:rPr>
              <a:t>边界：字段齐全不等于已经完全避免</a:t>
            </a:r>
            <a:r>
              <a:rPr lang="en-US" sz="1200">
                <a:solidFill>
                  <a:srgbClr val="333A45"/>
                </a:solidFill>
                <a:latin typeface="Microsoft YaHei"/>
                <a:ea typeface="Microsoft YaHei"/>
              </a:rPr>
              <a:t xml:space="preserve"> AI </a:t>
            </a:r>
            <a:r>
              <a:rPr lang="zh-CN" sz="1200">
                <a:solidFill>
                  <a:srgbClr val="333A45"/>
                </a:solidFill>
                <a:latin typeface="Microsoft YaHei"/>
                <a:ea typeface="Microsoft YaHei"/>
              </a:rPr>
              <a:t>猜测。</a:t>
            </a:r>
            <a:endParaRPr/>
          </a:p>
        </p:txBody>
      </p:sp>
      <p:sp>
        <p:nvSpPr>
          <p:cNvPr id="877" name=""/>
          <p:cNvSpPr/>
          <p:nvPr/>
        </p:nvSpPr>
        <p:spPr>
          <a:xfrm rot="0" flipH="0" flipV="0">
            <a:off x="6838950" y="4972050"/>
            <a:ext cx="2266950" cy="400050"/>
          </a:xfrm>
          <a:prstGeom prst="roundRect">
            <a:avLst>
              <a:gd name="adj" fmla="val 14286"/>
            </a:avLst>
          </a:prstGeom>
          <a:solidFill>
            <a:srgbClr val="F5F7FA"/>
          </a:solidFill>
          <a:ln/>
        </p:spPr>
        <p:txBody>
          <a:bodyPr/>
          <a:p/>
        </p:txBody>
      </p:sp>
      <p:sp>
        <p:nvSpPr>
          <p:cNvPr id="878" name="" descr="{&quot;isTemplate&quot;:true,&quot;type&quot;:&quot;text&quot;}"/>
          <p:cNvSpPr txBox="1"/>
          <p:nvPr/>
        </p:nvSpPr>
        <p:spPr>
          <a:xfrm rot="0" flipH="0" flipV="0">
            <a:off x="6972300" y="5057775"/>
            <a:ext cx="2000250" cy="228600"/>
          </a:xfrm>
          <a:prstGeom prst="rect"/>
        </p:spPr>
        <p:txBody>
          <a:bodyPr wrap="none" lIns="0" tIns="0" rIns="0" bIns="0"/>
          <a:p>
            <a:pPr>
              <a:lnSpc>
                <a:spcPct val="140000"/>
              </a:lnSpc>
            </a:pPr>
            <a:r>
              <a:rPr lang="zh-CN" sz="1050" b="1">
                <a:solidFill>
                  <a:srgbClr val="7A8699"/>
                </a:solidFill>
                <a:latin typeface="Microsoft YaHei"/>
                <a:ea typeface="Microsoft YaHei"/>
              </a:rPr>
              <a:t>示意占位</a:t>
            </a:r>
            <a:r>
              <a:rPr lang="en-US" sz="1050" b="1">
                <a:solidFill>
                  <a:srgbClr val="7A8699"/>
                </a:solidFill>
                <a:latin typeface="Microsoft YaHei"/>
                <a:ea typeface="Microsoft YaHei"/>
              </a:rPr>
              <a:t xml:space="preserve"> S02 · </a:t>
            </a:r>
            <a:r>
              <a:rPr lang="zh-CN" sz="1050" b="1">
                <a:solidFill>
                  <a:srgbClr val="7A8699"/>
                </a:solidFill>
                <a:latin typeface="Microsoft YaHei"/>
                <a:ea typeface="Microsoft YaHei"/>
              </a:rPr>
              <a:t>待替换为实际截图</a:t>
            </a:r>
            <a:endParaRPr/>
          </a:p>
        </p:txBody>
      </p:sp>
      <p:sp>
        <p:nvSpPr>
          <p:cNvPr id="879"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880"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依据：当前实现能力与名词数量</a:t>
            </a:r>
            <a:r>
              <a:rPr lang="en-US" sz="975">
                <a:solidFill>
                  <a:srgbClr val="7A8699"/>
                </a:solidFill>
                <a:latin typeface="Microsoft YaHei"/>
                <a:ea typeface="Microsoft YaHei"/>
              </a:rPr>
              <a:t>.md §4</a:t>
            </a:r>
            <a:endParaRPr/>
          </a:p>
        </p:txBody>
      </p:sp>
      <p:sp>
        <p:nvSpPr>
          <p:cNvPr id="881"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16 / 124 </a:t>
            </a:r>
            <a:endParaRPr/>
          </a:p>
        </p:txBody>
      </p:sp>
    </p:spTree>
  </p:cSld>
</p:sld>
</file>

<file path=ppt/slides/slide17.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882"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2 / 现状盘点&lt;/Text&gt;&lt;Text style={{ fontSize: 32, color: '#0E2340', fontWeight: 700, lineHeight: 1.3 }}&gt;手把手教学：会话状态机与三处记录边界&lt;/Text&gt;&lt;/Box&gt;&lt;Box style={{ flexDirection: 'row', alignItems: 'center', padding: '7px 16px', borderRadius: 20, background: '#E8A33D' }}&gt;&lt;Text style={{ fontSize: 14, color: '#FFFFFF', fontWeight: 600 }}&gt;部分实现&lt;/Text&gt;&lt;/Box&gt;&lt;/Box&gt;&lt;Box style={{ height: 532, paddingTop: 8, flexDirection: 'column' }}&gt;&lt;Box style={{ flexDirection: 'row', gap: 28, flex: 1 }}&gt;&lt;Box style={{ width: 700, justifyContent: 'center' }}&gt;&lt;svg width={700} height={300} viewBox='0 0 700 300'&gt;&lt;rect x='0' y='30' width='161' height='150' rx='8' fill='#FFFFFF' stroke='#1E7BE0' stroke-width='1.5'/&gt;&lt;rect x='0' y='30' width='161' height='6' rx='3' fill='#0E2340'/&gt;&lt;circle cx='26' cy='66' r='16' fill='#1E7BE0'/&gt;&lt;text x='26' y='72' font-size='16' fill='#FFFFFF' text-anchor='middle' font-weight='700'&gt;1&lt;/text&gt;&lt;text x='80.5' y='116' font-size='18' fill='#0E2340' text-anchor='middle' font-weight='600'&gt;复用已有解析&lt;/text&gt;&lt;text x='80.5' y='146' font-size='14' fill='#7A8699' text-anchor='middle' font-weight='400'&gt;优先复用&lt;/text&gt;&lt;path d='M162 105 l14 0' stroke='#1E7BE0' stroke-width='2'/&gt;&lt;path d='M176 105 l-7 -5 l0 10 z' fill='#1E7BE0'/&gt;&lt;rect x='179' y='30' width='161' height='150' rx='8' fill='#FFFFFF' stroke='#1E7BE0' stroke-width='1.5'/&gt;&lt;rect x='179' y='30' width='161' height='6' rx='3' fill='#0E2340'/&gt;&lt;circle cx='205' cy='66' r='16' fill='#1E7BE0'/&gt;&lt;text x='205' y='72' font-size='16' fill='#FFFFFF' text-anchor='middle' font-weight='700'&gt;2&lt;/text&gt;&lt;text x='259.5' y='116' font-size='18' fill='#0E2340' text-anchor='middle' font-weight='600'&gt;构建教学步骤&lt;/text&gt;&lt;text x='259.5' y='146' font-size='14' fill='#7A8699' text-anchor='middle' font-weight='400'&gt;step_prompt / step_answer&lt;/text&gt;&lt;path d='M341 105 l14 0' stroke='#1E7BE0' stroke-width='2'/&gt;&lt;path d='M355 105 l-7 -5 l0 10 z' fill='#1E7BE0'/&gt;&lt;rect x='358' y='30' width='161' height='150' rx='8' fill='#FFFFFF' stroke='#1E7BE0' stroke-width='1.5'/&gt;&lt;rect x='358' y='30' width='161' height='6' rx='3' fill='#0E2340'/&gt;&lt;circle cx='384' cy='66' r='16' fill='#1E7BE0'/&gt;&lt;text x='384' y='72' font-size='16' fill='#FFFFFF' text-anchor='middle' font-weight='700'&gt;3&lt;/text&gt;&lt;text x='438.5' y='116' font-size='18' fill='#0E2340' text-anchor='middle' font-weight='600'&gt;teach_check 检查&lt;/text&gt;&lt;text x='438.5' y='146' font-size='14' fill='#7A8699' text-anchor='middle' font-weight='400'&gt;判断本步回答&lt;/text&gt;&lt;path d='M520 105 l14 0' stroke='#1E7BE0' stroke-width='2'/&gt;&lt;path d='M534 105 l-7 -5 l0 10 z' fill='#1E7BE0'/&gt;&lt;rect x='537' y='30' width='161' height='150' rx='8' fill='#FFFFFF' stroke='#1E7BE0' stroke-width='1.5'/&gt;&lt;rect x='537' y='30' width='161' height='6' rx='3' fill='#0E2340'/&gt;&lt;circle cx='563' cy='66' r='16' fill='#1E7BE0'/&gt;&lt;text x='563' y='72' font-size='16' fill='#FFFFFF' text-anchor='middle' font-weight='700'&gt;4&lt;/text&gt;&lt;text x='617.5' y='116' font-size='18' fill='#0E2340' text-anchor='middle' font-weight='600'&gt;推进或留在当前步&lt;/text&gt;&lt;text x='617.5' y='146' font-size='14' fill='#7A8699' text-anchor='middle' font-weight='400'&gt;后端规则&lt;/text&gt;&lt;path d='M40 200 L660 200' stroke='#00A9B5' stroke-width='2' stroke-dasharray='5 5'/&gt;&lt;path d='M40 200 l10 -6 l0 12 z' fill='#00A9B5'/&gt;&lt;text x='350.0' y='226' font-size='15' fill='#00A9B5' text-anchor='middle' font-weight='600'&gt;阶段之间可回退：变式暴露某步不会 → 返回该步训练&lt;/text&gt;&lt;/svg&gt;&lt;/Box&gt;&lt;Box style={{ flex: 1, flexDirection: 'column', gap: 11, justifyContent: 'center' }}&gt;&lt;Text style={{ fontSize: 21, color: '#0E2340', fontWeight: 700, lineHeight: 1.4 }}&gt;实现要点&lt;/Text&gt;&lt;Box style={{ flexDirection: 'column', gap: 10 }}&gt;&lt;Box style={{ flexDirection: 'row', gap: 12, alignItems: 'flex-start' }}&gt;&lt;Box style={{ width: 8, height: 8, borderRadius: 4, background: '#1E7BE0', marginTop: 9 }} /&gt;&lt;Box style={{ flex: 1 }}&gt;&lt;Text style={{ fontSize: 17, color: '#333A45', fontWeight: 400, lineHeight: 1.6 }}&gt;优先复用已有解析，再由 _fs 生成 step_prompt / step_answer，经 teach_check 检查后由后端规则推进或留在当前步骤。&lt;/Text&gt;&lt;/Box&gt;&lt;/Box&gt;&lt;Box style={{ flexDirection: 'row', gap: 12, alignItems: 'flex-start' }}&gt;&lt;Box style={{ width: 8, height: 8, borderRadius: 4, background: '#1E7BE0', marginTop: 9 }} /&gt;&lt;Box style={{ flex: 1 }}&gt;&lt;Text style={{ fontSize: 17, color: '#333A45', fontWeight: 400, lineHeight: 1.6 }}&gt;命令分支：跳过、请求提示、查看答案；几何题可释放图形提示。&lt;/Text&gt;&lt;/Box&gt;&lt;/Box&gt;&lt;Box style={{ flexDirection: 'row', gap: 12, alignItems: 'flex-start' }}&gt;&lt;Box style={{ width: 8, height: 8, borderRadius: 4, background: '#1E7BE0', marginTop: 9 }} /&gt;&lt;Box style={{ flex: 1 }}&gt;&lt;Text style={{ fontSize: 17, color: '#333A45', fontWeight: 400, lineHeight: 1.6 }}&gt;记录边界一：跳过分支会写 correct=true，不能只统计 correct 判断掌握。&lt;/Text&gt;&lt;/Box&gt;&lt;/Box&gt;&lt;Box style={{ flexDirection: 'row', gap: 12, alignItems: 'flex-start' }}&gt;&lt;Box style={{ width: 8, height: 8, borderRadius: 4, background: '#1E7BE0', marginTop: 9 }} /&gt;&lt;Box style={{ flex: 1 }}&gt;&lt;Text style={{ fontSize: 17, color: '#333A45', fontWeight: 400, lineHeight: 1.6 }}&gt;记录边界二：无“提示后答对”的独立字段；记录边界三：看答案后答对 ≠ 独立完成。&lt;/Text&gt;&lt;/Box&gt;&lt;/Box&gt;&lt;Box style={{ flexDirection: 'row', gap: 12, alignItems: 'flex-start' }}&gt;&lt;Box style={{ width: 8, height: 8, borderRadius: 4, background: '#1E7BE0', marginTop: 9 }} /&gt;&lt;Box style={{ flex: 1 }}&gt;&lt;Text style={{ fontSize: 17, color: '#333A45', fontWeight: 400, lineHeight: 1.6 }}&gt;仓库虽有 teach_chat.md，但主路径 _do_chat_turn 使用预生成问题 + teach_check + 后端规则。&lt;/Text&gt;&lt;/Box&gt;&lt;/Box&gt;&lt;/Box&gt;&lt;/Box&gt;&lt;/Box&gt;&lt;/Box&gt;&lt;Box style={{ height: 40, flexDirection: 'row', justifyContent: 'space-between', alignItems: 'center', borderTop: '1px solid #E3E8EF', marginTop: 8 }}&gt;&lt;Text style={{ fontSize: 13, color: '#7A8699', fontWeight: 400, lineHeight: 1.4 }}&gt;依据：当前实现能力与名词数量.md §5&lt;/Text&gt;&lt;Text style={{ fontSize: 14, color: '#7A8699', fontWeight: 400, lineHeight: 1.4 }}&gt; 17 / 124 &lt;/Text&gt;&lt;/Box&gt;&lt;/Slide&gt;"/>
        <p:cNvGrpSpPr/>
        <p:nvPr/>
      </p:nvGrpSpPr>
      <p:grpSpPr>
        <a:xfrm>
          <a:off x="0" y="0"/>
          <a:ext cx="0" cy="0"/>
          <a:chOff x="0" y="0"/>
          <a:chExt cx="0" cy="0"/>
        </a:xfrm>
      </p:grpSpPr>
      <p:sp>
        <p:nvSpPr>
          <p:cNvPr id="883" name=""/>
          <p:cNvSpPr/>
          <p:nvPr/>
        </p:nvSpPr>
        <p:spPr>
          <a:xfrm rot="0" flipH="0" flipV="0">
            <a:off x="0" y="0"/>
            <a:ext cx="12192000" cy="6858000"/>
          </a:xfrm>
          <a:prstGeom prst="rect">
            <a:avLst/>
          </a:prstGeom>
          <a:solidFill>
            <a:srgbClr val="FFFFFF"/>
          </a:solidFill>
          <a:ln/>
        </p:spPr>
        <p:txBody>
          <a:bodyPr/>
          <a:p/>
        </p:txBody>
      </p:sp>
      <p:sp>
        <p:nvSpPr>
          <p:cNvPr id="884" name="" descr="{&quot;isTemplate&quot;:true,&quot;type&quot;:&quot;text&quot;}"/>
          <p:cNvSpPr txBox="1"/>
          <p:nvPr/>
        </p:nvSpPr>
        <p:spPr>
          <a:xfrm rot="0" flipH="0" flipV="0">
            <a:off x="666750" y="381000"/>
            <a:ext cx="54864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02 / </a:t>
            </a:r>
            <a:r>
              <a:rPr lang="zh-CN" sz="1050" spc="75">
                <a:solidFill>
                  <a:srgbClr val="7A8699"/>
                </a:solidFill>
                <a:latin typeface="Microsoft YaHei"/>
                <a:ea typeface="Microsoft YaHei"/>
              </a:rPr>
              <a:t>现状盘点</a:t>
            </a:r>
            <a:endParaRPr/>
          </a:p>
        </p:txBody>
      </p:sp>
      <p:sp>
        <p:nvSpPr>
          <p:cNvPr id="885" name="" descr="{&quot;isTemplate&quot;:true,&quot;type&quot;:&quot;text&quot;}"/>
          <p:cNvSpPr txBox="1"/>
          <p:nvPr/>
        </p:nvSpPr>
        <p:spPr>
          <a:xfrm rot="0" flipH="0" flipV="0">
            <a:off x="666750" y="666750"/>
            <a:ext cx="5486400" cy="476250"/>
          </a:xfrm>
          <a:prstGeom prst="rect"/>
        </p:spPr>
        <p:txBody>
          <a:bodyPr wrap="none" lIns="0" tIns="0" rIns="0" bIns="0"/>
          <a:p>
            <a:pPr>
              <a:lnSpc>
                <a:spcPct val="130000"/>
              </a:lnSpc>
            </a:pPr>
            <a:r>
              <a:rPr lang="zh-CN" sz="2400" b="1">
                <a:solidFill>
                  <a:srgbClr val="0E2340"/>
                </a:solidFill>
                <a:latin typeface="Microsoft YaHei"/>
                <a:ea typeface="Microsoft YaHei"/>
              </a:rPr>
              <a:t>手把手教学：会话状态机与三处记录边界</a:t>
            </a:r>
            <a:endParaRPr/>
          </a:p>
        </p:txBody>
      </p:sp>
      <p:sp>
        <p:nvSpPr>
          <p:cNvPr id="886" name=""/>
          <p:cNvSpPr/>
          <p:nvPr/>
        </p:nvSpPr>
        <p:spPr>
          <a:xfrm rot="0" flipH="0" flipV="0">
            <a:off x="10687050" y="847725"/>
            <a:ext cx="838200" cy="295275"/>
          </a:xfrm>
          <a:prstGeom prst="roundRect">
            <a:avLst>
              <a:gd name="adj" fmla="val 64516"/>
            </a:avLst>
          </a:prstGeom>
          <a:solidFill>
            <a:srgbClr val="E8A33D"/>
          </a:solidFill>
          <a:ln/>
        </p:spPr>
        <p:txBody>
          <a:bodyPr/>
          <a:p/>
        </p:txBody>
      </p:sp>
      <p:sp>
        <p:nvSpPr>
          <p:cNvPr id="887" name="" descr="{&quot;isTemplate&quot;:true,&quot;type&quot;:&quot;text&quot;}"/>
          <p:cNvSpPr txBox="1"/>
          <p:nvPr/>
        </p:nvSpPr>
        <p:spPr>
          <a:xfrm rot="0" flipH="0" flipV="0">
            <a:off x="10839450" y="914400"/>
            <a:ext cx="533400" cy="161925"/>
          </a:xfrm>
          <a:prstGeom prst="rect"/>
        </p:spPr>
        <p:txBody>
          <a:bodyPr wrap="none" lIns="0" tIns="0" rIns="0" bIns="0"/>
          <a:p>
            <a:pPr>
              <a:lnSpc>
                <a:spcPct val="100000"/>
              </a:lnSpc>
            </a:pPr>
            <a:r>
              <a:rPr lang="zh-CN" sz="1050" b="1">
                <a:solidFill>
                  <a:srgbClr val="FFFFFF"/>
                </a:solidFill>
                <a:latin typeface="Microsoft YaHei"/>
                <a:ea typeface="Microsoft YaHei"/>
              </a:rPr>
              <a:t>部分实现</a:t>
            </a:r>
            <a:endParaRPr/>
          </a:p>
        </p:txBody>
      </p:sp>
      <p:pic>
        <p:nvPicPr>
          <p:cNvPr id="888" name=""/>
          <p:cNvPicPr>
            <a:picLocks noChangeAspect="1"/>
          </p:cNvPicPr>
          <p:nvPr/>
        </p:nvPicPr>
        <p:blipFill>
          <a:blip>
            <a:extLst>
              <a:ext uri="{96DAC541-7B7A-43D3-8B79-37D633B846F1}">
                <asvg:svgBlip r:embed="rId1"/>
              </a:ext>
            </a:extLst>
          </a:blip>
          <a:stretch>
            <a:fillRect/>
          </a:stretch>
        </p:blipFill>
        <p:spPr>
          <a:xfrm rot="0" flipH="0" flipV="0">
            <a:off x="666750" y="2286000"/>
            <a:ext cx="6667500" cy="2857500"/>
          </a:xfrm>
          <a:prstGeom prst="rect">
            <a:avLst/>
          </a:prstGeom>
          <a:ln/>
        </p:spPr>
      </p:pic>
      <p:sp>
        <p:nvSpPr>
          <p:cNvPr id="889" name="" descr="{&quot;isTemplate&quot;:true,&quot;type&quot;:&quot;text&quot;}"/>
          <p:cNvSpPr txBox="1"/>
          <p:nvPr/>
        </p:nvSpPr>
        <p:spPr>
          <a:xfrm rot="0" flipH="0" flipV="0">
            <a:off x="7600950" y="1581150"/>
            <a:ext cx="3924300" cy="342900"/>
          </a:xfrm>
          <a:prstGeom prst="rect"/>
        </p:spPr>
        <p:txBody>
          <a:bodyPr wrap="none" lIns="0" tIns="0" rIns="0" bIns="0"/>
          <a:p>
            <a:pPr>
              <a:lnSpc>
                <a:spcPct val="140000"/>
              </a:lnSpc>
            </a:pPr>
            <a:r>
              <a:rPr lang="zh-CN" sz="1575" b="1">
                <a:solidFill>
                  <a:srgbClr val="0E2340"/>
                </a:solidFill>
                <a:latin typeface="Microsoft YaHei"/>
                <a:ea typeface="Microsoft YaHei"/>
              </a:rPr>
              <a:t>实现要点</a:t>
            </a:r>
            <a:endParaRPr/>
          </a:p>
        </p:txBody>
      </p:sp>
      <p:sp>
        <p:nvSpPr>
          <p:cNvPr id="890" name=""/>
          <p:cNvSpPr/>
          <p:nvPr/>
        </p:nvSpPr>
        <p:spPr>
          <a:xfrm rot="0" flipH="0" flipV="0">
            <a:off x="7600950" y="2114550"/>
            <a:ext cx="76200" cy="76200"/>
          </a:xfrm>
          <a:prstGeom prst="roundRect">
            <a:avLst>
              <a:gd name="adj" fmla="val 50000"/>
            </a:avLst>
          </a:prstGeom>
          <a:solidFill>
            <a:srgbClr val="1E7BE0"/>
          </a:solidFill>
          <a:ln/>
        </p:spPr>
        <p:txBody>
          <a:bodyPr/>
          <a:p/>
        </p:txBody>
      </p:sp>
      <p:sp>
        <p:nvSpPr>
          <p:cNvPr id="891" name="" descr="{&quot;isTemplate&quot;:true,&quot;type&quot;:&quot;text&quot;}"/>
          <p:cNvSpPr txBox="1"/>
          <p:nvPr/>
        </p:nvSpPr>
        <p:spPr>
          <a:xfrm rot="0" flipH="0" flipV="0">
            <a:off x="7791450" y="2028825"/>
            <a:ext cx="3733800" cy="9334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优先复用已有解析，再由</a:t>
            </a:r>
            <a:r>
              <a:rPr lang="en-US" sz="1275">
                <a:solidFill>
                  <a:srgbClr val="333A45"/>
                </a:solidFill>
                <a:latin typeface="Microsoft YaHei"/>
                <a:ea typeface="Microsoft YaHei"/>
              </a:rPr>
              <a:t xml:space="preserve"> _fs </a:t>
            </a:r>
            <a:r>
              <a:rPr lang="zh-CN" sz="1275">
                <a:solidFill>
                  <a:srgbClr val="333A45"/>
                </a:solidFill>
                <a:latin typeface="Microsoft YaHei"/>
                <a:ea typeface="Microsoft YaHei"/>
              </a:rPr>
              <a:t>生成</a:t>
            </a:r>
            <a:r>
              <a:rPr lang="en-US" sz="1275">
                <a:solidFill>
                  <a:srgbClr val="333A45"/>
                </a:solidFill>
                <a:latin typeface="Microsoft YaHei"/>
                <a:ea typeface="Microsoft YaHei"/>
              </a:rPr>
              <a:t xml:space="preserve"> step_prompt / step_answer</a:t>
            </a:r>
            <a:r>
              <a:rPr lang="zh-CN" sz="1275">
                <a:solidFill>
                  <a:srgbClr val="333A45"/>
                </a:solidFill>
                <a:latin typeface="Microsoft YaHei"/>
                <a:ea typeface="Microsoft YaHei"/>
              </a:rPr>
              <a:t>，经</a:t>
            </a:r>
            <a:r>
              <a:rPr lang="en-US" sz="1275">
                <a:solidFill>
                  <a:srgbClr val="333A45"/>
                </a:solidFill>
                <a:latin typeface="Microsoft YaHei"/>
                <a:ea typeface="Microsoft YaHei"/>
              </a:rPr>
              <a:t xml:space="preserve"> teach_check </a:t>
            </a:r>
            <a:r>
              <a:rPr lang="zh-CN" sz="1275">
                <a:solidFill>
                  <a:srgbClr val="333A45"/>
                </a:solidFill>
                <a:latin typeface="Microsoft YaHei"/>
                <a:ea typeface="Microsoft YaHei"/>
              </a:rPr>
              <a:t>检查后由后端规则推进或留在当前步骤。</a:t>
            </a:r>
            <a:endParaRPr/>
          </a:p>
        </p:txBody>
      </p:sp>
      <p:sp>
        <p:nvSpPr>
          <p:cNvPr id="892" name=""/>
          <p:cNvSpPr/>
          <p:nvPr/>
        </p:nvSpPr>
        <p:spPr>
          <a:xfrm rot="0" flipH="0" flipV="0">
            <a:off x="7600950" y="3143250"/>
            <a:ext cx="76200" cy="76200"/>
          </a:xfrm>
          <a:prstGeom prst="roundRect">
            <a:avLst>
              <a:gd name="adj" fmla="val 50000"/>
            </a:avLst>
          </a:prstGeom>
          <a:solidFill>
            <a:srgbClr val="1E7BE0"/>
          </a:solidFill>
          <a:ln/>
        </p:spPr>
        <p:txBody>
          <a:bodyPr/>
          <a:p/>
        </p:txBody>
      </p:sp>
      <p:sp>
        <p:nvSpPr>
          <p:cNvPr id="893" name="" descr="{&quot;isTemplate&quot;:true,&quot;type&quot;:&quot;text&quot;}"/>
          <p:cNvSpPr txBox="1"/>
          <p:nvPr/>
        </p:nvSpPr>
        <p:spPr>
          <a:xfrm rot="0" flipH="0" flipV="0">
            <a:off x="7791450" y="30575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命令分支：跳过、请求提示、查看答案；几何题可释放图形提示。</a:t>
            </a:r>
            <a:endParaRPr/>
          </a:p>
        </p:txBody>
      </p:sp>
      <p:sp>
        <p:nvSpPr>
          <p:cNvPr id="894" name=""/>
          <p:cNvSpPr/>
          <p:nvPr/>
        </p:nvSpPr>
        <p:spPr>
          <a:xfrm rot="0" flipH="0" flipV="0">
            <a:off x="7600950" y="3867150"/>
            <a:ext cx="76200" cy="76200"/>
          </a:xfrm>
          <a:prstGeom prst="roundRect">
            <a:avLst>
              <a:gd name="adj" fmla="val 50000"/>
            </a:avLst>
          </a:prstGeom>
          <a:solidFill>
            <a:srgbClr val="1E7BE0"/>
          </a:solidFill>
          <a:ln/>
        </p:spPr>
        <p:txBody>
          <a:bodyPr/>
          <a:p/>
        </p:txBody>
      </p:sp>
      <p:sp>
        <p:nvSpPr>
          <p:cNvPr id="895" name="" descr="{&quot;isTemplate&quot;:true,&quot;type&quot;:&quot;text&quot;}"/>
          <p:cNvSpPr txBox="1"/>
          <p:nvPr/>
        </p:nvSpPr>
        <p:spPr>
          <a:xfrm rot="0" flipH="0" flipV="0">
            <a:off x="7791450" y="37814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记录边界一：跳过分支会写</a:t>
            </a:r>
            <a:r>
              <a:rPr lang="en-US" sz="1275">
                <a:solidFill>
                  <a:srgbClr val="333A45"/>
                </a:solidFill>
                <a:latin typeface="Microsoft YaHei"/>
                <a:ea typeface="Microsoft YaHei"/>
              </a:rPr>
              <a:t xml:space="preserve"> correct=true</a:t>
            </a:r>
            <a:r>
              <a:rPr lang="zh-CN" sz="1275">
                <a:solidFill>
                  <a:srgbClr val="333A45"/>
                </a:solidFill>
                <a:latin typeface="Microsoft YaHei"/>
                <a:ea typeface="Microsoft YaHei"/>
              </a:rPr>
              <a:t>，不能只统计</a:t>
            </a:r>
            <a:r>
              <a:rPr lang="en-US" sz="1275">
                <a:solidFill>
                  <a:srgbClr val="333A45"/>
                </a:solidFill>
                <a:latin typeface="Microsoft YaHei"/>
                <a:ea typeface="Microsoft YaHei"/>
              </a:rPr>
              <a:t xml:space="preserve"> correct </a:t>
            </a:r>
            <a:r>
              <a:rPr lang="zh-CN" sz="1275">
                <a:solidFill>
                  <a:srgbClr val="333A45"/>
                </a:solidFill>
                <a:latin typeface="Microsoft YaHei"/>
                <a:ea typeface="Microsoft YaHei"/>
              </a:rPr>
              <a:t>判断掌握。</a:t>
            </a:r>
            <a:endParaRPr/>
          </a:p>
        </p:txBody>
      </p:sp>
      <p:sp>
        <p:nvSpPr>
          <p:cNvPr id="896" name=""/>
          <p:cNvSpPr/>
          <p:nvPr/>
        </p:nvSpPr>
        <p:spPr>
          <a:xfrm rot="0" flipH="0" flipV="0">
            <a:off x="7600950" y="4591050"/>
            <a:ext cx="76200" cy="76200"/>
          </a:xfrm>
          <a:prstGeom prst="roundRect">
            <a:avLst>
              <a:gd name="adj" fmla="val 50000"/>
            </a:avLst>
          </a:prstGeom>
          <a:solidFill>
            <a:srgbClr val="1E7BE0"/>
          </a:solidFill>
          <a:ln/>
        </p:spPr>
        <p:txBody>
          <a:bodyPr/>
          <a:p/>
        </p:txBody>
      </p:sp>
      <p:sp>
        <p:nvSpPr>
          <p:cNvPr id="897" name="" descr="{&quot;isTemplate&quot;:true,&quot;type&quot;:&quot;text&quot;}"/>
          <p:cNvSpPr txBox="1"/>
          <p:nvPr/>
        </p:nvSpPr>
        <p:spPr>
          <a:xfrm rot="0" flipH="0" flipV="0">
            <a:off x="7791450" y="45053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记录边界二：无“提示后答对”的独立字段；记录边界三：看答案后答对</a:t>
            </a:r>
            <a:r>
              <a:rPr lang="en-US" sz="1275">
                <a:solidFill>
                  <a:srgbClr val="333A45"/>
                </a:solidFill>
                <a:latin typeface="Microsoft YaHei"/>
                <a:ea typeface="Microsoft YaHei"/>
              </a:rPr>
              <a:t xml:space="preserve"> ≠ </a:t>
            </a:r>
            <a:r>
              <a:rPr lang="zh-CN" sz="1275">
                <a:solidFill>
                  <a:srgbClr val="333A45"/>
                </a:solidFill>
                <a:latin typeface="Microsoft YaHei"/>
                <a:ea typeface="Microsoft YaHei"/>
              </a:rPr>
              <a:t>独立完成。</a:t>
            </a:r>
            <a:endParaRPr/>
          </a:p>
        </p:txBody>
      </p:sp>
      <p:sp>
        <p:nvSpPr>
          <p:cNvPr id="898" name=""/>
          <p:cNvSpPr/>
          <p:nvPr/>
        </p:nvSpPr>
        <p:spPr>
          <a:xfrm rot="0" flipH="0" flipV="0">
            <a:off x="7600950" y="5314950"/>
            <a:ext cx="76200" cy="76200"/>
          </a:xfrm>
          <a:prstGeom prst="roundRect">
            <a:avLst>
              <a:gd name="adj" fmla="val 50000"/>
            </a:avLst>
          </a:prstGeom>
          <a:solidFill>
            <a:srgbClr val="1E7BE0"/>
          </a:solidFill>
          <a:ln/>
        </p:spPr>
        <p:txBody>
          <a:bodyPr/>
          <a:p/>
        </p:txBody>
      </p:sp>
      <p:sp>
        <p:nvSpPr>
          <p:cNvPr id="899" name="" descr="{&quot;isTemplate&quot;:true,&quot;type&quot;:&quot;text&quot;}"/>
          <p:cNvSpPr txBox="1"/>
          <p:nvPr/>
        </p:nvSpPr>
        <p:spPr>
          <a:xfrm rot="0" flipH="0" flipV="0">
            <a:off x="7791450" y="52292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仓库虽有</a:t>
            </a:r>
            <a:r>
              <a:rPr lang="en-US" sz="1275">
                <a:solidFill>
                  <a:srgbClr val="333A45"/>
                </a:solidFill>
                <a:latin typeface="Microsoft YaHei"/>
                <a:ea typeface="Microsoft YaHei"/>
              </a:rPr>
              <a:t xml:space="preserve"> teach_chat.md</a:t>
            </a:r>
            <a:r>
              <a:rPr lang="zh-CN" sz="1275">
                <a:solidFill>
                  <a:srgbClr val="333A45"/>
                </a:solidFill>
                <a:latin typeface="Microsoft YaHei"/>
                <a:ea typeface="Microsoft YaHei"/>
              </a:rPr>
              <a:t>，但主路径</a:t>
            </a:r>
            <a:r>
              <a:rPr lang="en-US" sz="1275">
                <a:solidFill>
                  <a:srgbClr val="333A45"/>
                </a:solidFill>
                <a:latin typeface="Microsoft YaHei"/>
                <a:ea typeface="Microsoft YaHei"/>
              </a:rPr>
              <a:t xml:space="preserve"> _do_chat_turn </a:t>
            </a:r>
            <a:r>
              <a:rPr lang="zh-CN" sz="1275">
                <a:solidFill>
                  <a:srgbClr val="333A45"/>
                </a:solidFill>
                <a:latin typeface="Microsoft YaHei"/>
                <a:ea typeface="Microsoft YaHei"/>
              </a:rPr>
              <a:t>使用预生成问题</a:t>
            </a:r>
            <a:r>
              <a:rPr lang="en-US" sz="1275">
                <a:solidFill>
                  <a:srgbClr val="333A45"/>
                </a:solidFill>
                <a:latin typeface="Microsoft YaHei"/>
                <a:ea typeface="Microsoft YaHei"/>
              </a:rPr>
              <a:t xml:space="preserve"> + teach_check + </a:t>
            </a:r>
            <a:r>
              <a:rPr lang="zh-CN" sz="1275">
                <a:solidFill>
                  <a:srgbClr val="333A45"/>
                </a:solidFill>
                <a:latin typeface="Microsoft YaHei"/>
                <a:ea typeface="Microsoft YaHei"/>
              </a:rPr>
              <a:t>后端规则。</a:t>
            </a:r>
            <a:endParaRPr/>
          </a:p>
        </p:txBody>
      </p:sp>
      <p:sp>
        <p:nvSpPr>
          <p:cNvPr id="900"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901"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依据：当前实现能力与名词数量</a:t>
            </a:r>
            <a:r>
              <a:rPr lang="en-US" sz="975">
                <a:solidFill>
                  <a:srgbClr val="7A8699"/>
                </a:solidFill>
                <a:latin typeface="Microsoft YaHei"/>
                <a:ea typeface="Microsoft YaHei"/>
              </a:rPr>
              <a:t>.md §5</a:t>
            </a:r>
            <a:endParaRPr/>
          </a:p>
        </p:txBody>
      </p:sp>
      <p:sp>
        <p:nvSpPr>
          <p:cNvPr id="902"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17 / 124 </a:t>
            </a:r>
            <a:endParaRPr/>
          </a:p>
        </p:txBody>
      </p:sp>
    </p:spTree>
  </p:cSld>
</p:sld>
</file>

<file path=ppt/slides/slide18.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903"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2 / 现状盘点&lt;/Text&gt;&lt;Text style={{ fontSize: 32, color: '#0E2340', fontWeight: 700, lineHeight: 1.3 }}&gt;AI 出题：围绕参考题的变式生成链路&lt;/Text&gt;&lt;/Box&gt;&lt;Box style={{ flexDirection: 'row', alignItems: 'center', padding: '7px 16px', borderRadius: 20, background: '#E8A33D' }}&gt;&lt;Text style={{ fontSize: 14, color: '#FFFFFF', fontWeight: 600 }}&gt;部分实现&lt;/Text&gt;&lt;/Box&gt;&lt;/Box&gt;&lt;Box style={{ height: 532, paddingTop: 8, flexDirection: 'column' }}&gt;&lt;Box style={{ flexDirection: 'column', flex: 1, justifyContent: 'center', gap: 16 }}&gt;&lt;Box style={{ flexDirection: 'column', gap: 16, flex: 1, justifyContent: 'center' }}&gt;&lt;svg width={1140} height={180} viewBox='0 0 1140 180'&gt;&lt;rect x='0' y='40' width='151' height='88' rx='8' fill='#0E2340' stroke='#1E7BE0' stroke-width='1.5'/&gt;&lt;text x='75.5' y='78.0' font-size='20' fill='#FFFFFF' text-anchor='middle' font-weight='600'&gt;候选题&lt;/text&gt;&lt;text x='75.5' y='104.0' font-size='15' fill='#FFFFFF' text-anchor='middle' font-weight='400'&gt;基于题库参考题&lt;/text&gt;&lt;line x1='157' y1='84' x2='183' y2='84' stroke='#1E7BE0' stroke-width='2'/&gt;&lt;path d='M183 78 l10 -6 l0 12 z' fill='#1E7BE0'/&gt;&lt;rect x='197' y='40' width='151' height='88' rx='8' fill='#FFFFFF' stroke='#1E7BE0' stroke-width='1.5'/&gt;&lt;text x='272.5' y='78.0' font-size='20' fill='#0E2340' text-anchor='middle' font-weight='600'&gt;批内去重&lt;/text&gt;&lt;text x='272.5' y='104.0' font-size='15' fill='#7A8699' text-anchor='middle' font-weight='400'&gt;题库重复检查&lt;/text&gt;&lt;line x1='354' y1='84' x2='380' y2='84' stroke='#1E7BE0' stroke-width='2'/&gt;&lt;path d='M380 78 l10 -6 l0 12 z' fill='#1E7BE0'/&gt;&lt;rect x='394' y='40' width='151' height='88' rx='8' fill='#FFFFFF' stroke='#1E7BE0' stroke-width='1.5'/&gt;&lt;text x='469.5' y='78.0' font-size='20' fill='#0E2340' text-anchor='middle' font-weight='600'&gt;Solver&lt;/text&gt;&lt;text x='469.5' y='104.0' font-size='15' fill='#7A8699' text-anchor='middle' font-weight='400'&gt;求解&lt;/text&gt;&lt;line x1='551' y1='84' x2='577' y2='84' stroke='#1E7BE0' stroke-width='2'/&gt;&lt;path d='M577 78 l10 -6 l0 12 z' fill='#1E7BE0'/&gt;&lt;rect x='591' y='40' width='151' height='88' rx='8' fill='#FFFFFF' stroke='#1E7BE0' stroke-width='1.5'/&gt;&lt;text x='666.5' y='78.0' font-size='20' fill='#0E2340' text-anchor='middle' font-weight='600'&gt;Verifier&lt;/text&gt;&lt;text x='666.5' y='104.0' font-size='15' fill='#7A8699' text-anchor='middle' font-weight='400'&gt;拆分与校验&lt;/text&gt;&lt;line x1='748' y1='84' x2='774' y2='84' stroke='#1E7BE0' stroke-width='2'/&gt;&lt;path d='M774 78 l10 -6 l0 12 z' fill='#1E7BE0'/&gt;&lt;rect x='788' y='40' width='151' height='88' rx='8' fill='#FFFFFF' stroke='#1E7BE0' stroke-width='1.5'/&gt;&lt;text x='863.5' y='78.0' font-size='20' fill='#0E2340' text-anchor='middle' font-weight='600'&gt;Formatter&lt;/text&gt;&lt;text x='863.5' y='104.0' font-size='15' fill='#7A8699' text-anchor='middle' font-weight='400'&gt;结构化&lt;/text&gt;&lt;line x1='945' y1='84' x2='971' y2='84' stroke='#1E7BE0' stroke-width='2'/&gt;&lt;path d='M971 78 l10 -6 l0 12 z' fill='#1E7BE0'/&gt;&lt;rect x='985' y='40' width='151' height='88' rx='8' fill='#F5F7FA' stroke='#1E7BE0' stroke-width='1.5'/&gt;&lt;text x='1060.5' y='78.0' font-size='20' fill='#0E2340' text-anchor='middle' font-weight='600'&gt;保存 ai生成&lt;/text&gt;&lt;text x='1060.5' y='104.0' font-size='15' fill='#7A8699' text-anchor='middle' font-weight='400'&gt;记录参考题 ID&lt;/text&gt;&lt;/svg&gt;&lt;/Box&gt;&lt;Box style={{ flexDirection: 'row', gap: 20 }}&gt;&lt;Box style={{ width: 56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700, lineHeight: 1.4 }}&gt;启发式评分四因子权重&lt;/Text&gt;&lt;Text style={{ fontSize: 18, color: '#333A45', fontWeight: 400, lineHeight: 1.6 }}&gt;难度接近 45% · 步骤标题序列相似度 30% · 知识点重合度 15% · 题型一致性 10%&lt;/Text&gt;&lt;/Box&gt;&lt;/Box&gt;&lt;Box style={{ width: 560, background: '#FFFFFF', border: '1px solid #E3E8EF', borderRadius: 8, overflow: 'hidden', flexDirection: 'column' }}&gt;&lt;Box style={{ height: 4, background: 'linear-gradient(90deg, #1E7BE0 0%, #00A9B5 100%)' }} /&gt;&lt;Box style={{ flexDirection: 'column', gap: 10, padding: 20, flex: 1 }}&gt;&lt;Text style={{ fontSize: 21, color: '#E8A33D', fontWeight: 700, lineHeight: 1.4 }}&gt;当前两处缺陷&lt;/Text&gt;&lt;Text style={{ fontSize: 17, color: '#333A45', fontWeight: 400, lineHeight: 1.6 }}&gt;无最低匹配分硬性门槛；无针对每名学生已学课时的硬性过滤。主路径不要求参考题必须登记为母题。&lt;/Text&gt;&lt;/Box&gt;&lt;/Box&gt;&lt;/Box&gt;&lt;/Box&gt;&lt;/Box&gt;&lt;Box style={{ height: 40, flexDirection: 'row', justifyContent: 'space-between', alignItems: 'center', borderTop: '1px solid #E3E8EF', marginTop: 8 }}&gt;&lt;Text style={{ fontSize: 13, color: '#7A8699', fontWeight: 400, lineHeight: 1.4 }}&gt;依据：当前实现能力与名词数量.md §6&lt;/Text&gt;&lt;Text style={{ fontSize: 14, color: '#7A8699', fontWeight: 400, lineHeight: 1.4 }}&gt; 18 / 124 &lt;/Text&gt;&lt;/Box&gt;&lt;/Slide&gt;"/>
        <p:cNvGrpSpPr/>
        <p:nvPr/>
      </p:nvGrpSpPr>
      <p:grpSpPr>
        <a:xfrm>
          <a:off x="0" y="0"/>
          <a:ext cx="0" cy="0"/>
          <a:chOff x="0" y="0"/>
          <a:chExt cx="0" cy="0"/>
        </a:xfrm>
      </p:grpSpPr>
      <p:sp>
        <p:nvSpPr>
          <p:cNvPr id="904" name=""/>
          <p:cNvSpPr/>
          <p:nvPr/>
        </p:nvSpPr>
        <p:spPr>
          <a:xfrm rot="0" flipH="0" flipV="0">
            <a:off x="0" y="0"/>
            <a:ext cx="12192000" cy="6858000"/>
          </a:xfrm>
          <a:prstGeom prst="rect">
            <a:avLst/>
          </a:prstGeom>
          <a:solidFill>
            <a:srgbClr val="FFFFFF"/>
          </a:solidFill>
          <a:ln/>
        </p:spPr>
        <p:txBody>
          <a:bodyPr/>
          <a:p/>
        </p:txBody>
      </p:sp>
      <p:sp>
        <p:nvSpPr>
          <p:cNvPr id="905" name="" descr="{&quot;isTemplate&quot;:true,&quot;type&quot;:&quot;text&quot;}"/>
          <p:cNvSpPr txBox="1"/>
          <p:nvPr/>
        </p:nvSpPr>
        <p:spPr>
          <a:xfrm rot="0" flipH="0" flipV="0">
            <a:off x="666750" y="381000"/>
            <a:ext cx="4962525"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02 / </a:t>
            </a:r>
            <a:r>
              <a:rPr lang="zh-CN" sz="1050" spc="75">
                <a:solidFill>
                  <a:srgbClr val="7A8699"/>
                </a:solidFill>
                <a:latin typeface="Microsoft YaHei"/>
                <a:ea typeface="Microsoft YaHei"/>
              </a:rPr>
              <a:t>现状盘点</a:t>
            </a:r>
            <a:endParaRPr/>
          </a:p>
        </p:txBody>
      </p:sp>
      <p:sp>
        <p:nvSpPr>
          <p:cNvPr id="906" name="" descr="{&quot;isTemplate&quot;:true,&quot;type&quot;:&quot;text&quot;}"/>
          <p:cNvSpPr txBox="1"/>
          <p:nvPr/>
        </p:nvSpPr>
        <p:spPr>
          <a:xfrm rot="0" flipH="0" flipV="0">
            <a:off x="666750" y="666750"/>
            <a:ext cx="4962525" cy="476250"/>
          </a:xfrm>
          <a:prstGeom prst="rect"/>
        </p:spPr>
        <p:txBody>
          <a:bodyPr wrap="none" lIns="0" tIns="0" rIns="0" bIns="0"/>
          <a:p>
            <a:pPr>
              <a:lnSpc>
                <a:spcPct val="130000"/>
              </a:lnSpc>
            </a:pPr>
            <a:r>
              <a:rPr lang="en-US" sz="2400" b="1">
                <a:solidFill>
                  <a:srgbClr val="0E2340"/>
                </a:solidFill>
                <a:latin typeface="Microsoft YaHei"/>
                <a:ea typeface="Microsoft YaHei"/>
              </a:rPr>
              <a:t xml:space="preserve">AI </a:t>
            </a:r>
            <a:r>
              <a:rPr lang="zh-CN" sz="2400" b="1">
                <a:solidFill>
                  <a:srgbClr val="0E2340"/>
                </a:solidFill>
                <a:latin typeface="Microsoft YaHei"/>
                <a:ea typeface="Microsoft YaHei"/>
              </a:rPr>
              <a:t>出题：围绕参考题的变式生成链路</a:t>
            </a:r>
            <a:endParaRPr/>
          </a:p>
        </p:txBody>
      </p:sp>
      <p:sp>
        <p:nvSpPr>
          <p:cNvPr id="907" name=""/>
          <p:cNvSpPr/>
          <p:nvPr/>
        </p:nvSpPr>
        <p:spPr>
          <a:xfrm rot="0" flipH="0" flipV="0">
            <a:off x="10687050" y="847725"/>
            <a:ext cx="838200" cy="295275"/>
          </a:xfrm>
          <a:prstGeom prst="roundRect">
            <a:avLst>
              <a:gd name="adj" fmla="val 64516"/>
            </a:avLst>
          </a:prstGeom>
          <a:solidFill>
            <a:srgbClr val="E8A33D"/>
          </a:solidFill>
          <a:ln/>
        </p:spPr>
        <p:txBody>
          <a:bodyPr/>
          <a:p/>
        </p:txBody>
      </p:sp>
      <p:sp>
        <p:nvSpPr>
          <p:cNvPr id="908" name="" descr="{&quot;isTemplate&quot;:true,&quot;type&quot;:&quot;text&quot;}"/>
          <p:cNvSpPr txBox="1"/>
          <p:nvPr/>
        </p:nvSpPr>
        <p:spPr>
          <a:xfrm rot="0" flipH="0" flipV="0">
            <a:off x="10839450" y="914400"/>
            <a:ext cx="533400" cy="161925"/>
          </a:xfrm>
          <a:prstGeom prst="rect"/>
        </p:spPr>
        <p:txBody>
          <a:bodyPr wrap="none" lIns="0" tIns="0" rIns="0" bIns="0"/>
          <a:p>
            <a:pPr>
              <a:lnSpc>
                <a:spcPct val="100000"/>
              </a:lnSpc>
            </a:pPr>
            <a:r>
              <a:rPr lang="zh-CN" sz="1050" b="1">
                <a:solidFill>
                  <a:srgbClr val="FFFFFF"/>
                </a:solidFill>
                <a:latin typeface="Microsoft YaHei"/>
                <a:ea typeface="Microsoft YaHei"/>
              </a:rPr>
              <a:t>部分实现</a:t>
            </a:r>
            <a:endParaRPr/>
          </a:p>
        </p:txBody>
      </p:sp>
      <p:pic>
        <p:nvPicPr>
          <p:cNvPr id="909" name=""/>
          <p:cNvPicPr>
            <a:picLocks noChangeAspect="1"/>
          </p:cNvPicPr>
          <p:nvPr/>
        </p:nvPicPr>
        <p:blipFill>
          <a:blip>
            <a:extLst>
              <a:ext uri="{96DAC541-7B7A-43D3-8B79-37D633B846F1}">
                <asvg:svgBlip r:embed="rId1"/>
              </a:ext>
            </a:extLst>
          </a:blip>
          <a:stretch>
            <a:fillRect/>
          </a:stretch>
        </p:blipFill>
        <p:spPr>
          <a:xfrm rot="0" flipH="0" flipV="0">
            <a:off x="666750" y="2019300"/>
            <a:ext cx="10858500" cy="1714500"/>
          </a:xfrm>
          <a:prstGeom prst="rect">
            <a:avLst/>
          </a:prstGeom>
          <a:ln/>
        </p:spPr>
      </p:pic>
      <p:sp>
        <p:nvSpPr>
          <p:cNvPr id="910" name=""/>
          <p:cNvSpPr/>
          <p:nvPr/>
        </p:nvSpPr>
        <p:spPr>
          <a:xfrm rot="0" flipH="0" flipV="0">
            <a:off x="666750" y="4686300"/>
            <a:ext cx="5334000" cy="1524000"/>
          </a:xfrm>
          <a:prstGeom prst="roundRect">
            <a:avLst>
              <a:gd name="adj" fmla="val 5000"/>
            </a:avLst>
          </a:prstGeom>
          <a:solidFill>
            <a:srgbClr val="FFFFFF"/>
          </a:solidFill>
          <a:ln w="12700">
            <a:solidFill>
              <a:srgbClr val="E3E8EF"/>
            </a:solidFill>
            <a:prstDash val="solid"/>
          </a:ln>
        </p:spPr>
        <p:txBody>
          <a:bodyPr/>
          <a:p/>
        </p:txBody>
      </p:sp>
      <p:sp>
        <p:nvSpPr>
          <p:cNvPr id="911" name=""/>
          <p:cNvSpPr/>
          <p:nvPr/>
        </p:nvSpPr>
        <p:spPr>
          <a:xfrm rot="0" flipH="0" flipV="0">
            <a:off x="666750" y="4686300"/>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912" name="" descr="{&quot;isTemplate&quot;:true,&quot;type&quot;:&quot;text&quot;}"/>
          <p:cNvSpPr txBox="1"/>
          <p:nvPr/>
        </p:nvSpPr>
        <p:spPr>
          <a:xfrm rot="0" flipH="0" flipV="0">
            <a:off x="857250" y="4914900"/>
            <a:ext cx="4953000" cy="342900"/>
          </a:xfrm>
          <a:prstGeom prst="rect"/>
        </p:spPr>
        <p:txBody>
          <a:bodyPr wrap="none" lIns="0" tIns="0" rIns="0" bIns="0"/>
          <a:p>
            <a:pPr>
              <a:lnSpc>
                <a:spcPct val="140000"/>
              </a:lnSpc>
            </a:pPr>
            <a:r>
              <a:rPr lang="zh-CN" sz="1575" b="1">
                <a:solidFill>
                  <a:srgbClr val="0E2340"/>
                </a:solidFill>
                <a:latin typeface="Microsoft YaHei"/>
                <a:ea typeface="Microsoft YaHei"/>
              </a:rPr>
              <a:t>启发式评分四因子权重</a:t>
            </a:r>
            <a:endParaRPr/>
          </a:p>
        </p:txBody>
      </p:sp>
      <p:sp>
        <p:nvSpPr>
          <p:cNvPr id="913" name="" descr="{&quot;isTemplate&quot;:true,&quot;type&quot;:&quot;text&quot;}"/>
          <p:cNvSpPr txBox="1"/>
          <p:nvPr/>
        </p:nvSpPr>
        <p:spPr>
          <a:xfrm rot="0" flipH="0" flipV="0">
            <a:off x="857250" y="5353050"/>
            <a:ext cx="4953000" cy="666750"/>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难度接近</a:t>
            </a:r>
            <a:r>
              <a:rPr lang="en-US" sz="1350">
                <a:solidFill>
                  <a:srgbClr val="333A45"/>
                </a:solidFill>
                <a:latin typeface="Microsoft YaHei"/>
                <a:ea typeface="Microsoft YaHei"/>
              </a:rPr>
              <a:t xml:space="preserve"> 45% · </a:t>
            </a:r>
            <a:r>
              <a:rPr lang="zh-CN" sz="1350">
                <a:solidFill>
                  <a:srgbClr val="333A45"/>
                </a:solidFill>
                <a:latin typeface="Microsoft YaHei"/>
                <a:ea typeface="Microsoft YaHei"/>
              </a:rPr>
              <a:t>步骤标题序列相似度</a:t>
            </a:r>
            <a:r>
              <a:rPr lang="en-US" sz="1350">
                <a:solidFill>
                  <a:srgbClr val="333A45"/>
                </a:solidFill>
                <a:latin typeface="Microsoft YaHei"/>
                <a:ea typeface="Microsoft YaHei"/>
              </a:rPr>
              <a:t xml:space="preserve"> 30% · </a:t>
            </a:r>
            <a:r>
              <a:rPr lang="zh-CN" sz="1350">
                <a:solidFill>
                  <a:srgbClr val="333A45"/>
                </a:solidFill>
                <a:latin typeface="Microsoft YaHei"/>
                <a:ea typeface="Microsoft YaHei"/>
              </a:rPr>
              <a:t>知识点重合度</a:t>
            </a:r>
            <a:r>
              <a:rPr lang="en-US" sz="1350">
                <a:solidFill>
                  <a:srgbClr val="333A45"/>
                </a:solidFill>
                <a:latin typeface="Microsoft YaHei"/>
                <a:ea typeface="Microsoft YaHei"/>
              </a:rPr>
              <a:t xml:space="preserve"> 15% · </a:t>
            </a:r>
            <a:r>
              <a:rPr lang="zh-CN" sz="1350">
                <a:solidFill>
                  <a:srgbClr val="333A45"/>
                </a:solidFill>
                <a:latin typeface="Microsoft YaHei"/>
                <a:ea typeface="Microsoft YaHei"/>
              </a:rPr>
              <a:t>题型一致性</a:t>
            </a:r>
            <a:r>
              <a:rPr lang="en-US" sz="1350">
                <a:solidFill>
                  <a:srgbClr val="333A45"/>
                </a:solidFill>
                <a:latin typeface="Microsoft YaHei"/>
                <a:ea typeface="Microsoft YaHei"/>
              </a:rPr>
              <a:t xml:space="preserve"> 10%</a:t>
            </a:r>
            <a:endParaRPr/>
          </a:p>
        </p:txBody>
      </p:sp>
      <p:sp>
        <p:nvSpPr>
          <p:cNvPr id="914" name=""/>
          <p:cNvSpPr/>
          <p:nvPr/>
        </p:nvSpPr>
        <p:spPr>
          <a:xfrm rot="0" flipH="0" flipV="0">
            <a:off x="6191250" y="4686300"/>
            <a:ext cx="5334000" cy="1524000"/>
          </a:xfrm>
          <a:prstGeom prst="roundRect">
            <a:avLst>
              <a:gd name="adj" fmla="val 5000"/>
            </a:avLst>
          </a:prstGeom>
          <a:solidFill>
            <a:srgbClr val="FFFFFF"/>
          </a:solidFill>
          <a:ln w="12700">
            <a:solidFill>
              <a:srgbClr val="E3E8EF"/>
            </a:solidFill>
            <a:prstDash val="solid"/>
          </a:ln>
        </p:spPr>
        <p:txBody>
          <a:bodyPr/>
          <a:p/>
        </p:txBody>
      </p:sp>
      <p:sp>
        <p:nvSpPr>
          <p:cNvPr id="915" name=""/>
          <p:cNvSpPr/>
          <p:nvPr/>
        </p:nvSpPr>
        <p:spPr>
          <a:xfrm rot="0" flipH="0" flipV="0">
            <a:off x="6191250" y="4686300"/>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916" name="" descr="{&quot;isTemplate&quot;:true,&quot;type&quot;:&quot;text&quot;}"/>
          <p:cNvSpPr txBox="1"/>
          <p:nvPr/>
        </p:nvSpPr>
        <p:spPr>
          <a:xfrm rot="0" flipH="0" flipV="0">
            <a:off x="6381750" y="4914900"/>
            <a:ext cx="4953000" cy="342900"/>
          </a:xfrm>
          <a:prstGeom prst="rect"/>
        </p:spPr>
        <p:txBody>
          <a:bodyPr wrap="none" lIns="0" tIns="0" rIns="0" bIns="0"/>
          <a:p>
            <a:pPr>
              <a:lnSpc>
                <a:spcPct val="140000"/>
              </a:lnSpc>
            </a:pPr>
            <a:r>
              <a:rPr lang="zh-CN" sz="1575" b="1">
                <a:solidFill>
                  <a:srgbClr val="E8A33D"/>
                </a:solidFill>
                <a:latin typeface="Microsoft YaHei"/>
                <a:ea typeface="Microsoft YaHei"/>
              </a:rPr>
              <a:t>当前两处缺陷</a:t>
            </a:r>
            <a:endParaRPr/>
          </a:p>
        </p:txBody>
      </p:sp>
      <p:sp>
        <p:nvSpPr>
          <p:cNvPr id="917" name="" descr="{&quot;isTemplate&quot;:true,&quot;type&quot;:&quot;text&quot;}"/>
          <p:cNvSpPr txBox="1"/>
          <p:nvPr/>
        </p:nvSpPr>
        <p:spPr>
          <a:xfrm rot="0" flipH="0" flipV="0">
            <a:off x="6381750" y="5353050"/>
            <a:ext cx="49530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无最低匹配分硬性门槛；无针对每名学生已学课时的硬性过滤。主路径不要求参考题必须登记为母题。</a:t>
            </a:r>
            <a:endParaRPr/>
          </a:p>
        </p:txBody>
      </p:sp>
      <p:sp>
        <p:nvSpPr>
          <p:cNvPr id="918"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919"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依据：当前实现能力与名词数量</a:t>
            </a:r>
            <a:r>
              <a:rPr lang="en-US" sz="975">
                <a:solidFill>
                  <a:srgbClr val="7A8699"/>
                </a:solidFill>
                <a:latin typeface="Microsoft YaHei"/>
                <a:ea typeface="Microsoft YaHei"/>
              </a:rPr>
              <a:t>.md §6</a:t>
            </a:r>
            <a:endParaRPr/>
          </a:p>
        </p:txBody>
      </p:sp>
      <p:sp>
        <p:nvSpPr>
          <p:cNvPr id="920"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18 / 124 </a:t>
            </a:r>
            <a:endParaRPr/>
          </a:p>
        </p:txBody>
      </p:sp>
    </p:spTree>
  </p:cSld>
</p:sld>
</file>

<file path=ppt/slides/slide19.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921"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2 / 现状盘点&lt;/Text&gt;&lt;Text style={{ fontSize: 32, color: '#0E2340', fontWeight: 700, lineHeight: 1.3 }}&gt;已实现 / 待补齐 / 待验证：八方面状态&lt;/Text&gt;&lt;/Box&gt;&lt;Box style={{ flexDirection: 'row', alignItems: 'center', padding: '7px 16px', borderRadius: 20, background: '#1E9E62' }}&gt;&lt;Text style={{ fontSize: 14, color: '#FFFFFF', fontWeight: 600 }}&gt;已实现&lt;/Text&gt;&lt;/Box&gt;&lt;/Box&gt;&lt;Box style={{ height: 532, paddingTop: 8, flexDirection: 'column' }}&gt;&lt;Box style={{ flexDirection: 'column', flex: 1, paddingTop: 4 }}&gt;&lt;Box style={{ marginBottom: 14 }}&gt;&lt;Box style={{ flexDirection: 'row', alignItems: 'center', background: '#F5F7FA', borderLeft: '4px solid #0E2340', borderRadius: 6, padding: '14px 20px' }}&gt;&lt;Text style={{ fontSize: 20, color: '#0E2340', fontWeight: 600, lineHeight: 1.5 }}&gt;红绿灯口径：已实现＝代码落地并经静态核对；部分实现＝有基础但存在明确缺口&lt;/Text&gt;&lt;/Box&gt;&lt;/Box&gt;&lt;Box style={{ flex: 1 }}&gt;&lt;Table style={{ width: '100%', height: '100%' }} defaultTextStyle={{ fontSize: 16, textAlign: 'left', color: '#333A45' }} defaultCellStyle={{ padding: 10, border: { left: { width: 1, color: '#E3E8EF' }, right: { width: 1, color: '#E3E8EF' }, top: { width: 1, color: '#E3E8EF' }, bottom: { width: 1, color: '#E3E8EF' } } }} cells={[[{ text: '方面', textStyle: { color: '#FFFFFF', fontWeight: 600, fontSize: 16 }, cellStyle: { background: { color: '#0E2340' } } }, { text: '状态', textStyle: { color: '#FFFFFF', fontWeight: 600, fontSize: 16 }, cellStyle: { background: { color: '#0E2340' } } }, { text: '说明', textStyle: { color: '#FFFFFF', fontWeight: 600, fontSize: 16 }, cellStyle: { background: { color: '#0E2340' } } }],&#10;        [{ text: 'AI 解题三阶段流水线', textStyle: { fontWeight: 600, fontSize: 16 } }, { text: '已实现', textStyle: { fontSize: 16 } }, { text: 'Solver / Verifier / Formatter 已跑通，含失败回退与 fallback 标记', textStyle: { fontSize: 16 } }],&#10;        [{ text: 'AI 改题逐步对齐', textStyle: { fontWeight: 600, fontSize: 16 }, cellStyle: { background: { color: '#F5F7FA' } } }, { text: '已实现（大题）', textStyle: { fontSize: 16 }, cellStyle: { background: { color: '#F5F7FA' } } }, { text: '四态标记与证据字段齐备；选择题类走答案匹配，无逐步诊断', textStyle: { fontSize: 16 }, cellStyle: { background: { color: '#F5F7FA' } } }],&#10;        [{ text: '手把手教学', textStyle: { fontWeight: 600, fontSize: 16 } }, { text: '部分实现', textStyle: { fontSize: 16 } }, { text: '状态机可用，但掌握状态记录粒度不足（跳过写 correct、无提示后答对字段）', textStyle: { fontSize: 16 } }],&#10;        [{ text: 'AI 出题', textStyle: { fontWeight: 600, fontSize: 16 }, cellStyle: { background: { color: '#F5F7FA' } } }, { text: '部分实现', textStyle: { fontSize: 16 }, cellStyle: { background: { color: '#F5F7FA' } } }, { text: '变式链路完整，缺最低匹配门槛与按已学课时过滤', textStyle: { fontSize: 16 }, cellStyle: { background: { color: '#F5F7FA' } } }],&#10;        [{ text: '步骤默认难度', textStyle: { fontWeight: 600, fontSize: 16 } }, { text: '待补齐', textStyle: { fontSize: 16 } }, { text: 'steps.yaml 尚无逐项默认难度数据，属负责人提出的后续设计', textStyle: { fontSize: 16 } }],&#10;        [{ text: '手写笔迹时间线自动诊断', textStyle: { fontWeight: 600, fontSize: 16 }, cellStyle: { background: { color: '#F5F7FA' } } }, { text: '待验证', textStyle: { fontSize: 16 }, cellStyle: { background: { color: '#F5F7FA' } } }, { text: '已有采集与回放基础，尚未完成带时间戳笔迹的自动诊断', textStyle: { fontSize: 16 }, cellStyle: { background: { color: '#F5F7FA' } } }],&#10;        [{ text: '主动诊断自适应选题', textStyle: { fontWeight: 600, fontSize: 16 } }, { text: '待补齐', textStyle: { fontSize: 16 } }, { text: '有关联一条练习记录的基础，缺自动生成区分性小题与自动停止', textStyle: { fontSize: 16 } }],&#10;        [{ text: '对外 MCP 服务', textStyle: { fontWeight: 600, fontSize: 16 }, cellStyle: { background: { color: '#F5F7FA' } } }, { text: '待补齐', textStyle: { fontSize: 16 }, cellStyle: { background: { color: '#F5F7FA' } } }, { text: '仅有六类内部工具与 HTTP API，无可直接安装使用的 MCP 服务', textStyle: { fontSize: 16 }, cellStyle: { background: { color: '#F5F7FA' } } }]]} /&gt;&lt;/Box&gt;&lt;/Box&gt;&lt;/Box&gt;&lt;Box style={{ height: 40, flexDirection: 'row', justifyContent: 'space-between', alignItems: 'center', borderTop: '1px solid #E3E8EF', marginTop: 8 }}&gt;&lt;Text style={{ fontSize: 13, color: '#7A8699', fontWeight: 400, lineHeight: 1.4 }}&gt;依据：当前实现能力与名词数量.md §8&lt;/Text&gt;&lt;Text style={{ fontSize: 14, color: '#7A8699', fontWeight: 400, lineHeight: 1.4 }}&gt; 19 / 124 &lt;/Text&gt;&lt;/Box&gt;&lt;/Slide&gt;"/>
        <p:cNvGrpSpPr/>
        <p:nvPr/>
      </p:nvGrpSpPr>
      <p:grpSpPr>
        <a:xfrm>
          <a:off x="0" y="0"/>
          <a:ext cx="0" cy="0"/>
          <a:chOff x="0" y="0"/>
          <a:chExt cx="0" cy="0"/>
        </a:xfrm>
      </p:grpSpPr>
      <p:sp>
        <p:nvSpPr>
          <p:cNvPr id="922" name=""/>
          <p:cNvSpPr/>
          <p:nvPr/>
        </p:nvSpPr>
        <p:spPr>
          <a:xfrm rot="0" flipH="0" flipV="0">
            <a:off x="0" y="0"/>
            <a:ext cx="12192000" cy="6858000"/>
          </a:xfrm>
          <a:prstGeom prst="rect">
            <a:avLst/>
          </a:prstGeom>
          <a:solidFill>
            <a:srgbClr val="FFFFFF"/>
          </a:solidFill>
          <a:ln/>
        </p:spPr>
        <p:txBody>
          <a:bodyPr/>
          <a:p/>
        </p:txBody>
      </p:sp>
      <p:sp>
        <p:nvSpPr>
          <p:cNvPr id="923" name="" descr="{&quot;isTemplate&quot;:true,&quot;type&quot;:&quot;text&quot;}"/>
          <p:cNvSpPr txBox="1"/>
          <p:nvPr/>
        </p:nvSpPr>
        <p:spPr>
          <a:xfrm rot="0" flipH="0" flipV="0">
            <a:off x="666750" y="381000"/>
            <a:ext cx="508635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02 / </a:t>
            </a:r>
            <a:r>
              <a:rPr lang="zh-CN" sz="1050" spc="75">
                <a:solidFill>
                  <a:srgbClr val="7A8699"/>
                </a:solidFill>
                <a:latin typeface="Microsoft YaHei"/>
                <a:ea typeface="Microsoft YaHei"/>
              </a:rPr>
              <a:t>现状盘点</a:t>
            </a:r>
            <a:endParaRPr/>
          </a:p>
        </p:txBody>
      </p:sp>
      <p:sp>
        <p:nvSpPr>
          <p:cNvPr id="924" name="" descr="{&quot;isTemplate&quot;:true,&quot;type&quot;:&quot;text&quot;}"/>
          <p:cNvSpPr txBox="1"/>
          <p:nvPr/>
        </p:nvSpPr>
        <p:spPr>
          <a:xfrm rot="0" flipH="0" flipV="0">
            <a:off x="666750" y="666750"/>
            <a:ext cx="5086350" cy="476250"/>
          </a:xfrm>
          <a:prstGeom prst="rect"/>
        </p:spPr>
        <p:txBody>
          <a:bodyPr wrap="none" lIns="0" tIns="0" rIns="0" bIns="0"/>
          <a:p>
            <a:pPr>
              <a:lnSpc>
                <a:spcPct val="130000"/>
              </a:lnSpc>
            </a:pPr>
            <a:r>
              <a:rPr lang="zh-CN" sz="2400" b="1">
                <a:solidFill>
                  <a:srgbClr val="0E2340"/>
                </a:solidFill>
                <a:latin typeface="Microsoft YaHei"/>
                <a:ea typeface="Microsoft YaHei"/>
              </a:rPr>
              <a:t>已实现</a:t>
            </a:r>
            <a:r>
              <a:rPr lang="en-US" sz="2400" b="1">
                <a:solidFill>
                  <a:srgbClr val="0E2340"/>
                </a:solidFill>
                <a:latin typeface="Microsoft YaHei"/>
                <a:ea typeface="Microsoft YaHei"/>
              </a:rPr>
              <a:t xml:space="preserve"> / </a:t>
            </a:r>
            <a:r>
              <a:rPr lang="zh-CN" sz="2400" b="1">
                <a:solidFill>
                  <a:srgbClr val="0E2340"/>
                </a:solidFill>
                <a:latin typeface="Microsoft YaHei"/>
                <a:ea typeface="Microsoft YaHei"/>
              </a:rPr>
              <a:t>待补齐</a:t>
            </a:r>
            <a:r>
              <a:rPr lang="en-US" sz="2400" b="1">
                <a:solidFill>
                  <a:srgbClr val="0E2340"/>
                </a:solidFill>
                <a:latin typeface="Microsoft YaHei"/>
                <a:ea typeface="Microsoft YaHei"/>
              </a:rPr>
              <a:t xml:space="preserve"> / </a:t>
            </a:r>
            <a:r>
              <a:rPr lang="zh-CN" sz="2400" b="1">
                <a:solidFill>
                  <a:srgbClr val="0E2340"/>
                </a:solidFill>
                <a:latin typeface="Microsoft YaHei"/>
                <a:ea typeface="Microsoft YaHei"/>
              </a:rPr>
              <a:t>待验证：八方面状态</a:t>
            </a:r>
            <a:endParaRPr/>
          </a:p>
        </p:txBody>
      </p:sp>
      <p:sp>
        <p:nvSpPr>
          <p:cNvPr id="925" name=""/>
          <p:cNvSpPr/>
          <p:nvPr/>
        </p:nvSpPr>
        <p:spPr>
          <a:xfrm rot="0" flipH="0" flipV="0">
            <a:off x="10820400" y="847725"/>
            <a:ext cx="704850" cy="295275"/>
          </a:xfrm>
          <a:prstGeom prst="roundRect">
            <a:avLst>
              <a:gd name="adj" fmla="val 64516"/>
            </a:avLst>
          </a:prstGeom>
          <a:solidFill>
            <a:srgbClr val="1E9E62"/>
          </a:solidFill>
          <a:ln/>
        </p:spPr>
        <p:txBody>
          <a:bodyPr/>
          <a:p/>
        </p:txBody>
      </p:sp>
      <p:sp>
        <p:nvSpPr>
          <p:cNvPr id="926"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已实现</a:t>
            </a:r>
            <a:endParaRPr/>
          </a:p>
        </p:txBody>
      </p:sp>
      <p:sp>
        <p:nvSpPr>
          <p:cNvPr id="927" name=""/>
          <p:cNvSpPr/>
          <p:nvPr/>
        </p:nvSpPr>
        <p:spPr>
          <a:xfrm rot="0" flipH="0" flipV="0">
            <a:off x="704850" y="1257300"/>
            <a:ext cx="10858500" cy="609600"/>
          </a:xfrm>
          <a:prstGeom prst="roundRect">
            <a:avLst>
              <a:gd name="adj" fmla="val 9375"/>
            </a:avLst>
          </a:prstGeom>
          <a:solidFill>
            <a:srgbClr val="F5F7FA"/>
          </a:solidFill>
          <a:ln/>
        </p:spPr>
        <p:txBody>
          <a:bodyPr/>
          <a:p/>
        </p:txBody>
      </p:sp>
      <p:sp>
        <p:nvSpPr>
          <p:cNvPr id="928" name=""/>
          <p:cNvSpPr/>
          <p:nvPr/>
        </p:nvSpPr>
        <p:spPr>
          <a:xfrm rot="0" flipH="0" flipV="0">
            <a:off x="704850" y="12573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929" name="" descr="{&quot;isTemplate&quot;:true,&quot;type&quot;:&quot;text&quot;}"/>
          <p:cNvSpPr txBox="1"/>
          <p:nvPr/>
        </p:nvSpPr>
        <p:spPr>
          <a:xfrm rot="0" flipH="0" flipV="0">
            <a:off x="895350" y="1390650"/>
            <a:ext cx="6858000" cy="342900"/>
          </a:xfrm>
          <a:prstGeom prst="rect"/>
        </p:spPr>
        <p:txBody>
          <a:bodyPr wrap="none" lIns="0" tIns="0" rIns="0" bIns="0"/>
          <a:p>
            <a:pPr>
              <a:lnSpc>
                <a:spcPct val="150000"/>
              </a:lnSpc>
            </a:pPr>
            <a:r>
              <a:rPr lang="zh-CN" sz="1500" b="1">
                <a:solidFill>
                  <a:srgbClr val="0E2340"/>
                </a:solidFill>
                <a:latin typeface="Microsoft YaHei"/>
                <a:ea typeface="Microsoft YaHei"/>
              </a:rPr>
              <a:t>红绿灯口径：已实现＝代码落地并经静态核对；部分实现＝有基础但存在明确缺口</a:t>
            </a:r>
            <a:endParaRPr/>
          </a:p>
        </p:txBody>
      </p:sp>
      <p:graphicFrame>
        <p:nvGraphicFramePr>
          <p:cNvPr id="930" name=""/>
          <p:cNvGraphicFramePr/>
          <p:nvPr/>
        </p:nvGraphicFramePr>
        <p:xfrm rot="0" flipH="0" flipV="0">
          <a:off x="666750" y="2000250"/>
          <a:ext cx="10858500" cy="4210050"/>
        </p:xfrm>
        <a:graphic>
          <a:graphicData uri="http://schemas.openxmlformats.org/drawingml/2006/table">
            <a:tbl>
              <a:tblGrid>
                <a:gridCol w="2325032">
                  <a:extLst>
                    <a:ext uri="{9D8B030D-6E8A-4147-A177-3AD203B41FA5}">
                      <a16:colId val="1"/>
                    </a:ext>
                  </a:extLst>
                </a:gridCol>
                <a:gridCol w="1523297">
                  <a:extLst>
                    <a:ext uri="{9D8B030D-6E8A-4147-A177-3AD203B41FA5}">
                      <a16:colId val="2"/>
                    </a:ext>
                  </a:extLst>
                </a:gridCol>
                <a:gridCol w="7010171">
                  <a:extLst>
                    <a:ext uri="{9D8B030D-6E8A-4147-A177-3AD203B41FA5}">
                      <a16:colId val="3"/>
                    </a:ext>
                  </a:extLst>
                </a:gridCol>
              </a:tblGrid>
              <a:tr h="467783">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方面</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状态</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说明</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467783">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AI 解题三阶段流水线</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已实现</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Solver / Verifier / Formatter 已跑通，含失败回退与 fallback 标记</a:t>
                      </a:r>
                      <a:endParaRPr/>
                    </a:p>
                  </a:txBody>
                  <a:tcPr marL="45720" marR="45720" marT="45720" marB="45720" anchor="ctr">
                    <a:lnL>
                      <a:noFill/>
                    </a:lnL>
                    <a:lnR>
                      <a:noFill/>
                    </a:lnR>
                    <a:lnT>
                      <a:noFill/>
                    </a:lnT>
                    <a:lnB>
                      <a:noFill/>
                    </a:lnB>
                  </a:tcPr>
                </a:tc>
                <a:extLst>
                  <a:ext uri="{0D108BD9-81ED-4DB2-BD59-A6C34878D82A}">
                    <a16:rowId val="2"/>
                  </a:ext>
                </a:extLst>
              </a:tr>
              <a:tr h="467783">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AI 改题逐步对齐</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已实现（大题）</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四态标记与证据字段齐备；选择题类走答案匹配，无逐步诊断</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467783">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手把手教学</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部分实现</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状态机可用，但掌握状态记录粒度不足（跳过写 correct、无提示后答对字段）</a:t>
                      </a:r>
                      <a:endParaRPr/>
                    </a:p>
                  </a:txBody>
                  <a:tcPr marL="45720" marR="45720" marT="45720" marB="45720" anchor="ctr">
                    <a:lnL>
                      <a:noFill/>
                    </a:lnL>
                    <a:lnR>
                      <a:noFill/>
                    </a:lnR>
                    <a:lnT>
                      <a:noFill/>
                    </a:lnT>
                    <a:lnB>
                      <a:noFill/>
                    </a:lnB>
                  </a:tcPr>
                </a:tc>
                <a:extLst>
                  <a:ext uri="{0D108BD9-81ED-4DB2-BD59-A6C34878D82A}">
                    <a16:rowId val="4"/>
                  </a:ext>
                </a:extLst>
              </a:tr>
              <a:tr h="467783">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AI 出题</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部分实现</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变式链路完整，缺最低匹配门槛与按已学课时过滤</a:t>
                      </a:r>
                      <a:endParaRPr/>
                    </a:p>
                  </a:txBody>
                  <a:tcPr marL="45720" marR="45720" marT="45720" marB="45720" anchor="ctr">
                    <a:lnL>
                      <a:noFill/>
                    </a:lnL>
                    <a:lnR>
                      <a:noFill/>
                    </a:lnR>
                    <a:lnT>
                      <a:noFill/>
                    </a:lnT>
                    <a:lnB>
                      <a:noFill/>
                    </a:lnB>
                    <a:solidFill>
                      <a:srgbClr val="F5F7FA"/>
                    </a:solidFill>
                  </a:tcPr>
                </a:tc>
                <a:extLst>
                  <a:ext uri="{0D108BD9-81ED-4DB2-BD59-A6C34878D82A}">
                    <a16:rowId val="5"/>
                  </a:ext>
                </a:extLst>
              </a:tr>
              <a:tr h="467783">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步骤默认难度</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待补齐</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steps.yaml 尚无逐项默认难度数据，属负责人提出的后续设计</a:t>
                      </a:r>
                      <a:endParaRPr/>
                    </a:p>
                  </a:txBody>
                  <a:tcPr marL="45720" marR="45720" marT="45720" marB="45720" anchor="ctr">
                    <a:lnL>
                      <a:noFill/>
                    </a:lnL>
                    <a:lnR>
                      <a:noFill/>
                    </a:lnR>
                    <a:lnT>
                      <a:noFill/>
                    </a:lnT>
                    <a:lnB>
                      <a:noFill/>
                    </a:lnB>
                  </a:tcPr>
                </a:tc>
                <a:extLst>
                  <a:ext uri="{0D108BD9-81ED-4DB2-BD59-A6C34878D82A}">
                    <a16:rowId val="6"/>
                  </a:ext>
                </a:extLst>
              </a:tr>
              <a:tr h="467783">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手写笔迹时间线自动诊断</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待验证</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已有采集与回放基础，尚未完成带时间戳笔迹的自动诊断</a:t>
                      </a:r>
                      <a:endParaRPr/>
                    </a:p>
                  </a:txBody>
                  <a:tcPr marL="45720" marR="45720" marT="45720" marB="45720" anchor="ctr">
                    <a:lnL>
                      <a:noFill/>
                    </a:lnL>
                    <a:lnR>
                      <a:noFill/>
                    </a:lnR>
                    <a:lnT>
                      <a:noFill/>
                    </a:lnT>
                    <a:lnB>
                      <a:noFill/>
                    </a:lnB>
                    <a:solidFill>
                      <a:srgbClr val="F5F7FA"/>
                    </a:solidFill>
                  </a:tcPr>
                </a:tc>
                <a:extLst>
                  <a:ext uri="{0D108BD9-81ED-4DB2-BD59-A6C34878D82A}">
                    <a16:rowId val="7"/>
                  </a:ext>
                </a:extLst>
              </a:tr>
              <a:tr h="467783">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主动诊断自适应选题</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待补齐</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有关联一条练习记录的基础，缺自动生成区分性小题与自动停止</a:t>
                      </a:r>
                      <a:endParaRPr/>
                    </a:p>
                  </a:txBody>
                  <a:tcPr marL="45720" marR="45720" marT="45720" marB="45720" anchor="ctr">
                    <a:lnL>
                      <a:noFill/>
                    </a:lnL>
                    <a:lnR>
                      <a:noFill/>
                    </a:lnR>
                    <a:lnT>
                      <a:noFill/>
                    </a:lnT>
                    <a:lnB>
                      <a:noFill/>
                    </a:lnB>
                  </a:tcPr>
                </a:tc>
                <a:extLst>
                  <a:ext uri="{0D108BD9-81ED-4DB2-BD59-A6C34878D82A}">
                    <a16:rowId val="8"/>
                  </a:ext>
                </a:extLst>
              </a:tr>
              <a:tr h="467783">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对外 MCP 服务</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待补齐</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仅有六类内部工具与 HTTP API，无可直接安装使用的 MCP 服务</a:t>
                      </a:r>
                      <a:endParaRPr/>
                    </a:p>
                  </a:txBody>
                  <a:tcPr marL="45720" marR="45720" marT="45720" marB="45720" anchor="ctr">
                    <a:lnL>
                      <a:noFill/>
                    </a:lnL>
                    <a:lnR>
                      <a:noFill/>
                    </a:lnR>
                    <a:lnT>
                      <a:noFill/>
                    </a:lnT>
                    <a:lnB>
                      <a:noFill/>
                    </a:lnB>
                    <a:solidFill>
                      <a:srgbClr val="F5F7FA"/>
                    </a:solidFill>
                  </a:tcPr>
                </a:tc>
                <a:extLst>
                  <a:ext uri="{0D108BD9-81ED-4DB2-BD59-A6C34878D82A}">
                    <a16:rowId val="9"/>
                  </a:ext>
                </a:extLst>
              </a:tr>
            </a:tbl>
          </a:graphicData>
        </a:graphic>
      </p:graphicFrame>
      <p:sp>
        <p:nvSpPr>
          <p:cNvPr id="931"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932"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依据：当前实现能力与名词数量</a:t>
            </a:r>
            <a:r>
              <a:rPr lang="en-US" sz="975">
                <a:solidFill>
                  <a:srgbClr val="7A8699"/>
                </a:solidFill>
                <a:latin typeface="Microsoft YaHei"/>
                <a:ea typeface="Microsoft YaHei"/>
              </a:rPr>
              <a:t>.md §8</a:t>
            </a:r>
            <a:endParaRPr/>
          </a:p>
        </p:txBody>
      </p:sp>
      <p:sp>
        <p:nvSpPr>
          <p:cNvPr id="933"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19 / 124 </a:t>
            </a:r>
            <a:endParaRPr/>
          </a:p>
        </p:txBody>
      </p:sp>
    </p:spTree>
  </p:cSld>
</p:sld>
</file>

<file path=ppt/slides/slide20.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965"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2 / 现状盘点&lt;/Text&gt;&lt;Text style={{ fontSize: 32, color: '#0E2340', fontWeight: 700, lineHeight: 1.3 }}&gt;主动诊断与复测链路的已有基础&lt;/Text&gt;&lt;/Box&gt;&lt;Box style={{ flexDirection: 'row', alignItems: 'center', padding: '7px 16px', borderRadius: 20, background: '#E8A33D' }}&gt;&lt;Text style={{ fontSize: 14, color: '#FFFFFF', fontWeight: 600 }}&gt;部分实现&lt;/Text&gt;&lt;/Box&gt;&lt;/Box&gt;&lt;Box style={{ height: 532, paddingTop: 8, flexDirection: 'column' }}&gt;&lt;Box style={{ flexDirection: 'row', gap: 28, flex: 1 }}&gt;&lt;Box style={{ width: 700, justifyContent: 'center' }}&gt;&lt;svg width={700} height={300} viewBox='0 0 700 300'&gt;&lt;rect x='0' y='40' width='103' height='88' rx='8' fill='#0E2340' stroke='#1E7BE0' stroke-width='1.5'/&gt;&lt;text x='51.5' y='78.0' font-size='20' fill='#FFFFFF' text-anchor='middle' font-weight='600'&gt;_RulesDiagnosticEngine&lt;/text&gt;&lt;text x='51.5' y='104.0' font-size='15' fill='#FFFFFF' text-anchor='middle' font-weight='400'&gt;调用 build_report&lt;/text&gt;&lt;line x1='109' y1='84' x2='135' y2='84' stroke='#1E7BE0' stroke-width='2'/&gt;&lt;path d='M135 78 l10 -6 l0 12 z' fill='#1E7BE0'/&gt;&lt;rect x='149' y='40' width='103' height='88' rx='8' fill='#FFFFFF' stroke='#1E7BE0' stroke-width='1.5'/&gt;&lt;text x='200.5' y='78.0' font-size='20' fill='#0E2340' text-anchor='middle' font-weight='600'&gt;保留支持/相反证据&lt;/text&gt;&lt;text x='200.5' y='104.0' font-size='15' fill='#7A8699' text-anchor='middle' font-weight='400'&gt;cause_confirmed=false&lt;/text&gt;&lt;line x1='258' y1='84' x2='284' y2='84' stroke='#1E7BE0' stroke-width='2'/&gt;&lt;path d='M284 78 l10 -6 l0 12 z' fill='#1E7BE0'/&gt;&lt;rect x='298' y='40' width='103' height='88' rx='8' fill='#FFFFFF' stroke='#1E7BE0' stroke-width='1.5'/&gt;&lt;text x='349.5' y='78.0' font-size='20' fill='#0E2340' text-anchor='middle' font-weight='600'&gt;recommendation&lt;/text&gt;&lt;text x='349.5' y='104.0' font-size='15' fill='#7A8699' text-anchor='middle' font-weight='400'&gt;最多三项优先建议&lt;/text&gt;&lt;line x1='407' y1='84' x2='433' y2='84' stroke='#1E7BE0' stroke-width='2'/&gt;&lt;path d='M433 78 l10 -6 l0 12 z' fill='#1E7BE0'/&gt;&lt;rect x='447' y='40' width='103' height='88' rx='8' fill='#FFFFFF' stroke='#1E7BE0' stroke-width='1.5'/&gt;&lt;text x='498.5' y='78.0' font-size='20' fill='#0E2340' text-anchor='middle' font-weight='600'&gt;validation_target&lt;/text&gt;&lt;text x='498.5' y='104.0' font-size='15' fill='#7A8699' text-anchor='middle' font-weight='400'&gt;验证目标&lt;/text&gt;&lt;line x1='556' y1='84' x2='582' y2='84' stroke='#1E7BE0' stroke-width='2'/&gt;&lt;path d='M582 78 l10 -6 l0 12 z' fill='#1E7BE0'/&gt;&lt;rect x='596' y='40' width='103' height='88' rx='8' fill='#F5F7FA' stroke='#1E7BE0' stroke-width='1.5'/&gt;&lt;text x='647.5' y='78.0' font-size='20' fill='#0E2340' text-anchor='middle' font-weight='600'&gt;followup 关联补测&lt;/text&gt;&lt;text x='647.5' y='104.0' font-size='15' fill='#7A8699' text-anchor='middle' font-weight='400'&gt;题干哈希排除原题重做&lt;/text&gt;&lt;/svg&gt;&lt;/Box&gt;&lt;Box style={{ flex: 1, flexDirection: 'column', gap: 11, justifyContent: 'center' }}&gt;&lt;Text style={{ fontSize: 21, color: '#0E2340', fontWeight: 700, lineHeight: 1.4 }}&gt;链路与缺口&lt;/Text&gt;&lt;Box style={{ flexDirection: 'column', gap: 10 }}&gt;&lt;Box style={{ flexDirection: 'row', gap: 12, alignItems: 'flex-start' }}&gt;&lt;Box style={{ width: 8, height: 8, borderRadius: 4, background: '#1E7BE0', marginTop: 9 }} /&gt;&lt;Box style={{ flex: 1 }}&gt;&lt;Text style={{ fontSize: 17, color: '#333A45', fontWeight: 400, lineHeight: 1.6 }}&gt;已有“发现问题 — 提出验证目标 — 关联补测证据”的基础，不应整体列作遗漏功能。&lt;/Text&gt;&lt;/Box&gt;&lt;/Box&gt;&lt;Box style={{ flexDirection: 'row', gap: 12, alignItems: 'flex-start' }}&gt;&lt;Box style={{ width: 8, height: 8, borderRadius: 4, background: '#1E7BE0', marginTop: 9 }} /&gt;&lt;Box style={{ flex: 1 }}&gt;&lt;Text style={{ fontSize: 17, color: '#333A45', fontWeight: 400, lineHeight: 1.6 }}&gt;考后问卷补充自述（卡题、跳题、检查、信心、状态），属自述证据，不是客观笔迹时间戳。&lt;/Text&gt;&lt;/Box&gt;&lt;/Box&gt;&lt;Box style={{ flexDirection: 'row', gap: 12, alignItems: 'flex-start' }}&gt;&lt;Box style={{ width: 8, height: 8, borderRadius: 4, background: '#1E7BE0', marginTop: 9 }} /&gt;&lt;Box style={{ flex: 1 }}&gt;&lt;Text style={{ fontSize: 17, color: '#333A45', fontWeight: 400, lineHeight: 1.6 }}&gt;缺口一：无按候选原因自动生成区分性小题。&lt;/Text&gt;&lt;/Box&gt;&lt;/Box&gt;&lt;Box style={{ flexDirection: 'row', gap: 12, alignItems: 'flex-start' }}&gt;&lt;Box style={{ width: 8, height: 8, borderRadius: 4, background: '#1E7BE0', marginTop: 9 }} /&gt;&lt;Box style={{ flex: 1 }}&gt;&lt;Text style={{ fontSize: 17, color: '#333A45', fontWeight: 400, lineHeight: 1.6 }}&gt;缺口二：无逐轮自适应选择下一诊断题。&lt;/Text&gt;&lt;/Box&gt;&lt;/Box&gt;&lt;Box style={{ flexDirection: 'row', gap: 12, alignItems: 'flex-start' }}&gt;&lt;Box style={{ width: 8, height: 8, borderRadius: 4, background: '#1E7BE0', marginTop: 9 }} /&gt;&lt;Box style={{ flex: 1 }}&gt;&lt;Text style={{ fontSize: 17, color: '#333A45', fontWeight: 400, lineHeight: 1.6 }}&gt;缺口三：无自动停止机制。&lt;/Text&gt;&lt;/Box&gt;&lt;/Box&gt;&lt;Box style={{ flexDirection: 'row', gap: 12, alignItems: 'flex-start' }}&gt;&lt;Box style={{ width: 8, height: 8, borderRadius: 4, background: '#1E7BE0', marginTop: 9 }} /&gt;&lt;Box style={{ flex: 1 }}&gt;&lt;Text style={{ fontSize: 17, color: '#333A45', fontWeight: 400, lineHeight: 1.6 }}&gt;边界：不得将当前关联一条练习记录直接等同于所有自动流程均已实现。&lt;/Text&gt;&lt;/Box&gt;&lt;/Box&gt;&lt;/Box&gt;&lt;/Box&gt;&lt;/Box&gt;&lt;/Box&gt;&lt;Box style={{ height: 40, flexDirection: 'row', justifyContent: 'space-between', alignItems: 'center', borderTop: '1px solid #E3E8EF', marginTop: 8 }}&gt;&lt;Text style={{ fontSize: 13, color: '#7A8699', fontWeight: 400, lineHeight: 1.4 }}&gt;依据：当前实现能力与名词数量.md §9&lt;/Text&gt;&lt;Text style={{ fontSize: 14, color: '#7A8699', fontWeight: 400, lineHeight: 1.4 }}&gt; 20 / 124 &lt;/Text&gt;&lt;/Box&gt;&lt;/Slide&gt;"/>
        <p:cNvGrpSpPr/>
        <p:nvPr/>
      </p:nvGrpSpPr>
      <p:grpSpPr>
        <a:xfrm>
          <a:off x="0" y="0"/>
          <a:ext cx="0" cy="0"/>
          <a:chOff x="0" y="0"/>
          <a:chExt cx="0" cy="0"/>
        </a:xfrm>
      </p:grpSpPr>
      <p:sp>
        <p:nvSpPr>
          <p:cNvPr id="966" name=""/>
          <p:cNvSpPr/>
          <p:nvPr/>
        </p:nvSpPr>
        <p:spPr>
          <a:xfrm rot="0" flipH="0" flipV="0">
            <a:off x="0" y="0"/>
            <a:ext cx="12192000" cy="6858000"/>
          </a:xfrm>
          <a:prstGeom prst="rect">
            <a:avLst/>
          </a:prstGeom>
          <a:solidFill>
            <a:srgbClr val="FFFFFF"/>
          </a:solidFill>
          <a:ln/>
        </p:spPr>
        <p:txBody>
          <a:bodyPr/>
          <a:p/>
        </p:txBody>
      </p:sp>
      <p:sp>
        <p:nvSpPr>
          <p:cNvPr id="967" name="" descr="{&quot;isTemplate&quot;:true,&quot;type&quot;:&quot;text&quot;}"/>
          <p:cNvSpPr txBox="1"/>
          <p:nvPr/>
        </p:nvSpPr>
        <p:spPr>
          <a:xfrm rot="0" flipH="0" flipV="0">
            <a:off x="666750" y="381000"/>
            <a:ext cx="42672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02 / </a:t>
            </a:r>
            <a:r>
              <a:rPr lang="zh-CN" sz="1050" spc="75">
                <a:solidFill>
                  <a:srgbClr val="7A8699"/>
                </a:solidFill>
                <a:latin typeface="Microsoft YaHei"/>
                <a:ea typeface="Microsoft YaHei"/>
              </a:rPr>
              <a:t>现状盘点</a:t>
            </a:r>
            <a:endParaRPr/>
          </a:p>
        </p:txBody>
      </p:sp>
      <p:sp>
        <p:nvSpPr>
          <p:cNvPr id="968" name="" descr="{&quot;isTemplate&quot;:true,&quot;type&quot;:&quot;text&quot;}"/>
          <p:cNvSpPr txBox="1"/>
          <p:nvPr/>
        </p:nvSpPr>
        <p:spPr>
          <a:xfrm rot="0" flipH="0" flipV="0">
            <a:off x="666750" y="666750"/>
            <a:ext cx="4267200" cy="476250"/>
          </a:xfrm>
          <a:prstGeom prst="rect"/>
        </p:spPr>
        <p:txBody>
          <a:bodyPr wrap="none" lIns="0" tIns="0" rIns="0" bIns="0"/>
          <a:p>
            <a:pPr>
              <a:lnSpc>
                <a:spcPct val="130000"/>
              </a:lnSpc>
            </a:pPr>
            <a:r>
              <a:rPr lang="zh-CN" sz="2400" b="1">
                <a:solidFill>
                  <a:srgbClr val="0E2340"/>
                </a:solidFill>
                <a:latin typeface="Microsoft YaHei"/>
                <a:ea typeface="Microsoft YaHei"/>
              </a:rPr>
              <a:t>主动诊断与复测链路的已有基础</a:t>
            </a:r>
            <a:endParaRPr/>
          </a:p>
        </p:txBody>
      </p:sp>
      <p:sp>
        <p:nvSpPr>
          <p:cNvPr id="969" name=""/>
          <p:cNvSpPr/>
          <p:nvPr/>
        </p:nvSpPr>
        <p:spPr>
          <a:xfrm rot="0" flipH="0" flipV="0">
            <a:off x="10687050" y="847725"/>
            <a:ext cx="838200" cy="295275"/>
          </a:xfrm>
          <a:prstGeom prst="roundRect">
            <a:avLst>
              <a:gd name="adj" fmla="val 64516"/>
            </a:avLst>
          </a:prstGeom>
          <a:solidFill>
            <a:srgbClr val="E8A33D"/>
          </a:solidFill>
          <a:ln/>
        </p:spPr>
        <p:txBody>
          <a:bodyPr/>
          <a:p/>
        </p:txBody>
      </p:sp>
      <p:sp>
        <p:nvSpPr>
          <p:cNvPr id="970" name="" descr="{&quot;isTemplate&quot;:true,&quot;type&quot;:&quot;text&quot;}"/>
          <p:cNvSpPr txBox="1"/>
          <p:nvPr/>
        </p:nvSpPr>
        <p:spPr>
          <a:xfrm rot="0" flipH="0" flipV="0">
            <a:off x="10839450" y="914400"/>
            <a:ext cx="533400" cy="161925"/>
          </a:xfrm>
          <a:prstGeom prst="rect"/>
        </p:spPr>
        <p:txBody>
          <a:bodyPr wrap="none" lIns="0" tIns="0" rIns="0" bIns="0"/>
          <a:p>
            <a:pPr>
              <a:lnSpc>
                <a:spcPct val="100000"/>
              </a:lnSpc>
            </a:pPr>
            <a:r>
              <a:rPr lang="zh-CN" sz="1050" b="1">
                <a:solidFill>
                  <a:srgbClr val="FFFFFF"/>
                </a:solidFill>
                <a:latin typeface="Microsoft YaHei"/>
                <a:ea typeface="Microsoft YaHei"/>
              </a:rPr>
              <a:t>部分实现</a:t>
            </a:r>
            <a:endParaRPr/>
          </a:p>
        </p:txBody>
      </p:sp>
      <p:pic>
        <p:nvPicPr>
          <p:cNvPr id="971" name=""/>
          <p:cNvPicPr>
            <a:picLocks noChangeAspect="1"/>
          </p:cNvPicPr>
          <p:nvPr/>
        </p:nvPicPr>
        <p:blipFill>
          <a:blip>
            <a:extLst>
              <a:ext uri="{96DAC541-7B7A-43D3-8B79-37D633B846F1}">
                <asvg:svgBlip r:embed="rId1"/>
              </a:ext>
            </a:extLst>
          </a:blip>
          <a:stretch>
            <a:fillRect/>
          </a:stretch>
        </p:blipFill>
        <p:spPr>
          <a:xfrm rot="0" flipH="0" flipV="0">
            <a:off x="666750" y="2286000"/>
            <a:ext cx="6667500" cy="2857500"/>
          </a:xfrm>
          <a:prstGeom prst="rect">
            <a:avLst/>
          </a:prstGeom>
          <a:ln/>
        </p:spPr>
      </p:pic>
      <p:sp>
        <p:nvSpPr>
          <p:cNvPr id="972" name="" descr="{&quot;isTemplate&quot;:true,&quot;type&quot;:&quot;text&quot;}"/>
          <p:cNvSpPr txBox="1"/>
          <p:nvPr/>
        </p:nvSpPr>
        <p:spPr>
          <a:xfrm rot="0" flipH="0" flipV="0">
            <a:off x="7600950" y="1838325"/>
            <a:ext cx="3924300" cy="342900"/>
          </a:xfrm>
          <a:prstGeom prst="rect"/>
        </p:spPr>
        <p:txBody>
          <a:bodyPr wrap="none" lIns="0" tIns="0" rIns="0" bIns="0"/>
          <a:p>
            <a:pPr>
              <a:lnSpc>
                <a:spcPct val="140000"/>
              </a:lnSpc>
            </a:pPr>
            <a:r>
              <a:rPr lang="zh-CN" sz="1575" b="1">
                <a:solidFill>
                  <a:srgbClr val="0E2340"/>
                </a:solidFill>
                <a:latin typeface="Microsoft YaHei"/>
                <a:ea typeface="Microsoft YaHei"/>
              </a:rPr>
              <a:t>链路与缺口</a:t>
            </a:r>
            <a:endParaRPr/>
          </a:p>
        </p:txBody>
      </p:sp>
      <p:sp>
        <p:nvSpPr>
          <p:cNvPr id="973" name=""/>
          <p:cNvSpPr/>
          <p:nvPr/>
        </p:nvSpPr>
        <p:spPr>
          <a:xfrm rot="0" flipH="0" flipV="0">
            <a:off x="7600950" y="2371725"/>
            <a:ext cx="76200" cy="76200"/>
          </a:xfrm>
          <a:prstGeom prst="roundRect">
            <a:avLst>
              <a:gd name="adj" fmla="val 50000"/>
            </a:avLst>
          </a:prstGeom>
          <a:solidFill>
            <a:srgbClr val="1E7BE0"/>
          </a:solidFill>
          <a:ln/>
        </p:spPr>
        <p:txBody>
          <a:bodyPr/>
          <a:p/>
        </p:txBody>
      </p:sp>
      <p:sp>
        <p:nvSpPr>
          <p:cNvPr id="974" name="" descr="{&quot;isTemplate&quot;:true,&quot;type&quot;:&quot;text&quot;}"/>
          <p:cNvSpPr txBox="1"/>
          <p:nvPr/>
        </p:nvSpPr>
        <p:spPr>
          <a:xfrm rot="0" flipH="0" flipV="0">
            <a:off x="7791450" y="2286000"/>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已有“发现问题</a:t>
            </a:r>
            <a:r>
              <a:rPr lang="en-US" sz="1275">
                <a:solidFill>
                  <a:srgbClr val="333A45"/>
                </a:solidFill>
                <a:latin typeface="Microsoft YaHei"/>
                <a:ea typeface="Microsoft YaHei"/>
              </a:rPr>
              <a:t xml:space="preserve"> — </a:t>
            </a:r>
            <a:r>
              <a:rPr lang="zh-CN" sz="1275">
                <a:solidFill>
                  <a:srgbClr val="333A45"/>
                </a:solidFill>
                <a:latin typeface="Microsoft YaHei"/>
                <a:ea typeface="Microsoft YaHei"/>
              </a:rPr>
              <a:t>提出验证目标</a:t>
            </a:r>
            <a:r>
              <a:rPr lang="en-US" sz="1275">
                <a:solidFill>
                  <a:srgbClr val="333A45"/>
                </a:solidFill>
                <a:latin typeface="Microsoft YaHei"/>
                <a:ea typeface="Microsoft YaHei"/>
              </a:rPr>
              <a:t xml:space="preserve"> — </a:t>
            </a:r>
            <a:r>
              <a:rPr lang="zh-CN" sz="1275">
                <a:solidFill>
                  <a:srgbClr val="333A45"/>
                </a:solidFill>
                <a:latin typeface="Microsoft YaHei"/>
                <a:ea typeface="Microsoft YaHei"/>
              </a:rPr>
              <a:t>关联补测证据”的基础，不应整体列作遗漏功能。</a:t>
            </a:r>
            <a:endParaRPr/>
          </a:p>
        </p:txBody>
      </p:sp>
      <p:sp>
        <p:nvSpPr>
          <p:cNvPr id="975" name=""/>
          <p:cNvSpPr/>
          <p:nvPr/>
        </p:nvSpPr>
        <p:spPr>
          <a:xfrm rot="0" flipH="0" flipV="0">
            <a:off x="7600950" y="3095625"/>
            <a:ext cx="76200" cy="76200"/>
          </a:xfrm>
          <a:prstGeom prst="roundRect">
            <a:avLst>
              <a:gd name="adj" fmla="val 50000"/>
            </a:avLst>
          </a:prstGeom>
          <a:solidFill>
            <a:srgbClr val="1E7BE0"/>
          </a:solidFill>
          <a:ln/>
        </p:spPr>
        <p:txBody>
          <a:bodyPr/>
          <a:p/>
        </p:txBody>
      </p:sp>
      <p:sp>
        <p:nvSpPr>
          <p:cNvPr id="976" name="" descr="{&quot;isTemplate&quot;:true,&quot;type&quot;:&quot;text&quot;}"/>
          <p:cNvSpPr txBox="1"/>
          <p:nvPr/>
        </p:nvSpPr>
        <p:spPr>
          <a:xfrm rot="0" flipH="0" flipV="0">
            <a:off x="7791450" y="3009900"/>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考后问卷补充自述（卡题、跳题、检查、信心、状态），属自述证据，不是客观笔迹时间戳。</a:t>
            </a:r>
            <a:endParaRPr/>
          </a:p>
        </p:txBody>
      </p:sp>
      <p:sp>
        <p:nvSpPr>
          <p:cNvPr id="977" name=""/>
          <p:cNvSpPr/>
          <p:nvPr/>
        </p:nvSpPr>
        <p:spPr>
          <a:xfrm rot="0" flipH="0" flipV="0">
            <a:off x="7600950" y="3819525"/>
            <a:ext cx="76200" cy="76200"/>
          </a:xfrm>
          <a:prstGeom prst="roundRect">
            <a:avLst>
              <a:gd name="adj" fmla="val 50000"/>
            </a:avLst>
          </a:prstGeom>
          <a:solidFill>
            <a:srgbClr val="1E7BE0"/>
          </a:solidFill>
          <a:ln/>
        </p:spPr>
        <p:txBody>
          <a:bodyPr/>
          <a:p/>
        </p:txBody>
      </p:sp>
      <p:sp>
        <p:nvSpPr>
          <p:cNvPr id="978" name="" descr="{&quot;isTemplate&quot;:true,&quot;type&quot;:&quot;text&quot;}"/>
          <p:cNvSpPr txBox="1"/>
          <p:nvPr/>
        </p:nvSpPr>
        <p:spPr>
          <a:xfrm rot="0" flipH="0" flipV="0">
            <a:off x="7791450" y="3733800"/>
            <a:ext cx="3733800" cy="314325"/>
          </a:xfrm>
          <a:prstGeom prst="rect"/>
        </p:spPr>
        <p:txBody>
          <a:bodyPr wrap="none" lIns="0" tIns="0" rIns="0" bIns="0"/>
          <a:p>
            <a:pPr>
              <a:lnSpc>
                <a:spcPct val="160000"/>
              </a:lnSpc>
            </a:pPr>
            <a:r>
              <a:rPr lang="zh-CN" sz="1275">
                <a:solidFill>
                  <a:srgbClr val="333A45"/>
                </a:solidFill>
                <a:latin typeface="Microsoft YaHei"/>
                <a:ea typeface="Microsoft YaHei"/>
              </a:rPr>
              <a:t>缺口一：无按候选原因自动生成区分性小题。</a:t>
            </a:r>
            <a:endParaRPr/>
          </a:p>
        </p:txBody>
      </p:sp>
      <p:sp>
        <p:nvSpPr>
          <p:cNvPr id="979" name=""/>
          <p:cNvSpPr/>
          <p:nvPr/>
        </p:nvSpPr>
        <p:spPr>
          <a:xfrm rot="0" flipH="0" flipV="0">
            <a:off x="7600950" y="4229100"/>
            <a:ext cx="76200" cy="76200"/>
          </a:xfrm>
          <a:prstGeom prst="roundRect">
            <a:avLst>
              <a:gd name="adj" fmla="val 50000"/>
            </a:avLst>
          </a:prstGeom>
          <a:solidFill>
            <a:srgbClr val="1E7BE0"/>
          </a:solidFill>
          <a:ln/>
        </p:spPr>
        <p:txBody>
          <a:bodyPr/>
          <a:p/>
        </p:txBody>
      </p:sp>
      <p:sp>
        <p:nvSpPr>
          <p:cNvPr id="980" name="" descr="{&quot;isTemplate&quot;:true,&quot;type&quot;:&quot;text&quot;}"/>
          <p:cNvSpPr txBox="1"/>
          <p:nvPr/>
        </p:nvSpPr>
        <p:spPr>
          <a:xfrm rot="0" flipH="0" flipV="0">
            <a:off x="7791450" y="4143375"/>
            <a:ext cx="3733800" cy="314325"/>
          </a:xfrm>
          <a:prstGeom prst="rect"/>
        </p:spPr>
        <p:txBody>
          <a:bodyPr wrap="none" lIns="0" tIns="0" rIns="0" bIns="0"/>
          <a:p>
            <a:pPr>
              <a:lnSpc>
                <a:spcPct val="160000"/>
              </a:lnSpc>
            </a:pPr>
            <a:r>
              <a:rPr lang="zh-CN" sz="1275">
                <a:solidFill>
                  <a:srgbClr val="333A45"/>
                </a:solidFill>
                <a:latin typeface="Microsoft YaHei"/>
                <a:ea typeface="Microsoft YaHei"/>
              </a:rPr>
              <a:t>缺口二：无逐轮自适应选择下一诊断题。</a:t>
            </a:r>
            <a:endParaRPr/>
          </a:p>
        </p:txBody>
      </p:sp>
      <p:sp>
        <p:nvSpPr>
          <p:cNvPr id="981" name=""/>
          <p:cNvSpPr/>
          <p:nvPr/>
        </p:nvSpPr>
        <p:spPr>
          <a:xfrm rot="0" flipH="0" flipV="0">
            <a:off x="7600950" y="4638675"/>
            <a:ext cx="76200" cy="76200"/>
          </a:xfrm>
          <a:prstGeom prst="roundRect">
            <a:avLst>
              <a:gd name="adj" fmla="val 50000"/>
            </a:avLst>
          </a:prstGeom>
          <a:solidFill>
            <a:srgbClr val="1E7BE0"/>
          </a:solidFill>
          <a:ln/>
        </p:spPr>
        <p:txBody>
          <a:bodyPr/>
          <a:p/>
        </p:txBody>
      </p:sp>
      <p:sp>
        <p:nvSpPr>
          <p:cNvPr id="982" name="" descr="{&quot;isTemplate&quot;:true,&quot;type&quot;:&quot;text&quot;}"/>
          <p:cNvSpPr txBox="1"/>
          <p:nvPr/>
        </p:nvSpPr>
        <p:spPr>
          <a:xfrm rot="0" flipH="0" flipV="0">
            <a:off x="7791450" y="4552950"/>
            <a:ext cx="3733800" cy="314325"/>
          </a:xfrm>
          <a:prstGeom prst="rect"/>
        </p:spPr>
        <p:txBody>
          <a:bodyPr wrap="none" lIns="0" tIns="0" rIns="0" bIns="0"/>
          <a:p>
            <a:pPr>
              <a:lnSpc>
                <a:spcPct val="160000"/>
              </a:lnSpc>
            </a:pPr>
            <a:r>
              <a:rPr lang="zh-CN" sz="1275">
                <a:solidFill>
                  <a:srgbClr val="333A45"/>
                </a:solidFill>
                <a:latin typeface="Microsoft YaHei"/>
                <a:ea typeface="Microsoft YaHei"/>
              </a:rPr>
              <a:t>缺口三：无自动停止机制。</a:t>
            </a:r>
            <a:endParaRPr/>
          </a:p>
        </p:txBody>
      </p:sp>
      <p:sp>
        <p:nvSpPr>
          <p:cNvPr id="983" name=""/>
          <p:cNvSpPr/>
          <p:nvPr/>
        </p:nvSpPr>
        <p:spPr>
          <a:xfrm rot="0" flipH="0" flipV="0">
            <a:off x="7600950" y="5048250"/>
            <a:ext cx="76200" cy="76200"/>
          </a:xfrm>
          <a:prstGeom prst="roundRect">
            <a:avLst>
              <a:gd name="adj" fmla="val 50000"/>
            </a:avLst>
          </a:prstGeom>
          <a:solidFill>
            <a:srgbClr val="1E7BE0"/>
          </a:solidFill>
          <a:ln/>
        </p:spPr>
        <p:txBody>
          <a:bodyPr/>
          <a:p/>
        </p:txBody>
      </p:sp>
      <p:sp>
        <p:nvSpPr>
          <p:cNvPr id="984" name="" descr="{&quot;isTemplate&quot;:true,&quot;type&quot;:&quot;text&quot;}"/>
          <p:cNvSpPr txBox="1"/>
          <p:nvPr/>
        </p:nvSpPr>
        <p:spPr>
          <a:xfrm rot="0" flipH="0" flipV="0">
            <a:off x="7791450" y="49625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边界：不得将当前关联一条练习记录直接等同于所有自动流程均已实现。</a:t>
            </a:r>
            <a:endParaRPr/>
          </a:p>
        </p:txBody>
      </p:sp>
      <p:sp>
        <p:nvSpPr>
          <p:cNvPr id="985"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986"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依据：当前实现能力与名词数量</a:t>
            </a:r>
            <a:r>
              <a:rPr lang="en-US" sz="975">
                <a:solidFill>
                  <a:srgbClr val="7A8699"/>
                </a:solidFill>
                <a:latin typeface="Microsoft YaHei"/>
                <a:ea typeface="Microsoft YaHei"/>
              </a:rPr>
              <a:t>.md §9</a:t>
            </a:r>
            <a:endParaRPr/>
          </a:p>
        </p:txBody>
      </p:sp>
      <p:sp>
        <p:nvSpPr>
          <p:cNvPr id="987"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20 / 124 </a:t>
            </a:r>
            <a:endParaRPr/>
          </a:p>
        </p:txBody>
      </p:sp>
    </p:spTree>
  </p:cSld>
</p:sld>
</file>

<file path=ppt/slides/slide21.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988" name="" descr="&lt;Slide style={{ width: '1280px', height: '720px', background: '#FFFFFF', padding: 0 }}&gt;&lt;Box style={{ position: 'absolute', top: 0, left: 0 }}&gt;&lt;svg width={1280} height={720} viewBox='0 0 1280 720'&gt;&lt;line x1='0' y1='0' x2='1280' y2='0' stroke='#E3E8EF' stroke-width='1' opacity='0.55'/&gt;&lt;line x1='0' y1='90' x2='1280' y2='90' stroke='#E3E8EF' stroke-width='1' opacity='0.55'/&gt;&lt;line x1='0' y1='180' x2='1280' y2='180' stroke='#E3E8EF' stroke-width='1' opacity='0.55'/&gt;&lt;line x1='0' y1='270' x2='1280' y2='270' stroke='#E3E8EF' stroke-width='1' opacity='0.55'/&gt;&lt;line x1='0' y1='360' x2='1280' y2='360' stroke='#E3E8EF' stroke-width='1' opacity='0.55'/&gt;&lt;line x1='0' y1='450' x2='1280' y2='450' stroke='#E3E8EF' stroke-width='1' opacity='0.55'/&gt;&lt;line x1='0' y1='540' x2='1280' y2='540' stroke='#E3E8EF' stroke-width='1' opacity='0.55'/&gt;&lt;line x1='0' y1='630' x2='1280' y2='630' stroke='#E3E8EF' stroke-width='1' opacity='0.55'/&gt;&lt;line x1='0' y1='720' x2='1280' y2='720' stroke='#E3E8EF' stroke-width='1' opacity='0.55'/&gt;&lt;/svg&gt;&lt;/Box&gt;&lt;Box style={{ position: 'relative', zIndex: 2, flexDirection: 'row', flex: 1, padding: '48px 80px 52px', gap: 44 }}&gt;&lt;Box style={{ width: 520, flexDirection: 'column', justifyContent: 'space-between' }}&gt;&lt;Box style={{ flexDirection: 'column' }}&gt;&lt;Text style={{ fontSize: 15, color: '#1E7BE0', fontWeight: 600, lineHeight: 1.4, letterSpacing: 2 }}&gt;STUDYAGENT · DESIGN REVIEW&lt;/Text&gt;&lt;/Box&gt;&lt;Box style={{ flexDirection: 'column' }}&gt;&lt;Text style={{ fontSize: 100, color: '#0E2340', fontWeight: 700, lineHeight: 1.0, fontFamily: 'JetBrains Mono, Inter' }}&gt;03&lt;/Text&gt;&lt;Box style={{ width: 78, height: 5, background: '#1E7BE0', marginTop: 10 }} /&gt;&lt;Text style={{ fontSize: 44, color: '#0E2340', fontWeight: 700, lineHeight: 1.2 }}&gt;单题引擎&lt;/Text&gt;&lt;/Box&gt;&lt;Box style={{ flexDirection: 'column', gap: 12 }}&gt;&lt;Box style={{ flexDirection: 'row', alignItems: 'center', background: '#F5F7FA', borderLeft: '4px solid #1E7BE0', borderRadius: 6, padding: '14px 20px' }}&gt;&lt;Text style={{ fontSize: 19, color: '#0E2340', fontWeight: 600, lineHeight: 1.5 }}&gt;AI 解题 / 改题 / 教学 / 出题 / 错题&lt;/Text&gt;&lt;/Box&gt;&lt;Box style={{ flexDirection: 'row', alignItems: 'center', background: '#F5F7FA', borderLeft: '4px solid #1E7BE0', borderRadius: 6, padding: '14px 20px' }}&gt;&lt;Text style={{ fontSize: 19, color: '#0E2340', fontWeight: 600, lineHeight: 1.5 }}&gt;五大功能复用同一套步骤表示&lt;/Text&gt;&lt;/Box&gt;&lt;Box style={{ flexDirection: 'row', alignItems: 'center', background: '#F5F7FA', borderLeft: '4px solid #1E7BE0', borderRadius: 6, padding: '14px 20px' }}&gt;&lt;Text style={{ fontSize: 19, color: '#0E2340', fontWeight: 600, lineHeight: 1.5 }}&gt;手写笔迹时间戳与过程复盘&lt;/Text&gt;&lt;/Box&gt;&lt;/Box&gt;&lt;Box style={{ flexDirection: 'column' }}&gt;&lt;Text style={{ fontSize: 13, color: '#7A8699', fontWeight: 400, lineHeight: 1.5 }}&gt;来源：单题功能设计思路.md（更新日期 2026-10-25）&lt;/Text&gt;&lt;/Box&gt;&lt;/Box&gt;&lt;Box style={{ flex: 1, flexDirection: 'column', justifyContent: 'space-between', gap: 12 }}&gt;&lt;Text style={{ fontSize: 20, color: '#0E2340', fontWeight: 700, lineHeight: 1.4 }}&gt;汇报结构 · 13 章&lt;/Text&gt;&lt;Box style={{ flexDirection: 'column', gap: 10 }}&gt;&lt;Box style={{ flexDirection: 'row', gap: 10 }}&gt;&lt;Box style={{ width: 172, height: 64, borderRadius: 6, padding: '9px 12px', background: '#F5F7FA', flexDirection: 'column', justifyContent: 'center' }}&gt;&lt;Text style={{ fontSize: 18, color: '#0E2340', fontWeight: 700, lineHeight: 1.2 }}&gt;01&lt;/Text&gt;&lt;Text style={{ fontSize: 13, color: '#7A8699', fontWeight: 400, lineHeight: 1.3 }}&gt;概念地基&lt;/Text&gt;&lt;/Box&gt;&lt;Box style={{ width: 172, height: 64, borderRadius: 6, padding: '9px 12px', background: '#F5F7FA', flexDirection: 'column', justifyContent: 'center' }}&gt;&lt;Text style={{ fontSize: 18, color: '#0E2340', fontWeight: 700, lineHeight: 1.2 }}&gt;02&lt;/Text&gt;&lt;Text style={{ fontSize: 13, color: '#7A8699', fontWeight: 400, lineHeight: 1.3 }}&gt;现状盘点&lt;/Text&gt;&lt;/Box&gt;&lt;Box style={{ width: 172, height: 64, borderRadius: 6, padding: '9px 12px', background: '#0E2340', flexDirection: 'column', justifyContent: 'center' }}&gt;&lt;Text style={{ fontSize: 18, color: '#FFFFFF', fontWeight: 700, lineHeight: 1.2 }}&gt;03&lt;/Text&gt;&lt;Text style={{ fontSize: 13, color: '#C8DCF2', fontWeight: 400, lineHeight: 1.3 }}&gt;单题引擎&lt;/Text&gt;&lt;/Box&gt;&lt;/Box&gt;&lt;Box style={{ flexDirection: 'row', gap: 10 }}&gt;&lt;Box style={{ width: 172, height: 64, borderRadius: 6, padding: '9px 12px', background: '#F5F7FA', flexDirection: 'column', justifyContent: 'center' }}&gt;&lt;Text style={{ fontSize: 18, color: '#0E2340', fontWeight: 700, lineHeight: 1.2 }}&gt;04&lt;/Text&gt;&lt;Text style={{ fontSize: 13, color: '#7A8699', fontWeight: 400, lineHeight: 1.3 }}&gt;套路层面&lt;/Text&gt;&lt;/Box&gt;&lt;Box style={{ width: 172, height: 64, borderRadius: 6, padding: '9px 12px', background: '#F5F7FA', flexDirection: 'column', justifyContent: 'center' }}&gt;&lt;Text style={{ fontSize: 18, color: '#0E2340', fontWeight: 700, lineHeight: 1.2 }}&gt;05&lt;/Text&gt;&lt;Text style={{ fontSize: 13, color: '#7A8699', fontWeight: 400, lineHeight: 1.3 }}&gt;教师端&lt;/Text&gt;&lt;/Box&gt;&lt;Box style={{ width: 172, height: 64, borderRadius: 6, padding: '9px 12px', background: '#F5F7FA', flexDirection: 'column', justifyContent: 'center' }}&gt;&lt;Text style={{ fontSize: 18, color: '#0E2340', fontWeight: 700, lineHeight: 1.2 }}&gt;06&lt;/Text&gt;&lt;Text style={{ fontSize: 13, color: '#7A8699', fontWeight: 400, lineHeight: 1.3 }}&gt;学校端&lt;/Text&gt;&lt;/Box&gt;&lt;/Box&gt;&lt;Box style={{ flexDirection: 'row', gap: 10 }}&gt;&lt;Box style={{ width: 172, height: 64, borderRadius: 6, padding: '9px 12px', background: '#F5F7FA', flexDirection: 'column', justifyContent: 'center' }}&gt;&lt;Text style={{ fontSize: 18, color: '#0E2340', fontWeight: 700, lineHeight: 1.2 }}&gt;07&lt;/Text&gt;&lt;Text style={{ fontSize: 13, color: '#7A8699', fontWeight: 400, lineHeight: 1.3 }}&gt;试卷与生涯&lt;/Text&gt;&lt;/Box&gt;&lt;Box style={{ width: 172, height: 64, borderRadius: 6, padding: '9px 12px', background: '#F5F7FA', flexDirection: 'column', justifyContent: 'center' }}&gt;&lt;Text style={{ fontSize: 18, color: '#0E2340', fontWeight: 700, lineHeight: 1.2 }}&gt;08&lt;/Text&gt;&lt;Text style={{ fontSize: 13, color: '#7A8699', fontWeight: 400, lineHeight: 1.3 }}&gt;协同 Agent&lt;/Text&gt;&lt;/Box&gt;&lt;Box style={{ width: 172, height: 64, borderRadius: 6, padding: '9px 12px', background: '#F5F7FA', flexDirection: 'column', justifyContent: 'center' }}&gt;&lt;Text style={{ fontSize: 18, color: '#0E2340', fontWeight: 700, lineHeight: 1.2 }}&gt;09&lt;/Text&gt;&lt;Text style={{ fontSize: 13, color: '#7A8699', fontWeight: 400, lineHeight: 1.3 }}&gt;MCP 接入&lt;/Text&gt;&lt;/Box&gt;&lt;/Box&gt;&lt;Box style={{ flexDirection: 'row', gap: 10 }}&gt;&lt;Box style={{ width: 172, height: 64, borderRadius: 6, padding: '9px 12px', background: '#F5F7FA', flexDirection: 'column', justifyContent: 'center' }}&gt;&lt;Text style={{ fontSize: 18, color: '#0E2340', fontWeight: 700, lineHeight: 1.2 }}&gt;10&lt;/Text&gt;&lt;Text style={{ fontSize: 13, color: '#7A8699', fontWeight: 400, lineHeight: 1.3 }}&gt;待深化研究&lt;/Text&gt;&lt;/Box&gt;&lt;Box style={{ width: 172, height: 64, borderRadius: 6, padding: '9px 12px', background: '#F5F7FA', flexDirection: 'column', justifyContent: 'center' }}&gt;&lt;Text style={{ fontSize: 18, color: '#0E2340', fontWeight: 700, lineHeight: 1.2 }}&gt;11&lt;/Text&gt;&lt;Text style={{ fontSize: 13, color: '#7A8699', fontWeight: 400, lineHeight: 1.3 }}&gt;落地与边界&lt;/Text&gt;&lt;/Box&gt;&lt;Box style={{ width: 172, height: 64, borderRadius: 6, padding: '9px 12px', background: '#F5F7FA', flexDirection: 'column', justifyContent: 'center' }}&gt;&lt;Text style={{ fontSize: 18, color: '#0E2340', fontWeight: 700, lineHeight: 1.2 }}&gt;12&lt;/Text&gt;&lt;Text style={{ fontSize: 13, color: '#7A8699', fontWeight: 400, lineHeight: 1.3 }}&gt;自进化与扩展&lt;/Text&gt;&lt;/Box&gt;&lt;/Box&gt;&lt;Box style={{ flexDirection: 'row', gap: 10 }}&gt;&lt;Box style={{ width: 172, height: 64, borderRadius: 6, padding: '9px 12px', background: '#F5F7FA', flexDirection: 'column', justifyContent: 'center' }}&gt;&lt;Text style={{ fontSize: 18, color: '#0E2340', fontWeight: 700, lineHeight: 1.2 }}&gt;13&lt;/Text&gt;&lt;Text style={{ fontSize: 13, color: '#7A8699', fontWeight: 400, lineHeight: 1.3 }}&gt;收尾&lt;/Text&gt;&lt;/Box&gt;&lt;/Box&gt;&lt;/Box&gt;&lt;Box style={{ flexDirection: 'row', alignItems: 'center', gap: 10, background: '#F5F7FA', borderRadius: 6, padding: '10px 14px' }}&gt;&lt;Box style={{ width: 6, height: 22, background: '#00A9B5' }} /&gt;&lt;Text style={{ fontSize: 15, color: '#0E2340', fontWeight: 600, lineHeight: 1.4 }}&gt;当前位置：第 03 章 · 单题引擎&lt;/Text&gt;&lt;/Box&gt;&lt;Box style={{ flexDirection: 'row', gap: 10 }}&gt;&lt;Box style={{ flex: 1, flexDirection: 'row', alignItems: 'center', gap: 8, borderRadius: 6, padding: '9px 10px', background: '#F5F7FA' }}&gt;&lt;Box style={{ width: 10, height: 10, borderRadius: 5, background: '#1E9E62' }} /&gt;&lt;Text style={{ fontSize: 14, color: '#333A45', fontWeight: 600, lineHeight: 1.3 }}&gt;已实现&lt;/Text&gt;&lt;/Box&gt;&lt;Box style={{ flex: 1, flexDirection: 'row', alignItems: 'center', gap: 8, borderRadius: 6, padding: '9px 10px', background: '#F5F7FA' }}&gt;&lt;Box style={{ width: 10, height: 10, borderRadius: 5, background: '#E8A33D' }} /&gt;&lt;Text style={{ fontSize: 14, color: '#333A45', fontWeight: 600, lineHeight: 1.3 }}&gt;部分实现&lt;/Text&gt;&lt;/Box&gt;&lt;Box style={{ flex: 1, flexDirection: 'row', alignItems: 'center', gap: 8, borderRadius: 6, padding: '9px 10px', background: '#F5F7FA' }}&gt;&lt;Box style={{ width: 10, height: 10, borderRadius: 5, background: '#1E7BE0' }} /&gt;&lt;Text style={{ fontSize: 14, color: '#333A45', fontWeight: 600, lineHeight: 1.3 }}&gt;设计中&lt;/Text&gt;&lt;/Box&gt;&lt;Box style={{ flex: 1, flexDirection: 'row', alignItems: 'center', gap: 8, borderRadius: 6, padding: '9px 10px', background: '#F5F7FA' }}&gt;&lt;Box style={{ width: 10, height: 10, borderRadius: 5, background: '#98A2B3' }} /&gt;&lt;Text style={{ fontSize: 14, color: '#333A45', fontWeight: 600, lineHeight: 1.3 }}&gt;待研究&lt;/Text&gt;&lt;/Box&gt;&lt;/Box&gt;&lt;Box style={{ flexDirection: 'row', alignItems: 'center', gap: 12, borderTop: '1px solid #E3E8EF', paddingTop: 14 }}&gt;&lt;Box style={{ width: 46, height: 5, background: '#00A9B5' }} /&gt;&lt;Text style={{ fontSize: 15, color: '#7A8699', fontWeight: 600, lineHeight: 1.4 }}&gt;StudyAgent 项目设计汇报 · 技术评审版 · 共 124 页&lt;/Text&gt;&lt;/Box&gt;&lt;/Box&gt;&lt;/Box&gt;&lt;/Slide&gt;"/>
        <p:cNvGrpSpPr/>
        <p:nvPr/>
      </p:nvGrpSpPr>
      <p:grpSpPr>
        <a:xfrm>
          <a:off x="0" y="0"/>
          <a:ext cx="0" cy="0"/>
          <a:chOff x="0" y="0"/>
          <a:chExt cx="0" cy="0"/>
        </a:xfrm>
      </p:grpSpPr>
      <p:sp>
        <p:nvSpPr>
          <p:cNvPr id="989" name=""/>
          <p:cNvSpPr/>
          <p:nvPr/>
        </p:nvSpPr>
        <p:spPr>
          <a:xfrm rot="0" flipH="0" flipV="0">
            <a:off x="0" y="0"/>
            <a:ext cx="12192000" cy="6858000"/>
          </a:xfrm>
          <a:prstGeom prst="rect">
            <a:avLst/>
          </a:prstGeom>
          <a:solidFill>
            <a:srgbClr val="FFFFFF"/>
          </a:solidFill>
          <a:ln/>
        </p:spPr>
        <p:txBody>
          <a:bodyPr/>
          <a:p/>
        </p:txBody>
      </p:sp>
      <p:pic>
        <p:nvPicPr>
          <p:cNvPr id="990" name=""/>
          <p:cNvPicPr>
            <a:picLocks noChangeAspect="1"/>
          </p:cNvPicPr>
          <p:nvPr/>
        </p:nvPicPr>
        <p:blipFill>
          <a:blip>
            <a:extLst>
              <a:ext uri="{96DAC541-7B7A-43D3-8B79-37D633B846F1}">
                <asvg:svgBlip r:embed="rId1"/>
              </a:ext>
            </a:extLst>
          </a:blip>
          <a:stretch>
            <a:fillRect/>
          </a:stretch>
        </p:blipFill>
        <p:spPr>
          <a:xfrm rot="0" flipH="0" flipV="0">
            <a:off x="0" y="0"/>
            <a:ext cx="12192000" cy="6858000"/>
          </a:xfrm>
          <a:prstGeom prst="rect">
            <a:avLst/>
          </a:prstGeom>
          <a:ln/>
        </p:spPr>
      </p:pic>
      <p:sp>
        <p:nvSpPr>
          <p:cNvPr id="991" name="" descr="{&quot;isTemplate&quot;:true,&quot;type&quot;:&quot;text&quot;}"/>
          <p:cNvSpPr txBox="1"/>
          <p:nvPr/>
        </p:nvSpPr>
        <p:spPr>
          <a:xfrm rot="0" flipH="0" flipV="0">
            <a:off x="762000" y="457200"/>
            <a:ext cx="4953000" cy="247650"/>
          </a:xfrm>
          <a:prstGeom prst="rect"/>
        </p:spPr>
        <p:txBody>
          <a:bodyPr wrap="none" lIns="0" tIns="0" rIns="0" bIns="0"/>
          <a:p>
            <a:pPr>
              <a:lnSpc>
                <a:spcPct val="140000"/>
              </a:lnSpc>
            </a:pPr>
            <a:r>
              <a:rPr lang="en-US" sz="1125" b="1" spc="150">
                <a:solidFill>
                  <a:srgbClr val="1E7BE0"/>
                </a:solidFill>
                <a:latin typeface="Microsoft YaHei"/>
                <a:ea typeface="Microsoft YaHei"/>
              </a:rPr>
              <a:t>STUDYAGENT · DESIGN REVIEW</a:t>
            </a:r>
            <a:endParaRPr/>
          </a:p>
        </p:txBody>
      </p:sp>
      <p:sp>
        <p:nvSpPr>
          <p:cNvPr id="992" name="" descr="{&quot;isTemplate&quot;:true,&quot;type&quot;:&quot;text&quot;}"/>
          <p:cNvSpPr txBox="1"/>
          <p:nvPr/>
        </p:nvSpPr>
        <p:spPr>
          <a:xfrm rot="0" flipH="0" flipV="0">
            <a:off x="762000" y="1209675"/>
            <a:ext cx="4953000" cy="1143000"/>
          </a:xfrm>
          <a:prstGeom prst="rect"/>
        </p:spPr>
        <p:txBody>
          <a:bodyPr wrap="none" lIns="0" tIns="0" rIns="0" bIns="0"/>
          <a:p>
            <a:pPr>
              <a:lnSpc>
                <a:spcPct val="100000"/>
              </a:lnSpc>
            </a:pPr>
            <a:r>
              <a:rPr lang="en-US" sz="7500" b="1">
                <a:solidFill>
                  <a:srgbClr val="0E2340"/>
                </a:solidFill>
                <a:latin typeface="JetBrains Mono"/>
                <a:ea typeface="JetBrains Mono"/>
              </a:rPr>
              <a:t>03</a:t>
            </a:r>
            <a:endParaRPr/>
          </a:p>
        </p:txBody>
      </p:sp>
      <p:sp>
        <p:nvSpPr>
          <p:cNvPr id="993" name=""/>
          <p:cNvSpPr/>
          <p:nvPr/>
        </p:nvSpPr>
        <p:spPr>
          <a:xfrm rot="0" flipH="0" flipV="0">
            <a:off x="762000" y="2447925"/>
            <a:ext cx="742950" cy="47625"/>
          </a:xfrm>
          <a:prstGeom prst="rect">
            <a:avLst/>
          </a:prstGeom>
          <a:solidFill>
            <a:srgbClr val="1E7BE0"/>
          </a:solidFill>
          <a:ln/>
        </p:spPr>
        <p:txBody>
          <a:bodyPr/>
          <a:p/>
        </p:txBody>
      </p:sp>
      <p:sp>
        <p:nvSpPr>
          <p:cNvPr id="994" name="" descr="{&quot;isTemplate&quot;:true,&quot;type&quot;:&quot;text&quot;}"/>
          <p:cNvSpPr txBox="1"/>
          <p:nvPr/>
        </p:nvSpPr>
        <p:spPr>
          <a:xfrm rot="0" flipH="0" flipV="0">
            <a:off x="762000" y="2495550"/>
            <a:ext cx="4953000" cy="609600"/>
          </a:xfrm>
          <a:prstGeom prst="rect"/>
        </p:spPr>
        <p:txBody>
          <a:bodyPr wrap="none" lIns="0" tIns="0" rIns="0" bIns="0"/>
          <a:p>
            <a:pPr>
              <a:lnSpc>
                <a:spcPct val="120000"/>
              </a:lnSpc>
            </a:pPr>
            <a:r>
              <a:rPr lang="zh-CN" sz="3300" b="1">
                <a:solidFill>
                  <a:srgbClr val="0E2340"/>
                </a:solidFill>
                <a:latin typeface="Microsoft YaHei"/>
                <a:ea typeface="Microsoft YaHei"/>
              </a:rPr>
              <a:t>单题引擎</a:t>
            </a:r>
            <a:endParaRPr/>
          </a:p>
        </p:txBody>
      </p:sp>
      <p:sp>
        <p:nvSpPr>
          <p:cNvPr id="995" name=""/>
          <p:cNvSpPr/>
          <p:nvPr/>
        </p:nvSpPr>
        <p:spPr>
          <a:xfrm rot="0" flipH="0" flipV="0">
            <a:off x="800100" y="3600450"/>
            <a:ext cx="4953000" cy="600075"/>
          </a:xfrm>
          <a:prstGeom prst="roundRect">
            <a:avLst>
              <a:gd name="adj" fmla="val 9524"/>
            </a:avLst>
          </a:prstGeom>
          <a:solidFill>
            <a:srgbClr val="F5F7FA"/>
          </a:solidFill>
          <a:ln/>
        </p:spPr>
        <p:txBody>
          <a:bodyPr/>
          <a:p/>
        </p:txBody>
      </p:sp>
      <p:sp>
        <p:nvSpPr>
          <p:cNvPr id="996" name=""/>
          <p:cNvSpPr/>
          <p:nvPr/>
        </p:nvSpPr>
        <p:spPr>
          <a:xfrm rot="0" flipH="0" flipV="0">
            <a:off x="800100" y="360045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997" name="" descr="{&quot;isTemplate&quot;:true,&quot;type&quot;:&quot;text&quot;}"/>
          <p:cNvSpPr txBox="1"/>
          <p:nvPr/>
        </p:nvSpPr>
        <p:spPr>
          <a:xfrm rot="0" flipH="0" flipV="0">
            <a:off x="990600" y="3733800"/>
            <a:ext cx="2647950" cy="333375"/>
          </a:xfrm>
          <a:prstGeom prst="rect"/>
        </p:spPr>
        <p:txBody>
          <a:bodyPr wrap="none" lIns="0" tIns="0" rIns="0" bIns="0"/>
          <a:p>
            <a:pPr>
              <a:lnSpc>
                <a:spcPct val="150000"/>
              </a:lnSpc>
            </a:pPr>
            <a:r>
              <a:rPr lang="en-US" sz="1425" b="1">
                <a:solidFill>
                  <a:srgbClr val="0E2340"/>
                </a:solidFill>
                <a:latin typeface="Microsoft YaHei"/>
                <a:ea typeface="Microsoft YaHei"/>
              </a:rPr>
              <a:t xml:space="preserve">AI </a:t>
            </a:r>
            <a:r>
              <a:rPr lang="zh-CN" sz="1425" b="1">
                <a:solidFill>
                  <a:srgbClr val="0E2340"/>
                </a:solidFill>
                <a:latin typeface="Microsoft YaHei"/>
                <a:ea typeface="Microsoft YaHei"/>
              </a:rPr>
              <a:t>解题</a:t>
            </a:r>
            <a:r>
              <a:rPr lang="en-US" sz="1425" b="1">
                <a:solidFill>
                  <a:srgbClr val="0E2340"/>
                </a:solidFill>
                <a:latin typeface="Microsoft YaHei"/>
                <a:ea typeface="Microsoft YaHei"/>
              </a:rPr>
              <a:t xml:space="preserve"> / </a:t>
            </a:r>
            <a:r>
              <a:rPr lang="zh-CN" sz="1425" b="1">
                <a:solidFill>
                  <a:srgbClr val="0E2340"/>
                </a:solidFill>
                <a:latin typeface="Microsoft YaHei"/>
                <a:ea typeface="Microsoft YaHei"/>
              </a:rPr>
              <a:t>改题</a:t>
            </a:r>
            <a:r>
              <a:rPr lang="en-US" sz="1425" b="1">
                <a:solidFill>
                  <a:srgbClr val="0E2340"/>
                </a:solidFill>
                <a:latin typeface="Microsoft YaHei"/>
                <a:ea typeface="Microsoft YaHei"/>
              </a:rPr>
              <a:t xml:space="preserve"> / </a:t>
            </a:r>
            <a:r>
              <a:rPr lang="zh-CN" sz="1425" b="1">
                <a:solidFill>
                  <a:srgbClr val="0E2340"/>
                </a:solidFill>
                <a:latin typeface="Microsoft YaHei"/>
                <a:ea typeface="Microsoft YaHei"/>
              </a:rPr>
              <a:t>教学</a:t>
            </a:r>
            <a:r>
              <a:rPr lang="en-US" sz="1425" b="1">
                <a:solidFill>
                  <a:srgbClr val="0E2340"/>
                </a:solidFill>
                <a:latin typeface="Microsoft YaHei"/>
                <a:ea typeface="Microsoft YaHei"/>
              </a:rPr>
              <a:t xml:space="preserve"> / </a:t>
            </a:r>
            <a:r>
              <a:rPr lang="zh-CN" sz="1425" b="1">
                <a:solidFill>
                  <a:srgbClr val="0E2340"/>
                </a:solidFill>
                <a:latin typeface="Microsoft YaHei"/>
                <a:ea typeface="Microsoft YaHei"/>
              </a:rPr>
              <a:t>出题</a:t>
            </a:r>
            <a:r>
              <a:rPr lang="en-US" sz="1425" b="1">
                <a:solidFill>
                  <a:srgbClr val="0E2340"/>
                </a:solidFill>
                <a:latin typeface="Microsoft YaHei"/>
                <a:ea typeface="Microsoft YaHei"/>
              </a:rPr>
              <a:t xml:space="preserve"> / </a:t>
            </a:r>
            <a:r>
              <a:rPr lang="zh-CN" sz="1425" b="1">
                <a:solidFill>
                  <a:srgbClr val="0E2340"/>
                </a:solidFill>
                <a:latin typeface="Microsoft YaHei"/>
                <a:ea typeface="Microsoft YaHei"/>
              </a:rPr>
              <a:t>错题</a:t>
            </a:r>
            <a:endParaRPr/>
          </a:p>
        </p:txBody>
      </p:sp>
      <p:sp>
        <p:nvSpPr>
          <p:cNvPr id="998" name=""/>
          <p:cNvSpPr/>
          <p:nvPr/>
        </p:nvSpPr>
        <p:spPr>
          <a:xfrm rot="0" flipH="0" flipV="0">
            <a:off x="800100" y="4314825"/>
            <a:ext cx="4953000" cy="600075"/>
          </a:xfrm>
          <a:prstGeom prst="roundRect">
            <a:avLst>
              <a:gd name="adj" fmla="val 9524"/>
            </a:avLst>
          </a:prstGeom>
          <a:solidFill>
            <a:srgbClr val="F5F7FA"/>
          </a:solidFill>
          <a:ln/>
        </p:spPr>
        <p:txBody>
          <a:bodyPr/>
          <a:p/>
        </p:txBody>
      </p:sp>
      <p:sp>
        <p:nvSpPr>
          <p:cNvPr id="999" name=""/>
          <p:cNvSpPr/>
          <p:nvPr/>
        </p:nvSpPr>
        <p:spPr>
          <a:xfrm rot="0" flipH="0" flipV="0">
            <a:off x="800100" y="4314825"/>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1000" name="" descr="{&quot;isTemplate&quot;:true,&quot;type&quot;:&quot;text&quot;}"/>
          <p:cNvSpPr txBox="1"/>
          <p:nvPr/>
        </p:nvSpPr>
        <p:spPr>
          <a:xfrm rot="0" flipH="0" flipV="0">
            <a:off x="990600" y="4448175"/>
            <a:ext cx="2352675" cy="333375"/>
          </a:xfrm>
          <a:prstGeom prst="rect"/>
        </p:spPr>
        <p:txBody>
          <a:bodyPr wrap="none" lIns="0" tIns="0" rIns="0" bIns="0"/>
          <a:p>
            <a:pPr>
              <a:lnSpc>
                <a:spcPct val="150000"/>
              </a:lnSpc>
            </a:pPr>
            <a:r>
              <a:rPr lang="zh-CN" sz="1425" b="1">
                <a:solidFill>
                  <a:srgbClr val="0E2340"/>
                </a:solidFill>
                <a:latin typeface="Microsoft YaHei"/>
                <a:ea typeface="Microsoft YaHei"/>
              </a:rPr>
              <a:t>五大功能复用同一套步骤表示</a:t>
            </a:r>
            <a:endParaRPr/>
          </a:p>
        </p:txBody>
      </p:sp>
      <p:sp>
        <p:nvSpPr>
          <p:cNvPr id="1001" name=""/>
          <p:cNvSpPr/>
          <p:nvPr/>
        </p:nvSpPr>
        <p:spPr>
          <a:xfrm rot="0" flipH="0" flipV="0">
            <a:off x="800100" y="5029200"/>
            <a:ext cx="4953000" cy="600075"/>
          </a:xfrm>
          <a:prstGeom prst="roundRect">
            <a:avLst>
              <a:gd name="adj" fmla="val 9524"/>
            </a:avLst>
          </a:prstGeom>
          <a:solidFill>
            <a:srgbClr val="F5F7FA"/>
          </a:solidFill>
          <a:ln/>
        </p:spPr>
        <p:txBody>
          <a:bodyPr/>
          <a:p/>
        </p:txBody>
      </p:sp>
      <p:sp>
        <p:nvSpPr>
          <p:cNvPr id="1002" name=""/>
          <p:cNvSpPr/>
          <p:nvPr/>
        </p:nvSpPr>
        <p:spPr>
          <a:xfrm rot="0" flipH="0" flipV="0">
            <a:off x="800100" y="502920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1003" name="" descr="{&quot;isTemplate&quot;:true,&quot;type&quot;:&quot;text&quot;}"/>
          <p:cNvSpPr txBox="1"/>
          <p:nvPr/>
        </p:nvSpPr>
        <p:spPr>
          <a:xfrm rot="0" flipH="0" flipV="0">
            <a:off x="990600" y="5162550"/>
            <a:ext cx="2171700" cy="333375"/>
          </a:xfrm>
          <a:prstGeom prst="rect"/>
        </p:spPr>
        <p:txBody>
          <a:bodyPr wrap="none" lIns="0" tIns="0" rIns="0" bIns="0"/>
          <a:p>
            <a:pPr>
              <a:lnSpc>
                <a:spcPct val="150000"/>
              </a:lnSpc>
            </a:pPr>
            <a:r>
              <a:rPr lang="zh-CN" sz="1425" b="1">
                <a:solidFill>
                  <a:srgbClr val="0E2340"/>
                </a:solidFill>
                <a:latin typeface="Microsoft YaHei"/>
                <a:ea typeface="Microsoft YaHei"/>
              </a:rPr>
              <a:t>手写笔迹时间戳与过程复盘</a:t>
            </a:r>
            <a:endParaRPr/>
          </a:p>
        </p:txBody>
      </p:sp>
      <p:sp>
        <p:nvSpPr>
          <p:cNvPr id="1004" name="" descr="{&quot;isTemplate&quot;:true,&quot;type&quot;:&quot;text&quot;}"/>
          <p:cNvSpPr txBox="1"/>
          <p:nvPr/>
        </p:nvSpPr>
        <p:spPr>
          <a:xfrm rot="0" flipH="0" flipV="0">
            <a:off x="762000" y="6134100"/>
            <a:ext cx="4953000" cy="228600"/>
          </a:xfrm>
          <a:prstGeom prst="rect"/>
        </p:spPr>
        <p:txBody>
          <a:bodyPr wrap="none" lIns="0" tIns="0" rIns="0" bIns="0"/>
          <a:p>
            <a:pPr>
              <a:lnSpc>
                <a:spcPct val="150000"/>
              </a:lnSpc>
            </a:pPr>
            <a:r>
              <a:rPr lang="zh-CN" sz="975">
                <a:solidFill>
                  <a:srgbClr val="7A8699"/>
                </a:solidFill>
                <a:latin typeface="Microsoft YaHei"/>
                <a:ea typeface="Microsoft YaHei"/>
              </a:rPr>
              <a:t>来源：单题功能设计思路</a:t>
            </a:r>
            <a:r>
              <a:rPr lang="en-US" sz="975">
                <a:solidFill>
                  <a:srgbClr val="7A8699"/>
                </a:solidFill>
                <a:latin typeface="Microsoft YaHei"/>
                <a:ea typeface="Microsoft YaHei"/>
              </a:rPr>
              <a:t>.md</a:t>
            </a:r>
            <a:r>
              <a:rPr lang="zh-CN" sz="975">
                <a:solidFill>
                  <a:srgbClr val="7A8699"/>
                </a:solidFill>
                <a:latin typeface="Microsoft YaHei"/>
                <a:ea typeface="Microsoft YaHei"/>
              </a:rPr>
              <a:t>（更新日期</a:t>
            </a:r>
            <a:r>
              <a:rPr lang="en-US" sz="975">
                <a:solidFill>
                  <a:srgbClr val="7A8699"/>
                </a:solidFill>
                <a:latin typeface="Microsoft YaHei"/>
                <a:ea typeface="Microsoft YaHei"/>
              </a:rPr>
              <a:t xml:space="preserve"> 2026-10-25</a:t>
            </a:r>
            <a:r>
              <a:rPr lang="zh-CN" sz="975">
                <a:solidFill>
                  <a:srgbClr val="7A8699"/>
                </a:solidFill>
                <a:latin typeface="Microsoft YaHei"/>
                <a:ea typeface="Microsoft YaHei"/>
              </a:rPr>
              <a:t>）</a:t>
            </a:r>
            <a:endParaRPr/>
          </a:p>
        </p:txBody>
      </p:sp>
      <p:sp>
        <p:nvSpPr>
          <p:cNvPr id="1005" name="" descr="{&quot;isTemplate&quot;:true,&quot;type&quot;:&quot;text&quot;}"/>
          <p:cNvSpPr txBox="1"/>
          <p:nvPr/>
        </p:nvSpPr>
        <p:spPr>
          <a:xfrm rot="0" flipH="0" flipV="0">
            <a:off x="6134100" y="457200"/>
            <a:ext cx="5295900" cy="323850"/>
          </a:xfrm>
          <a:prstGeom prst="rect"/>
        </p:spPr>
        <p:txBody>
          <a:bodyPr wrap="none" lIns="0" tIns="0" rIns="0" bIns="0"/>
          <a:p>
            <a:pPr>
              <a:lnSpc>
                <a:spcPct val="140000"/>
              </a:lnSpc>
            </a:pPr>
            <a:r>
              <a:rPr lang="zh-CN" sz="1500" b="1">
                <a:solidFill>
                  <a:srgbClr val="0E2340"/>
                </a:solidFill>
                <a:latin typeface="Microsoft YaHei"/>
                <a:ea typeface="Microsoft YaHei"/>
              </a:rPr>
              <a:t>汇报结构</a:t>
            </a:r>
            <a:r>
              <a:rPr lang="en-US" sz="1500" b="1">
                <a:solidFill>
                  <a:srgbClr val="0E2340"/>
                </a:solidFill>
                <a:latin typeface="Microsoft YaHei"/>
                <a:ea typeface="Microsoft YaHei"/>
              </a:rPr>
              <a:t xml:space="preserve"> · 13 </a:t>
            </a:r>
            <a:r>
              <a:rPr lang="zh-CN" sz="1500" b="1">
                <a:solidFill>
                  <a:srgbClr val="0E2340"/>
                </a:solidFill>
                <a:latin typeface="Microsoft YaHei"/>
                <a:ea typeface="Microsoft YaHei"/>
              </a:rPr>
              <a:t>章</a:t>
            </a:r>
            <a:endParaRPr/>
          </a:p>
        </p:txBody>
      </p:sp>
      <p:sp>
        <p:nvSpPr>
          <p:cNvPr id="1006" name=""/>
          <p:cNvSpPr/>
          <p:nvPr/>
        </p:nvSpPr>
        <p:spPr>
          <a:xfrm rot="0" flipH="0" flipV="0">
            <a:off x="6134100" y="1019175"/>
            <a:ext cx="1638300" cy="609600"/>
          </a:xfrm>
          <a:prstGeom prst="roundRect">
            <a:avLst>
              <a:gd name="adj" fmla="val 9375"/>
            </a:avLst>
          </a:prstGeom>
          <a:solidFill>
            <a:srgbClr val="F5F7FA"/>
          </a:solidFill>
          <a:ln/>
        </p:spPr>
        <p:txBody>
          <a:bodyPr/>
          <a:p/>
        </p:txBody>
      </p:sp>
      <p:sp>
        <p:nvSpPr>
          <p:cNvPr id="1007" name="" descr="{&quot;isTemplate&quot;:true,&quot;type&quot;:&quot;text&quot;}"/>
          <p:cNvSpPr txBox="1"/>
          <p:nvPr/>
        </p:nvSpPr>
        <p:spPr>
          <a:xfrm rot="0" flipH="0" flipV="0">
            <a:off x="62484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01</a:t>
            </a:r>
            <a:endParaRPr/>
          </a:p>
        </p:txBody>
      </p:sp>
      <p:sp>
        <p:nvSpPr>
          <p:cNvPr id="1008" name="" descr="{&quot;isTemplate&quot;:true,&quot;type&quot;:&quot;text&quot;}"/>
          <p:cNvSpPr txBox="1"/>
          <p:nvPr/>
        </p:nvSpPr>
        <p:spPr>
          <a:xfrm rot="0" flipH="0" flipV="0">
            <a:off x="62484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概念地基</a:t>
            </a:r>
            <a:endParaRPr/>
          </a:p>
        </p:txBody>
      </p:sp>
      <p:sp>
        <p:nvSpPr>
          <p:cNvPr id="1009" name=""/>
          <p:cNvSpPr/>
          <p:nvPr/>
        </p:nvSpPr>
        <p:spPr>
          <a:xfrm rot="0" flipH="0" flipV="0">
            <a:off x="7867650" y="1019175"/>
            <a:ext cx="1638300" cy="609600"/>
          </a:xfrm>
          <a:prstGeom prst="roundRect">
            <a:avLst>
              <a:gd name="adj" fmla="val 9375"/>
            </a:avLst>
          </a:prstGeom>
          <a:solidFill>
            <a:srgbClr val="F5F7FA"/>
          </a:solidFill>
          <a:ln/>
        </p:spPr>
        <p:txBody>
          <a:bodyPr/>
          <a:p/>
        </p:txBody>
      </p:sp>
      <p:sp>
        <p:nvSpPr>
          <p:cNvPr id="1010" name="" descr="{&quot;isTemplate&quot;:true,&quot;type&quot;:&quot;text&quot;}"/>
          <p:cNvSpPr txBox="1"/>
          <p:nvPr/>
        </p:nvSpPr>
        <p:spPr>
          <a:xfrm rot="0" flipH="0" flipV="0">
            <a:off x="798195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02</a:t>
            </a:r>
            <a:endParaRPr/>
          </a:p>
        </p:txBody>
      </p:sp>
      <p:sp>
        <p:nvSpPr>
          <p:cNvPr id="1011" name="" descr="{&quot;isTemplate&quot;:true,&quot;type&quot;:&quot;text&quot;}"/>
          <p:cNvSpPr txBox="1"/>
          <p:nvPr/>
        </p:nvSpPr>
        <p:spPr>
          <a:xfrm rot="0" flipH="0" flipV="0">
            <a:off x="798195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现状盘点</a:t>
            </a:r>
            <a:endParaRPr/>
          </a:p>
        </p:txBody>
      </p:sp>
      <p:sp>
        <p:nvSpPr>
          <p:cNvPr id="1012" name=""/>
          <p:cNvSpPr/>
          <p:nvPr/>
        </p:nvSpPr>
        <p:spPr>
          <a:xfrm rot="0" flipH="0" flipV="0">
            <a:off x="9601200" y="1019175"/>
            <a:ext cx="1638300" cy="609600"/>
          </a:xfrm>
          <a:prstGeom prst="roundRect">
            <a:avLst>
              <a:gd name="adj" fmla="val 9375"/>
            </a:avLst>
          </a:prstGeom>
          <a:solidFill>
            <a:srgbClr val="0E2340"/>
          </a:solidFill>
          <a:ln/>
        </p:spPr>
        <p:txBody>
          <a:bodyPr/>
          <a:p/>
        </p:txBody>
      </p:sp>
      <p:sp>
        <p:nvSpPr>
          <p:cNvPr id="1013" name="" descr="{&quot;isTemplate&quot;:true,&quot;type&quot;:&quot;text&quot;}"/>
          <p:cNvSpPr txBox="1"/>
          <p:nvPr/>
        </p:nvSpPr>
        <p:spPr>
          <a:xfrm rot="0" flipH="0" flipV="0">
            <a:off x="9715500" y="1104900"/>
            <a:ext cx="1409700" cy="247650"/>
          </a:xfrm>
          <a:prstGeom prst="rect"/>
        </p:spPr>
        <p:txBody>
          <a:bodyPr wrap="none" lIns="0" tIns="0" rIns="0" bIns="0"/>
          <a:p>
            <a:pPr>
              <a:lnSpc>
                <a:spcPct val="120000"/>
              </a:lnSpc>
            </a:pPr>
            <a:r>
              <a:rPr lang="en-US" sz="1350" b="1">
                <a:solidFill>
                  <a:srgbClr val="FFFFFF"/>
                </a:solidFill>
                <a:latin typeface="Microsoft YaHei"/>
                <a:ea typeface="Microsoft YaHei"/>
              </a:rPr>
              <a:t>03</a:t>
            </a:r>
            <a:endParaRPr/>
          </a:p>
        </p:txBody>
      </p:sp>
      <p:sp>
        <p:nvSpPr>
          <p:cNvPr id="1014" name="" descr="{&quot;isTemplate&quot;:true,&quot;type&quot;:&quot;text&quot;}"/>
          <p:cNvSpPr txBox="1"/>
          <p:nvPr/>
        </p:nvSpPr>
        <p:spPr>
          <a:xfrm rot="0" flipH="0" flipV="0">
            <a:off x="9715500" y="1352550"/>
            <a:ext cx="1409700" cy="200025"/>
          </a:xfrm>
          <a:prstGeom prst="rect"/>
        </p:spPr>
        <p:txBody>
          <a:bodyPr wrap="none" lIns="0" tIns="0" rIns="0" bIns="0"/>
          <a:p>
            <a:pPr>
              <a:lnSpc>
                <a:spcPct val="130000"/>
              </a:lnSpc>
            </a:pPr>
            <a:r>
              <a:rPr lang="zh-CN" sz="975">
                <a:solidFill>
                  <a:srgbClr val="C8DCF2"/>
                </a:solidFill>
                <a:latin typeface="Microsoft YaHei"/>
                <a:ea typeface="Microsoft YaHei"/>
              </a:rPr>
              <a:t>单题引擎</a:t>
            </a:r>
            <a:endParaRPr/>
          </a:p>
        </p:txBody>
      </p:sp>
      <p:sp>
        <p:nvSpPr>
          <p:cNvPr id="1015" name=""/>
          <p:cNvSpPr/>
          <p:nvPr/>
        </p:nvSpPr>
        <p:spPr>
          <a:xfrm rot="0" flipH="0" flipV="0">
            <a:off x="6134100" y="1724025"/>
            <a:ext cx="1638300" cy="609600"/>
          </a:xfrm>
          <a:prstGeom prst="roundRect">
            <a:avLst>
              <a:gd name="adj" fmla="val 9375"/>
            </a:avLst>
          </a:prstGeom>
          <a:solidFill>
            <a:srgbClr val="F5F7FA"/>
          </a:solidFill>
          <a:ln/>
        </p:spPr>
        <p:txBody>
          <a:bodyPr/>
          <a:p/>
        </p:txBody>
      </p:sp>
      <p:sp>
        <p:nvSpPr>
          <p:cNvPr id="1016" name="" descr="{&quot;isTemplate&quot;:true,&quot;type&quot;:&quot;text&quot;}"/>
          <p:cNvSpPr txBox="1"/>
          <p:nvPr/>
        </p:nvSpPr>
        <p:spPr>
          <a:xfrm rot="0" flipH="0" flipV="0">
            <a:off x="62484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04</a:t>
            </a:r>
            <a:endParaRPr/>
          </a:p>
        </p:txBody>
      </p:sp>
      <p:sp>
        <p:nvSpPr>
          <p:cNvPr id="1017" name="" descr="{&quot;isTemplate&quot;:true,&quot;type&quot;:&quot;text&quot;}"/>
          <p:cNvSpPr txBox="1"/>
          <p:nvPr/>
        </p:nvSpPr>
        <p:spPr>
          <a:xfrm rot="0" flipH="0" flipV="0">
            <a:off x="62484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套路层面</a:t>
            </a:r>
            <a:endParaRPr/>
          </a:p>
        </p:txBody>
      </p:sp>
      <p:sp>
        <p:nvSpPr>
          <p:cNvPr id="1018" name=""/>
          <p:cNvSpPr/>
          <p:nvPr/>
        </p:nvSpPr>
        <p:spPr>
          <a:xfrm rot="0" flipH="0" flipV="0">
            <a:off x="7867650" y="1724025"/>
            <a:ext cx="1638300" cy="609600"/>
          </a:xfrm>
          <a:prstGeom prst="roundRect">
            <a:avLst>
              <a:gd name="adj" fmla="val 9375"/>
            </a:avLst>
          </a:prstGeom>
          <a:solidFill>
            <a:srgbClr val="F5F7FA"/>
          </a:solidFill>
          <a:ln/>
        </p:spPr>
        <p:txBody>
          <a:bodyPr/>
          <a:p/>
        </p:txBody>
      </p:sp>
      <p:sp>
        <p:nvSpPr>
          <p:cNvPr id="1019" name="" descr="{&quot;isTemplate&quot;:true,&quot;type&quot;:&quot;text&quot;}"/>
          <p:cNvSpPr txBox="1"/>
          <p:nvPr/>
        </p:nvSpPr>
        <p:spPr>
          <a:xfrm rot="0" flipH="0" flipV="0">
            <a:off x="798195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05</a:t>
            </a:r>
            <a:endParaRPr/>
          </a:p>
        </p:txBody>
      </p:sp>
      <p:sp>
        <p:nvSpPr>
          <p:cNvPr id="1020" name="" descr="{&quot;isTemplate&quot;:true,&quot;type&quot;:&quot;text&quot;}"/>
          <p:cNvSpPr txBox="1"/>
          <p:nvPr/>
        </p:nvSpPr>
        <p:spPr>
          <a:xfrm rot="0" flipH="0" flipV="0">
            <a:off x="798195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教师端</a:t>
            </a:r>
            <a:endParaRPr/>
          </a:p>
        </p:txBody>
      </p:sp>
      <p:sp>
        <p:nvSpPr>
          <p:cNvPr id="1021" name=""/>
          <p:cNvSpPr/>
          <p:nvPr/>
        </p:nvSpPr>
        <p:spPr>
          <a:xfrm rot="0" flipH="0" flipV="0">
            <a:off x="9601200" y="1724025"/>
            <a:ext cx="1638300" cy="609600"/>
          </a:xfrm>
          <a:prstGeom prst="roundRect">
            <a:avLst>
              <a:gd name="adj" fmla="val 9375"/>
            </a:avLst>
          </a:prstGeom>
          <a:solidFill>
            <a:srgbClr val="F5F7FA"/>
          </a:solidFill>
          <a:ln/>
        </p:spPr>
        <p:txBody>
          <a:bodyPr/>
          <a:p/>
        </p:txBody>
      </p:sp>
      <p:sp>
        <p:nvSpPr>
          <p:cNvPr id="1022" name="" descr="{&quot;isTemplate&quot;:true,&quot;type&quot;:&quot;text&quot;}"/>
          <p:cNvSpPr txBox="1"/>
          <p:nvPr/>
        </p:nvSpPr>
        <p:spPr>
          <a:xfrm rot="0" flipH="0" flipV="0">
            <a:off x="97155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06</a:t>
            </a:r>
            <a:endParaRPr/>
          </a:p>
        </p:txBody>
      </p:sp>
      <p:sp>
        <p:nvSpPr>
          <p:cNvPr id="1023" name="" descr="{&quot;isTemplate&quot;:true,&quot;type&quot;:&quot;text&quot;}"/>
          <p:cNvSpPr txBox="1"/>
          <p:nvPr/>
        </p:nvSpPr>
        <p:spPr>
          <a:xfrm rot="0" flipH="0" flipV="0">
            <a:off x="97155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学校端</a:t>
            </a:r>
            <a:endParaRPr/>
          </a:p>
        </p:txBody>
      </p:sp>
      <p:sp>
        <p:nvSpPr>
          <p:cNvPr id="1024" name=""/>
          <p:cNvSpPr/>
          <p:nvPr/>
        </p:nvSpPr>
        <p:spPr>
          <a:xfrm rot="0" flipH="0" flipV="0">
            <a:off x="6134100" y="2428875"/>
            <a:ext cx="1638300" cy="609600"/>
          </a:xfrm>
          <a:prstGeom prst="roundRect">
            <a:avLst>
              <a:gd name="adj" fmla="val 9375"/>
            </a:avLst>
          </a:prstGeom>
          <a:solidFill>
            <a:srgbClr val="F5F7FA"/>
          </a:solidFill>
          <a:ln/>
        </p:spPr>
        <p:txBody>
          <a:bodyPr/>
          <a:p/>
        </p:txBody>
      </p:sp>
      <p:sp>
        <p:nvSpPr>
          <p:cNvPr id="1025" name="" descr="{&quot;isTemplate&quot;:true,&quot;type&quot;:&quot;text&quot;}"/>
          <p:cNvSpPr txBox="1"/>
          <p:nvPr/>
        </p:nvSpPr>
        <p:spPr>
          <a:xfrm rot="0" flipH="0" flipV="0">
            <a:off x="62484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07</a:t>
            </a:r>
            <a:endParaRPr/>
          </a:p>
        </p:txBody>
      </p:sp>
      <p:sp>
        <p:nvSpPr>
          <p:cNvPr id="1026" name="" descr="{&quot;isTemplate&quot;:true,&quot;type&quot;:&quot;text&quot;}"/>
          <p:cNvSpPr txBox="1"/>
          <p:nvPr/>
        </p:nvSpPr>
        <p:spPr>
          <a:xfrm rot="0" flipH="0" flipV="0">
            <a:off x="624840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试卷与生涯</a:t>
            </a:r>
            <a:endParaRPr/>
          </a:p>
        </p:txBody>
      </p:sp>
      <p:sp>
        <p:nvSpPr>
          <p:cNvPr id="1027" name=""/>
          <p:cNvSpPr/>
          <p:nvPr/>
        </p:nvSpPr>
        <p:spPr>
          <a:xfrm rot="0" flipH="0" flipV="0">
            <a:off x="7867650" y="2428875"/>
            <a:ext cx="1638300" cy="609600"/>
          </a:xfrm>
          <a:prstGeom prst="roundRect">
            <a:avLst>
              <a:gd name="adj" fmla="val 9375"/>
            </a:avLst>
          </a:prstGeom>
          <a:solidFill>
            <a:srgbClr val="F5F7FA"/>
          </a:solidFill>
          <a:ln/>
        </p:spPr>
        <p:txBody>
          <a:bodyPr/>
          <a:p/>
        </p:txBody>
      </p:sp>
      <p:sp>
        <p:nvSpPr>
          <p:cNvPr id="1028" name="" descr="{&quot;isTemplate&quot;:true,&quot;type&quot;:&quot;text&quot;}"/>
          <p:cNvSpPr txBox="1"/>
          <p:nvPr/>
        </p:nvSpPr>
        <p:spPr>
          <a:xfrm rot="0" flipH="0" flipV="0">
            <a:off x="798195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08</a:t>
            </a:r>
            <a:endParaRPr/>
          </a:p>
        </p:txBody>
      </p:sp>
      <p:sp>
        <p:nvSpPr>
          <p:cNvPr id="1029" name="" descr="{&quot;isTemplate&quot;:true,&quot;type&quot;:&quot;text&quot;}"/>
          <p:cNvSpPr txBox="1"/>
          <p:nvPr/>
        </p:nvSpPr>
        <p:spPr>
          <a:xfrm rot="0" flipH="0" flipV="0">
            <a:off x="798195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协同</a:t>
            </a:r>
            <a:r>
              <a:rPr lang="en-US" sz="975">
                <a:solidFill>
                  <a:srgbClr val="7A8699"/>
                </a:solidFill>
                <a:latin typeface="Microsoft YaHei"/>
                <a:ea typeface="Microsoft YaHei"/>
              </a:rPr>
              <a:t xml:space="preserve"> Agent</a:t>
            </a:r>
            <a:endParaRPr/>
          </a:p>
        </p:txBody>
      </p:sp>
      <p:sp>
        <p:nvSpPr>
          <p:cNvPr id="1030" name=""/>
          <p:cNvSpPr/>
          <p:nvPr/>
        </p:nvSpPr>
        <p:spPr>
          <a:xfrm rot="0" flipH="0" flipV="0">
            <a:off x="9601200" y="2428875"/>
            <a:ext cx="1638300" cy="609600"/>
          </a:xfrm>
          <a:prstGeom prst="roundRect">
            <a:avLst>
              <a:gd name="adj" fmla="val 9375"/>
            </a:avLst>
          </a:prstGeom>
          <a:solidFill>
            <a:srgbClr val="F5F7FA"/>
          </a:solidFill>
          <a:ln/>
        </p:spPr>
        <p:txBody>
          <a:bodyPr/>
          <a:p/>
        </p:txBody>
      </p:sp>
      <p:sp>
        <p:nvSpPr>
          <p:cNvPr id="1031" name="" descr="{&quot;isTemplate&quot;:true,&quot;type&quot;:&quot;text&quot;}"/>
          <p:cNvSpPr txBox="1"/>
          <p:nvPr/>
        </p:nvSpPr>
        <p:spPr>
          <a:xfrm rot="0" flipH="0" flipV="0">
            <a:off x="97155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09</a:t>
            </a:r>
            <a:endParaRPr/>
          </a:p>
        </p:txBody>
      </p:sp>
      <p:sp>
        <p:nvSpPr>
          <p:cNvPr id="1032" name="" descr="{&quot;isTemplate&quot;:true,&quot;type&quot;:&quot;text&quot;}"/>
          <p:cNvSpPr txBox="1"/>
          <p:nvPr/>
        </p:nvSpPr>
        <p:spPr>
          <a:xfrm rot="0" flipH="0" flipV="0">
            <a:off x="9715500" y="2762250"/>
            <a:ext cx="1409700" cy="200025"/>
          </a:xfrm>
          <a:prstGeom prst="rect"/>
        </p:spPr>
        <p:txBody>
          <a:bodyPr wrap="none" lIns="0" tIns="0" rIns="0" bIns="0"/>
          <a:p>
            <a:pPr>
              <a:lnSpc>
                <a:spcPct val="130000"/>
              </a:lnSpc>
            </a:pPr>
            <a:r>
              <a:rPr lang="en-US" sz="975">
                <a:solidFill>
                  <a:srgbClr val="7A8699"/>
                </a:solidFill>
                <a:latin typeface="Microsoft YaHei"/>
                <a:ea typeface="Microsoft YaHei"/>
              </a:rPr>
              <a:t xml:space="preserve">MCP </a:t>
            </a:r>
            <a:r>
              <a:rPr lang="zh-CN" sz="975">
                <a:solidFill>
                  <a:srgbClr val="7A8699"/>
                </a:solidFill>
                <a:latin typeface="Microsoft YaHei"/>
                <a:ea typeface="Microsoft YaHei"/>
              </a:rPr>
              <a:t>接入</a:t>
            </a:r>
            <a:endParaRPr/>
          </a:p>
        </p:txBody>
      </p:sp>
      <p:sp>
        <p:nvSpPr>
          <p:cNvPr id="1033" name=""/>
          <p:cNvSpPr/>
          <p:nvPr/>
        </p:nvSpPr>
        <p:spPr>
          <a:xfrm rot="0" flipH="0" flipV="0">
            <a:off x="6134100" y="3133725"/>
            <a:ext cx="1638300" cy="609600"/>
          </a:xfrm>
          <a:prstGeom prst="roundRect">
            <a:avLst>
              <a:gd name="adj" fmla="val 9375"/>
            </a:avLst>
          </a:prstGeom>
          <a:solidFill>
            <a:srgbClr val="F5F7FA"/>
          </a:solidFill>
          <a:ln/>
        </p:spPr>
        <p:txBody>
          <a:bodyPr/>
          <a:p/>
        </p:txBody>
      </p:sp>
      <p:sp>
        <p:nvSpPr>
          <p:cNvPr id="1034" name="" descr="{&quot;isTemplate&quot;:true,&quot;type&quot;:&quot;text&quot;}"/>
          <p:cNvSpPr txBox="1"/>
          <p:nvPr/>
        </p:nvSpPr>
        <p:spPr>
          <a:xfrm rot="0" flipH="0" flipV="0">
            <a:off x="62484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10</a:t>
            </a:r>
            <a:endParaRPr/>
          </a:p>
        </p:txBody>
      </p:sp>
      <p:sp>
        <p:nvSpPr>
          <p:cNvPr id="1035" name="" descr="{&quot;isTemplate&quot;:true,&quot;type&quot;:&quot;text&quot;}"/>
          <p:cNvSpPr txBox="1"/>
          <p:nvPr/>
        </p:nvSpPr>
        <p:spPr>
          <a:xfrm rot="0" flipH="0" flipV="0">
            <a:off x="62484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待深化研究</a:t>
            </a:r>
            <a:endParaRPr/>
          </a:p>
        </p:txBody>
      </p:sp>
      <p:sp>
        <p:nvSpPr>
          <p:cNvPr id="1036" name=""/>
          <p:cNvSpPr/>
          <p:nvPr/>
        </p:nvSpPr>
        <p:spPr>
          <a:xfrm rot="0" flipH="0" flipV="0">
            <a:off x="7867650" y="3133725"/>
            <a:ext cx="1638300" cy="609600"/>
          </a:xfrm>
          <a:prstGeom prst="roundRect">
            <a:avLst>
              <a:gd name="adj" fmla="val 9375"/>
            </a:avLst>
          </a:prstGeom>
          <a:solidFill>
            <a:srgbClr val="F5F7FA"/>
          </a:solidFill>
          <a:ln/>
        </p:spPr>
        <p:txBody>
          <a:bodyPr/>
          <a:p/>
        </p:txBody>
      </p:sp>
      <p:sp>
        <p:nvSpPr>
          <p:cNvPr id="1037" name="" descr="{&quot;isTemplate&quot;:true,&quot;type&quot;:&quot;text&quot;}"/>
          <p:cNvSpPr txBox="1"/>
          <p:nvPr/>
        </p:nvSpPr>
        <p:spPr>
          <a:xfrm rot="0" flipH="0" flipV="0">
            <a:off x="798195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11</a:t>
            </a:r>
            <a:endParaRPr/>
          </a:p>
        </p:txBody>
      </p:sp>
      <p:sp>
        <p:nvSpPr>
          <p:cNvPr id="1038" name="" descr="{&quot;isTemplate&quot;:true,&quot;type&quot;:&quot;text&quot;}"/>
          <p:cNvSpPr txBox="1"/>
          <p:nvPr/>
        </p:nvSpPr>
        <p:spPr>
          <a:xfrm rot="0" flipH="0" flipV="0">
            <a:off x="798195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落地与边界</a:t>
            </a:r>
            <a:endParaRPr/>
          </a:p>
        </p:txBody>
      </p:sp>
      <p:sp>
        <p:nvSpPr>
          <p:cNvPr id="1039" name=""/>
          <p:cNvSpPr/>
          <p:nvPr/>
        </p:nvSpPr>
        <p:spPr>
          <a:xfrm rot="0" flipH="0" flipV="0">
            <a:off x="9601200" y="3133725"/>
            <a:ext cx="1638300" cy="609600"/>
          </a:xfrm>
          <a:prstGeom prst="roundRect">
            <a:avLst>
              <a:gd name="adj" fmla="val 9375"/>
            </a:avLst>
          </a:prstGeom>
          <a:solidFill>
            <a:srgbClr val="F5F7FA"/>
          </a:solidFill>
          <a:ln/>
        </p:spPr>
        <p:txBody>
          <a:bodyPr/>
          <a:p/>
        </p:txBody>
      </p:sp>
      <p:sp>
        <p:nvSpPr>
          <p:cNvPr id="1040" name="" descr="{&quot;isTemplate&quot;:true,&quot;type&quot;:&quot;text&quot;}"/>
          <p:cNvSpPr txBox="1"/>
          <p:nvPr/>
        </p:nvSpPr>
        <p:spPr>
          <a:xfrm rot="0" flipH="0" flipV="0">
            <a:off x="97155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12</a:t>
            </a:r>
            <a:endParaRPr/>
          </a:p>
        </p:txBody>
      </p:sp>
      <p:sp>
        <p:nvSpPr>
          <p:cNvPr id="1041" name="" descr="{&quot;isTemplate&quot;:true,&quot;type&quot;:&quot;text&quot;}"/>
          <p:cNvSpPr txBox="1"/>
          <p:nvPr/>
        </p:nvSpPr>
        <p:spPr>
          <a:xfrm rot="0" flipH="0" flipV="0">
            <a:off x="97155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自进化与扩展</a:t>
            </a:r>
            <a:endParaRPr/>
          </a:p>
        </p:txBody>
      </p:sp>
      <p:sp>
        <p:nvSpPr>
          <p:cNvPr id="1042" name=""/>
          <p:cNvSpPr/>
          <p:nvPr/>
        </p:nvSpPr>
        <p:spPr>
          <a:xfrm rot="0" flipH="0" flipV="0">
            <a:off x="6134100" y="3838575"/>
            <a:ext cx="1638300" cy="609600"/>
          </a:xfrm>
          <a:prstGeom prst="roundRect">
            <a:avLst>
              <a:gd name="adj" fmla="val 9375"/>
            </a:avLst>
          </a:prstGeom>
          <a:solidFill>
            <a:srgbClr val="F5F7FA"/>
          </a:solidFill>
          <a:ln/>
        </p:spPr>
        <p:txBody>
          <a:bodyPr/>
          <a:p/>
        </p:txBody>
      </p:sp>
      <p:sp>
        <p:nvSpPr>
          <p:cNvPr id="1043" name="" descr="{&quot;isTemplate&quot;:true,&quot;type&quot;:&quot;text&quot;}"/>
          <p:cNvSpPr txBox="1"/>
          <p:nvPr/>
        </p:nvSpPr>
        <p:spPr>
          <a:xfrm rot="0" flipH="0" flipV="0">
            <a:off x="6248400" y="39243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13</a:t>
            </a:r>
            <a:endParaRPr/>
          </a:p>
        </p:txBody>
      </p:sp>
      <p:sp>
        <p:nvSpPr>
          <p:cNvPr id="1044" name="" descr="{&quot;isTemplate&quot;:true,&quot;type&quot;:&quot;text&quot;}"/>
          <p:cNvSpPr txBox="1"/>
          <p:nvPr/>
        </p:nvSpPr>
        <p:spPr>
          <a:xfrm rot="0" flipH="0" flipV="0">
            <a:off x="6248400" y="41719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收尾</a:t>
            </a:r>
            <a:endParaRPr/>
          </a:p>
        </p:txBody>
      </p:sp>
      <p:sp>
        <p:nvSpPr>
          <p:cNvPr id="1045" name=""/>
          <p:cNvSpPr/>
          <p:nvPr/>
        </p:nvSpPr>
        <p:spPr>
          <a:xfrm rot="0" flipH="0" flipV="0">
            <a:off x="6134100" y="4686300"/>
            <a:ext cx="5295900" cy="438150"/>
          </a:xfrm>
          <a:prstGeom prst="roundRect">
            <a:avLst>
              <a:gd name="adj" fmla="val 13043"/>
            </a:avLst>
          </a:prstGeom>
          <a:solidFill>
            <a:srgbClr val="F5F7FA"/>
          </a:solidFill>
          <a:ln/>
        </p:spPr>
        <p:txBody>
          <a:bodyPr/>
          <a:p/>
        </p:txBody>
      </p:sp>
      <p:sp>
        <p:nvSpPr>
          <p:cNvPr id="1046" name=""/>
          <p:cNvSpPr/>
          <p:nvPr/>
        </p:nvSpPr>
        <p:spPr>
          <a:xfrm rot="0" flipH="0" flipV="0">
            <a:off x="6267450" y="4800600"/>
            <a:ext cx="57150" cy="209550"/>
          </a:xfrm>
          <a:prstGeom prst="rect">
            <a:avLst/>
          </a:prstGeom>
          <a:solidFill>
            <a:srgbClr val="00A9B5"/>
          </a:solidFill>
          <a:ln/>
        </p:spPr>
        <p:txBody>
          <a:bodyPr/>
          <a:p/>
        </p:txBody>
      </p:sp>
      <p:sp>
        <p:nvSpPr>
          <p:cNvPr id="1047" name="" descr="{&quot;isTemplate&quot;:true,&quot;type&quot;:&quot;text&quot;}"/>
          <p:cNvSpPr txBox="1"/>
          <p:nvPr/>
        </p:nvSpPr>
        <p:spPr>
          <a:xfrm rot="0" flipH="0" flipV="0">
            <a:off x="6419850" y="4781550"/>
            <a:ext cx="1943100" cy="247650"/>
          </a:xfrm>
          <a:prstGeom prst="rect"/>
        </p:spPr>
        <p:txBody>
          <a:bodyPr wrap="none" lIns="0" tIns="0" rIns="0" bIns="0"/>
          <a:p>
            <a:pPr>
              <a:lnSpc>
                <a:spcPct val="140000"/>
              </a:lnSpc>
            </a:pPr>
            <a:r>
              <a:rPr lang="zh-CN" sz="1125" b="1">
                <a:solidFill>
                  <a:srgbClr val="0E2340"/>
                </a:solidFill>
                <a:latin typeface="Microsoft YaHei"/>
                <a:ea typeface="Microsoft YaHei"/>
              </a:rPr>
              <a:t>当前位置：第</a:t>
            </a:r>
            <a:r>
              <a:rPr lang="en-US" sz="1125" b="1">
                <a:solidFill>
                  <a:srgbClr val="0E2340"/>
                </a:solidFill>
                <a:latin typeface="Microsoft YaHei"/>
                <a:ea typeface="Microsoft YaHei"/>
              </a:rPr>
              <a:t xml:space="preserve"> 03 </a:t>
            </a:r>
            <a:r>
              <a:rPr lang="zh-CN" sz="1125" b="1">
                <a:solidFill>
                  <a:srgbClr val="0E2340"/>
                </a:solidFill>
                <a:latin typeface="Microsoft YaHei"/>
                <a:ea typeface="Microsoft YaHei"/>
              </a:rPr>
              <a:t>章</a:t>
            </a:r>
            <a:r>
              <a:rPr lang="en-US" sz="1125" b="1">
                <a:solidFill>
                  <a:srgbClr val="0E2340"/>
                </a:solidFill>
                <a:latin typeface="Microsoft YaHei"/>
                <a:ea typeface="Microsoft YaHei"/>
              </a:rPr>
              <a:t xml:space="preserve"> · </a:t>
            </a:r>
            <a:r>
              <a:rPr lang="zh-CN" sz="1125" b="1">
                <a:solidFill>
                  <a:srgbClr val="0E2340"/>
                </a:solidFill>
                <a:latin typeface="Microsoft YaHei"/>
                <a:ea typeface="Microsoft YaHei"/>
              </a:rPr>
              <a:t>单题引擎</a:t>
            </a:r>
            <a:endParaRPr/>
          </a:p>
        </p:txBody>
      </p:sp>
      <p:sp>
        <p:nvSpPr>
          <p:cNvPr id="1048" name=""/>
          <p:cNvSpPr/>
          <p:nvPr/>
        </p:nvSpPr>
        <p:spPr>
          <a:xfrm rot="0" flipH="0" flipV="0">
            <a:off x="6134100" y="5353050"/>
            <a:ext cx="1257300" cy="381000"/>
          </a:xfrm>
          <a:prstGeom prst="roundRect">
            <a:avLst>
              <a:gd name="adj" fmla="val 15000"/>
            </a:avLst>
          </a:prstGeom>
          <a:solidFill>
            <a:srgbClr val="F5F7FA"/>
          </a:solidFill>
          <a:ln/>
        </p:spPr>
        <p:txBody>
          <a:bodyPr/>
          <a:p/>
        </p:txBody>
      </p:sp>
      <p:sp>
        <p:nvSpPr>
          <p:cNvPr id="1049" name=""/>
          <p:cNvSpPr/>
          <p:nvPr/>
        </p:nvSpPr>
        <p:spPr>
          <a:xfrm rot="0" flipH="0" flipV="0">
            <a:off x="6229350" y="5495925"/>
            <a:ext cx="95250" cy="95250"/>
          </a:xfrm>
          <a:prstGeom prst="roundRect">
            <a:avLst>
              <a:gd name="adj" fmla="val 50000"/>
            </a:avLst>
          </a:prstGeom>
          <a:solidFill>
            <a:srgbClr val="1E9E62"/>
          </a:solidFill>
          <a:ln/>
        </p:spPr>
        <p:txBody>
          <a:bodyPr/>
          <a:p/>
        </p:txBody>
      </p:sp>
      <p:sp>
        <p:nvSpPr>
          <p:cNvPr id="1050" name="" descr="{&quot;isTemplate&quot;:true,&quot;type&quot;:&quot;text&quot;}"/>
          <p:cNvSpPr txBox="1"/>
          <p:nvPr/>
        </p:nvSpPr>
        <p:spPr>
          <a:xfrm rot="0" flipH="0" flipV="0">
            <a:off x="6400800"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已实现</a:t>
            </a:r>
            <a:endParaRPr/>
          </a:p>
        </p:txBody>
      </p:sp>
      <p:sp>
        <p:nvSpPr>
          <p:cNvPr id="1051" name=""/>
          <p:cNvSpPr/>
          <p:nvPr/>
        </p:nvSpPr>
        <p:spPr>
          <a:xfrm rot="0" flipH="0" flipV="0">
            <a:off x="7486650" y="5353050"/>
            <a:ext cx="1247775" cy="381000"/>
          </a:xfrm>
          <a:prstGeom prst="roundRect">
            <a:avLst>
              <a:gd name="adj" fmla="val 15000"/>
            </a:avLst>
          </a:prstGeom>
          <a:solidFill>
            <a:srgbClr val="F5F7FA"/>
          </a:solidFill>
          <a:ln/>
        </p:spPr>
        <p:txBody>
          <a:bodyPr/>
          <a:p/>
        </p:txBody>
      </p:sp>
      <p:sp>
        <p:nvSpPr>
          <p:cNvPr id="1052" name=""/>
          <p:cNvSpPr/>
          <p:nvPr/>
        </p:nvSpPr>
        <p:spPr>
          <a:xfrm rot="0" flipH="0" flipV="0">
            <a:off x="7581900" y="5495925"/>
            <a:ext cx="95250" cy="95250"/>
          </a:xfrm>
          <a:prstGeom prst="roundRect">
            <a:avLst>
              <a:gd name="adj" fmla="val 50000"/>
            </a:avLst>
          </a:prstGeom>
          <a:solidFill>
            <a:srgbClr val="E8A33D"/>
          </a:solidFill>
          <a:ln/>
        </p:spPr>
        <p:txBody>
          <a:bodyPr/>
          <a:p/>
        </p:txBody>
      </p:sp>
      <p:sp>
        <p:nvSpPr>
          <p:cNvPr id="1053" name="" descr="{&quot;isTemplate&quot;:true,&quot;type&quot;:&quot;text&quot;}"/>
          <p:cNvSpPr txBox="1"/>
          <p:nvPr/>
        </p:nvSpPr>
        <p:spPr>
          <a:xfrm rot="0" flipH="0" flipV="0">
            <a:off x="7753350" y="5438775"/>
            <a:ext cx="533400" cy="209550"/>
          </a:xfrm>
          <a:prstGeom prst="rect"/>
        </p:spPr>
        <p:txBody>
          <a:bodyPr wrap="none" lIns="0" tIns="0" rIns="0" bIns="0"/>
          <a:p>
            <a:pPr>
              <a:lnSpc>
                <a:spcPct val="130000"/>
              </a:lnSpc>
            </a:pPr>
            <a:r>
              <a:rPr lang="zh-CN" sz="1050" b="1">
                <a:solidFill>
                  <a:srgbClr val="333A45"/>
                </a:solidFill>
                <a:latin typeface="Microsoft YaHei"/>
                <a:ea typeface="Microsoft YaHei"/>
              </a:rPr>
              <a:t>部分实现</a:t>
            </a:r>
            <a:endParaRPr/>
          </a:p>
        </p:txBody>
      </p:sp>
      <p:sp>
        <p:nvSpPr>
          <p:cNvPr id="1054" name=""/>
          <p:cNvSpPr/>
          <p:nvPr/>
        </p:nvSpPr>
        <p:spPr>
          <a:xfrm rot="0" flipH="0" flipV="0">
            <a:off x="8829675" y="5353050"/>
            <a:ext cx="1257300" cy="381000"/>
          </a:xfrm>
          <a:prstGeom prst="roundRect">
            <a:avLst>
              <a:gd name="adj" fmla="val 15000"/>
            </a:avLst>
          </a:prstGeom>
          <a:solidFill>
            <a:srgbClr val="F5F7FA"/>
          </a:solidFill>
          <a:ln/>
        </p:spPr>
        <p:txBody>
          <a:bodyPr/>
          <a:p/>
        </p:txBody>
      </p:sp>
      <p:sp>
        <p:nvSpPr>
          <p:cNvPr id="1055" name=""/>
          <p:cNvSpPr/>
          <p:nvPr/>
        </p:nvSpPr>
        <p:spPr>
          <a:xfrm rot="0" flipH="0" flipV="0">
            <a:off x="8924925" y="5495925"/>
            <a:ext cx="95250" cy="95250"/>
          </a:xfrm>
          <a:prstGeom prst="roundRect">
            <a:avLst>
              <a:gd name="adj" fmla="val 50000"/>
            </a:avLst>
          </a:prstGeom>
          <a:solidFill>
            <a:srgbClr val="1E7BE0"/>
          </a:solidFill>
          <a:ln/>
        </p:spPr>
        <p:txBody>
          <a:bodyPr/>
          <a:p/>
        </p:txBody>
      </p:sp>
      <p:sp>
        <p:nvSpPr>
          <p:cNvPr id="1056" name="" descr="{&quot;isTemplate&quot;:true,&quot;type&quot;:&quot;text&quot;}"/>
          <p:cNvSpPr txBox="1"/>
          <p:nvPr/>
        </p:nvSpPr>
        <p:spPr>
          <a:xfrm rot="0" flipH="0" flipV="0">
            <a:off x="909637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设计中</a:t>
            </a:r>
            <a:endParaRPr/>
          </a:p>
        </p:txBody>
      </p:sp>
      <p:sp>
        <p:nvSpPr>
          <p:cNvPr id="1057" name=""/>
          <p:cNvSpPr/>
          <p:nvPr/>
        </p:nvSpPr>
        <p:spPr>
          <a:xfrm rot="0" flipH="0" flipV="0">
            <a:off x="10182225" y="5353050"/>
            <a:ext cx="1247775" cy="381000"/>
          </a:xfrm>
          <a:prstGeom prst="roundRect">
            <a:avLst>
              <a:gd name="adj" fmla="val 15000"/>
            </a:avLst>
          </a:prstGeom>
          <a:solidFill>
            <a:srgbClr val="F5F7FA"/>
          </a:solidFill>
          <a:ln/>
        </p:spPr>
        <p:txBody>
          <a:bodyPr/>
          <a:p/>
        </p:txBody>
      </p:sp>
      <p:sp>
        <p:nvSpPr>
          <p:cNvPr id="1058" name=""/>
          <p:cNvSpPr/>
          <p:nvPr/>
        </p:nvSpPr>
        <p:spPr>
          <a:xfrm rot="0" flipH="0" flipV="0">
            <a:off x="10277475" y="5495925"/>
            <a:ext cx="95250" cy="95250"/>
          </a:xfrm>
          <a:prstGeom prst="roundRect">
            <a:avLst>
              <a:gd name="adj" fmla="val 50000"/>
            </a:avLst>
          </a:prstGeom>
          <a:solidFill>
            <a:srgbClr val="98A2B3"/>
          </a:solidFill>
          <a:ln/>
        </p:spPr>
        <p:txBody>
          <a:bodyPr/>
          <a:p/>
        </p:txBody>
      </p:sp>
      <p:sp>
        <p:nvSpPr>
          <p:cNvPr id="1059" name="" descr="{&quot;isTemplate&quot;:true,&quot;type&quot;:&quot;text&quot;}"/>
          <p:cNvSpPr txBox="1"/>
          <p:nvPr/>
        </p:nvSpPr>
        <p:spPr>
          <a:xfrm rot="0" flipH="0" flipV="0">
            <a:off x="1044892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待研究</a:t>
            </a:r>
            <a:endParaRPr/>
          </a:p>
        </p:txBody>
      </p:sp>
      <p:sp>
        <p:nvSpPr>
          <p:cNvPr id="1060" name=""/>
          <p:cNvSpPr/>
          <p:nvPr/>
        </p:nvSpPr>
        <p:spPr>
          <a:xfrm rot="0" flipH="0" flipV="0">
            <a:off x="6134100" y="5972175"/>
            <a:ext cx="5295900" cy="400050"/>
          </a:xfrm>
          <a:custGeom>
            <a:pathLst>
              <a:path w="556" h="42">
                <a:moveTo>
                  <a:pt x="0" y="0"/>
                </a:moveTo>
                <a:lnTo>
                  <a:pt x="556" y="0"/>
                </a:lnTo>
                <a:lnTo>
                  <a:pt x="556" y="1"/>
                </a:lnTo>
                <a:lnTo>
                  <a:pt x="0" y="1"/>
                </a:lnTo>
                <a:close/>
              </a:path>
            </a:pathLst>
          </a:custGeom>
          <a:solidFill>
            <a:srgbClr val="E3E8EF"/>
          </a:solidFill>
          <a:ln/>
        </p:spPr>
        <p:txBody>
          <a:bodyPr/>
          <a:p/>
        </p:txBody>
      </p:sp>
      <p:sp>
        <p:nvSpPr>
          <p:cNvPr id="1061" name=""/>
          <p:cNvSpPr/>
          <p:nvPr/>
        </p:nvSpPr>
        <p:spPr>
          <a:xfrm rot="0" flipH="0" flipV="0">
            <a:off x="6134100" y="6219825"/>
            <a:ext cx="438150" cy="47625"/>
          </a:xfrm>
          <a:prstGeom prst="rect">
            <a:avLst/>
          </a:prstGeom>
          <a:solidFill>
            <a:srgbClr val="00A9B5"/>
          </a:solidFill>
          <a:ln/>
        </p:spPr>
        <p:txBody>
          <a:bodyPr/>
          <a:p/>
        </p:txBody>
      </p:sp>
      <p:sp>
        <p:nvSpPr>
          <p:cNvPr id="1062" name="" descr="{&quot;isTemplate&quot;:true,&quot;type&quot;:&quot;text&quot;}"/>
          <p:cNvSpPr txBox="1"/>
          <p:nvPr/>
        </p:nvSpPr>
        <p:spPr>
          <a:xfrm rot="0" flipH="0" flipV="0">
            <a:off x="6686550" y="6115050"/>
            <a:ext cx="3276600" cy="247650"/>
          </a:xfrm>
          <a:prstGeom prst="rect"/>
        </p:spPr>
        <p:txBody>
          <a:bodyPr wrap="none" lIns="0" tIns="0" rIns="0" bIns="0"/>
          <a:p>
            <a:pPr>
              <a:lnSpc>
                <a:spcPct val="140000"/>
              </a:lnSpc>
            </a:pPr>
            <a:r>
              <a:rPr lang="en-US" sz="1125" b="1">
                <a:solidFill>
                  <a:srgbClr val="7A8699"/>
                </a:solidFill>
                <a:latin typeface="Microsoft YaHei"/>
                <a:ea typeface="Microsoft YaHei"/>
              </a:rPr>
              <a:t xml:space="preserve">StudyAgent </a:t>
            </a:r>
            <a:r>
              <a:rPr lang="zh-CN" sz="1125" b="1">
                <a:solidFill>
                  <a:srgbClr val="7A8699"/>
                </a:solidFill>
                <a:latin typeface="Microsoft YaHei"/>
                <a:ea typeface="Microsoft YaHei"/>
              </a:rPr>
              <a:t>项目设计汇报</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技术评审版</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共</a:t>
            </a:r>
            <a:r>
              <a:rPr lang="en-US" sz="1125" b="1">
                <a:solidFill>
                  <a:srgbClr val="7A8699"/>
                </a:solidFill>
                <a:latin typeface="Microsoft YaHei"/>
                <a:ea typeface="Microsoft YaHei"/>
              </a:rPr>
              <a:t xml:space="preserve"> 124 </a:t>
            </a:r>
            <a:r>
              <a:rPr lang="zh-CN" sz="1125" b="1">
                <a:solidFill>
                  <a:srgbClr val="7A8699"/>
                </a:solidFill>
                <a:latin typeface="Microsoft YaHei"/>
                <a:ea typeface="Microsoft YaHei"/>
              </a:rPr>
              <a:t>页</a:t>
            </a:r>
            <a:endParaRPr/>
          </a:p>
        </p:txBody>
      </p:sp>
    </p:spTree>
  </p:cSld>
</p:sld>
</file>

<file path=ppt/slides/slide22.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063"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3 / 单题引擎&lt;/Text&gt;&lt;Text style={{ fontSize: 32, color: '#0E2340', fontWeight: 700, lineHeight: 1.3 }}&gt;以步骤连接解题、批改、教学与出题&lt;/Text&gt;&lt;/Box&gt;&lt;Box style={{ flexDirection: 'row', alignItems: 'center', padding: '7px 16px', borderRadius: 20, background: '#1E9E62' }}&gt;&lt;Text style={{ fontSize: 14, color: '#FFFFFF', fontWeight: 600 }}&gt;已实现&lt;/Text&gt;&lt;/Box&gt;&lt;/Box&gt;&lt;Box style={{ height: 532, paddingTop: 8, flexDirection: 'column' }}&gt;&lt;Box style={{ flexDirection: 'column', gap: 16, flex: 1, justifyContent: 'center' }}&gt;&lt;svg width={1140} height={400} viewBox='0 0 1140 400'&gt;&lt;rect x='0' y='24' width='200' height='64' rx='8' fill='#0E2340'/&gt;&lt;text x='100' y='62' font-size='20' fill='#FFFFFF' text-anchor='middle' font-weight='700'&gt;题目&lt;/text&gt;&lt;line x1='200' y1='56' x2='262' y2='56' stroke='#1E7BE0' stroke-width='2'/&gt;&lt;path d='M262 56 l10 -6 l0 12 z' fill='#1E7BE0'/&gt;&lt;rect x='272' y='14' width='300' height='84' rx='8' fill='#FFFFFF' stroke='#1E7BE0' stroke-width='1.5'/&gt;&lt;text x='422' y='46' font-size='19' fill='#0E2340' text-anchor='middle' font-weight='700'&gt;AI 解题流水线&lt;/text&gt;&lt;text x='422' y='74' font-size='15' fill='#7A8699' text-anchor='middle' font-weight='400'&gt;Solver → Verifier → Formatter&lt;/text&gt;&lt;line x1='572' y1='56' x2='634' y2='56' stroke='#1E7BE0' stroke-width='2'/&gt;&lt;path d='M634 56 l10 -6 l0 12 z' fill='#1E7BE0'/&gt;&lt;rect x='644' y='10' width='250' height='92' rx='8' fill='#0E2340'/&gt;&lt;text x='769' y='46' font-size='19' fill='#FFFFFF' text-anchor='middle' font-weight='700'&gt;结构化参考解析&lt;/text&gt;&lt;text x='769' y='76' font-size='14' fill='#C8DCF2' text-anchor='middle' font-weight='400'&gt;步骤 · 知识点 · 难度&lt;/text&gt;&lt;line x1='894' y1='56' x2='946' y2='56' stroke='#1E7BE0' stroke-width='2'/&gt;&lt;path d='M946 56 l10 -6 l0 12 z' fill='#1E7BE0'/&gt;&lt;rect x='956' y='0' width='184' height='52' rx='8' fill='#FFFFFF' stroke='#1E7BE0' stroke-width='1.5'/&gt;&lt;text x='1048' y='32' font-size='17' fill='#0E2340' text-anchor='middle' font-weight='600'&gt;AI 改题&lt;/text&gt;&lt;rect x='956' y='60' width='184' height='52' rx='8' fill='#FFFFFF' stroke='#1E7BE0' stroke-width='1.5'/&gt;&lt;text x='1048' y='92' font-size='17' fill='#0E2340' text-anchor='middle' font-weight='600'&gt;手把手教学&lt;/text&gt;&lt;rect x='956' y='120' width='184' height='52' rx='8' fill='#FFFFFF' stroke='#1E7BE0' stroke-width='1.5'/&gt;&lt;text x='1048' y='152' font-size='17' fill='#0E2340' text-anchor='middle' font-weight='600'&gt;AI 出题&lt;/text&gt;&lt;path d='M1048 172 q0 60 -120 78 L700 250' fill='none' stroke='#00A9B5' stroke-width='2' stroke-dasharray='6 5'/&gt;&lt;text x='880' y='232' font-size='14' fill='#00A9B5' text-anchor='middle' font-weight='600'&gt;新题再次进入解题流水线校验&lt;/text&gt;&lt;rect x='0' y='180' width='330' height='72' rx='8' fill='#F5F7FA'/&gt;&lt;text x='165' y='210' font-size='17' fill='#0E2340' text-anchor='middle' font-weight='700'&gt;学生手写作答 + 笔迹时间线&lt;/text&gt;&lt;text x='165' y='236' font-size='14' fill='#7A8699' text-anchor='middle' font-weight='400'&gt;步骤批改与过程复盘&lt;/text&gt;&lt;line x1='330' y1='216' x2='420' y2='216' stroke='#00A9B5' stroke-width='2'/&gt;&lt;path d='M420 216 l10 -6 l0 12 z' fill='#00A9B5'/&gt;&lt;rect x='430' y='180' width='330' height='72' rx='8' fill='#F5F7FA'/&gt;&lt;text x='595' y='210' font-size='17' fill='#0E2340' text-anchor='middle' font-weight='700'&gt;错题与题库&lt;/text&gt;&lt;text x='595' y='236' font-size='14' fill='#7A8699' text-anchor='middle' font-weight='400'&gt;步骤错因标定 · 查找 · 题单 · 组卷&lt;/text&gt;&lt;rect x='0' y='300' width='1140' height='92' rx='8' fill='#0E2340'/&gt;&lt;text x='570' y='336' font-size='21' fill='#FFFFFF' text-anchor='middle' font-weight='700'&gt;AI 解题是单题功能的基石，结构化步骤是其他单题功能共用的基础&lt;/text&gt;&lt;text x='570' y='372' font-size='15' fill='#C8DCF2' text-anchor='middle' font-weight='400'&gt;已有解析的题目可以复用解析；后续批改、教学、出题都围绕这份步骤结构展开&lt;/text&gt;&lt;/svg&gt;&lt;Box style={{ flexDirection: 'row', alignItems: 'center', background: '#F5F7FA', borderLeft: '4px solid #1E7BE0', borderRadius: 6, padding: '14px 20px' }}&gt;&lt;Text style={{ fontSize: 20, color: '#0E2340', fontWeight: 600, lineHeight: 1.5 }}&gt;一条主链路 + 一条回流：新题生成后重新进入流水线校验；学生手写作答与笔迹时间线汇入步骤批改与过程复盘，再沉淀到错题与题库&lt;/Text&gt;&lt;/Box&gt;&lt;/Box&gt;&lt;/Box&gt;&lt;Box style={{ height: 40, flexDirection: 'row', justifyContent: 'space-between', alignItems: 'center', borderTop: '1px solid #E3E8EF', marginTop: 8 }}&gt;&lt;Text style={{ fontSize: 13, color: '#7A8699', fontWeight: 400, lineHeight: 1.4 }}&gt;依据：单题功能设计思路.md §1&lt;/Text&gt;&lt;Text style={{ fontSize: 14, color: '#7A8699', fontWeight: 400, lineHeight: 1.4 }}&gt; 22 / 124 &lt;/Text&gt;&lt;/Box&gt;&lt;/Slide&gt;"/>
        <p:cNvGrpSpPr/>
        <p:nvPr/>
      </p:nvGrpSpPr>
      <p:grpSpPr>
        <a:xfrm>
          <a:off x="0" y="0"/>
          <a:ext cx="0" cy="0"/>
          <a:chOff x="0" y="0"/>
          <a:chExt cx="0" cy="0"/>
        </a:xfrm>
      </p:grpSpPr>
      <p:sp>
        <p:nvSpPr>
          <p:cNvPr id="1064" name=""/>
          <p:cNvSpPr/>
          <p:nvPr/>
        </p:nvSpPr>
        <p:spPr>
          <a:xfrm rot="0" flipH="0" flipV="0">
            <a:off x="0" y="0"/>
            <a:ext cx="12192000" cy="6858000"/>
          </a:xfrm>
          <a:prstGeom prst="rect">
            <a:avLst/>
          </a:prstGeom>
          <a:solidFill>
            <a:srgbClr val="FFFFFF"/>
          </a:solidFill>
          <a:ln/>
        </p:spPr>
        <p:txBody>
          <a:bodyPr/>
          <a:p/>
        </p:txBody>
      </p:sp>
      <p:sp>
        <p:nvSpPr>
          <p:cNvPr id="1065" name="" descr="{&quot;isTemplate&quot;:true,&quot;type&quot;:&quot;text&quot;}"/>
          <p:cNvSpPr txBox="1"/>
          <p:nvPr/>
        </p:nvSpPr>
        <p:spPr>
          <a:xfrm rot="0" flipH="0" flipV="0">
            <a:off x="666750" y="381000"/>
            <a:ext cx="4876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03 / </a:t>
            </a:r>
            <a:r>
              <a:rPr lang="zh-CN" sz="1050" spc="75">
                <a:solidFill>
                  <a:srgbClr val="7A8699"/>
                </a:solidFill>
                <a:latin typeface="Microsoft YaHei"/>
                <a:ea typeface="Microsoft YaHei"/>
              </a:rPr>
              <a:t>单题引擎</a:t>
            </a:r>
            <a:endParaRPr/>
          </a:p>
        </p:txBody>
      </p:sp>
      <p:sp>
        <p:nvSpPr>
          <p:cNvPr id="1066" name="" descr="{&quot;isTemplate&quot;:true,&quot;type&quot;:&quot;text&quot;}"/>
          <p:cNvSpPr txBox="1"/>
          <p:nvPr/>
        </p:nvSpPr>
        <p:spPr>
          <a:xfrm rot="0" flipH="0" flipV="0">
            <a:off x="666750" y="666750"/>
            <a:ext cx="4876800" cy="476250"/>
          </a:xfrm>
          <a:prstGeom prst="rect"/>
        </p:spPr>
        <p:txBody>
          <a:bodyPr wrap="none" lIns="0" tIns="0" rIns="0" bIns="0"/>
          <a:p>
            <a:pPr>
              <a:lnSpc>
                <a:spcPct val="130000"/>
              </a:lnSpc>
            </a:pPr>
            <a:r>
              <a:rPr lang="zh-CN" sz="2400" b="1">
                <a:solidFill>
                  <a:srgbClr val="0E2340"/>
                </a:solidFill>
                <a:latin typeface="Microsoft YaHei"/>
                <a:ea typeface="Microsoft YaHei"/>
              </a:rPr>
              <a:t>以步骤连接解题、批改、教学与出题</a:t>
            </a:r>
            <a:endParaRPr/>
          </a:p>
        </p:txBody>
      </p:sp>
      <p:sp>
        <p:nvSpPr>
          <p:cNvPr id="1067" name=""/>
          <p:cNvSpPr/>
          <p:nvPr/>
        </p:nvSpPr>
        <p:spPr>
          <a:xfrm rot="0" flipH="0" flipV="0">
            <a:off x="10820400" y="847725"/>
            <a:ext cx="704850" cy="295275"/>
          </a:xfrm>
          <a:prstGeom prst="roundRect">
            <a:avLst>
              <a:gd name="adj" fmla="val 64516"/>
            </a:avLst>
          </a:prstGeom>
          <a:solidFill>
            <a:srgbClr val="1E9E62"/>
          </a:solidFill>
          <a:ln/>
        </p:spPr>
        <p:txBody>
          <a:bodyPr/>
          <a:p/>
        </p:txBody>
      </p:sp>
      <p:sp>
        <p:nvSpPr>
          <p:cNvPr id="1068"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已实现</a:t>
            </a:r>
            <a:endParaRPr/>
          </a:p>
        </p:txBody>
      </p:sp>
      <p:pic>
        <p:nvPicPr>
          <p:cNvPr id="1069" name=""/>
          <p:cNvPicPr>
            <a:picLocks noChangeAspect="1"/>
          </p:cNvPicPr>
          <p:nvPr/>
        </p:nvPicPr>
        <p:blipFill>
          <a:blip>
            <a:extLst>
              <a:ext uri="{96DAC541-7B7A-43D3-8B79-37D633B846F1}">
                <asvg:svgBlip r:embed="rId1"/>
              </a:ext>
            </a:extLst>
          </a:blip>
          <a:stretch>
            <a:fillRect/>
          </a:stretch>
        </p:blipFill>
        <p:spPr>
          <a:xfrm rot="0" flipH="0" flipV="0">
            <a:off x="666750" y="1257300"/>
            <a:ext cx="10858500" cy="3810000"/>
          </a:xfrm>
          <a:prstGeom prst="rect">
            <a:avLst/>
          </a:prstGeom>
          <a:ln/>
        </p:spPr>
      </p:pic>
      <p:sp>
        <p:nvSpPr>
          <p:cNvPr id="1070" name=""/>
          <p:cNvSpPr/>
          <p:nvPr/>
        </p:nvSpPr>
        <p:spPr>
          <a:xfrm rot="0" flipH="0" flipV="0">
            <a:off x="704850" y="5219700"/>
            <a:ext cx="10858500" cy="952500"/>
          </a:xfrm>
          <a:prstGeom prst="roundRect">
            <a:avLst>
              <a:gd name="adj" fmla="val 6000"/>
            </a:avLst>
          </a:prstGeom>
          <a:solidFill>
            <a:srgbClr val="F5F7FA"/>
          </a:solidFill>
          <a:ln/>
        </p:spPr>
        <p:txBody>
          <a:bodyPr/>
          <a:p/>
        </p:txBody>
      </p:sp>
      <p:sp>
        <p:nvSpPr>
          <p:cNvPr id="1071" name=""/>
          <p:cNvSpPr/>
          <p:nvPr/>
        </p:nvSpPr>
        <p:spPr>
          <a:xfrm rot="0" flipH="0" flipV="0">
            <a:off x="704850" y="5219700"/>
            <a:ext cx="10858500" cy="952500"/>
          </a:xfrm>
          <a:custGeom>
            <a:pathLst>
              <a:path w="1140" h="100">
                <a:moveTo>
                  <a:pt x="6" y="0"/>
                </a:moveTo>
                <a:cubicBezTo>
                  <a:pt x="5" y="0"/>
                  <a:pt x="4" y="1"/>
                  <a:pt x="4" y="2"/>
                </a:cubicBezTo>
                <a:lnTo>
                  <a:pt x="4" y="98"/>
                </a:lnTo>
                <a:cubicBezTo>
                  <a:pt x="4" y="99"/>
                  <a:pt x="5" y="100"/>
                  <a:pt x="6" y="100"/>
                </a:cubicBezTo>
                <a:cubicBezTo>
                  <a:pt x="3" y="100"/>
                  <a:pt x="0" y="97"/>
                  <a:pt x="0" y="94"/>
                </a:cubicBezTo>
                <a:lnTo>
                  <a:pt x="0" y="6"/>
                </a:lnTo>
                <a:cubicBezTo>
                  <a:pt x="0" y="3"/>
                  <a:pt x="3" y="0"/>
                  <a:pt x="6" y="0"/>
                </a:cubicBezTo>
                <a:close/>
              </a:path>
            </a:pathLst>
          </a:custGeom>
          <a:solidFill>
            <a:srgbClr val="1E7BE0"/>
          </a:solidFill>
          <a:ln/>
        </p:spPr>
        <p:txBody>
          <a:bodyPr/>
          <a:p/>
        </p:txBody>
      </p:sp>
      <p:sp>
        <p:nvSpPr>
          <p:cNvPr id="1072" name="" descr="{&quot;isTemplate&quot;:true,&quot;type&quot;:&quot;text&quot;}"/>
          <p:cNvSpPr txBox="1"/>
          <p:nvPr/>
        </p:nvSpPr>
        <p:spPr>
          <a:xfrm rot="0" flipH="0" flipV="0">
            <a:off x="895350" y="5353050"/>
            <a:ext cx="10439400" cy="685800"/>
          </a:xfrm>
          <a:prstGeom prst="rect"/>
        </p:spPr>
        <p:txBody>
          <a:bodyPr wrap="square" lIns="0" tIns="0" rIns="0" bIns="0">
            <a:normAutofit/>
          </a:bodyPr>
          <a:p>
            <a:pPr>
              <a:lnSpc>
                <a:spcPct val="150000"/>
              </a:lnSpc>
            </a:pPr>
            <a:r>
              <a:rPr lang="zh-CN" sz="1500" b="1">
                <a:solidFill>
                  <a:srgbClr val="0E2340"/>
                </a:solidFill>
                <a:latin typeface="Microsoft YaHei"/>
                <a:ea typeface="Microsoft YaHei"/>
              </a:rPr>
              <a:t>一条主链路</a:t>
            </a:r>
            <a:r>
              <a:rPr lang="en-US" sz="1500" b="1">
                <a:solidFill>
                  <a:srgbClr val="0E2340"/>
                </a:solidFill>
                <a:latin typeface="Microsoft YaHei"/>
                <a:ea typeface="Microsoft YaHei"/>
              </a:rPr>
              <a:t xml:space="preserve"> + </a:t>
            </a:r>
            <a:r>
              <a:rPr lang="zh-CN" sz="1500" b="1">
                <a:solidFill>
                  <a:srgbClr val="0E2340"/>
                </a:solidFill>
                <a:latin typeface="Microsoft YaHei"/>
                <a:ea typeface="Microsoft YaHei"/>
              </a:rPr>
              <a:t>一条回流：新题生成后重新进入流水线校验；学生手写作答与笔迹时间线汇入步骤批改与过程复盘，再沉淀到错题与题库</a:t>
            </a:r>
            <a:endParaRPr/>
          </a:p>
        </p:txBody>
      </p:sp>
      <p:sp>
        <p:nvSpPr>
          <p:cNvPr id="1073"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074" name="" descr="{&quot;isTemplate&quot;:true,&quot;type&quot;:&quot;text&quot;}"/>
          <p:cNvSpPr txBox="1"/>
          <p:nvPr/>
        </p:nvSpPr>
        <p:spPr>
          <a:xfrm rot="0" flipH="0" flipV="0">
            <a:off x="666750" y="6381750"/>
            <a:ext cx="1743075" cy="209550"/>
          </a:xfrm>
          <a:prstGeom prst="rect"/>
        </p:spPr>
        <p:txBody>
          <a:bodyPr wrap="none" lIns="0" tIns="0" rIns="0" bIns="0"/>
          <a:p>
            <a:pPr>
              <a:lnSpc>
                <a:spcPct val="140000"/>
              </a:lnSpc>
            </a:pPr>
            <a:r>
              <a:rPr lang="zh-CN" sz="975">
                <a:solidFill>
                  <a:srgbClr val="7A8699"/>
                </a:solidFill>
                <a:latin typeface="Microsoft YaHei"/>
                <a:ea typeface="Microsoft YaHei"/>
              </a:rPr>
              <a:t>依据：单题功能设计思路</a:t>
            </a:r>
            <a:r>
              <a:rPr lang="en-US" sz="975">
                <a:solidFill>
                  <a:srgbClr val="7A8699"/>
                </a:solidFill>
                <a:latin typeface="Microsoft YaHei"/>
                <a:ea typeface="Microsoft YaHei"/>
              </a:rPr>
              <a:t>.md §1</a:t>
            </a:r>
            <a:endParaRPr/>
          </a:p>
        </p:txBody>
      </p:sp>
      <p:sp>
        <p:nvSpPr>
          <p:cNvPr id="1075"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22 / 124 </a:t>
            </a:r>
            <a:endParaRPr/>
          </a:p>
        </p:txBody>
      </p:sp>
    </p:spTree>
  </p:cSld>
</p:sld>
</file>

<file path=ppt/slides/slide23.xml><?xml version="1.0" encoding="utf-8"?>
<p:sld xmlns:p="http://schemas.openxmlformats.org/presentationml/2006/main" xmlns:a="http://schemas.openxmlformats.org/drawingml/2006/main">
  <p:cSld>
    <p:spTree>
      <p:nvGrpSpPr>
        <p:cNvPr id="1076"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3 / 单题引擎&lt;/Text&gt;&lt;Text style={{ fontSize: 32, color: '#0E2340', fontWeight: 700, lineHeight: 1.3 }}&gt;五大功能共用同一套步骤表示&lt;/Text&gt;&lt;/Box&gt;&lt;Box style={{ flexDirection: 'row', alignItems: 'center', padding: '7px 16px', borderRadius: 20, background: '#1E9E62' }}&gt;&lt;Text style={{ fontSize: 14, color: '#FFFFFF', fontWeight: 600 }}&gt;已实现&lt;/Text&gt;&lt;/Box&gt;&lt;/Box&gt;&lt;Box style={{ height: 532, paddingTop: 8, flexDirection: 'column' }}&gt;&lt;Box style={{ flexDirection: 'column', flex: 1, justifyContent: 'center', gap: 20 }}&gt;&lt;Box style={{ flexDirection: 'row', alignItems: 'center', background: '#FFFFFF', borderLeft: '4px solid #0E2340', borderRadius: 6, padding: '14px 20px' }}&gt;&lt;Text style={{ fontSize: 26, color: '#0E2340', fontWeight: 600, lineHeight: 1.5 }}&gt;把解题过程显式拆成可以引用、判断和训练的步骤，使模型的判断有明确对象&lt;/Text&gt;&lt;/Box&gt;&lt;Box style={{ flexDirection: 'row', gap: 20, flex: 1 }}&gt;&lt;Box style={{ width: 212,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AI 解题&lt;/Text&gt;&lt;Text style={{ fontSize: 17, color: '#333A45', fontWeight: 400, lineHeight: 1.6 }}&gt;为所有单题功能准备结构化依据；用预先定义的步骤体系约束解析的组织方式，不意味着所有题目只能采用同一条解法。&lt;/Text&gt;&lt;/Box&gt;&lt;/Box&gt;&lt;Box style={{ width: 212,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AI 改题&lt;/Text&gt;&lt;Text style={{ fontSize: 17, color: '#333A45', fontWeight: 400, lineHeight: 1.6 }}&gt;将学生作答内容对应到参考步骤，判断每一步是否完成、是否数学等价、是否存在关键遗漏。&lt;/Text&gt;&lt;/Box&gt;&lt;/Box&gt;&lt;Box style={{ width: 212,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手把手教学&lt;/Text&gt;&lt;Text style={{ fontSize: 17, color: '#333A45', fontWeight: 400, lineHeight: 1.6 }}&gt;每一步都有明确任务、预期结果和学生实际回答，区分完成教学与掌握能力。&lt;/Text&gt;&lt;/Box&gt;&lt;/Box&gt;&lt;Box style={{ width: 212,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AI 出题&lt;/Text&gt;&lt;Text style={{ fontSize: 17, color: '#333A45', fontWeight: 400, lineHeight: 1.6 }}&gt;以目标步骤、参考题及其解法、相关知识点、目标难度、已暴露错误为输入生成变式。&lt;/Text&gt;&lt;/Box&gt;&lt;/Box&gt;&lt;Box style={{ width: 212,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错题与题库&lt;/Text&gt;&lt;Text style={{ fontSize: 17, color: '#333A45', fontWeight: 400, lineHeight: 1.6 }}&gt;按步骤标定错因，从“做过哪些题”转向“哪一步需要练”。&lt;/Text&gt;&lt;/Box&gt;&lt;/Box&gt;&lt;/Box&gt;&lt;Box style={{ flexDirection: 'row', alignItems: 'center', background: '#F5F7FA', borderLeft: '4px solid #1E7BE0', borderRadius: 6, padding: '14px 20px' }}&gt;&lt;Text style={{ fontSize: 17, color: '#0E2340', fontWeight: 600, lineHeight: 1.5 }}&gt;两条限制：步骤标签本身不能代替数学判断；四项功能都依赖上游参考解析的质量&lt;/Text&gt;&lt;/Box&gt;&lt;/Box&gt;&lt;/Box&gt;&lt;Box style={{ height: 40, flexDirection: 'row', justifyContent: 'space-between', alignItems: 'center', borderTop: '1px solid #E3E8EF', marginTop: 8 }}&gt;&lt;Text style={{ fontSize: 13, color: '#7A8699', fontWeight: 400, lineHeight: 1.4 }}&gt;依据：单题功能设计思路.md §1、§7&lt;/Text&gt;&lt;Text style={{ fontSize: 14, color: '#7A8699', fontWeight: 400, lineHeight: 1.4 }}&gt; 23 / 124 &lt;/Text&gt;&lt;/Box&gt;&lt;/Slide&gt;"/>
        <p:cNvGrpSpPr/>
        <p:nvPr/>
      </p:nvGrpSpPr>
      <p:grpSpPr>
        <a:xfrm>
          <a:off x="0" y="0"/>
          <a:ext cx="0" cy="0"/>
          <a:chOff x="0" y="0"/>
          <a:chExt cx="0" cy="0"/>
        </a:xfrm>
      </p:grpSpPr>
      <p:sp>
        <p:nvSpPr>
          <p:cNvPr id="1077" name=""/>
          <p:cNvSpPr/>
          <p:nvPr/>
        </p:nvSpPr>
        <p:spPr>
          <a:xfrm rot="0" flipH="0" flipV="0">
            <a:off x="0" y="0"/>
            <a:ext cx="12192000" cy="6858000"/>
          </a:xfrm>
          <a:prstGeom prst="rect">
            <a:avLst/>
          </a:prstGeom>
          <a:solidFill>
            <a:srgbClr val="FFFFFF"/>
          </a:solidFill>
          <a:ln/>
        </p:spPr>
        <p:txBody>
          <a:bodyPr/>
          <a:p/>
        </p:txBody>
      </p:sp>
      <p:sp>
        <p:nvSpPr>
          <p:cNvPr id="1078" name="" descr="{&quot;isTemplate&quot;:true,&quot;type&quot;:&quot;text&quot;}"/>
          <p:cNvSpPr txBox="1"/>
          <p:nvPr/>
        </p:nvSpPr>
        <p:spPr>
          <a:xfrm rot="0" flipH="0" flipV="0">
            <a:off x="666750" y="381000"/>
            <a:ext cx="39624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03 / </a:t>
            </a:r>
            <a:r>
              <a:rPr lang="zh-CN" sz="1050" spc="75">
                <a:solidFill>
                  <a:srgbClr val="7A8699"/>
                </a:solidFill>
                <a:latin typeface="Microsoft YaHei"/>
                <a:ea typeface="Microsoft YaHei"/>
              </a:rPr>
              <a:t>单题引擎</a:t>
            </a:r>
            <a:endParaRPr/>
          </a:p>
        </p:txBody>
      </p:sp>
      <p:sp>
        <p:nvSpPr>
          <p:cNvPr id="1079" name="" descr="{&quot;isTemplate&quot;:true,&quot;type&quot;:&quot;text&quot;}"/>
          <p:cNvSpPr txBox="1"/>
          <p:nvPr/>
        </p:nvSpPr>
        <p:spPr>
          <a:xfrm rot="0" flipH="0" flipV="0">
            <a:off x="666750" y="666750"/>
            <a:ext cx="3962400" cy="476250"/>
          </a:xfrm>
          <a:prstGeom prst="rect"/>
        </p:spPr>
        <p:txBody>
          <a:bodyPr wrap="none" lIns="0" tIns="0" rIns="0" bIns="0"/>
          <a:p>
            <a:pPr>
              <a:lnSpc>
                <a:spcPct val="130000"/>
              </a:lnSpc>
            </a:pPr>
            <a:r>
              <a:rPr lang="zh-CN" sz="2400" b="1">
                <a:solidFill>
                  <a:srgbClr val="0E2340"/>
                </a:solidFill>
                <a:latin typeface="Microsoft YaHei"/>
                <a:ea typeface="Microsoft YaHei"/>
              </a:rPr>
              <a:t>五大功能共用同一套步骤表示</a:t>
            </a:r>
            <a:endParaRPr/>
          </a:p>
        </p:txBody>
      </p:sp>
      <p:sp>
        <p:nvSpPr>
          <p:cNvPr id="1080" name=""/>
          <p:cNvSpPr/>
          <p:nvPr/>
        </p:nvSpPr>
        <p:spPr>
          <a:xfrm rot="0" flipH="0" flipV="0">
            <a:off x="10820400" y="847725"/>
            <a:ext cx="704850" cy="295275"/>
          </a:xfrm>
          <a:prstGeom prst="roundRect">
            <a:avLst>
              <a:gd name="adj" fmla="val 64516"/>
            </a:avLst>
          </a:prstGeom>
          <a:solidFill>
            <a:srgbClr val="1E9E62"/>
          </a:solidFill>
          <a:ln/>
        </p:spPr>
        <p:txBody>
          <a:bodyPr/>
          <a:p/>
        </p:txBody>
      </p:sp>
      <p:sp>
        <p:nvSpPr>
          <p:cNvPr id="1081"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已实现</a:t>
            </a:r>
            <a:endParaRPr/>
          </a:p>
        </p:txBody>
      </p:sp>
      <p:sp>
        <p:nvSpPr>
          <p:cNvPr id="1082" name=""/>
          <p:cNvSpPr/>
          <p:nvPr/>
        </p:nvSpPr>
        <p:spPr>
          <a:xfrm rot="0" flipH="0" flipV="0">
            <a:off x="704850" y="1219200"/>
            <a:ext cx="10858500" cy="714375"/>
          </a:xfrm>
          <a:prstGeom prst="roundRect">
            <a:avLst>
              <a:gd name="adj" fmla="val 8000"/>
            </a:avLst>
          </a:prstGeom>
          <a:solidFill>
            <a:srgbClr val="FFFFFF"/>
          </a:solidFill>
          <a:ln/>
        </p:spPr>
        <p:txBody>
          <a:bodyPr/>
          <a:p/>
        </p:txBody>
      </p:sp>
      <p:sp>
        <p:nvSpPr>
          <p:cNvPr id="1083" name=""/>
          <p:cNvSpPr/>
          <p:nvPr/>
        </p:nvSpPr>
        <p:spPr>
          <a:xfrm rot="0" flipH="0" flipV="0">
            <a:off x="704850" y="1219200"/>
            <a:ext cx="10858500" cy="714375"/>
          </a:xfrm>
          <a:custGeom>
            <a:pathLst>
              <a:path w="1140" h="75">
                <a:moveTo>
                  <a:pt x="6" y="0"/>
                </a:moveTo>
                <a:cubicBezTo>
                  <a:pt x="5" y="0"/>
                  <a:pt x="4" y="1"/>
                  <a:pt x="4" y="2"/>
                </a:cubicBezTo>
                <a:lnTo>
                  <a:pt x="4" y="73"/>
                </a:lnTo>
                <a:cubicBezTo>
                  <a:pt x="4" y="74"/>
                  <a:pt x="5" y="75"/>
                  <a:pt x="6" y="75"/>
                </a:cubicBezTo>
                <a:cubicBezTo>
                  <a:pt x="3" y="75"/>
                  <a:pt x="0" y="72"/>
                  <a:pt x="0" y="69"/>
                </a:cubicBezTo>
                <a:lnTo>
                  <a:pt x="0" y="6"/>
                </a:lnTo>
                <a:cubicBezTo>
                  <a:pt x="0" y="3"/>
                  <a:pt x="3" y="0"/>
                  <a:pt x="6" y="0"/>
                </a:cubicBezTo>
                <a:close/>
              </a:path>
            </a:pathLst>
          </a:custGeom>
          <a:solidFill>
            <a:srgbClr val="0E2340"/>
          </a:solidFill>
          <a:ln/>
        </p:spPr>
        <p:txBody>
          <a:bodyPr/>
          <a:p/>
        </p:txBody>
      </p:sp>
      <p:sp>
        <p:nvSpPr>
          <p:cNvPr id="1084" name="" descr="{&quot;isTemplate&quot;:true,&quot;type&quot;:&quot;text&quot;}"/>
          <p:cNvSpPr txBox="1"/>
          <p:nvPr/>
        </p:nvSpPr>
        <p:spPr>
          <a:xfrm rot="0" flipH="0" flipV="0">
            <a:off x="895350" y="1352550"/>
            <a:ext cx="8420100" cy="447675"/>
          </a:xfrm>
          <a:prstGeom prst="rect"/>
        </p:spPr>
        <p:txBody>
          <a:bodyPr wrap="none" lIns="0" tIns="0" rIns="0" bIns="0"/>
          <a:p>
            <a:pPr>
              <a:lnSpc>
                <a:spcPct val="150000"/>
              </a:lnSpc>
            </a:pPr>
            <a:r>
              <a:rPr lang="zh-CN" sz="1950" b="1">
                <a:solidFill>
                  <a:srgbClr val="0E2340"/>
                </a:solidFill>
                <a:latin typeface="Microsoft YaHei"/>
                <a:ea typeface="Microsoft YaHei"/>
              </a:rPr>
              <a:t>把解题过程显式拆成可以引用、判断和训练的步骤，使模型的判断有明确对象</a:t>
            </a:r>
            <a:endParaRPr/>
          </a:p>
        </p:txBody>
      </p:sp>
      <p:sp>
        <p:nvSpPr>
          <p:cNvPr id="1085" name=""/>
          <p:cNvSpPr/>
          <p:nvPr/>
        </p:nvSpPr>
        <p:spPr>
          <a:xfrm rot="0" flipH="0" flipV="0">
            <a:off x="666750" y="2124075"/>
            <a:ext cx="2019300" cy="3333750"/>
          </a:xfrm>
          <a:prstGeom prst="roundRect">
            <a:avLst>
              <a:gd name="adj" fmla="val 3774"/>
            </a:avLst>
          </a:prstGeom>
          <a:solidFill>
            <a:srgbClr val="FFFFFF"/>
          </a:solidFill>
          <a:ln w="12700">
            <a:solidFill>
              <a:srgbClr val="E3E8EF"/>
            </a:solidFill>
            <a:prstDash val="solid"/>
          </a:ln>
        </p:spPr>
        <p:txBody>
          <a:bodyPr/>
          <a:p/>
        </p:txBody>
      </p:sp>
      <p:sp>
        <p:nvSpPr>
          <p:cNvPr id="1086" name=""/>
          <p:cNvSpPr/>
          <p:nvPr/>
        </p:nvSpPr>
        <p:spPr>
          <a:xfrm rot="0" flipH="0" flipV="0">
            <a:off x="666750" y="2124075"/>
            <a:ext cx="2019300" cy="38100"/>
          </a:xfrm>
          <a:custGeom>
            <a:pathLst>
              <a:path w="212" h="4">
                <a:moveTo>
                  <a:pt x="204" y="0"/>
                </a:moveTo>
                <a:cubicBezTo>
                  <a:pt x="207" y="0"/>
                  <a:pt x="210" y="2"/>
                  <a:pt x="211" y="4"/>
                </a:cubicBezTo>
                <a:lnTo>
                  <a:pt x="1" y="4"/>
                </a:lnTo>
                <a:cubicBezTo>
                  <a:pt x="3" y="2"/>
                  <a:pt x="5" y="0"/>
                  <a:pt x="8" y="0"/>
                </a:cubicBezTo>
                <a:lnTo>
                  <a:pt x="204" y="0"/>
                </a:lnTo>
                <a:close/>
              </a:path>
            </a:pathLst>
          </a:custGeom>
          <a:gradFill>
            <a:gsLst>
              <a:gs pos="0">
                <a:srgbClr val="1E7BE0"/>
              </a:gs>
              <a:gs pos="100000">
                <a:srgbClr val="00A9B5"/>
              </a:gs>
            </a:gsLst>
            <a:lin ang="0" scaled="1"/>
          </a:gradFill>
          <a:ln/>
        </p:spPr>
        <p:txBody>
          <a:bodyPr/>
          <a:p/>
        </p:txBody>
      </p:sp>
      <p:sp>
        <p:nvSpPr>
          <p:cNvPr id="1087" name="" descr="{&quot;isTemplate&quot;:true,&quot;type&quot;:&quot;text&quot;}"/>
          <p:cNvSpPr txBox="1"/>
          <p:nvPr/>
        </p:nvSpPr>
        <p:spPr>
          <a:xfrm rot="0" flipH="0" flipV="0">
            <a:off x="857250" y="2352675"/>
            <a:ext cx="1638300" cy="342900"/>
          </a:xfrm>
          <a:prstGeom prst="rect"/>
        </p:spPr>
        <p:txBody>
          <a:bodyPr wrap="none" lIns="0" tIns="0" rIns="0" bIns="0"/>
          <a:p>
            <a:pPr>
              <a:lnSpc>
                <a:spcPct val="140000"/>
              </a:lnSpc>
            </a:pPr>
            <a:r>
              <a:rPr lang="en-US" sz="1575" b="1">
                <a:solidFill>
                  <a:srgbClr val="0E2340"/>
                </a:solidFill>
                <a:latin typeface="Microsoft YaHei"/>
                <a:ea typeface="Microsoft YaHei"/>
              </a:rPr>
              <a:t xml:space="preserve">AI </a:t>
            </a:r>
            <a:r>
              <a:rPr lang="zh-CN" sz="1575" b="1">
                <a:solidFill>
                  <a:srgbClr val="0E2340"/>
                </a:solidFill>
                <a:latin typeface="Microsoft YaHei"/>
                <a:ea typeface="Microsoft YaHei"/>
              </a:rPr>
              <a:t>解题</a:t>
            </a:r>
            <a:endParaRPr/>
          </a:p>
        </p:txBody>
      </p:sp>
      <p:sp>
        <p:nvSpPr>
          <p:cNvPr id="1088" name="" descr="{&quot;isTemplate&quot;:true,&quot;type&quot;:&quot;text&quot;}"/>
          <p:cNvSpPr txBox="1"/>
          <p:nvPr/>
        </p:nvSpPr>
        <p:spPr>
          <a:xfrm rot="0" flipH="0" flipV="0">
            <a:off x="857250" y="2790825"/>
            <a:ext cx="1638300" cy="186690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为所有单题功能准备结构化依据；用预先定义的步骤体系约束解析的组织方式，不意味着所有题目只能采用同一条解法。</a:t>
            </a:r>
            <a:endParaRPr/>
          </a:p>
        </p:txBody>
      </p:sp>
      <p:sp>
        <p:nvSpPr>
          <p:cNvPr id="1089" name=""/>
          <p:cNvSpPr/>
          <p:nvPr/>
        </p:nvSpPr>
        <p:spPr>
          <a:xfrm rot="0" flipH="0" flipV="0">
            <a:off x="2876550" y="2124075"/>
            <a:ext cx="2019300" cy="3333750"/>
          </a:xfrm>
          <a:prstGeom prst="roundRect">
            <a:avLst>
              <a:gd name="adj" fmla="val 3774"/>
            </a:avLst>
          </a:prstGeom>
          <a:solidFill>
            <a:srgbClr val="FFFFFF"/>
          </a:solidFill>
          <a:ln w="12700">
            <a:solidFill>
              <a:srgbClr val="E3E8EF"/>
            </a:solidFill>
            <a:prstDash val="solid"/>
          </a:ln>
        </p:spPr>
        <p:txBody>
          <a:bodyPr/>
          <a:p/>
        </p:txBody>
      </p:sp>
      <p:sp>
        <p:nvSpPr>
          <p:cNvPr id="1090" name=""/>
          <p:cNvSpPr/>
          <p:nvPr/>
        </p:nvSpPr>
        <p:spPr>
          <a:xfrm rot="0" flipH="0" flipV="0">
            <a:off x="2876550" y="2124075"/>
            <a:ext cx="2019300" cy="38100"/>
          </a:xfrm>
          <a:custGeom>
            <a:pathLst>
              <a:path w="212" h="4">
                <a:moveTo>
                  <a:pt x="204" y="0"/>
                </a:moveTo>
                <a:cubicBezTo>
                  <a:pt x="207" y="0"/>
                  <a:pt x="210" y="2"/>
                  <a:pt x="211" y="4"/>
                </a:cubicBezTo>
                <a:lnTo>
                  <a:pt x="1" y="4"/>
                </a:lnTo>
                <a:cubicBezTo>
                  <a:pt x="3" y="2"/>
                  <a:pt x="5" y="0"/>
                  <a:pt x="8" y="0"/>
                </a:cubicBezTo>
                <a:lnTo>
                  <a:pt x="204" y="0"/>
                </a:lnTo>
                <a:close/>
              </a:path>
            </a:pathLst>
          </a:custGeom>
          <a:gradFill>
            <a:gsLst>
              <a:gs pos="0">
                <a:srgbClr val="1E7BE0"/>
              </a:gs>
              <a:gs pos="100000">
                <a:srgbClr val="00A9B5"/>
              </a:gs>
            </a:gsLst>
            <a:lin ang="0" scaled="1"/>
          </a:gradFill>
          <a:ln/>
        </p:spPr>
        <p:txBody>
          <a:bodyPr/>
          <a:p/>
        </p:txBody>
      </p:sp>
      <p:sp>
        <p:nvSpPr>
          <p:cNvPr id="1091" name="" descr="{&quot;isTemplate&quot;:true,&quot;type&quot;:&quot;text&quot;}"/>
          <p:cNvSpPr txBox="1"/>
          <p:nvPr/>
        </p:nvSpPr>
        <p:spPr>
          <a:xfrm rot="0" flipH="0" flipV="0">
            <a:off x="3067050" y="2352675"/>
            <a:ext cx="1638300" cy="342900"/>
          </a:xfrm>
          <a:prstGeom prst="rect"/>
        </p:spPr>
        <p:txBody>
          <a:bodyPr wrap="none" lIns="0" tIns="0" rIns="0" bIns="0"/>
          <a:p>
            <a:pPr>
              <a:lnSpc>
                <a:spcPct val="140000"/>
              </a:lnSpc>
            </a:pPr>
            <a:r>
              <a:rPr lang="en-US" sz="1575" b="1">
                <a:solidFill>
                  <a:srgbClr val="0E2340"/>
                </a:solidFill>
                <a:latin typeface="Microsoft YaHei"/>
                <a:ea typeface="Microsoft YaHei"/>
              </a:rPr>
              <a:t xml:space="preserve">AI </a:t>
            </a:r>
            <a:r>
              <a:rPr lang="zh-CN" sz="1575" b="1">
                <a:solidFill>
                  <a:srgbClr val="0E2340"/>
                </a:solidFill>
                <a:latin typeface="Microsoft YaHei"/>
                <a:ea typeface="Microsoft YaHei"/>
              </a:rPr>
              <a:t>改题</a:t>
            </a:r>
            <a:endParaRPr/>
          </a:p>
        </p:txBody>
      </p:sp>
      <p:sp>
        <p:nvSpPr>
          <p:cNvPr id="1092" name="" descr="{&quot;isTemplate&quot;:true,&quot;type&quot;:&quot;text&quot;}"/>
          <p:cNvSpPr txBox="1"/>
          <p:nvPr/>
        </p:nvSpPr>
        <p:spPr>
          <a:xfrm rot="0" flipH="0" flipV="0">
            <a:off x="3067050" y="2790825"/>
            <a:ext cx="1638300" cy="156210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将学生作答内容对应到参考步骤，判断每一步是否完成、是否数学等价、是否存在关键遗漏。</a:t>
            </a:r>
            <a:endParaRPr/>
          </a:p>
        </p:txBody>
      </p:sp>
      <p:sp>
        <p:nvSpPr>
          <p:cNvPr id="1093" name=""/>
          <p:cNvSpPr/>
          <p:nvPr/>
        </p:nvSpPr>
        <p:spPr>
          <a:xfrm rot="0" flipH="0" flipV="0">
            <a:off x="5086350" y="2124075"/>
            <a:ext cx="2019300" cy="3333750"/>
          </a:xfrm>
          <a:prstGeom prst="roundRect">
            <a:avLst>
              <a:gd name="adj" fmla="val 3774"/>
            </a:avLst>
          </a:prstGeom>
          <a:solidFill>
            <a:srgbClr val="FFFFFF"/>
          </a:solidFill>
          <a:ln w="12700">
            <a:solidFill>
              <a:srgbClr val="E3E8EF"/>
            </a:solidFill>
            <a:prstDash val="solid"/>
          </a:ln>
        </p:spPr>
        <p:txBody>
          <a:bodyPr/>
          <a:p/>
        </p:txBody>
      </p:sp>
      <p:sp>
        <p:nvSpPr>
          <p:cNvPr id="1094" name=""/>
          <p:cNvSpPr/>
          <p:nvPr/>
        </p:nvSpPr>
        <p:spPr>
          <a:xfrm rot="0" flipH="0" flipV="0">
            <a:off x="5086350" y="2124075"/>
            <a:ext cx="2019300" cy="38100"/>
          </a:xfrm>
          <a:custGeom>
            <a:pathLst>
              <a:path w="212" h="4">
                <a:moveTo>
                  <a:pt x="204" y="0"/>
                </a:moveTo>
                <a:cubicBezTo>
                  <a:pt x="207" y="0"/>
                  <a:pt x="210" y="2"/>
                  <a:pt x="211" y="4"/>
                </a:cubicBezTo>
                <a:lnTo>
                  <a:pt x="1" y="4"/>
                </a:lnTo>
                <a:cubicBezTo>
                  <a:pt x="3" y="2"/>
                  <a:pt x="5" y="0"/>
                  <a:pt x="8" y="0"/>
                </a:cubicBezTo>
                <a:lnTo>
                  <a:pt x="204" y="0"/>
                </a:lnTo>
                <a:close/>
              </a:path>
            </a:pathLst>
          </a:custGeom>
          <a:gradFill>
            <a:gsLst>
              <a:gs pos="0">
                <a:srgbClr val="1E7BE0"/>
              </a:gs>
              <a:gs pos="100000">
                <a:srgbClr val="00A9B5"/>
              </a:gs>
            </a:gsLst>
            <a:lin ang="0" scaled="1"/>
          </a:gradFill>
          <a:ln/>
        </p:spPr>
        <p:txBody>
          <a:bodyPr/>
          <a:p/>
        </p:txBody>
      </p:sp>
      <p:sp>
        <p:nvSpPr>
          <p:cNvPr id="1095" name="" descr="{&quot;isTemplate&quot;:true,&quot;type&quot;:&quot;text&quot;}"/>
          <p:cNvSpPr txBox="1"/>
          <p:nvPr/>
        </p:nvSpPr>
        <p:spPr>
          <a:xfrm rot="0" flipH="0" flipV="0">
            <a:off x="5276850" y="2352675"/>
            <a:ext cx="1638300" cy="342900"/>
          </a:xfrm>
          <a:prstGeom prst="rect"/>
        </p:spPr>
        <p:txBody>
          <a:bodyPr wrap="none" lIns="0" tIns="0" rIns="0" bIns="0"/>
          <a:p>
            <a:pPr>
              <a:lnSpc>
                <a:spcPct val="140000"/>
              </a:lnSpc>
            </a:pPr>
            <a:r>
              <a:rPr lang="zh-CN" sz="1575" b="1">
                <a:solidFill>
                  <a:srgbClr val="0E2340"/>
                </a:solidFill>
                <a:latin typeface="Microsoft YaHei"/>
                <a:ea typeface="Microsoft YaHei"/>
              </a:rPr>
              <a:t>手把手教学</a:t>
            </a:r>
            <a:endParaRPr/>
          </a:p>
        </p:txBody>
      </p:sp>
      <p:sp>
        <p:nvSpPr>
          <p:cNvPr id="1096" name="" descr="{&quot;isTemplate&quot;:true,&quot;type&quot;:&quot;text&quot;}"/>
          <p:cNvSpPr txBox="1"/>
          <p:nvPr/>
        </p:nvSpPr>
        <p:spPr>
          <a:xfrm rot="0" flipH="0" flipV="0">
            <a:off x="5276850" y="2790825"/>
            <a:ext cx="1638300" cy="1247775"/>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每一步都有明确任务、预期结果和学生实际回答，区分完成教学与掌握能力。</a:t>
            </a:r>
            <a:endParaRPr/>
          </a:p>
        </p:txBody>
      </p:sp>
      <p:sp>
        <p:nvSpPr>
          <p:cNvPr id="1097" name=""/>
          <p:cNvSpPr/>
          <p:nvPr/>
        </p:nvSpPr>
        <p:spPr>
          <a:xfrm rot="0" flipH="0" flipV="0">
            <a:off x="7296150" y="2124075"/>
            <a:ext cx="2019300" cy="3333750"/>
          </a:xfrm>
          <a:prstGeom prst="roundRect">
            <a:avLst>
              <a:gd name="adj" fmla="val 3774"/>
            </a:avLst>
          </a:prstGeom>
          <a:solidFill>
            <a:srgbClr val="FFFFFF"/>
          </a:solidFill>
          <a:ln w="12700">
            <a:solidFill>
              <a:srgbClr val="E3E8EF"/>
            </a:solidFill>
            <a:prstDash val="solid"/>
          </a:ln>
        </p:spPr>
        <p:txBody>
          <a:bodyPr/>
          <a:p/>
        </p:txBody>
      </p:sp>
      <p:sp>
        <p:nvSpPr>
          <p:cNvPr id="1098" name=""/>
          <p:cNvSpPr/>
          <p:nvPr/>
        </p:nvSpPr>
        <p:spPr>
          <a:xfrm rot="0" flipH="0" flipV="0">
            <a:off x="7296150" y="2124075"/>
            <a:ext cx="2019300" cy="38100"/>
          </a:xfrm>
          <a:custGeom>
            <a:pathLst>
              <a:path w="212" h="4">
                <a:moveTo>
                  <a:pt x="204" y="0"/>
                </a:moveTo>
                <a:cubicBezTo>
                  <a:pt x="207" y="0"/>
                  <a:pt x="210" y="2"/>
                  <a:pt x="211" y="4"/>
                </a:cubicBezTo>
                <a:lnTo>
                  <a:pt x="1" y="4"/>
                </a:lnTo>
                <a:cubicBezTo>
                  <a:pt x="3" y="2"/>
                  <a:pt x="5" y="0"/>
                  <a:pt x="8" y="0"/>
                </a:cubicBezTo>
                <a:lnTo>
                  <a:pt x="204" y="0"/>
                </a:lnTo>
                <a:close/>
              </a:path>
            </a:pathLst>
          </a:custGeom>
          <a:gradFill>
            <a:gsLst>
              <a:gs pos="0">
                <a:srgbClr val="1E7BE0"/>
              </a:gs>
              <a:gs pos="100000">
                <a:srgbClr val="00A9B5"/>
              </a:gs>
            </a:gsLst>
            <a:lin ang="0" scaled="1"/>
          </a:gradFill>
          <a:ln/>
        </p:spPr>
        <p:txBody>
          <a:bodyPr/>
          <a:p/>
        </p:txBody>
      </p:sp>
      <p:sp>
        <p:nvSpPr>
          <p:cNvPr id="1099" name="" descr="{&quot;isTemplate&quot;:true,&quot;type&quot;:&quot;text&quot;}"/>
          <p:cNvSpPr txBox="1"/>
          <p:nvPr/>
        </p:nvSpPr>
        <p:spPr>
          <a:xfrm rot="0" flipH="0" flipV="0">
            <a:off x="7486650" y="2352675"/>
            <a:ext cx="1638300" cy="342900"/>
          </a:xfrm>
          <a:prstGeom prst="rect"/>
        </p:spPr>
        <p:txBody>
          <a:bodyPr wrap="none" lIns="0" tIns="0" rIns="0" bIns="0"/>
          <a:p>
            <a:pPr>
              <a:lnSpc>
                <a:spcPct val="140000"/>
              </a:lnSpc>
            </a:pPr>
            <a:r>
              <a:rPr lang="en-US" sz="1575" b="1">
                <a:solidFill>
                  <a:srgbClr val="0E2340"/>
                </a:solidFill>
                <a:latin typeface="Microsoft YaHei"/>
                <a:ea typeface="Microsoft YaHei"/>
              </a:rPr>
              <a:t xml:space="preserve">AI </a:t>
            </a:r>
            <a:r>
              <a:rPr lang="zh-CN" sz="1575" b="1">
                <a:solidFill>
                  <a:srgbClr val="0E2340"/>
                </a:solidFill>
                <a:latin typeface="Microsoft YaHei"/>
                <a:ea typeface="Microsoft YaHei"/>
              </a:rPr>
              <a:t>出题</a:t>
            </a:r>
            <a:endParaRPr/>
          </a:p>
        </p:txBody>
      </p:sp>
      <p:sp>
        <p:nvSpPr>
          <p:cNvPr id="1100" name="" descr="{&quot;isTemplate&quot;:true,&quot;type&quot;:&quot;text&quot;}"/>
          <p:cNvSpPr txBox="1"/>
          <p:nvPr/>
        </p:nvSpPr>
        <p:spPr>
          <a:xfrm rot="0" flipH="0" flipV="0">
            <a:off x="7486650" y="2790825"/>
            <a:ext cx="1638300" cy="1247775"/>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以目标步骤、参考题及其解法、相关知识点、目标难度、已暴露错误为输入生成变式。</a:t>
            </a:r>
            <a:endParaRPr/>
          </a:p>
        </p:txBody>
      </p:sp>
      <p:sp>
        <p:nvSpPr>
          <p:cNvPr id="1101" name=""/>
          <p:cNvSpPr/>
          <p:nvPr/>
        </p:nvSpPr>
        <p:spPr>
          <a:xfrm rot="0" flipH="0" flipV="0">
            <a:off x="9505950" y="2124075"/>
            <a:ext cx="2019300" cy="3333750"/>
          </a:xfrm>
          <a:prstGeom prst="roundRect">
            <a:avLst>
              <a:gd name="adj" fmla="val 3774"/>
            </a:avLst>
          </a:prstGeom>
          <a:solidFill>
            <a:srgbClr val="FFFFFF"/>
          </a:solidFill>
          <a:ln w="12700">
            <a:solidFill>
              <a:srgbClr val="E3E8EF"/>
            </a:solidFill>
            <a:prstDash val="solid"/>
          </a:ln>
        </p:spPr>
        <p:txBody>
          <a:bodyPr/>
          <a:p/>
        </p:txBody>
      </p:sp>
      <p:sp>
        <p:nvSpPr>
          <p:cNvPr id="1102" name=""/>
          <p:cNvSpPr/>
          <p:nvPr/>
        </p:nvSpPr>
        <p:spPr>
          <a:xfrm rot="0" flipH="0" flipV="0">
            <a:off x="9505950" y="2124075"/>
            <a:ext cx="2019300" cy="38100"/>
          </a:xfrm>
          <a:custGeom>
            <a:pathLst>
              <a:path w="212" h="4">
                <a:moveTo>
                  <a:pt x="204" y="0"/>
                </a:moveTo>
                <a:cubicBezTo>
                  <a:pt x="207" y="0"/>
                  <a:pt x="210" y="2"/>
                  <a:pt x="211" y="4"/>
                </a:cubicBezTo>
                <a:lnTo>
                  <a:pt x="1" y="4"/>
                </a:lnTo>
                <a:cubicBezTo>
                  <a:pt x="3" y="2"/>
                  <a:pt x="5" y="0"/>
                  <a:pt x="8" y="0"/>
                </a:cubicBezTo>
                <a:lnTo>
                  <a:pt x="204" y="0"/>
                </a:lnTo>
                <a:close/>
              </a:path>
            </a:pathLst>
          </a:custGeom>
          <a:gradFill>
            <a:gsLst>
              <a:gs pos="0">
                <a:srgbClr val="1E7BE0"/>
              </a:gs>
              <a:gs pos="100000">
                <a:srgbClr val="00A9B5"/>
              </a:gs>
            </a:gsLst>
            <a:lin ang="0" scaled="1"/>
          </a:gradFill>
          <a:ln/>
        </p:spPr>
        <p:txBody>
          <a:bodyPr/>
          <a:p/>
        </p:txBody>
      </p:sp>
      <p:sp>
        <p:nvSpPr>
          <p:cNvPr id="1103" name="" descr="{&quot;isTemplate&quot;:true,&quot;type&quot;:&quot;text&quot;}"/>
          <p:cNvSpPr txBox="1"/>
          <p:nvPr/>
        </p:nvSpPr>
        <p:spPr>
          <a:xfrm rot="0" flipH="0" flipV="0">
            <a:off x="9696450" y="2352675"/>
            <a:ext cx="1638300" cy="342900"/>
          </a:xfrm>
          <a:prstGeom prst="rect"/>
        </p:spPr>
        <p:txBody>
          <a:bodyPr wrap="none" lIns="0" tIns="0" rIns="0" bIns="0"/>
          <a:p>
            <a:pPr>
              <a:lnSpc>
                <a:spcPct val="140000"/>
              </a:lnSpc>
            </a:pPr>
            <a:r>
              <a:rPr lang="zh-CN" sz="1575" b="1">
                <a:solidFill>
                  <a:srgbClr val="0E2340"/>
                </a:solidFill>
                <a:latin typeface="Microsoft YaHei"/>
                <a:ea typeface="Microsoft YaHei"/>
              </a:rPr>
              <a:t>错题与题库</a:t>
            </a:r>
            <a:endParaRPr/>
          </a:p>
        </p:txBody>
      </p:sp>
      <p:sp>
        <p:nvSpPr>
          <p:cNvPr id="1104" name="" descr="{&quot;isTemplate&quot;:true,&quot;type&quot;:&quot;text&quot;}"/>
          <p:cNvSpPr txBox="1"/>
          <p:nvPr/>
        </p:nvSpPr>
        <p:spPr>
          <a:xfrm rot="0" flipH="0" flipV="0">
            <a:off x="9696450" y="2790825"/>
            <a:ext cx="1638300" cy="9334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按步骤标定错因，从“做过哪些题”转向“哪一步需要练”。</a:t>
            </a:r>
            <a:endParaRPr/>
          </a:p>
        </p:txBody>
      </p:sp>
      <p:sp>
        <p:nvSpPr>
          <p:cNvPr id="1105" name=""/>
          <p:cNvSpPr/>
          <p:nvPr/>
        </p:nvSpPr>
        <p:spPr>
          <a:xfrm rot="0" flipH="0" flipV="0">
            <a:off x="704850" y="5648325"/>
            <a:ext cx="10858500" cy="561975"/>
          </a:xfrm>
          <a:prstGeom prst="roundRect">
            <a:avLst>
              <a:gd name="adj" fmla="val 10169"/>
            </a:avLst>
          </a:prstGeom>
          <a:solidFill>
            <a:srgbClr val="F5F7FA"/>
          </a:solidFill>
          <a:ln/>
        </p:spPr>
        <p:txBody>
          <a:bodyPr/>
          <a:p/>
        </p:txBody>
      </p:sp>
      <p:sp>
        <p:nvSpPr>
          <p:cNvPr id="1106" name=""/>
          <p:cNvSpPr/>
          <p:nvPr/>
        </p:nvSpPr>
        <p:spPr>
          <a:xfrm rot="0" flipH="0" flipV="0">
            <a:off x="704850" y="5648325"/>
            <a:ext cx="10858500" cy="561975"/>
          </a:xfrm>
          <a:custGeom>
            <a:pathLst>
              <a:path w="1140" h="59">
                <a:moveTo>
                  <a:pt x="6" y="0"/>
                </a:moveTo>
                <a:cubicBezTo>
                  <a:pt x="5" y="0"/>
                  <a:pt x="4" y="1"/>
                  <a:pt x="4" y="2"/>
                </a:cubicBezTo>
                <a:lnTo>
                  <a:pt x="4" y="57"/>
                </a:lnTo>
                <a:cubicBezTo>
                  <a:pt x="4" y="58"/>
                  <a:pt x="5" y="59"/>
                  <a:pt x="6" y="59"/>
                </a:cubicBezTo>
                <a:cubicBezTo>
                  <a:pt x="3" y="59"/>
                  <a:pt x="0" y="56"/>
                  <a:pt x="0" y="53"/>
                </a:cubicBezTo>
                <a:lnTo>
                  <a:pt x="0" y="6"/>
                </a:lnTo>
                <a:cubicBezTo>
                  <a:pt x="0" y="3"/>
                  <a:pt x="3" y="0"/>
                  <a:pt x="6" y="0"/>
                </a:cubicBezTo>
                <a:close/>
              </a:path>
            </a:pathLst>
          </a:custGeom>
          <a:solidFill>
            <a:srgbClr val="1E7BE0"/>
          </a:solidFill>
          <a:ln/>
        </p:spPr>
        <p:txBody>
          <a:bodyPr/>
          <a:p/>
        </p:txBody>
      </p:sp>
      <p:sp>
        <p:nvSpPr>
          <p:cNvPr id="1107" name="" descr="{&quot;isTemplate&quot;:true,&quot;type&quot;:&quot;text&quot;}"/>
          <p:cNvSpPr txBox="1"/>
          <p:nvPr/>
        </p:nvSpPr>
        <p:spPr>
          <a:xfrm rot="0" flipH="0" flipV="0">
            <a:off x="895350" y="5781675"/>
            <a:ext cx="5829300" cy="295275"/>
          </a:xfrm>
          <a:prstGeom prst="rect"/>
        </p:spPr>
        <p:txBody>
          <a:bodyPr wrap="none" lIns="0" tIns="0" rIns="0" bIns="0"/>
          <a:p>
            <a:pPr>
              <a:lnSpc>
                <a:spcPct val="150000"/>
              </a:lnSpc>
            </a:pPr>
            <a:r>
              <a:rPr lang="zh-CN" sz="1275" b="1">
                <a:solidFill>
                  <a:srgbClr val="0E2340"/>
                </a:solidFill>
                <a:latin typeface="Microsoft YaHei"/>
                <a:ea typeface="Microsoft YaHei"/>
              </a:rPr>
              <a:t>两条限制：步骤标签本身不能代替数学判断；四项功能都依赖上游参考解析的质量</a:t>
            </a:r>
            <a:endParaRPr/>
          </a:p>
        </p:txBody>
      </p:sp>
      <p:sp>
        <p:nvSpPr>
          <p:cNvPr id="1108"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109" name="" descr="{&quot;isTemplate&quot;:true,&quot;type&quot;:&quot;text&quot;}"/>
          <p:cNvSpPr txBox="1"/>
          <p:nvPr/>
        </p:nvSpPr>
        <p:spPr>
          <a:xfrm rot="0" flipH="0" flipV="0">
            <a:off x="666750" y="6381750"/>
            <a:ext cx="2009775" cy="209550"/>
          </a:xfrm>
          <a:prstGeom prst="rect"/>
        </p:spPr>
        <p:txBody>
          <a:bodyPr wrap="none" lIns="0" tIns="0" rIns="0" bIns="0"/>
          <a:p>
            <a:pPr>
              <a:lnSpc>
                <a:spcPct val="140000"/>
              </a:lnSpc>
            </a:pPr>
            <a:r>
              <a:rPr lang="zh-CN" sz="975">
                <a:solidFill>
                  <a:srgbClr val="7A8699"/>
                </a:solidFill>
                <a:latin typeface="Microsoft YaHei"/>
                <a:ea typeface="Microsoft YaHei"/>
              </a:rPr>
              <a:t>依据：单题功能设计思路</a:t>
            </a:r>
            <a:r>
              <a:rPr lang="en-US" sz="975">
                <a:solidFill>
                  <a:srgbClr val="7A8699"/>
                </a:solidFill>
                <a:latin typeface="Microsoft YaHei"/>
                <a:ea typeface="Microsoft YaHei"/>
              </a:rPr>
              <a:t>.md §1</a:t>
            </a:r>
            <a:r>
              <a:rPr lang="zh-CN" sz="975">
                <a:solidFill>
                  <a:srgbClr val="7A8699"/>
                </a:solidFill>
                <a:latin typeface="Microsoft YaHei"/>
                <a:ea typeface="Microsoft YaHei"/>
              </a:rPr>
              <a:t>、§</a:t>
            </a:r>
            <a:r>
              <a:rPr lang="en-US" sz="975">
                <a:solidFill>
                  <a:srgbClr val="7A8699"/>
                </a:solidFill>
                <a:latin typeface="Microsoft YaHei"/>
                <a:ea typeface="Microsoft YaHei"/>
              </a:rPr>
              <a:t>7</a:t>
            </a:r>
            <a:endParaRPr/>
          </a:p>
        </p:txBody>
      </p:sp>
      <p:sp>
        <p:nvSpPr>
          <p:cNvPr id="1110"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23 / 124 </a:t>
            </a:r>
            <a:endParaRPr/>
          </a:p>
        </p:txBody>
      </p:sp>
    </p:spTree>
  </p:cSld>
</p:sld>
</file>

<file path=ppt/slides/slide24.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1111"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3 / 单题引擎&lt;/Text&gt;&lt;Text style={{ fontSize: 32, color: '#0E2340', fontWeight: 700, lineHeight: 1.3 }}&gt;三阶段职责：Solver / Verifier / Formatter&lt;/Text&gt;&lt;/Box&gt;&lt;Box style={{ flexDirection: 'row', alignItems: 'center', padding: '7px 16px', borderRadius: 20, background: '#1E9E62' }}&gt;&lt;Text style={{ fontSize: 14, color: '#FFFFFF', fontWeight: 600 }}&gt;已实现&lt;/Text&gt;&lt;/Box&gt;&lt;/Box&gt;&lt;Box style={{ height: 532, paddingTop: 8, flexDirection: 'column' }}&gt;&lt;Box style={{ flexDirection: 'column', flex: 1, gap: 16 }}&gt;&lt;Box style={{ height: 240 }}&gt;&lt;Table style={{ width: '100%', height: '100%' }} defaultTextStyle={{ fontSize: 16, textAlign: 'left', color: '#333A45' }} defaultCellStyle={{ padding: 10, border: { left: { width: 1, color: '#E3E8EF' }, right: { width: 1, color: '#E3E8EF' }, top: { width: 1, color: '#E3E8EF' }, bottom: { width: 1, color: '#E3E8EF' } } }} cells={[[{ text: '阶段', textStyle: { color: '#FFFFFF', fontWeight: 600, fontSize: 16 }, cellStyle: { background: { color: '#0E2340' } } }, { text: '主要任务', textStyle: { color: '#FFFFFF', fontWeight: 600, fontSize: 16 }, cellStyle: { background: { color: '#0E2340' } } }, { text: '对后续功能的意义', textStyle: { color: '#FFFFFF', fontWeight: 600, fontSize: 16 }, cellStyle: { background: { color: '#0E2340' } } }],&#10;        [{ text: 'Solver · 解题', textStyle: { fontWeight: 600, fontSize: 16 } }, { text: '理解题目，给出完整解答，识别题目所属板块或校验模板', textStyle: { fontSize: 16 } }, { text: '先获得数学解法，供后续拆分与检查', textStyle: { fontSize: 16 } }],&#10;        [{ text: 'Verifier · 校验与结构化', textStyle: { fontWeight: 600, fontSize: 16 }, cellStyle: { background: { color: '#F5F7FA' } } }, { text: '检查解答，按题目或小问分块，再拆成步骤，关联知识点，整理标准过程与详细过程', textStyle: { fontSize: 16 }, cellStyle: { background: { color: '#F5F7FA' } } }, { text: '建立批改、教学和仿题可以共同引用的步骤结构', textStyle: { fontSize: 16 }, cellStyle: { background: { color: '#F5F7FA' } } }],&#10;        [{ text: 'Formatter · 整理与输出', textStyle: { fontWeight: 600, fontSize: 16 } }, { text: '检查一致性，整理为约定结构，补充步骤难度信息', textStyle: { fontSize: 16 } }, { text: '形成前端与后端可以稳定消费的参考解析', textStyle: { fontSize: 16 } }]]} /&gt;&lt;/Box&gt;&lt;Box style={{ flexDirection: 'row', alignItems: 'center', background: '#F5F7FA', borderLeft: '4px solid #00A9B5', borderRadius: 6, padding: '14px 20px' }}&gt;&lt;Text style={{ fontSize: 17, color: '#0E2340', fontWeight: 600, lineHeight: 1.5 }}&gt;标准过程用于呈现关键推导与得分内容，详细过程用于帮助理解；系统可以按步骤展示、引用和处理解析，不必反复从长篇自然语言中猜测其组织方式&lt;/Text&gt;&lt;/Box&gt;&lt;/Box&gt;&lt;/Box&gt;&lt;Box style={{ height: 40, flexDirection: 'row', justifyContent: 'space-between', alignItems: 'center', borderTop: '1px solid #E3E8EF', marginTop: 8 }}&gt;&lt;Text style={{ fontSize: 13, color: '#7A8699', fontWeight: 400, lineHeight: 1.4 }}&gt;依据：单题功能设计思路.md §2.2&lt;/Text&gt;&lt;Text style={{ fontSize: 14, color: '#7A8699', fontWeight: 400, lineHeight: 1.4 }}&gt; 24 / 124 &lt;/Text&gt;&lt;/Box&gt;&lt;/Slide&gt;"/>
        <p:cNvGrpSpPr/>
        <p:nvPr/>
      </p:nvGrpSpPr>
      <p:grpSpPr>
        <a:xfrm>
          <a:off x="0" y="0"/>
          <a:ext cx="0" cy="0"/>
          <a:chOff x="0" y="0"/>
          <a:chExt cx="0" cy="0"/>
        </a:xfrm>
      </p:grpSpPr>
      <p:sp>
        <p:nvSpPr>
          <p:cNvPr id="1112" name=""/>
          <p:cNvSpPr/>
          <p:nvPr/>
        </p:nvSpPr>
        <p:spPr>
          <a:xfrm rot="0" flipH="0" flipV="0">
            <a:off x="0" y="0"/>
            <a:ext cx="12192000" cy="6858000"/>
          </a:xfrm>
          <a:prstGeom prst="rect">
            <a:avLst/>
          </a:prstGeom>
          <a:solidFill>
            <a:srgbClr val="FFFFFF"/>
          </a:solidFill>
          <a:ln/>
        </p:spPr>
        <p:txBody>
          <a:bodyPr/>
          <a:p/>
        </p:txBody>
      </p:sp>
      <p:sp>
        <p:nvSpPr>
          <p:cNvPr id="1113" name="" descr="{&quot;isTemplate&quot;:true,&quot;type&quot;:&quot;text&quot;}"/>
          <p:cNvSpPr txBox="1"/>
          <p:nvPr/>
        </p:nvSpPr>
        <p:spPr>
          <a:xfrm rot="0" flipH="0" flipV="0">
            <a:off x="666750" y="381000"/>
            <a:ext cx="573405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03 / </a:t>
            </a:r>
            <a:r>
              <a:rPr lang="zh-CN" sz="1050" spc="75">
                <a:solidFill>
                  <a:srgbClr val="7A8699"/>
                </a:solidFill>
                <a:latin typeface="Microsoft YaHei"/>
                <a:ea typeface="Microsoft YaHei"/>
              </a:rPr>
              <a:t>单题引擎</a:t>
            </a:r>
            <a:endParaRPr/>
          </a:p>
        </p:txBody>
      </p:sp>
      <p:sp>
        <p:nvSpPr>
          <p:cNvPr id="1114" name="" descr="{&quot;isTemplate&quot;:true,&quot;type&quot;:&quot;text&quot;}"/>
          <p:cNvSpPr txBox="1"/>
          <p:nvPr/>
        </p:nvSpPr>
        <p:spPr>
          <a:xfrm rot="0" flipH="0" flipV="0">
            <a:off x="666750" y="666750"/>
            <a:ext cx="5734050" cy="476250"/>
          </a:xfrm>
          <a:prstGeom prst="rect"/>
        </p:spPr>
        <p:txBody>
          <a:bodyPr wrap="none" lIns="0" tIns="0" rIns="0" bIns="0"/>
          <a:p>
            <a:pPr>
              <a:lnSpc>
                <a:spcPct val="130000"/>
              </a:lnSpc>
            </a:pPr>
            <a:r>
              <a:rPr lang="zh-CN" sz="2400" b="1">
                <a:solidFill>
                  <a:srgbClr val="0E2340"/>
                </a:solidFill>
                <a:latin typeface="Microsoft YaHei"/>
                <a:ea typeface="Microsoft YaHei"/>
              </a:rPr>
              <a:t>三阶段职责：</a:t>
            </a:r>
            <a:r>
              <a:rPr lang="en-US" sz="2400" b="1">
                <a:solidFill>
                  <a:srgbClr val="0E2340"/>
                </a:solidFill>
                <a:latin typeface="Microsoft YaHei"/>
                <a:ea typeface="Microsoft YaHei"/>
              </a:rPr>
              <a:t>Solver / Verifier / Formatter</a:t>
            </a:r>
            <a:endParaRPr/>
          </a:p>
        </p:txBody>
      </p:sp>
      <p:sp>
        <p:nvSpPr>
          <p:cNvPr id="1115" name=""/>
          <p:cNvSpPr/>
          <p:nvPr/>
        </p:nvSpPr>
        <p:spPr>
          <a:xfrm rot="0" flipH="0" flipV="0">
            <a:off x="10820400" y="847725"/>
            <a:ext cx="704850" cy="295275"/>
          </a:xfrm>
          <a:prstGeom prst="roundRect">
            <a:avLst>
              <a:gd name="adj" fmla="val 64516"/>
            </a:avLst>
          </a:prstGeom>
          <a:solidFill>
            <a:srgbClr val="1E9E62"/>
          </a:solidFill>
          <a:ln/>
        </p:spPr>
        <p:txBody>
          <a:bodyPr/>
          <a:p/>
        </p:txBody>
      </p:sp>
      <p:sp>
        <p:nvSpPr>
          <p:cNvPr id="1116"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已实现</a:t>
            </a:r>
            <a:endParaRPr/>
          </a:p>
        </p:txBody>
      </p:sp>
      <p:graphicFrame>
        <p:nvGraphicFramePr>
          <p:cNvPr id="1117" name=""/>
          <p:cNvGraphicFramePr/>
          <p:nvPr/>
        </p:nvGraphicFramePr>
        <p:xfrm rot="0" flipH="0" flipV="0">
          <a:off x="666750" y="1219200"/>
          <a:ext cx="10858500" cy="2286000"/>
        </p:xfrm>
        <a:graphic>
          <a:graphicData uri="http://schemas.openxmlformats.org/drawingml/2006/table">
            <a:tbl>
              <a:tblGrid>
                <a:gridCol w="1681866">
                  <a:extLst>
                    <a:ext uri="{9D8B030D-6E8A-4147-A177-3AD203B41FA5}">
                      <a16:colId val="1"/>
                    </a:ext>
                  </a:extLst>
                </a:gridCol>
                <a:gridCol w="5828403">
                  <a:extLst>
                    <a:ext uri="{9D8B030D-6E8A-4147-A177-3AD203B41FA5}">
                      <a16:colId val="2"/>
                    </a:ext>
                  </a:extLst>
                </a:gridCol>
                <a:gridCol w="3348231">
                  <a:extLst>
                    <a:ext uri="{9D8B030D-6E8A-4147-A177-3AD203B41FA5}">
                      <a16:colId val="3"/>
                    </a:ext>
                  </a:extLst>
                </a:gridCol>
              </a:tblGrid>
              <a:tr h="571500">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阶段</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主要任务</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对后续功能的意义</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571500">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Solver · 解题</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理解题目，给出完整解答，识别题目所属板块或校验模板</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先获得数学解法，供后续拆分与检查</a:t>
                      </a:r>
                      <a:endParaRPr/>
                    </a:p>
                  </a:txBody>
                  <a:tcPr marL="45720" marR="45720" marT="45720" marB="45720" anchor="ctr">
                    <a:lnL>
                      <a:noFill/>
                    </a:lnL>
                    <a:lnR>
                      <a:noFill/>
                    </a:lnR>
                    <a:lnT>
                      <a:noFill/>
                    </a:lnT>
                    <a:lnB>
                      <a:noFill/>
                    </a:lnB>
                  </a:tcPr>
                </a:tc>
                <a:extLst>
                  <a:ext uri="{0D108BD9-81ED-4DB2-BD59-A6C34878D82A}">
                    <a16:rowId val="2"/>
                  </a:ext>
                </a:extLst>
              </a:tr>
              <a:tr h="571500">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Verifier · 校验与结构化</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检查解答，按题目或小问分块，再拆成步骤，关联知识点，整理标准过程与详细过程</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建立批改、教学和仿题可以共同引用的步骤结构</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571500">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Formatter · 整理与输出</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检查一致性，整理为约定结构，补充步骤难度信息</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形成前端与后端可以稳定消费的参考解析</a:t>
                      </a:r>
                      <a:endParaRPr/>
                    </a:p>
                  </a:txBody>
                  <a:tcPr marL="45720" marR="45720" marT="45720" marB="45720" anchor="ctr">
                    <a:lnL>
                      <a:noFill/>
                    </a:lnL>
                    <a:lnR>
                      <a:noFill/>
                    </a:lnR>
                    <a:lnT>
                      <a:noFill/>
                    </a:lnT>
                    <a:lnB>
                      <a:noFill/>
                    </a:lnB>
                  </a:tcPr>
                </a:tc>
                <a:extLst>
                  <a:ext uri="{0D108BD9-81ED-4DB2-BD59-A6C34878D82A}">
                    <a16:rowId val="4"/>
                  </a:ext>
                </a:extLst>
              </a:tr>
            </a:tbl>
          </a:graphicData>
        </a:graphic>
      </p:graphicFrame>
      <p:sp>
        <p:nvSpPr>
          <p:cNvPr id="1118" name=""/>
          <p:cNvSpPr/>
          <p:nvPr/>
        </p:nvSpPr>
        <p:spPr>
          <a:xfrm rot="0" flipH="0" flipV="0">
            <a:off x="704850" y="3657600"/>
            <a:ext cx="10858500" cy="857250"/>
          </a:xfrm>
          <a:prstGeom prst="roundRect">
            <a:avLst>
              <a:gd name="adj" fmla="val 6667"/>
            </a:avLst>
          </a:prstGeom>
          <a:solidFill>
            <a:srgbClr val="F5F7FA"/>
          </a:solidFill>
          <a:ln/>
        </p:spPr>
        <p:txBody>
          <a:bodyPr/>
          <a:p/>
        </p:txBody>
      </p:sp>
      <p:sp>
        <p:nvSpPr>
          <p:cNvPr id="1119" name=""/>
          <p:cNvSpPr/>
          <p:nvPr/>
        </p:nvSpPr>
        <p:spPr>
          <a:xfrm rot="0" flipH="0" flipV="0">
            <a:off x="704850" y="3657600"/>
            <a:ext cx="10858500" cy="857250"/>
          </a:xfrm>
          <a:custGeom>
            <a:pathLst>
              <a:path w="1140" h="90">
                <a:moveTo>
                  <a:pt x="6" y="0"/>
                </a:moveTo>
                <a:cubicBezTo>
                  <a:pt x="5" y="0"/>
                  <a:pt x="4" y="1"/>
                  <a:pt x="4" y="2"/>
                </a:cubicBezTo>
                <a:lnTo>
                  <a:pt x="4" y="88"/>
                </a:lnTo>
                <a:cubicBezTo>
                  <a:pt x="4" y="89"/>
                  <a:pt x="5" y="90"/>
                  <a:pt x="6" y="90"/>
                </a:cubicBezTo>
                <a:cubicBezTo>
                  <a:pt x="3" y="90"/>
                  <a:pt x="0" y="87"/>
                  <a:pt x="0" y="84"/>
                </a:cubicBezTo>
                <a:lnTo>
                  <a:pt x="0" y="6"/>
                </a:lnTo>
                <a:cubicBezTo>
                  <a:pt x="0" y="3"/>
                  <a:pt x="3" y="0"/>
                  <a:pt x="6" y="0"/>
                </a:cubicBezTo>
                <a:close/>
              </a:path>
            </a:pathLst>
          </a:custGeom>
          <a:solidFill>
            <a:srgbClr val="00A9B5"/>
          </a:solidFill>
          <a:ln/>
        </p:spPr>
        <p:txBody>
          <a:bodyPr/>
          <a:p/>
        </p:txBody>
      </p:sp>
      <p:sp>
        <p:nvSpPr>
          <p:cNvPr id="1120" name="" descr="{&quot;isTemplate&quot;:true,&quot;type&quot;:&quot;text&quot;}"/>
          <p:cNvSpPr txBox="1"/>
          <p:nvPr/>
        </p:nvSpPr>
        <p:spPr>
          <a:xfrm rot="0" flipH="0" flipV="0">
            <a:off x="895350" y="3790950"/>
            <a:ext cx="10439400" cy="590550"/>
          </a:xfrm>
          <a:prstGeom prst="rect"/>
        </p:spPr>
        <p:txBody>
          <a:bodyPr wrap="square" lIns="0" tIns="0" rIns="0" bIns="0">
            <a:normAutofit/>
          </a:bodyPr>
          <a:p>
            <a:pPr>
              <a:lnSpc>
                <a:spcPct val="150000"/>
              </a:lnSpc>
            </a:pPr>
            <a:r>
              <a:rPr lang="zh-CN" sz="1275" b="1">
                <a:solidFill>
                  <a:srgbClr val="0E2340"/>
                </a:solidFill>
                <a:latin typeface="Microsoft YaHei"/>
                <a:ea typeface="Microsoft YaHei"/>
              </a:rPr>
              <a:t>标准过程用于呈现关键推导与得分内容，详细过程用于帮助理解；系统可以按步骤展示、引用和处理解析，不必反复从长篇自然语言中猜测其组织方式</a:t>
            </a:r>
            <a:endParaRPr/>
          </a:p>
        </p:txBody>
      </p:sp>
      <p:sp>
        <p:nvSpPr>
          <p:cNvPr id="1121"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122" name="" descr="{&quot;isTemplate&quot;:true,&quot;type&quot;:&quot;text&quot;}"/>
          <p:cNvSpPr txBox="1"/>
          <p:nvPr/>
        </p:nvSpPr>
        <p:spPr>
          <a:xfrm rot="0" flipH="0" flipV="0">
            <a:off x="666750" y="6381750"/>
            <a:ext cx="1847850" cy="209550"/>
          </a:xfrm>
          <a:prstGeom prst="rect"/>
        </p:spPr>
        <p:txBody>
          <a:bodyPr wrap="none" lIns="0" tIns="0" rIns="0" bIns="0"/>
          <a:p>
            <a:pPr>
              <a:lnSpc>
                <a:spcPct val="140000"/>
              </a:lnSpc>
            </a:pPr>
            <a:r>
              <a:rPr lang="zh-CN" sz="975">
                <a:solidFill>
                  <a:srgbClr val="7A8699"/>
                </a:solidFill>
                <a:latin typeface="Microsoft YaHei"/>
                <a:ea typeface="Microsoft YaHei"/>
              </a:rPr>
              <a:t>依据：单题功能设计思路</a:t>
            </a:r>
            <a:r>
              <a:rPr lang="en-US" sz="975">
                <a:solidFill>
                  <a:srgbClr val="7A8699"/>
                </a:solidFill>
                <a:latin typeface="Microsoft YaHei"/>
                <a:ea typeface="Microsoft YaHei"/>
              </a:rPr>
              <a:t>.md §2.2</a:t>
            </a:r>
            <a:endParaRPr/>
          </a:p>
        </p:txBody>
      </p:sp>
      <p:sp>
        <p:nvSpPr>
          <p:cNvPr id="1123"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24 / 124 </a:t>
            </a:r>
            <a:endParaRPr/>
          </a:p>
        </p:txBody>
      </p:sp>
    </p:spTree>
  </p:cSld>
</p:sld>
</file>

<file path=ppt/slides/slide25.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124"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3 / 单题引擎&lt;/Text&gt;&lt;Text style={{ fontSize: 32, color: '#0E2340', fontWeight: 700, lineHeight: 1.3 }}&gt;改题：从整体判断转向逐步对照&lt;/Text&gt;&lt;/Box&gt;&lt;Box style={{ flexDirection: 'row', alignItems: 'center', padding: '7px 16px', borderRadius: 20, background: '#E8A33D' }}&gt;&lt;Text style={{ fontSize: 14, color: '#FFFFFF', fontWeight: 600 }}&gt;部分实现&lt;/Text&gt;&lt;/Box&gt;&lt;/Box&gt;&lt;Box style={{ height: 532, paddingTop: 8, flexDirection: 'column' }}&gt;&lt;Box style={{ flexDirection: 'column', flex: 1, justifyContent: 'center', gap: 16 }}&gt;&lt;Box style={{ flexDirection: 'column', gap: 16, flex: 1, justifyContent: 'center' }}&gt;&lt;svg width={1140} height={250} viewBox='0 0 1140 250'&gt;&lt;rect x='0' y='0' width='555' height='250' rx='8' fill='#F5F7FA'/&gt;&lt;rect x='585' y='0' width='555' height='250' rx='8' fill='#EAF3FD'/&gt;&lt;text x='277.5' y='34' font-size='20' fill='#0E2340' text-anchor='middle' font-weight='700'&gt;整体判断（旧）&lt;/text&gt;&lt;text x='862.5' y='34' font-size='20' fill='#1E7BE0' text-anchor='middle' font-weight='700'&gt;逐步对照（新）&lt;/text&gt;&lt;circle cx='28' cy='68' r='4' fill='#0E2340'/&gt;&lt;text x='44' y='74' font-size='16' fill='#333A45' text-anchor='start' font-weight='400'&gt;只知道最终答案错误&lt;/text&gt;&lt;circle cx='28' cy='102' r='4' fill='#0E2340'/&gt;&lt;text x='44' y='108' font-size='16' fill='#333A45' text-anchor='start' font-weight='400'&gt;据此推断学生不理解列式所用知识&lt;/text&gt;&lt;circle cx='28' cy='136' r='4' fill='#0E2340'/&gt;&lt;text x='44' y='142' font-size='16' fill='#333A45' text-anchor='start' font-weight='400'&gt;反馈笼统：这道题没掌握&lt;/text&gt;&lt;circle cx='28' cy='170' r='4' fill='#0E2340'/&gt;&lt;text x='44' y='176' font-size='16' fill='#333A45' text-anchor='start' font-weight='400'&gt;无法定位到具体哪一步&lt;/text&gt;&lt;circle cx='613' cy='68' r='4' fill='#1E7BE0'/&gt;&lt;text x='629' y='74' font-size='16' fill='#333A45' text-anchor='start' font-weight='400'&gt;逐段作答对应到参考步骤&lt;/text&gt;&lt;circle cx='613' cy='102' r='4' fill='#1E7BE0'/&gt;&lt;text x='629' y='108' font-size='16' fill='#333A45' text-anchor='start' font-weight='400'&gt;识别：列式正确，化简出错&lt;/text&gt;&lt;circle cx='613' cy='136' r='4' fill='#1E7BE0'/&gt;&lt;text x='629' y='142' font-size='16' fill='#333A45' text-anchor='start' font-weight='400'&gt;定位到化简步骤而非列式步骤&lt;/text&gt;&lt;circle cx='613' cy='170' r='4' fill='#1E7BE0'/&gt;&lt;text x='629' y='176' font-size='16' fill='#333A45' text-anchor='start' font-weight='400'&gt;反馈具体：这一步的运算有问题&lt;/text&gt;&lt;/svg&gt;&lt;/Box&gt;&lt;Box style={{ flexDirection: 'row', alignItems: 'center', background: '#F5F7FA', borderLeft: '4px solid #0E2340', borderRadius: 6, padding: '14px 20px' }}&gt;&lt;Text style={{ fontSize: 18, color: '#0E2340', fontWeight: 600, lineHeight: 1.5 }}&gt;设计目标：说清楚“哪一步、哪段作答、什么问题”，而不是给出一个笼统的对错判断&lt;/Text&gt;&lt;/Box&gt;&lt;/Box&gt;&lt;/Box&gt;&lt;Box style={{ height: 40, flexDirection: 'row', justifyContent: 'space-between', alignItems: 'center', borderTop: '1px solid #E3E8EF', marginTop: 8 }}&gt;&lt;Text style={{ fontSize: 13, color: '#7A8699', fontWeight: 400, lineHeight: 1.4 }}&gt;依据：单题功能设计思路.md §3.1&lt;/Text&gt;&lt;Text style={{ fontSize: 14, color: '#7A8699', fontWeight: 400, lineHeight: 1.4 }}&gt; 25 / 124 &lt;/Text&gt;&lt;/Box&gt;&lt;/Slide&gt;"/>
        <p:cNvGrpSpPr/>
        <p:nvPr/>
      </p:nvGrpSpPr>
      <p:grpSpPr>
        <a:xfrm>
          <a:off x="0" y="0"/>
          <a:ext cx="0" cy="0"/>
          <a:chOff x="0" y="0"/>
          <a:chExt cx="0" cy="0"/>
        </a:xfrm>
      </p:grpSpPr>
      <p:sp>
        <p:nvSpPr>
          <p:cNvPr id="1125" name=""/>
          <p:cNvSpPr/>
          <p:nvPr/>
        </p:nvSpPr>
        <p:spPr>
          <a:xfrm rot="0" flipH="0" flipV="0">
            <a:off x="0" y="0"/>
            <a:ext cx="12192000" cy="6858000"/>
          </a:xfrm>
          <a:prstGeom prst="rect">
            <a:avLst/>
          </a:prstGeom>
          <a:solidFill>
            <a:srgbClr val="FFFFFF"/>
          </a:solidFill>
          <a:ln/>
        </p:spPr>
        <p:txBody>
          <a:bodyPr/>
          <a:p/>
        </p:txBody>
      </p:sp>
      <p:sp>
        <p:nvSpPr>
          <p:cNvPr id="1126" name="" descr="{&quot;isTemplate&quot;:true,&quot;type&quot;:&quot;text&quot;}"/>
          <p:cNvSpPr txBox="1"/>
          <p:nvPr/>
        </p:nvSpPr>
        <p:spPr>
          <a:xfrm rot="0" flipH="0" flipV="0">
            <a:off x="666750" y="381000"/>
            <a:ext cx="42672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03 / </a:t>
            </a:r>
            <a:r>
              <a:rPr lang="zh-CN" sz="1050" spc="75">
                <a:solidFill>
                  <a:srgbClr val="7A8699"/>
                </a:solidFill>
                <a:latin typeface="Microsoft YaHei"/>
                <a:ea typeface="Microsoft YaHei"/>
              </a:rPr>
              <a:t>单题引擎</a:t>
            </a:r>
            <a:endParaRPr/>
          </a:p>
        </p:txBody>
      </p:sp>
      <p:sp>
        <p:nvSpPr>
          <p:cNvPr id="1127" name="" descr="{&quot;isTemplate&quot;:true,&quot;type&quot;:&quot;text&quot;}"/>
          <p:cNvSpPr txBox="1"/>
          <p:nvPr/>
        </p:nvSpPr>
        <p:spPr>
          <a:xfrm rot="0" flipH="0" flipV="0">
            <a:off x="666750" y="666750"/>
            <a:ext cx="4267200" cy="476250"/>
          </a:xfrm>
          <a:prstGeom prst="rect"/>
        </p:spPr>
        <p:txBody>
          <a:bodyPr wrap="none" lIns="0" tIns="0" rIns="0" bIns="0"/>
          <a:p>
            <a:pPr>
              <a:lnSpc>
                <a:spcPct val="130000"/>
              </a:lnSpc>
            </a:pPr>
            <a:r>
              <a:rPr lang="zh-CN" sz="2400" b="1">
                <a:solidFill>
                  <a:srgbClr val="0E2340"/>
                </a:solidFill>
                <a:latin typeface="Microsoft YaHei"/>
                <a:ea typeface="Microsoft YaHei"/>
              </a:rPr>
              <a:t>改题：从整体判断转向逐步对照</a:t>
            </a:r>
            <a:endParaRPr/>
          </a:p>
        </p:txBody>
      </p:sp>
      <p:sp>
        <p:nvSpPr>
          <p:cNvPr id="1128" name=""/>
          <p:cNvSpPr/>
          <p:nvPr/>
        </p:nvSpPr>
        <p:spPr>
          <a:xfrm rot="0" flipH="0" flipV="0">
            <a:off x="10687050" y="847725"/>
            <a:ext cx="838200" cy="295275"/>
          </a:xfrm>
          <a:prstGeom prst="roundRect">
            <a:avLst>
              <a:gd name="adj" fmla="val 64516"/>
            </a:avLst>
          </a:prstGeom>
          <a:solidFill>
            <a:srgbClr val="E8A33D"/>
          </a:solidFill>
          <a:ln/>
        </p:spPr>
        <p:txBody>
          <a:bodyPr/>
          <a:p/>
        </p:txBody>
      </p:sp>
      <p:sp>
        <p:nvSpPr>
          <p:cNvPr id="1129" name="" descr="{&quot;isTemplate&quot;:true,&quot;type&quot;:&quot;text&quot;}"/>
          <p:cNvSpPr txBox="1"/>
          <p:nvPr/>
        </p:nvSpPr>
        <p:spPr>
          <a:xfrm rot="0" flipH="0" flipV="0">
            <a:off x="10839450" y="914400"/>
            <a:ext cx="533400" cy="161925"/>
          </a:xfrm>
          <a:prstGeom prst="rect"/>
        </p:spPr>
        <p:txBody>
          <a:bodyPr wrap="none" lIns="0" tIns="0" rIns="0" bIns="0"/>
          <a:p>
            <a:pPr>
              <a:lnSpc>
                <a:spcPct val="100000"/>
              </a:lnSpc>
            </a:pPr>
            <a:r>
              <a:rPr lang="zh-CN" sz="1050" b="1">
                <a:solidFill>
                  <a:srgbClr val="FFFFFF"/>
                </a:solidFill>
                <a:latin typeface="Microsoft YaHei"/>
                <a:ea typeface="Microsoft YaHei"/>
              </a:rPr>
              <a:t>部分实现</a:t>
            </a:r>
            <a:endParaRPr/>
          </a:p>
        </p:txBody>
      </p:sp>
      <p:pic>
        <p:nvPicPr>
          <p:cNvPr id="1130" name=""/>
          <p:cNvPicPr>
            <a:picLocks noChangeAspect="1"/>
          </p:cNvPicPr>
          <p:nvPr/>
        </p:nvPicPr>
        <p:blipFill>
          <a:blip>
            <a:extLst>
              <a:ext uri="{96DAC541-7B7A-43D3-8B79-37D633B846F1}">
                <asvg:svgBlip r:embed="rId1"/>
              </a:ext>
            </a:extLst>
          </a:blip>
          <a:stretch>
            <a:fillRect/>
          </a:stretch>
        </p:blipFill>
        <p:spPr>
          <a:xfrm rot="0" flipH="0" flipV="0">
            <a:off x="666750" y="2162175"/>
            <a:ext cx="10858500" cy="2381250"/>
          </a:xfrm>
          <a:prstGeom prst="rect">
            <a:avLst/>
          </a:prstGeom>
          <a:ln/>
        </p:spPr>
      </p:pic>
      <p:sp>
        <p:nvSpPr>
          <p:cNvPr id="1131" name=""/>
          <p:cNvSpPr/>
          <p:nvPr/>
        </p:nvSpPr>
        <p:spPr>
          <a:xfrm rot="0" flipH="0" flipV="0">
            <a:off x="704850" y="5629275"/>
            <a:ext cx="10858500" cy="581025"/>
          </a:xfrm>
          <a:prstGeom prst="roundRect">
            <a:avLst>
              <a:gd name="adj" fmla="val 9836"/>
            </a:avLst>
          </a:prstGeom>
          <a:solidFill>
            <a:srgbClr val="F5F7FA"/>
          </a:solidFill>
          <a:ln/>
        </p:spPr>
        <p:txBody>
          <a:bodyPr/>
          <a:p/>
        </p:txBody>
      </p:sp>
      <p:sp>
        <p:nvSpPr>
          <p:cNvPr id="1132" name=""/>
          <p:cNvSpPr/>
          <p:nvPr/>
        </p:nvSpPr>
        <p:spPr>
          <a:xfrm rot="0" flipH="0" flipV="0">
            <a:off x="704850" y="5629275"/>
            <a:ext cx="10858500" cy="581025"/>
          </a:xfrm>
          <a:custGeom>
            <a:pathLst>
              <a:path w="1140" h="61">
                <a:moveTo>
                  <a:pt x="6" y="0"/>
                </a:moveTo>
                <a:cubicBezTo>
                  <a:pt x="5" y="0"/>
                  <a:pt x="4" y="1"/>
                  <a:pt x="4" y="2"/>
                </a:cubicBezTo>
                <a:lnTo>
                  <a:pt x="4" y="59"/>
                </a:lnTo>
                <a:cubicBezTo>
                  <a:pt x="4" y="60"/>
                  <a:pt x="5" y="61"/>
                  <a:pt x="6" y="61"/>
                </a:cubicBezTo>
                <a:cubicBezTo>
                  <a:pt x="3" y="61"/>
                  <a:pt x="0" y="58"/>
                  <a:pt x="0" y="55"/>
                </a:cubicBezTo>
                <a:lnTo>
                  <a:pt x="0" y="6"/>
                </a:lnTo>
                <a:cubicBezTo>
                  <a:pt x="0" y="3"/>
                  <a:pt x="3" y="0"/>
                  <a:pt x="6" y="0"/>
                </a:cubicBezTo>
                <a:close/>
              </a:path>
            </a:pathLst>
          </a:custGeom>
          <a:solidFill>
            <a:srgbClr val="0E2340"/>
          </a:solidFill>
          <a:ln/>
        </p:spPr>
        <p:txBody>
          <a:bodyPr/>
          <a:p/>
        </p:txBody>
      </p:sp>
      <p:sp>
        <p:nvSpPr>
          <p:cNvPr id="1133" name="" descr="{&quot;isTemplate&quot;:true,&quot;type&quot;:&quot;text&quot;}"/>
          <p:cNvSpPr txBox="1"/>
          <p:nvPr/>
        </p:nvSpPr>
        <p:spPr>
          <a:xfrm rot="0" flipH="0" flipV="0">
            <a:off x="895350" y="5762625"/>
            <a:ext cx="6343650" cy="314325"/>
          </a:xfrm>
          <a:prstGeom prst="rect"/>
        </p:spPr>
        <p:txBody>
          <a:bodyPr wrap="none" lIns="0" tIns="0" rIns="0" bIns="0"/>
          <a:p>
            <a:pPr>
              <a:lnSpc>
                <a:spcPct val="150000"/>
              </a:lnSpc>
            </a:pPr>
            <a:r>
              <a:rPr lang="zh-CN" sz="1350" b="1">
                <a:solidFill>
                  <a:srgbClr val="0E2340"/>
                </a:solidFill>
                <a:latin typeface="Microsoft YaHei"/>
                <a:ea typeface="Microsoft YaHei"/>
              </a:rPr>
              <a:t>设计目标：说清楚“哪一步、哪段作答、什么问题”，而不是给出一个笼统的对错判断</a:t>
            </a:r>
            <a:endParaRPr/>
          </a:p>
        </p:txBody>
      </p:sp>
      <p:sp>
        <p:nvSpPr>
          <p:cNvPr id="1134"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135" name="" descr="{&quot;isTemplate&quot;:true,&quot;type&quot;:&quot;text&quot;}"/>
          <p:cNvSpPr txBox="1"/>
          <p:nvPr/>
        </p:nvSpPr>
        <p:spPr>
          <a:xfrm rot="0" flipH="0" flipV="0">
            <a:off x="666750" y="6381750"/>
            <a:ext cx="1847850" cy="209550"/>
          </a:xfrm>
          <a:prstGeom prst="rect"/>
        </p:spPr>
        <p:txBody>
          <a:bodyPr wrap="none" lIns="0" tIns="0" rIns="0" bIns="0"/>
          <a:p>
            <a:pPr>
              <a:lnSpc>
                <a:spcPct val="140000"/>
              </a:lnSpc>
            </a:pPr>
            <a:r>
              <a:rPr lang="zh-CN" sz="975">
                <a:solidFill>
                  <a:srgbClr val="7A8699"/>
                </a:solidFill>
                <a:latin typeface="Microsoft YaHei"/>
                <a:ea typeface="Microsoft YaHei"/>
              </a:rPr>
              <a:t>依据：单题功能设计思路</a:t>
            </a:r>
            <a:r>
              <a:rPr lang="en-US" sz="975">
                <a:solidFill>
                  <a:srgbClr val="7A8699"/>
                </a:solidFill>
                <a:latin typeface="Microsoft YaHei"/>
                <a:ea typeface="Microsoft YaHei"/>
              </a:rPr>
              <a:t>.md §3.1</a:t>
            </a:r>
            <a:endParaRPr/>
          </a:p>
        </p:txBody>
      </p:sp>
      <p:sp>
        <p:nvSpPr>
          <p:cNvPr id="1136"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25 / 124 </a:t>
            </a:r>
            <a:endParaRPr/>
          </a:p>
        </p:txBody>
      </p:sp>
    </p:spTree>
  </p:cSld>
</p:sld>
</file>

<file path=ppt/slides/slide26.xml><?xml version="1.0" encoding="utf-8"?>
<p:sld xmlns:p="http://schemas.openxmlformats.org/presentationml/2006/main" xmlns:a="http://schemas.openxmlformats.org/drawingml/2006/main">
  <p:cSld>
    <p:spTree>
      <p:nvGrpSpPr>
        <p:cNvPr id="1137"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3 / 单题引擎&lt;/Text&gt;&lt;Text style={{ fontSize: 32, color: '#0E2340', fontWeight: 700, lineHeight: 1.3 }}&gt;“避免 AI 去猜”四条判断纪律&lt;/Text&gt;&lt;/Box&gt;&lt;Box style={{ flexDirection: 'row', alignItems: 'center', padding: '7px 16px', borderRadius: 20, background: '#1E9E62' }}&gt;&lt;Text style={{ fontSize: 14, color: '#FFFFFF', fontWeight: 600 }}&gt;已实现&lt;/Text&gt;&lt;/Box&gt;&lt;/Box&gt;&lt;Box style={{ height: 532, paddingTop: 8, flexDirection: 'column' }}&gt;&lt;Box style={{ flexDirection: 'column', flex: 1 }}&gt;&lt;Box style={{ marginBottom: 16 }}&gt;&lt;Box style={{ flexDirection: 'row', alignItems: 'center', background: '#F5F7FA', borderLeft: '4px solid #0E2340', borderRadius: 6, padding: '14px 20px' }}&gt;&lt;Text style={{ fontSize: 20, color: '#0E2340', fontWeight: 600, lineHeight: 1.5 }}&gt;“精准定位、避免猜测”是通过步骤和作答证据追求的设计目标，是否实际降低误诊率仍需与教师标注及对照系统比较&lt;/Text&gt;&lt;/Box&gt;&lt;/Box&gt;&lt;Box style={{ flexDirection: 'row', gap: 20, flex: 1 }}&gt;&lt;Box style={{ width: 270,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一 · 不一致可指出&lt;/Text&gt;&lt;Text style={{ fontSize: 17, color: '#333A45', fontWeight: 400, lineHeight: 1.6 }}&gt;学生写出错误等式时，可以指出该等式与前一步不一致——这是有证据的观察。&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二 · 缺失≠不会&lt;/Text&gt;&lt;Text style={{ fontSize: 17, color: '#333A45', fontWeight: 400, lineHeight: 1.6 }}&gt;学生没写某一步，只能首先认定该步骤缺失；不能直接认定其不会相关知识。&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三 · 另解独立判断&lt;/Text&gt;&lt;Text style={{ fontSize: 17, color: '#333A45', fontWeight: 400, lineHeight: 1.6 }}&gt;学生使用另一种正确解法，应独立判断其数学正确性，不能因不符合参考路径就判错。&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四 · 证据不足保留&lt;/Text&gt;&lt;Text style={{ fontSize: 17, color: '#333A45', fontWeight: 400, lineHeight: 1.6 }}&gt;证据不足时应保留判断，并通过追问或补充练习核实，而不是输出一个未经证实的错因。&lt;/Text&gt;&lt;/Box&gt;&lt;/Box&gt;&lt;/Box&gt;&lt;/Box&gt;&lt;/Box&gt;&lt;Box style={{ height: 40, flexDirection: 'row', justifyContent: 'space-between', alignItems: 'center', borderTop: '1px solid #E3E8EF', marginTop: 8 }}&gt;&lt;Text style={{ fontSize: 13, color: '#7A8699', fontWeight: 400, lineHeight: 1.4 }}&gt;依据：单题功能设计思路.md §3.2&lt;/Text&gt;&lt;Text style={{ fontSize: 14, color: '#7A8699', fontWeight: 400, lineHeight: 1.4 }}&gt; 26 / 124 &lt;/Text&gt;&lt;/Box&gt;&lt;/Slide&gt;"/>
        <p:cNvGrpSpPr/>
        <p:nvPr/>
      </p:nvGrpSpPr>
      <p:grpSpPr>
        <a:xfrm>
          <a:off x="0" y="0"/>
          <a:ext cx="0" cy="0"/>
          <a:chOff x="0" y="0"/>
          <a:chExt cx="0" cy="0"/>
        </a:xfrm>
      </p:grpSpPr>
      <p:sp>
        <p:nvSpPr>
          <p:cNvPr id="1138" name=""/>
          <p:cNvSpPr/>
          <p:nvPr/>
        </p:nvSpPr>
        <p:spPr>
          <a:xfrm rot="0" flipH="0" flipV="0">
            <a:off x="0" y="0"/>
            <a:ext cx="12192000" cy="6858000"/>
          </a:xfrm>
          <a:prstGeom prst="rect">
            <a:avLst/>
          </a:prstGeom>
          <a:solidFill>
            <a:srgbClr val="FFFFFF"/>
          </a:solidFill>
          <a:ln/>
        </p:spPr>
        <p:txBody>
          <a:bodyPr/>
          <a:p/>
        </p:txBody>
      </p:sp>
      <p:sp>
        <p:nvSpPr>
          <p:cNvPr id="1139" name="" descr="{&quot;isTemplate&quot;:true,&quot;type&quot;:&quot;text&quot;}"/>
          <p:cNvSpPr txBox="1"/>
          <p:nvPr/>
        </p:nvSpPr>
        <p:spPr>
          <a:xfrm rot="0" flipH="0" flipV="0">
            <a:off x="666750" y="381000"/>
            <a:ext cx="382905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03 / </a:t>
            </a:r>
            <a:r>
              <a:rPr lang="zh-CN" sz="1050" spc="75">
                <a:solidFill>
                  <a:srgbClr val="7A8699"/>
                </a:solidFill>
                <a:latin typeface="Microsoft YaHei"/>
                <a:ea typeface="Microsoft YaHei"/>
              </a:rPr>
              <a:t>单题引擎</a:t>
            </a:r>
            <a:endParaRPr/>
          </a:p>
        </p:txBody>
      </p:sp>
      <p:sp>
        <p:nvSpPr>
          <p:cNvPr id="1140" name="" descr="{&quot;isTemplate&quot;:true,&quot;type&quot;:&quot;text&quot;}"/>
          <p:cNvSpPr txBox="1"/>
          <p:nvPr/>
        </p:nvSpPr>
        <p:spPr>
          <a:xfrm rot="0" flipH="0" flipV="0">
            <a:off x="666750" y="666750"/>
            <a:ext cx="3829050" cy="476250"/>
          </a:xfrm>
          <a:prstGeom prst="rect"/>
        </p:spPr>
        <p:txBody>
          <a:bodyPr wrap="none" lIns="0" tIns="0" rIns="0" bIns="0"/>
          <a:p>
            <a:pPr>
              <a:lnSpc>
                <a:spcPct val="130000"/>
              </a:lnSpc>
            </a:pPr>
            <a:r>
              <a:rPr lang="zh-CN" sz="2400" b="1">
                <a:solidFill>
                  <a:srgbClr val="0E2340"/>
                </a:solidFill>
                <a:latin typeface="Microsoft YaHei"/>
                <a:ea typeface="Microsoft YaHei"/>
              </a:rPr>
              <a:t>“避免</a:t>
            </a:r>
            <a:r>
              <a:rPr lang="en-US" sz="2400" b="1">
                <a:solidFill>
                  <a:srgbClr val="0E2340"/>
                </a:solidFill>
                <a:latin typeface="Microsoft YaHei"/>
                <a:ea typeface="Microsoft YaHei"/>
              </a:rPr>
              <a:t xml:space="preserve"> AI </a:t>
            </a:r>
            <a:r>
              <a:rPr lang="zh-CN" sz="2400" b="1">
                <a:solidFill>
                  <a:srgbClr val="0E2340"/>
                </a:solidFill>
                <a:latin typeface="Microsoft YaHei"/>
                <a:ea typeface="Microsoft YaHei"/>
              </a:rPr>
              <a:t>去猜”四条判断纪律</a:t>
            </a:r>
            <a:endParaRPr/>
          </a:p>
        </p:txBody>
      </p:sp>
      <p:sp>
        <p:nvSpPr>
          <p:cNvPr id="1141" name=""/>
          <p:cNvSpPr/>
          <p:nvPr/>
        </p:nvSpPr>
        <p:spPr>
          <a:xfrm rot="0" flipH="0" flipV="0">
            <a:off x="10820400" y="847725"/>
            <a:ext cx="704850" cy="295275"/>
          </a:xfrm>
          <a:prstGeom prst="roundRect">
            <a:avLst>
              <a:gd name="adj" fmla="val 64516"/>
            </a:avLst>
          </a:prstGeom>
          <a:solidFill>
            <a:srgbClr val="1E9E62"/>
          </a:solidFill>
          <a:ln/>
        </p:spPr>
        <p:txBody>
          <a:bodyPr/>
          <a:p/>
        </p:txBody>
      </p:sp>
      <p:sp>
        <p:nvSpPr>
          <p:cNvPr id="1142"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已实现</a:t>
            </a:r>
            <a:endParaRPr/>
          </a:p>
        </p:txBody>
      </p:sp>
      <p:sp>
        <p:nvSpPr>
          <p:cNvPr id="1143" name=""/>
          <p:cNvSpPr/>
          <p:nvPr/>
        </p:nvSpPr>
        <p:spPr>
          <a:xfrm rot="0" flipH="0" flipV="0">
            <a:off x="704850" y="1219200"/>
            <a:ext cx="10858500" cy="609600"/>
          </a:xfrm>
          <a:prstGeom prst="roundRect">
            <a:avLst>
              <a:gd name="adj" fmla="val 9375"/>
            </a:avLst>
          </a:prstGeom>
          <a:solidFill>
            <a:srgbClr val="F5F7FA"/>
          </a:solidFill>
          <a:ln/>
        </p:spPr>
        <p:txBody>
          <a:bodyPr/>
          <a:p/>
        </p:txBody>
      </p:sp>
      <p:sp>
        <p:nvSpPr>
          <p:cNvPr id="1144" name=""/>
          <p:cNvSpPr/>
          <p:nvPr/>
        </p:nvSpPr>
        <p:spPr>
          <a:xfrm rot="0" flipH="0" flipV="0">
            <a:off x="704850" y="12192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1145" name="" descr="{&quot;isTemplate&quot;:true,&quot;type&quot;:&quot;text&quot;}"/>
          <p:cNvSpPr txBox="1"/>
          <p:nvPr/>
        </p:nvSpPr>
        <p:spPr>
          <a:xfrm rot="0" flipH="0" flipV="0">
            <a:off x="895350" y="1352550"/>
            <a:ext cx="9715500" cy="342900"/>
          </a:xfrm>
          <a:prstGeom prst="rect"/>
        </p:spPr>
        <p:txBody>
          <a:bodyPr wrap="none" lIns="0" tIns="0" rIns="0" bIns="0"/>
          <a:p>
            <a:pPr>
              <a:lnSpc>
                <a:spcPct val="150000"/>
              </a:lnSpc>
            </a:pPr>
            <a:r>
              <a:rPr lang="zh-CN" sz="1500" b="1">
                <a:solidFill>
                  <a:srgbClr val="0E2340"/>
                </a:solidFill>
                <a:latin typeface="Microsoft YaHei"/>
                <a:ea typeface="Microsoft YaHei"/>
              </a:rPr>
              <a:t>“精准定位、避免猜测”是通过步骤和作答证据追求的设计目标，是否实际降低误诊率仍需与教师标注及对照系统比较</a:t>
            </a:r>
            <a:endParaRPr/>
          </a:p>
        </p:txBody>
      </p:sp>
      <p:sp>
        <p:nvSpPr>
          <p:cNvPr id="1146" name=""/>
          <p:cNvSpPr/>
          <p:nvPr/>
        </p:nvSpPr>
        <p:spPr>
          <a:xfrm rot="0" flipH="0" flipV="0">
            <a:off x="666750" y="1981200"/>
            <a:ext cx="2571750" cy="4229100"/>
          </a:xfrm>
          <a:prstGeom prst="roundRect">
            <a:avLst>
              <a:gd name="adj" fmla="val 2963"/>
            </a:avLst>
          </a:prstGeom>
          <a:solidFill>
            <a:srgbClr val="FFFFFF"/>
          </a:solidFill>
          <a:ln w="12700">
            <a:solidFill>
              <a:srgbClr val="E3E8EF"/>
            </a:solidFill>
            <a:prstDash val="solid"/>
          </a:ln>
        </p:spPr>
        <p:txBody>
          <a:bodyPr/>
          <a:p/>
        </p:txBody>
      </p:sp>
      <p:sp>
        <p:nvSpPr>
          <p:cNvPr id="1147" name=""/>
          <p:cNvSpPr/>
          <p:nvPr/>
        </p:nvSpPr>
        <p:spPr>
          <a:xfrm rot="0" flipH="0" flipV="0">
            <a:off x="666750" y="1981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148" name="" descr="{&quot;isTemplate&quot;:true,&quot;type&quot;:&quot;text&quot;}"/>
          <p:cNvSpPr txBox="1"/>
          <p:nvPr/>
        </p:nvSpPr>
        <p:spPr>
          <a:xfrm rot="0" flipH="0" flipV="0">
            <a:off x="857250" y="2209800"/>
            <a:ext cx="2190750" cy="390525"/>
          </a:xfrm>
          <a:prstGeom prst="rect"/>
        </p:spPr>
        <p:txBody>
          <a:bodyPr wrap="none" lIns="0" tIns="0" rIns="0" bIns="0"/>
          <a:p>
            <a:pPr>
              <a:lnSpc>
                <a:spcPct val="140000"/>
              </a:lnSpc>
            </a:pPr>
            <a:r>
              <a:rPr lang="zh-CN" sz="1800" b="1">
                <a:solidFill>
                  <a:srgbClr val="0E2340"/>
                </a:solidFill>
                <a:latin typeface="Microsoft YaHei"/>
                <a:ea typeface="Microsoft YaHei"/>
              </a:rPr>
              <a:t>一</a:t>
            </a:r>
            <a:r>
              <a:rPr lang="en-US" sz="1800" b="1">
                <a:solidFill>
                  <a:srgbClr val="0E2340"/>
                </a:solidFill>
                <a:latin typeface="Microsoft YaHei"/>
                <a:ea typeface="Microsoft YaHei"/>
              </a:rPr>
              <a:t xml:space="preserve"> · </a:t>
            </a:r>
            <a:r>
              <a:rPr lang="zh-CN" sz="1800" b="1">
                <a:solidFill>
                  <a:srgbClr val="0E2340"/>
                </a:solidFill>
                <a:latin typeface="Microsoft YaHei"/>
                <a:ea typeface="Microsoft YaHei"/>
              </a:rPr>
              <a:t>不一致可指出</a:t>
            </a:r>
            <a:endParaRPr/>
          </a:p>
        </p:txBody>
      </p:sp>
      <p:sp>
        <p:nvSpPr>
          <p:cNvPr id="1149" name="" descr="{&quot;isTemplate&quot;:true,&quot;type&quot;:&quot;text&quot;}"/>
          <p:cNvSpPr txBox="1"/>
          <p:nvPr/>
        </p:nvSpPr>
        <p:spPr>
          <a:xfrm rot="0" flipH="0" flipV="0">
            <a:off x="857250" y="2695575"/>
            <a:ext cx="2190750" cy="9334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学生写出错误等式时，可以指出该等式与前一步不一致——这是有证据的观察。</a:t>
            </a:r>
            <a:endParaRPr/>
          </a:p>
        </p:txBody>
      </p:sp>
      <p:sp>
        <p:nvSpPr>
          <p:cNvPr id="1150" name=""/>
          <p:cNvSpPr/>
          <p:nvPr/>
        </p:nvSpPr>
        <p:spPr>
          <a:xfrm rot="0" flipH="0" flipV="0">
            <a:off x="3429000" y="1981200"/>
            <a:ext cx="2571750" cy="4229100"/>
          </a:xfrm>
          <a:prstGeom prst="roundRect">
            <a:avLst>
              <a:gd name="adj" fmla="val 2963"/>
            </a:avLst>
          </a:prstGeom>
          <a:solidFill>
            <a:srgbClr val="FFFFFF"/>
          </a:solidFill>
          <a:ln w="12700">
            <a:solidFill>
              <a:srgbClr val="E3E8EF"/>
            </a:solidFill>
            <a:prstDash val="solid"/>
          </a:ln>
        </p:spPr>
        <p:txBody>
          <a:bodyPr/>
          <a:p/>
        </p:txBody>
      </p:sp>
      <p:sp>
        <p:nvSpPr>
          <p:cNvPr id="1151" name=""/>
          <p:cNvSpPr/>
          <p:nvPr/>
        </p:nvSpPr>
        <p:spPr>
          <a:xfrm rot="0" flipH="0" flipV="0">
            <a:off x="3429000" y="1981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152" name="" descr="{&quot;isTemplate&quot;:true,&quot;type&quot;:&quot;text&quot;}"/>
          <p:cNvSpPr txBox="1"/>
          <p:nvPr/>
        </p:nvSpPr>
        <p:spPr>
          <a:xfrm rot="0" flipH="0" flipV="0">
            <a:off x="3619500" y="2209800"/>
            <a:ext cx="2190750" cy="390525"/>
          </a:xfrm>
          <a:prstGeom prst="rect"/>
        </p:spPr>
        <p:txBody>
          <a:bodyPr wrap="none" lIns="0" tIns="0" rIns="0" bIns="0"/>
          <a:p>
            <a:pPr>
              <a:lnSpc>
                <a:spcPct val="140000"/>
              </a:lnSpc>
            </a:pPr>
            <a:r>
              <a:rPr lang="zh-CN" sz="1800" b="1">
                <a:solidFill>
                  <a:srgbClr val="0E2340"/>
                </a:solidFill>
                <a:latin typeface="Microsoft YaHei"/>
                <a:ea typeface="Microsoft YaHei"/>
              </a:rPr>
              <a:t>二</a:t>
            </a:r>
            <a:r>
              <a:rPr lang="en-US" sz="1800" b="1">
                <a:solidFill>
                  <a:srgbClr val="0E2340"/>
                </a:solidFill>
                <a:latin typeface="Microsoft YaHei"/>
                <a:ea typeface="Microsoft YaHei"/>
              </a:rPr>
              <a:t xml:space="preserve"> · </a:t>
            </a:r>
            <a:r>
              <a:rPr lang="zh-CN" sz="1800" b="1">
                <a:solidFill>
                  <a:srgbClr val="0E2340"/>
                </a:solidFill>
                <a:latin typeface="Microsoft YaHei"/>
                <a:ea typeface="Microsoft YaHei"/>
              </a:rPr>
              <a:t>缺失≠不会</a:t>
            </a:r>
            <a:endParaRPr/>
          </a:p>
        </p:txBody>
      </p:sp>
      <p:sp>
        <p:nvSpPr>
          <p:cNvPr id="1153" name="" descr="{&quot;isTemplate&quot;:true,&quot;type&quot;:&quot;text&quot;}"/>
          <p:cNvSpPr txBox="1"/>
          <p:nvPr/>
        </p:nvSpPr>
        <p:spPr>
          <a:xfrm rot="0" flipH="0" flipV="0">
            <a:off x="3619500" y="2695575"/>
            <a:ext cx="2190750" cy="9334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学生没写某一步，只能首先认定该步骤缺失；不能直接认定其不会相关知识。</a:t>
            </a:r>
            <a:endParaRPr/>
          </a:p>
        </p:txBody>
      </p:sp>
      <p:sp>
        <p:nvSpPr>
          <p:cNvPr id="1154" name=""/>
          <p:cNvSpPr/>
          <p:nvPr/>
        </p:nvSpPr>
        <p:spPr>
          <a:xfrm rot="0" flipH="0" flipV="0">
            <a:off x="6191250" y="1981200"/>
            <a:ext cx="2571750" cy="4229100"/>
          </a:xfrm>
          <a:prstGeom prst="roundRect">
            <a:avLst>
              <a:gd name="adj" fmla="val 2963"/>
            </a:avLst>
          </a:prstGeom>
          <a:solidFill>
            <a:srgbClr val="FFFFFF"/>
          </a:solidFill>
          <a:ln w="12700">
            <a:solidFill>
              <a:srgbClr val="E3E8EF"/>
            </a:solidFill>
            <a:prstDash val="solid"/>
          </a:ln>
        </p:spPr>
        <p:txBody>
          <a:bodyPr/>
          <a:p/>
        </p:txBody>
      </p:sp>
      <p:sp>
        <p:nvSpPr>
          <p:cNvPr id="1155" name=""/>
          <p:cNvSpPr/>
          <p:nvPr/>
        </p:nvSpPr>
        <p:spPr>
          <a:xfrm rot="0" flipH="0" flipV="0">
            <a:off x="6191250" y="1981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156" name="" descr="{&quot;isTemplate&quot;:true,&quot;type&quot;:&quot;text&quot;}"/>
          <p:cNvSpPr txBox="1"/>
          <p:nvPr/>
        </p:nvSpPr>
        <p:spPr>
          <a:xfrm rot="0" flipH="0" flipV="0">
            <a:off x="6381750" y="2209800"/>
            <a:ext cx="2190750" cy="390525"/>
          </a:xfrm>
          <a:prstGeom prst="rect"/>
        </p:spPr>
        <p:txBody>
          <a:bodyPr wrap="none" lIns="0" tIns="0" rIns="0" bIns="0"/>
          <a:p>
            <a:pPr>
              <a:lnSpc>
                <a:spcPct val="140000"/>
              </a:lnSpc>
            </a:pPr>
            <a:r>
              <a:rPr lang="zh-CN" sz="1800" b="1">
                <a:solidFill>
                  <a:srgbClr val="0E2340"/>
                </a:solidFill>
                <a:latin typeface="Microsoft YaHei"/>
                <a:ea typeface="Microsoft YaHei"/>
              </a:rPr>
              <a:t>三</a:t>
            </a:r>
            <a:r>
              <a:rPr lang="en-US" sz="1800" b="1">
                <a:solidFill>
                  <a:srgbClr val="0E2340"/>
                </a:solidFill>
                <a:latin typeface="Microsoft YaHei"/>
                <a:ea typeface="Microsoft YaHei"/>
              </a:rPr>
              <a:t xml:space="preserve"> · </a:t>
            </a:r>
            <a:r>
              <a:rPr lang="zh-CN" sz="1800" b="1">
                <a:solidFill>
                  <a:srgbClr val="0E2340"/>
                </a:solidFill>
                <a:latin typeface="Microsoft YaHei"/>
                <a:ea typeface="Microsoft YaHei"/>
              </a:rPr>
              <a:t>另解独立判断</a:t>
            </a:r>
            <a:endParaRPr/>
          </a:p>
        </p:txBody>
      </p:sp>
      <p:sp>
        <p:nvSpPr>
          <p:cNvPr id="1157" name="" descr="{&quot;isTemplate&quot;:true,&quot;type&quot;:&quot;text&quot;}"/>
          <p:cNvSpPr txBox="1"/>
          <p:nvPr/>
        </p:nvSpPr>
        <p:spPr>
          <a:xfrm rot="0" flipH="0" flipV="0">
            <a:off x="6381750" y="2695575"/>
            <a:ext cx="2190750" cy="9334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学生使用另一种正确解法，应独立判断其数学正确性，不能因不符合参考路径就判错。</a:t>
            </a:r>
            <a:endParaRPr/>
          </a:p>
        </p:txBody>
      </p:sp>
      <p:sp>
        <p:nvSpPr>
          <p:cNvPr id="1158" name=""/>
          <p:cNvSpPr/>
          <p:nvPr/>
        </p:nvSpPr>
        <p:spPr>
          <a:xfrm rot="0" flipH="0" flipV="0">
            <a:off x="8953500" y="1981200"/>
            <a:ext cx="2571750" cy="4229100"/>
          </a:xfrm>
          <a:prstGeom prst="roundRect">
            <a:avLst>
              <a:gd name="adj" fmla="val 2963"/>
            </a:avLst>
          </a:prstGeom>
          <a:solidFill>
            <a:srgbClr val="FFFFFF"/>
          </a:solidFill>
          <a:ln w="12700">
            <a:solidFill>
              <a:srgbClr val="E3E8EF"/>
            </a:solidFill>
            <a:prstDash val="solid"/>
          </a:ln>
        </p:spPr>
        <p:txBody>
          <a:bodyPr/>
          <a:p/>
        </p:txBody>
      </p:sp>
      <p:sp>
        <p:nvSpPr>
          <p:cNvPr id="1159" name=""/>
          <p:cNvSpPr/>
          <p:nvPr/>
        </p:nvSpPr>
        <p:spPr>
          <a:xfrm rot="0" flipH="0" flipV="0">
            <a:off x="8953500" y="1981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160" name="" descr="{&quot;isTemplate&quot;:true,&quot;type&quot;:&quot;text&quot;}"/>
          <p:cNvSpPr txBox="1"/>
          <p:nvPr/>
        </p:nvSpPr>
        <p:spPr>
          <a:xfrm rot="0" flipH="0" flipV="0">
            <a:off x="9144000" y="2209800"/>
            <a:ext cx="2190750" cy="390525"/>
          </a:xfrm>
          <a:prstGeom prst="rect"/>
        </p:spPr>
        <p:txBody>
          <a:bodyPr wrap="none" lIns="0" tIns="0" rIns="0" bIns="0"/>
          <a:p>
            <a:pPr>
              <a:lnSpc>
                <a:spcPct val="140000"/>
              </a:lnSpc>
            </a:pPr>
            <a:r>
              <a:rPr lang="zh-CN" sz="1800" b="1">
                <a:solidFill>
                  <a:srgbClr val="0E2340"/>
                </a:solidFill>
                <a:latin typeface="Microsoft YaHei"/>
                <a:ea typeface="Microsoft YaHei"/>
              </a:rPr>
              <a:t>四</a:t>
            </a:r>
            <a:r>
              <a:rPr lang="en-US" sz="1800" b="1">
                <a:solidFill>
                  <a:srgbClr val="0E2340"/>
                </a:solidFill>
                <a:latin typeface="Microsoft YaHei"/>
                <a:ea typeface="Microsoft YaHei"/>
              </a:rPr>
              <a:t xml:space="preserve"> · </a:t>
            </a:r>
            <a:r>
              <a:rPr lang="zh-CN" sz="1800" b="1">
                <a:solidFill>
                  <a:srgbClr val="0E2340"/>
                </a:solidFill>
                <a:latin typeface="Microsoft YaHei"/>
                <a:ea typeface="Microsoft YaHei"/>
              </a:rPr>
              <a:t>证据不足保留</a:t>
            </a:r>
            <a:endParaRPr/>
          </a:p>
        </p:txBody>
      </p:sp>
      <p:sp>
        <p:nvSpPr>
          <p:cNvPr id="1161" name="" descr="{&quot;isTemplate&quot;:true,&quot;type&quot;:&quot;text&quot;}"/>
          <p:cNvSpPr txBox="1"/>
          <p:nvPr/>
        </p:nvSpPr>
        <p:spPr>
          <a:xfrm rot="0" flipH="0" flipV="0">
            <a:off x="9144000" y="2695575"/>
            <a:ext cx="2190750" cy="9334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证据不足时应保留判断，并通过追问或补充练习核实，而不是输出一个未经证实的错因。</a:t>
            </a:r>
            <a:endParaRPr/>
          </a:p>
        </p:txBody>
      </p:sp>
      <p:sp>
        <p:nvSpPr>
          <p:cNvPr id="1162"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163" name="" descr="{&quot;isTemplate&quot;:true,&quot;type&quot;:&quot;text&quot;}"/>
          <p:cNvSpPr txBox="1"/>
          <p:nvPr/>
        </p:nvSpPr>
        <p:spPr>
          <a:xfrm rot="0" flipH="0" flipV="0">
            <a:off x="666750" y="6381750"/>
            <a:ext cx="1847850" cy="209550"/>
          </a:xfrm>
          <a:prstGeom prst="rect"/>
        </p:spPr>
        <p:txBody>
          <a:bodyPr wrap="none" lIns="0" tIns="0" rIns="0" bIns="0"/>
          <a:p>
            <a:pPr>
              <a:lnSpc>
                <a:spcPct val="140000"/>
              </a:lnSpc>
            </a:pPr>
            <a:r>
              <a:rPr lang="zh-CN" sz="975">
                <a:solidFill>
                  <a:srgbClr val="7A8699"/>
                </a:solidFill>
                <a:latin typeface="Microsoft YaHei"/>
                <a:ea typeface="Microsoft YaHei"/>
              </a:rPr>
              <a:t>依据：单题功能设计思路</a:t>
            </a:r>
            <a:r>
              <a:rPr lang="en-US" sz="975">
                <a:solidFill>
                  <a:srgbClr val="7A8699"/>
                </a:solidFill>
                <a:latin typeface="Microsoft YaHei"/>
                <a:ea typeface="Microsoft YaHei"/>
              </a:rPr>
              <a:t>.md §3.2</a:t>
            </a:r>
            <a:endParaRPr/>
          </a:p>
        </p:txBody>
      </p:sp>
      <p:sp>
        <p:nvSpPr>
          <p:cNvPr id="1164"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26 / 124 </a:t>
            </a:r>
            <a:endParaRPr/>
          </a:p>
        </p:txBody>
      </p:sp>
    </p:spTree>
  </p:cSld>
</p:sld>
</file>

<file path=ppt/slides/slide27.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165"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3 / 单题引擎&lt;/Text&gt;&lt;Text style={{ fontSize: 32, color: '#0E2340', fontWeight: 700, lineHeight: 1.3 }}&gt;手写笔迹时间戳：从最终卷面看到作答过程&lt;/Text&gt;&lt;/Box&gt;&lt;Box style={{ flexDirection: 'row', alignItems: 'center', padding: '7px 16px', borderRadius: 20, background: '#98A2B3' }}&gt;&lt;Text style={{ fontSize: 14, color: '#FFFFFF', fontWeight: 600 }}&gt;待研究&lt;/Text&gt;&lt;/Box&gt;&lt;/Box&gt;&lt;Box style={{ height: 532, paddingTop: 8, flexDirection: 'column' }}&gt;&lt;Box style={{ flexDirection: 'row', gap: 28, flex: 1 }}&gt;&lt;Box style={{ width: 620, justifyContent: 'center' }}&gt;&lt;svg width={620} height={400} viewBox='0 0 620 400'&gt;&lt;rect x='0' y='0' width='620' height='400' rx='8' fill='#FFFFFF' stroke='#E3E8EF' stroke-width='1.5'/&gt;&lt;rect x='0' y='0' width='620' height='40' rx='8' fill='#0E2340'/&gt;&lt;rect x='0' y='26' width='620' height='14' fill='#0E2340'/&gt;&lt;text x='16' y='26' font-size='15' fill='#FFFFFF' text-anchor='start' font-weight='600'&gt;StudyAgent&lt;/text&gt;&lt;rect x='18' y='58' width='584' height='26' rx='4' fill='#F5F7FA'/&gt;&lt;text x='30' y='76' font-size='14' fill='#0E2340' text-anchor='start' font-weight='600'&gt;笔迹回放 · 题目：解析几何大题&lt;/text&gt;&lt;rect x='18' y='92' width='584' height='150' rx='6' fill='#F5F7FA' stroke='#7A8699' stroke-width='1' stroke-dasharray='5 4'/&gt;&lt;text x='310.0' y='114' font-size='15' fill='#7A8699' text-anchor='middle' font-weight='600'&gt;手写作答画布（回放中）&lt;/text&gt;&lt;rect x='40' y='136' width='528' height='9' rx='4' fill='#DFE6EF'/&gt;&lt;rect x='542' y='136' width='46' height='9' rx='4' fill='#CBD8E8'/&gt;&lt;rect x='40' y='166' width='458' height='9' rx='4' fill='#E9EFF6'/&gt;&lt;rect x='542' y='166' width='46' height='9' rx='4' fill='#CBD8E8'/&gt;&lt;rect x='40' y='196' width='388' height='9' rx='4' fill='#DFE6EF'/&gt;&lt;rect x='542' y='196' width='46' height='9' rx='4' fill='#CBD8E8'/&gt;&lt;rect x='18' y='254' width='584' height='26' rx='4' fill='#F5F7FA'/&gt;&lt;text x='30' y='272' font-size='14' fill='#0E2340' text-anchor='start' font-weight='600'&gt;时间轴：00:00 ──●─────●────────── 04:32&lt;/text&gt;&lt;rect x='18' y='288' width='584' height='28' rx='14' fill='#EAF3FD'/&gt;&lt;text x='30' y='307' font-size='14' fill='#1E7BE0' text-anchor='start' font-weight='600'&gt;事件：00:42 划去重写 · 01:58 返回前一步 · 03:10 查看答案&lt;/text&gt;&lt;rect x='18' y='324' width='584' height='34' rx='17' fill='#1E7BE0'/&gt;&lt;text x='310.0' y='347' font-size='15' fill='#FFFFFF' text-anchor='middle' font-weight='600'&gt;播放 / 拖动定位 / 跳到批改结论&lt;/text&gt;&lt;text x='608' y='390' font-size='12' fill='#7A8699' text-anchor='end' font-weight='400'&gt;示意占位 · S03&lt;/text&gt;&lt;/svg&gt;&lt;/Box&gt;&lt;Box style={{ flex: 1, flexDirection: 'column', gap: 10, justifyContent: 'center' }}&gt;&lt;Text style={{ fontSize: 21, color: '#0E2340', fontWeight: 700, lineHeight: 1.4 }}&gt;界面要点&lt;/Text&gt;&lt;Box style={{ flexDirection: 'column', gap: 9 }}&gt;&lt;Box style={{ flexDirection: 'row', gap: 12, alignItems: 'flex-start' }}&gt;&lt;Box style={{ width: 8, height: 8, borderRadius: 4, background: '#1E7BE0', marginTop: 9 }} /&gt;&lt;Box style={{ flex: 1 }}&gt;&lt;Text style={{ fontSize: 16, color: '#333A45', fontWeight: 400, lineHeight: 1.6 }}&gt;面向无纸化场景，通过平板和手写笔记录作答，将每一笔及修改操作与发生时间关联。&lt;/Text&gt;&lt;/Box&gt;&lt;/Box&gt;&lt;Box style={{ flexDirection: 'row', gap: 12, alignItems: 'flex-start' }}&gt;&lt;Box style={{ width: 8, height: 8, borderRadius: 4, background: '#1E7BE0', marginTop: 9 }} /&gt;&lt;Box style={{ flex: 1 }}&gt;&lt;Text style={{ fontSize: 16, color: '#333A45', fontWeight: 400, lineHeight: 1.6 }}&gt;除最终卷面外还能查看：按什么顺序书写、在哪里停顿、何时回到前一步修改、错误是否被学生自行纠正。&lt;/Text&gt;&lt;/Box&gt;&lt;/Box&gt;&lt;Box style={{ flexDirection: 'row', gap: 12, alignItems: 'flex-start' }}&gt;&lt;Box style={{ width: 8, height: 8, borderRadius: 4, background: '#1E7BE0', marginTop: 9 }} /&gt;&lt;Box style={{ flex: 1 }}&gt;&lt;Text style={{ fontSize: 16, color: '#333A45', fontWeight: 400, lineHeight: 1.6 }}&gt;关键价值：最终答案正确时，时间线仍可能显示学生先列错式随后划去重写。&lt;/Text&gt;&lt;/Box&gt;&lt;/Box&gt;&lt;Box style={{ flexDirection: 'row', gap: 12, alignItems: 'flex-start' }}&gt;&lt;Box style={{ width: 8, height: 8, borderRadius: 4, background: '#1E7BE0', marginTop: 9 }} /&gt;&lt;Box style={{ flex: 1 }}&gt;&lt;Text style={{ fontSize: 16, color: '#333A45', fontWeight: 400, lineHeight: 1.6 }}&gt;时间口径：以同一作答会话的连续相对时间为主，不能只使用上传或保存时间替代真实书写时间。&lt;/Text&gt;&lt;/Box&gt;&lt;/Box&gt;&lt;Box style={{ flexDirection: 'row', gap: 12, alignItems: 'flex-start' }}&gt;&lt;Box style={{ width: 8, height: 8, borderRadius: 4, background: '#1E7BE0', marginTop: 9 }} /&gt;&lt;Box style={{ flex: 1 }}&gt;&lt;Text style={{ fontSize: 16, color: '#333A45', fontWeight: 400, lineHeight: 1.6 }}&gt;压力、倾角可按设备能力附加，首期不作为必需输入。&lt;/Text&gt;&lt;/Box&gt;&lt;/Box&gt;&lt;/Box&gt;&lt;Box style={{ marginTop: 6, padding: '9px 14px', background: '#F5F7FA', borderRadius: 6, alignSelf: 'flex-start' }}&gt;&lt;Text style={{ fontSize: 14, color: '#7A8699', fontWeight: 600, lineHeight: 1.4 }}&gt;示意占位 S03 · 待替换为实际截图&lt;/Text&gt;&lt;/Box&gt;&lt;/Box&gt;&lt;/Box&gt;&lt;/Box&gt;&lt;Box style={{ height: 40, flexDirection: 'row', justifyContent: 'space-between', alignItems: 'center', borderTop: '1px solid #E3E8EF', marginTop: 8 }}&gt;&lt;Text style={{ fontSize: 13, color: '#7A8699', fontWeight: 400, lineHeight: 1.4 }}&gt;依据：单题功能设计思路.md §3.3&lt;/Text&gt;&lt;Text style={{ fontSize: 14, color: '#7A8699', fontWeight: 400, lineHeight: 1.4 }}&gt; 27 / 124 &lt;/Text&gt;&lt;/Box&gt;&lt;/Slide&gt;"/>
        <p:cNvGrpSpPr/>
        <p:nvPr/>
      </p:nvGrpSpPr>
      <p:grpSpPr>
        <a:xfrm>
          <a:off x="0" y="0"/>
          <a:ext cx="0" cy="0"/>
          <a:chOff x="0" y="0"/>
          <a:chExt cx="0" cy="0"/>
        </a:xfrm>
      </p:grpSpPr>
      <p:sp>
        <p:nvSpPr>
          <p:cNvPr id="1166" name=""/>
          <p:cNvSpPr/>
          <p:nvPr/>
        </p:nvSpPr>
        <p:spPr>
          <a:xfrm rot="0" flipH="0" flipV="0">
            <a:off x="0" y="0"/>
            <a:ext cx="12192000" cy="6858000"/>
          </a:xfrm>
          <a:prstGeom prst="rect">
            <a:avLst/>
          </a:prstGeom>
          <a:solidFill>
            <a:srgbClr val="FFFFFF"/>
          </a:solidFill>
          <a:ln/>
        </p:spPr>
        <p:txBody>
          <a:bodyPr/>
          <a:p/>
        </p:txBody>
      </p:sp>
      <p:sp>
        <p:nvSpPr>
          <p:cNvPr id="1167" name="" descr="{&quot;isTemplate&quot;:true,&quot;type&quot;:&quot;text&quot;}"/>
          <p:cNvSpPr txBox="1"/>
          <p:nvPr/>
        </p:nvSpPr>
        <p:spPr>
          <a:xfrm rot="0" flipH="0" flipV="0">
            <a:off x="666750" y="381000"/>
            <a:ext cx="57912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03 / </a:t>
            </a:r>
            <a:r>
              <a:rPr lang="zh-CN" sz="1050" spc="75">
                <a:solidFill>
                  <a:srgbClr val="7A8699"/>
                </a:solidFill>
                <a:latin typeface="Microsoft YaHei"/>
                <a:ea typeface="Microsoft YaHei"/>
              </a:rPr>
              <a:t>单题引擎</a:t>
            </a:r>
            <a:endParaRPr/>
          </a:p>
        </p:txBody>
      </p:sp>
      <p:sp>
        <p:nvSpPr>
          <p:cNvPr id="1168" name="" descr="{&quot;isTemplate&quot;:true,&quot;type&quot;:&quot;text&quot;}"/>
          <p:cNvSpPr txBox="1"/>
          <p:nvPr/>
        </p:nvSpPr>
        <p:spPr>
          <a:xfrm rot="0" flipH="0" flipV="0">
            <a:off x="666750" y="666750"/>
            <a:ext cx="5791200" cy="476250"/>
          </a:xfrm>
          <a:prstGeom prst="rect"/>
        </p:spPr>
        <p:txBody>
          <a:bodyPr wrap="none" lIns="0" tIns="0" rIns="0" bIns="0"/>
          <a:p>
            <a:pPr>
              <a:lnSpc>
                <a:spcPct val="130000"/>
              </a:lnSpc>
            </a:pPr>
            <a:r>
              <a:rPr lang="zh-CN" sz="2400" b="1">
                <a:solidFill>
                  <a:srgbClr val="0E2340"/>
                </a:solidFill>
                <a:latin typeface="Microsoft YaHei"/>
                <a:ea typeface="Microsoft YaHei"/>
              </a:rPr>
              <a:t>手写笔迹时间戳：从最终卷面看到作答过程</a:t>
            </a:r>
            <a:endParaRPr/>
          </a:p>
        </p:txBody>
      </p:sp>
      <p:sp>
        <p:nvSpPr>
          <p:cNvPr id="1169" name=""/>
          <p:cNvSpPr/>
          <p:nvPr/>
        </p:nvSpPr>
        <p:spPr>
          <a:xfrm rot="0" flipH="0" flipV="0">
            <a:off x="10820400" y="847725"/>
            <a:ext cx="704850" cy="295275"/>
          </a:xfrm>
          <a:prstGeom prst="roundRect">
            <a:avLst>
              <a:gd name="adj" fmla="val 64516"/>
            </a:avLst>
          </a:prstGeom>
          <a:solidFill>
            <a:srgbClr val="98A2B3"/>
          </a:solidFill>
          <a:ln/>
        </p:spPr>
        <p:txBody>
          <a:bodyPr/>
          <a:p/>
        </p:txBody>
      </p:sp>
      <p:sp>
        <p:nvSpPr>
          <p:cNvPr id="1170"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待研究</a:t>
            </a:r>
            <a:endParaRPr/>
          </a:p>
        </p:txBody>
      </p:sp>
      <p:pic>
        <p:nvPicPr>
          <p:cNvPr id="1171" name=""/>
          <p:cNvPicPr>
            <a:picLocks noChangeAspect="1"/>
          </p:cNvPicPr>
          <p:nvPr/>
        </p:nvPicPr>
        <p:blipFill>
          <a:blip>
            <a:extLst>
              <a:ext uri="{96DAC541-7B7A-43D3-8B79-37D633B846F1}">
                <asvg:svgBlip r:embed="rId1"/>
              </a:ext>
            </a:extLst>
          </a:blip>
          <a:stretch>
            <a:fillRect/>
          </a:stretch>
        </p:blipFill>
        <p:spPr>
          <a:xfrm rot="0" flipH="0" flipV="0">
            <a:off x="666750" y="1809750"/>
            <a:ext cx="5905500" cy="3810000"/>
          </a:xfrm>
          <a:prstGeom prst="rect">
            <a:avLst/>
          </a:prstGeom>
          <a:ln/>
        </p:spPr>
      </p:pic>
      <p:sp>
        <p:nvSpPr>
          <p:cNvPr id="1172" name="" descr="{&quot;isTemplate&quot;:true,&quot;type&quot;:&quot;text&quot;}"/>
          <p:cNvSpPr txBox="1"/>
          <p:nvPr/>
        </p:nvSpPr>
        <p:spPr>
          <a:xfrm rot="0" flipH="0" flipV="0">
            <a:off x="6838950" y="1724025"/>
            <a:ext cx="4686300" cy="342900"/>
          </a:xfrm>
          <a:prstGeom prst="rect"/>
        </p:spPr>
        <p:txBody>
          <a:bodyPr wrap="none" lIns="0" tIns="0" rIns="0" bIns="0"/>
          <a:p>
            <a:pPr>
              <a:lnSpc>
                <a:spcPct val="140000"/>
              </a:lnSpc>
            </a:pPr>
            <a:r>
              <a:rPr lang="zh-CN" sz="1575" b="1">
                <a:solidFill>
                  <a:srgbClr val="0E2340"/>
                </a:solidFill>
                <a:latin typeface="Microsoft YaHei"/>
                <a:ea typeface="Microsoft YaHei"/>
              </a:rPr>
              <a:t>界面要点</a:t>
            </a:r>
            <a:endParaRPr/>
          </a:p>
        </p:txBody>
      </p:sp>
      <p:sp>
        <p:nvSpPr>
          <p:cNvPr id="1173" name=""/>
          <p:cNvSpPr/>
          <p:nvPr/>
        </p:nvSpPr>
        <p:spPr>
          <a:xfrm rot="0" flipH="0" flipV="0">
            <a:off x="6838950" y="2247900"/>
            <a:ext cx="76200" cy="76200"/>
          </a:xfrm>
          <a:prstGeom prst="roundRect">
            <a:avLst>
              <a:gd name="adj" fmla="val 50000"/>
            </a:avLst>
          </a:prstGeom>
          <a:solidFill>
            <a:srgbClr val="1E7BE0"/>
          </a:solidFill>
          <a:ln/>
        </p:spPr>
        <p:txBody>
          <a:bodyPr/>
          <a:p/>
        </p:txBody>
      </p:sp>
      <p:sp>
        <p:nvSpPr>
          <p:cNvPr id="1174" name="" descr="{&quot;isTemplate&quot;:true,&quot;type&quot;:&quot;text&quot;}"/>
          <p:cNvSpPr txBox="1"/>
          <p:nvPr/>
        </p:nvSpPr>
        <p:spPr>
          <a:xfrm rot="0" flipH="0" flipV="0">
            <a:off x="7029450" y="2162175"/>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面向无纸化场景，通过平板和手写笔记录作答，将每一笔及修改操作与发生时间关联。</a:t>
            </a:r>
            <a:endParaRPr/>
          </a:p>
        </p:txBody>
      </p:sp>
      <p:sp>
        <p:nvSpPr>
          <p:cNvPr id="1175" name=""/>
          <p:cNvSpPr/>
          <p:nvPr/>
        </p:nvSpPr>
        <p:spPr>
          <a:xfrm rot="0" flipH="0" flipV="0">
            <a:off x="6838950" y="2924175"/>
            <a:ext cx="76200" cy="76200"/>
          </a:xfrm>
          <a:prstGeom prst="roundRect">
            <a:avLst>
              <a:gd name="adj" fmla="val 50000"/>
            </a:avLst>
          </a:prstGeom>
          <a:solidFill>
            <a:srgbClr val="1E7BE0"/>
          </a:solidFill>
          <a:ln/>
        </p:spPr>
        <p:txBody>
          <a:bodyPr/>
          <a:p/>
        </p:txBody>
      </p:sp>
      <p:sp>
        <p:nvSpPr>
          <p:cNvPr id="1176" name="" descr="{&quot;isTemplate&quot;:true,&quot;type&quot;:&quot;text&quot;}"/>
          <p:cNvSpPr txBox="1"/>
          <p:nvPr/>
        </p:nvSpPr>
        <p:spPr>
          <a:xfrm rot="0" flipH="0" flipV="0">
            <a:off x="7029450" y="2838450"/>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除最终卷面外还能查看：按什么顺序书写、在哪里停顿、何时回到前一步修改、错误是否被学生自行纠正。</a:t>
            </a:r>
            <a:endParaRPr/>
          </a:p>
        </p:txBody>
      </p:sp>
      <p:sp>
        <p:nvSpPr>
          <p:cNvPr id="1177" name=""/>
          <p:cNvSpPr/>
          <p:nvPr/>
        </p:nvSpPr>
        <p:spPr>
          <a:xfrm rot="0" flipH="0" flipV="0">
            <a:off x="6838950" y="3600450"/>
            <a:ext cx="76200" cy="76200"/>
          </a:xfrm>
          <a:prstGeom prst="roundRect">
            <a:avLst>
              <a:gd name="adj" fmla="val 50000"/>
            </a:avLst>
          </a:prstGeom>
          <a:solidFill>
            <a:srgbClr val="1E7BE0"/>
          </a:solidFill>
          <a:ln/>
        </p:spPr>
        <p:txBody>
          <a:bodyPr/>
          <a:p/>
        </p:txBody>
      </p:sp>
      <p:sp>
        <p:nvSpPr>
          <p:cNvPr id="1178" name="" descr="{&quot;isTemplate&quot;:true,&quot;type&quot;:&quot;text&quot;}"/>
          <p:cNvSpPr txBox="1"/>
          <p:nvPr/>
        </p:nvSpPr>
        <p:spPr>
          <a:xfrm rot="0" flipH="0" flipV="0">
            <a:off x="7029450" y="3514725"/>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关键价值：最终答案正确时，时间线仍可能显示学生先列错式随后划去重写。</a:t>
            </a:r>
            <a:endParaRPr/>
          </a:p>
        </p:txBody>
      </p:sp>
      <p:sp>
        <p:nvSpPr>
          <p:cNvPr id="1179" name=""/>
          <p:cNvSpPr/>
          <p:nvPr/>
        </p:nvSpPr>
        <p:spPr>
          <a:xfrm rot="0" flipH="0" flipV="0">
            <a:off x="6838950" y="4276725"/>
            <a:ext cx="76200" cy="76200"/>
          </a:xfrm>
          <a:prstGeom prst="roundRect">
            <a:avLst>
              <a:gd name="adj" fmla="val 50000"/>
            </a:avLst>
          </a:prstGeom>
          <a:solidFill>
            <a:srgbClr val="1E7BE0"/>
          </a:solidFill>
          <a:ln/>
        </p:spPr>
        <p:txBody>
          <a:bodyPr/>
          <a:p/>
        </p:txBody>
      </p:sp>
      <p:sp>
        <p:nvSpPr>
          <p:cNvPr id="1180" name="" descr="{&quot;isTemplate&quot;:true,&quot;type&quot;:&quot;text&quot;}"/>
          <p:cNvSpPr txBox="1"/>
          <p:nvPr/>
        </p:nvSpPr>
        <p:spPr>
          <a:xfrm rot="0" flipH="0" flipV="0">
            <a:off x="7029450" y="4191000"/>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时间口径：以同一作答会话的连续相对时间为主，不能只使用上传或保存时间替代真实书写时间。</a:t>
            </a:r>
            <a:endParaRPr/>
          </a:p>
        </p:txBody>
      </p:sp>
      <p:sp>
        <p:nvSpPr>
          <p:cNvPr id="1181" name=""/>
          <p:cNvSpPr/>
          <p:nvPr/>
        </p:nvSpPr>
        <p:spPr>
          <a:xfrm rot="0" flipH="0" flipV="0">
            <a:off x="6838950" y="4953000"/>
            <a:ext cx="76200" cy="76200"/>
          </a:xfrm>
          <a:prstGeom prst="roundRect">
            <a:avLst>
              <a:gd name="adj" fmla="val 50000"/>
            </a:avLst>
          </a:prstGeom>
          <a:solidFill>
            <a:srgbClr val="1E7BE0"/>
          </a:solidFill>
          <a:ln/>
        </p:spPr>
        <p:txBody>
          <a:bodyPr/>
          <a:p/>
        </p:txBody>
      </p:sp>
      <p:sp>
        <p:nvSpPr>
          <p:cNvPr id="1182" name="" descr="{&quot;isTemplate&quot;:true,&quot;type&quot;:&quot;text&quot;}"/>
          <p:cNvSpPr txBox="1"/>
          <p:nvPr/>
        </p:nvSpPr>
        <p:spPr>
          <a:xfrm rot="0" flipH="0" flipV="0">
            <a:off x="7029450" y="4867275"/>
            <a:ext cx="4495800" cy="295275"/>
          </a:xfrm>
          <a:prstGeom prst="rect"/>
        </p:spPr>
        <p:txBody>
          <a:bodyPr wrap="none" lIns="0" tIns="0" rIns="0" bIns="0"/>
          <a:p>
            <a:pPr>
              <a:lnSpc>
                <a:spcPct val="160000"/>
              </a:lnSpc>
            </a:pPr>
            <a:r>
              <a:rPr lang="zh-CN" sz="1200">
                <a:solidFill>
                  <a:srgbClr val="333A45"/>
                </a:solidFill>
                <a:latin typeface="Microsoft YaHei"/>
                <a:ea typeface="Microsoft YaHei"/>
              </a:rPr>
              <a:t>压力、倾角可按设备能力附加，首期不作为必需输入。</a:t>
            </a:r>
            <a:endParaRPr/>
          </a:p>
        </p:txBody>
      </p:sp>
      <p:sp>
        <p:nvSpPr>
          <p:cNvPr id="1183" name=""/>
          <p:cNvSpPr/>
          <p:nvPr/>
        </p:nvSpPr>
        <p:spPr>
          <a:xfrm rot="0" flipH="0" flipV="0">
            <a:off x="6838950" y="5314950"/>
            <a:ext cx="2266950" cy="400050"/>
          </a:xfrm>
          <a:prstGeom prst="roundRect">
            <a:avLst>
              <a:gd name="adj" fmla="val 14286"/>
            </a:avLst>
          </a:prstGeom>
          <a:solidFill>
            <a:srgbClr val="F5F7FA"/>
          </a:solidFill>
          <a:ln/>
        </p:spPr>
        <p:txBody>
          <a:bodyPr/>
          <a:p/>
        </p:txBody>
      </p:sp>
      <p:sp>
        <p:nvSpPr>
          <p:cNvPr id="1184" name="" descr="{&quot;isTemplate&quot;:true,&quot;type&quot;:&quot;text&quot;}"/>
          <p:cNvSpPr txBox="1"/>
          <p:nvPr/>
        </p:nvSpPr>
        <p:spPr>
          <a:xfrm rot="0" flipH="0" flipV="0">
            <a:off x="6972300" y="5400675"/>
            <a:ext cx="2000250" cy="228600"/>
          </a:xfrm>
          <a:prstGeom prst="rect"/>
        </p:spPr>
        <p:txBody>
          <a:bodyPr wrap="none" lIns="0" tIns="0" rIns="0" bIns="0"/>
          <a:p>
            <a:pPr>
              <a:lnSpc>
                <a:spcPct val="140000"/>
              </a:lnSpc>
            </a:pPr>
            <a:r>
              <a:rPr lang="zh-CN" sz="1050" b="1">
                <a:solidFill>
                  <a:srgbClr val="7A8699"/>
                </a:solidFill>
                <a:latin typeface="Microsoft YaHei"/>
                <a:ea typeface="Microsoft YaHei"/>
              </a:rPr>
              <a:t>示意占位</a:t>
            </a:r>
            <a:r>
              <a:rPr lang="en-US" sz="1050" b="1">
                <a:solidFill>
                  <a:srgbClr val="7A8699"/>
                </a:solidFill>
                <a:latin typeface="Microsoft YaHei"/>
                <a:ea typeface="Microsoft YaHei"/>
              </a:rPr>
              <a:t xml:space="preserve"> S03 · </a:t>
            </a:r>
            <a:r>
              <a:rPr lang="zh-CN" sz="1050" b="1">
                <a:solidFill>
                  <a:srgbClr val="7A8699"/>
                </a:solidFill>
                <a:latin typeface="Microsoft YaHei"/>
                <a:ea typeface="Microsoft YaHei"/>
              </a:rPr>
              <a:t>待替换为实际截图</a:t>
            </a:r>
            <a:endParaRPr/>
          </a:p>
        </p:txBody>
      </p:sp>
      <p:sp>
        <p:nvSpPr>
          <p:cNvPr id="1185"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186" name="" descr="{&quot;isTemplate&quot;:true,&quot;type&quot;:&quot;text&quot;}"/>
          <p:cNvSpPr txBox="1"/>
          <p:nvPr/>
        </p:nvSpPr>
        <p:spPr>
          <a:xfrm rot="0" flipH="0" flipV="0">
            <a:off x="666750" y="6381750"/>
            <a:ext cx="1847850" cy="209550"/>
          </a:xfrm>
          <a:prstGeom prst="rect"/>
        </p:spPr>
        <p:txBody>
          <a:bodyPr wrap="none" lIns="0" tIns="0" rIns="0" bIns="0"/>
          <a:p>
            <a:pPr>
              <a:lnSpc>
                <a:spcPct val="140000"/>
              </a:lnSpc>
            </a:pPr>
            <a:r>
              <a:rPr lang="zh-CN" sz="975">
                <a:solidFill>
                  <a:srgbClr val="7A8699"/>
                </a:solidFill>
                <a:latin typeface="Microsoft YaHei"/>
                <a:ea typeface="Microsoft YaHei"/>
              </a:rPr>
              <a:t>依据：单题功能设计思路</a:t>
            </a:r>
            <a:r>
              <a:rPr lang="en-US" sz="975">
                <a:solidFill>
                  <a:srgbClr val="7A8699"/>
                </a:solidFill>
                <a:latin typeface="Microsoft YaHei"/>
                <a:ea typeface="Microsoft YaHei"/>
              </a:rPr>
              <a:t>.md §3.3</a:t>
            </a:r>
            <a:endParaRPr/>
          </a:p>
        </p:txBody>
      </p:sp>
      <p:sp>
        <p:nvSpPr>
          <p:cNvPr id="1187"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27 / 124 </a:t>
            </a:r>
            <a:endParaRPr/>
          </a:p>
        </p:txBody>
      </p:sp>
    </p:spTree>
  </p:cSld>
</p:sld>
</file>

<file path=ppt/slides/slide28.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188"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3 / 单题引擎&lt;/Text&gt;&lt;Text style={{ fontSize: 32, color: '#0E2340', fontWeight: 700, lineHeight: 1.3 }}&gt;时间如何关联步骤，以及四种时间指标&lt;/Text&gt;&lt;/Box&gt;&lt;Box style={{ flexDirection: 'row', alignItems: 'center', padding: '7px 16px', borderRadius: 20, background: '#98A2B3' }}&gt;&lt;Text style={{ fontSize: 14, color: '#FFFFFF', fontWeight: 600 }}&gt;待研究&lt;/Text&gt;&lt;/Box&gt;&lt;/Box&gt;&lt;Box style={{ height: 532, paddingTop: 8, flexDirection: 'column' }}&gt;&lt;Box style={{ flexDirection: 'row', gap: 28, flex: 1 }}&gt;&lt;Box style={{ width: 700, justifyContent: 'center' }}&gt;&lt;svg width={700} height={330} viewBox='0 0 700 330'&gt;&lt;line x1='40' y1='70' x2='660' y2='70' stroke='#E3E8EF' stroke-width='3'/&gt;&lt;text x='40' y='46' font-size='16' fill='#0E2340' text-anchor='start' font-weight='600'&gt;步骤 1：列式&lt;/text&gt;&lt;rect x='60' y='60' width='90' height='20' rx='4' fill='#1E7BE0'/&gt;&lt;rect x='300' y='60' width='70' height='20' rx='4' fill='#1E7BE0'/&gt;&lt;text x='40' y='140' font-size='16' fill='#0E2340' text-anchor='start' font-weight='600'&gt;步骤 2：化简&lt;/text&gt;&lt;rect x='190' y='130' width='120' height='20' rx='4' fill='#00A9B5'/&gt;&lt;rect x='420' y='130' width='100' height='20' rx='4' fill='#00A9B5'/&gt;&lt;text x='40' y='214' font-size='16' fill='#0E2340' text-anchor='start' font-weight='600'&gt;步骤 3：求解&lt;/text&gt;&lt;rect x='380' y='204' width='140' height='20' rx='4' fill='#0E2340'/&gt;&lt;rect x='560' y='262' width='90' height='20' rx='4' fill='#7A8699' opacity='0.45'/&gt;&lt;text x='605' y='250' font-size='13' fill='#7A8699' text-anchor='middle' font-weight='600'&gt;待确认&lt;/text&gt;&lt;text x='350' y='300' font-size='15' fill='#333A45' text-anchor='middle' font-weight='400'&gt;一步可以关联多个不连续时段；不同步骤的修改时段可能交错&lt;/text&gt;&lt;text x='350' y='324' font-size='14' fill='#E8A33D' text-anchor='middle' font-weight='600'&gt;不能简单累加时间跨度作为整题用时&lt;/text&gt;&lt;/svg&gt;&lt;/Box&gt;&lt;Box style={{ flex: 1, flexDirection: 'column', gap: 11, justifyContent: 'center' }}&gt;&lt;Text style={{ fontSize: 21, color: '#0E2340', fontWeight: 700, lineHeight: 1.4 }}&gt;对齐原则&lt;/Text&gt;&lt;Box style={{ flexDirection: 'column', gap: 10 }}&gt;&lt;Box style={{ flexDirection: 'row', gap: 12, alignItems: 'flex-start' }}&gt;&lt;Box style={{ width: 8, height: 8, borderRadius: 4, background: '#1E7BE0', marginTop: 9 }} /&gt;&lt;Box style={{ flex: 1 }}&gt;&lt;Text style={{ fontSize: 17, color: '#333A45', fontWeight: 400, lineHeight: 1.6 }}&gt;物理笔画、页面一行文字与逻辑解题步骤不严格对应：学生可能先算后补理由，也可能多次返回同一步。&lt;/Text&gt;&lt;/Box&gt;&lt;/Box&gt;&lt;Box style={{ flexDirection: 'row', gap: 12, alignItems: 'flex-start' }}&gt;&lt;Box style={{ width: 8, height: 8, borderRadius: 4, background: '#1E7BE0', marginTop: 9 }} /&gt;&lt;Box style={{ flex: 1 }}&gt;&lt;Text style={{ fontSize: 17, color: '#333A45', fontWeight: 400, lineHeight: 1.6 }}&gt;步骤归属不确定时应允许“待确认”，不强行把整页按行或按固定时间间隔切成标准步骤。&lt;/Text&gt;&lt;/Box&gt;&lt;/Box&gt;&lt;Box style={{ flexDirection: 'row', gap: 12, alignItems: 'flex-start' }}&gt;&lt;Box style={{ width: 8, height: 8, borderRadius: 4, background: '#1E7BE0', marginTop: 9 }} /&gt;&lt;Box style={{ flex: 1 }}&gt;&lt;Text style={{ fontSize: 17, color: '#333A45', fontWeight: 400, lineHeight: 1.6 }}&gt;短期可允许学生圈选确认或修正对齐结果；替代解法应保留自己的步骤路径。&lt;/Text&gt;&lt;/Box&gt;&lt;/Box&gt;&lt;Box style={{ flexDirection: 'row', gap: 12, alignItems: 'flex-start' }}&gt;&lt;Box style={{ width: 8, height: 8, borderRadius: 4, background: '#1E7BE0', marginTop: 9 }} /&gt;&lt;Box style={{ flex: 1 }}&gt;&lt;Text style={{ fontSize: 17, color: '#333A45', fontWeight: 400, lineHeight: 1.6 }}&gt;四类时间指标：实际书写时长、落笔间隔、某步骤首次出现到最后修改的跨度、整题经过时间。&lt;/Text&gt;&lt;/Box&gt;&lt;/Box&gt;&lt;Box style={{ flexDirection: 'row', gap: 12, alignItems: 'flex-start' }}&gt;&lt;Box style={{ width: 8, height: 8, borderRadius: 4, background: '#1E7BE0', marginTop: 9 }} /&gt;&lt;Box style={{ flex: 1 }}&gt;&lt;Text style={{ fontSize: 17, color: '#333A45', fontWeight: 400, lineHeight: 1.6 }}&gt;时间信息用于发现值得核实的片段，判断仍以内容为依据；写得慢不能直接判为不会。&lt;/Text&gt;&lt;/Box&gt;&lt;/Box&gt;&lt;/Box&gt;&lt;/Box&gt;&lt;/Box&gt;&lt;/Box&gt;&lt;Box style={{ height: 40, flexDirection: 'row', justifyContent: 'space-between', alignItems: 'center', borderTop: '1px solid #E3E8EF', marginTop: 8 }}&gt;&lt;Text style={{ fontSize: 13, color: '#7A8699', fontWeight: 400, lineHeight: 1.4 }}&gt;依据：单题功能设计思路.md §3.4&lt;/Text&gt;&lt;Text style={{ fontSize: 14, color: '#7A8699', fontWeight: 400, lineHeight: 1.4 }}&gt; 28 / 124 &lt;/Text&gt;&lt;/Box&gt;&lt;/Slide&gt;"/>
        <p:cNvGrpSpPr/>
        <p:nvPr/>
      </p:nvGrpSpPr>
      <p:grpSpPr>
        <a:xfrm>
          <a:off x="0" y="0"/>
          <a:ext cx="0" cy="0"/>
          <a:chOff x="0" y="0"/>
          <a:chExt cx="0" cy="0"/>
        </a:xfrm>
      </p:grpSpPr>
      <p:sp>
        <p:nvSpPr>
          <p:cNvPr id="1189" name=""/>
          <p:cNvSpPr/>
          <p:nvPr/>
        </p:nvSpPr>
        <p:spPr>
          <a:xfrm rot="0" flipH="0" flipV="0">
            <a:off x="0" y="0"/>
            <a:ext cx="12192000" cy="6858000"/>
          </a:xfrm>
          <a:prstGeom prst="rect">
            <a:avLst/>
          </a:prstGeom>
          <a:solidFill>
            <a:srgbClr val="FFFFFF"/>
          </a:solidFill>
          <a:ln/>
        </p:spPr>
        <p:txBody>
          <a:bodyPr/>
          <a:p/>
        </p:txBody>
      </p:sp>
      <p:sp>
        <p:nvSpPr>
          <p:cNvPr id="1190" name="" descr="{&quot;isTemplate&quot;:true,&quot;type&quot;:&quot;text&quot;}"/>
          <p:cNvSpPr txBox="1"/>
          <p:nvPr/>
        </p:nvSpPr>
        <p:spPr>
          <a:xfrm rot="0" flipH="0" flipV="0">
            <a:off x="666750" y="381000"/>
            <a:ext cx="5181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03 / </a:t>
            </a:r>
            <a:r>
              <a:rPr lang="zh-CN" sz="1050" spc="75">
                <a:solidFill>
                  <a:srgbClr val="7A8699"/>
                </a:solidFill>
                <a:latin typeface="Microsoft YaHei"/>
                <a:ea typeface="Microsoft YaHei"/>
              </a:rPr>
              <a:t>单题引擎</a:t>
            </a:r>
            <a:endParaRPr/>
          </a:p>
        </p:txBody>
      </p:sp>
      <p:sp>
        <p:nvSpPr>
          <p:cNvPr id="1191" name="" descr="{&quot;isTemplate&quot;:true,&quot;type&quot;:&quot;text&quot;}"/>
          <p:cNvSpPr txBox="1"/>
          <p:nvPr/>
        </p:nvSpPr>
        <p:spPr>
          <a:xfrm rot="0" flipH="0" flipV="0">
            <a:off x="666750" y="666750"/>
            <a:ext cx="5181600" cy="476250"/>
          </a:xfrm>
          <a:prstGeom prst="rect"/>
        </p:spPr>
        <p:txBody>
          <a:bodyPr wrap="none" lIns="0" tIns="0" rIns="0" bIns="0"/>
          <a:p>
            <a:pPr>
              <a:lnSpc>
                <a:spcPct val="130000"/>
              </a:lnSpc>
            </a:pPr>
            <a:r>
              <a:rPr lang="zh-CN" sz="2400" b="1">
                <a:solidFill>
                  <a:srgbClr val="0E2340"/>
                </a:solidFill>
                <a:latin typeface="Microsoft YaHei"/>
                <a:ea typeface="Microsoft YaHei"/>
              </a:rPr>
              <a:t>时间如何关联步骤，以及四种时间指标</a:t>
            </a:r>
            <a:endParaRPr/>
          </a:p>
        </p:txBody>
      </p:sp>
      <p:sp>
        <p:nvSpPr>
          <p:cNvPr id="1192" name=""/>
          <p:cNvSpPr/>
          <p:nvPr/>
        </p:nvSpPr>
        <p:spPr>
          <a:xfrm rot="0" flipH="0" flipV="0">
            <a:off x="10820400" y="847725"/>
            <a:ext cx="704850" cy="295275"/>
          </a:xfrm>
          <a:prstGeom prst="roundRect">
            <a:avLst>
              <a:gd name="adj" fmla="val 64516"/>
            </a:avLst>
          </a:prstGeom>
          <a:solidFill>
            <a:srgbClr val="98A2B3"/>
          </a:solidFill>
          <a:ln/>
        </p:spPr>
        <p:txBody>
          <a:bodyPr/>
          <a:p/>
        </p:txBody>
      </p:sp>
      <p:sp>
        <p:nvSpPr>
          <p:cNvPr id="1193"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待研究</a:t>
            </a:r>
            <a:endParaRPr/>
          </a:p>
        </p:txBody>
      </p:sp>
      <p:pic>
        <p:nvPicPr>
          <p:cNvPr id="1194" name=""/>
          <p:cNvPicPr>
            <a:picLocks noChangeAspect="1"/>
          </p:cNvPicPr>
          <p:nvPr/>
        </p:nvPicPr>
        <p:blipFill>
          <a:blip>
            <a:extLst>
              <a:ext uri="{96DAC541-7B7A-43D3-8B79-37D633B846F1}">
                <asvg:svgBlip r:embed="rId1"/>
              </a:ext>
            </a:extLst>
          </a:blip>
          <a:stretch>
            <a:fillRect/>
          </a:stretch>
        </p:blipFill>
        <p:spPr>
          <a:xfrm rot="0" flipH="0" flipV="0">
            <a:off x="666750" y="2143125"/>
            <a:ext cx="6667500" cy="3143250"/>
          </a:xfrm>
          <a:prstGeom prst="rect">
            <a:avLst/>
          </a:prstGeom>
          <a:ln/>
        </p:spPr>
      </p:pic>
      <p:sp>
        <p:nvSpPr>
          <p:cNvPr id="1195" name="" descr="{&quot;isTemplate&quot;:true,&quot;type&quot;:&quot;text&quot;}"/>
          <p:cNvSpPr txBox="1"/>
          <p:nvPr/>
        </p:nvSpPr>
        <p:spPr>
          <a:xfrm rot="0" flipH="0" flipV="0">
            <a:off x="7600950" y="1581150"/>
            <a:ext cx="3924300" cy="342900"/>
          </a:xfrm>
          <a:prstGeom prst="rect"/>
        </p:spPr>
        <p:txBody>
          <a:bodyPr wrap="none" lIns="0" tIns="0" rIns="0" bIns="0"/>
          <a:p>
            <a:pPr>
              <a:lnSpc>
                <a:spcPct val="140000"/>
              </a:lnSpc>
            </a:pPr>
            <a:r>
              <a:rPr lang="zh-CN" sz="1575" b="1">
                <a:solidFill>
                  <a:srgbClr val="0E2340"/>
                </a:solidFill>
                <a:latin typeface="Microsoft YaHei"/>
                <a:ea typeface="Microsoft YaHei"/>
              </a:rPr>
              <a:t>对齐原则</a:t>
            </a:r>
            <a:endParaRPr/>
          </a:p>
        </p:txBody>
      </p:sp>
      <p:sp>
        <p:nvSpPr>
          <p:cNvPr id="1196" name=""/>
          <p:cNvSpPr/>
          <p:nvPr/>
        </p:nvSpPr>
        <p:spPr>
          <a:xfrm rot="0" flipH="0" flipV="0">
            <a:off x="7600950" y="2114550"/>
            <a:ext cx="76200" cy="76200"/>
          </a:xfrm>
          <a:prstGeom prst="roundRect">
            <a:avLst>
              <a:gd name="adj" fmla="val 50000"/>
            </a:avLst>
          </a:prstGeom>
          <a:solidFill>
            <a:srgbClr val="1E7BE0"/>
          </a:solidFill>
          <a:ln/>
        </p:spPr>
        <p:txBody>
          <a:bodyPr/>
          <a:p/>
        </p:txBody>
      </p:sp>
      <p:sp>
        <p:nvSpPr>
          <p:cNvPr id="1197" name="" descr="{&quot;isTemplate&quot;:true,&quot;type&quot;:&quot;text&quot;}"/>
          <p:cNvSpPr txBox="1"/>
          <p:nvPr/>
        </p:nvSpPr>
        <p:spPr>
          <a:xfrm rot="0" flipH="0" flipV="0">
            <a:off x="7791450" y="2028825"/>
            <a:ext cx="3733800" cy="9334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物理笔画、页面一行文字与逻辑解题步骤不严格对应：学生可能先算后补理由，也可能多次返回同一步。</a:t>
            </a:r>
            <a:endParaRPr/>
          </a:p>
        </p:txBody>
      </p:sp>
      <p:sp>
        <p:nvSpPr>
          <p:cNvPr id="1198" name=""/>
          <p:cNvSpPr/>
          <p:nvPr/>
        </p:nvSpPr>
        <p:spPr>
          <a:xfrm rot="0" flipH="0" flipV="0">
            <a:off x="7600950" y="3143250"/>
            <a:ext cx="76200" cy="76200"/>
          </a:xfrm>
          <a:prstGeom prst="roundRect">
            <a:avLst>
              <a:gd name="adj" fmla="val 50000"/>
            </a:avLst>
          </a:prstGeom>
          <a:solidFill>
            <a:srgbClr val="1E7BE0"/>
          </a:solidFill>
          <a:ln/>
        </p:spPr>
        <p:txBody>
          <a:bodyPr/>
          <a:p/>
        </p:txBody>
      </p:sp>
      <p:sp>
        <p:nvSpPr>
          <p:cNvPr id="1199" name="" descr="{&quot;isTemplate&quot;:true,&quot;type&quot;:&quot;text&quot;}"/>
          <p:cNvSpPr txBox="1"/>
          <p:nvPr/>
        </p:nvSpPr>
        <p:spPr>
          <a:xfrm rot="0" flipH="0" flipV="0">
            <a:off x="7791450" y="30575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步骤归属不确定时应允许“待确认”，不强行把整页按行或按固定时间间隔切成标准步骤。</a:t>
            </a:r>
            <a:endParaRPr/>
          </a:p>
        </p:txBody>
      </p:sp>
      <p:sp>
        <p:nvSpPr>
          <p:cNvPr id="1200" name=""/>
          <p:cNvSpPr/>
          <p:nvPr/>
        </p:nvSpPr>
        <p:spPr>
          <a:xfrm rot="0" flipH="0" flipV="0">
            <a:off x="7600950" y="3867150"/>
            <a:ext cx="76200" cy="76200"/>
          </a:xfrm>
          <a:prstGeom prst="roundRect">
            <a:avLst>
              <a:gd name="adj" fmla="val 50000"/>
            </a:avLst>
          </a:prstGeom>
          <a:solidFill>
            <a:srgbClr val="1E7BE0"/>
          </a:solidFill>
          <a:ln/>
        </p:spPr>
        <p:txBody>
          <a:bodyPr/>
          <a:p/>
        </p:txBody>
      </p:sp>
      <p:sp>
        <p:nvSpPr>
          <p:cNvPr id="1201" name="" descr="{&quot;isTemplate&quot;:true,&quot;type&quot;:&quot;text&quot;}"/>
          <p:cNvSpPr txBox="1"/>
          <p:nvPr/>
        </p:nvSpPr>
        <p:spPr>
          <a:xfrm rot="0" flipH="0" flipV="0">
            <a:off x="7791450" y="37814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短期可允许学生圈选确认或修正对齐结果；替代解法应保留自己的步骤路径。</a:t>
            </a:r>
            <a:endParaRPr/>
          </a:p>
        </p:txBody>
      </p:sp>
      <p:sp>
        <p:nvSpPr>
          <p:cNvPr id="1202" name=""/>
          <p:cNvSpPr/>
          <p:nvPr/>
        </p:nvSpPr>
        <p:spPr>
          <a:xfrm rot="0" flipH="0" flipV="0">
            <a:off x="7600950" y="4591050"/>
            <a:ext cx="76200" cy="76200"/>
          </a:xfrm>
          <a:prstGeom prst="roundRect">
            <a:avLst>
              <a:gd name="adj" fmla="val 50000"/>
            </a:avLst>
          </a:prstGeom>
          <a:solidFill>
            <a:srgbClr val="1E7BE0"/>
          </a:solidFill>
          <a:ln/>
        </p:spPr>
        <p:txBody>
          <a:bodyPr/>
          <a:p/>
        </p:txBody>
      </p:sp>
      <p:sp>
        <p:nvSpPr>
          <p:cNvPr id="1203" name="" descr="{&quot;isTemplate&quot;:true,&quot;type&quot;:&quot;text&quot;}"/>
          <p:cNvSpPr txBox="1"/>
          <p:nvPr/>
        </p:nvSpPr>
        <p:spPr>
          <a:xfrm rot="0" flipH="0" flipV="0">
            <a:off x="7791450" y="45053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四类时间指标：实际书写时长、落笔间隔、某步骤首次出现到最后修改的跨度、整题经过时间。</a:t>
            </a:r>
            <a:endParaRPr/>
          </a:p>
        </p:txBody>
      </p:sp>
      <p:sp>
        <p:nvSpPr>
          <p:cNvPr id="1204" name=""/>
          <p:cNvSpPr/>
          <p:nvPr/>
        </p:nvSpPr>
        <p:spPr>
          <a:xfrm rot="0" flipH="0" flipV="0">
            <a:off x="7600950" y="5314950"/>
            <a:ext cx="76200" cy="76200"/>
          </a:xfrm>
          <a:prstGeom prst="roundRect">
            <a:avLst>
              <a:gd name="adj" fmla="val 50000"/>
            </a:avLst>
          </a:prstGeom>
          <a:solidFill>
            <a:srgbClr val="1E7BE0"/>
          </a:solidFill>
          <a:ln/>
        </p:spPr>
        <p:txBody>
          <a:bodyPr/>
          <a:p/>
        </p:txBody>
      </p:sp>
      <p:sp>
        <p:nvSpPr>
          <p:cNvPr id="1205" name="" descr="{&quot;isTemplate&quot;:true,&quot;type&quot;:&quot;text&quot;}"/>
          <p:cNvSpPr txBox="1"/>
          <p:nvPr/>
        </p:nvSpPr>
        <p:spPr>
          <a:xfrm rot="0" flipH="0" flipV="0">
            <a:off x="7791450" y="52292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时间信息用于发现值得核实的片段，判断仍以内容为依据；写得慢不能直接判为不会。</a:t>
            </a:r>
            <a:endParaRPr/>
          </a:p>
        </p:txBody>
      </p:sp>
      <p:sp>
        <p:nvSpPr>
          <p:cNvPr id="1206"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207" name="" descr="{&quot;isTemplate&quot;:true,&quot;type&quot;:&quot;text&quot;}"/>
          <p:cNvSpPr txBox="1"/>
          <p:nvPr/>
        </p:nvSpPr>
        <p:spPr>
          <a:xfrm rot="0" flipH="0" flipV="0">
            <a:off x="666750" y="6381750"/>
            <a:ext cx="1847850" cy="209550"/>
          </a:xfrm>
          <a:prstGeom prst="rect"/>
        </p:spPr>
        <p:txBody>
          <a:bodyPr wrap="none" lIns="0" tIns="0" rIns="0" bIns="0"/>
          <a:p>
            <a:pPr>
              <a:lnSpc>
                <a:spcPct val="140000"/>
              </a:lnSpc>
            </a:pPr>
            <a:r>
              <a:rPr lang="zh-CN" sz="975">
                <a:solidFill>
                  <a:srgbClr val="7A8699"/>
                </a:solidFill>
                <a:latin typeface="Microsoft YaHei"/>
                <a:ea typeface="Microsoft YaHei"/>
              </a:rPr>
              <a:t>依据：单题功能设计思路</a:t>
            </a:r>
            <a:r>
              <a:rPr lang="en-US" sz="975">
                <a:solidFill>
                  <a:srgbClr val="7A8699"/>
                </a:solidFill>
                <a:latin typeface="Microsoft YaHei"/>
                <a:ea typeface="Microsoft YaHei"/>
              </a:rPr>
              <a:t>.md §3.4</a:t>
            </a:r>
            <a:endParaRPr/>
          </a:p>
        </p:txBody>
      </p:sp>
      <p:sp>
        <p:nvSpPr>
          <p:cNvPr id="1208"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28 / 124 </a:t>
            </a:r>
            <a:endParaRPr/>
          </a:p>
        </p:txBody>
      </p:sp>
    </p:spTree>
  </p:cSld>
</p:sld>
</file>

<file path=ppt/slides/slide29.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209"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3 / 单题引擎&lt;/Text&gt;&lt;Text style={{ fontSize: 32, color: '#0E2340', fontWeight: 700, lineHeight: 1.3 }}&gt;缺少训练数据时的冷启动五步路线&lt;/Text&gt;&lt;/Box&gt;&lt;Box style={{ flexDirection: 'row', alignItems: 'center', padding: '7px 16px', borderRadius: 20, background: '#98A2B3' }}&gt;&lt;Text style={{ fontSize: 14, color: '#FFFFFF', fontWeight: 600 }}&gt;待研究&lt;/Text&gt;&lt;/Box&gt;&lt;/Box&gt;&lt;Box style={{ height: 532, paddingTop: 8, flexDirection: 'column' }}&gt;&lt;Box style={{ flexDirection: 'column', flex: 1, justifyContent: 'center', gap: 16 }}&gt;&lt;Box style={{ flexDirection: 'column', gap: 16, flex: 1, justifyContent: 'center' }}&gt;&lt;svg width={1140} height={290} viewBox='0 0 1140 290'&gt;&lt;rect x='0' y='30' width='213' height='150' rx='8' fill='#FFFFFF' stroke='#1E7BE0' stroke-width='1.5'/&gt;&lt;rect x='0' y='30' width='213' height='6' rx='3' fill='#0E2340'/&gt;&lt;circle cx='26' cy='66' r='16' fill='#1E7BE0'/&gt;&lt;text x='26' y='72' font-size='16' fill='#FFFFFF' text-anchor='middle' font-weight='700'&gt;1&lt;/text&gt;&lt;text x='106.5' y='116' font-size='18' fill='#0E2340' text-anchor='middle' font-weight='600'&gt;先采集、能回放&lt;/text&gt;&lt;text x='106.5' y='146' font-size='14' fill='#7A8699' text-anchor='middle' font-weight='400'&gt;无需先训练诊断模型&lt;/text&gt;&lt;path d='M214 105 l14 0' stroke='#1E7BE0' stroke-width='2'/&gt;&lt;path d='M228 105 l-7 -5 l0 10 z' fill='#1E7BE0'/&gt;&lt;rect x='231' y='30' width='213' height='150' rx='8' fill='#FFFFFF' stroke='#1E7BE0' stroke-width='1.5'/&gt;&lt;rect x='231' y='30' width='213' height='6' rx='3' fill='#0E2340'/&gt;&lt;circle cx='257' cy='66' r='16' fill='#1E7BE0'/&gt;&lt;text x='257' y='72' font-size='16' fill='#FFFFFF' text-anchor='middle' font-weight='700'&gt;2&lt;/text&gt;&lt;text x='337.5' y='116' font-size='18' fill='#0E2340' text-anchor='middle' font-weight='600'&gt;再做辅助对齐&lt;/text&gt;&lt;text x='337.5' y='146' font-size='14' fill='#7A8699' text-anchor='middle' font-weight='400'&gt;模型提议 + 人工确认&lt;/text&gt;&lt;path d='M445 105 l14 0' stroke='#1E7BE0' stroke-width='2'/&gt;&lt;path d='M459 105 l-7 -5 l0 10 z' fill='#1E7BE0'/&gt;&lt;rect x='462' y='30' width='213' height='150' rx='8' fill='#FFFFFF' stroke='#1E7BE0' stroke-width='1.5'/&gt;&lt;rect x='462' y='30' width='213' height='6' rx='3' fill='#0E2340'/&gt;&lt;circle cx='488' cy='66' r='16' fill='#1E7BE0'/&gt;&lt;text x='488' y='72' font-size='16' fill='#FFFFFF' text-anchor='middle' font-weight='700'&gt;3&lt;/text&gt;&lt;text x='568.5' y='116' font-size='18' fill='#0E2340' text-anchor='middle' font-weight='600'&gt;积累高质量标注&lt;/text&gt;&lt;text x='568.5' y='146' font-size='14' fill='#7A8699' text-anchor='middle' font-weight='400'&gt;错因需注明证据来源&lt;/text&gt;&lt;path d='M676 105 l14 0' stroke='#1E7BE0' stroke-width='2'/&gt;&lt;path d='M690 105 l-7 -5 l0 10 z' fill='#1E7BE0'/&gt;&lt;rect x='693' y='30' width='213' height='150' rx='8' fill='#FFFFFF' stroke='#1E7BE0' stroke-width='1.5'/&gt;&lt;rect x='693' y='30' width='213' height='6' rx='3' fill='#0E2340'/&gt;&lt;circle cx='719' cy='66' r='16' fill='#1E7BE0'/&gt;&lt;text x='719' y='72' font-size='16' fill='#FFFFFF' text-anchor='middle' font-weight='700'&gt;4&lt;/text&gt;&lt;text x='799.5' y='116' font-size='18' fill='#0E2340' text-anchor='middle' font-weight='600'&gt;先验证时间增益&lt;/text&gt;&lt;text x='799.5' y='146' font-size='14' fill='#7A8699' text-anchor='middle' font-weight='400'&gt;三组对照实验&lt;/text&gt;&lt;path d='M907 105 l14 0' stroke='#1E7BE0' stroke-width='2'/&gt;&lt;path d='M921 105 l-7 -5 l0 10 z' fill='#1E7BE0'/&gt;&lt;rect x='924' y='30' width='213' height='150' rx='8' fill='#FFFFFF' stroke='#1E7BE0' stroke-width='1.5'/&gt;&lt;rect x='924' y='30' width='213' height='6' rx='3' fill='#0E2340'/&gt;&lt;circle cx='950' cy='66' r='16' fill='#1E7BE0'/&gt;&lt;text x='950' y='72' font-size='16' fill='#FFFFFF' text-anchor='middle' font-weight='700'&gt;5&lt;/text&gt;&lt;text x='1030.5' y='116' font-size='18' fill='#0E2340' text-anchor='middle' font-weight='600'&gt;有证据后再训练&lt;/text&gt;&lt;text x='1030.5' y='146' font-size='14' fill='#7A8699' text-anchor='middle' font-weight='400'&gt;先形成评测集&lt;/text&gt;&lt;path d='M40 200 L1100 200' stroke='#00A9B5' stroke-width='2' stroke-dasharray='5 5'/&gt;&lt;path d='M40 200 l10 -6 l0 12 z' fill='#00A9B5'/&gt;&lt;text x='570.0' y='226' font-size='15' fill='#00A9B5' text-anchor='middle' font-weight='600'&gt;阶段之间可回退：变式暴露某步不会 → 返回该步训练&lt;/text&gt;&lt;/svg&gt;&lt;/Box&gt;&lt;Box style={{ flexDirection: 'row', alignItems: 'center', background: '#F5F7FA', borderLeft: '4px solid #1E7BE0', borderRadius: 6, padding: '14px 20px' }}&gt;&lt;Text style={{ fontSize: 17, color: '#0E2340', fontWeight: 600, lineHeight: 1.5 }}&gt;合成笔迹可以测试回放和流程，不能代替真实学生思考过程的数据；评价须按学生和题目划分数据，防止同人同题泄漏&lt;/Text&gt;&lt;/Box&gt;&lt;/Box&gt;&lt;/Box&gt;&lt;Box style={{ height: 40, flexDirection: 'row', justifyContent: 'space-between', alignItems: 'center', borderTop: '1px solid #E3E8EF', marginTop: 8 }}&gt;&lt;Text style={{ fontSize: 13, color: '#7A8699', fontWeight: 400, lineHeight: 1.4 }}&gt;依据：单题功能设计思路.md §3.5&lt;/Text&gt;&lt;Text style={{ fontSize: 14, color: '#7A8699', fontWeight: 400, lineHeight: 1.4 }}&gt; 29 / 124 &lt;/Text&gt;&lt;/Box&gt;&lt;/Slide&gt;"/>
        <p:cNvGrpSpPr/>
        <p:nvPr/>
      </p:nvGrpSpPr>
      <p:grpSpPr>
        <a:xfrm>
          <a:off x="0" y="0"/>
          <a:ext cx="0" cy="0"/>
          <a:chOff x="0" y="0"/>
          <a:chExt cx="0" cy="0"/>
        </a:xfrm>
      </p:grpSpPr>
      <p:sp>
        <p:nvSpPr>
          <p:cNvPr id="1210" name=""/>
          <p:cNvSpPr/>
          <p:nvPr/>
        </p:nvSpPr>
        <p:spPr>
          <a:xfrm rot="0" flipH="0" flipV="0">
            <a:off x="0" y="0"/>
            <a:ext cx="12192000" cy="6858000"/>
          </a:xfrm>
          <a:prstGeom prst="rect">
            <a:avLst/>
          </a:prstGeom>
          <a:solidFill>
            <a:srgbClr val="FFFFFF"/>
          </a:solidFill>
          <a:ln/>
        </p:spPr>
        <p:txBody>
          <a:bodyPr/>
          <a:p/>
        </p:txBody>
      </p:sp>
      <p:sp>
        <p:nvSpPr>
          <p:cNvPr id="1211" name="" descr="{&quot;isTemplate&quot;:true,&quot;type&quot;:&quot;text&quot;}"/>
          <p:cNvSpPr txBox="1"/>
          <p:nvPr/>
        </p:nvSpPr>
        <p:spPr>
          <a:xfrm rot="0" flipH="0" flipV="0">
            <a:off x="666750" y="381000"/>
            <a:ext cx="45720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03 / </a:t>
            </a:r>
            <a:r>
              <a:rPr lang="zh-CN" sz="1050" spc="75">
                <a:solidFill>
                  <a:srgbClr val="7A8699"/>
                </a:solidFill>
                <a:latin typeface="Microsoft YaHei"/>
                <a:ea typeface="Microsoft YaHei"/>
              </a:rPr>
              <a:t>单题引擎</a:t>
            </a:r>
            <a:endParaRPr/>
          </a:p>
        </p:txBody>
      </p:sp>
      <p:sp>
        <p:nvSpPr>
          <p:cNvPr id="1212" name="" descr="{&quot;isTemplate&quot;:true,&quot;type&quot;:&quot;text&quot;}"/>
          <p:cNvSpPr txBox="1"/>
          <p:nvPr/>
        </p:nvSpPr>
        <p:spPr>
          <a:xfrm rot="0" flipH="0" flipV="0">
            <a:off x="666750" y="666750"/>
            <a:ext cx="4572000" cy="476250"/>
          </a:xfrm>
          <a:prstGeom prst="rect"/>
        </p:spPr>
        <p:txBody>
          <a:bodyPr wrap="none" lIns="0" tIns="0" rIns="0" bIns="0"/>
          <a:p>
            <a:pPr>
              <a:lnSpc>
                <a:spcPct val="130000"/>
              </a:lnSpc>
            </a:pPr>
            <a:r>
              <a:rPr lang="zh-CN" sz="2400" b="1">
                <a:solidFill>
                  <a:srgbClr val="0E2340"/>
                </a:solidFill>
                <a:latin typeface="Microsoft YaHei"/>
                <a:ea typeface="Microsoft YaHei"/>
              </a:rPr>
              <a:t>缺少训练数据时的冷启动五步路线</a:t>
            </a:r>
            <a:endParaRPr/>
          </a:p>
        </p:txBody>
      </p:sp>
      <p:sp>
        <p:nvSpPr>
          <p:cNvPr id="1213" name=""/>
          <p:cNvSpPr/>
          <p:nvPr/>
        </p:nvSpPr>
        <p:spPr>
          <a:xfrm rot="0" flipH="0" flipV="0">
            <a:off x="10820400" y="847725"/>
            <a:ext cx="704850" cy="295275"/>
          </a:xfrm>
          <a:prstGeom prst="roundRect">
            <a:avLst>
              <a:gd name="adj" fmla="val 64516"/>
            </a:avLst>
          </a:prstGeom>
          <a:solidFill>
            <a:srgbClr val="98A2B3"/>
          </a:solidFill>
          <a:ln/>
        </p:spPr>
        <p:txBody>
          <a:bodyPr/>
          <a:p/>
        </p:txBody>
      </p:sp>
      <p:sp>
        <p:nvSpPr>
          <p:cNvPr id="1214"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待研究</a:t>
            </a:r>
            <a:endParaRPr/>
          </a:p>
        </p:txBody>
      </p:sp>
      <p:pic>
        <p:nvPicPr>
          <p:cNvPr id="1215" name=""/>
          <p:cNvPicPr>
            <a:picLocks noChangeAspect="1"/>
          </p:cNvPicPr>
          <p:nvPr/>
        </p:nvPicPr>
        <p:blipFill>
          <a:blip>
            <a:extLst>
              <a:ext uri="{96DAC541-7B7A-43D3-8B79-37D633B846F1}">
                <asvg:svgBlip r:embed="rId1"/>
              </a:ext>
            </a:extLst>
          </a:blip>
          <a:stretch>
            <a:fillRect/>
          </a:stretch>
        </p:blipFill>
        <p:spPr>
          <a:xfrm rot="0" flipH="0" flipV="0">
            <a:off x="666750" y="1981200"/>
            <a:ext cx="10858500" cy="2762250"/>
          </a:xfrm>
          <a:prstGeom prst="rect">
            <a:avLst/>
          </a:prstGeom>
          <a:ln/>
        </p:spPr>
      </p:pic>
      <p:sp>
        <p:nvSpPr>
          <p:cNvPr id="1216" name=""/>
          <p:cNvSpPr/>
          <p:nvPr/>
        </p:nvSpPr>
        <p:spPr>
          <a:xfrm rot="0" flipH="0" flipV="0">
            <a:off x="704850" y="5648325"/>
            <a:ext cx="10858500" cy="561975"/>
          </a:xfrm>
          <a:prstGeom prst="roundRect">
            <a:avLst>
              <a:gd name="adj" fmla="val 10169"/>
            </a:avLst>
          </a:prstGeom>
          <a:solidFill>
            <a:srgbClr val="F5F7FA"/>
          </a:solidFill>
          <a:ln/>
        </p:spPr>
        <p:txBody>
          <a:bodyPr/>
          <a:p/>
        </p:txBody>
      </p:sp>
      <p:sp>
        <p:nvSpPr>
          <p:cNvPr id="1217" name=""/>
          <p:cNvSpPr/>
          <p:nvPr/>
        </p:nvSpPr>
        <p:spPr>
          <a:xfrm rot="0" flipH="0" flipV="0">
            <a:off x="704850" y="5648325"/>
            <a:ext cx="10858500" cy="561975"/>
          </a:xfrm>
          <a:custGeom>
            <a:pathLst>
              <a:path w="1140" h="59">
                <a:moveTo>
                  <a:pt x="6" y="0"/>
                </a:moveTo>
                <a:cubicBezTo>
                  <a:pt x="5" y="0"/>
                  <a:pt x="4" y="1"/>
                  <a:pt x="4" y="2"/>
                </a:cubicBezTo>
                <a:lnTo>
                  <a:pt x="4" y="57"/>
                </a:lnTo>
                <a:cubicBezTo>
                  <a:pt x="4" y="58"/>
                  <a:pt x="5" y="59"/>
                  <a:pt x="6" y="59"/>
                </a:cubicBezTo>
                <a:cubicBezTo>
                  <a:pt x="3" y="59"/>
                  <a:pt x="0" y="56"/>
                  <a:pt x="0" y="53"/>
                </a:cubicBezTo>
                <a:lnTo>
                  <a:pt x="0" y="6"/>
                </a:lnTo>
                <a:cubicBezTo>
                  <a:pt x="0" y="3"/>
                  <a:pt x="3" y="0"/>
                  <a:pt x="6" y="0"/>
                </a:cubicBezTo>
                <a:close/>
              </a:path>
            </a:pathLst>
          </a:custGeom>
          <a:solidFill>
            <a:srgbClr val="1E7BE0"/>
          </a:solidFill>
          <a:ln/>
        </p:spPr>
        <p:txBody>
          <a:bodyPr/>
          <a:p/>
        </p:txBody>
      </p:sp>
      <p:sp>
        <p:nvSpPr>
          <p:cNvPr id="1218" name="" descr="{&quot;isTemplate&quot;:true,&quot;type&quot;:&quot;text&quot;}"/>
          <p:cNvSpPr txBox="1"/>
          <p:nvPr/>
        </p:nvSpPr>
        <p:spPr>
          <a:xfrm rot="0" flipH="0" flipV="0">
            <a:off x="895350" y="5781675"/>
            <a:ext cx="8420100" cy="295275"/>
          </a:xfrm>
          <a:prstGeom prst="rect"/>
        </p:spPr>
        <p:txBody>
          <a:bodyPr wrap="none" lIns="0" tIns="0" rIns="0" bIns="0"/>
          <a:p>
            <a:pPr>
              <a:lnSpc>
                <a:spcPct val="150000"/>
              </a:lnSpc>
            </a:pPr>
            <a:r>
              <a:rPr lang="zh-CN" sz="1275" b="1">
                <a:solidFill>
                  <a:srgbClr val="0E2340"/>
                </a:solidFill>
                <a:latin typeface="Microsoft YaHei"/>
                <a:ea typeface="Microsoft YaHei"/>
              </a:rPr>
              <a:t>合成笔迹可以测试回放和流程，不能代替真实学生思考过程的数据；评价须按学生和题目划分数据，防止同人同题泄漏</a:t>
            </a:r>
            <a:endParaRPr/>
          </a:p>
        </p:txBody>
      </p:sp>
      <p:sp>
        <p:nvSpPr>
          <p:cNvPr id="1219"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220" name="" descr="{&quot;isTemplate&quot;:true,&quot;type&quot;:&quot;text&quot;}"/>
          <p:cNvSpPr txBox="1"/>
          <p:nvPr/>
        </p:nvSpPr>
        <p:spPr>
          <a:xfrm rot="0" flipH="0" flipV="0">
            <a:off x="666750" y="6381750"/>
            <a:ext cx="1847850" cy="209550"/>
          </a:xfrm>
          <a:prstGeom prst="rect"/>
        </p:spPr>
        <p:txBody>
          <a:bodyPr wrap="none" lIns="0" tIns="0" rIns="0" bIns="0"/>
          <a:p>
            <a:pPr>
              <a:lnSpc>
                <a:spcPct val="140000"/>
              </a:lnSpc>
            </a:pPr>
            <a:r>
              <a:rPr lang="zh-CN" sz="975">
                <a:solidFill>
                  <a:srgbClr val="7A8699"/>
                </a:solidFill>
                <a:latin typeface="Microsoft YaHei"/>
                <a:ea typeface="Microsoft YaHei"/>
              </a:rPr>
              <a:t>依据：单题功能设计思路</a:t>
            </a:r>
            <a:r>
              <a:rPr lang="en-US" sz="975">
                <a:solidFill>
                  <a:srgbClr val="7A8699"/>
                </a:solidFill>
                <a:latin typeface="Microsoft YaHei"/>
                <a:ea typeface="Microsoft YaHei"/>
              </a:rPr>
              <a:t>.md §3.5</a:t>
            </a:r>
            <a:endParaRPr/>
          </a:p>
        </p:txBody>
      </p:sp>
      <p:sp>
        <p:nvSpPr>
          <p:cNvPr id="1221"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29 / 124 </a:t>
            </a:r>
            <a:endParaRPr/>
          </a:p>
        </p:txBody>
      </p:sp>
    </p:spTree>
  </p:cSld>
</p:sld>
</file>

<file path=ppt/slides/slide30.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239"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3 / 单题引擎&lt;/Text&gt;&lt;Text style={{ fontSize: 32, color: '#0E2340', fontWeight: 700, lineHeight: 1.3 }}&gt;手把手教学循环与四种掌握状态&lt;/Text&gt;&lt;/Box&gt;&lt;Box style={{ flexDirection: 'row', alignItems: 'center', padding: '7px 16px', borderRadius: 20, background: '#E8A33D' }}&gt;&lt;Text style={{ fontSize: 14, color: '#FFFFFF', fontWeight: 600 }}&gt;部分实现&lt;/Text&gt;&lt;/Box&gt;&lt;/Box&gt;&lt;Box style={{ height: 532, paddingTop: 8, flexDirection: 'column' }}&gt;&lt;Box style={{ flexDirection: 'row', gap: 28, flex: 1 }}&gt;&lt;Box style={{ width: 700, justifyContent: 'center' }}&gt;&lt;svg width={700} height={340} viewBox='0 0 700 340'&gt;&lt;rect x='240' y='10' width='230' height='54' rx='8' fill='#0E2340'/&gt;&lt;text x='355' y='43' font-size='17' fill='#FFFFFF' text-anchor='middle' font-weight='700'&gt;提出当前步骤的问题&lt;/text&gt;&lt;line x1='355' y1='64' x2='355' y2='92' stroke='#1E7BE0' stroke-width='2'/&gt;&lt;rect x='240' y='92' width='230' height='54' rx='8' fill='#FFFFFF' stroke='#1E7BE0' stroke-width='1.5'/&gt;&lt;text x='355' y='125' font-size='17' fill='#0E2340' text-anchor='middle' font-weight='600'&gt;学生尝试&lt;/text&gt;&lt;line x1='355' y1='146' x2='355' y2='174' stroke='#1E7BE0' stroke-width='2'/&gt;&lt;rect x='240' y='174' width='230' height='54' rx='8' fill='#F5F7FA'/&gt;&lt;text x='355' y='207' font-size='17' fill='#0E2340' text-anchor='middle' font-weight='600'&gt;检查本步回答&lt;/text&gt;&lt;path d='M240 201 L120 201 L120 120 L232 120' fill='none' stroke='#00A9B5' stroke-width='2'/&gt;&lt;path d='M232 120 l10 -6 l0 12 z' fill='#00A9B5'/&gt;&lt;rect x='10' y='94' width='110' height='52' rx='8' fill='#FFFFFF' stroke='#00A9B5' stroke-width='1.5'/&gt;&lt;text x='65' y='126' font-size='16' fill='#0E2340' text-anchor='middle' font-weight='600'&gt;正确&lt;/text&gt;&lt;text x='65' y='150' font-size='13' fill='#7A8699' text-anchor='middle' font-weight='400'&gt;进入下一步&lt;/text&gt;&lt;path d='M470 201 L620 201 L620 240 L472 240' fill='none' stroke='#00A9B5' stroke-width='2'/&gt;&lt;path d='M472 240 l10 -6 l0 12 z' fill='#00A9B5'/&gt;&lt;rect x='530' y='214' width='100' height='52' rx='8' fill='#FFFFFF' stroke='#00A9B5' stroke-width='1.5'/&gt;&lt;text x='580' y='246' font-size='16' fill='#0E2340' text-anchor='middle' font-weight='600'&gt;不会&lt;/text&gt;&lt;rect x='250' y='286' width='210' height='48' rx='8' fill='#FFFFFF' stroke='#1E7BE0' stroke-width='1.5'/&gt;&lt;text x='355' y='316' font-size='15' fill='#0E2340' text-anchor='middle' font-weight='600'&gt;部分正确 / 错误：反馈并继续&lt;/text&gt;&lt;line x1='355' y1='228' x2='355' y2='284' stroke='#1E7BE0' stroke-width='2'/&gt;&lt;/svg&gt;&lt;/Box&gt;&lt;Box style={{ flex: 1, flexDirection: 'column', gap: 11, justifyContent: 'center' }}&gt;&lt;Text style={{ fontSize: 21, color: '#0E2340', fontWeight: 700, lineHeight: 1.4 }}&gt;教学状态&lt;/Text&gt;&lt;Box style={{ flexDirection: 'column', gap: 10 }}&gt;&lt;Box style={{ flexDirection: 'row', gap: 12, alignItems: 'flex-start' }}&gt;&lt;Box style={{ width: 8, height: 8, borderRadius: 4, background: '#1E7BE0', marginTop: 9 }} /&gt;&lt;Box style={{ flex: 1 }}&gt;&lt;Text style={{ fontSize: 17, color: '#333A45', fontWeight: 400, lineHeight: 1.6 }}&gt;系统可掌握：是否独立完成、尝试了几次、是否需要提示、是否看过答案、是否仍有具体错误。&lt;/Text&gt;&lt;/Box&gt;&lt;/Box&gt;&lt;Box style={{ flexDirection: 'row', gap: 12, alignItems: 'flex-start' }}&gt;&lt;Box style={{ width: 8, height: 8, borderRadius: 4, background: '#1E7BE0', marginTop: 9 }} /&gt;&lt;Box style={{ flex: 1 }}&gt;&lt;Text style={{ fontSize: 17, color: '#333A45', fontWeight: 400, lineHeight: 1.6 }}&gt;据此选择继续讲解、补充前置知识或安排步骤专项训练。&lt;/Text&gt;&lt;/Box&gt;&lt;/Box&gt;&lt;Box style={{ flexDirection: 'row', gap: 12, alignItems: 'flex-start' }}&gt;&lt;Box style={{ width: 8, height: 8, borderRadius: 4, background: '#1E7BE0', marginTop: 9 }} /&gt;&lt;Box style={{ flex: 1 }}&gt;&lt;Text style={{ fontSize: 17, color: '#333A45', fontWeight: 400, lineHeight: 1.6 }}&gt;四种状态：独立答对 / 提示后答对 / 看答案后完成 / 跳过与尚未完成。&lt;/Text&gt;&lt;/Box&gt;&lt;/Box&gt;&lt;Box style={{ flexDirection: 'row', gap: 12, alignItems: 'flex-start' }}&gt;&lt;Box style={{ width: 8, height: 8, borderRadius: 4, background: '#1E7BE0', marginTop: 9 }} /&gt;&lt;Box style={{ flex: 1 }}&gt;&lt;Text style={{ fontSize: 17, color: '#333A45', fontWeight: 400, lineHeight: 1.6 }}&gt;在提示下完成一步＝完成这次学习任务；在新题中独立完成同类步骤，才是更强的掌握证据。&lt;/Text&gt;&lt;/Box&gt;&lt;/Box&gt;&lt;Box style={{ flexDirection: 'row', gap: 12, alignItems: 'flex-start' }}&gt;&lt;Box style={{ width: 8, height: 8, borderRadius: 4, background: '#1E7BE0', marginTop: 9 }} /&gt;&lt;Box style={{ flex: 1 }}&gt;&lt;Text style={{ fontSize: 17, color: '#333A45', fontWeight: 400, lineHeight: 1.6 }}&gt;一次步骤错误并不能直接证明某知识点没有掌握。&lt;/Text&gt;&lt;/Box&gt;&lt;/Box&gt;&lt;/Box&gt;&lt;/Box&gt;&lt;/Box&gt;&lt;/Box&gt;&lt;Box style={{ height: 40, flexDirection: 'row', justifyContent: 'space-between', alignItems: 'center', borderTop: '1px solid #E3E8EF', marginTop: 8 }}&gt;&lt;Text style={{ fontSize: 13, color: '#7A8699', fontWeight: 400, lineHeight: 1.4 }}&gt;依据：单题功能设计思路.md §4&lt;/Text&gt;&lt;Text style={{ fontSize: 14, color: '#7A8699', fontWeight: 400, lineHeight: 1.4 }}&gt; 30 / 124 &lt;/Text&gt;&lt;/Box&gt;&lt;/Slide&gt;"/>
        <p:cNvGrpSpPr/>
        <p:nvPr/>
      </p:nvGrpSpPr>
      <p:grpSpPr>
        <a:xfrm>
          <a:off x="0" y="0"/>
          <a:ext cx="0" cy="0"/>
          <a:chOff x="0" y="0"/>
          <a:chExt cx="0" cy="0"/>
        </a:xfrm>
      </p:grpSpPr>
      <p:sp>
        <p:nvSpPr>
          <p:cNvPr id="1240" name=""/>
          <p:cNvSpPr/>
          <p:nvPr/>
        </p:nvSpPr>
        <p:spPr>
          <a:xfrm rot="0" flipH="0" flipV="0">
            <a:off x="0" y="0"/>
            <a:ext cx="12192000" cy="6858000"/>
          </a:xfrm>
          <a:prstGeom prst="rect">
            <a:avLst/>
          </a:prstGeom>
          <a:solidFill>
            <a:srgbClr val="FFFFFF"/>
          </a:solidFill>
          <a:ln/>
        </p:spPr>
        <p:txBody>
          <a:bodyPr/>
          <a:p/>
        </p:txBody>
      </p:sp>
      <p:sp>
        <p:nvSpPr>
          <p:cNvPr id="1241" name="" descr="{&quot;isTemplate&quot;:true,&quot;type&quot;:&quot;text&quot;}"/>
          <p:cNvSpPr txBox="1"/>
          <p:nvPr/>
        </p:nvSpPr>
        <p:spPr>
          <a:xfrm rot="0" flipH="0" flipV="0">
            <a:off x="666750" y="381000"/>
            <a:ext cx="42672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03 / </a:t>
            </a:r>
            <a:r>
              <a:rPr lang="zh-CN" sz="1050" spc="75">
                <a:solidFill>
                  <a:srgbClr val="7A8699"/>
                </a:solidFill>
                <a:latin typeface="Microsoft YaHei"/>
                <a:ea typeface="Microsoft YaHei"/>
              </a:rPr>
              <a:t>单题引擎</a:t>
            </a:r>
            <a:endParaRPr/>
          </a:p>
        </p:txBody>
      </p:sp>
      <p:sp>
        <p:nvSpPr>
          <p:cNvPr id="1242" name="" descr="{&quot;isTemplate&quot;:true,&quot;type&quot;:&quot;text&quot;}"/>
          <p:cNvSpPr txBox="1"/>
          <p:nvPr/>
        </p:nvSpPr>
        <p:spPr>
          <a:xfrm rot="0" flipH="0" flipV="0">
            <a:off x="666750" y="666750"/>
            <a:ext cx="4267200" cy="476250"/>
          </a:xfrm>
          <a:prstGeom prst="rect"/>
        </p:spPr>
        <p:txBody>
          <a:bodyPr wrap="none" lIns="0" tIns="0" rIns="0" bIns="0"/>
          <a:p>
            <a:pPr>
              <a:lnSpc>
                <a:spcPct val="130000"/>
              </a:lnSpc>
            </a:pPr>
            <a:r>
              <a:rPr lang="zh-CN" sz="2400" b="1">
                <a:solidFill>
                  <a:srgbClr val="0E2340"/>
                </a:solidFill>
                <a:latin typeface="Microsoft YaHei"/>
                <a:ea typeface="Microsoft YaHei"/>
              </a:rPr>
              <a:t>手把手教学循环与四种掌握状态</a:t>
            </a:r>
            <a:endParaRPr/>
          </a:p>
        </p:txBody>
      </p:sp>
      <p:sp>
        <p:nvSpPr>
          <p:cNvPr id="1243" name=""/>
          <p:cNvSpPr/>
          <p:nvPr/>
        </p:nvSpPr>
        <p:spPr>
          <a:xfrm rot="0" flipH="0" flipV="0">
            <a:off x="10687050" y="847725"/>
            <a:ext cx="838200" cy="295275"/>
          </a:xfrm>
          <a:prstGeom prst="roundRect">
            <a:avLst>
              <a:gd name="adj" fmla="val 64516"/>
            </a:avLst>
          </a:prstGeom>
          <a:solidFill>
            <a:srgbClr val="E8A33D"/>
          </a:solidFill>
          <a:ln/>
        </p:spPr>
        <p:txBody>
          <a:bodyPr/>
          <a:p/>
        </p:txBody>
      </p:sp>
      <p:sp>
        <p:nvSpPr>
          <p:cNvPr id="1244" name="" descr="{&quot;isTemplate&quot;:true,&quot;type&quot;:&quot;text&quot;}"/>
          <p:cNvSpPr txBox="1"/>
          <p:nvPr/>
        </p:nvSpPr>
        <p:spPr>
          <a:xfrm rot="0" flipH="0" flipV="0">
            <a:off x="10839450" y="914400"/>
            <a:ext cx="533400" cy="161925"/>
          </a:xfrm>
          <a:prstGeom prst="rect"/>
        </p:spPr>
        <p:txBody>
          <a:bodyPr wrap="none" lIns="0" tIns="0" rIns="0" bIns="0"/>
          <a:p>
            <a:pPr>
              <a:lnSpc>
                <a:spcPct val="100000"/>
              </a:lnSpc>
            </a:pPr>
            <a:r>
              <a:rPr lang="zh-CN" sz="1050" b="1">
                <a:solidFill>
                  <a:srgbClr val="FFFFFF"/>
                </a:solidFill>
                <a:latin typeface="Microsoft YaHei"/>
                <a:ea typeface="Microsoft YaHei"/>
              </a:rPr>
              <a:t>部分实现</a:t>
            </a:r>
            <a:endParaRPr/>
          </a:p>
        </p:txBody>
      </p:sp>
      <p:pic>
        <p:nvPicPr>
          <p:cNvPr id="1245" name=""/>
          <p:cNvPicPr>
            <a:picLocks noChangeAspect="1"/>
          </p:cNvPicPr>
          <p:nvPr/>
        </p:nvPicPr>
        <p:blipFill>
          <a:blip>
            <a:extLst>
              <a:ext uri="{96DAC541-7B7A-43D3-8B79-37D633B846F1}">
                <asvg:svgBlip r:embed="rId1"/>
              </a:ext>
            </a:extLst>
          </a:blip>
          <a:stretch>
            <a:fillRect/>
          </a:stretch>
        </p:blipFill>
        <p:spPr>
          <a:xfrm rot="0" flipH="0" flipV="0">
            <a:off x="666750" y="2095500"/>
            <a:ext cx="6667500" cy="3238500"/>
          </a:xfrm>
          <a:prstGeom prst="rect">
            <a:avLst/>
          </a:prstGeom>
          <a:ln/>
        </p:spPr>
      </p:pic>
      <p:sp>
        <p:nvSpPr>
          <p:cNvPr id="1246" name="" descr="{&quot;isTemplate&quot;:true,&quot;type&quot;:&quot;text&quot;}"/>
          <p:cNvSpPr txBox="1"/>
          <p:nvPr/>
        </p:nvSpPr>
        <p:spPr>
          <a:xfrm rot="0" flipH="0" flipV="0">
            <a:off x="7600950" y="1885950"/>
            <a:ext cx="3924300" cy="342900"/>
          </a:xfrm>
          <a:prstGeom prst="rect"/>
        </p:spPr>
        <p:txBody>
          <a:bodyPr wrap="none" lIns="0" tIns="0" rIns="0" bIns="0"/>
          <a:p>
            <a:pPr>
              <a:lnSpc>
                <a:spcPct val="140000"/>
              </a:lnSpc>
            </a:pPr>
            <a:r>
              <a:rPr lang="zh-CN" sz="1575" b="1">
                <a:solidFill>
                  <a:srgbClr val="0E2340"/>
                </a:solidFill>
                <a:latin typeface="Microsoft YaHei"/>
                <a:ea typeface="Microsoft YaHei"/>
              </a:rPr>
              <a:t>教学状态</a:t>
            </a:r>
            <a:endParaRPr/>
          </a:p>
        </p:txBody>
      </p:sp>
      <p:sp>
        <p:nvSpPr>
          <p:cNvPr id="1247" name=""/>
          <p:cNvSpPr/>
          <p:nvPr/>
        </p:nvSpPr>
        <p:spPr>
          <a:xfrm rot="0" flipH="0" flipV="0">
            <a:off x="7600950" y="2419350"/>
            <a:ext cx="76200" cy="76200"/>
          </a:xfrm>
          <a:prstGeom prst="roundRect">
            <a:avLst>
              <a:gd name="adj" fmla="val 50000"/>
            </a:avLst>
          </a:prstGeom>
          <a:solidFill>
            <a:srgbClr val="1E7BE0"/>
          </a:solidFill>
          <a:ln/>
        </p:spPr>
        <p:txBody>
          <a:bodyPr/>
          <a:p/>
        </p:txBody>
      </p:sp>
      <p:sp>
        <p:nvSpPr>
          <p:cNvPr id="1248" name="" descr="{&quot;isTemplate&quot;:true,&quot;type&quot;:&quot;text&quot;}"/>
          <p:cNvSpPr txBox="1"/>
          <p:nvPr/>
        </p:nvSpPr>
        <p:spPr>
          <a:xfrm rot="0" flipH="0" flipV="0">
            <a:off x="7791450" y="23336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系统可掌握：是否独立完成、尝试了几次、是否需要提示、是否看过答案、是否仍有具体错误。</a:t>
            </a:r>
            <a:endParaRPr/>
          </a:p>
        </p:txBody>
      </p:sp>
      <p:sp>
        <p:nvSpPr>
          <p:cNvPr id="1249" name=""/>
          <p:cNvSpPr/>
          <p:nvPr/>
        </p:nvSpPr>
        <p:spPr>
          <a:xfrm rot="0" flipH="0" flipV="0">
            <a:off x="7600950" y="3143250"/>
            <a:ext cx="76200" cy="76200"/>
          </a:xfrm>
          <a:prstGeom prst="roundRect">
            <a:avLst>
              <a:gd name="adj" fmla="val 50000"/>
            </a:avLst>
          </a:prstGeom>
          <a:solidFill>
            <a:srgbClr val="1E7BE0"/>
          </a:solidFill>
          <a:ln/>
        </p:spPr>
        <p:txBody>
          <a:bodyPr/>
          <a:p/>
        </p:txBody>
      </p:sp>
      <p:sp>
        <p:nvSpPr>
          <p:cNvPr id="1250" name="" descr="{&quot;isTemplate&quot;:true,&quot;type&quot;:&quot;text&quot;}"/>
          <p:cNvSpPr txBox="1"/>
          <p:nvPr/>
        </p:nvSpPr>
        <p:spPr>
          <a:xfrm rot="0" flipH="0" flipV="0">
            <a:off x="7791450" y="30575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据此选择继续讲解、补充前置知识或安排步骤专项训练。</a:t>
            </a:r>
            <a:endParaRPr/>
          </a:p>
        </p:txBody>
      </p:sp>
      <p:sp>
        <p:nvSpPr>
          <p:cNvPr id="1251" name=""/>
          <p:cNvSpPr/>
          <p:nvPr/>
        </p:nvSpPr>
        <p:spPr>
          <a:xfrm rot="0" flipH="0" flipV="0">
            <a:off x="7600950" y="3867150"/>
            <a:ext cx="76200" cy="76200"/>
          </a:xfrm>
          <a:prstGeom prst="roundRect">
            <a:avLst>
              <a:gd name="adj" fmla="val 50000"/>
            </a:avLst>
          </a:prstGeom>
          <a:solidFill>
            <a:srgbClr val="1E7BE0"/>
          </a:solidFill>
          <a:ln/>
        </p:spPr>
        <p:txBody>
          <a:bodyPr/>
          <a:p/>
        </p:txBody>
      </p:sp>
      <p:sp>
        <p:nvSpPr>
          <p:cNvPr id="1252" name="" descr="{&quot;isTemplate&quot;:true,&quot;type&quot;:&quot;text&quot;}"/>
          <p:cNvSpPr txBox="1"/>
          <p:nvPr/>
        </p:nvSpPr>
        <p:spPr>
          <a:xfrm rot="0" flipH="0" flipV="0">
            <a:off x="7791450" y="37814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四种状态：独立答对</a:t>
            </a:r>
            <a:r>
              <a:rPr lang="en-US" sz="1275">
                <a:solidFill>
                  <a:srgbClr val="333A45"/>
                </a:solidFill>
                <a:latin typeface="Microsoft YaHei"/>
                <a:ea typeface="Microsoft YaHei"/>
              </a:rPr>
              <a:t xml:space="preserve"> / </a:t>
            </a:r>
            <a:r>
              <a:rPr lang="zh-CN" sz="1275">
                <a:solidFill>
                  <a:srgbClr val="333A45"/>
                </a:solidFill>
                <a:latin typeface="Microsoft YaHei"/>
                <a:ea typeface="Microsoft YaHei"/>
              </a:rPr>
              <a:t>提示后答对</a:t>
            </a:r>
            <a:r>
              <a:rPr lang="en-US" sz="1275">
                <a:solidFill>
                  <a:srgbClr val="333A45"/>
                </a:solidFill>
                <a:latin typeface="Microsoft YaHei"/>
                <a:ea typeface="Microsoft YaHei"/>
              </a:rPr>
              <a:t xml:space="preserve"> / </a:t>
            </a:r>
            <a:r>
              <a:rPr lang="zh-CN" sz="1275">
                <a:solidFill>
                  <a:srgbClr val="333A45"/>
                </a:solidFill>
                <a:latin typeface="Microsoft YaHei"/>
                <a:ea typeface="Microsoft YaHei"/>
              </a:rPr>
              <a:t>看答案后完成</a:t>
            </a:r>
            <a:r>
              <a:rPr lang="en-US" sz="1275">
                <a:solidFill>
                  <a:srgbClr val="333A45"/>
                </a:solidFill>
                <a:latin typeface="Microsoft YaHei"/>
                <a:ea typeface="Microsoft YaHei"/>
              </a:rPr>
              <a:t xml:space="preserve"> / </a:t>
            </a:r>
            <a:r>
              <a:rPr lang="zh-CN" sz="1275">
                <a:solidFill>
                  <a:srgbClr val="333A45"/>
                </a:solidFill>
                <a:latin typeface="Microsoft YaHei"/>
                <a:ea typeface="Microsoft YaHei"/>
              </a:rPr>
              <a:t>跳过与尚未完成。</a:t>
            </a:r>
            <a:endParaRPr/>
          </a:p>
        </p:txBody>
      </p:sp>
      <p:sp>
        <p:nvSpPr>
          <p:cNvPr id="1253" name=""/>
          <p:cNvSpPr/>
          <p:nvPr/>
        </p:nvSpPr>
        <p:spPr>
          <a:xfrm rot="0" flipH="0" flipV="0">
            <a:off x="7600950" y="4591050"/>
            <a:ext cx="76200" cy="76200"/>
          </a:xfrm>
          <a:prstGeom prst="roundRect">
            <a:avLst>
              <a:gd name="adj" fmla="val 50000"/>
            </a:avLst>
          </a:prstGeom>
          <a:solidFill>
            <a:srgbClr val="1E7BE0"/>
          </a:solidFill>
          <a:ln/>
        </p:spPr>
        <p:txBody>
          <a:bodyPr/>
          <a:p/>
        </p:txBody>
      </p:sp>
      <p:sp>
        <p:nvSpPr>
          <p:cNvPr id="1254" name="" descr="{&quot;isTemplate&quot;:true,&quot;type&quot;:&quot;text&quot;}"/>
          <p:cNvSpPr txBox="1"/>
          <p:nvPr/>
        </p:nvSpPr>
        <p:spPr>
          <a:xfrm rot="0" flipH="0" flipV="0">
            <a:off x="7791450" y="45053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在提示下完成一步＝完成这次学习任务；在新题中独立完成同类步骤，才是更强的掌握证据。</a:t>
            </a:r>
            <a:endParaRPr/>
          </a:p>
        </p:txBody>
      </p:sp>
      <p:sp>
        <p:nvSpPr>
          <p:cNvPr id="1255" name=""/>
          <p:cNvSpPr/>
          <p:nvPr/>
        </p:nvSpPr>
        <p:spPr>
          <a:xfrm rot="0" flipH="0" flipV="0">
            <a:off x="7600950" y="5314950"/>
            <a:ext cx="76200" cy="76200"/>
          </a:xfrm>
          <a:prstGeom prst="roundRect">
            <a:avLst>
              <a:gd name="adj" fmla="val 50000"/>
            </a:avLst>
          </a:prstGeom>
          <a:solidFill>
            <a:srgbClr val="1E7BE0"/>
          </a:solidFill>
          <a:ln/>
        </p:spPr>
        <p:txBody>
          <a:bodyPr/>
          <a:p/>
        </p:txBody>
      </p:sp>
      <p:sp>
        <p:nvSpPr>
          <p:cNvPr id="1256" name="" descr="{&quot;isTemplate&quot;:true,&quot;type&quot;:&quot;text&quot;}"/>
          <p:cNvSpPr txBox="1"/>
          <p:nvPr/>
        </p:nvSpPr>
        <p:spPr>
          <a:xfrm rot="0" flipH="0" flipV="0">
            <a:off x="7791450" y="5229225"/>
            <a:ext cx="3733800" cy="314325"/>
          </a:xfrm>
          <a:prstGeom prst="rect"/>
        </p:spPr>
        <p:txBody>
          <a:bodyPr wrap="none" lIns="0" tIns="0" rIns="0" bIns="0"/>
          <a:p>
            <a:pPr>
              <a:lnSpc>
                <a:spcPct val="160000"/>
              </a:lnSpc>
            </a:pPr>
            <a:r>
              <a:rPr lang="zh-CN" sz="1275">
                <a:solidFill>
                  <a:srgbClr val="333A45"/>
                </a:solidFill>
                <a:latin typeface="Microsoft YaHei"/>
                <a:ea typeface="Microsoft YaHei"/>
              </a:rPr>
              <a:t>一次步骤错误并不能直接证明某知识点没有掌握。</a:t>
            </a:r>
            <a:endParaRPr/>
          </a:p>
        </p:txBody>
      </p:sp>
      <p:sp>
        <p:nvSpPr>
          <p:cNvPr id="1257"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258" name="" descr="{&quot;isTemplate&quot;:true,&quot;type&quot;:&quot;text&quot;}"/>
          <p:cNvSpPr txBox="1"/>
          <p:nvPr/>
        </p:nvSpPr>
        <p:spPr>
          <a:xfrm rot="0" flipH="0" flipV="0">
            <a:off x="666750" y="6381750"/>
            <a:ext cx="1743075" cy="209550"/>
          </a:xfrm>
          <a:prstGeom prst="rect"/>
        </p:spPr>
        <p:txBody>
          <a:bodyPr wrap="none" lIns="0" tIns="0" rIns="0" bIns="0"/>
          <a:p>
            <a:pPr>
              <a:lnSpc>
                <a:spcPct val="140000"/>
              </a:lnSpc>
            </a:pPr>
            <a:r>
              <a:rPr lang="zh-CN" sz="975">
                <a:solidFill>
                  <a:srgbClr val="7A8699"/>
                </a:solidFill>
                <a:latin typeface="Microsoft YaHei"/>
                <a:ea typeface="Microsoft YaHei"/>
              </a:rPr>
              <a:t>依据：单题功能设计思路</a:t>
            </a:r>
            <a:r>
              <a:rPr lang="en-US" sz="975">
                <a:solidFill>
                  <a:srgbClr val="7A8699"/>
                </a:solidFill>
                <a:latin typeface="Microsoft YaHei"/>
                <a:ea typeface="Microsoft YaHei"/>
              </a:rPr>
              <a:t>.md §4</a:t>
            </a:r>
            <a:endParaRPr/>
          </a:p>
        </p:txBody>
      </p:sp>
      <p:sp>
        <p:nvSpPr>
          <p:cNvPr id="1259"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30 / 124 </a:t>
            </a:r>
            <a:endParaRPr/>
          </a:p>
        </p:txBody>
      </p:sp>
    </p:spTree>
  </p:cSld>
</p:sld>
</file>

<file path=ppt/slides/slide31.xml><?xml version="1.0" encoding="utf-8"?>
<p:sld xmlns:p="http://schemas.openxmlformats.org/presentationml/2006/main" xmlns:a="http://schemas.openxmlformats.org/drawingml/2006/main">
  <p:cSld>
    <p:spTree>
      <p:nvGrpSpPr>
        <p:cNvPr id="1260"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3 / 单题引擎&lt;/Text&gt;&lt;Text style={{ fontSize: 32, color: '#0E2340', fontWeight: 700, lineHeight: 1.3 }}&gt;AI 出题：四检查与闭环校验&lt;/Text&gt;&lt;/Box&gt;&lt;Box style={{ flexDirection: 'row', alignItems: 'center', padding: '7px 16px', borderRadius: 20, background: '#E8A33D' }}&gt;&lt;Text style={{ fontSize: 14, color: '#FFFFFF', fontWeight: 600 }}&gt;部分实现&lt;/Text&gt;&lt;/Box&gt;&lt;/Box&gt;&lt;Box style={{ height: 532, paddingTop: 8, flexDirection: 'column' }}&gt;&lt;Box style={{ flexDirection: 'column', flex: 1, justifyContent: 'center', gap: 18 }}&gt;&lt;Box style={{ flexDirection: 'row', alignItems: 'center', background: '#F5F7FA', borderLeft: '4px solid #0E2340', borderRadius: 6, padding: '14px 20px' }}&gt;&lt;Text style={{ fontSize: 20, color: '#0E2340', fontWeight: 600, lineHeight: 1.5 }}&gt;当教学目标、步骤路径和母题结构已确定，出题最主要的剩余工作可以集中在构造合理条件，并验证新题确实能解出来&lt;/Text&gt;&lt;/Box&gt;&lt;Box style={{ flexDirection: 'row', gap: 20, flex: 1 }}&gt;&lt;Box style={{ width: 270, background: '#FFFFFF', border: '1px solid #E3E8EF', borderRadius: 8, overflow: 'hidden', flexDirection: 'column' }}&gt;&lt;Box style={{ height: 4, background: 'linear-gradient(90deg, #1E7BE0 0%, #00A9B5 100%)' }} /&gt;&lt;Box style={{ flexDirection: 'column', gap: 10, padding: 20, flex: 1 }}&gt;&lt;Text style={{ fontSize: 22, color: '#0E2340', fontWeight: 600, lineHeight: 1.4 }}&gt;能解&lt;/Text&gt;&lt;Text style={{ fontSize: 17, color: '#333A45', fontWeight: 400, lineHeight: 1.6 }}&gt;条件充分、无矛盾；对要求唯一答案的题目，答案应唯一。&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2, color: '#0E2340', fontWeight: 600, lineHeight: 1.4 }}&gt;解对&lt;/Text&gt;&lt;Text style={{ fontSize: 17, color: '#333A45', fontWeight: 400, lineHeight: 1.6 }}&gt;新题的答案与过程正确，不能沿用改题前的旧答案。&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2, color: '#0E2340', fontWeight: 600, lineHeight: 1.4 }}&gt;对目标&lt;/Text&gt;&lt;Text style={{ fontSize: 17, color: '#333A45', fontWeight: 400, lineHeight: 1.6 }}&gt;新题仍能训练预定知识点与步骤，未意外换成另一类方法。&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2, color: '#0E2340', fontWeight: 600, lineHeight: 1.4 }}&gt;适合学生&lt;/Text&gt;&lt;Text style={{ fontSize: 17, color: '#333A45', fontWeight: 400, lineHeight: 1.6 }}&gt;所需知识、计算量与非常规程度适合学生当前学习阶段。&lt;/Text&gt;&lt;/Box&gt;&lt;/Box&gt;&lt;/Box&gt;&lt;Box style={{ flexDirection: 'row', alignItems: 'center', background: '#F5F7FA', borderLeft: '4px solid #00A9B5', borderRadius: 6, padding: '14px 20px' }}&gt;&lt;Text style={{ fontSize: 17, color: '#0E2340', fontWeight: 600, lineHeight: 1.5 }}&gt;闭环校验：生成后的题目应重新进入 AI 解题流水线，得到实际解法，再检查实际步骤与目标步骤是否吻合——生成时声称采用某步骤，不等于新题实际需要该步骤&lt;/Text&gt;&lt;/Box&gt;&lt;/Box&gt;&lt;/Box&gt;&lt;Box style={{ height: 40, flexDirection: 'row', justifyContent: 'space-between', alignItems: 'center', borderTop: '1px solid #E3E8EF', marginTop: 8 }}&gt;&lt;Text style={{ fontSize: 13, color: '#7A8699', fontWeight: 400, lineHeight: 1.4 }}&gt;依据：单题功能设计思路.md §5&lt;/Text&gt;&lt;Text style={{ fontSize: 14, color: '#7A8699', fontWeight: 400, lineHeight: 1.4 }}&gt; 31 / 124 &lt;/Text&gt;&lt;/Box&gt;&lt;/Slide&gt;"/>
        <p:cNvGrpSpPr/>
        <p:nvPr/>
      </p:nvGrpSpPr>
      <p:grpSpPr>
        <a:xfrm>
          <a:off x="0" y="0"/>
          <a:ext cx="0" cy="0"/>
          <a:chOff x="0" y="0"/>
          <a:chExt cx="0" cy="0"/>
        </a:xfrm>
      </p:grpSpPr>
      <p:sp>
        <p:nvSpPr>
          <p:cNvPr id="1261" name=""/>
          <p:cNvSpPr/>
          <p:nvPr/>
        </p:nvSpPr>
        <p:spPr>
          <a:xfrm rot="0" flipH="0" flipV="0">
            <a:off x="0" y="0"/>
            <a:ext cx="12192000" cy="6858000"/>
          </a:xfrm>
          <a:prstGeom prst="rect">
            <a:avLst/>
          </a:prstGeom>
          <a:solidFill>
            <a:srgbClr val="FFFFFF"/>
          </a:solidFill>
          <a:ln/>
        </p:spPr>
        <p:txBody>
          <a:bodyPr/>
          <a:p/>
        </p:txBody>
      </p:sp>
      <p:sp>
        <p:nvSpPr>
          <p:cNvPr id="1262" name="" descr="{&quot;isTemplate&quot;:true,&quot;type&quot;:&quot;text&quot;}"/>
          <p:cNvSpPr txBox="1"/>
          <p:nvPr/>
        </p:nvSpPr>
        <p:spPr>
          <a:xfrm rot="0" flipH="0" flipV="0">
            <a:off x="666750" y="381000"/>
            <a:ext cx="3743325"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03 / </a:t>
            </a:r>
            <a:r>
              <a:rPr lang="zh-CN" sz="1050" spc="75">
                <a:solidFill>
                  <a:srgbClr val="7A8699"/>
                </a:solidFill>
                <a:latin typeface="Microsoft YaHei"/>
                <a:ea typeface="Microsoft YaHei"/>
              </a:rPr>
              <a:t>单题引擎</a:t>
            </a:r>
            <a:endParaRPr/>
          </a:p>
        </p:txBody>
      </p:sp>
      <p:sp>
        <p:nvSpPr>
          <p:cNvPr id="1263" name="" descr="{&quot;isTemplate&quot;:true,&quot;type&quot;:&quot;text&quot;}"/>
          <p:cNvSpPr txBox="1"/>
          <p:nvPr/>
        </p:nvSpPr>
        <p:spPr>
          <a:xfrm rot="0" flipH="0" flipV="0">
            <a:off x="666750" y="666750"/>
            <a:ext cx="3743325" cy="476250"/>
          </a:xfrm>
          <a:prstGeom prst="rect"/>
        </p:spPr>
        <p:txBody>
          <a:bodyPr wrap="none" lIns="0" tIns="0" rIns="0" bIns="0"/>
          <a:p>
            <a:pPr>
              <a:lnSpc>
                <a:spcPct val="130000"/>
              </a:lnSpc>
            </a:pPr>
            <a:r>
              <a:rPr lang="en-US" sz="2400" b="1">
                <a:solidFill>
                  <a:srgbClr val="0E2340"/>
                </a:solidFill>
                <a:latin typeface="Microsoft YaHei"/>
                <a:ea typeface="Microsoft YaHei"/>
              </a:rPr>
              <a:t xml:space="preserve">AI </a:t>
            </a:r>
            <a:r>
              <a:rPr lang="zh-CN" sz="2400" b="1">
                <a:solidFill>
                  <a:srgbClr val="0E2340"/>
                </a:solidFill>
                <a:latin typeface="Microsoft YaHei"/>
                <a:ea typeface="Microsoft YaHei"/>
              </a:rPr>
              <a:t>出题：四检查与闭环校验</a:t>
            </a:r>
            <a:endParaRPr/>
          </a:p>
        </p:txBody>
      </p:sp>
      <p:sp>
        <p:nvSpPr>
          <p:cNvPr id="1264" name=""/>
          <p:cNvSpPr/>
          <p:nvPr/>
        </p:nvSpPr>
        <p:spPr>
          <a:xfrm rot="0" flipH="0" flipV="0">
            <a:off x="10687050" y="847725"/>
            <a:ext cx="838200" cy="295275"/>
          </a:xfrm>
          <a:prstGeom prst="roundRect">
            <a:avLst>
              <a:gd name="adj" fmla="val 64516"/>
            </a:avLst>
          </a:prstGeom>
          <a:solidFill>
            <a:srgbClr val="E8A33D"/>
          </a:solidFill>
          <a:ln/>
        </p:spPr>
        <p:txBody>
          <a:bodyPr/>
          <a:p/>
        </p:txBody>
      </p:sp>
      <p:sp>
        <p:nvSpPr>
          <p:cNvPr id="1265" name="" descr="{&quot;isTemplate&quot;:true,&quot;type&quot;:&quot;text&quot;}"/>
          <p:cNvSpPr txBox="1"/>
          <p:nvPr/>
        </p:nvSpPr>
        <p:spPr>
          <a:xfrm rot="0" flipH="0" flipV="0">
            <a:off x="10839450" y="914400"/>
            <a:ext cx="533400" cy="161925"/>
          </a:xfrm>
          <a:prstGeom prst="rect"/>
        </p:spPr>
        <p:txBody>
          <a:bodyPr wrap="none" lIns="0" tIns="0" rIns="0" bIns="0"/>
          <a:p>
            <a:pPr>
              <a:lnSpc>
                <a:spcPct val="100000"/>
              </a:lnSpc>
            </a:pPr>
            <a:r>
              <a:rPr lang="zh-CN" sz="1050" b="1">
                <a:solidFill>
                  <a:srgbClr val="FFFFFF"/>
                </a:solidFill>
                <a:latin typeface="Microsoft YaHei"/>
                <a:ea typeface="Microsoft YaHei"/>
              </a:rPr>
              <a:t>部分实现</a:t>
            </a:r>
            <a:endParaRPr/>
          </a:p>
        </p:txBody>
      </p:sp>
      <p:sp>
        <p:nvSpPr>
          <p:cNvPr id="1266" name=""/>
          <p:cNvSpPr/>
          <p:nvPr/>
        </p:nvSpPr>
        <p:spPr>
          <a:xfrm rot="0" flipH="0" flipV="0">
            <a:off x="704850" y="1219200"/>
            <a:ext cx="10858500" cy="609600"/>
          </a:xfrm>
          <a:prstGeom prst="roundRect">
            <a:avLst>
              <a:gd name="adj" fmla="val 9375"/>
            </a:avLst>
          </a:prstGeom>
          <a:solidFill>
            <a:srgbClr val="F5F7FA"/>
          </a:solidFill>
          <a:ln/>
        </p:spPr>
        <p:txBody>
          <a:bodyPr/>
          <a:p/>
        </p:txBody>
      </p:sp>
      <p:sp>
        <p:nvSpPr>
          <p:cNvPr id="1267" name=""/>
          <p:cNvSpPr/>
          <p:nvPr/>
        </p:nvSpPr>
        <p:spPr>
          <a:xfrm rot="0" flipH="0" flipV="0">
            <a:off x="704850" y="12192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1268" name="" descr="{&quot;isTemplate&quot;:true,&quot;type&quot;:&quot;text&quot;}"/>
          <p:cNvSpPr txBox="1"/>
          <p:nvPr/>
        </p:nvSpPr>
        <p:spPr>
          <a:xfrm rot="0" flipH="0" flipV="0">
            <a:off x="895350" y="1352550"/>
            <a:ext cx="9906000" cy="342900"/>
          </a:xfrm>
          <a:prstGeom prst="rect"/>
        </p:spPr>
        <p:txBody>
          <a:bodyPr wrap="none" lIns="0" tIns="0" rIns="0" bIns="0"/>
          <a:p>
            <a:pPr>
              <a:lnSpc>
                <a:spcPct val="150000"/>
              </a:lnSpc>
            </a:pPr>
            <a:r>
              <a:rPr lang="zh-CN" sz="1500" b="1">
                <a:solidFill>
                  <a:srgbClr val="0E2340"/>
                </a:solidFill>
                <a:latin typeface="Microsoft YaHei"/>
                <a:ea typeface="Microsoft YaHei"/>
              </a:rPr>
              <a:t>当教学目标、步骤路径和母题结构已确定，出题最主要的剩余工作可以集中在构造合理条件，并验证新题确实能解出来</a:t>
            </a:r>
            <a:endParaRPr/>
          </a:p>
        </p:txBody>
      </p:sp>
      <p:sp>
        <p:nvSpPr>
          <p:cNvPr id="1269" name=""/>
          <p:cNvSpPr/>
          <p:nvPr/>
        </p:nvSpPr>
        <p:spPr>
          <a:xfrm rot="0" flipH="0" flipV="0">
            <a:off x="666750" y="2000250"/>
            <a:ext cx="2571750" cy="3181350"/>
          </a:xfrm>
          <a:prstGeom prst="roundRect">
            <a:avLst>
              <a:gd name="adj" fmla="val 2963"/>
            </a:avLst>
          </a:prstGeom>
          <a:solidFill>
            <a:srgbClr val="FFFFFF"/>
          </a:solidFill>
          <a:ln w="12700">
            <a:solidFill>
              <a:srgbClr val="E3E8EF"/>
            </a:solidFill>
            <a:prstDash val="solid"/>
          </a:ln>
        </p:spPr>
        <p:txBody>
          <a:bodyPr/>
          <a:p/>
        </p:txBody>
      </p:sp>
      <p:sp>
        <p:nvSpPr>
          <p:cNvPr id="1270" name=""/>
          <p:cNvSpPr/>
          <p:nvPr/>
        </p:nvSpPr>
        <p:spPr>
          <a:xfrm rot="0" flipH="0" flipV="0">
            <a:off x="666750" y="200025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271" name="" descr="{&quot;isTemplate&quot;:true,&quot;type&quot;:&quot;text&quot;}"/>
          <p:cNvSpPr txBox="1"/>
          <p:nvPr/>
        </p:nvSpPr>
        <p:spPr>
          <a:xfrm rot="0" flipH="0" flipV="0">
            <a:off x="857250" y="2228850"/>
            <a:ext cx="2190750" cy="352425"/>
          </a:xfrm>
          <a:prstGeom prst="rect"/>
        </p:spPr>
        <p:txBody>
          <a:bodyPr wrap="none" lIns="0" tIns="0" rIns="0" bIns="0"/>
          <a:p>
            <a:pPr>
              <a:lnSpc>
                <a:spcPct val="140000"/>
              </a:lnSpc>
            </a:pPr>
            <a:r>
              <a:rPr lang="zh-CN" sz="1650" b="1">
                <a:solidFill>
                  <a:srgbClr val="0E2340"/>
                </a:solidFill>
                <a:latin typeface="Microsoft YaHei"/>
                <a:ea typeface="Microsoft YaHei"/>
              </a:rPr>
              <a:t>能解</a:t>
            </a:r>
            <a:endParaRPr/>
          </a:p>
        </p:txBody>
      </p:sp>
      <p:sp>
        <p:nvSpPr>
          <p:cNvPr id="1272" name="" descr="{&quot;isTemplate&quot;:true,&quot;type&quot;:&quot;text&quot;}"/>
          <p:cNvSpPr txBox="1"/>
          <p:nvPr/>
        </p:nvSpPr>
        <p:spPr>
          <a:xfrm rot="0" flipH="0" flipV="0">
            <a:off x="857250" y="2676525"/>
            <a:ext cx="219075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条件充分、无矛盾；对要求唯一答案的题目，答案应唯一。</a:t>
            </a:r>
            <a:endParaRPr/>
          </a:p>
        </p:txBody>
      </p:sp>
      <p:sp>
        <p:nvSpPr>
          <p:cNvPr id="1273" name=""/>
          <p:cNvSpPr/>
          <p:nvPr/>
        </p:nvSpPr>
        <p:spPr>
          <a:xfrm rot="0" flipH="0" flipV="0">
            <a:off x="3429000" y="2000250"/>
            <a:ext cx="2571750" cy="3181350"/>
          </a:xfrm>
          <a:prstGeom prst="roundRect">
            <a:avLst>
              <a:gd name="adj" fmla="val 2963"/>
            </a:avLst>
          </a:prstGeom>
          <a:solidFill>
            <a:srgbClr val="FFFFFF"/>
          </a:solidFill>
          <a:ln w="12700">
            <a:solidFill>
              <a:srgbClr val="E3E8EF"/>
            </a:solidFill>
            <a:prstDash val="solid"/>
          </a:ln>
        </p:spPr>
        <p:txBody>
          <a:bodyPr/>
          <a:p/>
        </p:txBody>
      </p:sp>
      <p:sp>
        <p:nvSpPr>
          <p:cNvPr id="1274" name=""/>
          <p:cNvSpPr/>
          <p:nvPr/>
        </p:nvSpPr>
        <p:spPr>
          <a:xfrm rot="0" flipH="0" flipV="0">
            <a:off x="3429000" y="200025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275" name="" descr="{&quot;isTemplate&quot;:true,&quot;type&quot;:&quot;text&quot;}"/>
          <p:cNvSpPr txBox="1"/>
          <p:nvPr/>
        </p:nvSpPr>
        <p:spPr>
          <a:xfrm rot="0" flipH="0" flipV="0">
            <a:off x="3619500" y="2228850"/>
            <a:ext cx="2190750" cy="352425"/>
          </a:xfrm>
          <a:prstGeom prst="rect"/>
        </p:spPr>
        <p:txBody>
          <a:bodyPr wrap="none" lIns="0" tIns="0" rIns="0" bIns="0"/>
          <a:p>
            <a:pPr>
              <a:lnSpc>
                <a:spcPct val="140000"/>
              </a:lnSpc>
            </a:pPr>
            <a:r>
              <a:rPr lang="zh-CN" sz="1650" b="1">
                <a:solidFill>
                  <a:srgbClr val="0E2340"/>
                </a:solidFill>
                <a:latin typeface="Microsoft YaHei"/>
                <a:ea typeface="Microsoft YaHei"/>
              </a:rPr>
              <a:t>解对</a:t>
            </a:r>
            <a:endParaRPr/>
          </a:p>
        </p:txBody>
      </p:sp>
      <p:sp>
        <p:nvSpPr>
          <p:cNvPr id="1276" name="" descr="{&quot;isTemplate&quot;:true,&quot;type&quot;:&quot;text&quot;}"/>
          <p:cNvSpPr txBox="1"/>
          <p:nvPr/>
        </p:nvSpPr>
        <p:spPr>
          <a:xfrm rot="0" flipH="0" flipV="0">
            <a:off x="3619500" y="2676525"/>
            <a:ext cx="219075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新题的答案与过程正确，不能沿用改题前的旧答案。</a:t>
            </a:r>
            <a:endParaRPr/>
          </a:p>
        </p:txBody>
      </p:sp>
      <p:sp>
        <p:nvSpPr>
          <p:cNvPr id="1277" name=""/>
          <p:cNvSpPr/>
          <p:nvPr/>
        </p:nvSpPr>
        <p:spPr>
          <a:xfrm rot="0" flipH="0" flipV="0">
            <a:off x="6191250" y="2000250"/>
            <a:ext cx="2571750" cy="3181350"/>
          </a:xfrm>
          <a:prstGeom prst="roundRect">
            <a:avLst>
              <a:gd name="adj" fmla="val 2963"/>
            </a:avLst>
          </a:prstGeom>
          <a:solidFill>
            <a:srgbClr val="FFFFFF"/>
          </a:solidFill>
          <a:ln w="12700">
            <a:solidFill>
              <a:srgbClr val="E3E8EF"/>
            </a:solidFill>
            <a:prstDash val="solid"/>
          </a:ln>
        </p:spPr>
        <p:txBody>
          <a:bodyPr/>
          <a:p/>
        </p:txBody>
      </p:sp>
      <p:sp>
        <p:nvSpPr>
          <p:cNvPr id="1278" name=""/>
          <p:cNvSpPr/>
          <p:nvPr/>
        </p:nvSpPr>
        <p:spPr>
          <a:xfrm rot="0" flipH="0" flipV="0">
            <a:off x="6191250" y="200025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279" name="" descr="{&quot;isTemplate&quot;:true,&quot;type&quot;:&quot;text&quot;}"/>
          <p:cNvSpPr txBox="1"/>
          <p:nvPr/>
        </p:nvSpPr>
        <p:spPr>
          <a:xfrm rot="0" flipH="0" flipV="0">
            <a:off x="6381750" y="2228850"/>
            <a:ext cx="2190750" cy="352425"/>
          </a:xfrm>
          <a:prstGeom prst="rect"/>
        </p:spPr>
        <p:txBody>
          <a:bodyPr wrap="none" lIns="0" tIns="0" rIns="0" bIns="0"/>
          <a:p>
            <a:pPr>
              <a:lnSpc>
                <a:spcPct val="140000"/>
              </a:lnSpc>
            </a:pPr>
            <a:r>
              <a:rPr lang="zh-CN" sz="1650" b="1">
                <a:solidFill>
                  <a:srgbClr val="0E2340"/>
                </a:solidFill>
                <a:latin typeface="Microsoft YaHei"/>
                <a:ea typeface="Microsoft YaHei"/>
              </a:rPr>
              <a:t>对目标</a:t>
            </a:r>
            <a:endParaRPr/>
          </a:p>
        </p:txBody>
      </p:sp>
      <p:sp>
        <p:nvSpPr>
          <p:cNvPr id="1280" name="" descr="{&quot;isTemplate&quot;:true,&quot;type&quot;:&quot;text&quot;}"/>
          <p:cNvSpPr txBox="1"/>
          <p:nvPr/>
        </p:nvSpPr>
        <p:spPr>
          <a:xfrm rot="0" flipH="0" flipV="0">
            <a:off x="6381750" y="2676525"/>
            <a:ext cx="219075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新题仍能训练预定知识点与步骤，未意外换成另一类方法。</a:t>
            </a:r>
            <a:endParaRPr/>
          </a:p>
        </p:txBody>
      </p:sp>
      <p:sp>
        <p:nvSpPr>
          <p:cNvPr id="1281" name=""/>
          <p:cNvSpPr/>
          <p:nvPr/>
        </p:nvSpPr>
        <p:spPr>
          <a:xfrm rot="0" flipH="0" flipV="0">
            <a:off x="8953500" y="2000250"/>
            <a:ext cx="2571750" cy="3181350"/>
          </a:xfrm>
          <a:prstGeom prst="roundRect">
            <a:avLst>
              <a:gd name="adj" fmla="val 2963"/>
            </a:avLst>
          </a:prstGeom>
          <a:solidFill>
            <a:srgbClr val="FFFFFF"/>
          </a:solidFill>
          <a:ln w="12700">
            <a:solidFill>
              <a:srgbClr val="E3E8EF"/>
            </a:solidFill>
            <a:prstDash val="solid"/>
          </a:ln>
        </p:spPr>
        <p:txBody>
          <a:bodyPr/>
          <a:p/>
        </p:txBody>
      </p:sp>
      <p:sp>
        <p:nvSpPr>
          <p:cNvPr id="1282" name=""/>
          <p:cNvSpPr/>
          <p:nvPr/>
        </p:nvSpPr>
        <p:spPr>
          <a:xfrm rot="0" flipH="0" flipV="0">
            <a:off x="8953500" y="200025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283" name="" descr="{&quot;isTemplate&quot;:true,&quot;type&quot;:&quot;text&quot;}"/>
          <p:cNvSpPr txBox="1"/>
          <p:nvPr/>
        </p:nvSpPr>
        <p:spPr>
          <a:xfrm rot="0" flipH="0" flipV="0">
            <a:off x="9144000" y="2228850"/>
            <a:ext cx="2190750" cy="352425"/>
          </a:xfrm>
          <a:prstGeom prst="rect"/>
        </p:spPr>
        <p:txBody>
          <a:bodyPr wrap="none" lIns="0" tIns="0" rIns="0" bIns="0"/>
          <a:p>
            <a:pPr>
              <a:lnSpc>
                <a:spcPct val="140000"/>
              </a:lnSpc>
            </a:pPr>
            <a:r>
              <a:rPr lang="zh-CN" sz="1650" b="1">
                <a:solidFill>
                  <a:srgbClr val="0E2340"/>
                </a:solidFill>
                <a:latin typeface="Microsoft YaHei"/>
                <a:ea typeface="Microsoft YaHei"/>
              </a:rPr>
              <a:t>适合学生</a:t>
            </a:r>
            <a:endParaRPr/>
          </a:p>
        </p:txBody>
      </p:sp>
      <p:sp>
        <p:nvSpPr>
          <p:cNvPr id="1284" name="" descr="{&quot;isTemplate&quot;:true,&quot;type&quot;:&quot;text&quot;}"/>
          <p:cNvSpPr txBox="1"/>
          <p:nvPr/>
        </p:nvSpPr>
        <p:spPr>
          <a:xfrm rot="0" flipH="0" flipV="0">
            <a:off x="9144000" y="2676525"/>
            <a:ext cx="219075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所需知识、计算量与非常规程度适合学生当前学习阶段。</a:t>
            </a:r>
            <a:endParaRPr/>
          </a:p>
        </p:txBody>
      </p:sp>
      <p:sp>
        <p:nvSpPr>
          <p:cNvPr id="1285" name=""/>
          <p:cNvSpPr/>
          <p:nvPr/>
        </p:nvSpPr>
        <p:spPr>
          <a:xfrm rot="0" flipH="0" flipV="0">
            <a:off x="704850" y="5353050"/>
            <a:ext cx="10858500" cy="857250"/>
          </a:xfrm>
          <a:prstGeom prst="roundRect">
            <a:avLst>
              <a:gd name="adj" fmla="val 6667"/>
            </a:avLst>
          </a:prstGeom>
          <a:solidFill>
            <a:srgbClr val="F5F7FA"/>
          </a:solidFill>
          <a:ln/>
        </p:spPr>
        <p:txBody>
          <a:bodyPr/>
          <a:p/>
        </p:txBody>
      </p:sp>
      <p:sp>
        <p:nvSpPr>
          <p:cNvPr id="1286" name=""/>
          <p:cNvSpPr/>
          <p:nvPr/>
        </p:nvSpPr>
        <p:spPr>
          <a:xfrm rot="0" flipH="0" flipV="0">
            <a:off x="704850" y="5353050"/>
            <a:ext cx="10858500" cy="857250"/>
          </a:xfrm>
          <a:custGeom>
            <a:pathLst>
              <a:path w="1140" h="90">
                <a:moveTo>
                  <a:pt x="6" y="0"/>
                </a:moveTo>
                <a:cubicBezTo>
                  <a:pt x="5" y="0"/>
                  <a:pt x="4" y="1"/>
                  <a:pt x="4" y="2"/>
                </a:cubicBezTo>
                <a:lnTo>
                  <a:pt x="4" y="88"/>
                </a:lnTo>
                <a:cubicBezTo>
                  <a:pt x="4" y="89"/>
                  <a:pt x="5" y="90"/>
                  <a:pt x="6" y="90"/>
                </a:cubicBezTo>
                <a:cubicBezTo>
                  <a:pt x="3" y="90"/>
                  <a:pt x="0" y="87"/>
                  <a:pt x="0" y="84"/>
                </a:cubicBezTo>
                <a:lnTo>
                  <a:pt x="0" y="6"/>
                </a:lnTo>
                <a:cubicBezTo>
                  <a:pt x="0" y="3"/>
                  <a:pt x="3" y="0"/>
                  <a:pt x="6" y="0"/>
                </a:cubicBezTo>
                <a:close/>
              </a:path>
            </a:pathLst>
          </a:custGeom>
          <a:solidFill>
            <a:srgbClr val="00A9B5"/>
          </a:solidFill>
          <a:ln/>
        </p:spPr>
        <p:txBody>
          <a:bodyPr/>
          <a:p/>
        </p:txBody>
      </p:sp>
      <p:sp>
        <p:nvSpPr>
          <p:cNvPr id="1287" name="" descr="{&quot;isTemplate&quot;:true,&quot;type&quot;:&quot;text&quot;}"/>
          <p:cNvSpPr txBox="1"/>
          <p:nvPr/>
        </p:nvSpPr>
        <p:spPr>
          <a:xfrm rot="0" flipH="0" flipV="0">
            <a:off x="895350" y="5486400"/>
            <a:ext cx="10439400" cy="590550"/>
          </a:xfrm>
          <a:prstGeom prst="rect"/>
        </p:spPr>
        <p:txBody>
          <a:bodyPr wrap="square" lIns="0" tIns="0" rIns="0" bIns="0">
            <a:normAutofit/>
          </a:bodyPr>
          <a:p>
            <a:pPr>
              <a:lnSpc>
                <a:spcPct val="150000"/>
              </a:lnSpc>
            </a:pPr>
            <a:r>
              <a:rPr lang="zh-CN" sz="1275" b="1">
                <a:solidFill>
                  <a:srgbClr val="0E2340"/>
                </a:solidFill>
                <a:latin typeface="Microsoft YaHei"/>
                <a:ea typeface="Microsoft YaHei"/>
              </a:rPr>
              <a:t>闭环校验：生成后的题目应重新进入</a:t>
            </a:r>
            <a:r>
              <a:rPr lang="en-US" sz="1275" b="1">
                <a:solidFill>
                  <a:srgbClr val="0E2340"/>
                </a:solidFill>
                <a:latin typeface="Microsoft YaHei"/>
                <a:ea typeface="Microsoft YaHei"/>
              </a:rPr>
              <a:t xml:space="preserve"> AI </a:t>
            </a:r>
            <a:r>
              <a:rPr lang="zh-CN" sz="1275" b="1">
                <a:solidFill>
                  <a:srgbClr val="0E2340"/>
                </a:solidFill>
                <a:latin typeface="Microsoft YaHei"/>
                <a:ea typeface="Microsoft YaHei"/>
              </a:rPr>
              <a:t>解题流水线，得到实际解法，再检查实际步骤与目标步骤是否吻合——生成时声称采用某步骤，不等于新题实际需要该步骤</a:t>
            </a:r>
            <a:endParaRPr/>
          </a:p>
        </p:txBody>
      </p:sp>
      <p:sp>
        <p:nvSpPr>
          <p:cNvPr id="1288"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289" name="" descr="{&quot;isTemplate&quot;:true,&quot;type&quot;:&quot;text&quot;}"/>
          <p:cNvSpPr txBox="1"/>
          <p:nvPr/>
        </p:nvSpPr>
        <p:spPr>
          <a:xfrm rot="0" flipH="0" flipV="0">
            <a:off x="666750" y="6381750"/>
            <a:ext cx="1743075" cy="209550"/>
          </a:xfrm>
          <a:prstGeom prst="rect"/>
        </p:spPr>
        <p:txBody>
          <a:bodyPr wrap="none" lIns="0" tIns="0" rIns="0" bIns="0"/>
          <a:p>
            <a:pPr>
              <a:lnSpc>
                <a:spcPct val="140000"/>
              </a:lnSpc>
            </a:pPr>
            <a:r>
              <a:rPr lang="zh-CN" sz="975">
                <a:solidFill>
                  <a:srgbClr val="7A8699"/>
                </a:solidFill>
                <a:latin typeface="Microsoft YaHei"/>
                <a:ea typeface="Microsoft YaHei"/>
              </a:rPr>
              <a:t>依据：单题功能设计思路</a:t>
            </a:r>
            <a:r>
              <a:rPr lang="en-US" sz="975">
                <a:solidFill>
                  <a:srgbClr val="7A8699"/>
                </a:solidFill>
                <a:latin typeface="Microsoft YaHei"/>
                <a:ea typeface="Microsoft YaHei"/>
              </a:rPr>
              <a:t>.md §5</a:t>
            </a:r>
            <a:endParaRPr/>
          </a:p>
        </p:txBody>
      </p:sp>
      <p:sp>
        <p:nvSpPr>
          <p:cNvPr id="1290"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31 / 124 </a:t>
            </a:r>
            <a:endParaRPr/>
          </a:p>
        </p:txBody>
      </p:sp>
    </p:spTree>
  </p:cSld>
</p:sld>
</file>

<file path=ppt/slides/slide32.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291"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3 / 单题引擎&lt;/Text&gt;&lt;Text style={{ fontSize: 32, color: '#0E2340', fontWeight: 700, lineHeight: 1.3 }}&gt;错题与题库：八维查找与学生复盘路径&lt;/Text&gt;&lt;/Box&gt;&lt;Box style={{ flexDirection: 'row', alignItems: 'center', padding: '7px 16px', borderRadius: 20, background: '#E8A33D' }}&gt;&lt;Text style={{ fontSize: 14, color: '#FFFFFF', fontWeight: 600 }}&gt;部分实现&lt;/Text&gt;&lt;/Box&gt;&lt;/Box&gt;&lt;Box style={{ height: 532, paddingTop: 8, flexDirection: 'column' }}&gt;&lt;Box style={{ flexDirection: 'row', gap: 28, flex: 1 }}&gt;&lt;Box style={{ width: 620, justifyContent: 'center' }}&gt;&lt;svg width={620} height={400} viewBox='0 0 620 400'&gt;&lt;rect x='0' y='0' width='620' height='400' rx='8' fill='#FFFFFF' stroke='#E3E8EF' stroke-width='1.5'/&gt;&lt;rect x='0' y='0' width='620' height='40' rx='8' fill='#0E2340'/&gt;&lt;rect x='0' y='26' width='620' height='14' fill='#0E2340'/&gt;&lt;text x='16' y='26' font-size='15' fill='#FFFFFF' text-anchor='start' font-weight='600'&gt;StudyAgent&lt;/text&gt;&lt;rect x='18' y='58' width='584' height='26' rx='4' fill='#F5F7FA'/&gt;&lt;text x='30' y='76' font-size='14' fill='#0E2340' text-anchor='start' font-weight='600'&gt;错题检索：步骤 · 错因 · 知识点 · 套路&lt;/text&gt;&lt;rect x='18' y='92' width='584' height='28' rx='14' fill='#EAF3FD'/&gt;&lt;text x='30' y='111' font-size='14' fill='#1E7BE0' text-anchor='start' font-weight='600'&gt;题型 · 难度 · 来源 · 作答状态&lt;/text&gt;&lt;rect x='18' y='128' width='584' height='52' rx='6' fill='#FFFFFF' stroke='#7A8699' stroke-width='1' stroke-dasharray='4 4'/&gt;&lt;text x='30' y='160' font-size='14' fill='#333A45' text-anchor='start' font-weight='400'&gt;示例：查找“建系之后求法向量”出错的题目&lt;/text&gt;&lt;rect x='18' y='188' width='584' height='52' rx='6' fill='#FFFFFF' stroke='#7A8699' stroke-width='1' stroke-dasharray='4 4'/&gt;&lt;text x='30' y='220' font-size='14' fill='#333A45' text-anchor='start' font-weight='400'&gt;区分：题目含该步骤 / 学生在该步骤出过错&lt;/text&gt;&lt;rect x='18' y='248' width='584' height='34' rx='17' fill='#1E7BE0'/&gt;&lt;text x='310.0' y='271' font-size='15' fill='#FFFFFF' text-anchor='middle' font-weight='600'&gt;加入题单 · 组卷 · 步骤专项练习&lt;/text&gt;&lt;text x='608' y='390' font-size='12' fill='#7A8699' text-anchor='end' font-weight='400'&gt;示意占位 · S07 / S08 / S09&lt;/text&gt;&lt;/svg&gt;&lt;/Box&gt;&lt;Box style={{ flex: 1, flexDirection: 'column', gap: 10, justifyContent: 'center' }}&gt;&lt;Text style={{ fontSize: 21, color: '#0E2340', fontWeight: 700, lineHeight: 1.4 }}&gt;界面要点&lt;/Text&gt;&lt;Box style={{ flexDirection: 'column', gap: 9 }}&gt;&lt;Box style={{ flexDirection: 'row', gap: 12, alignItems: 'flex-start' }}&gt;&lt;Box style={{ width: 8, height: 8, borderRadius: 4, background: '#1E7BE0', marginTop: 9 }} /&gt;&lt;Box style={{ flex: 1 }}&gt;&lt;Text style={{ fontSize: 16, color: '#333A45', fontWeight: 400, lineHeight: 1.6 }}&gt;八个查找维度：步骤、错因、知识点、套路、题型、难度、来源、作答状态，可组合并整理为个人题单。&lt;/Text&gt;&lt;/Box&gt;&lt;/Box&gt;&lt;Box style={{ flexDirection: 'row', gap: 12, alignItems: 'flex-start' }}&gt;&lt;Box style={{ width: 8, height: 8, borderRadius: 4, background: '#1E7BE0', marginTop: 9 }} /&gt;&lt;Box style={{ flex: 1 }}&gt;&lt;Text style={{ fontSize: 16, color: '#333A45', fontWeight: 400, lineHeight: 1.6 }}&gt;典型用法一：比较同一步骤每次错误的具体位置。&lt;/Text&gt;&lt;/Box&gt;&lt;/Box&gt;&lt;Box style={{ flexDirection: 'row', gap: 12, alignItems: 'flex-start' }}&gt;&lt;Box style={{ width: 8, height: 8, borderRadius: 4, background: '#1E7BE0', marginTop: 9 }} /&gt;&lt;Box style={{ flex: 1 }}&gt;&lt;Text style={{ fontSize: 16, color: '#333A45', fontWeight: 400, lineHeight: 1.6 }}&gt;典型用法二：区分偶发失误与多次出现的问题。&lt;/Text&gt;&lt;/Box&gt;&lt;/Box&gt;&lt;Box style={{ flexDirection: 'row', gap: 12, alignItems: 'flex-start' }}&gt;&lt;Box style={{ width: 8, height: 8, borderRadius: 4, background: '#1E7BE0', marginTop: 9 }} /&gt;&lt;Box style={{ flex: 1 }}&gt;&lt;Text style={{ fontSize: 16, color: '#333A45', fontWeight: 400, lineHeight: 1.6 }}&gt;典型用法三：查找“看过答案才完成、尚未独立复测”的题目。&lt;/Text&gt;&lt;/Box&gt;&lt;/Box&gt;&lt;Box style={{ flexDirection: 'row', gap: 12, alignItems: 'flex-start' }}&gt;&lt;Box style={{ width: 8, height: 8, borderRadius: 4, background: '#1E7BE0', marginTop: 9 }} /&gt;&lt;Box style={{ flex: 1 }}&gt;&lt;Text style={{ fontSize: 16, color: '#333A45', fontWeight: 400, lineHeight: 1.6 }}&gt;复盘路径：找到错题 → 查看错误步骤与原始作答 → 回放停顿及回改片段 → 确认或修正错因 → 查找同类步骤题目 → 整理题单或组卷 → 独立重做与新题复测 → 比较新旧步骤表现。&lt;/Text&gt;&lt;/Box&gt;&lt;/Box&gt;&lt;/Box&gt;&lt;Box style={{ marginTop: 6, padding: '9px 14px', background: '#F5F7FA', borderRadius: 6, alignSelf: 'flex-start' }}&gt;&lt;Text style={{ fontSize: 14, color: '#7A8699', fontWeight: 600, lineHeight: 1.4 }}&gt;示意占位 S07 / S08 / S09 · 待替换为实际截图&lt;/Text&gt;&lt;/Box&gt;&lt;/Box&gt;&lt;/Box&gt;&lt;/Box&gt;&lt;Box style={{ height: 40, flexDirection: 'row', justifyContent: 'space-between', alignItems: 'center', borderTop: '1px solid #E3E8EF', marginTop: 8 }}&gt;&lt;Text style={{ fontSize: 13, color: '#7A8699', fontWeight: 400, lineHeight: 1.4 }}&gt;依据：单题功能设计思路.md §6&lt;/Text&gt;&lt;Text style={{ fontSize: 14, color: '#7A8699', fontWeight: 400, lineHeight: 1.4 }}&gt; 32 / 124 &lt;/Text&gt;&lt;/Box&gt;&lt;/Slide&gt;"/>
        <p:cNvGrpSpPr/>
        <p:nvPr/>
      </p:nvGrpSpPr>
      <p:grpSpPr>
        <a:xfrm>
          <a:off x="0" y="0"/>
          <a:ext cx="0" cy="0"/>
          <a:chOff x="0" y="0"/>
          <a:chExt cx="0" cy="0"/>
        </a:xfrm>
      </p:grpSpPr>
      <p:sp>
        <p:nvSpPr>
          <p:cNvPr id="1292" name=""/>
          <p:cNvSpPr/>
          <p:nvPr/>
        </p:nvSpPr>
        <p:spPr>
          <a:xfrm rot="0" flipH="0" flipV="0">
            <a:off x="0" y="0"/>
            <a:ext cx="12192000" cy="6858000"/>
          </a:xfrm>
          <a:prstGeom prst="rect">
            <a:avLst/>
          </a:prstGeom>
          <a:solidFill>
            <a:srgbClr val="FFFFFF"/>
          </a:solidFill>
          <a:ln/>
        </p:spPr>
        <p:txBody>
          <a:bodyPr/>
          <a:p/>
        </p:txBody>
      </p:sp>
      <p:sp>
        <p:nvSpPr>
          <p:cNvPr id="1293" name="" descr="{&quot;isTemplate&quot;:true,&quot;type&quot;:&quot;text&quot;}"/>
          <p:cNvSpPr txBox="1"/>
          <p:nvPr/>
        </p:nvSpPr>
        <p:spPr>
          <a:xfrm rot="0" flipH="0" flipV="0">
            <a:off x="666750" y="381000"/>
            <a:ext cx="5181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03 / </a:t>
            </a:r>
            <a:r>
              <a:rPr lang="zh-CN" sz="1050" spc="75">
                <a:solidFill>
                  <a:srgbClr val="7A8699"/>
                </a:solidFill>
                <a:latin typeface="Microsoft YaHei"/>
                <a:ea typeface="Microsoft YaHei"/>
              </a:rPr>
              <a:t>单题引擎</a:t>
            </a:r>
            <a:endParaRPr/>
          </a:p>
        </p:txBody>
      </p:sp>
      <p:sp>
        <p:nvSpPr>
          <p:cNvPr id="1294" name="" descr="{&quot;isTemplate&quot;:true,&quot;type&quot;:&quot;text&quot;}"/>
          <p:cNvSpPr txBox="1"/>
          <p:nvPr/>
        </p:nvSpPr>
        <p:spPr>
          <a:xfrm rot="0" flipH="0" flipV="0">
            <a:off x="666750" y="666750"/>
            <a:ext cx="5181600" cy="476250"/>
          </a:xfrm>
          <a:prstGeom prst="rect"/>
        </p:spPr>
        <p:txBody>
          <a:bodyPr wrap="none" lIns="0" tIns="0" rIns="0" bIns="0"/>
          <a:p>
            <a:pPr>
              <a:lnSpc>
                <a:spcPct val="130000"/>
              </a:lnSpc>
            </a:pPr>
            <a:r>
              <a:rPr lang="zh-CN" sz="2400" b="1">
                <a:solidFill>
                  <a:srgbClr val="0E2340"/>
                </a:solidFill>
                <a:latin typeface="Microsoft YaHei"/>
                <a:ea typeface="Microsoft YaHei"/>
              </a:rPr>
              <a:t>错题与题库：八维查找与学生复盘路径</a:t>
            </a:r>
            <a:endParaRPr/>
          </a:p>
        </p:txBody>
      </p:sp>
      <p:sp>
        <p:nvSpPr>
          <p:cNvPr id="1295" name=""/>
          <p:cNvSpPr/>
          <p:nvPr/>
        </p:nvSpPr>
        <p:spPr>
          <a:xfrm rot="0" flipH="0" flipV="0">
            <a:off x="10687050" y="847725"/>
            <a:ext cx="838200" cy="295275"/>
          </a:xfrm>
          <a:prstGeom prst="roundRect">
            <a:avLst>
              <a:gd name="adj" fmla="val 64516"/>
            </a:avLst>
          </a:prstGeom>
          <a:solidFill>
            <a:srgbClr val="E8A33D"/>
          </a:solidFill>
          <a:ln/>
        </p:spPr>
        <p:txBody>
          <a:bodyPr/>
          <a:p/>
        </p:txBody>
      </p:sp>
      <p:sp>
        <p:nvSpPr>
          <p:cNvPr id="1296" name="" descr="{&quot;isTemplate&quot;:true,&quot;type&quot;:&quot;text&quot;}"/>
          <p:cNvSpPr txBox="1"/>
          <p:nvPr/>
        </p:nvSpPr>
        <p:spPr>
          <a:xfrm rot="0" flipH="0" flipV="0">
            <a:off x="10839450" y="914400"/>
            <a:ext cx="533400" cy="161925"/>
          </a:xfrm>
          <a:prstGeom prst="rect"/>
        </p:spPr>
        <p:txBody>
          <a:bodyPr wrap="none" lIns="0" tIns="0" rIns="0" bIns="0"/>
          <a:p>
            <a:pPr>
              <a:lnSpc>
                <a:spcPct val="100000"/>
              </a:lnSpc>
            </a:pPr>
            <a:r>
              <a:rPr lang="zh-CN" sz="1050" b="1">
                <a:solidFill>
                  <a:srgbClr val="FFFFFF"/>
                </a:solidFill>
                <a:latin typeface="Microsoft YaHei"/>
                <a:ea typeface="Microsoft YaHei"/>
              </a:rPr>
              <a:t>部分实现</a:t>
            </a:r>
            <a:endParaRPr/>
          </a:p>
        </p:txBody>
      </p:sp>
      <p:pic>
        <p:nvPicPr>
          <p:cNvPr id="1297" name=""/>
          <p:cNvPicPr>
            <a:picLocks noChangeAspect="1"/>
          </p:cNvPicPr>
          <p:nvPr/>
        </p:nvPicPr>
        <p:blipFill>
          <a:blip>
            <a:extLst>
              <a:ext uri="{96DAC541-7B7A-43D3-8B79-37D633B846F1}">
                <asvg:svgBlip r:embed="rId1"/>
              </a:ext>
            </a:extLst>
          </a:blip>
          <a:stretch>
            <a:fillRect/>
          </a:stretch>
        </p:blipFill>
        <p:spPr>
          <a:xfrm rot="0" flipH="0" flipV="0">
            <a:off x="666750" y="1809750"/>
            <a:ext cx="5905500" cy="3810000"/>
          </a:xfrm>
          <a:prstGeom prst="rect">
            <a:avLst/>
          </a:prstGeom>
          <a:ln/>
        </p:spPr>
      </p:pic>
      <p:sp>
        <p:nvSpPr>
          <p:cNvPr id="1298" name="" descr="{&quot;isTemplate&quot;:true,&quot;type&quot;:&quot;text&quot;}"/>
          <p:cNvSpPr txBox="1"/>
          <p:nvPr/>
        </p:nvSpPr>
        <p:spPr>
          <a:xfrm rot="0" flipH="0" flipV="0">
            <a:off x="6838950" y="1866900"/>
            <a:ext cx="4686300" cy="342900"/>
          </a:xfrm>
          <a:prstGeom prst="rect"/>
        </p:spPr>
        <p:txBody>
          <a:bodyPr wrap="none" lIns="0" tIns="0" rIns="0" bIns="0"/>
          <a:p>
            <a:pPr>
              <a:lnSpc>
                <a:spcPct val="140000"/>
              </a:lnSpc>
            </a:pPr>
            <a:r>
              <a:rPr lang="zh-CN" sz="1575" b="1">
                <a:solidFill>
                  <a:srgbClr val="0E2340"/>
                </a:solidFill>
                <a:latin typeface="Microsoft YaHei"/>
                <a:ea typeface="Microsoft YaHei"/>
              </a:rPr>
              <a:t>界面要点</a:t>
            </a:r>
            <a:endParaRPr/>
          </a:p>
        </p:txBody>
      </p:sp>
      <p:sp>
        <p:nvSpPr>
          <p:cNvPr id="1299" name=""/>
          <p:cNvSpPr/>
          <p:nvPr/>
        </p:nvSpPr>
        <p:spPr>
          <a:xfrm rot="0" flipH="0" flipV="0">
            <a:off x="6838950" y="2390775"/>
            <a:ext cx="76200" cy="76200"/>
          </a:xfrm>
          <a:prstGeom prst="roundRect">
            <a:avLst>
              <a:gd name="adj" fmla="val 50000"/>
            </a:avLst>
          </a:prstGeom>
          <a:solidFill>
            <a:srgbClr val="1E7BE0"/>
          </a:solidFill>
          <a:ln/>
        </p:spPr>
        <p:txBody>
          <a:bodyPr/>
          <a:p/>
        </p:txBody>
      </p:sp>
      <p:sp>
        <p:nvSpPr>
          <p:cNvPr id="1300" name="" descr="{&quot;isTemplate&quot;:true,&quot;type&quot;:&quot;text&quot;}"/>
          <p:cNvSpPr txBox="1"/>
          <p:nvPr/>
        </p:nvSpPr>
        <p:spPr>
          <a:xfrm rot="0" flipH="0" flipV="0">
            <a:off x="7029450" y="2305050"/>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八个查找维度：步骤、错因、知识点、套路、题型、难度、来源、作答状态，可组合并整理为个人题单。</a:t>
            </a:r>
            <a:endParaRPr/>
          </a:p>
        </p:txBody>
      </p:sp>
      <p:sp>
        <p:nvSpPr>
          <p:cNvPr id="1301" name=""/>
          <p:cNvSpPr/>
          <p:nvPr/>
        </p:nvSpPr>
        <p:spPr>
          <a:xfrm rot="0" flipH="0" flipV="0">
            <a:off x="6838950" y="3067050"/>
            <a:ext cx="76200" cy="76200"/>
          </a:xfrm>
          <a:prstGeom prst="roundRect">
            <a:avLst>
              <a:gd name="adj" fmla="val 50000"/>
            </a:avLst>
          </a:prstGeom>
          <a:solidFill>
            <a:srgbClr val="1E7BE0"/>
          </a:solidFill>
          <a:ln/>
        </p:spPr>
        <p:txBody>
          <a:bodyPr/>
          <a:p/>
        </p:txBody>
      </p:sp>
      <p:sp>
        <p:nvSpPr>
          <p:cNvPr id="1302" name="" descr="{&quot;isTemplate&quot;:true,&quot;type&quot;:&quot;text&quot;}"/>
          <p:cNvSpPr txBox="1"/>
          <p:nvPr/>
        </p:nvSpPr>
        <p:spPr>
          <a:xfrm rot="0" flipH="0" flipV="0">
            <a:off x="7029450" y="2981325"/>
            <a:ext cx="4495800" cy="295275"/>
          </a:xfrm>
          <a:prstGeom prst="rect"/>
        </p:spPr>
        <p:txBody>
          <a:bodyPr wrap="none" lIns="0" tIns="0" rIns="0" bIns="0"/>
          <a:p>
            <a:pPr>
              <a:lnSpc>
                <a:spcPct val="160000"/>
              </a:lnSpc>
            </a:pPr>
            <a:r>
              <a:rPr lang="zh-CN" sz="1200">
                <a:solidFill>
                  <a:srgbClr val="333A45"/>
                </a:solidFill>
                <a:latin typeface="Microsoft YaHei"/>
                <a:ea typeface="Microsoft YaHei"/>
              </a:rPr>
              <a:t>典型用法一：比较同一步骤每次错误的具体位置。</a:t>
            </a:r>
            <a:endParaRPr/>
          </a:p>
        </p:txBody>
      </p:sp>
      <p:sp>
        <p:nvSpPr>
          <p:cNvPr id="1303" name=""/>
          <p:cNvSpPr/>
          <p:nvPr/>
        </p:nvSpPr>
        <p:spPr>
          <a:xfrm rot="0" flipH="0" flipV="0">
            <a:off x="6838950" y="3448050"/>
            <a:ext cx="76200" cy="76200"/>
          </a:xfrm>
          <a:prstGeom prst="roundRect">
            <a:avLst>
              <a:gd name="adj" fmla="val 50000"/>
            </a:avLst>
          </a:prstGeom>
          <a:solidFill>
            <a:srgbClr val="1E7BE0"/>
          </a:solidFill>
          <a:ln/>
        </p:spPr>
        <p:txBody>
          <a:bodyPr/>
          <a:p/>
        </p:txBody>
      </p:sp>
      <p:sp>
        <p:nvSpPr>
          <p:cNvPr id="1304" name="" descr="{&quot;isTemplate&quot;:true,&quot;type&quot;:&quot;text&quot;}"/>
          <p:cNvSpPr txBox="1"/>
          <p:nvPr/>
        </p:nvSpPr>
        <p:spPr>
          <a:xfrm rot="0" flipH="0" flipV="0">
            <a:off x="7029450" y="3362325"/>
            <a:ext cx="4495800" cy="295275"/>
          </a:xfrm>
          <a:prstGeom prst="rect"/>
        </p:spPr>
        <p:txBody>
          <a:bodyPr wrap="none" lIns="0" tIns="0" rIns="0" bIns="0"/>
          <a:p>
            <a:pPr>
              <a:lnSpc>
                <a:spcPct val="160000"/>
              </a:lnSpc>
            </a:pPr>
            <a:r>
              <a:rPr lang="zh-CN" sz="1200">
                <a:solidFill>
                  <a:srgbClr val="333A45"/>
                </a:solidFill>
                <a:latin typeface="Microsoft YaHei"/>
                <a:ea typeface="Microsoft YaHei"/>
              </a:rPr>
              <a:t>典型用法二：区分偶发失误与多次出现的问题。</a:t>
            </a:r>
            <a:endParaRPr/>
          </a:p>
        </p:txBody>
      </p:sp>
      <p:sp>
        <p:nvSpPr>
          <p:cNvPr id="1305" name=""/>
          <p:cNvSpPr/>
          <p:nvPr/>
        </p:nvSpPr>
        <p:spPr>
          <a:xfrm rot="0" flipH="0" flipV="0">
            <a:off x="6838950" y="3829050"/>
            <a:ext cx="76200" cy="76200"/>
          </a:xfrm>
          <a:prstGeom prst="roundRect">
            <a:avLst>
              <a:gd name="adj" fmla="val 50000"/>
            </a:avLst>
          </a:prstGeom>
          <a:solidFill>
            <a:srgbClr val="1E7BE0"/>
          </a:solidFill>
          <a:ln/>
        </p:spPr>
        <p:txBody>
          <a:bodyPr/>
          <a:p/>
        </p:txBody>
      </p:sp>
      <p:sp>
        <p:nvSpPr>
          <p:cNvPr id="1306" name="" descr="{&quot;isTemplate&quot;:true,&quot;type&quot;:&quot;text&quot;}"/>
          <p:cNvSpPr txBox="1"/>
          <p:nvPr/>
        </p:nvSpPr>
        <p:spPr>
          <a:xfrm rot="0" flipH="0" flipV="0">
            <a:off x="7029450" y="3743325"/>
            <a:ext cx="4495800" cy="295275"/>
          </a:xfrm>
          <a:prstGeom prst="rect"/>
        </p:spPr>
        <p:txBody>
          <a:bodyPr wrap="none" lIns="0" tIns="0" rIns="0" bIns="0"/>
          <a:p>
            <a:pPr>
              <a:lnSpc>
                <a:spcPct val="160000"/>
              </a:lnSpc>
            </a:pPr>
            <a:r>
              <a:rPr lang="zh-CN" sz="1200">
                <a:solidFill>
                  <a:srgbClr val="333A45"/>
                </a:solidFill>
                <a:latin typeface="Microsoft YaHei"/>
                <a:ea typeface="Microsoft YaHei"/>
              </a:rPr>
              <a:t>典型用法三：查找“看过答案才完成、尚未独立复测”的题目。</a:t>
            </a:r>
            <a:endParaRPr/>
          </a:p>
        </p:txBody>
      </p:sp>
      <p:sp>
        <p:nvSpPr>
          <p:cNvPr id="1307" name=""/>
          <p:cNvSpPr/>
          <p:nvPr/>
        </p:nvSpPr>
        <p:spPr>
          <a:xfrm rot="0" flipH="0" flipV="0">
            <a:off x="6838950" y="4210050"/>
            <a:ext cx="76200" cy="76200"/>
          </a:xfrm>
          <a:prstGeom prst="roundRect">
            <a:avLst>
              <a:gd name="adj" fmla="val 50000"/>
            </a:avLst>
          </a:prstGeom>
          <a:solidFill>
            <a:srgbClr val="1E7BE0"/>
          </a:solidFill>
          <a:ln/>
        </p:spPr>
        <p:txBody>
          <a:bodyPr/>
          <a:p/>
        </p:txBody>
      </p:sp>
      <p:sp>
        <p:nvSpPr>
          <p:cNvPr id="1308" name="" descr="{&quot;isTemplate&quot;:true,&quot;type&quot;:&quot;text&quot;}"/>
          <p:cNvSpPr txBox="1"/>
          <p:nvPr/>
        </p:nvSpPr>
        <p:spPr>
          <a:xfrm rot="0" flipH="0" flipV="0">
            <a:off x="7029450" y="4124325"/>
            <a:ext cx="4495800" cy="88582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复盘路径：找到错题</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查看错误步骤与原始作答</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回放停顿及回改片段</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确认或修正错因</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查找同类步骤题目</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整理题单或组卷</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独立重做与新题复测</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比较新旧步骤表现。</a:t>
            </a:r>
            <a:endParaRPr/>
          </a:p>
        </p:txBody>
      </p:sp>
      <p:sp>
        <p:nvSpPr>
          <p:cNvPr id="1309" name=""/>
          <p:cNvSpPr/>
          <p:nvPr/>
        </p:nvSpPr>
        <p:spPr>
          <a:xfrm rot="0" flipH="0" flipV="0">
            <a:off x="6838950" y="5162550"/>
            <a:ext cx="2962275" cy="400050"/>
          </a:xfrm>
          <a:prstGeom prst="roundRect">
            <a:avLst>
              <a:gd name="adj" fmla="val 14286"/>
            </a:avLst>
          </a:prstGeom>
          <a:solidFill>
            <a:srgbClr val="F5F7FA"/>
          </a:solidFill>
          <a:ln/>
        </p:spPr>
        <p:txBody>
          <a:bodyPr/>
          <a:p/>
        </p:txBody>
      </p:sp>
      <p:sp>
        <p:nvSpPr>
          <p:cNvPr id="1310" name="" descr="{&quot;isTemplate&quot;:true,&quot;type&quot;:&quot;text&quot;}"/>
          <p:cNvSpPr txBox="1"/>
          <p:nvPr/>
        </p:nvSpPr>
        <p:spPr>
          <a:xfrm rot="0" flipH="0" flipV="0">
            <a:off x="6972300" y="5248275"/>
            <a:ext cx="2695575" cy="228600"/>
          </a:xfrm>
          <a:prstGeom prst="rect"/>
        </p:spPr>
        <p:txBody>
          <a:bodyPr wrap="none" lIns="0" tIns="0" rIns="0" bIns="0"/>
          <a:p>
            <a:pPr>
              <a:lnSpc>
                <a:spcPct val="140000"/>
              </a:lnSpc>
            </a:pPr>
            <a:r>
              <a:rPr lang="zh-CN" sz="1050" b="1">
                <a:solidFill>
                  <a:srgbClr val="7A8699"/>
                </a:solidFill>
                <a:latin typeface="Microsoft YaHei"/>
                <a:ea typeface="Microsoft YaHei"/>
              </a:rPr>
              <a:t>示意占位</a:t>
            </a:r>
            <a:r>
              <a:rPr lang="en-US" sz="1050" b="1">
                <a:solidFill>
                  <a:srgbClr val="7A8699"/>
                </a:solidFill>
                <a:latin typeface="Microsoft YaHei"/>
                <a:ea typeface="Microsoft YaHei"/>
              </a:rPr>
              <a:t xml:space="preserve"> S07 / S08 / S09 · </a:t>
            </a:r>
            <a:r>
              <a:rPr lang="zh-CN" sz="1050" b="1">
                <a:solidFill>
                  <a:srgbClr val="7A8699"/>
                </a:solidFill>
                <a:latin typeface="Microsoft YaHei"/>
                <a:ea typeface="Microsoft YaHei"/>
              </a:rPr>
              <a:t>待替换为实际截图</a:t>
            </a:r>
            <a:endParaRPr/>
          </a:p>
        </p:txBody>
      </p:sp>
      <p:sp>
        <p:nvSpPr>
          <p:cNvPr id="1311"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312" name="" descr="{&quot;isTemplate&quot;:true,&quot;type&quot;:&quot;text&quot;}"/>
          <p:cNvSpPr txBox="1"/>
          <p:nvPr/>
        </p:nvSpPr>
        <p:spPr>
          <a:xfrm rot="0" flipH="0" flipV="0">
            <a:off x="666750" y="6381750"/>
            <a:ext cx="1743075" cy="209550"/>
          </a:xfrm>
          <a:prstGeom prst="rect"/>
        </p:spPr>
        <p:txBody>
          <a:bodyPr wrap="none" lIns="0" tIns="0" rIns="0" bIns="0"/>
          <a:p>
            <a:pPr>
              <a:lnSpc>
                <a:spcPct val="140000"/>
              </a:lnSpc>
            </a:pPr>
            <a:r>
              <a:rPr lang="zh-CN" sz="975">
                <a:solidFill>
                  <a:srgbClr val="7A8699"/>
                </a:solidFill>
                <a:latin typeface="Microsoft YaHei"/>
                <a:ea typeface="Microsoft YaHei"/>
              </a:rPr>
              <a:t>依据：单题功能设计思路</a:t>
            </a:r>
            <a:r>
              <a:rPr lang="en-US" sz="975">
                <a:solidFill>
                  <a:srgbClr val="7A8699"/>
                </a:solidFill>
                <a:latin typeface="Microsoft YaHei"/>
                <a:ea typeface="Microsoft YaHei"/>
              </a:rPr>
              <a:t>.md §6</a:t>
            </a:r>
            <a:endParaRPr/>
          </a:p>
        </p:txBody>
      </p:sp>
      <p:sp>
        <p:nvSpPr>
          <p:cNvPr id="1313"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32 / 124 </a:t>
            </a:r>
            <a:endParaRPr/>
          </a:p>
        </p:txBody>
      </p:sp>
    </p:spTree>
  </p:cSld>
</p:sld>
</file>

<file path=ppt/slides/slide33.xml><?xml version="1.0" encoding="utf-8"?>
<p:sld xmlns:p="http://schemas.openxmlformats.org/presentationml/2006/main" xmlns:a="http://schemas.openxmlformats.org/drawingml/2006/main">
  <p:cSld>
    <p:spTree>
      <p:nvGrpSpPr>
        <p:cNvPr id="1314"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3 / 单题引擎&lt;/Text&gt;&lt;Text style={{ fontSize: 32, color: '#0E2340', fontWeight: 700, lineHeight: 1.3 }}&gt;主动诊断：把错误转成需要核实的问题&lt;/Text&gt;&lt;/Box&gt;&lt;Box style={{ flexDirection: 'row', alignItems: 'center', padding: '7px 16px', borderRadius: 20, background: '#E8A33D' }}&gt;&lt;Text style={{ fontSize: 14, color: '#FFFFFF', fontWeight: 600 }}&gt;部分实现&lt;/Text&gt;&lt;/Box&gt;&lt;/Box&gt;&lt;Box style={{ height: 532, paddingTop: 8, flexDirection: 'column' }}&gt;&lt;Box style={{ flexDirection: 'column', flex: 1 }}&gt;&lt;Box style={{ marginBottom: 16 }}&gt;&lt;Box style={{ flexDirection: 'row', alignItems: 'center', background: '#F5F7FA', borderLeft: '4px solid #0E2340', borderRadius: 6, padding: '14px 20px' }}&gt;&lt;Text style={{ fontSize: 20, color: '#0E2340', fontWeight: 600, lineHeight: 1.5 }}&gt;发现一个错误后，先列出可区分的解释，再安排有针对性的短任务；必要时比较限时与不限时表现&lt;/Text&gt;&lt;/Box&gt;&lt;/Box&gt;&lt;Box style={{ flexDirection: 'row', gap: 20, flex: 1 }}&gt;&lt;Box style={{ width: 366,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条件辨析&lt;/Text&gt;&lt;Text style={{ fontSize: 18, color: '#333A45', fontWeight: 400, lineHeight: 1.6 }}&gt;检查概念层面：学生对适用条件、定义边界的理解是否稳固。&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独立列式&lt;/Text&gt;&lt;Text style={{ fontSize: 18, color: '#333A45', fontWeight: 400, lineHeight: 1.6 }}&gt;检查方法层面：能否独立建立正确的关系式或结构。&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计算片段&lt;/Text&gt;&lt;Text style={{ fontSize: 18, color: '#333A45', fontWeight: 400, lineHeight: 1.6 }}&gt;检查执行层面：在已知方法下的运算与推导是否可靠。&lt;/Text&gt;&lt;/Box&gt;&lt;/Box&gt;&lt;/Box&gt;&lt;/Box&gt;&lt;/Box&gt;&lt;Box style={{ height: 40, flexDirection: 'row', justifyContent: 'space-between', alignItems: 'center', borderTop: '1px solid #E3E8EF', marginTop: 8 }}&gt;&lt;Text style={{ fontSize: 13, color: '#7A8699', fontWeight: 400, lineHeight: 1.4 }}&gt;依据：单题功能设计思路.md §3.6&lt;/Text&gt;&lt;Text style={{ fontSize: 14, color: '#7A8699', fontWeight: 400, lineHeight: 1.4 }}&gt; 33 / 124 &lt;/Text&gt;&lt;/Box&gt;&lt;/Slide&gt;"/>
        <p:cNvGrpSpPr/>
        <p:nvPr/>
      </p:nvGrpSpPr>
      <p:grpSpPr>
        <a:xfrm>
          <a:off x="0" y="0"/>
          <a:ext cx="0" cy="0"/>
          <a:chOff x="0" y="0"/>
          <a:chExt cx="0" cy="0"/>
        </a:xfrm>
      </p:grpSpPr>
      <p:sp>
        <p:nvSpPr>
          <p:cNvPr id="1315" name=""/>
          <p:cNvSpPr/>
          <p:nvPr/>
        </p:nvSpPr>
        <p:spPr>
          <a:xfrm rot="0" flipH="0" flipV="0">
            <a:off x="0" y="0"/>
            <a:ext cx="12192000" cy="6858000"/>
          </a:xfrm>
          <a:prstGeom prst="rect">
            <a:avLst/>
          </a:prstGeom>
          <a:solidFill>
            <a:srgbClr val="FFFFFF"/>
          </a:solidFill>
          <a:ln/>
        </p:spPr>
        <p:txBody>
          <a:bodyPr/>
          <a:p/>
        </p:txBody>
      </p:sp>
      <p:sp>
        <p:nvSpPr>
          <p:cNvPr id="1316" name="" descr="{&quot;isTemplate&quot;:true,&quot;type&quot;:&quot;text&quot;}"/>
          <p:cNvSpPr txBox="1"/>
          <p:nvPr/>
        </p:nvSpPr>
        <p:spPr>
          <a:xfrm rot="0" flipH="0" flipV="0">
            <a:off x="666750" y="381000"/>
            <a:ext cx="5181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03 / </a:t>
            </a:r>
            <a:r>
              <a:rPr lang="zh-CN" sz="1050" spc="75">
                <a:solidFill>
                  <a:srgbClr val="7A8699"/>
                </a:solidFill>
                <a:latin typeface="Microsoft YaHei"/>
                <a:ea typeface="Microsoft YaHei"/>
              </a:rPr>
              <a:t>单题引擎</a:t>
            </a:r>
            <a:endParaRPr/>
          </a:p>
        </p:txBody>
      </p:sp>
      <p:sp>
        <p:nvSpPr>
          <p:cNvPr id="1317" name="" descr="{&quot;isTemplate&quot;:true,&quot;type&quot;:&quot;text&quot;}"/>
          <p:cNvSpPr txBox="1"/>
          <p:nvPr/>
        </p:nvSpPr>
        <p:spPr>
          <a:xfrm rot="0" flipH="0" flipV="0">
            <a:off x="666750" y="666750"/>
            <a:ext cx="5181600" cy="476250"/>
          </a:xfrm>
          <a:prstGeom prst="rect"/>
        </p:spPr>
        <p:txBody>
          <a:bodyPr wrap="none" lIns="0" tIns="0" rIns="0" bIns="0"/>
          <a:p>
            <a:pPr>
              <a:lnSpc>
                <a:spcPct val="130000"/>
              </a:lnSpc>
            </a:pPr>
            <a:r>
              <a:rPr lang="zh-CN" sz="2400" b="1">
                <a:solidFill>
                  <a:srgbClr val="0E2340"/>
                </a:solidFill>
                <a:latin typeface="Microsoft YaHei"/>
                <a:ea typeface="Microsoft YaHei"/>
              </a:rPr>
              <a:t>主动诊断：把错误转成需要核实的问题</a:t>
            </a:r>
            <a:endParaRPr/>
          </a:p>
        </p:txBody>
      </p:sp>
      <p:sp>
        <p:nvSpPr>
          <p:cNvPr id="1318" name=""/>
          <p:cNvSpPr/>
          <p:nvPr/>
        </p:nvSpPr>
        <p:spPr>
          <a:xfrm rot="0" flipH="0" flipV="0">
            <a:off x="10687050" y="847725"/>
            <a:ext cx="838200" cy="295275"/>
          </a:xfrm>
          <a:prstGeom prst="roundRect">
            <a:avLst>
              <a:gd name="adj" fmla="val 64516"/>
            </a:avLst>
          </a:prstGeom>
          <a:solidFill>
            <a:srgbClr val="E8A33D"/>
          </a:solidFill>
          <a:ln/>
        </p:spPr>
        <p:txBody>
          <a:bodyPr/>
          <a:p/>
        </p:txBody>
      </p:sp>
      <p:sp>
        <p:nvSpPr>
          <p:cNvPr id="1319" name="" descr="{&quot;isTemplate&quot;:true,&quot;type&quot;:&quot;text&quot;}"/>
          <p:cNvSpPr txBox="1"/>
          <p:nvPr/>
        </p:nvSpPr>
        <p:spPr>
          <a:xfrm rot="0" flipH="0" flipV="0">
            <a:off x="10839450" y="914400"/>
            <a:ext cx="533400" cy="161925"/>
          </a:xfrm>
          <a:prstGeom prst="rect"/>
        </p:spPr>
        <p:txBody>
          <a:bodyPr wrap="none" lIns="0" tIns="0" rIns="0" bIns="0"/>
          <a:p>
            <a:pPr>
              <a:lnSpc>
                <a:spcPct val="100000"/>
              </a:lnSpc>
            </a:pPr>
            <a:r>
              <a:rPr lang="zh-CN" sz="1050" b="1">
                <a:solidFill>
                  <a:srgbClr val="FFFFFF"/>
                </a:solidFill>
                <a:latin typeface="Microsoft YaHei"/>
                <a:ea typeface="Microsoft YaHei"/>
              </a:rPr>
              <a:t>部分实现</a:t>
            </a:r>
            <a:endParaRPr/>
          </a:p>
        </p:txBody>
      </p:sp>
      <p:sp>
        <p:nvSpPr>
          <p:cNvPr id="1320" name=""/>
          <p:cNvSpPr/>
          <p:nvPr/>
        </p:nvSpPr>
        <p:spPr>
          <a:xfrm rot="0" flipH="0" flipV="0">
            <a:off x="704850" y="1219200"/>
            <a:ext cx="10858500" cy="609600"/>
          </a:xfrm>
          <a:prstGeom prst="roundRect">
            <a:avLst>
              <a:gd name="adj" fmla="val 9375"/>
            </a:avLst>
          </a:prstGeom>
          <a:solidFill>
            <a:srgbClr val="F5F7FA"/>
          </a:solidFill>
          <a:ln/>
        </p:spPr>
        <p:txBody>
          <a:bodyPr/>
          <a:p/>
        </p:txBody>
      </p:sp>
      <p:sp>
        <p:nvSpPr>
          <p:cNvPr id="1321" name=""/>
          <p:cNvSpPr/>
          <p:nvPr/>
        </p:nvSpPr>
        <p:spPr>
          <a:xfrm rot="0" flipH="0" flipV="0">
            <a:off x="704850" y="12192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1322" name="" descr="{&quot;isTemplate&quot;:true,&quot;type&quot;:&quot;text&quot;}"/>
          <p:cNvSpPr txBox="1"/>
          <p:nvPr/>
        </p:nvSpPr>
        <p:spPr>
          <a:xfrm rot="0" flipH="0" flipV="0">
            <a:off x="895350" y="1352550"/>
            <a:ext cx="8191500" cy="342900"/>
          </a:xfrm>
          <a:prstGeom prst="rect"/>
        </p:spPr>
        <p:txBody>
          <a:bodyPr wrap="none" lIns="0" tIns="0" rIns="0" bIns="0"/>
          <a:p>
            <a:pPr>
              <a:lnSpc>
                <a:spcPct val="150000"/>
              </a:lnSpc>
            </a:pPr>
            <a:r>
              <a:rPr lang="zh-CN" sz="1500" b="1">
                <a:solidFill>
                  <a:srgbClr val="0E2340"/>
                </a:solidFill>
                <a:latin typeface="Microsoft YaHei"/>
                <a:ea typeface="Microsoft YaHei"/>
              </a:rPr>
              <a:t>发现一个错误后，先列出可区分的解释，再安排有针对性的短任务；必要时比较限时与不限时表现</a:t>
            </a:r>
            <a:endParaRPr/>
          </a:p>
        </p:txBody>
      </p:sp>
      <p:sp>
        <p:nvSpPr>
          <p:cNvPr id="1323" name=""/>
          <p:cNvSpPr/>
          <p:nvPr/>
        </p:nvSpPr>
        <p:spPr>
          <a:xfrm rot="0" flipH="0" flipV="0">
            <a:off x="666750" y="1981200"/>
            <a:ext cx="3486150" cy="4229100"/>
          </a:xfrm>
          <a:prstGeom prst="roundRect">
            <a:avLst>
              <a:gd name="adj" fmla="val 2186"/>
            </a:avLst>
          </a:prstGeom>
          <a:solidFill>
            <a:srgbClr val="FFFFFF"/>
          </a:solidFill>
          <a:ln w="12700">
            <a:solidFill>
              <a:srgbClr val="E3E8EF"/>
            </a:solidFill>
            <a:prstDash val="solid"/>
          </a:ln>
        </p:spPr>
        <p:txBody>
          <a:bodyPr/>
          <a:p/>
        </p:txBody>
      </p:sp>
      <p:sp>
        <p:nvSpPr>
          <p:cNvPr id="1324" name=""/>
          <p:cNvSpPr/>
          <p:nvPr/>
        </p:nvSpPr>
        <p:spPr>
          <a:xfrm rot="0" flipH="0" flipV="0">
            <a:off x="666750" y="19812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1325" name="" descr="{&quot;isTemplate&quot;:true,&quot;type&quot;:&quot;text&quot;}"/>
          <p:cNvSpPr txBox="1"/>
          <p:nvPr/>
        </p:nvSpPr>
        <p:spPr>
          <a:xfrm rot="0" flipH="0" flipV="0">
            <a:off x="857250" y="2209800"/>
            <a:ext cx="3105150" cy="390525"/>
          </a:xfrm>
          <a:prstGeom prst="rect"/>
        </p:spPr>
        <p:txBody>
          <a:bodyPr wrap="none" lIns="0" tIns="0" rIns="0" bIns="0"/>
          <a:p>
            <a:pPr>
              <a:lnSpc>
                <a:spcPct val="140000"/>
              </a:lnSpc>
            </a:pPr>
            <a:r>
              <a:rPr lang="zh-CN" sz="1800" b="1">
                <a:solidFill>
                  <a:srgbClr val="0E2340"/>
                </a:solidFill>
                <a:latin typeface="Microsoft YaHei"/>
                <a:ea typeface="Microsoft YaHei"/>
              </a:rPr>
              <a:t>条件辨析</a:t>
            </a:r>
            <a:endParaRPr/>
          </a:p>
        </p:txBody>
      </p:sp>
      <p:sp>
        <p:nvSpPr>
          <p:cNvPr id="1326" name="" descr="{&quot;isTemplate&quot;:true,&quot;type&quot;:&quot;text&quot;}"/>
          <p:cNvSpPr txBox="1"/>
          <p:nvPr/>
        </p:nvSpPr>
        <p:spPr>
          <a:xfrm rot="0" flipH="0" flipV="0">
            <a:off x="857250" y="2695575"/>
            <a:ext cx="3105150" cy="666750"/>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检查概念层面：学生对适用条件、定义边界的理解是否稳固。</a:t>
            </a:r>
            <a:endParaRPr/>
          </a:p>
        </p:txBody>
      </p:sp>
      <p:sp>
        <p:nvSpPr>
          <p:cNvPr id="1327" name=""/>
          <p:cNvSpPr/>
          <p:nvPr/>
        </p:nvSpPr>
        <p:spPr>
          <a:xfrm rot="0" flipH="0" flipV="0">
            <a:off x="4343400" y="1981200"/>
            <a:ext cx="3486150" cy="4229100"/>
          </a:xfrm>
          <a:prstGeom prst="roundRect">
            <a:avLst>
              <a:gd name="adj" fmla="val 2186"/>
            </a:avLst>
          </a:prstGeom>
          <a:solidFill>
            <a:srgbClr val="FFFFFF"/>
          </a:solidFill>
          <a:ln w="12700">
            <a:solidFill>
              <a:srgbClr val="E3E8EF"/>
            </a:solidFill>
            <a:prstDash val="solid"/>
          </a:ln>
        </p:spPr>
        <p:txBody>
          <a:bodyPr/>
          <a:p/>
        </p:txBody>
      </p:sp>
      <p:sp>
        <p:nvSpPr>
          <p:cNvPr id="1328" name=""/>
          <p:cNvSpPr/>
          <p:nvPr/>
        </p:nvSpPr>
        <p:spPr>
          <a:xfrm rot="0" flipH="0" flipV="0">
            <a:off x="4343400" y="19812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1329" name="" descr="{&quot;isTemplate&quot;:true,&quot;type&quot;:&quot;text&quot;}"/>
          <p:cNvSpPr txBox="1"/>
          <p:nvPr/>
        </p:nvSpPr>
        <p:spPr>
          <a:xfrm rot="0" flipH="0" flipV="0">
            <a:off x="4533900" y="2209800"/>
            <a:ext cx="3105150" cy="390525"/>
          </a:xfrm>
          <a:prstGeom prst="rect"/>
        </p:spPr>
        <p:txBody>
          <a:bodyPr wrap="none" lIns="0" tIns="0" rIns="0" bIns="0"/>
          <a:p>
            <a:pPr>
              <a:lnSpc>
                <a:spcPct val="140000"/>
              </a:lnSpc>
            </a:pPr>
            <a:r>
              <a:rPr lang="zh-CN" sz="1800" b="1">
                <a:solidFill>
                  <a:srgbClr val="0E2340"/>
                </a:solidFill>
                <a:latin typeface="Microsoft YaHei"/>
                <a:ea typeface="Microsoft YaHei"/>
              </a:rPr>
              <a:t>独立列式</a:t>
            </a:r>
            <a:endParaRPr/>
          </a:p>
        </p:txBody>
      </p:sp>
      <p:sp>
        <p:nvSpPr>
          <p:cNvPr id="1330" name="" descr="{&quot;isTemplate&quot;:true,&quot;type&quot;:&quot;text&quot;}"/>
          <p:cNvSpPr txBox="1"/>
          <p:nvPr/>
        </p:nvSpPr>
        <p:spPr>
          <a:xfrm rot="0" flipH="0" flipV="0">
            <a:off x="4533900" y="2695575"/>
            <a:ext cx="3105150" cy="666750"/>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检查方法层面：能否独立建立正确的关系式或结构。</a:t>
            </a:r>
            <a:endParaRPr/>
          </a:p>
        </p:txBody>
      </p:sp>
      <p:sp>
        <p:nvSpPr>
          <p:cNvPr id="1331" name=""/>
          <p:cNvSpPr/>
          <p:nvPr/>
        </p:nvSpPr>
        <p:spPr>
          <a:xfrm rot="0" flipH="0" flipV="0">
            <a:off x="8020050" y="1981200"/>
            <a:ext cx="3486150" cy="4229100"/>
          </a:xfrm>
          <a:prstGeom prst="roundRect">
            <a:avLst>
              <a:gd name="adj" fmla="val 2186"/>
            </a:avLst>
          </a:prstGeom>
          <a:solidFill>
            <a:srgbClr val="FFFFFF"/>
          </a:solidFill>
          <a:ln w="12700">
            <a:solidFill>
              <a:srgbClr val="E3E8EF"/>
            </a:solidFill>
            <a:prstDash val="solid"/>
          </a:ln>
        </p:spPr>
        <p:txBody>
          <a:bodyPr/>
          <a:p/>
        </p:txBody>
      </p:sp>
      <p:sp>
        <p:nvSpPr>
          <p:cNvPr id="1332" name=""/>
          <p:cNvSpPr/>
          <p:nvPr/>
        </p:nvSpPr>
        <p:spPr>
          <a:xfrm rot="0" flipH="0" flipV="0">
            <a:off x="8020050" y="19812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1333" name="" descr="{&quot;isTemplate&quot;:true,&quot;type&quot;:&quot;text&quot;}"/>
          <p:cNvSpPr txBox="1"/>
          <p:nvPr/>
        </p:nvSpPr>
        <p:spPr>
          <a:xfrm rot="0" flipH="0" flipV="0">
            <a:off x="8210550" y="2209800"/>
            <a:ext cx="3105150" cy="390525"/>
          </a:xfrm>
          <a:prstGeom prst="rect"/>
        </p:spPr>
        <p:txBody>
          <a:bodyPr wrap="none" lIns="0" tIns="0" rIns="0" bIns="0"/>
          <a:p>
            <a:pPr>
              <a:lnSpc>
                <a:spcPct val="140000"/>
              </a:lnSpc>
            </a:pPr>
            <a:r>
              <a:rPr lang="zh-CN" sz="1800" b="1">
                <a:solidFill>
                  <a:srgbClr val="0E2340"/>
                </a:solidFill>
                <a:latin typeface="Microsoft YaHei"/>
                <a:ea typeface="Microsoft YaHei"/>
              </a:rPr>
              <a:t>计算片段</a:t>
            </a:r>
            <a:endParaRPr/>
          </a:p>
        </p:txBody>
      </p:sp>
      <p:sp>
        <p:nvSpPr>
          <p:cNvPr id="1334" name="" descr="{&quot;isTemplate&quot;:true,&quot;type&quot;:&quot;text&quot;}"/>
          <p:cNvSpPr txBox="1"/>
          <p:nvPr/>
        </p:nvSpPr>
        <p:spPr>
          <a:xfrm rot="0" flipH="0" flipV="0">
            <a:off x="8210550" y="2695575"/>
            <a:ext cx="3105150" cy="666750"/>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检查执行层面：在已知方法下的运算与推导是否可靠。</a:t>
            </a:r>
            <a:endParaRPr/>
          </a:p>
        </p:txBody>
      </p:sp>
      <p:sp>
        <p:nvSpPr>
          <p:cNvPr id="1335"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336" name="" descr="{&quot;isTemplate&quot;:true,&quot;type&quot;:&quot;text&quot;}"/>
          <p:cNvSpPr txBox="1"/>
          <p:nvPr/>
        </p:nvSpPr>
        <p:spPr>
          <a:xfrm rot="0" flipH="0" flipV="0">
            <a:off x="666750" y="6381750"/>
            <a:ext cx="1847850" cy="209550"/>
          </a:xfrm>
          <a:prstGeom prst="rect"/>
        </p:spPr>
        <p:txBody>
          <a:bodyPr wrap="none" lIns="0" tIns="0" rIns="0" bIns="0"/>
          <a:p>
            <a:pPr>
              <a:lnSpc>
                <a:spcPct val="140000"/>
              </a:lnSpc>
            </a:pPr>
            <a:r>
              <a:rPr lang="zh-CN" sz="975">
                <a:solidFill>
                  <a:srgbClr val="7A8699"/>
                </a:solidFill>
                <a:latin typeface="Microsoft YaHei"/>
                <a:ea typeface="Microsoft YaHei"/>
              </a:rPr>
              <a:t>依据：单题功能设计思路</a:t>
            </a:r>
            <a:r>
              <a:rPr lang="en-US" sz="975">
                <a:solidFill>
                  <a:srgbClr val="7A8699"/>
                </a:solidFill>
                <a:latin typeface="Microsoft YaHei"/>
                <a:ea typeface="Microsoft YaHei"/>
              </a:rPr>
              <a:t>.md §3.6</a:t>
            </a:r>
            <a:endParaRPr/>
          </a:p>
        </p:txBody>
      </p:sp>
      <p:sp>
        <p:nvSpPr>
          <p:cNvPr id="1337"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33 / 124 </a:t>
            </a:r>
            <a:endParaRPr/>
          </a:p>
        </p:txBody>
      </p:sp>
    </p:spTree>
  </p:cSld>
</p:sld>
</file>

<file path=ppt/slides/slide34.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338"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3 / 单题引擎&lt;/Text&gt;&lt;Text style={{ fontSize: 32, color: '#0E2340', fontWeight: 700, lineHeight: 1.3 }}&gt;五大功能如何衔接成闭环&lt;/Text&gt;&lt;/Box&gt;&lt;Box style={{ flexDirection: 'row', alignItems: 'center', padding: '7px 16px', borderRadius: 20, background: '#1E9E62' }}&gt;&lt;Text style={{ fontSize: 14, color: '#FFFFFF', fontWeight: 600 }}&gt;已实现&lt;/Text&gt;&lt;/Box&gt;&lt;/Box&gt;&lt;Box style={{ height: 532, paddingTop: 8, flexDirection: 'column' }}&gt;&lt;Box style={{ flexDirection: 'row', gap: 28, flex: 1 }}&gt;&lt;Box style={{ width: 740, justifyContent: 'center' }}&gt;&lt;svg width={740} height={500} viewBox='0 0 740 500'&gt;&lt;circle cx='370' cy='250' r='172' fill='none' stroke='#E3E8EF' stroke-width='2' stroke-dasharray='6 6'/&gt;&lt;path d='M370.0 78.0 Q456.4 100.4 519.0 164.0' fill='none' stroke='#1E7BE0' stroke-width='2'/&gt;&lt;path d='M519.0 164.0 Q542.8 250.0 519.0 336.0' fill='none' stroke='#1E7BE0' stroke-width='2'/&gt;&lt;path d='M519.0 336.0 Q456.4 399.6 370.0 422.0' fill='none' stroke='#1E7BE0' stroke-width='2'/&gt;&lt;path d='M370.0 422.0 Q283.6 399.6 221.0 336.0' fill='none' stroke='#1E7BE0' stroke-width='2'/&gt;&lt;path d='M221.0 336.0 Q197.2 250.0 221.0 164.0' fill='none' stroke='#1E7BE0' stroke-width='2'/&gt;&lt;path d='M221.0 164.0 Q283.6 100.4 370.0 78.0' fill='none' stroke='#1E7BE0' stroke-width='2'/&gt;&lt;rect x='304.0' y='50.0' width='132' height='56' rx='8' fill='#FFFFFF' stroke='#1E7BE0' stroke-width='1.5'/&gt;&lt;circle cx='304.0' cy='50.0' r='14' fill='#0E2340'/&gt;&lt;text x='304.0' y='55.0' font-size='15' fill='#FFFFFF' text-anchor='middle' font-weight='700'&gt;1&lt;/text&gt;&lt;text x='376.0' y='83.0' font-size='16' fill='#0E2340' text-anchor='middle' font-weight='600'&gt;AI 解题&lt;/text&gt;&lt;rect x='453.0' y='136.0' width='132' height='56' rx='8' fill='#FFFFFF' stroke='#1E7BE0' stroke-width='1.5'/&gt;&lt;circle cx='453.0' cy='136.0' r='14' fill='#0E2340'/&gt;&lt;text x='452.9563694509234' y='141.0' font-size='15' fill='#FFFFFF' text-anchor='middle' font-weight='700'&gt;2&lt;/text&gt;&lt;text x='524.9563694509234' y='169.0' font-size='16' fill='#0E2340' text-anchor='middle' font-weight='600'&gt;AI 改题&lt;/text&gt;&lt;rect x='453.0' y='308.0' width='132' height='56' rx='8' fill='#FFFFFF' stroke='#1E7BE0' stroke-width='1.5'/&gt;&lt;circle cx='453.0' cy='308.0' r='14' fill='#0E2340'/&gt;&lt;text x='452.9563694509235' y='313.0' font-size='15' fill='#FFFFFF' text-anchor='middle' font-weight='700'&gt;3&lt;/text&gt;&lt;text x='524.9563694509235' y='341.0' font-size='16' fill='#0E2340' text-anchor='middle' font-weight='600'&gt;手把手教学&lt;/text&gt;&lt;rect x='304.0' y='394.0' width='132' height='56' rx='8' fill='#FFFFFF' stroke='#1E7BE0' stroke-width='1.5'/&gt;&lt;circle cx='304.0' cy='394.0' r='14' fill='#0E2340'/&gt;&lt;text x='304.0' y='399.0' font-size='15' fill='#FFFFFF' text-anchor='middle' font-weight='700'&gt;4&lt;/text&gt;&lt;text x='376.0' y='427.0' font-size='16' fill='#0E2340' text-anchor='middle' font-weight='600'&gt;AI 出题&lt;/text&gt;&lt;rect x='155.0' y='308.0' width='132' height='56' rx='8' fill='#FFFFFF' stroke='#1E7BE0' stroke-width='1.5'/&gt;&lt;circle cx='155.0' cy='308.0' r='14' fill='#0E2340'/&gt;&lt;text x='155.04363054907657' y='313.00000000000006' font-size='15' fill='#FFFFFF' text-anchor='middle' font-weight='700'&gt;5&lt;/text&gt;&lt;text x='227.04363054907657' y='341.00000000000006' font-size='16' fill='#0E2340' text-anchor='middle' font-weight='600'&gt;错题与题库&lt;/text&gt;&lt;rect x='155.0' y='136.0' width='132' height='56' rx='8' fill='#FFFFFF' stroke='#1E7BE0' stroke-width='1.5'/&gt;&lt;circle cx='155.0' cy='136.0' r='14' fill='#0E2340'/&gt;&lt;text x='155.04363054907657' y='141.0' font-size='15' fill='#FFFFFF' text-anchor='middle' font-weight='700'&gt;6&lt;/text&gt;&lt;text x='227.04363054907657' y='169.0' font-size='16' fill='#0E2340' text-anchor='middle' font-weight='600'&gt;新题独立作答&lt;/text&gt;&lt;circle cx='370' cy='250' r='72' fill='#0E2340'/&gt;&lt;text x='370.0' y='256.0' font-size='17' fill='#FFFFFF' text-anchor='middle' font-weight='600'&gt;复用同一套步骤表示&lt;/text&gt;&lt;/svg&gt;&lt;/Box&gt;&lt;Box style={{ flex: 1, flexDirection: 'column', gap: 11, justifyContent: 'center' }}&gt;&lt;Text style={{ fontSize: 21, color: '#0E2340', fontWeight: 700, lineHeight: 1.4 }}&gt;闭环解读&lt;/Text&gt;&lt;Box style={{ flexDirection: 'column', gap: 10 }}&gt;&lt;Box style={{ flexDirection: 'row', gap: 12, alignItems: 'flex-start' }}&gt;&lt;Box style={{ width: 8, height: 8, borderRadius: 4, background: '#1E7BE0', marginTop: 9 }} /&gt;&lt;Box style={{ flex: 1 }}&gt;&lt;Text style={{ fontSize: 17, color: '#333A45', fontWeight: 400, lineHeight: 1.6 }}&gt;AI 解题建立参考步骤，AI 改题将学生表现及可用笔迹时间线对应到步骤。&lt;/Text&gt;&lt;/Box&gt;&lt;/Box&gt;&lt;Box style={{ flexDirection: 'row', gap: 12, alignItems: 'flex-start' }}&gt;&lt;Box style={{ width: 8, height: 8, borderRadius: 4, background: '#1E7BE0', marginTop: 9 }} /&gt;&lt;Box style={{ flex: 1 }}&gt;&lt;Text style={{ fontSize: 17, color: '#333A45', fontWeight: 400, lineHeight: 1.6 }}&gt;手把手教学围绕薄弱步骤引导，AI 出题把训练需求变成新练习。&lt;/Text&gt;&lt;/Box&gt;&lt;/Box&gt;&lt;Box style={{ flexDirection: 'row', gap: 12, alignItems: 'flex-start' }}&gt;&lt;Box style={{ width: 8, height: 8, borderRadius: 4, background: '#1E7BE0', marginTop: 9 }} /&gt;&lt;Box style={{ flex: 1 }}&gt;&lt;Text style={{ fontSize: 17, color: '#333A45', fontWeight: 400, lineHeight: 1.6 }}&gt;错题与题库承接过程记录、步骤错因和练习材料。&lt;/Text&gt;&lt;/Box&gt;&lt;/Box&gt;&lt;Box style={{ flexDirection: 'row', gap: 12, alignItems: 'flex-start' }}&gt;&lt;Box style={{ width: 8, height: 8, borderRadius: 4, background: '#1E7BE0', marginTop: 9 }} /&gt;&lt;Box style={{ flex: 1 }}&gt;&lt;Text style={{ fontSize: 17, color: '#333A45', fontWeight: 400, lineHeight: 1.6 }}&gt;新题的独立作答又提供新的步骤证据，回到循环起点。&lt;/Text&gt;&lt;/Box&gt;&lt;/Box&gt;&lt;Box style={{ flexDirection: 'row', gap: 12, alignItems: 'flex-start' }}&gt;&lt;Box style={{ width: 8, height: 8, borderRadius: 4, background: '#1E7BE0', marginTop: 9 }} /&gt;&lt;Box style={{ flex: 1 }}&gt;&lt;Text style={{ fontSize: 17, color: '#333A45', fontWeight: 400, lineHeight: 1.6 }}&gt;设计价值：复用同一套步骤表示，使错误定位、教学动作和练习目标能够具体对应。&lt;/Text&gt;&lt;/Box&gt;&lt;/Box&gt;&lt;Box style={{ flexDirection: 'row', gap: 12, alignItems: 'flex-start' }}&gt;&lt;Box style={{ width: 8, height: 8, borderRadius: 4, background: '#1E7BE0', marginTop: 9 }} /&gt;&lt;Box style={{ flex: 1 }}&gt;&lt;Text style={{ fontSize: 17, color: '#333A45', fontWeight: 400, lineHeight: 1.6 }}&gt;两条限制：步骤标签本身不能代替数学判断；四项功能都依赖上游参考解析的质量。&lt;/Text&gt;&lt;/Box&gt;&lt;/Box&gt;&lt;/Box&gt;&lt;/Box&gt;&lt;/Box&gt;&lt;/Box&gt;&lt;Box style={{ height: 40, flexDirection: 'row', justifyContent: 'space-between', alignItems: 'center', borderTop: '1px solid #E3E8EF', marginTop: 8 }}&gt;&lt;Text style={{ fontSize: 13, color: '#7A8699', fontWeight: 400, lineHeight: 1.4 }}&gt;依据：单题功能设计思路.md §7&lt;/Text&gt;&lt;Text style={{ fontSize: 14, color: '#7A8699', fontWeight: 400, lineHeight: 1.4 }}&gt; 34 / 124 &lt;/Text&gt;&lt;/Box&gt;&lt;/Slide&gt;"/>
        <p:cNvGrpSpPr/>
        <p:nvPr/>
      </p:nvGrpSpPr>
      <p:grpSpPr>
        <a:xfrm>
          <a:off x="0" y="0"/>
          <a:ext cx="0" cy="0"/>
          <a:chOff x="0" y="0"/>
          <a:chExt cx="0" cy="0"/>
        </a:xfrm>
      </p:grpSpPr>
      <p:sp>
        <p:nvSpPr>
          <p:cNvPr id="1339" name=""/>
          <p:cNvSpPr/>
          <p:nvPr/>
        </p:nvSpPr>
        <p:spPr>
          <a:xfrm rot="0" flipH="0" flipV="0">
            <a:off x="0" y="0"/>
            <a:ext cx="12192000" cy="6858000"/>
          </a:xfrm>
          <a:prstGeom prst="rect">
            <a:avLst/>
          </a:prstGeom>
          <a:solidFill>
            <a:srgbClr val="FFFFFF"/>
          </a:solidFill>
          <a:ln/>
        </p:spPr>
        <p:txBody>
          <a:bodyPr/>
          <a:p/>
        </p:txBody>
      </p:sp>
      <p:sp>
        <p:nvSpPr>
          <p:cNvPr id="1340" name="" descr="{&quot;isTemplate&quot;:true,&quot;type&quot;:&quot;text&quot;}"/>
          <p:cNvSpPr txBox="1"/>
          <p:nvPr/>
        </p:nvSpPr>
        <p:spPr>
          <a:xfrm rot="0" flipH="0" flipV="0">
            <a:off x="666750" y="381000"/>
            <a:ext cx="3352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03 / </a:t>
            </a:r>
            <a:r>
              <a:rPr lang="zh-CN" sz="1050" spc="75">
                <a:solidFill>
                  <a:srgbClr val="7A8699"/>
                </a:solidFill>
                <a:latin typeface="Microsoft YaHei"/>
                <a:ea typeface="Microsoft YaHei"/>
              </a:rPr>
              <a:t>单题引擎</a:t>
            </a:r>
            <a:endParaRPr/>
          </a:p>
        </p:txBody>
      </p:sp>
      <p:sp>
        <p:nvSpPr>
          <p:cNvPr id="1341" name="" descr="{&quot;isTemplate&quot;:true,&quot;type&quot;:&quot;text&quot;}"/>
          <p:cNvSpPr txBox="1"/>
          <p:nvPr/>
        </p:nvSpPr>
        <p:spPr>
          <a:xfrm rot="0" flipH="0" flipV="0">
            <a:off x="666750" y="666750"/>
            <a:ext cx="3352800" cy="476250"/>
          </a:xfrm>
          <a:prstGeom prst="rect"/>
        </p:spPr>
        <p:txBody>
          <a:bodyPr wrap="none" lIns="0" tIns="0" rIns="0" bIns="0"/>
          <a:p>
            <a:pPr>
              <a:lnSpc>
                <a:spcPct val="130000"/>
              </a:lnSpc>
            </a:pPr>
            <a:r>
              <a:rPr lang="zh-CN" sz="2400" b="1">
                <a:solidFill>
                  <a:srgbClr val="0E2340"/>
                </a:solidFill>
                <a:latin typeface="Microsoft YaHei"/>
                <a:ea typeface="Microsoft YaHei"/>
              </a:rPr>
              <a:t>五大功能如何衔接成闭环</a:t>
            </a:r>
            <a:endParaRPr/>
          </a:p>
        </p:txBody>
      </p:sp>
      <p:sp>
        <p:nvSpPr>
          <p:cNvPr id="1342" name=""/>
          <p:cNvSpPr/>
          <p:nvPr/>
        </p:nvSpPr>
        <p:spPr>
          <a:xfrm rot="0" flipH="0" flipV="0">
            <a:off x="10820400" y="847725"/>
            <a:ext cx="704850" cy="295275"/>
          </a:xfrm>
          <a:prstGeom prst="roundRect">
            <a:avLst>
              <a:gd name="adj" fmla="val 64516"/>
            </a:avLst>
          </a:prstGeom>
          <a:solidFill>
            <a:srgbClr val="1E9E62"/>
          </a:solidFill>
          <a:ln/>
        </p:spPr>
        <p:txBody>
          <a:bodyPr/>
          <a:p/>
        </p:txBody>
      </p:sp>
      <p:sp>
        <p:nvSpPr>
          <p:cNvPr id="1343"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已实现</a:t>
            </a:r>
            <a:endParaRPr/>
          </a:p>
        </p:txBody>
      </p:sp>
      <p:pic>
        <p:nvPicPr>
          <p:cNvPr id="1344" name=""/>
          <p:cNvPicPr>
            <a:picLocks noChangeAspect="1"/>
          </p:cNvPicPr>
          <p:nvPr/>
        </p:nvPicPr>
        <p:blipFill>
          <a:blip>
            <a:extLst>
              <a:ext uri="{96DAC541-7B7A-43D3-8B79-37D633B846F1}">
                <asvg:svgBlip r:embed="rId1"/>
              </a:ext>
            </a:extLst>
          </a:blip>
          <a:stretch>
            <a:fillRect/>
          </a:stretch>
        </p:blipFill>
        <p:spPr>
          <a:xfrm rot="0" flipH="0" flipV="0">
            <a:off x="666750" y="1333500"/>
            <a:ext cx="7048500" cy="4762500"/>
          </a:xfrm>
          <a:prstGeom prst="rect">
            <a:avLst/>
          </a:prstGeom>
          <a:ln/>
        </p:spPr>
      </p:pic>
      <p:sp>
        <p:nvSpPr>
          <p:cNvPr id="1345" name="" descr="{&quot;isTemplate&quot;:true,&quot;type&quot;:&quot;text&quot;}"/>
          <p:cNvSpPr txBox="1"/>
          <p:nvPr/>
        </p:nvSpPr>
        <p:spPr>
          <a:xfrm rot="0" flipH="0" flipV="0">
            <a:off x="7981950" y="1371600"/>
            <a:ext cx="3543300" cy="342900"/>
          </a:xfrm>
          <a:prstGeom prst="rect"/>
        </p:spPr>
        <p:txBody>
          <a:bodyPr wrap="none" lIns="0" tIns="0" rIns="0" bIns="0"/>
          <a:p>
            <a:pPr>
              <a:lnSpc>
                <a:spcPct val="140000"/>
              </a:lnSpc>
            </a:pPr>
            <a:r>
              <a:rPr lang="zh-CN" sz="1575" b="1">
                <a:solidFill>
                  <a:srgbClr val="0E2340"/>
                </a:solidFill>
                <a:latin typeface="Microsoft YaHei"/>
                <a:ea typeface="Microsoft YaHei"/>
              </a:rPr>
              <a:t>闭环解读</a:t>
            </a:r>
            <a:endParaRPr/>
          </a:p>
        </p:txBody>
      </p:sp>
      <p:sp>
        <p:nvSpPr>
          <p:cNvPr id="1346" name=""/>
          <p:cNvSpPr/>
          <p:nvPr/>
        </p:nvSpPr>
        <p:spPr>
          <a:xfrm rot="0" flipH="0" flipV="0">
            <a:off x="7981950" y="1905000"/>
            <a:ext cx="76200" cy="76200"/>
          </a:xfrm>
          <a:prstGeom prst="roundRect">
            <a:avLst>
              <a:gd name="adj" fmla="val 50000"/>
            </a:avLst>
          </a:prstGeom>
          <a:solidFill>
            <a:srgbClr val="1E7BE0"/>
          </a:solidFill>
          <a:ln/>
        </p:spPr>
        <p:txBody>
          <a:bodyPr/>
          <a:p/>
        </p:txBody>
      </p:sp>
      <p:sp>
        <p:nvSpPr>
          <p:cNvPr id="1347" name="" descr="{&quot;isTemplate&quot;:true,&quot;type&quot;:&quot;text&quot;}"/>
          <p:cNvSpPr txBox="1"/>
          <p:nvPr/>
        </p:nvSpPr>
        <p:spPr>
          <a:xfrm rot="0" flipH="0" flipV="0">
            <a:off x="8172450" y="1819275"/>
            <a:ext cx="3352800" cy="628650"/>
          </a:xfrm>
          <a:prstGeom prst="rect"/>
        </p:spPr>
        <p:txBody>
          <a:bodyPr wrap="square" lIns="0" tIns="0" rIns="0" bIns="0">
            <a:normAutofit/>
          </a:bodyPr>
          <a:p>
            <a:pPr>
              <a:lnSpc>
                <a:spcPct val="160000"/>
              </a:lnSpc>
            </a:pPr>
            <a:r>
              <a:rPr lang="en-US" sz="1275">
                <a:solidFill>
                  <a:srgbClr val="333A45"/>
                </a:solidFill>
                <a:latin typeface="Microsoft YaHei"/>
                <a:ea typeface="Microsoft YaHei"/>
              </a:rPr>
              <a:t xml:space="preserve">AI </a:t>
            </a:r>
            <a:r>
              <a:rPr lang="zh-CN" sz="1275">
                <a:solidFill>
                  <a:srgbClr val="333A45"/>
                </a:solidFill>
                <a:latin typeface="Microsoft YaHei"/>
                <a:ea typeface="Microsoft YaHei"/>
              </a:rPr>
              <a:t>解题建立参考步骤，</a:t>
            </a:r>
            <a:r>
              <a:rPr lang="en-US" sz="1275">
                <a:solidFill>
                  <a:srgbClr val="333A45"/>
                </a:solidFill>
                <a:latin typeface="Microsoft YaHei"/>
                <a:ea typeface="Microsoft YaHei"/>
              </a:rPr>
              <a:t xml:space="preserve">AI </a:t>
            </a:r>
            <a:r>
              <a:rPr lang="zh-CN" sz="1275">
                <a:solidFill>
                  <a:srgbClr val="333A45"/>
                </a:solidFill>
                <a:latin typeface="Microsoft YaHei"/>
                <a:ea typeface="Microsoft YaHei"/>
              </a:rPr>
              <a:t>改题将学生表现及可用笔迹时间线对应到步骤。</a:t>
            </a:r>
            <a:endParaRPr/>
          </a:p>
        </p:txBody>
      </p:sp>
      <p:sp>
        <p:nvSpPr>
          <p:cNvPr id="1348" name=""/>
          <p:cNvSpPr/>
          <p:nvPr/>
        </p:nvSpPr>
        <p:spPr>
          <a:xfrm rot="0" flipH="0" flipV="0">
            <a:off x="7981950" y="2628900"/>
            <a:ext cx="76200" cy="76200"/>
          </a:xfrm>
          <a:prstGeom prst="roundRect">
            <a:avLst>
              <a:gd name="adj" fmla="val 50000"/>
            </a:avLst>
          </a:prstGeom>
          <a:solidFill>
            <a:srgbClr val="1E7BE0"/>
          </a:solidFill>
          <a:ln/>
        </p:spPr>
        <p:txBody>
          <a:bodyPr/>
          <a:p/>
        </p:txBody>
      </p:sp>
      <p:sp>
        <p:nvSpPr>
          <p:cNvPr id="1349" name="" descr="{&quot;isTemplate&quot;:true,&quot;type&quot;:&quot;text&quot;}"/>
          <p:cNvSpPr txBox="1"/>
          <p:nvPr/>
        </p:nvSpPr>
        <p:spPr>
          <a:xfrm rot="0" flipH="0" flipV="0">
            <a:off x="8172450" y="2543175"/>
            <a:ext cx="3352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手把手教学围绕薄弱步骤引导，</a:t>
            </a:r>
            <a:r>
              <a:rPr lang="en-US" sz="1275">
                <a:solidFill>
                  <a:srgbClr val="333A45"/>
                </a:solidFill>
                <a:latin typeface="Microsoft YaHei"/>
                <a:ea typeface="Microsoft YaHei"/>
              </a:rPr>
              <a:t xml:space="preserve">AI </a:t>
            </a:r>
            <a:r>
              <a:rPr lang="zh-CN" sz="1275">
                <a:solidFill>
                  <a:srgbClr val="333A45"/>
                </a:solidFill>
                <a:latin typeface="Microsoft YaHei"/>
                <a:ea typeface="Microsoft YaHei"/>
              </a:rPr>
              <a:t>出题把训练需求变成新练习。</a:t>
            </a:r>
            <a:endParaRPr/>
          </a:p>
        </p:txBody>
      </p:sp>
      <p:sp>
        <p:nvSpPr>
          <p:cNvPr id="1350" name=""/>
          <p:cNvSpPr/>
          <p:nvPr/>
        </p:nvSpPr>
        <p:spPr>
          <a:xfrm rot="0" flipH="0" flipV="0">
            <a:off x="7981950" y="3352800"/>
            <a:ext cx="76200" cy="76200"/>
          </a:xfrm>
          <a:prstGeom prst="roundRect">
            <a:avLst>
              <a:gd name="adj" fmla="val 50000"/>
            </a:avLst>
          </a:prstGeom>
          <a:solidFill>
            <a:srgbClr val="1E7BE0"/>
          </a:solidFill>
          <a:ln/>
        </p:spPr>
        <p:txBody>
          <a:bodyPr/>
          <a:p/>
        </p:txBody>
      </p:sp>
      <p:sp>
        <p:nvSpPr>
          <p:cNvPr id="1351" name="" descr="{&quot;isTemplate&quot;:true,&quot;type&quot;:&quot;text&quot;}"/>
          <p:cNvSpPr txBox="1"/>
          <p:nvPr/>
        </p:nvSpPr>
        <p:spPr>
          <a:xfrm rot="0" flipH="0" flipV="0">
            <a:off x="8172450" y="3267075"/>
            <a:ext cx="3352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错题与题库承接过程记录、步骤错因和练习材料。</a:t>
            </a:r>
            <a:endParaRPr/>
          </a:p>
        </p:txBody>
      </p:sp>
      <p:sp>
        <p:nvSpPr>
          <p:cNvPr id="1352" name=""/>
          <p:cNvSpPr/>
          <p:nvPr/>
        </p:nvSpPr>
        <p:spPr>
          <a:xfrm rot="0" flipH="0" flipV="0">
            <a:off x="7981950" y="4076700"/>
            <a:ext cx="76200" cy="76200"/>
          </a:xfrm>
          <a:prstGeom prst="roundRect">
            <a:avLst>
              <a:gd name="adj" fmla="val 50000"/>
            </a:avLst>
          </a:prstGeom>
          <a:solidFill>
            <a:srgbClr val="1E7BE0"/>
          </a:solidFill>
          <a:ln/>
        </p:spPr>
        <p:txBody>
          <a:bodyPr/>
          <a:p/>
        </p:txBody>
      </p:sp>
      <p:sp>
        <p:nvSpPr>
          <p:cNvPr id="1353" name="" descr="{&quot;isTemplate&quot;:true,&quot;type&quot;:&quot;text&quot;}"/>
          <p:cNvSpPr txBox="1"/>
          <p:nvPr/>
        </p:nvSpPr>
        <p:spPr>
          <a:xfrm rot="0" flipH="0" flipV="0">
            <a:off x="8172450" y="3990975"/>
            <a:ext cx="3352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新题的独立作答又提供新的步骤证据，回到循环起点。</a:t>
            </a:r>
            <a:endParaRPr/>
          </a:p>
        </p:txBody>
      </p:sp>
      <p:sp>
        <p:nvSpPr>
          <p:cNvPr id="1354" name=""/>
          <p:cNvSpPr/>
          <p:nvPr/>
        </p:nvSpPr>
        <p:spPr>
          <a:xfrm rot="0" flipH="0" flipV="0">
            <a:off x="7981950" y="4800600"/>
            <a:ext cx="76200" cy="76200"/>
          </a:xfrm>
          <a:prstGeom prst="roundRect">
            <a:avLst>
              <a:gd name="adj" fmla="val 50000"/>
            </a:avLst>
          </a:prstGeom>
          <a:solidFill>
            <a:srgbClr val="1E7BE0"/>
          </a:solidFill>
          <a:ln/>
        </p:spPr>
        <p:txBody>
          <a:bodyPr/>
          <a:p/>
        </p:txBody>
      </p:sp>
      <p:sp>
        <p:nvSpPr>
          <p:cNvPr id="1355" name="" descr="{&quot;isTemplate&quot;:true,&quot;type&quot;:&quot;text&quot;}"/>
          <p:cNvSpPr txBox="1"/>
          <p:nvPr/>
        </p:nvSpPr>
        <p:spPr>
          <a:xfrm rot="0" flipH="0" flipV="0">
            <a:off x="8172450" y="4714875"/>
            <a:ext cx="3352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设计价值：复用同一套步骤表示，使错误定位、教学动作和练习目标能够具体对应。</a:t>
            </a:r>
            <a:endParaRPr/>
          </a:p>
        </p:txBody>
      </p:sp>
      <p:sp>
        <p:nvSpPr>
          <p:cNvPr id="1356" name=""/>
          <p:cNvSpPr/>
          <p:nvPr/>
        </p:nvSpPr>
        <p:spPr>
          <a:xfrm rot="0" flipH="0" flipV="0">
            <a:off x="7981950" y="5524500"/>
            <a:ext cx="76200" cy="76200"/>
          </a:xfrm>
          <a:prstGeom prst="roundRect">
            <a:avLst>
              <a:gd name="adj" fmla="val 50000"/>
            </a:avLst>
          </a:prstGeom>
          <a:solidFill>
            <a:srgbClr val="1E7BE0"/>
          </a:solidFill>
          <a:ln/>
        </p:spPr>
        <p:txBody>
          <a:bodyPr/>
          <a:p/>
        </p:txBody>
      </p:sp>
      <p:sp>
        <p:nvSpPr>
          <p:cNvPr id="1357" name="" descr="{&quot;isTemplate&quot;:true,&quot;type&quot;:&quot;text&quot;}"/>
          <p:cNvSpPr txBox="1"/>
          <p:nvPr/>
        </p:nvSpPr>
        <p:spPr>
          <a:xfrm rot="0" flipH="0" flipV="0">
            <a:off x="8172450" y="5438775"/>
            <a:ext cx="3352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两条限制：步骤标签本身不能代替数学判断；四项功能都依赖上游参考解析的质量。</a:t>
            </a:r>
            <a:endParaRPr/>
          </a:p>
        </p:txBody>
      </p:sp>
      <p:sp>
        <p:nvSpPr>
          <p:cNvPr id="1358"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359" name="" descr="{&quot;isTemplate&quot;:true,&quot;type&quot;:&quot;text&quot;}"/>
          <p:cNvSpPr txBox="1"/>
          <p:nvPr/>
        </p:nvSpPr>
        <p:spPr>
          <a:xfrm rot="0" flipH="0" flipV="0">
            <a:off x="666750" y="6381750"/>
            <a:ext cx="1743075" cy="209550"/>
          </a:xfrm>
          <a:prstGeom prst="rect"/>
        </p:spPr>
        <p:txBody>
          <a:bodyPr wrap="none" lIns="0" tIns="0" rIns="0" bIns="0"/>
          <a:p>
            <a:pPr>
              <a:lnSpc>
                <a:spcPct val="140000"/>
              </a:lnSpc>
            </a:pPr>
            <a:r>
              <a:rPr lang="zh-CN" sz="975">
                <a:solidFill>
                  <a:srgbClr val="7A8699"/>
                </a:solidFill>
                <a:latin typeface="Microsoft YaHei"/>
                <a:ea typeface="Microsoft YaHei"/>
              </a:rPr>
              <a:t>依据：单题功能设计思路</a:t>
            </a:r>
            <a:r>
              <a:rPr lang="en-US" sz="975">
                <a:solidFill>
                  <a:srgbClr val="7A8699"/>
                </a:solidFill>
                <a:latin typeface="Microsoft YaHei"/>
                <a:ea typeface="Microsoft YaHei"/>
              </a:rPr>
              <a:t>.md §7</a:t>
            </a:r>
            <a:endParaRPr/>
          </a:p>
        </p:txBody>
      </p:sp>
      <p:sp>
        <p:nvSpPr>
          <p:cNvPr id="1360"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34 / 124 </a:t>
            </a:r>
            <a:endParaRPr/>
          </a:p>
        </p:txBody>
      </p:sp>
    </p:spTree>
  </p:cSld>
</p:sld>
</file>

<file path=ppt/slides/slide35.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1361"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3 / 单题引擎&lt;/Text&gt;&lt;Text style={{ fontSize: 32, color: '#0E2340', fontWeight: 700, lineHeight: 1.3 }}&gt;与已有研究的比较定位（一）&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paddingTop: 4 }}&gt;&lt;Box style={{ marginBottom: 14 }}&gt;&lt;Box style={{ flexDirection: 'row', alignItems: 'center', background: '#F5F7FA', borderLeft: '4px solid #0E2340', borderRadius: 6, padding: '14px 20px' }}&gt;&lt;Text style={{ fontSize: 20, color: '#0E2340', fontWeight: 600, lineHeight: 1.5 }}&gt;下表是设计层面的对照，不表示已完成同条件实验&lt;/Text&gt;&lt;/Box&gt;&lt;/Box&gt;&lt;Box style={{ flex: 1 }}&gt;&lt;Table style={{ width: '100%', height: '100%' }} defaultTextStyle={{ fontSize: 15, textAlign: 'left', color: '#333A45' }} defaultCellStyle={{ padding: 10, border: { left: { width: 1, color: '#E3E8EF' }, right: { width: 1, color: '#E3E8EF' }, top: { width: 1, color: '#E3E8EF' }, bottom: { width: 1, color: '#E3E8EF' } } }} cells={[[{ text: '相关工作', textStyle: { color: '#FFFFFF', fontWeight: 600, fontSize: 15 }, cellStyle: { background: { color: '#0E2340' } } }, { text: '已研究的问题', textStyle: { color: '#FFFFFF', fontWeight: 600, fontSize: 15 }, cellStyle: { background: { color: '#0E2340' } } }, { text: '启发与可比较之处', textStyle: { color: '#FFFFFF', fontWeight: 600, fontSize: 15 }, cellStyle: { background: { color: '#0E2340' } } }],&#10;        [{ text: 'Stepwise Verification and Remediation（EMNLP 2024）', textStyle: { fontWeight: 600, fontSize: 15 } }, { text: '定位学生推理错误，并用验证结果指导反馈', textStyle: { fontSize: 15 } }, { text: '同样强调先有错误定位依据再给反馈；可比较共享步骤词表是否改善定位、作答对齐与后续训练选择', textStyle: { fontSize: 15 } }],&#10;        [{ text: 'MathCog（2026 修订预印本）', textStyle: { fontWeight: 600, fontSize: 15 }, cellStyle: { background: { color: '#F5F7FA' } } }, { text: '从手写作答诊断认知技能，区分证据明确与模糊', textStyle: { fontSize: 15 }, cellStyle: { background: { color: '#F5F7FA' } } }, { text: '应比较证据不足时是否保留判断，是否产生无依据的知识缺陷归因', textStyle: { fontSize: 15 }, cellStyle: { background: { color: '#F5F7FA' } } }],&#10;        [{ text: 'MathTutorBench（EMNLP 2025）', textStyle: { fontWeight: 600, fontSize: 15 } }, { text: '数学辅导能力评测；解题能力 ≠ 教学能力', textStyle: { fontSize: 15 } }, { text: '教学应单独评价：是否定位困难、提示是否有用、是否过早泄露答案', textStyle: { fontSize: 15 } }],&#10;        [{ text: 'EQPR（ACL 2025）', textStyle: { fontWeight: 600, fontSize: 15 }, cellStyle: { background: { color: '#F5F7FA' } } }, { text: '按多维教学目标规划、评价和优化数学出题', textStyle: { fontSize: 15 }, cellStyle: { background: { color: '#F5F7FA' } } }, { text: '侧重有步骤和参考题的约束生成；可比较目标步骤命中、知识范围适配和题目正确性', textStyle: { fontSize: 15 }, cellStyle: { background: { color: '#F5F7FA' } } }],&#10;        [{ text: 'Cognitive Tutor（IES 项目说明）', textStyle: { fontWeight: 600, fontSize: 15 } }, { text: '用学生思维的计算模型提供个性化数学教学', textStyle: { fontSize: 15 } }, { text: '应比较如何用现有大模型与可维护的步骤体系支持更多题目及开放作答', textStyle: { fontSize: 15 } }]]} /&gt;&lt;/Box&gt;&lt;/Box&gt;&lt;/Box&gt;&lt;Box style={{ height: 40, flexDirection: 'row', justifyContent: 'space-between', alignItems: 'center', borderTop: '1px solid #E3E8EF', marginTop: 8 }}&gt;&lt;Text style={{ fontSize: 13, color: '#7A8699', fontWeight: 400, lineHeight: 1.4 }}&gt;依据：单题功能设计思路.md §8&lt;/Text&gt;&lt;Text style={{ fontSize: 14, color: '#7A8699', fontWeight: 400, lineHeight: 1.4 }}&gt; 35 / 124 &lt;/Text&gt;&lt;/Box&gt;&lt;/Slide&gt;"/>
        <p:cNvGrpSpPr/>
        <p:nvPr/>
      </p:nvGrpSpPr>
      <p:grpSpPr>
        <a:xfrm>
          <a:off x="0" y="0"/>
          <a:ext cx="0" cy="0"/>
          <a:chOff x="0" y="0"/>
          <a:chExt cx="0" cy="0"/>
        </a:xfrm>
      </p:grpSpPr>
      <p:sp>
        <p:nvSpPr>
          <p:cNvPr id="1362" name=""/>
          <p:cNvSpPr/>
          <p:nvPr/>
        </p:nvSpPr>
        <p:spPr>
          <a:xfrm rot="0" flipH="0" flipV="0">
            <a:off x="0" y="0"/>
            <a:ext cx="12192000" cy="6858000"/>
          </a:xfrm>
          <a:prstGeom prst="rect">
            <a:avLst/>
          </a:prstGeom>
          <a:solidFill>
            <a:srgbClr val="FFFFFF"/>
          </a:solidFill>
          <a:ln/>
        </p:spPr>
        <p:txBody>
          <a:bodyPr/>
          <a:p/>
        </p:txBody>
      </p:sp>
      <p:sp>
        <p:nvSpPr>
          <p:cNvPr id="1363" name="" descr="{&quot;isTemplate&quot;:true,&quot;type&quot;:&quot;text&quot;}"/>
          <p:cNvSpPr txBox="1"/>
          <p:nvPr/>
        </p:nvSpPr>
        <p:spPr>
          <a:xfrm rot="0" flipH="0" flipV="0">
            <a:off x="666750" y="381000"/>
            <a:ext cx="39624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03 / </a:t>
            </a:r>
            <a:r>
              <a:rPr lang="zh-CN" sz="1050" spc="75">
                <a:solidFill>
                  <a:srgbClr val="7A8699"/>
                </a:solidFill>
                <a:latin typeface="Microsoft YaHei"/>
                <a:ea typeface="Microsoft YaHei"/>
              </a:rPr>
              <a:t>单题引擎</a:t>
            </a:r>
            <a:endParaRPr/>
          </a:p>
        </p:txBody>
      </p:sp>
      <p:sp>
        <p:nvSpPr>
          <p:cNvPr id="1364" name="" descr="{&quot;isTemplate&quot;:true,&quot;type&quot;:&quot;text&quot;}"/>
          <p:cNvSpPr txBox="1"/>
          <p:nvPr/>
        </p:nvSpPr>
        <p:spPr>
          <a:xfrm rot="0" flipH="0" flipV="0">
            <a:off x="666750" y="666750"/>
            <a:ext cx="3962400" cy="476250"/>
          </a:xfrm>
          <a:prstGeom prst="rect"/>
        </p:spPr>
        <p:txBody>
          <a:bodyPr wrap="none" lIns="0" tIns="0" rIns="0" bIns="0"/>
          <a:p>
            <a:pPr>
              <a:lnSpc>
                <a:spcPct val="130000"/>
              </a:lnSpc>
            </a:pPr>
            <a:r>
              <a:rPr lang="zh-CN" sz="2400" b="1">
                <a:solidFill>
                  <a:srgbClr val="0E2340"/>
                </a:solidFill>
                <a:latin typeface="Microsoft YaHei"/>
                <a:ea typeface="Microsoft YaHei"/>
              </a:rPr>
              <a:t>与已有研究的比较定位（一）</a:t>
            </a:r>
            <a:endParaRPr/>
          </a:p>
        </p:txBody>
      </p:sp>
      <p:sp>
        <p:nvSpPr>
          <p:cNvPr id="1365"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366"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1367" name=""/>
          <p:cNvSpPr/>
          <p:nvPr/>
        </p:nvSpPr>
        <p:spPr>
          <a:xfrm rot="0" flipH="0" flipV="0">
            <a:off x="704850" y="1257300"/>
            <a:ext cx="10858500" cy="609600"/>
          </a:xfrm>
          <a:prstGeom prst="roundRect">
            <a:avLst>
              <a:gd name="adj" fmla="val 9375"/>
            </a:avLst>
          </a:prstGeom>
          <a:solidFill>
            <a:srgbClr val="F5F7FA"/>
          </a:solidFill>
          <a:ln/>
        </p:spPr>
        <p:txBody>
          <a:bodyPr/>
          <a:p/>
        </p:txBody>
      </p:sp>
      <p:sp>
        <p:nvSpPr>
          <p:cNvPr id="1368" name=""/>
          <p:cNvSpPr/>
          <p:nvPr/>
        </p:nvSpPr>
        <p:spPr>
          <a:xfrm rot="0" flipH="0" flipV="0">
            <a:off x="704850" y="12573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1369" name="" descr="{&quot;isTemplate&quot;:true,&quot;type&quot;:&quot;text&quot;}"/>
          <p:cNvSpPr txBox="1"/>
          <p:nvPr/>
        </p:nvSpPr>
        <p:spPr>
          <a:xfrm rot="0" flipH="0" flipV="0">
            <a:off x="895350" y="1390650"/>
            <a:ext cx="4191000" cy="342900"/>
          </a:xfrm>
          <a:prstGeom prst="rect"/>
        </p:spPr>
        <p:txBody>
          <a:bodyPr wrap="none" lIns="0" tIns="0" rIns="0" bIns="0"/>
          <a:p>
            <a:pPr>
              <a:lnSpc>
                <a:spcPct val="150000"/>
              </a:lnSpc>
            </a:pPr>
            <a:r>
              <a:rPr lang="zh-CN" sz="1500" b="1">
                <a:solidFill>
                  <a:srgbClr val="0E2340"/>
                </a:solidFill>
                <a:latin typeface="Microsoft YaHei"/>
                <a:ea typeface="Microsoft YaHei"/>
              </a:rPr>
              <a:t>下表是设计层面的对照，不表示已完成同条件实验</a:t>
            </a:r>
            <a:endParaRPr/>
          </a:p>
        </p:txBody>
      </p:sp>
      <p:graphicFrame>
        <p:nvGraphicFramePr>
          <p:cNvPr id="1370" name=""/>
          <p:cNvGraphicFramePr/>
          <p:nvPr/>
        </p:nvGraphicFramePr>
        <p:xfrm rot="0" flipH="0" flipV="0">
          <a:off x="666750" y="2000250"/>
          <a:ext cx="10858500" cy="4210050"/>
        </p:xfrm>
        <a:graphic>
          <a:graphicData uri="http://schemas.openxmlformats.org/drawingml/2006/table">
            <a:tbl>
              <a:tblGrid>
                <a:gridCol w="3034525">
                  <a:extLst>
                    <a:ext uri="{9D8B030D-6E8A-4147-A177-3AD203B41FA5}">
                      <a16:colId val="1"/>
                    </a:ext>
                  </a:extLst>
                </a:gridCol>
                <a:gridCol w="2554478">
                  <a:extLst>
                    <a:ext uri="{9D8B030D-6E8A-4147-A177-3AD203B41FA5}">
                      <a16:colId val="2"/>
                    </a:ext>
                  </a:extLst>
                </a:gridCol>
                <a:gridCol w="5269497">
                  <a:extLst>
                    <a:ext uri="{9D8B030D-6E8A-4147-A177-3AD203B41FA5}">
                      <a16:colId val="3"/>
                    </a:ext>
                  </a:extLst>
                </a:gridCol>
              </a:tblGrid>
              <a:tr h="444051">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相关工作</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已研究的问题</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启发与可比较之处</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75320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Stepwise Verification and Remediation（EMNLP 2024）</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定位学生推理错误，并用验证结果指导反馈</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同样强调先有错误定位依据再给反馈；可比较共享步骤词表是否改善定位、作答对齐与后续训练选择</a:t>
                      </a:r>
                      <a:endParaRPr/>
                    </a:p>
                  </a:txBody>
                  <a:tcPr marL="45720" marR="45720" marT="45720" marB="45720" anchor="ctr">
                    <a:lnL>
                      <a:noFill/>
                    </a:lnL>
                    <a:lnR>
                      <a:noFill/>
                    </a:lnR>
                    <a:lnT>
                      <a:noFill/>
                    </a:lnT>
                    <a:lnB>
                      <a:noFill/>
                    </a:lnB>
                  </a:tcPr>
                </a:tc>
                <a:extLst>
                  <a:ext uri="{0D108BD9-81ED-4DB2-BD59-A6C34878D82A}">
                    <a16:rowId val="2"/>
                  </a:ext>
                </a:extLst>
              </a:tr>
              <a:tr h="75320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MathCog（2026 修订预印本）</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从手写作答诊断认知技能，区分证据明确与模糊</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应比较证据不足时是否保留判断，是否产生无依据的知识缺陷归因</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75320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MathTutorBench（EMNLP 2025）</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数学辅导能力评测；解题能力 ≠ 教学能力</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教学应单独评价：是否定位困难、提示是否有用、是否过早泄露答案</a:t>
                      </a:r>
                      <a:endParaRPr/>
                    </a:p>
                  </a:txBody>
                  <a:tcPr marL="45720" marR="45720" marT="45720" marB="45720" anchor="ctr">
                    <a:lnL>
                      <a:noFill/>
                    </a:lnL>
                    <a:lnR>
                      <a:noFill/>
                    </a:lnR>
                    <a:lnT>
                      <a:noFill/>
                    </a:lnT>
                    <a:lnB>
                      <a:noFill/>
                    </a:lnB>
                  </a:tcPr>
                </a:tc>
                <a:extLst>
                  <a:ext uri="{0D108BD9-81ED-4DB2-BD59-A6C34878D82A}">
                    <a16:rowId val="4"/>
                  </a:ext>
                </a:extLst>
              </a:tr>
              <a:tr h="75320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EQPR（ACL 2025）</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按多维教学目标规划、评价和优化数学出题</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侧重有步骤和参考题的约束生成；可比较目标步骤命中、知识范围适配和题目正确性</a:t>
                      </a:r>
                      <a:endParaRPr/>
                    </a:p>
                  </a:txBody>
                  <a:tcPr marL="45720" marR="45720" marT="45720" marB="45720" anchor="ctr">
                    <a:lnL>
                      <a:noFill/>
                    </a:lnL>
                    <a:lnR>
                      <a:noFill/>
                    </a:lnR>
                    <a:lnT>
                      <a:noFill/>
                    </a:lnT>
                    <a:lnB>
                      <a:noFill/>
                    </a:lnB>
                    <a:solidFill>
                      <a:srgbClr val="F5F7FA"/>
                    </a:solidFill>
                  </a:tcPr>
                </a:tc>
                <a:extLst>
                  <a:ext uri="{0D108BD9-81ED-4DB2-BD59-A6C34878D82A}">
                    <a16:rowId val="5"/>
                  </a:ext>
                </a:extLst>
              </a:tr>
              <a:tr h="75320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Cognitive Tutor（IES 项目说明）</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用学生思维的计算模型提供个性化数学教学</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应比较如何用现有大模型与可维护的步骤体系支持更多题目及开放作答</a:t>
                      </a:r>
                      <a:endParaRPr/>
                    </a:p>
                  </a:txBody>
                  <a:tcPr marL="45720" marR="45720" marT="45720" marB="45720" anchor="ctr">
                    <a:lnL>
                      <a:noFill/>
                    </a:lnL>
                    <a:lnR>
                      <a:noFill/>
                    </a:lnR>
                    <a:lnT>
                      <a:noFill/>
                    </a:lnT>
                    <a:lnB>
                      <a:noFill/>
                    </a:lnB>
                  </a:tcPr>
                </a:tc>
                <a:extLst>
                  <a:ext uri="{0D108BD9-81ED-4DB2-BD59-A6C34878D82A}">
                    <a16:rowId val="6"/>
                  </a:ext>
                </a:extLst>
              </a:tr>
            </a:tbl>
          </a:graphicData>
        </a:graphic>
      </p:graphicFrame>
      <p:sp>
        <p:nvSpPr>
          <p:cNvPr id="1371"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372" name="" descr="{&quot;isTemplate&quot;:true,&quot;type&quot;:&quot;text&quot;}"/>
          <p:cNvSpPr txBox="1"/>
          <p:nvPr/>
        </p:nvSpPr>
        <p:spPr>
          <a:xfrm rot="0" flipH="0" flipV="0">
            <a:off x="666750" y="6381750"/>
            <a:ext cx="1743075" cy="209550"/>
          </a:xfrm>
          <a:prstGeom prst="rect"/>
        </p:spPr>
        <p:txBody>
          <a:bodyPr wrap="none" lIns="0" tIns="0" rIns="0" bIns="0"/>
          <a:p>
            <a:pPr>
              <a:lnSpc>
                <a:spcPct val="140000"/>
              </a:lnSpc>
            </a:pPr>
            <a:r>
              <a:rPr lang="zh-CN" sz="975">
                <a:solidFill>
                  <a:srgbClr val="7A8699"/>
                </a:solidFill>
                <a:latin typeface="Microsoft YaHei"/>
                <a:ea typeface="Microsoft YaHei"/>
              </a:rPr>
              <a:t>依据：单题功能设计思路</a:t>
            </a:r>
            <a:r>
              <a:rPr lang="en-US" sz="975">
                <a:solidFill>
                  <a:srgbClr val="7A8699"/>
                </a:solidFill>
                <a:latin typeface="Microsoft YaHei"/>
                <a:ea typeface="Microsoft YaHei"/>
              </a:rPr>
              <a:t>.md §8</a:t>
            </a:r>
            <a:endParaRPr/>
          </a:p>
        </p:txBody>
      </p:sp>
      <p:sp>
        <p:nvSpPr>
          <p:cNvPr id="1373"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35 / 124 </a:t>
            </a:r>
            <a:endParaRPr/>
          </a:p>
        </p:txBody>
      </p:sp>
    </p:spTree>
  </p:cSld>
</p:sld>
</file>

<file path=ppt/slides/slide36.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1374"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3 / 单题引擎&lt;/Text&gt;&lt;Text style={{ fontSize: 32, color: '#0E2340', fontWeight: 700, lineHeight: 1.3 }}&gt;与已有研究的比较定位（二）：数据缺口&lt;/Text&gt;&lt;/Box&gt;&lt;Box style={{ flexDirection: 'row', alignItems: 'center', padding: '7px 16px', borderRadius: 20, background: '#98A2B3' }}&gt;&lt;Text style={{ fontSize: 14, color: '#FFFFFF', fontWeight: 600 }}&gt;待研究&lt;/Text&gt;&lt;/Box&gt;&lt;/Box&gt;&lt;Box style={{ height: 532, paddingTop: 8, flexDirection: 'column' }}&gt;&lt;Box style={{ flexDirection: 'column', flex: 1, paddingTop: 4 }}&gt;&lt;Box style={{ marginBottom: 14 }}&gt;&lt;Box style={{ flexDirection: 'row', alignItems: 'center', background: '#F5F7FA', borderLeft: '4px solid #0E2340', borderRadius: 6, padding: '14px 20px' }}&gt;&lt;Text style={{ fontSize: 20, color: '#0E2340', fontWeight: 600, lineHeight: 1.5 }}&gt;真实高中数学作答 + 笔迹时间线 + 本项目步骤对齐 + 经核实错因，仍是本项目需要逐步建设的数据&lt;/Text&gt;&lt;/Box&gt;&lt;/Box&gt;&lt;Box style={{ flex: 1 }}&gt;&lt;Table style={{ width: '100%', height: '100%' }} defaultTextStyle={{ fontSize: 15, textAlign: 'left', color: '#333A45' }} defaultCellStyle={{ padding: 10, border: { left: { width: 1, color: '#E3E8EF' }, right: { width: 1, color: '#E3E8EF' }, top: { width: 1, color: '#E3E8EF' }, bottom: { width: 1, color: '#E3E8EF' } } }} cells={[[{ text: '数据或资源', textStyle: { color: '#FFFFFF', fontWeight: 600, fontSize: 15 }, cellStyle: { background: { color: '#0E2340' } } }, { text: '获取状态', textStyle: { color: '#FFFFFF', fontWeight: 600, fontSize: 15 }, cellStyle: { background: { color: '#0E2340' } } }, { text: '能支持 / 不能替代', textStyle: { color: '#FFFFFF', fontWeight: 600, fontSize: 15 }, cellStyle: { background: { color: '#0E2340' } } }],&#10;        [{ text: 'CogChain（AIED 2025，港科大）25 名高中生、87,679 段笔迹轨迹', textStyle: { fontWeight: 600, fontSize: 15 } }, { text: '论文及学校发表页未确认到公开数据下载入口', textStyle: { fontSize: 15 } }, { text: '对任务与采集设计参考价值高；本次未联系作者', textStyle: { fontSize: 15 } }],&#10;        [{ text: 'Identifying Students’ Stuck Points（ICCE 2021，京都大学）', textStyle: { fontWeight: 600, fontSize: 15 }, cellStyle: { background: { color: '#F5F7FA' } } }, { text: '会议页面未提供可确认的数据集下载入口', textStyle: { fontSize: 15 }, cellStyle: { background: { color: '#F5F7FA' } } }, { text: '可参考量规、自我解释与行为特征组合方式；尚不能计入可直接使用的数据', textStyle: { fontSize: 15 }, cellStyle: { background: { color: '#F5F7FA' } } }],&#10;        [{ text: 'Exploring Visual Access and Proactive AI Tutoring（2026 预印本，CMU 等）117 名成人、255,984 张带时间戳图像', textStyle: { fontWeight: 600, fontSize: 15 } }, { text: '作者仓库 README 仍表示计划未来数月发布', textStyle: { fontSize: 15 } }, { text: '是相机图像序列，不是逐笔坐标；不能写成已取得完整数据', textStyle: { fontSize: 15 } }],&#10;        [{ text: 'Google MathWriting（CC BY-NC-SA 4.0）', textStyle: { fontWeight: 600, fontSize: 15 }, cellStyle: { background: { color: '#F5F7FA' } } }, { text: '官方仓库提供完整包、样例包和读取示例，含空间坐标与相对时间', textStyle: { fontSize: 15 }, cellStyle: { background: { color: '#F5F7FA' } } }, { text: '可用于公式笔迹识别和时序读写实验；内容是照写给定表达式，没有步骤掌握与错误诊断标签', textStyle: { fontSize: 15 }, cellStyle: { background: { color: '#F5F7FA' } } }],&#10;        [{ text: 'CROHME', textStyle: { fontWeight: 600, fontSize: 15 } }, { text: 'Zenodo 提供公式识别数据，官方格式示例列出 X、Y 通道', textStyle: { fontSize: 15 } }, { text: '可用于公式与符号识别；不能因使用 InkML 就认定每个样本含真实时间通道', textStyle: { fontSize: 15 } }]]} /&gt;&lt;/Box&gt;&lt;/Box&gt;&lt;/Box&gt;&lt;Box style={{ height: 40, flexDirection: 'row', justifyContent: 'space-between', alignItems: 'center', borderTop: '1px solid #E3E8EF', marginTop: 8 }}&gt;&lt;Text style={{ fontSize: 13, color: '#7A8699', fontWeight: 400, lineHeight: 1.4 }}&gt;依据：单题功能设计思路.md §8.1–§8.2&lt;/Text&gt;&lt;Text style={{ fontSize: 14, color: '#7A8699', fontWeight: 400, lineHeight: 1.4 }}&gt; 36 / 124 &lt;/Text&gt;&lt;/Box&gt;&lt;/Slide&gt;"/>
        <p:cNvGrpSpPr/>
        <p:nvPr/>
      </p:nvGrpSpPr>
      <p:grpSpPr>
        <a:xfrm>
          <a:off x="0" y="0"/>
          <a:ext cx="0" cy="0"/>
          <a:chOff x="0" y="0"/>
          <a:chExt cx="0" cy="0"/>
        </a:xfrm>
      </p:grpSpPr>
      <p:sp>
        <p:nvSpPr>
          <p:cNvPr id="1375" name=""/>
          <p:cNvSpPr/>
          <p:nvPr/>
        </p:nvSpPr>
        <p:spPr>
          <a:xfrm rot="0" flipH="0" flipV="0">
            <a:off x="0" y="0"/>
            <a:ext cx="12192000" cy="6858000"/>
          </a:xfrm>
          <a:prstGeom prst="rect">
            <a:avLst/>
          </a:prstGeom>
          <a:solidFill>
            <a:srgbClr val="FFFFFF"/>
          </a:solidFill>
          <a:ln/>
        </p:spPr>
        <p:txBody>
          <a:bodyPr/>
          <a:p/>
        </p:txBody>
      </p:sp>
      <p:sp>
        <p:nvSpPr>
          <p:cNvPr id="1376" name="" descr="{&quot;isTemplate&quot;:true,&quot;type&quot;:&quot;text&quot;}"/>
          <p:cNvSpPr txBox="1"/>
          <p:nvPr/>
        </p:nvSpPr>
        <p:spPr>
          <a:xfrm rot="0" flipH="0" flipV="0">
            <a:off x="666750" y="381000"/>
            <a:ext cx="54864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03 / </a:t>
            </a:r>
            <a:r>
              <a:rPr lang="zh-CN" sz="1050" spc="75">
                <a:solidFill>
                  <a:srgbClr val="7A8699"/>
                </a:solidFill>
                <a:latin typeface="Microsoft YaHei"/>
                <a:ea typeface="Microsoft YaHei"/>
              </a:rPr>
              <a:t>单题引擎</a:t>
            </a:r>
            <a:endParaRPr/>
          </a:p>
        </p:txBody>
      </p:sp>
      <p:sp>
        <p:nvSpPr>
          <p:cNvPr id="1377" name="" descr="{&quot;isTemplate&quot;:true,&quot;type&quot;:&quot;text&quot;}"/>
          <p:cNvSpPr txBox="1"/>
          <p:nvPr/>
        </p:nvSpPr>
        <p:spPr>
          <a:xfrm rot="0" flipH="0" flipV="0">
            <a:off x="666750" y="666750"/>
            <a:ext cx="5486400" cy="476250"/>
          </a:xfrm>
          <a:prstGeom prst="rect"/>
        </p:spPr>
        <p:txBody>
          <a:bodyPr wrap="none" lIns="0" tIns="0" rIns="0" bIns="0"/>
          <a:p>
            <a:pPr>
              <a:lnSpc>
                <a:spcPct val="130000"/>
              </a:lnSpc>
            </a:pPr>
            <a:r>
              <a:rPr lang="zh-CN" sz="2400" b="1">
                <a:solidFill>
                  <a:srgbClr val="0E2340"/>
                </a:solidFill>
                <a:latin typeface="Microsoft YaHei"/>
                <a:ea typeface="Microsoft YaHei"/>
              </a:rPr>
              <a:t>与已有研究的比较定位（二）：数据缺口</a:t>
            </a:r>
            <a:endParaRPr/>
          </a:p>
        </p:txBody>
      </p:sp>
      <p:sp>
        <p:nvSpPr>
          <p:cNvPr id="1378" name=""/>
          <p:cNvSpPr/>
          <p:nvPr/>
        </p:nvSpPr>
        <p:spPr>
          <a:xfrm rot="0" flipH="0" flipV="0">
            <a:off x="10820400" y="847725"/>
            <a:ext cx="704850" cy="295275"/>
          </a:xfrm>
          <a:prstGeom prst="roundRect">
            <a:avLst>
              <a:gd name="adj" fmla="val 64516"/>
            </a:avLst>
          </a:prstGeom>
          <a:solidFill>
            <a:srgbClr val="98A2B3"/>
          </a:solidFill>
          <a:ln/>
        </p:spPr>
        <p:txBody>
          <a:bodyPr/>
          <a:p/>
        </p:txBody>
      </p:sp>
      <p:sp>
        <p:nvSpPr>
          <p:cNvPr id="1379"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待研究</a:t>
            </a:r>
            <a:endParaRPr/>
          </a:p>
        </p:txBody>
      </p:sp>
      <p:sp>
        <p:nvSpPr>
          <p:cNvPr id="1380" name=""/>
          <p:cNvSpPr/>
          <p:nvPr/>
        </p:nvSpPr>
        <p:spPr>
          <a:xfrm rot="0" flipH="0" flipV="0">
            <a:off x="704850" y="1257300"/>
            <a:ext cx="10858500" cy="609600"/>
          </a:xfrm>
          <a:prstGeom prst="roundRect">
            <a:avLst>
              <a:gd name="adj" fmla="val 9375"/>
            </a:avLst>
          </a:prstGeom>
          <a:solidFill>
            <a:srgbClr val="F5F7FA"/>
          </a:solidFill>
          <a:ln/>
        </p:spPr>
        <p:txBody>
          <a:bodyPr/>
          <a:p/>
        </p:txBody>
      </p:sp>
      <p:sp>
        <p:nvSpPr>
          <p:cNvPr id="1381" name=""/>
          <p:cNvSpPr/>
          <p:nvPr/>
        </p:nvSpPr>
        <p:spPr>
          <a:xfrm rot="0" flipH="0" flipV="0">
            <a:off x="704850" y="12573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1382" name="" descr="{&quot;isTemplate&quot;:true,&quot;type&quot;:&quot;text&quot;}"/>
          <p:cNvSpPr txBox="1"/>
          <p:nvPr/>
        </p:nvSpPr>
        <p:spPr>
          <a:xfrm rot="0" flipH="0" flipV="0">
            <a:off x="895350" y="1390650"/>
            <a:ext cx="8277225" cy="342900"/>
          </a:xfrm>
          <a:prstGeom prst="rect"/>
        </p:spPr>
        <p:txBody>
          <a:bodyPr wrap="none" lIns="0" tIns="0" rIns="0" bIns="0"/>
          <a:p>
            <a:pPr>
              <a:lnSpc>
                <a:spcPct val="150000"/>
              </a:lnSpc>
            </a:pPr>
            <a:r>
              <a:rPr lang="zh-CN" sz="1500" b="1">
                <a:solidFill>
                  <a:srgbClr val="0E2340"/>
                </a:solidFill>
                <a:latin typeface="Microsoft YaHei"/>
                <a:ea typeface="Microsoft YaHei"/>
              </a:rPr>
              <a:t>真实高中数学作答</a:t>
            </a:r>
            <a:r>
              <a:rPr lang="en-US" sz="1500" b="1">
                <a:solidFill>
                  <a:srgbClr val="0E2340"/>
                </a:solidFill>
                <a:latin typeface="Microsoft YaHei"/>
                <a:ea typeface="Microsoft YaHei"/>
              </a:rPr>
              <a:t xml:space="preserve"> + </a:t>
            </a:r>
            <a:r>
              <a:rPr lang="zh-CN" sz="1500" b="1">
                <a:solidFill>
                  <a:srgbClr val="0E2340"/>
                </a:solidFill>
                <a:latin typeface="Microsoft YaHei"/>
                <a:ea typeface="Microsoft YaHei"/>
              </a:rPr>
              <a:t>笔迹时间线</a:t>
            </a:r>
            <a:r>
              <a:rPr lang="en-US" sz="1500" b="1">
                <a:solidFill>
                  <a:srgbClr val="0E2340"/>
                </a:solidFill>
                <a:latin typeface="Microsoft YaHei"/>
                <a:ea typeface="Microsoft YaHei"/>
              </a:rPr>
              <a:t xml:space="preserve"> + </a:t>
            </a:r>
            <a:r>
              <a:rPr lang="zh-CN" sz="1500" b="1">
                <a:solidFill>
                  <a:srgbClr val="0E2340"/>
                </a:solidFill>
                <a:latin typeface="Microsoft YaHei"/>
                <a:ea typeface="Microsoft YaHei"/>
              </a:rPr>
              <a:t>本项目步骤对齐</a:t>
            </a:r>
            <a:r>
              <a:rPr lang="en-US" sz="1500" b="1">
                <a:solidFill>
                  <a:srgbClr val="0E2340"/>
                </a:solidFill>
                <a:latin typeface="Microsoft YaHei"/>
                <a:ea typeface="Microsoft YaHei"/>
              </a:rPr>
              <a:t xml:space="preserve"> + </a:t>
            </a:r>
            <a:r>
              <a:rPr lang="zh-CN" sz="1500" b="1">
                <a:solidFill>
                  <a:srgbClr val="0E2340"/>
                </a:solidFill>
                <a:latin typeface="Microsoft YaHei"/>
                <a:ea typeface="Microsoft YaHei"/>
              </a:rPr>
              <a:t>经核实错因，仍是本项目需要逐步建设的数据</a:t>
            </a:r>
            <a:endParaRPr/>
          </a:p>
        </p:txBody>
      </p:sp>
      <p:graphicFrame>
        <p:nvGraphicFramePr>
          <p:cNvPr id="1383" name=""/>
          <p:cNvGraphicFramePr/>
          <p:nvPr/>
        </p:nvGraphicFramePr>
        <p:xfrm rot="0" flipH="0" flipV="0">
          <a:off x="666750" y="2000250"/>
          <a:ext cx="10858500" cy="4210050"/>
        </p:xfrm>
        <a:graphic>
          <a:graphicData uri="http://schemas.openxmlformats.org/drawingml/2006/table">
            <a:tbl>
              <a:tblGrid>
                <a:gridCol w="4565185">
                  <a:extLst>
                    <a:ext uri="{9D8B030D-6E8A-4147-A177-3AD203B41FA5}">
                      <a16:colId val="1"/>
                    </a:ext>
                  </a:extLst>
                </a:gridCol>
                <a:gridCol w="2616917">
                  <a:extLst>
                    <a:ext uri="{9D8B030D-6E8A-4147-A177-3AD203B41FA5}">
                      <a16:colId val="2"/>
                    </a:ext>
                  </a:extLst>
                </a:gridCol>
                <a:gridCol w="3676398">
                  <a:extLst>
                    <a:ext uri="{9D8B030D-6E8A-4147-A177-3AD203B41FA5}">
                      <a16:colId val="3"/>
                    </a:ext>
                  </a:extLst>
                </a:gridCol>
              </a:tblGrid>
              <a:tr h="444051">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数据或资源</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获取状态</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能支持 / 不能替代</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75320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CogChain（AIED 2025，港科大）25 名高中生、87,679 段笔迹轨迹</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论文及学校发表页未确认到公开数据下载入口</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对任务与采集设计参考价值高；本次未联系作者</a:t>
                      </a:r>
                      <a:endParaRPr/>
                    </a:p>
                  </a:txBody>
                  <a:tcPr marL="45720" marR="45720" marT="45720" marB="45720" anchor="ctr">
                    <a:lnL>
                      <a:noFill/>
                    </a:lnL>
                    <a:lnR>
                      <a:noFill/>
                    </a:lnR>
                    <a:lnT>
                      <a:noFill/>
                    </a:lnT>
                    <a:lnB>
                      <a:noFill/>
                    </a:lnB>
                  </a:tcPr>
                </a:tc>
                <a:extLst>
                  <a:ext uri="{0D108BD9-81ED-4DB2-BD59-A6C34878D82A}">
                    <a16:rowId val="2"/>
                  </a:ext>
                </a:extLst>
              </a:tr>
              <a:tr h="75320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Identifying Students’ Stuck Points（ICCE 2021，京都大学）</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会议页面未提供可确认的数据集下载入口</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可参考量规、自我解释与行为特征组合方式；尚不能计入可直接使用的数据</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75320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Exploring Visual Access and Proactive AI Tutoring（2026 预印本，CMU 等）117 名成人、255,984 张带时间戳图像</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作者仓库 README 仍表示计划未来数月发布</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是相机图像序列，不是逐笔坐标；不能写成已取得完整数据</a:t>
                      </a:r>
                      <a:endParaRPr/>
                    </a:p>
                  </a:txBody>
                  <a:tcPr marL="45720" marR="45720" marT="45720" marB="45720" anchor="ctr">
                    <a:lnL>
                      <a:noFill/>
                    </a:lnL>
                    <a:lnR>
                      <a:noFill/>
                    </a:lnR>
                    <a:lnT>
                      <a:noFill/>
                    </a:lnT>
                    <a:lnB>
                      <a:noFill/>
                    </a:lnB>
                  </a:tcPr>
                </a:tc>
                <a:extLst>
                  <a:ext uri="{0D108BD9-81ED-4DB2-BD59-A6C34878D82A}">
                    <a16:rowId val="4"/>
                  </a:ext>
                </a:extLst>
              </a:tr>
              <a:tr h="75320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Google MathWriting（CC BY-NC-SA 4.0）</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官方仓库提供完整包、样例包和读取示例，含空间坐标与相对时间</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可用于公式笔迹识别和时序读写实验；内容是照写给定表达式，没有步骤掌握与错误诊断标签</a:t>
                      </a:r>
                      <a:endParaRPr/>
                    </a:p>
                  </a:txBody>
                  <a:tcPr marL="45720" marR="45720" marT="45720" marB="45720" anchor="ctr">
                    <a:lnL>
                      <a:noFill/>
                    </a:lnL>
                    <a:lnR>
                      <a:noFill/>
                    </a:lnR>
                    <a:lnT>
                      <a:noFill/>
                    </a:lnT>
                    <a:lnB>
                      <a:noFill/>
                    </a:lnB>
                    <a:solidFill>
                      <a:srgbClr val="F5F7FA"/>
                    </a:solidFill>
                  </a:tcPr>
                </a:tc>
                <a:extLst>
                  <a:ext uri="{0D108BD9-81ED-4DB2-BD59-A6C34878D82A}">
                    <a16:rowId val="5"/>
                  </a:ext>
                </a:extLst>
              </a:tr>
              <a:tr h="75320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CROHME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Zenodo 提供公式识别数据，官方格式示例列出 X、Y 通道</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可用于公式与符号识别；不能因使用 InkML 就认定每个样本含真实时间通道</a:t>
                      </a:r>
                      <a:endParaRPr/>
                    </a:p>
                  </a:txBody>
                  <a:tcPr marL="45720" marR="45720" marT="45720" marB="45720" anchor="ctr">
                    <a:lnL>
                      <a:noFill/>
                    </a:lnL>
                    <a:lnR>
                      <a:noFill/>
                    </a:lnR>
                    <a:lnT>
                      <a:noFill/>
                    </a:lnT>
                    <a:lnB>
                      <a:noFill/>
                    </a:lnB>
                  </a:tcPr>
                </a:tc>
                <a:extLst>
                  <a:ext uri="{0D108BD9-81ED-4DB2-BD59-A6C34878D82A}">
                    <a16:rowId val="6"/>
                  </a:ext>
                </a:extLst>
              </a:tr>
            </a:tbl>
          </a:graphicData>
        </a:graphic>
      </p:graphicFrame>
      <p:sp>
        <p:nvSpPr>
          <p:cNvPr id="1384"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385" name="" descr="{&quot;isTemplate&quot;:true,&quot;type&quot;:&quot;text&quot;}"/>
          <p:cNvSpPr txBox="1"/>
          <p:nvPr/>
        </p:nvSpPr>
        <p:spPr>
          <a:xfrm rot="0" flipH="0" flipV="0">
            <a:off x="666750" y="6381750"/>
            <a:ext cx="2162175" cy="209550"/>
          </a:xfrm>
          <a:prstGeom prst="rect"/>
        </p:spPr>
        <p:txBody>
          <a:bodyPr wrap="none" lIns="0" tIns="0" rIns="0" bIns="0"/>
          <a:p>
            <a:pPr>
              <a:lnSpc>
                <a:spcPct val="140000"/>
              </a:lnSpc>
            </a:pPr>
            <a:r>
              <a:rPr lang="zh-CN" sz="975">
                <a:solidFill>
                  <a:srgbClr val="7A8699"/>
                </a:solidFill>
                <a:latin typeface="Microsoft YaHei"/>
                <a:ea typeface="Microsoft YaHei"/>
              </a:rPr>
              <a:t>依据：单题功能设计思路</a:t>
            </a:r>
            <a:r>
              <a:rPr lang="en-US" sz="975">
                <a:solidFill>
                  <a:srgbClr val="7A8699"/>
                </a:solidFill>
                <a:latin typeface="Microsoft YaHei"/>
                <a:ea typeface="Microsoft YaHei"/>
              </a:rPr>
              <a:t>.md §8.1–§8.2</a:t>
            </a:r>
            <a:endParaRPr/>
          </a:p>
        </p:txBody>
      </p:sp>
      <p:sp>
        <p:nvSpPr>
          <p:cNvPr id="1386"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36 / 124 </a:t>
            </a:r>
            <a:endParaRPr/>
          </a:p>
        </p:txBody>
      </p:sp>
    </p:spTree>
  </p:cSld>
</p:sld>
</file>

<file path=ppt/slides/slide37.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387" name="" descr="&lt;Slide style={{ width: '1280px', height: '720px', background: '#FFFFFF', padding: 0 }}&gt;&lt;Box style={{ position: 'absolute', top: 0, left: 0 }}&gt;&lt;svg width={1280} height={720} viewBox='0 0 1280 720'&gt;&lt;line x1='0' y1='0' x2='1280' y2='0' stroke='#E3E8EF' stroke-width='1' opacity='0.55'/&gt;&lt;line x1='0' y1='90' x2='1280' y2='90' stroke='#E3E8EF' stroke-width='1' opacity='0.55'/&gt;&lt;line x1='0' y1='180' x2='1280' y2='180' stroke='#E3E8EF' stroke-width='1' opacity='0.55'/&gt;&lt;line x1='0' y1='270' x2='1280' y2='270' stroke='#E3E8EF' stroke-width='1' opacity='0.55'/&gt;&lt;line x1='0' y1='360' x2='1280' y2='360' stroke='#E3E8EF' stroke-width='1' opacity='0.55'/&gt;&lt;line x1='0' y1='450' x2='1280' y2='450' stroke='#E3E8EF' stroke-width='1' opacity='0.55'/&gt;&lt;line x1='0' y1='540' x2='1280' y2='540' stroke='#E3E8EF' stroke-width='1' opacity='0.55'/&gt;&lt;line x1='0' y1='630' x2='1280' y2='630' stroke='#E3E8EF' stroke-width='1' opacity='0.55'/&gt;&lt;line x1='0' y1='720' x2='1280' y2='720' stroke='#E3E8EF' stroke-width='1' opacity='0.55'/&gt;&lt;/svg&gt;&lt;/Box&gt;&lt;Box style={{ position: 'relative', zIndex: 2, flexDirection: 'row', flex: 1, padding: '48px 80px 52px', gap: 44 }}&gt;&lt;Box style={{ width: 520, flexDirection: 'column', justifyContent: 'space-between' }}&gt;&lt;Box style={{ flexDirection: 'column' }}&gt;&lt;Text style={{ fontSize: 15, color: '#1E7BE0', fontWeight: 600, lineHeight: 1.4, letterSpacing: 2 }}&gt;STUDYAGENT · DESIGN REVIEW&lt;/Text&gt;&lt;/Box&gt;&lt;Box style={{ flexDirection: 'column' }}&gt;&lt;Text style={{ fontSize: 100, color: '#0E2340', fontWeight: 700, lineHeight: 1.0, fontFamily: 'JetBrains Mono, Inter' }}&gt;04&lt;/Text&gt;&lt;Box style={{ width: 78, height: 5, background: '#1E7BE0', marginTop: 10 }} /&gt;&lt;Text style={{ fontSize: 44, color: '#0E2340', fontWeight: 700, lineHeight: 1.2 }}&gt;套路层面&lt;/Text&gt;&lt;/Box&gt;&lt;Box style={{ flexDirection: 'column', gap: 12 }}&gt;&lt;Box style={{ flexDirection: 'row', alignItems: 'center', background: '#F5F7FA', borderLeft: '4px solid #1E7BE0', borderRadius: 6, padding: '14px 20px' }}&gt;&lt;Text style={{ fontSize: 19, color: '#0E2340', fontWeight: 600, lineHeight: 1.5 }}&gt;以套路为单位组织刷题&lt;/Text&gt;&lt;/Box&gt;&lt;Box style={{ flexDirection: 'row', alignItems: 'center', background: '#F5F7FA', borderLeft: '4px solid #1E7BE0', borderRadius: 6, padding: '14px 20px' }}&gt;&lt;Text style={{ fontSize: 19, color: '#0E2340', fontWeight: 600, lineHeight: 1.5 }}&gt;六步循环训练框架&lt;/Text&gt;&lt;/Box&gt;&lt;Box style={{ flexDirection: 'row', alignItems: 'center', background: '#F5F7FA', borderLeft: '4px solid #1E7BE0', borderRadius: 6, padding: '14px 20px' }}&gt;&lt;Text style={{ fontSize: 19, color: '#0E2340', fontWeight: 600, lineHeight: 1.5 }}&gt;两条推荐路线&lt;/Text&gt;&lt;/Box&gt;&lt;/Box&gt;&lt;Box style={{ flexDirection: 'column' }}&gt;&lt;Text style={{ fontSize: 13, color: '#7A8699', fontWeight: 400, lineHeight: 1.5 }}&gt;来源：套路层面设计思路.md（更新日期 2026-10-25）&lt;/Text&gt;&lt;/Box&gt;&lt;/Box&gt;&lt;Box style={{ flex: 1, flexDirection: 'column', justifyContent: 'space-between', gap: 12 }}&gt;&lt;Text style={{ fontSize: 20, color: '#0E2340', fontWeight: 700, lineHeight: 1.4 }}&gt;汇报结构 · 13 章&lt;/Text&gt;&lt;Box style={{ flexDirection: 'column', gap: 10 }}&gt;&lt;Box style={{ flexDirection: 'row', gap: 10 }}&gt;&lt;Box style={{ width: 172, height: 64, borderRadius: 6, padding: '9px 12px', background: '#F5F7FA', flexDirection: 'column', justifyContent: 'center' }}&gt;&lt;Text style={{ fontSize: 18, color: '#0E2340', fontWeight: 700, lineHeight: 1.2 }}&gt;01&lt;/Text&gt;&lt;Text style={{ fontSize: 13, color: '#7A8699', fontWeight: 400, lineHeight: 1.3 }}&gt;概念地基&lt;/Text&gt;&lt;/Box&gt;&lt;Box style={{ width: 172, height: 64, borderRadius: 6, padding: '9px 12px', background: '#F5F7FA', flexDirection: 'column', justifyContent: 'center' }}&gt;&lt;Text style={{ fontSize: 18, color: '#0E2340', fontWeight: 700, lineHeight: 1.2 }}&gt;02&lt;/Text&gt;&lt;Text style={{ fontSize: 13, color: '#7A8699', fontWeight: 400, lineHeight: 1.3 }}&gt;现状盘点&lt;/Text&gt;&lt;/Box&gt;&lt;Box style={{ width: 172, height: 64, borderRadius: 6, padding: '9px 12px', background: '#F5F7FA', flexDirection: 'column', justifyContent: 'center' }}&gt;&lt;Text style={{ fontSize: 18, color: '#0E2340', fontWeight: 700, lineHeight: 1.2 }}&gt;03&lt;/Text&gt;&lt;Text style={{ fontSize: 13, color: '#7A8699', fontWeight: 400, lineHeight: 1.3 }}&gt;单题引擎&lt;/Text&gt;&lt;/Box&gt;&lt;/Box&gt;&lt;Box style={{ flexDirection: 'row', gap: 10 }}&gt;&lt;Box style={{ width: 172, height: 64, borderRadius: 6, padding: '9px 12px', background: '#0E2340', flexDirection: 'column', justifyContent: 'center' }}&gt;&lt;Text style={{ fontSize: 18, color: '#FFFFFF', fontWeight: 700, lineHeight: 1.2 }}&gt;04&lt;/Text&gt;&lt;Text style={{ fontSize: 13, color: '#C8DCF2', fontWeight: 400, lineHeight: 1.3 }}&gt;套路层面&lt;/Text&gt;&lt;/Box&gt;&lt;Box style={{ width: 172, height: 64, borderRadius: 6, padding: '9px 12px', background: '#F5F7FA', flexDirection: 'column', justifyContent: 'center' }}&gt;&lt;Text style={{ fontSize: 18, color: '#0E2340', fontWeight: 700, lineHeight: 1.2 }}&gt;05&lt;/Text&gt;&lt;Text style={{ fontSize: 13, color: '#7A8699', fontWeight: 400, lineHeight: 1.3 }}&gt;教师端&lt;/Text&gt;&lt;/Box&gt;&lt;Box style={{ width: 172, height: 64, borderRadius: 6, padding: '9px 12px', background: '#F5F7FA', flexDirection: 'column', justifyContent: 'center' }}&gt;&lt;Text style={{ fontSize: 18, color: '#0E2340', fontWeight: 700, lineHeight: 1.2 }}&gt;06&lt;/Text&gt;&lt;Text style={{ fontSize: 13, color: '#7A8699', fontWeight: 400, lineHeight: 1.3 }}&gt;学校端&lt;/Text&gt;&lt;/Box&gt;&lt;/Box&gt;&lt;Box style={{ flexDirection: 'row', gap: 10 }}&gt;&lt;Box style={{ width: 172, height: 64, borderRadius: 6, padding: '9px 12px', background: '#F5F7FA', flexDirection: 'column', justifyContent: 'center' }}&gt;&lt;Text style={{ fontSize: 18, color: '#0E2340', fontWeight: 700, lineHeight: 1.2 }}&gt;07&lt;/Text&gt;&lt;Text style={{ fontSize: 13, color: '#7A8699', fontWeight: 400, lineHeight: 1.3 }}&gt;试卷与生涯&lt;/Text&gt;&lt;/Box&gt;&lt;Box style={{ width: 172, height: 64, borderRadius: 6, padding: '9px 12px', background: '#F5F7FA', flexDirection: 'column', justifyContent: 'center' }}&gt;&lt;Text style={{ fontSize: 18, color: '#0E2340', fontWeight: 700, lineHeight: 1.2 }}&gt;08&lt;/Text&gt;&lt;Text style={{ fontSize: 13, color: '#7A8699', fontWeight: 400, lineHeight: 1.3 }}&gt;协同 Agent&lt;/Text&gt;&lt;/Box&gt;&lt;Box style={{ width: 172, height: 64, borderRadius: 6, padding: '9px 12px', background: '#F5F7FA', flexDirection: 'column', justifyContent: 'center' }}&gt;&lt;Text style={{ fontSize: 18, color: '#0E2340', fontWeight: 700, lineHeight: 1.2 }}&gt;09&lt;/Text&gt;&lt;Text style={{ fontSize: 13, color: '#7A8699', fontWeight: 400, lineHeight: 1.3 }}&gt;MCP 接入&lt;/Text&gt;&lt;/Box&gt;&lt;/Box&gt;&lt;Box style={{ flexDirection: 'row', gap: 10 }}&gt;&lt;Box style={{ width: 172, height: 64, borderRadius: 6, padding: '9px 12px', background: '#F5F7FA', flexDirection: 'column', justifyContent: 'center' }}&gt;&lt;Text style={{ fontSize: 18, color: '#0E2340', fontWeight: 700, lineHeight: 1.2 }}&gt;10&lt;/Text&gt;&lt;Text style={{ fontSize: 13, color: '#7A8699', fontWeight: 400, lineHeight: 1.3 }}&gt;待深化研究&lt;/Text&gt;&lt;/Box&gt;&lt;Box style={{ width: 172, height: 64, borderRadius: 6, padding: '9px 12px', background: '#F5F7FA', flexDirection: 'column', justifyContent: 'center' }}&gt;&lt;Text style={{ fontSize: 18, color: '#0E2340', fontWeight: 700, lineHeight: 1.2 }}&gt;11&lt;/Text&gt;&lt;Text style={{ fontSize: 13, color: '#7A8699', fontWeight: 400, lineHeight: 1.3 }}&gt;落地与边界&lt;/Text&gt;&lt;/Box&gt;&lt;Box style={{ width: 172, height: 64, borderRadius: 6, padding: '9px 12px', background: '#F5F7FA', flexDirection: 'column', justifyContent: 'center' }}&gt;&lt;Text style={{ fontSize: 18, color: '#0E2340', fontWeight: 700, lineHeight: 1.2 }}&gt;12&lt;/Text&gt;&lt;Text style={{ fontSize: 13, color: '#7A8699', fontWeight: 400, lineHeight: 1.3 }}&gt;自进化与扩展&lt;/Text&gt;&lt;/Box&gt;&lt;/Box&gt;&lt;Box style={{ flexDirection: 'row', gap: 10 }}&gt;&lt;Box style={{ width: 172, height: 64, borderRadius: 6, padding: '9px 12px', background: '#F5F7FA', flexDirection: 'column', justifyContent: 'center' }}&gt;&lt;Text style={{ fontSize: 18, color: '#0E2340', fontWeight: 700, lineHeight: 1.2 }}&gt;13&lt;/Text&gt;&lt;Text style={{ fontSize: 13, color: '#7A8699', fontWeight: 400, lineHeight: 1.3 }}&gt;收尾&lt;/Text&gt;&lt;/Box&gt;&lt;/Box&gt;&lt;/Box&gt;&lt;Box style={{ flexDirection: 'row', alignItems: 'center', gap: 10, background: '#F5F7FA', borderRadius: 6, padding: '10px 14px' }}&gt;&lt;Box style={{ width: 6, height: 22, background: '#00A9B5' }} /&gt;&lt;Text style={{ fontSize: 15, color: '#0E2340', fontWeight: 600, lineHeight: 1.4 }}&gt;当前位置：第 04 章 · 套路层面&lt;/Text&gt;&lt;/Box&gt;&lt;Box style={{ flexDirection: 'row', gap: 10 }}&gt;&lt;Box style={{ flex: 1, flexDirection: 'row', alignItems: 'center', gap: 8, borderRadius: 6, padding: '9px 10px', background: '#F5F7FA' }}&gt;&lt;Box style={{ width: 10, height: 10, borderRadius: 5, background: '#1E9E62' }} /&gt;&lt;Text style={{ fontSize: 14, color: '#333A45', fontWeight: 600, lineHeight: 1.3 }}&gt;已实现&lt;/Text&gt;&lt;/Box&gt;&lt;Box style={{ flex: 1, flexDirection: 'row', alignItems: 'center', gap: 8, borderRadius: 6, padding: '9px 10px', background: '#F5F7FA' }}&gt;&lt;Box style={{ width: 10, height: 10, borderRadius: 5, background: '#E8A33D' }} /&gt;&lt;Text style={{ fontSize: 14, color: '#333A45', fontWeight: 600, lineHeight: 1.3 }}&gt;部分实现&lt;/Text&gt;&lt;/Box&gt;&lt;Box style={{ flex: 1, flexDirection: 'row', alignItems: 'center', gap: 8, borderRadius: 6, padding: '9px 10px', background: '#F5F7FA' }}&gt;&lt;Box style={{ width: 10, height: 10, borderRadius: 5, background: '#1E7BE0' }} /&gt;&lt;Text style={{ fontSize: 14, color: '#333A45', fontWeight: 600, lineHeight: 1.3 }}&gt;设计中&lt;/Text&gt;&lt;/Box&gt;&lt;Box style={{ flex: 1, flexDirection: 'row', alignItems: 'center', gap: 8, borderRadius: 6, padding: '9px 10px', background: '#F5F7FA' }}&gt;&lt;Box style={{ width: 10, height: 10, borderRadius: 5, background: '#98A2B3' }} /&gt;&lt;Text style={{ fontSize: 14, color: '#333A45', fontWeight: 600, lineHeight: 1.3 }}&gt;待研究&lt;/Text&gt;&lt;/Box&gt;&lt;/Box&gt;&lt;Box style={{ flexDirection: 'row', alignItems: 'center', gap: 12, borderTop: '1px solid #E3E8EF', paddingTop: 14 }}&gt;&lt;Box style={{ width: 46, height: 5, background: '#00A9B5' }} /&gt;&lt;Text style={{ fontSize: 15, color: '#7A8699', fontWeight: 600, lineHeight: 1.4 }}&gt;StudyAgent 项目设计汇报 · 技术评审版 · 共 124 页&lt;/Text&gt;&lt;/Box&gt;&lt;/Box&gt;&lt;/Box&gt;&lt;/Slide&gt;"/>
        <p:cNvGrpSpPr/>
        <p:nvPr/>
      </p:nvGrpSpPr>
      <p:grpSpPr>
        <a:xfrm>
          <a:off x="0" y="0"/>
          <a:ext cx="0" cy="0"/>
          <a:chOff x="0" y="0"/>
          <a:chExt cx="0" cy="0"/>
        </a:xfrm>
      </p:grpSpPr>
      <p:sp>
        <p:nvSpPr>
          <p:cNvPr id="1388" name=""/>
          <p:cNvSpPr/>
          <p:nvPr/>
        </p:nvSpPr>
        <p:spPr>
          <a:xfrm rot="0" flipH="0" flipV="0">
            <a:off x="0" y="0"/>
            <a:ext cx="12192000" cy="6858000"/>
          </a:xfrm>
          <a:prstGeom prst="rect">
            <a:avLst/>
          </a:prstGeom>
          <a:solidFill>
            <a:srgbClr val="FFFFFF"/>
          </a:solidFill>
          <a:ln/>
        </p:spPr>
        <p:txBody>
          <a:bodyPr/>
          <a:p/>
        </p:txBody>
      </p:sp>
      <p:pic>
        <p:nvPicPr>
          <p:cNvPr id="1389" name=""/>
          <p:cNvPicPr>
            <a:picLocks noChangeAspect="1"/>
          </p:cNvPicPr>
          <p:nvPr/>
        </p:nvPicPr>
        <p:blipFill>
          <a:blip>
            <a:extLst>
              <a:ext uri="{96DAC541-7B7A-43D3-8B79-37D633B846F1}">
                <asvg:svgBlip r:embed="rId1"/>
              </a:ext>
            </a:extLst>
          </a:blip>
          <a:stretch>
            <a:fillRect/>
          </a:stretch>
        </p:blipFill>
        <p:spPr>
          <a:xfrm rot="0" flipH="0" flipV="0">
            <a:off x="0" y="0"/>
            <a:ext cx="12192000" cy="6858000"/>
          </a:xfrm>
          <a:prstGeom prst="rect">
            <a:avLst/>
          </a:prstGeom>
          <a:ln/>
        </p:spPr>
      </p:pic>
      <p:sp>
        <p:nvSpPr>
          <p:cNvPr id="1390" name="" descr="{&quot;isTemplate&quot;:true,&quot;type&quot;:&quot;text&quot;}"/>
          <p:cNvSpPr txBox="1"/>
          <p:nvPr/>
        </p:nvSpPr>
        <p:spPr>
          <a:xfrm rot="0" flipH="0" flipV="0">
            <a:off x="762000" y="457200"/>
            <a:ext cx="4953000" cy="247650"/>
          </a:xfrm>
          <a:prstGeom prst="rect"/>
        </p:spPr>
        <p:txBody>
          <a:bodyPr wrap="none" lIns="0" tIns="0" rIns="0" bIns="0"/>
          <a:p>
            <a:pPr>
              <a:lnSpc>
                <a:spcPct val="140000"/>
              </a:lnSpc>
            </a:pPr>
            <a:r>
              <a:rPr lang="en-US" sz="1125" b="1" spc="150">
                <a:solidFill>
                  <a:srgbClr val="1E7BE0"/>
                </a:solidFill>
                <a:latin typeface="Microsoft YaHei"/>
                <a:ea typeface="Microsoft YaHei"/>
              </a:rPr>
              <a:t>STUDYAGENT · DESIGN REVIEW</a:t>
            </a:r>
            <a:endParaRPr/>
          </a:p>
        </p:txBody>
      </p:sp>
      <p:sp>
        <p:nvSpPr>
          <p:cNvPr id="1391" name="" descr="{&quot;isTemplate&quot;:true,&quot;type&quot;:&quot;text&quot;}"/>
          <p:cNvSpPr txBox="1"/>
          <p:nvPr/>
        </p:nvSpPr>
        <p:spPr>
          <a:xfrm rot="0" flipH="0" flipV="0">
            <a:off x="762000" y="1209675"/>
            <a:ext cx="4953000" cy="1143000"/>
          </a:xfrm>
          <a:prstGeom prst="rect"/>
        </p:spPr>
        <p:txBody>
          <a:bodyPr wrap="none" lIns="0" tIns="0" rIns="0" bIns="0"/>
          <a:p>
            <a:pPr>
              <a:lnSpc>
                <a:spcPct val="100000"/>
              </a:lnSpc>
            </a:pPr>
            <a:r>
              <a:rPr lang="en-US" sz="7500" b="1">
                <a:solidFill>
                  <a:srgbClr val="0E2340"/>
                </a:solidFill>
                <a:latin typeface="JetBrains Mono"/>
                <a:ea typeface="JetBrains Mono"/>
              </a:rPr>
              <a:t>04</a:t>
            </a:r>
            <a:endParaRPr/>
          </a:p>
        </p:txBody>
      </p:sp>
      <p:sp>
        <p:nvSpPr>
          <p:cNvPr id="1392" name=""/>
          <p:cNvSpPr/>
          <p:nvPr/>
        </p:nvSpPr>
        <p:spPr>
          <a:xfrm rot="0" flipH="0" flipV="0">
            <a:off x="762000" y="2447925"/>
            <a:ext cx="742950" cy="47625"/>
          </a:xfrm>
          <a:prstGeom prst="rect">
            <a:avLst/>
          </a:prstGeom>
          <a:solidFill>
            <a:srgbClr val="1E7BE0"/>
          </a:solidFill>
          <a:ln/>
        </p:spPr>
        <p:txBody>
          <a:bodyPr/>
          <a:p/>
        </p:txBody>
      </p:sp>
      <p:sp>
        <p:nvSpPr>
          <p:cNvPr id="1393" name="" descr="{&quot;isTemplate&quot;:true,&quot;type&quot;:&quot;text&quot;}"/>
          <p:cNvSpPr txBox="1"/>
          <p:nvPr/>
        </p:nvSpPr>
        <p:spPr>
          <a:xfrm rot="0" flipH="0" flipV="0">
            <a:off x="762000" y="2495550"/>
            <a:ext cx="4953000" cy="609600"/>
          </a:xfrm>
          <a:prstGeom prst="rect"/>
        </p:spPr>
        <p:txBody>
          <a:bodyPr wrap="none" lIns="0" tIns="0" rIns="0" bIns="0"/>
          <a:p>
            <a:pPr>
              <a:lnSpc>
                <a:spcPct val="120000"/>
              </a:lnSpc>
            </a:pPr>
            <a:r>
              <a:rPr lang="zh-CN" sz="3300" b="1">
                <a:solidFill>
                  <a:srgbClr val="0E2340"/>
                </a:solidFill>
                <a:latin typeface="Microsoft YaHei"/>
                <a:ea typeface="Microsoft YaHei"/>
              </a:rPr>
              <a:t>套路层面</a:t>
            </a:r>
            <a:endParaRPr/>
          </a:p>
        </p:txBody>
      </p:sp>
      <p:sp>
        <p:nvSpPr>
          <p:cNvPr id="1394" name=""/>
          <p:cNvSpPr/>
          <p:nvPr/>
        </p:nvSpPr>
        <p:spPr>
          <a:xfrm rot="0" flipH="0" flipV="0">
            <a:off x="800100" y="3600450"/>
            <a:ext cx="4953000" cy="600075"/>
          </a:xfrm>
          <a:prstGeom prst="roundRect">
            <a:avLst>
              <a:gd name="adj" fmla="val 9524"/>
            </a:avLst>
          </a:prstGeom>
          <a:solidFill>
            <a:srgbClr val="F5F7FA"/>
          </a:solidFill>
          <a:ln/>
        </p:spPr>
        <p:txBody>
          <a:bodyPr/>
          <a:p/>
        </p:txBody>
      </p:sp>
      <p:sp>
        <p:nvSpPr>
          <p:cNvPr id="1395" name=""/>
          <p:cNvSpPr/>
          <p:nvPr/>
        </p:nvSpPr>
        <p:spPr>
          <a:xfrm rot="0" flipH="0" flipV="0">
            <a:off x="800100" y="360045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1396" name="" descr="{&quot;isTemplate&quot;:true,&quot;type&quot;:&quot;text&quot;}"/>
          <p:cNvSpPr txBox="1"/>
          <p:nvPr/>
        </p:nvSpPr>
        <p:spPr>
          <a:xfrm rot="0" flipH="0" flipV="0">
            <a:off x="990600" y="3733800"/>
            <a:ext cx="1809750" cy="333375"/>
          </a:xfrm>
          <a:prstGeom prst="rect"/>
        </p:spPr>
        <p:txBody>
          <a:bodyPr wrap="none" lIns="0" tIns="0" rIns="0" bIns="0"/>
          <a:p>
            <a:pPr>
              <a:lnSpc>
                <a:spcPct val="150000"/>
              </a:lnSpc>
            </a:pPr>
            <a:r>
              <a:rPr lang="zh-CN" sz="1425" b="1">
                <a:solidFill>
                  <a:srgbClr val="0E2340"/>
                </a:solidFill>
                <a:latin typeface="Microsoft YaHei"/>
                <a:ea typeface="Microsoft YaHei"/>
              </a:rPr>
              <a:t>以套路为单位组织刷题</a:t>
            </a:r>
            <a:endParaRPr/>
          </a:p>
        </p:txBody>
      </p:sp>
      <p:sp>
        <p:nvSpPr>
          <p:cNvPr id="1397" name=""/>
          <p:cNvSpPr/>
          <p:nvPr/>
        </p:nvSpPr>
        <p:spPr>
          <a:xfrm rot="0" flipH="0" flipV="0">
            <a:off x="800100" y="4314825"/>
            <a:ext cx="4953000" cy="600075"/>
          </a:xfrm>
          <a:prstGeom prst="roundRect">
            <a:avLst>
              <a:gd name="adj" fmla="val 9524"/>
            </a:avLst>
          </a:prstGeom>
          <a:solidFill>
            <a:srgbClr val="F5F7FA"/>
          </a:solidFill>
          <a:ln/>
        </p:spPr>
        <p:txBody>
          <a:bodyPr/>
          <a:p/>
        </p:txBody>
      </p:sp>
      <p:sp>
        <p:nvSpPr>
          <p:cNvPr id="1398" name=""/>
          <p:cNvSpPr/>
          <p:nvPr/>
        </p:nvSpPr>
        <p:spPr>
          <a:xfrm rot="0" flipH="0" flipV="0">
            <a:off x="800100" y="4314825"/>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1399" name="" descr="{&quot;isTemplate&quot;:true,&quot;type&quot;:&quot;text&quot;}"/>
          <p:cNvSpPr txBox="1"/>
          <p:nvPr/>
        </p:nvSpPr>
        <p:spPr>
          <a:xfrm rot="0" flipH="0" flipV="0">
            <a:off x="990600" y="4448175"/>
            <a:ext cx="1447800" cy="333375"/>
          </a:xfrm>
          <a:prstGeom prst="rect"/>
        </p:spPr>
        <p:txBody>
          <a:bodyPr wrap="none" lIns="0" tIns="0" rIns="0" bIns="0"/>
          <a:p>
            <a:pPr>
              <a:lnSpc>
                <a:spcPct val="150000"/>
              </a:lnSpc>
            </a:pPr>
            <a:r>
              <a:rPr lang="zh-CN" sz="1425" b="1">
                <a:solidFill>
                  <a:srgbClr val="0E2340"/>
                </a:solidFill>
                <a:latin typeface="Microsoft YaHei"/>
                <a:ea typeface="Microsoft YaHei"/>
              </a:rPr>
              <a:t>六步循环训练框架</a:t>
            </a:r>
            <a:endParaRPr/>
          </a:p>
        </p:txBody>
      </p:sp>
      <p:sp>
        <p:nvSpPr>
          <p:cNvPr id="1400" name=""/>
          <p:cNvSpPr/>
          <p:nvPr/>
        </p:nvSpPr>
        <p:spPr>
          <a:xfrm rot="0" flipH="0" flipV="0">
            <a:off x="800100" y="5029200"/>
            <a:ext cx="4953000" cy="600075"/>
          </a:xfrm>
          <a:prstGeom prst="roundRect">
            <a:avLst>
              <a:gd name="adj" fmla="val 9524"/>
            </a:avLst>
          </a:prstGeom>
          <a:solidFill>
            <a:srgbClr val="F5F7FA"/>
          </a:solidFill>
          <a:ln/>
        </p:spPr>
        <p:txBody>
          <a:bodyPr/>
          <a:p/>
        </p:txBody>
      </p:sp>
      <p:sp>
        <p:nvSpPr>
          <p:cNvPr id="1401" name=""/>
          <p:cNvSpPr/>
          <p:nvPr/>
        </p:nvSpPr>
        <p:spPr>
          <a:xfrm rot="0" flipH="0" flipV="0">
            <a:off x="800100" y="502920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1402" name="" descr="{&quot;isTemplate&quot;:true,&quot;type&quot;:&quot;text&quot;}"/>
          <p:cNvSpPr txBox="1"/>
          <p:nvPr/>
        </p:nvSpPr>
        <p:spPr>
          <a:xfrm rot="0" flipH="0" flipV="0">
            <a:off x="990600" y="5162550"/>
            <a:ext cx="1085850" cy="333375"/>
          </a:xfrm>
          <a:prstGeom prst="rect"/>
        </p:spPr>
        <p:txBody>
          <a:bodyPr wrap="none" lIns="0" tIns="0" rIns="0" bIns="0"/>
          <a:p>
            <a:pPr>
              <a:lnSpc>
                <a:spcPct val="150000"/>
              </a:lnSpc>
            </a:pPr>
            <a:r>
              <a:rPr lang="zh-CN" sz="1425" b="1">
                <a:solidFill>
                  <a:srgbClr val="0E2340"/>
                </a:solidFill>
                <a:latin typeface="Microsoft YaHei"/>
                <a:ea typeface="Microsoft YaHei"/>
              </a:rPr>
              <a:t>两条推荐路线</a:t>
            </a:r>
            <a:endParaRPr/>
          </a:p>
        </p:txBody>
      </p:sp>
      <p:sp>
        <p:nvSpPr>
          <p:cNvPr id="1403" name="" descr="{&quot;isTemplate&quot;:true,&quot;type&quot;:&quot;text&quot;}"/>
          <p:cNvSpPr txBox="1"/>
          <p:nvPr/>
        </p:nvSpPr>
        <p:spPr>
          <a:xfrm rot="0" flipH="0" flipV="0">
            <a:off x="762000" y="6134100"/>
            <a:ext cx="4953000" cy="228600"/>
          </a:xfrm>
          <a:prstGeom prst="rect"/>
        </p:spPr>
        <p:txBody>
          <a:bodyPr wrap="none" lIns="0" tIns="0" rIns="0" bIns="0"/>
          <a:p>
            <a:pPr>
              <a:lnSpc>
                <a:spcPct val="150000"/>
              </a:lnSpc>
            </a:pPr>
            <a:r>
              <a:rPr lang="zh-CN" sz="975">
                <a:solidFill>
                  <a:srgbClr val="7A8699"/>
                </a:solidFill>
                <a:latin typeface="Microsoft YaHei"/>
                <a:ea typeface="Microsoft YaHei"/>
              </a:rPr>
              <a:t>来源：套路层面设计思路</a:t>
            </a:r>
            <a:r>
              <a:rPr lang="en-US" sz="975">
                <a:solidFill>
                  <a:srgbClr val="7A8699"/>
                </a:solidFill>
                <a:latin typeface="Microsoft YaHei"/>
                <a:ea typeface="Microsoft YaHei"/>
              </a:rPr>
              <a:t>.md</a:t>
            </a:r>
            <a:r>
              <a:rPr lang="zh-CN" sz="975">
                <a:solidFill>
                  <a:srgbClr val="7A8699"/>
                </a:solidFill>
                <a:latin typeface="Microsoft YaHei"/>
                <a:ea typeface="Microsoft YaHei"/>
              </a:rPr>
              <a:t>（更新日期</a:t>
            </a:r>
            <a:r>
              <a:rPr lang="en-US" sz="975">
                <a:solidFill>
                  <a:srgbClr val="7A8699"/>
                </a:solidFill>
                <a:latin typeface="Microsoft YaHei"/>
                <a:ea typeface="Microsoft YaHei"/>
              </a:rPr>
              <a:t xml:space="preserve"> 2026-10-25</a:t>
            </a:r>
            <a:r>
              <a:rPr lang="zh-CN" sz="975">
                <a:solidFill>
                  <a:srgbClr val="7A8699"/>
                </a:solidFill>
                <a:latin typeface="Microsoft YaHei"/>
                <a:ea typeface="Microsoft YaHei"/>
              </a:rPr>
              <a:t>）</a:t>
            </a:r>
            <a:endParaRPr/>
          </a:p>
        </p:txBody>
      </p:sp>
      <p:sp>
        <p:nvSpPr>
          <p:cNvPr id="1404" name="" descr="{&quot;isTemplate&quot;:true,&quot;type&quot;:&quot;text&quot;}"/>
          <p:cNvSpPr txBox="1"/>
          <p:nvPr/>
        </p:nvSpPr>
        <p:spPr>
          <a:xfrm rot="0" flipH="0" flipV="0">
            <a:off x="6134100" y="457200"/>
            <a:ext cx="5295900" cy="323850"/>
          </a:xfrm>
          <a:prstGeom prst="rect"/>
        </p:spPr>
        <p:txBody>
          <a:bodyPr wrap="none" lIns="0" tIns="0" rIns="0" bIns="0"/>
          <a:p>
            <a:pPr>
              <a:lnSpc>
                <a:spcPct val="140000"/>
              </a:lnSpc>
            </a:pPr>
            <a:r>
              <a:rPr lang="zh-CN" sz="1500" b="1">
                <a:solidFill>
                  <a:srgbClr val="0E2340"/>
                </a:solidFill>
                <a:latin typeface="Microsoft YaHei"/>
                <a:ea typeface="Microsoft YaHei"/>
              </a:rPr>
              <a:t>汇报结构</a:t>
            </a:r>
            <a:r>
              <a:rPr lang="en-US" sz="1500" b="1">
                <a:solidFill>
                  <a:srgbClr val="0E2340"/>
                </a:solidFill>
                <a:latin typeface="Microsoft YaHei"/>
                <a:ea typeface="Microsoft YaHei"/>
              </a:rPr>
              <a:t xml:space="preserve"> · 13 </a:t>
            </a:r>
            <a:r>
              <a:rPr lang="zh-CN" sz="1500" b="1">
                <a:solidFill>
                  <a:srgbClr val="0E2340"/>
                </a:solidFill>
                <a:latin typeface="Microsoft YaHei"/>
                <a:ea typeface="Microsoft YaHei"/>
              </a:rPr>
              <a:t>章</a:t>
            </a:r>
            <a:endParaRPr/>
          </a:p>
        </p:txBody>
      </p:sp>
      <p:sp>
        <p:nvSpPr>
          <p:cNvPr id="1405" name=""/>
          <p:cNvSpPr/>
          <p:nvPr/>
        </p:nvSpPr>
        <p:spPr>
          <a:xfrm rot="0" flipH="0" flipV="0">
            <a:off x="6134100" y="1019175"/>
            <a:ext cx="1638300" cy="609600"/>
          </a:xfrm>
          <a:prstGeom prst="roundRect">
            <a:avLst>
              <a:gd name="adj" fmla="val 9375"/>
            </a:avLst>
          </a:prstGeom>
          <a:solidFill>
            <a:srgbClr val="F5F7FA"/>
          </a:solidFill>
          <a:ln/>
        </p:spPr>
        <p:txBody>
          <a:bodyPr/>
          <a:p/>
        </p:txBody>
      </p:sp>
      <p:sp>
        <p:nvSpPr>
          <p:cNvPr id="1406" name="" descr="{&quot;isTemplate&quot;:true,&quot;type&quot;:&quot;text&quot;}"/>
          <p:cNvSpPr txBox="1"/>
          <p:nvPr/>
        </p:nvSpPr>
        <p:spPr>
          <a:xfrm rot="0" flipH="0" flipV="0">
            <a:off x="62484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01</a:t>
            </a:r>
            <a:endParaRPr/>
          </a:p>
        </p:txBody>
      </p:sp>
      <p:sp>
        <p:nvSpPr>
          <p:cNvPr id="1407" name="" descr="{&quot;isTemplate&quot;:true,&quot;type&quot;:&quot;text&quot;}"/>
          <p:cNvSpPr txBox="1"/>
          <p:nvPr/>
        </p:nvSpPr>
        <p:spPr>
          <a:xfrm rot="0" flipH="0" flipV="0">
            <a:off x="62484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概念地基</a:t>
            </a:r>
            <a:endParaRPr/>
          </a:p>
        </p:txBody>
      </p:sp>
      <p:sp>
        <p:nvSpPr>
          <p:cNvPr id="1408" name=""/>
          <p:cNvSpPr/>
          <p:nvPr/>
        </p:nvSpPr>
        <p:spPr>
          <a:xfrm rot="0" flipH="0" flipV="0">
            <a:off x="7867650" y="1019175"/>
            <a:ext cx="1638300" cy="609600"/>
          </a:xfrm>
          <a:prstGeom prst="roundRect">
            <a:avLst>
              <a:gd name="adj" fmla="val 9375"/>
            </a:avLst>
          </a:prstGeom>
          <a:solidFill>
            <a:srgbClr val="F5F7FA"/>
          </a:solidFill>
          <a:ln/>
        </p:spPr>
        <p:txBody>
          <a:bodyPr/>
          <a:p/>
        </p:txBody>
      </p:sp>
      <p:sp>
        <p:nvSpPr>
          <p:cNvPr id="1409" name="" descr="{&quot;isTemplate&quot;:true,&quot;type&quot;:&quot;text&quot;}"/>
          <p:cNvSpPr txBox="1"/>
          <p:nvPr/>
        </p:nvSpPr>
        <p:spPr>
          <a:xfrm rot="0" flipH="0" flipV="0">
            <a:off x="798195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02</a:t>
            </a:r>
            <a:endParaRPr/>
          </a:p>
        </p:txBody>
      </p:sp>
      <p:sp>
        <p:nvSpPr>
          <p:cNvPr id="1410" name="" descr="{&quot;isTemplate&quot;:true,&quot;type&quot;:&quot;text&quot;}"/>
          <p:cNvSpPr txBox="1"/>
          <p:nvPr/>
        </p:nvSpPr>
        <p:spPr>
          <a:xfrm rot="0" flipH="0" flipV="0">
            <a:off x="798195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现状盘点</a:t>
            </a:r>
            <a:endParaRPr/>
          </a:p>
        </p:txBody>
      </p:sp>
      <p:sp>
        <p:nvSpPr>
          <p:cNvPr id="1411" name=""/>
          <p:cNvSpPr/>
          <p:nvPr/>
        </p:nvSpPr>
        <p:spPr>
          <a:xfrm rot="0" flipH="0" flipV="0">
            <a:off x="9601200" y="1019175"/>
            <a:ext cx="1638300" cy="609600"/>
          </a:xfrm>
          <a:prstGeom prst="roundRect">
            <a:avLst>
              <a:gd name="adj" fmla="val 9375"/>
            </a:avLst>
          </a:prstGeom>
          <a:solidFill>
            <a:srgbClr val="F5F7FA"/>
          </a:solidFill>
          <a:ln/>
        </p:spPr>
        <p:txBody>
          <a:bodyPr/>
          <a:p/>
        </p:txBody>
      </p:sp>
      <p:sp>
        <p:nvSpPr>
          <p:cNvPr id="1412" name="" descr="{&quot;isTemplate&quot;:true,&quot;type&quot;:&quot;text&quot;}"/>
          <p:cNvSpPr txBox="1"/>
          <p:nvPr/>
        </p:nvSpPr>
        <p:spPr>
          <a:xfrm rot="0" flipH="0" flipV="0">
            <a:off x="97155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03</a:t>
            </a:r>
            <a:endParaRPr/>
          </a:p>
        </p:txBody>
      </p:sp>
      <p:sp>
        <p:nvSpPr>
          <p:cNvPr id="1413" name="" descr="{&quot;isTemplate&quot;:true,&quot;type&quot;:&quot;text&quot;}"/>
          <p:cNvSpPr txBox="1"/>
          <p:nvPr/>
        </p:nvSpPr>
        <p:spPr>
          <a:xfrm rot="0" flipH="0" flipV="0">
            <a:off x="97155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单题引擎</a:t>
            </a:r>
            <a:endParaRPr/>
          </a:p>
        </p:txBody>
      </p:sp>
      <p:sp>
        <p:nvSpPr>
          <p:cNvPr id="1414" name=""/>
          <p:cNvSpPr/>
          <p:nvPr/>
        </p:nvSpPr>
        <p:spPr>
          <a:xfrm rot="0" flipH="0" flipV="0">
            <a:off x="6134100" y="1724025"/>
            <a:ext cx="1638300" cy="609600"/>
          </a:xfrm>
          <a:prstGeom prst="roundRect">
            <a:avLst>
              <a:gd name="adj" fmla="val 9375"/>
            </a:avLst>
          </a:prstGeom>
          <a:solidFill>
            <a:srgbClr val="0E2340"/>
          </a:solidFill>
          <a:ln/>
        </p:spPr>
        <p:txBody>
          <a:bodyPr/>
          <a:p/>
        </p:txBody>
      </p:sp>
      <p:sp>
        <p:nvSpPr>
          <p:cNvPr id="1415" name="" descr="{&quot;isTemplate&quot;:true,&quot;type&quot;:&quot;text&quot;}"/>
          <p:cNvSpPr txBox="1"/>
          <p:nvPr/>
        </p:nvSpPr>
        <p:spPr>
          <a:xfrm rot="0" flipH="0" flipV="0">
            <a:off x="6248400" y="1809750"/>
            <a:ext cx="1409700" cy="247650"/>
          </a:xfrm>
          <a:prstGeom prst="rect"/>
        </p:spPr>
        <p:txBody>
          <a:bodyPr wrap="none" lIns="0" tIns="0" rIns="0" bIns="0"/>
          <a:p>
            <a:pPr>
              <a:lnSpc>
                <a:spcPct val="120000"/>
              </a:lnSpc>
            </a:pPr>
            <a:r>
              <a:rPr lang="en-US" sz="1350" b="1">
                <a:solidFill>
                  <a:srgbClr val="FFFFFF"/>
                </a:solidFill>
                <a:latin typeface="Microsoft YaHei"/>
                <a:ea typeface="Microsoft YaHei"/>
              </a:rPr>
              <a:t>04</a:t>
            </a:r>
            <a:endParaRPr/>
          </a:p>
        </p:txBody>
      </p:sp>
      <p:sp>
        <p:nvSpPr>
          <p:cNvPr id="1416" name="" descr="{&quot;isTemplate&quot;:true,&quot;type&quot;:&quot;text&quot;}"/>
          <p:cNvSpPr txBox="1"/>
          <p:nvPr/>
        </p:nvSpPr>
        <p:spPr>
          <a:xfrm rot="0" flipH="0" flipV="0">
            <a:off x="6248400" y="2057400"/>
            <a:ext cx="1409700" cy="200025"/>
          </a:xfrm>
          <a:prstGeom prst="rect"/>
        </p:spPr>
        <p:txBody>
          <a:bodyPr wrap="none" lIns="0" tIns="0" rIns="0" bIns="0"/>
          <a:p>
            <a:pPr>
              <a:lnSpc>
                <a:spcPct val="130000"/>
              </a:lnSpc>
            </a:pPr>
            <a:r>
              <a:rPr lang="zh-CN" sz="975">
                <a:solidFill>
                  <a:srgbClr val="C8DCF2"/>
                </a:solidFill>
                <a:latin typeface="Microsoft YaHei"/>
                <a:ea typeface="Microsoft YaHei"/>
              </a:rPr>
              <a:t>套路层面</a:t>
            </a:r>
            <a:endParaRPr/>
          </a:p>
        </p:txBody>
      </p:sp>
      <p:sp>
        <p:nvSpPr>
          <p:cNvPr id="1417" name=""/>
          <p:cNvSpPr/>
          <p:nvPr/>
        </p:nvSpPr>
        <p:spPr>
          <a:xfrm rot="0" flipH="0" flipV="0">
            <a:off x="7867650" y="1724025"/>
            <a:ext cx="1638300" cy="609600"/>
          </a:xfrm>
          <a:prstGeom prst="roundRect">
            <a:avLst>
              <a:gd name="adj" fmla="val 9375"/>
            </a:avLst>
          </a:prstGeom>
          <a:solidFill>
            <a:srgbClr val="F5F7FA"/>
          </a:solidFill>
          <a:ln/>
        </p:spPr>
        <p:txBody>
          <a:bodyPr/>
          <a:p/>
        </p:txBody>
      </p:sp>
      <p:sp>
        <p:nvSpPr>
          <p:cNvPr id="1418" name="" descr="{&quot;isTemplate&quot;:true,&quot;type&quot;:&quot;text&quot;}"/>
          <p:cNvSpPr txBox="1"/>
          <p:nvPr/>
        </p:nvSpPr>
        <p:spPr>
          <a:xfrm rot="0" flipH="0" flipV="0">
            <a:off x="798195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05</a:t>
            </a:r>
            <a:endParaRPr/>
          </a:p>
        </p:txBody>
      </p:sp>
      <p:sp>
        <p:nvSpPr>
          <p:cNvPr id="1419" name="" descr="{&quot;isTemplate&quot;:true,&quot;type&quot;:&quot;text&quot;}"/>
          <p:cNvSpPr txBox="1"/>
          <p:nvPr/>
        </p:nvSpPr>
        <p:spPr>
          <a:xfrm rot="0" flipH="0" flipV="0">
            <a:off x="798195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教师端</a:t>
            </a:r>
            <a:endParaRPr/>
          </a:p>
        </p:txBody>
      </p:sp>
      <p:sp>
        <p:nvSpPr>
          <p:cNvPr id="1420" name=""/>
          <p:cNvSpPr/>
          <p:nvPr/>
        </p:nvSpPr>
        <p:spPr>
          <a:xfrm rot="0" flipH="0" flipV="0">
            <a:off x="9601200" y="1724025"/>
            <a:ext cx="1638300" cy="609600"/>
          </a:xfrm>
          <a:prstGeom prst="roundRect">
            <a:avLst>
              <a:gd name="adj" fmla="val 9375"/>
            </a:avLst>
          </a:prstGeom>
          <a:solidFill>
            <a:srgbClr val="F5F7FA"/>
          </a:solidFill>
          <a:ln/>
        </p:spPr>
        <p:txBody>
          <a:bodyPr/>
          <a:p/>
        </p:txBody>
      </p:sp>
      <p:sp>
        <p:nvSpPr>
          <p:cNvPr id="1421" name="" descr="{&quot;isTemplate&quot;:true,&quot;type&quot;:&quot;text&quot;}"/>
          <p:cNvSpPr txBox="1"/>
          <p:nvPr/>
        </p:nvSpPr>
        <p:spPr>
          <a:xfrm rot="0" flipH="0" flipV="0">
            <a:off x="97155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06</a:t>
            </a:r>
            <a:endParaRPr/>
          </a:p>
        </p:txBody>
      </p:sp>
      <p:sp>
        <p:nvSpPr>
          <p:cNvPr id="1422" name="" descr="{&quot;isTemplate&quot;:true,&quot;type&quot;:&quot;text&quot;}"/>
          <p:cNvSpPr txBox="1"/>
          <p:nvPr/>
        </p:nvSpPr>
        <p:spPr>
          <a:xfrm rot="0" flipH="0" flipV="0">
            <a:off x="97155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学校端</a:t>
            </a:r>
            <a:endParaRPr/>
          </a:p>
        </p:txBody>
      </p:sp>
      <p:sp>
        <p:nvSpPr>
          <p:cNvPr id="1423" name=""/>
          <p:cNvSpPr/>
          <p:nvPr/>
        </p:nvSpPr>
        <p:spPr>
          <a:xfrm rot="0" flipH="0" flipV="0">
            <a:off x="6134100" y="2428875"/>
            <a:ext cx="1638300" cy="609600"/>
          </a:xfrm>
          <a:prstGeom prst="roundRect">
            <a:avLst>
              <a:gd name="adj" fmla="val 9375"/>
            </a:avLst>
          </a:prstGeom>
          <a:solidFill>
            <a:srgbClr val="F5F7FA"/>
          </a:solidFill>
          <a:ln/>
        </p:spPr>
        <p:txBody>
          <a:bodyPr/>
          <a:p/>
        </p:txBody>
      </p:sp>
      <p:sp>
        <p:nvSpPr>
          <p:cNvPr id="1424" name="" descr="{&quot;isTemplate&quot;:true,&quot;type&quot;:&quot;text&quot;}"/>
          <p:cNvSpPr txBox="1"/>
          <p:nvPr/>
        </p:nvSpPr>
        <p:spPr>
          <a:xfrm rot="0" flipH="0" flipV="0">
            <a:off x="62484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07</a:t>
            </a:r>
            <a:endParaRPr/>
          </a:p>
        </p:txBody>
      </p:sp>
      <p:sp>
        <p:nvSpPr>
          <p:cNvPr id="1425" name="" descr="{&quot;isTemplate&quot;:true,&quot;type&quot;:&quot;text&quot;}"/>
          <p:cNvSpPr txBox="1"/>
          <p:nvPr/>
        </p:nvSpPr>
        <p:spPr>
          <a:xfrm rot="0" flipH="0" flipV="0">
            <a:off x="624840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试卷与生涯</a:t>
            </a:r>
            <a:endParaRPr/>
          </a:p>
        </p:txBody>
      </p:sp>
      <p:sp>
        <p:nvSpPr>
          <p:cNvPr id="1426" name=""/>
          <p:cNvSpPr/>
          <p:nvPr/>
        </p:nvSpPr>
        <p:spPr>
          <a:xfrm rot="0" flipH="0" flipV="0">
            <a:off x="7867650" y="2428875"/>
            <a:ext cx="1638300" cy="609600"/>
          </a:xfrm>
          <a:prstGeom prst="roundRect">
            <a:avLst>
              <a:gd name="adj" fmla="val 9375"/>
            </a:avLst>
          </a:prstGeom>
          <a:solidFill>
            <a:srgbClr val="F5F7FA"/>
          </a:solidFill>
          <a:ln/>
        </p:spPr>
        <p:txBody>
          <a:bodyPr/>
          <a:p/>
        </p:txBody>
      </p:sp>
      <p:sp>
        <p:nvSpPr>
          <p:cNvPr id="1427" name="" descr="{&quot;isTemplate&quot;:true,&quot;type&quot;:&quot;text&quot;}"/>
          <p:cNvSpPr txBox="1"/>
          <p:nvPr/>
        </p:nvSpPr>
        <p:spPr>
          <a:xfrm rot="0" flipH="0" flipV="0">
            <a:off x="798195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08</a:t>
            </a:r>
            <a:endParaRPr/>
          </a:p>
        </p:txBody>
      </p:sp>
      <p:sp>
        <p:nvSpPr>
          <p:cNvPr id="1428" name="" descr="{&quot;isTemplate&quot;:true,&quot;type&quot;:&quot;text&quot;}"/>
          <p:cNvSpPr txBox="1"/>
          <p:nvPr/>
        </p:nvSpPr>
        <p:spPr>
          <a:xfrm rot="0" flipH="0" flipV="0">
            <a:off x="798195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协同</a:t>
            </a:r>
            <a:r>
              <a:rPr lang="en-US" sz="975">
                <a:solidFill>
                  <a:srgbClr val="7A8699"/>
                </a:solidFill>
                <a:latin typeface="Microsoft YaHei"/>
                <a:ea typeface="Microsoft YaHei"/>
              </a:rPr>
              <a:t xml:space="preserve"> Agent</a:t>
            </a:r>
            <a:endParaRPr/>
          </a:p>
        </p:txBody>
      </p:sp>
      <p:sp>
        <p:nvSpPr>
          <p:cNvPr id="1429" name=""/>
          <p:cNvSpPr/>
          <p:nvPr/>
        </p:nvSpPr>
        <p:spPr>
          <a:xfrm rot="0" flipH="0" flipV="0">
            <a:off x="9601200" y="2428875"/>
            <a:ext cx="1638300" cy="609600"/>
          </a:xfrm>
          <a:prstGeom prst="roundRect">
            <a:avLst>
              <a:gd name="adj" fmla="val 9375"/>
            </a:avLst>
          </a:prstGeom>
          <a:solidFill>
            <a:srgbClr val="F5F7FA"/>
          </a:solidFill>
          <a:ln/>
        </p:spPr>
        <p:txBody>
          <a:bodyPr/>
          <a:p/>
        </p:txBody>
      </p:sp>
      <p:sp>
        <p:nvSpPr>
          <p:cNvPr id="1430" name="" descr="{&quot;isTemplate&quot;:true,&quot;type&quot;:&quot;text&quot;}"/>
          <p:cNvSpPr txBox="1"/>
          <p:nvPr/>
        </p:nvSpPr>
        <p:spPr>
          <a:xfrm rot="0" flipH="0" flipV="0">
            <a:off x="97155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09</a:t>
            </a:r>
            <a:endParaRPr/>
          </a:p>
        </p:txBody>
      </p:sp>
      <p:sp>
        <p:nvSpPr>
          <p:cNvPr id="1431" name="" descr="{&quot;isTemplate&quot;:true,&quot;type&quot;:&quot;text&quot;}"/>
          <p:cNvSpPr txBox="1"/>
          <p:nvPr/>
        </p:nvSpPr>
        <p:spPr>
          <a:xfrm rot="0" flipH="0" flipV="0">
            <a:off x="9715500" y="2762250"/>
            <a:ext cx="1409700" cy="200025"/>
          </a:xfrm>
          <a:prstGeom prst="rect"/>
        </p:spPr>
        <p:txBody>
          <a:bodyPr wrap="none" lIns="0" tIns="0" rIns="0" bIns="0"/>
          <a:p>
            <a:pPr>
              <a:lnSpc>
                <a:spcPct val="130000"/>
              </a:lnSpc>
            </a:pPr>
            <a:r>
              <a:rPr lang="en-US" sz="975">
                <a:solidFill>
                  <a:srgbClr val="7A8699"/>
                </a:solidFill>
                <a:latin typeface="Microsoft YaHei"/>
                <a:ea typeface="Microsoft YaHei"/>
              </a:rPr>
              <a:t xml:space="preserve">MCP </a:t>
            </a:r>
            <a:r>
              <a:rPr lang="zh-CN" sz="975">
                <a:solidFill>
                  <a:srgbClr val="7A8699"/>
                </a:solidFill>
                <a:latin typeface="Microsoft YaHei"/>
                <a:ea typeface="Microsoft YaHei"/>
              </a:rPr>
              <a:t>接入</a:t>
            </a:r>
            <a:endParaRPr/>
          </a:p>
        </p:txBody>
      </p:sp>
      <p:sp>
        <p:nvSpPr>
          <p:cNvPr id="1432" name=""/>
          <p:cNvSpPr/>
          <p:nvPr/>
        </p:nvSpPr>
        <p:spPr>
          <a:xfrm rot="0" flipH="0" flipV="0">
            <a:off x="6134100" y="3133725"/>
            <a:ext cx="1638300" cy="609600"/>
          </a:xfrm>
          <a:prstGeom prst="roundRect">
            <a:avLst>
              <a:gd name="adj" fmla="val 9375"/>
            </a:avLst>
          </a:prstGeom>
          <a:solidFill>
            <a:srgbClr val="F5F7FA"/>
          </a:solidFill>
          <a:ln/>
        </p:spPr>
        <p:txBody>
          <a:bodyPr/>
          <a:p/>
        </p:txBody>
      </p:sp>
      <p:sp>
        <p:nvSpPr>
          <p:cNvPr id="1433" name="" descr="{&quot;isTemplate&quot;:true,&quot;type&quot;:&quot;text&quot;}"/>
          <p:cNvSpPr txBox="1"/>
          <p:nvPr/>
        </p:nvSpPr>
        <p:spPr>
          <a:xfrm rot="0" flipH="0" flipV="0">
            <a:off x="62484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10</a:t>
            </a:r>
            <a:endParaRPr/>
          </a:p>
        </p:txBody>
      </p:sp>
      <p:sp>
        <p:nvSpPr>
          <p:cNvPr id="1434" name="" descr="{&quot;isTemplate&quot;:true,&quot;type&quot;:&quot;text&quot;}"/>
          <p:cNvSpPr txBox="1"/>
          <p:nvPr/>
        </p:nvSpPr>
        <p:spPr>
          <a:xfrm rot="0" flipH="0" flipV="0">
            <a:off x="62484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待深化研究</a:t>
            </a:r>
            <a:endParaRPr/>
          </a:p>
        </p:txBody>
      </p:sp>
      <p:sp>
        <p:nvSpPr>
          <p:cNvPr id="1435" name=""/>
          <p:cNvSpPr/>
          <p:nvPr/>
        </p:nvSpPr>
        <p:spPr>
          <a:xfrm rot="0" flipH="0" flipV="0">
            <a:off x="7867650" y="3133725"/>
            <a:ext cx="1638300" cy="609600"/>
          </a:xfrm>
          <a:prstGeom prst="roundRect">
            <a:avLst>
              <a:gd name="adj" fmla="val 9375"/>
            </a:avLst>
          </a:prstGeom>
          <a:solidFill>
            <a:srgbClr val="F5F7FA"/>
          </a:solidFill>
          <a:ln/>
        </p:spPr>
        <p:txBody>
          <a:bodyPr/>
          <a:p/>
        </p:txBody>
      </p:sp>
      <p:sp>
        <p:nvSpPr>
          <p:cNvPr id="1436" name="" descr="{&quot;isTemplate&quot;:true,&quot;type&quot;:&quot;text&quot;}"/>
          <p:cNvSpPr txBox="1"/>
          <p:nvPr/>
        </p:nvSpPr>
        <p:spPr>
          <a:xfrm rot="0" flipH="0" flipV="0">
            <a:off x="798195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11</a:t>
            </a:r>
            <a:endParaRPr/>
          </a:p>
        </p:txBody>
      </p:sp>
      <p:sp>
        <p:nvSpPr>
          <p:cNvPr id="1437" name="" descr="{&quot;isTemplate&quot;:true,&quot;type&quot;:&quot;text&quot;}"/>
          <p:cNvSpPr txBox="1"/>
          <p:nvPr/>
        </p:nvSpPr>
        <p:spPr>
          <a:xfrm rot="0" flipH="0" flipV="0">
            <a:off x="798195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落地与边界</a:t>
            </a:r>
            <a:endParaRPr/>
          </a:p>
        </p:txBody>
      </p:sp>
      <p:sp>
        <p:nvSpPr>
          <p:cNvPr id="1438" name=""/>
          <p:cNvSpPr/>
          <p:nvPr/>
        </p:nvSpPr>
        <p:spPr>
          <a:xfrm rot="0" flipH="0" flipV="0">
            <a:off x="9601200" y="3133725"/>
            <a:ext cx="1638300" cy="609600"/>
          </a:xfrm>
          <a:prstGeom prst="roundRect">
            <a:avLst>
              <a:gd name="adj" fmla="val 9375"/>
            </a:avLst>
          </a:prstGeom>
          <a:solidFill>
            <a:srgbClr val="F5F7FA"/>
          </a:solidFill>
          <a:ln/>
        </p:spPr>
        <p:txBody>
          <a:bodyPr/>
          <a:p/>
        </p:txBody>
      </p:sp>
      <p:sp>
        <p:nvSpPr>
          <p:cNvPr id="1439" name="" descr="{&quot;isTemplate&quot;:true,&quot;type&quot;:&quot;text&quot;}"/>
          <p:cNvSpPr txBox="1"/>
          <p:nvPr/>
        </p:nvSpPr>
        <p:spPr>
          <a:xfrm rot="0" flipH="0" flipV="0">
            <a:off x="97155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12</a:t>
            </a:r>
            <a:endParaRPr/>
          </a:p>
        </p:txBody>
      </p:sp>
      <p:sp>
        <p:nvSpPr>
          <p:cNvPr id="1440" name="" descr="{&quot;isTemplate&quot;:true,&quot;type&quot;:&quot;text&quot;}"/>
          <p:cNvSpPr txBox="1"/>
          <p:nvPr/>
        </p:nvSpPr>
        <p:spPr>
          <a:xfrm rot="0" flipH="0" flipV="0">
            <a:off x="97155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自进化与扩展</a:t>
            </a:r>
            <a:endParaRPr/>
          </a:p>
        </p:txBody>
      </p:sp>
      <p:sp>
        <p:nvSpPr>
          <p:cNvPr id="1441" name=""/>
          <p:cNvSpPr/>
          <p:nvPr/>
        </p:nvSpPr>
        <p:spPr>
          <a:xfrm rot="0" flipH="0" flipV="0">
            <a:off x="6134100" y="3838575"/>
            <a:ext cx="1638300" cy="609600"/>
          </a:xfrm>
          <a:prstGeom prst="roundRect">
            <a:avLst>
              <a:gd name="adj" fmla="val 9375"/>
            </a:avLst>
          </a:prstGeom>
          <a:solidFill>
            <a:srgbClr val="F5F7FA"/>
          </a:solidFill>
          <a:ln/>
        </p:spPr>
        <p:txBody>
          <a:bodyPr/>
          <a:p/>
        </p:txBody>
      </p:sp>
      <p:sp>
        <p:nvSpPr>
          <p:cNvPr id="1442" name="" descr="{&quot;isTemplate&quot;:true,&quot;type&quot;:&quot;text&quot;}"/>
          <p:cNvSpPr txBox="1"/>
          <p:nvPr/>
        </p:nvSpPr>
        <p:spPr>
          <a:xfrm rot="0" flipH="0" flipV="0">
            <a:off x="6248400" y="39243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13</a:t>
            </a:r>
            <a:endParaRPr/>
          </a:p>
        </p:txBody>
      </p:sp>
      <p:sp>
        <p:nvSpPr>
          <p:cNvPr id="1443" name="" descr="{&quot;isTemplate&quot;:true,&quot;type&quot;:&quot;text&quot;}"/>
          <p:cNvSpPr txBox="1"/>
          <p:nvPr/>
        </p:nvSpPr>
        <p:spPr>
          <a:xfrm rot="0" flipH="0" flipV="0">
            <a:off x="6248400" y="41719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收尾</a:t>
            </a:r>
            <a:endParaRPr/>
          </a:p>
        </p:txBody>
      </p:sp>
      <p:sp>
        <p:nvSpPr>
          <p:cNvPr id="1444" name=""/>
          <p:cNvSpPr/>
          <p:nvPr/>
        </p:nvSpPr>
        <p:spPr>
          <a:xfrm rot="0" flipH="0" flipV="0">
            <a:off x="6134100" y="4686300"/>
            <a:ext cx="5295900" cy="438150"/>
          </a:xfrm>
          <a:prstGeom prst="roundRect">
            <a:avLst>
              <a:gd name="adj" fmla="val 13043"/>
            </a:avLst>
          </a:prstGeom>
          <a:solidFill>
            <a:srgbClr val="F5F7FA"/>
          </a:solidFill>
          <a:ln/>
        </p:spPr>
        <p:txBody>
          <a:bodyPr/>
          <a:p/>
        </p:txBody>
      </p:sp>
      <p:sp>
        <p:nvSpPr>
          <p:cNvPr id="1445" name=""/>
          <p:cNvSpPr/>
          <p:nvPr/>
        </p:nvSpPr>
        <p:spPr>
          <a:xfrm rot="0" flipH="0" flipV="0">
            <a:off x="6267450" y="4800600"/>
            <a:ext cx="57150" cy="209550"/>
          </a:xfrm>
          <a:prstGeom prst="rect">
            <a:avLst/>
          </a:prstGeom>
          <a:solidFill>
            <a:srgbClr val="00A9B5"/>
          </a:solidFill>
          <a:ln/>
        </p:spPr>
        <p:txBody>
          <a:bodyPr/>
          <a:p/>
        </p:txBody>
      </p:sp>
      <p:sp>
        <p:nvSpPr>
          <p:cNvPr id="1446" name="" descr="{&quot;isTemplate&quot;:true,&quot;type&quot;:&quot;text&quot;}"/>
          <p:cNvSpPr txBox="1"/>
          <p:nvPr/>
        </p:nvSpPr>
        <p:spPr>
          <a:xfrm rot="0" flipH="0" flipV="0">
            <a:off x="6419850" y="4781550"/>
            <a:ext cx="1943100" cy="247650"/>
          </a:xfrm>
          <a:prstGeom prst="rect"/>
        </p:spPr>
        <p:txBody>
          <a:bodyPr wrap="none" lIns="0" tIns="0" rIns="0" bIns="0"/>
          <a:p>
            <a:pPr>
              <a:lnSpc>
                <a:spcPct val="140000"/>
              </a:lnSpc>
            </a:pPr>
            <a:r>
              <a:rPr lang="zh-CN" sz="1125" b="1">
                <a:solidFill>
                  <a:srgbClr val="0E2340"/>
                </a:solidFill>
                <a:latin typeface="Microsoft YaHei"/>
                <a:ea typeface="Microsoft YaHei"/>
              </a:rPr>
              <a:t>当前位置：第</a:t>
            </a:r>
            <a:r>
              <a:rPr lang="en-US" sz="1125" b="1">
                <a:solidFill>
                  <a:srgbClr val="0E2340"/>
                </a:solidFill>
                <a:latin typeface="Microsoft YaHei"/>
                <a:ea typeface="Microsoft YaHei"/>
              </a:rPr>
              <a:t xml:space="preserve"> 04 </a:t>
            </a:r>
            <a:r>
              <a:rPr lang="zh-CN" sz="1125" b="1">
                <a:solidFill>
                  <a:srgbClr val="0E2340"/>
                </a:solidFill>
                <a:latin typeface="Microsoft YaHei"/>
                <a:ea typeface="Microsoft YaHei"/>
              </a:rPr>
              <a:t>章</a:t>
            </a:r>
            <a:r>
              <a:rPr lang="en-US" sz="1125" b="1">
                <a:solidFill>
                  <a:srgbClr val="0E2340"/>
                </a:solidFill>
                <a:latin typeface="Microsoft YaHei"/>
                <a:ea typeface="Microsoft YaHei"/>
              </a:rPr>
              <a:t xml:space="preserve"> · </a:t>
            </a:r>
            <a:r>
              <a:rPr lang="zh-CN" sz="1125" b="1">
                <a:solidFill>
                  <a:srgbClr val="0E2340"/>
                </a:solidFill>
                <a:latin typeface="Microsoft YaHei"/>
                <a:ea typeface="Microsoft YaHei"/>
              </a:rPr>
              <a:t>套路层面</a:t>
            </a:r>
            <a:endParaRPr/>
          </a:p>
        </p:txBody>
      </p:sp>
      <p:sp>
        <p:nvSpPr>
          <p:cNvPr id="1447" name=""/>
          <p:cNvSpPr/>
          <p:nvPr/>
        </p:nvSpPr>
        <p:spPr>
          <a:xfrm rot="0" flipH="0" flipV="0">
            <a:off x="6134100" y="5353050"/>
            <a:ext cx="1257300" cy="381000"/>
          </a:xfrm>
          <a:prstGeom prst="roundRect">
            <a:avLst>
              <a:gd name="adj" fmla="val 15000"/>
            </a:avLst>
          </a:prstGeom>
          <a:solidFill>
            <a:srgbClr val="F5F7FA"/>
          </a:solidFill>
          <a:ln/>
        </p:spPr>
        <p:txBody>
          <a:bodyPr/>
          <a:p/>
        </p:txBody>
      </p:sp>
      <p:sp>
        <p:nvSpPr>
          <p:cNvPr id="1448" name=""/>
          <p:cNvSpPr/>
          <p:nvPr/>
        </p:nvSpPr>
        <p:spPr>
          <a:xfrm rot="0" flipH="0" flipV="0">
            <a:off x="6229350" y="5495925"/>
            <a:ext cx="95250" cy="95250"/>
          </a:xfrm>
          <a:prstGeom prst="roundRect">
            <a:avLst>
              <a:gd name="adj" fmla="val 50000"/>
            </a:avLst>
          </a:prstGeom>
          <a:solidFill>
            <a:srgbClr val="1E9E62"/>
          </a:solidFill>
          <a:ln/>
        </p:spPr>
        <p:txBody>
          <a:bodyPr/>
          <a:p/>
        </p:txBody>
      </p:sp>
      <p:sp>
        <p:nvSpPr>
          <p:cNvPr id="1449" name="" descr="{&quot;isTemplate&quot;:true,&quot;type&quot;:&quot;text&quot;}"/>
          <p:cNvSpPr txBox="1"/>
          <p:nvPr/>
        </p:nvSpPr>
        <p:spPr>
          <a:xfrm rot="0" flipH="0" flipV="0">
            <a:off x="6400800"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已实现</a:t>
            </a:r>
            <a:endParaRPr/>
          </a:p>
        </p:txBody>
      </p:sp>
      <p:sp>
        <p:nvSpPr>
          <p:cNvPr id="1450" name=""/>
          <p:cNvSpPr/>
          <p:nvPr/>
        </p:nvSpPr>
        <p:spPr>
          <a:xfrm rot="0" flipH="0" flipV="0">
            <a:off x="7486650" y="5353050"/>
            <a:ext cx="1247775" cy="381000"/>
          </a:xfrm>
          <a:prstGeom prst="roundRect">
            <a:avLst>
              <a:gd name="adj" fmla="val 15000"/>
            </a:avLst>
          </a:prstGeom>
          <a:solidFill>
            <a:srgbClr val="F5F7FA"/>
          </a:solidFill>
          <a:ln/>
        </p:spPr>
        <p:txBody>
          <a:bodyPr/>
          <a:p/>
        </p:txBody>
      </p:sp>
      <p:sp>
        <p:nvSpPr>
          <p:cNvPr id="1451" name=""/>
          <p:cNvSpPr/>
          <p:nvPr/>
        </p:nvSpPr>
        <p:spPr>
          <a:xfrm rot="0" flipH="0" flipV="0">
            <a:off x="7581900" y="5495925"/>
            <a:ext cx="95250" cy="95250"/>
          </a:xfrm>
          <a:prstGeom prst="roundRect">
            <a:avLst>
              <a:gd name="adj" fmla="val 50000"/>
            </a:avLst>
          </a:prstGeom>
          <a:solidFill>
            <a:srgbClr val="E8A33D"/>
          </a:solidFill>
          <a:ln/>
        </p:spPr>
        <p:txBody>
          <a:bodyPr/>
          <a:p/>
        </p:txBody>
      </p:sp>
      <p:sp>
        <p:nvSpPr>
          <p:cNvPr id="1452" name="" descr="{&quot;isTemplate&quot;:true,&quot;type&quot;:&quot;text&quot;}"/>
          <p:cNvSpPr txBox="1"/>
          <p:nvPr/>
        </p:nvSpPr>
        <p:spPr>
          <a:xfrm rot="0" flipH="0" flipV="0">
            <a:off x="7753350" y="5438775"/>
            <a:ext cx="533400" cy="209550"/>
          </a:xfrm>
          <a:prstGeom prst="rect"/>
        </p:spPr>
        <p:txBody>
          <a:bodyPr wrap="none" lIns="0" tIns="0" rIns="0" bIns="0"/>
          <a:p>
            <a:pPr>
              <a:lnSpc>
                <a:spcPct val="130000"/>
              </a:lnSpc>
            </a:pPr>
            <a:r>
              <a:rPr lang="zh-CN" sz="1050" b="1">
                <a:solidFill>
                  <a:srgbClr val="333A45"/>
                </a:solidFill>
                <a:latin typeface="Microsoft YaHei"/>
                <a:ea typeface="Microsoft YaHei"/>
              </a:rPr>
              <a:t>部分实现</a:t>
            </a:r>
            <a:endParaRPr/>
          </a:p>
        </p:txBody>
      </p:sp>
      <p:sp>
        <p:nvSpPr>
          <p:cNvPr id="1453" name=""/>
          <p:cNvSpPr/>
          <p:nvPr/>
        </p:nvSpPr>
        <p:spPr>
          <a:xfrm rot="0" flipH="0" flipV="0">
            <a:off x="8829675" y="5353050"/>
            <a:ext cx="1257300" cy="381000"/>
          </a:xfrm>
          <a:prstGeom prst="roundRect">
            <a:avLst>
              <a:gd name="adj" fmla="val 15000"/>
            </a:avLst>
          </a:prstGeom>
          <a:solidFill>
            <a:srgbClr val="F5F7FA"/>
          </a:solidFill>
          <a:ln/>
        </p:spPr>
        <p:txBody>
          <a:bodyPr/>
          <a:p/>
        </p:txBody>
      </p:sp>
      <p:sp>
        <p:nvSpPr>
          <p:cNvPr id="1454" name=""/>
          <p:cNvSpPr/>
          <p:nvPr/>
        </p:nvSpPr>
        <p:spPr>
          <a:xfrm rot="0" flipH="0" flipV="0">
            <a:off x="8924925" y="5495925"/>
            <a:ext cx="95250" cy="95250"/>
          </a:xfrm>
          <a:prstGeom prst="roundRect">
            <a:avLst>
              <a:gd name="adj" fmla="val 50000"/>
            </a:avLst>
          </a:prstGeom>
          <a:solidFill>
            <a:srgbClr val="1E7BE0"/>
          </a:solidFill>
          <a:ln/>
        </p:spPr>
        <p:txBody>
          <a:bodyPr/>
          <a:p/>
        </p:txBody>
      </p:sp>
      <p:sp>
        <p:nvSpPr>
          <p:cNvPr id="1455" name="" descr="{&quot;isTemplate&quot;:true,&quot;type&quot;:&quot;text&quot;}"/>
          <p:cNvSpPr txBox="1"/>
          <p:nvPr/>
        </p:nvSpPr>
        <p:spPr>
          <a:xfrm rot="0" flipH="0" flipV="0">
            <a:off x="909637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设计中</a:t>
            </a:r>
            <a:endParaRPr/>
          </a:p>
        </p:txBody>
      </p:sp>
      <p:sp>
        <p:nvSpPr>
          <p:cNvPr id="1456" name=""/>
          <p:cNvSpPr/>
          <p:nvPr/>
        </p:nvSpPr>
        <p:spPr>
          <a:xfrm rot="0" flipH="0" flipV="0">
            <a:off x="10182225" y="5353050"/>
            <a:ext cx="1247775" cy="381000"/>
          </a:xfrm>
          <a:prstGeom prst="roundRect">
            <a:avLst>
              <a:gd name="adj" fmla="val 15000"/>
            </a:avLst>
          </a:prstGeom>
          <a:solidFill>
            <a:srgbClr val="F5F7FA"/>
          </a:solidFill>
          <a:ln/>
        </p:spPr>
        <p:txBody>
          <a:bodyPr/>
          <a:p/>
        </p:txBody>
      </p:sp>
      <p:sp>
        <p:nvSpPr>
          <p:cNvPr id="1457" name=""/>
          <p:cNvSpPr/>
          <p:nvPr/>
        </p:nvSpPr>
        <p:spPr>
          <a:xfrm rot="0" flipH="0" flipV="0">
            <a:off x="10277475" y="5495925"/>
            <a:ext cx="95250" cy="95250"/>
          </a:xfrm>
          <a:prstGeom prst="roundRect">
            <a:avLst>
              <a:gd name="adj" fmla="val 50000"/>
            </a:avLst>
          </a:prstGeom>
          <a:solidFill>
            <a:srgbClr val="98A2B3"/>
          </a:solidFill>
          <a:ln/>
        </p:spPr>
        <p:txBody>
          <a:bodyPr/>
          <a:p/>
        </p:txBody>
      </p:sp>
      <p:sp>
        <p:nvSpPr>
          <p:cNvPr id="1458" name="" descr="{&quot;isTemplate&quot;:true,&quot;type&quot;:&quot;text&quot;}"/>
          <p:cNvSpPr txBox="1"/>
          <p:nvPr/>
        </p:nvSpPr>
        <p:spPr>
          <a:xfrm rot="0" flipH="0" flipV="0">
            <a:off x="1044892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待研究</a:t>
            </a:r>
            <a:endParaRPr/>
          </a:p>
        </p:txBody>
      </p:sp>
      <p:sp>
        <p:nvSpPr>
          <p:cNvPr id="1459" name=""/>
          <p:cNvSpPr/>
          <p:nvPr/>
        </p:nvSpPr>
        <p:spPr>
          <a:xfrm rot="0" flipH="0" flipV="0">
            <a:off x="6134100" y="5972175"/>
            <a:ext cx="5295900" cy="400050"/>
          </a:xfrm>
          <a:custGeom>
            <a:pathLst>
              <a:path w="556" h="42">
                <a:moveTo>
                  <a:pt x="0" y="0"/>
                </a:moveTo>
                <a:lnTo>
                  <a:pt x="556" y="0"/>
                </a:lnTo>
                <a:lnTo>
                  <a:pt x="556" y="1"/>
                </a:lnTo>
                <a:lnTo>
                  <a:pt x="0" y="1"/>
                </a:lnTo>
                <a:close/>
              </a:path>
            </a:pathLst>
          </a:custGeom>
          <a:solidFill>
            <a:srgbClr val="E3E8EF"/>
          </a:solidFill>
          <a:ln/>
        </p:spPr>
        <p:txBody>
          <a:bodyPr/>
          <a:p/>
        </p:txBody>
      </p:sp>
      <p:sp>
        <p:nvSpPr>
          <p:cNvPr id="1460" name=""/>
          <p:cNvSpPr/>
          <p:nvPr/>
        </p:nvSpPr>
        <p:spPr>
          <a:xfrm rot="0" flipH="0" flipV="0">
            <a:off x="6134100" y="6219825"/>
            <a:ext cx="438150" cy="47625"/>
          </a:xfrm>
          <a:prstGeom prst="rect">
            <a:avLst/>
          </a:prstGeom>
          <a:solidFill>
            <a:srgbClr val="00A9B5"/>
          </a:solidFill>
          <a:ln/>
        </p:spPr>
        <p:txBody>
          <a:bodyPr/>
          <a:p/>
        </p:txBody>
      </p:sp>
      <p:sp>
        <p:nvSpPr>
          <p:cNvPr id="1461" name="" descr="{&quot;isTemplate&quot;:true,&quot;type&quot;:&quot;text&quot;}"/>
          <p:cNvSpPr txBox="1"/>
          <p:nvPr/>
        </p:nvSpPr>
        <p:spPr>
          <a:xfrm rot="0" flipH="0" flipV="0">
            <a:off x="6686550" y="6115050"/>
            <a:ext cx="3276600" cy="247650"/>
          </a:xfrm>
          <a:prstGeom prst="rect"/>
        </p:spPr>
        <p:txBody>
          <a:bodyPr wrap="none" lIns="0" tIns="0" rIns="0" bIns="0"/>
          <a:p>
            <a:pPr>
              <a:lnSpc>
                <a:spcPct val="140000"/>
              </a:lnSpc>
            </a:pPr>
            <a:r>
              <a:rPr lang="en-US" sz="1125" b="1">
                <a:solidFill>
                  <a:srgbClr val="7A8699"/>
                </a:solidFill>
                <a:latin typeface="Microsoft YaHei"/>
                <a:ea typeface="Microsoft YaHei"/>
              </a:rPr>
              <a:t xml:space="preserve">StudyAgent </a:t>
            </a:r>
            <a:r>
              <a:rPr lang="zh-CN" sz="1125" b="1">
                <a:solidFill>
                  <a:srgbClr val="7A8699"/>
                </a:solidFill>
                <a:latin typeface="Microsoft YaHei"/>
                <a:ea typeface="Microsoft YaHei"/>
              </a:rPr>
              <a:t>项目设计汇报</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技术评审版</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共</a:t>
            </a:r>
            <a:r>
              <a:rPr lang="en-US" sz="1125" b="1">
                <a:solidFill>
                  <a:srgbClr val="7A8699"/>
                </a:solidFill>
                <a:latin typeface="Microsoft YaHei"/>
                <a:ea typeface="Microsoft YaHei"/>
              </a:rPr>
              <a:t xml:space="preserve"> 124 </a:t>
            </a:r>
            <a:r>
              <a:rPr lang="zh-CN" sz="1125" b="1">
                <a:solidFill>
                  <a:srgbClr val="7A8699"/>
                </a:solidFill>
                <a:latin typeface="Microsoft YaHei"/>
                <a:ea typeface="Microsoft YaHei"/>
              </a:rPr>
              <a:t>页</a:t>
            </a:r>
            <a:endParaRPr/>
          </a:p>
        </p:txBody>
      </p:sp>
    </p:spTree>
  </p:cSld>
</p:sld>
</file>

<file path=ppt/slides/slide38.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462"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4 / 套路层面&lt;/Text&gt;&lt;Text style={{ fontSize: 32, color: '#0E2340', fontWeight: 700, lineHeight: 1.3 }}&gt;套路掌握与知识点掌握必须分别评价&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6 }}&gt;&lt;Box style={{ flexDirection: 'column', gap: 16, flex: 1, justifyContent: 'center' }}&gt;&lt;svg width={1140} height={240} viewBox='0 0 1140 240'&gt;&lt;rect x='0' y='0' width='555' height='240' rx='8' fill='#F5F7FA'/&gt;&lt;rect x='585' y='0' width='555' height='240' rx='8' fill='#EAF3FD'/&gt;&lt;text x='277.5' y='34' font-size='20' fill='#0E2340' text-anchor='middle' font-weight='700'&gt;套路掌握&lt;/text&gt;&lt;text x='862.5' y='34' font-size='20' fill='#1E7BE0' text-anchor='middle' font-weight='700'&gt;知识点掌握&lt;/text&gt;&lt;circle cx='28' cy='68' r='4' fill='#0E2340'/&gt;&lt;text x='44' y='74' font-size='16' fill='#333A45' text-anchor='start' font-weight='400'&gt;能按固定路径求某类函数导数&lt;/text&gt;&lt;circle cx='28' cy='102' r='4' fill='#0E2340'/&gt;&lt;text x='44' y='108' font-size='16' fill='#333A45' text-anchor='start' font-weight='400'&gt;回答：会不会做这一类题&lt;/text&gt;&lt;circle cx='28' cy='136' r='4' fill='#0E2340'/&gt;&lt;text x='44' y='142' font-size='16' fill='#333A45' text-anchor='start' font-weight='400'&gt;证据：套路题的独立完成情况&lt;/text&gt;&lt;circle cx='28' cy='170' r='4' fill='#0E2340'/&gt;&lt;text x='44' y='176' font-size='16' fill='#333A45' text-anchor='start' font-weight='400'&gt;不能换算成全部关联知识点满分&lt;/text&gt;&lt;circle cx='613' cy='68' r='4' fill='#1E7BE0'/&gt;&lt;text x='629' y='74' font-size='16' fill='#333A45' text-anchor='start' font-weight='400'&gt;理解导数定义、几何意义与不同条件下的应用&lt;/text&gt;&lt;circle cx='613' cy='102' r='4' fill='#1E7BE0'/&gt;&lt;text x='629' y='108' font-size='16' fill='#333A45' text-anchor='start' font-weight='400'&gt;回答：是否理解概念与适用条件&lt;/text&gt;&lt;circle cx='613' cy='136' r='4' fill='#1E7BE0'/&gt;&lt;text x='629' y='142' font-size='16' fill='#333A45' text-anchor='start' font-weight='400'&gt;证据：概念辨析、变式、延迟保持&lt;/text&gt;&lt;circle cx='613' cy='170' r='4' fill='#1E7BE0'/&gt;&lt;text x='629' y='176' font-size='16' fill='#333A45' text-anchor='start' font-weight='400'&gt;不能因整题错误判全部知识点未掌握&lt;/text&gt;&lt;/svg&gt;&lt;/Box&gt;&lt;Box style={{ flexDirection: 'row', alignItems: 'center', background: '#F5F7FA', borderLeft: '4px solid #0E2340', borderRadius: 6, padding: '14px 20px' }}&gt;&lt;Text style={{ fontSize: 17, color: '#0E2340', fontWeight: 600, lineHeight: 1.5 }}&gt;“知识点是步骤的学习前置、步骤组成套路”是教学关系；“学生通过一道套路题”是一次可观察表现——前置关系不能替代实际取证&lt;/Text&gt;&lt;/Box&gt;&lt;/Box&gt;&lt;/Box&gt;&lt;Box style={{ height: 40, flexDirection: 'row', justifyContent: 'space-between', alignItems: 'center', borderTop: '1px solid #E3E8EF', marginTop: 8 }}&gt;&lt;Text style={{ fontSize: 13, color: '#7A8699', fontWeight: 400, lineHeight: 1.4 }}&gt;依据：套路层面设计思路.md §2&lt;/Text&gt;&lt;Text style={{ fontSize: 14, color: '#7A8699', fontWeight: 400, lineHeight: 1.4 }}&gt; 38 / 124 &lt;/Text&gt;&lt;/Box&gt;&lt;/Slide&gt;"/>
        <p:cNvGrpSpPr/>
        <p:nvPr/>
      </p:nvGrpSpPr>
      <p:grpSpPr>
        <a:xfrm>
          <a:off x="0" y="0"/>
          <a:ext cx="0" cy="0"/>
          <a:chOff x="0" y="0"/>
          <a:chExt cx="0" cy="0"/>
        </a:xfrm>
      </p:grpSpPr>
      <p:sp>
        <p:nvSpPr>
          <p:cNvPr id="1463" name=""/>
          <p:cNvSpPr/>
          <p:nvPr/>
        </p:nvSpPr>
        <p:spPr>
          <a:xfrm rot="0" flipH="0" flipV="0">
            <a:off x="0" y="0"/>
            <a:ext cx="12192000" cy="6858000"/>
          </a:xfrm>
          <a:prstGeom prst="rect">
            <a:avLst/>
          </a:prstGeom>
          <a:solidFill>
            <a:srgbClr val="FFFFFF"/>
          </a:solidFill>
          <a:ln/>
        </p:spPr>
        <p:txBody>
          <a:bodyPr/>
          <a:p/>
        </p:txBody>
      </p:sp>
      <p:sp>
        <p:nvSpPr>
          <p:cNvPr id="1464" name="" descr="{&quot;isTemplate&quot;:true,&quot;type&quot;:&quot;text&quot;}"/>
          <p:cNvSpPr txBox="1"/>
          <p:nvPr/>
        </p:nvSpPr>
        <p:spPr>
          <a:xfrm rot="0" flipH="0" flipV="0">
            <a:off x="666750" y="381000"/>
            <a:ext cx="4876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04 / </a:t>
            </a:r>
            <a:r>
              <a:rPr lang="zh-CN" sz="1050" spc="75">
                <a:solidFill>
                  <a:srgbClr val="7A8699"/>
                </a:solidFill>
                <a:latin typeface="Microsoft YaHei"/>
                <a:ea typeface="Microsoft YaHei"/>
              </a:rPr>
              <a:t>套路层面</a:t>
            </a:r>
            <a:endParaRPr/>
          </a:p>
        </p:txBody>
      </p:sp>
      <p:sp>
        <p:nvSpPr>
          <p:cNvPr id="1465" name="" descr="{&quot;isTemplate&quot;:true,&quot;type&quot;:&quot;text&quot;}"/>
          <p:cNvSpPr txBox="1"/>
          <p:nvPr/>
        </p:nvSpPr>
        <p:spPr>
          <a:xfrm rot="0" flipH="0" flipV="0">
            <a:off x="666750" y="666750"/>
            <a:ext cx="4876800" cy="476250"/>
          </a:xfrm>
          <a:prstGeom prst="rect"/>
        </p:spPr>
        <p:txBody>
          <a:bodyPr wrap="none" lIns="0" tIns="0" rIns="0" bIns="0"/>
          <a:p>
            <a:pPr>
              <a:lnSpc>
                <a:spcPct val="130000"/>
              </a:lnSpc>
            </a:pPr>
            <a:r>
              <a:rPr lang="zh-CN" sz="2400" b="1">
                <a:solidFill>
                  <a:srgbClr val="0E2340"/>
                </a:solidFill>
                <a:latin typeface="Microsoft YaHei"/>
                <a:ea typeface="Microsoft YaHei"/>
              </a:rPr>
              <a:t>套路掌握与知识点掌握必须分别评价</a:t>
            </a:r>
            <a:endParaRPr/>
          </a:p>
        </p:txBody>
      </p:sp>
      <p:sp>
        <p:nvSpPr>
          <p:cNvPr id="1466"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467"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1468" name=""/>
          <p:cNvPicPr>
            <a:picLocks noChangeAspect="1"/>
          </p:cNvPicPr>
          <p:nvPr/>
        </p:nvPicPr>
        <p:blipFill>
          <a:blip>
            <a:extLst>
              <a:ext uri="{96DAC541-7B7A-43D3-8B79-37D633B846F1}">
                <asvg:svgBlip r:embed="rId1"/>
              </a:ext>
            </a:extLst>
          </a:blip>
          <a:stretch>
            <a:fillRect/>
          </a:stretch>
        </p:blipFill>
        <p:spPr>
          <a:xfrm rot="0" flipH="0" flipV="0">
            <a:off x="666750" y="2219325"/>
            <a:ext cx="10858500" cy="2286000"/>
          </a:xfrm>
          <a:prstGeom prst="rect">
            <a:avLst/>
          </a:prstGeom>
          <a:ln/>
        </p:spPr>
      </p:pic>
      <p:sp>
        <p:nvSpPr>
          <p:cNvPr id="1469" name=""/>
          <p:cNvSpPr/>
          <p:nvPr/>
        </p:nvSpPr>
        <p:spPr>
          <a:xfrm rot="0" flipH="0" flipV="0">
            <a:off x="704850" y="5648325"/>
            <a:ext cx="10858500" cy="561975"/>
          </a:xfrm>
          <a:prstGeom prst="roundRect">
            <a:avLst>
              <a:gd name="adj" fmla="val 10169"/>
            </a:avLst>
          </a:prstGeom>
          <a:solidFill>
            <a:srgbClr val="F5F7FA"/>
          </a:solidFill>
          <a:ln/>
        </p:spPr>
        <p:txBody>
          <a:bodyPr/>
          <a:p/>
        </p:txBody>
      </p:sp>
      <p:sp>
        <p:nvSpPr>
          <p:cNvPr id="1470" name=""/>
          <p:cNvSpPr/>
          <p:nvPr/>
        </p:nvSpPr>
        <p:spPr>
          <a:xfrm rot="0" flipH="0" flipV="0">
            <a:off x="704850" y="5648325"/>
            <a:ext cx="10858500" cy="561975"/>
          </a:xfrm>
          <a:custGeom>
            <a:pathLst>
              <a:path w="1140" h="59">
                <a:moveTo>
                  <a:pt x="6" y="0"/>
                </a:moveTo>
                <a:cubicBezTo>
                  <a:pt x="5" y="0"/>
                  <a:pt x="4" y="1"/>
                  <a:pt x="4" y="2"/>
                </a:cubicBezTo>
                <a:lnTo>
                  <a:pt x="4" y="57"/>
                </a:lnTo>
                <a:cubicBezTo>
                  <a:pt x="4" y="58"/>
                  <a:pt x="5" y="59"/>
                  <a:pt x="6" y="59"/>
                </a:cubicBezTo>
                <a:cubicBezTo>
                  <a:pt x="3" y="59"/>
                  <a:pt x="0" y="56"/>
                  <a:pt x="0" y="53"/>
                </a:cubicBezTo>
                <a:lnTo>
                  <a:pt x="0" y="6"/>
                </a:lnTo>
                <a:cubicBezTo>
                  <a:pt x="0" y="3"/>
                  <a:pt x="3" y="0"/>
                  <a:pt x="6" y="0"/>
                </a:cubicBezTo>
                <a:close/>
              </a:path>
            </a:pathLst>
          </a:custGeom>
          <a:solidFill>
            <a:srgbClr val="0E2340"/>
          </a:solidFill>
          <a:ln/>
        </p:spPr>
        <p:txBody>
          <a:bodyPr/>
          <a:p/>
        </p:txBody>
      </p:sp>
      <p:sp>
        <p:nvSpPr>
          <p:cNvPr id="1471" name="" descr="{&quot;isTemplate&quot;:true,&quot;type&quot;:&quot;text&quot;}"/>
          <p:cNvSpPr txBox="1"/>
          <p:nvPr/>
        </p:nvSpPr>
        <p:spPr>
          <a:xfrm rot="0" flipH="0" flipV="0">
            <a:off x="895350" y="5781675"/>
            <a:ext cx="9229725" cy="295275"/>
          </a:xfrm>
          <a:prstGeom prst="rect"/>
        </p:spPr>
        <p:txBody>
          <a:bodyPr wrap="none" lIns="0" tIns="0" rIns="0" bIns="0"/>
          <a:p>
            <a:pPr>
              <a:lnSpc>
                <a:spcPct val="150000"/>
              </a:lnSpc>
            </a:pPr>
            <a:r>
              <a:rPr lang="zh-CN" sz="1275" b="1">
                <a:solidFill>
                  <a:srgbClr val="0E2340"/>
                </a:solidFill>
                <a:latin typeface="Microsoft YaHei"/>
                <a:ea typeface="Microsoft YaHei"/>
              </a:rPr>
              <a:t>“知识点是步骤的学习前置、步骤组成套路”是教学关系；“学生通过一道套路题”是一次可观察表现——前置关系不能替代实际取证</a:t>
            </a:r>
            <a:endParaRPr/>
          </a:p>
        </p:txBody>
      </p:sp>
      <p:sp>
        <p:nvSpPr>
          <p:cNvPr id="1472"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473" name="" descr="{&quot;isTemplate&quot;:true,&quot;type&quot;:&quot;text&quot;}"/>
          <p:cNvSpPr txBox="1"/>
          <p:nvPr/>
        </p:nvSpPr>
        <p:spPr>
          <a:xfrm rot="0" flipH="0" flipV="0">
            <a:off x="666750" y="6381750"/>
            <a:ext cx="1743075" cy="209550"/>
          </a:xfrm>
          <a:prstGeom prst="rect"/>
        </p:spPr>
        <p:txBody>
          <a:bodyPr wrap="none" lIns="0" tIns="0" rIns="0" bIns="0"/>
          <a:p>
            <a:pPr>
              <a:lnSpc>
                <a:spcPct val="140000"/>
              </a:lnSpc>
            </a:pPr>
            <a:r>
              <a:rPr lang="zh-CN" sz="975">
                <a:solidFill>
                  <a:srgbClr val="7A8699"/>
                </a:solidFill>
                <a:latin typeface="Microsoft YaHei"/>
                <a:ea typeface="Microsoft YaHei"/>
              </a:rPr>
              <a:t>依据：套路层面设计思路</a:t>
            </a:r>
            <a:r>
              <a:rPr lang="en-US" sz="975">
                <a:solidFill>
                  <a:srgbClr val="7A8699"/>
                </a:solidFill>
                <a:latin typeface="Microsoft YaHei"/>
                <a:ea typeface="Microsoft YaHei"/>
              </a:rPr>
              <a:t>.md §2</a:t>
            </a:r>
            <a:endParaRPr/>
          </a:p>
        </p:txBody>
      </p:sp>
      <p:sp>
        <p:nvSpPr>
          <p:cNvPr id="1474"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38 / 124 </a:t>
            </a:r>
            <a:endParaRPr/>
          </a:p>
        </p:txBody>
      </p:sp>
    </p:spTree>
  </p:cSld>
</p:sld>
</file>

<file path=ppt/slides/slide39.xml><?xml version="1.0" encoding="utf-8"?>
<p:sld xmlns:p="http://schemas.openxmlformats.org/presentationml/2006/main" xmlns:a="http://schemas.openxmlformats.org/drawingml/2006/main">
  <p:cSld>
    <p:spTree>
      <p:nvGrpSpPr>
        <p:cNvPr id="1475"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4 / 套路层面&lt;/Text&gt;&lt;Text style={{ fontSize: 32, color: '#0E2340', fontWeight: 700, lineHeight: 1.3 }}&gt;六步循环：组织一个套路内部的学习与巩固&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gap: 18, flex: 1 }}&gt;&lt;Box style={{ flexDirection: 'row', gap: 20, flex: 1 }}&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1 方法识别&lt;/Text&gt;&lt;Text style={{ fontSize: 16, color: '#333A45', fontWeight: 400, lineHeight: 1.6 }}&gt;学生做什么：从题设、目标和条件判断应使用的套路。需要观察什么：能否解释适用依据，是否混淆相近套路。&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2 母题学习&lt;/Text&gt;&lt;Text style={{ fontSize: 16, color: '#333A45', fontWeight: 400, lineHeight: 1.6 }}&gt;学生做什么：学习典型解法及其关键步骤。需要观察什么：是否理解各步任务、前置知识和组合顺序。&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3 分步仿练&lt;/Text&gt;&lt;Text style={{ fontSize: 16, color: '#333A45', fontWeight: 400, lineHeight: 1.6 }}&gt;学生做什么：沿参考步骤尝试完成，发现局部卡点。需要观察什么：哪一步需要帮助，错误对应什么作答证据。&lt;/Text&gt;&lt;/Box&gt;&lt;/Box&gt;&lt;/Box&gt;&lt;Box style={{ flexDirection: 'row', gap: 20, flex: 1 }}&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4 无提示重做&lt;/Text&gt;&lt;Text style={{ fontSize: 16, color: '#333A45', fontWeight: 400, lineHeight: 1.6 }}&gt;学生做什么：不查看解析、不接受提示条件下完成。需要观察什么：能否独立完成，并与记忆熟悉区分。&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5 同方法变式迁移&lt;/Text&gt;&lt;Text style={{ fontSize: 16, color: '#333A45', fontWeight: 400, lineHeight: 1.6 }}&gt;学生做什么：在条件或设问变化的新题中使用同类方法。需要观察什么：是否真正识别结构，能否应对合理变式。&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6 延迟复查&lt;/Text&gt;&lt;Text style={{ fontSize: 16, color: '#333A45', fontWeight: 400, lineHeight: 1.6 }}&gt;学生做什么：间隔后再次独立完成相应训练。需要观察什么：能力是否保持，是否重新出现原有错误。&lt;/Text&gt;&lt;/Box&gt;&lt;/Box&gt;&lt;/Box&gt;&lt;/Box&gt;&lt;/Box&gt;&lt;Box style={{ height: 40, flexDirection: 'row', justifyContent: 'space-between', alignItems: 'center', borderTop: '1px solid #E3E8EF', marginTop: 8 }}&gt;&lt;Text style={{ fontSize: 13, color: '#7A8699', fontWeight: 400, lineHeight: 1.4 }}&gt;依据：套路层面设计思路.md §3&lt;/Text&gt;&lt;Text style={{ fontSize: 14, color: '#7A8699', fontWeight: 400, lineHeight: 1.4 }}&gt; 39 / 124 &lt;/Text&gt;&lt;/Box&gt;&lt;/Slide&gt;"/>
        <p:cNvGrpSpPr/>
        <p:nvPr/>
      </p:nvGrpSpPr>
      <p:grpSpPr>
        <a:xfrm>
          <a:off x="0" y="0"/>
          <a:ext cx="0" cy="0"/>
          <a:chOff x="0" y="0"/>
          <a:chExt cx="0" cy="0"/>
        </a:xfrm>
      </p:grpSpPr>
      <p:sp>
        <p:nvSpPr>
          <p:cNvPr id="1476" name=""/>
          <p:cNvSpPr/>
          <p:nvPr/>
        </p:nvSpPr>
        <p:spPr>
          <a:xfrm rot="0" flipH="0" flipV="0">
            <a:off x="0" y="0"/>
            <a:ext cx="12192000" cy="6858000"/>
          </a:xfrm>
          <a:prstGeom prst="rect">
            <a:avLst/>
          </a:prstGeom>
          <a:solidFill>
            <a:srgbClr val="FFFFFF"/>
          </a:solidFill>
          <a:ln/>
        </p:spPr>
        <p:txBody>
          <a:bodyPr/>
          <a:p/>
        </p:txBody>
      </p:sp>
      <p:sp>
        <p:nvSpPr>
          <p:cNvPr id="1477" name="" descr="{&quot;isTemplate&quot;:true,&quot;type&quot;:&quot;text&quot;}"/>
          <p:cNvSpPr txBox="1"/>
          <p:nvPr/>
        </p:nvSpPr>
        <p:spPr>
          <a:xfrm rot="0" flipH="0" flipV="0">
            <a:off x="666750" y="381000"/>
            <a:ext cx="57912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04 / </a:t>
            </a:r>
            <a:r>
              <a:rPr lang="zh-CN" sz="1050" spc="75">
                <a:solidFill>
                  <a:srgbClr val="7A8699"/>
                </a:solidFill>
                <a:latin typeface="Microsoft YaHei"/>
                <a:ea typeface="Microsoft YaHei"/>
              </a:rPr>
              <a:t>套路层面</a:t>
            </a:r>
            <a:endParaRPr/>
          </a:p>
        </p:txBody>
      </p:sp>
      <p:sp>
        <p:nvSpPr>
          <p:cNvPr id="1478" name="" descr="{&quot;isTemplate&quot;:true,&quot;type&quot;:&quot;text&quot;}"/>
          <p:cNvSpPr txBox="1"/>
          <p:nvPr/>
        </p:nvSpPr>
        <p:spPr>
          <a:xfrm rot="0" flipH="0" flipV="0">
            <a:off x="666750" y="666750"/>
            <a:ext cx="5791200" cy="476250"/>
          </a:xfrm>
          <a:prstGeom prst="rect"/>
        </p:spPr>
        <p:txBody>
          <a:bodyPr wrap="none" lIns="0" tIns="0" rIns="0" bIns="0"/>
          <a:p>
            <a:pPr>
              <a:lnSpc>
                <a:spcPct val="130000"/>
              </a:lnSpc>
            </a:pPr>
            <a:r>
              <a:rPr lang="zh-CN" sz="2400" b="1">
                <a:solidFill>
                  <a:srgbClr val="0E2340"/>
                </a:solidFill>
                <a:latin typeface="Microsoft YaHei"/>
                <a:ea typeface="Microsoft YaHei"/>
              </a:rPr>
              <a:t>六步循环：组织一个套路内部的学习与巩固</a:t>
            </a:r>
            <a:endParaRPr/>
          </a:p>
        </p:txBody>
      </p:sp>
      <p:sp>
        <p:nvSpPr>
          <p:cNvPr id="1479"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480"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1481" name=""/>
          <p:cNvSpPr/>
          <p:nvPr/>
        </p:nvSpPr>
        <p:spPr>
          <a:xfrm rot="0" flipH="0" flipV="0">
            <a:off x="666750" y="1219200"/>
            <a:ext cx="3486150" cy="2409825"/>
          </a:xfrm>
          <a:prstGeom prst="roundRect">
            <a:avLst>
              <a:gd name="adj" fmla="val 3162"/>
            </a:avLst>
          </a:prstGeom>
          <a:solidFill>
            <a:srgbClr val="FFFFFF"/>
          </a:solidFill>
          <a:ln w="12700">
            <a:solidFill>
              <a:srgbClr val="E3E8EF"/>
            </a:solidFill>
            <a:prstDash val="solid"/>
          </a:ln>
        </p:spPr>
        <p:txBody>
          <a:bodyPr/>
          <a:p/>
        </p:txBody>
      </p:sp>
      <p:sp>
        <p:nvSpPr>
          <p:cNvPr id="1482" name=""/>
          <p:cNvSpPr/>
          <p:nvPr/>
        </p:nvSpPr>
        <p:spPr>
          <a:xfrm rot="0" flipH="0" flipV="0">
            <a:off x="666750" y="12192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1483" name="" descr="{&quot;isTemplate&quot;:true,&quot;type&quot;:&quot;text&quot;}"/>
          <p:cNvSpPr txBox="1"/>
          <p:nvPr/>
        </p:nvSpPr>
        <p:spPr>
          <a:xfrm rot="0" flipH="0" flipV="0">
            <a:off x="857250" y="1447800"/>
            <a:ext cx="31051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1 </a:t>
            </a:r>
            <a:r>
              <a:rPr lang="zh-CN" sz="1500" b="1">
                <a:solidFill>
                  <a:srgbClr val="0E2340"/>
                </a:solidFill>
                <a:latin typeface="Microsoft YaHei"/>
                <a:ea typeface="Microsoft YaHei"/>
              </a:rPr>
              <a:t>方法识别</a:t>
            </a:r>
            <a:endParaRPr/>
          </a:p>
        </p:txBody>
      </p:sp>
      <p:sp>
        <p:nvSpPr>
          <p:cNvPr id="1484" name="" descr="{&quot;isTemplate&quot;:true,&quot;type&quot;:&quot;text&quot;}"/>
          <p:cNvSpPr txBox="1"/>
          <p:nvPr/>
        </p:nvSpPr>
        <p:spPr>
          <a:xfrm rot="0" flipH="0" flipV="0">
            <a:off x="857250" y="1866900"/>
            <a:ext cx="3105150" cy="88582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学生做什么：从题设、目标和条件判断应使用的套路。需要观察什么：能否解释适用依据，是否混淆相近套路。</a:t>
            </a:r>
            <a:endParaRPr/>
          </a:p>
        </p:txBody>
      </p:sp>
      <p:sp>
        <p:nvSpPr>
          <p:cNvPr id="1485" name=""/>
          <p:cNvSpPr/>
          <p:nvPr/>
        </p:nvSpPr>
        <p:spPr>
          <a:xfrm rot="0" flipH="0" flipV="0">
            <a:off x="4343400" y="1219200"/>
            <a:ext cx="3486150" cy="2409825"/>
          </a:xfrm>
          <a:prstGeom prst="roundRect">
            <a:avLst>
              <a:gd name="adj" fmla="val 3162"/>
            </a:avLst>
          </a:prstGeom>
          <a:solidFill>
            <a:srgbClr val="FFFFFF"/>
          </a:solidFill>
          <a:ln w="12700">
            <a:solidFill>
              <a:srgbClr val="E3E8EF"/>
            </a:solidFill>
            <a:prstDash val="solid"/>
          </a:ln>
        </p:spPr>
        <p:txBody>
          <a:bodyPr/>
          <a:p/>
        </p:txBody>
      </p:sp>
      <p:sp>
        <p:nvSpPr>
          <p:cNvPr id="1486" name=""/>
          <p:cNvSpPr/>
          <p:nvPr/>
        </p:nvSpPr>
        <p:spPr>
          <a:xfrm rot="0" flipH="0" flipV="0">
            <a:off x="4343400" y="12192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1487" name="" descr="{&quot;isTemplate&quot;:true,&quot;type&quot;:&quot;text&quot;}"/>
          <p:cNvSpPr txBox="1"/>
          <p:nvPr/>
        </p:nvSpPr>
        <p:spPr>
          <a:xfrm rot="0" flipH="0" flipV="0">
            <a:off x="4533900" y="1447800"/>
            <a:ext cx="31051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2 </a:t>
            </a:r>
            <a:r>
              <a:rPr lang="zh-CN" sz="1500" b="1">
                <a:solidFill>
                  <a:srgbClr val="0E2340"/>
                </a:solidFill>
                <a:latin typeface="Microsoft YaHei"/>
                <a:ea typeface="Microsoft YaHei"/>
              </a:rPr>
              <a:t>母题学习</a:t>
            </a:r>
            <a:endParaRPr/>
          </a:p>
        </p:txBody>
      </p:sp>
      <p:sp>
        <p:nvSpPr>
          <p:cNvPr id="1488" name="" descr="{&quot;isTemplate&quot;:true,&quot;type&quot;:&quot;text&quot;}"/>
          <p:cNvSpPr txBox="1"/>
          <p:nvPr/>
        </p:nvSpPr>
        <p:spPr>
          <a:xfrm rot="0" flipH="0" flipV="0">
            <a:off x="4533900" y="1866900"/>
            <a:ext cx="3105150" cy="88582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学生做什么：学习典型解法及其关键步骤。需要观察什么：是否理解各步任务、前置知识和组合顺序。</a:t>
            </a:r>
            <a:endParaRPr/>
          </a:p>
        </p:txBody>
      </p:sp>
      <p:sp>
        <p:nvSpPr>
          <p:cNvPr id="1489" name=""/>
          <p:cNvSpPr/>
          <p:nvPr/>
        </p:nvSpPr>
        <p:spPr>
          <a:xfrm rot="0" flipH="0" flipV="0">
            <a:off x="8020050" y="1219200"/>
            <a:ext cx="3486150" cy="2409825"/>
          </a:xfrm>
          <a:prstGeom prst="roundRect">
            <a:avLst>
              <a:gd name="adj" fmla="val 3162"/>
            </a:avLst>
          </a:prstGeom>
          <a:solidFill>
            <a:srgbClr val="FFFFFF"/>
          </a:solidFill>
          <a:ln w="12700">
            <a:solidFill>
              <a:srgbClr val="E3E8EF"/>
            </a:solidFill>
            <a:prstDash val="solid"/>
          </a:ln>
        </p:spPr>
        <p:txBody>
          <a:bodyPr/>
          <a:p/>
        </p:txBody>
      </p:sp>
      <p:sp>
        <p:nvSpPr>
          <p:cNvPr id="1490" name=""/>
          <p:cNvSpPr/>
          <p:nvPr/>
        </p:nvSpPr>
        <p:spPr>
          <a:xfrm rot="0" flipH="0" flipV="0">
            <a:off x="8020050" y="12192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1491" name="" descr="{&quot;isTemplate&quot;:true,&quot;type&quot;:&quot;text&quot;}"/>
          <p:cNvSpPr txBox="1"/>
          <p:nvPr/>
        </p:nvSpPr>
        <p:spPr>
          <a:xfrm rot="0" flipH="0" flipV="0">
            <a:off x="8210550" y="1447800"/>
            <a:ext cx="31051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3 </a:t>
            </a:r>
            <a:r>
              <a:rPr lang="zh-CN" sz="1500" b="1">
                <a:solidFill>
                  <a:srgbClr val="0E2340"/>
                </a:solidFill>
                <a:latin typeface="Microsoft YaHei"/>
                <a:ea typeface="Microsoft YaHei"/>
              </a:rPr>
              <a:t>分步仿练</a:t>
            </a:r>
            <a:endParaRPr/>
          </a:p>
        </p:txBody>
      </p:sp>
      <p:sp>
        <p:nvSpPr>
          <p:cNvPr id="1492" name="" descr="{&quot;isTemplate&quot;:true,&quot;type&quot;:&quot;text&quot;}"/>
          <p:cNvSpPr txBox="1"/>
          <p:nvPr/>
        </p:nvSpPr>
        <p:spPr>
          <a:xfrm rot="0" flipH="0" flipV="0">
            <a:off x="8210550" y="1866900"/>
            <a:ext cx="3105150" cy="88582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学生做什么：沿参考步骤尝试完成，发现局部卡点。需要观察什么：哪一步需要帮助，错误对应什么作答证据。</a:t>
            </a:r>
            <a:endParaRPr/>
          </a:p>
        </p:txBody>
      </p:sp>
      <p:sp>
        <p:nvSpPr>
          <p:cNvPr id="1493" name=""/>
          <p:cNvSpPr/>
          <p:nvPr/>
        </p:nvSpPr>
        <p:spPr>
          <a:xfrm rot="0" flipH="0" flipV="0">
            <a:off x="666750" y="3800475"/>
            <a:ext cx="3486150" cy="2409825"/>
          </a:xfrm>
          <a:prstGeom prst="roundRect">
            <a:avLst>
              <a:gd name="adj" fmla="val 3162"/>
            </a:avLst>
          </a:prstGeom>
          <a:solidFill>
            <a:srgbClr val="FFFFFF"/>
          </a:solidFill>
          <a:ln w="12700">
            <a:solidFill>
              <a:srgbClr val="E3E8EF"/>
            </a:solidFill>
            <a:prstDash val="solid"/>
          </a:ln>
        </p:spPr>
        <p:txBody>
          <a:bodyPr/>
          <a:p/>
        </p:txBody>
      </p:sp>
      <p:sp>
        <p:nvSpPr>
          <p:cNvPr id="1494" name=""/>
          <p:cNvSpPr/>
          <p:nvPr/>
        </p:nvSpPr>
        <p:spPr>
          <a:xfrm rot="0" flipH="0" flipV="0">
            <a:off x="666750" y="3800475"/>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1495" name="" descr="{&quot;isTemplate&quot;:true,&quot;type&quot;:&quot;text&quot;}"/>
          <p:cNvSpPr txBox="1"/>
          <p:nvPr/>
        </p:nvSpPr>
        <p:spPr>
          <a:xfrm rot="0" flipH="0" flipV="0">
            <a:off x="857250" y="4029075"/>
            <a:ext cx="31051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4 </a:t>
            </a:r>
            <a:r>
              <a:rPr lang="zh-CN" sz="1500" b="1">
                <a:solidFill>
                  <a:srgbClr val="0E2340"/>
                </a:solidFill>
                <a:latin typeface="Microsoft YaHei"/>
                <a:ea typeface="Microsoft YaHei"/>
              </a:rPr>
              <a:t>无提示重做</a:t>
            </a:r>
            <a:endParaRPr/>
          </a:p>
        </p:txBody>
      </p:sp>
      <p:sp>
        <p:nvSpPr>
          <p:cNvPr id="1496" name="" descr="{&quot;isTemplate&quot;:true,&quot;type&quot;:&quot;text&quot;}"/>
          <p:cNvSpPr txBox="1"/>
          <p:nvPr/>
        </p:nvSpPr>
        <p:spPr>
          <a:xfrm rot="0" flipH="0" flipV="0">
            <a:off x="857250" y="4448175"/>
            <a:ext cx="3105150" cy="88582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学生做什么：不查看解析、不接受提示条件下完成。需要观察什么：能否独立完成，并与记忆熟悉区分。</a:t>
            </a:r>
            <a:endParaRPr/>
          </a:p>
        </p:txBody>
      </p:sp>
      <p:sp>
        <p:nvSpPr>
          <p:cNvPr id="1497" name=""/>
          <p:cNvSpPr/>
          <p:nvPr/>
        </p:nvSpPr>
        <p:spPr>
          <a:xfrm rot="0" flipH="0" flipV="0">
            <a:off x="4343400" y="3800475"/>
            <a:ext cx="3486150" cy="2409825"/>
          </a:xfrm>
          <a:prstGeom prst="roundRect">
            <a:avLst>
              <a:gd name="adj" fmla="val 3162"/>
            </a:avLst>
          </a:prstGeom>
          <a:solidFill>
            <a:srgbClr val="FFFFFF"/>
          </a:solidFill>
          <a:ln w="12700">
            <a:solidFill>
              <a:srgbClr val="E3E8EF"/>
            </a:solidFill>
            <a:prstDash val="solid"/>
          </a:ln>
        </p:spPr>
        <p:txBody>
          <a:bodyPr/>
          <a:p/>
        </p:txBody>
      </p:sp>
      <p:sp>
        <p:nvSpPr>
          <p:cNvPr id="1498" name=""/>
          <p:cNvSpPr/>
          <p:nvPr/>
        </p:nvSpPr>
        <p:spPr>
          <a:xfrm rot="0" flipH="0" flipV="0">
            <a:off x="4343400" y="3800475"/>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1499" name="" descr="{&quot;isTemplate&quot;:true,&quot;type&quot;:&quot;text&quot;}"/>
          <p:cNvSpPr txBox="1"/>
          <p:nvPr/>
        </p:nvSpPr>
        <p:spPr>
          <a:xfrm rot="0" flipH="0" flipV="0">
            <a:off x="4533900" y="4029075"/>
            <a:ext cx="31051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5 </a:t>
            </a:r>
            <a:r>
              <a:rPr lang="zh-CN" sz="1500" b="1">
                <a:solidFill>
                  <a:srgbClr val="0E2340"/>
                </a:solidFill>
                <a:latin typeface="Microsoft YaHei"/>
                <a:ea typeface="Microsoft YaHei"/>
              </a:rPr>
              <a:t>同方法变式迁移</a:t>
            </a:r>
            <a:endParaRPr/>
          </a:p>
        </p:txBody>
      </p:sp>
      <p:sp>
        <p:nvSpPr>
          <p:cNvPr id="1500" name="" descr="{&quot;isTemplate&quot;:true,&quot;type&quot;:&quot;text&quot;}"/>
          <p:cNvSpPr txBox="1"/>
          <p:nvPr/>
        </p:nvSpPr>
        <p:spPr>
          <a:xfrm rot="0" flipH="0" flipV="0">
            <a:off x="4533900" y="4448175"/>
            <a:ext cx="3105150" cy="88582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学生做什么：在条件或设问变化的新题中使用同类方法。需要观察什么：是否真正识别结构，能否应对合理变式。</a:t>
            </a:r>
            <a:endParaRPr/>
          </a:p>
        </p:txBody>
      </p:sp>
      <p:sp>
        <p:nvSpPr>
          <p:cNvPr id="1501" name=""/>
          <p:cNvSpPr/>
          <p:nvPr/>
        </p:nvSpPr>
        <p:spPr>
          <a:xfrm rot="0" flipH="0" flipV="0">
            <a:off x="8020050" y="3800475"/>
            <a:ext cx="3486150" cy="2409825"/>
          </a:xfrm>
          <a:prstGeom prst="roundRect">
            <a:avLst>
              <a:gd name="adj" fmla="val 3162"/>
            </a:avLst>
          </a:prstGeom>
          <a:solidFill>
            <a:srgbClr val="FFFFFF"/>
          </a:solidFill>
          <a:ln w="12700">
            <a:solidFill>
              <a:srgbClr val="E3E8EF"/>
            </a:solidFill>
            <a:prstDash val="solid"/>
          </a:ln>
        </p:spPr>
        <p:txBody>
          <a:bodyPr/>
          <a:p/>
        </p:txBody>
      </p:sp>
      <p:sp>
        <p:nvSpPr>
          <p:cNvPr id="1502" name=""/>
          <p:cNvSpPr/>
          <p:nvPr/>
        </p:nvSpPr>
        <p:spPr>
          <a:xfrm rot="0" flipH="0" flipV="0">
            <a:off x="8020050" y="3800475"/>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1503" name="" descr="{&quot;isTemplate&quot;:true,&quot;type&quot;:&quot;text&quot;}"/>
          <p:cNvSpPr txBox="1"/>
          <p:nvPr/>
        </p:nvSpPr>
        <p:spPr>
          <a:xfrm rot="0" flipH="0" flipV="0">
            <a:off x="8210550" y="4029075"/>
            <a:ext cx="31051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6 </a:t>
            </a:r>
            <a:r>
              <a:rPr lang="zh-CN" sz="1500" b="1">
                <a:solidFill>
                  <a:srgbClr val="0E2340"/>
                </a:solidFill>
                <a:latin typeface="Microsoft YaHei"/>
                <a:ea typeface="Microsoft YaHei"/>
              </a:rPr>
              <a:t>延迟复查</a:t>
            </a:r>
            <a:endParaRPr/>
          </a:p>
        </p:txBody>
      </p:sp>
      <p:sp>
        <p:nvSpPr>
          <p:cNvPr id="1504" name="" descr="{&quot;isTemplate&quot;:true,&quot;type&quot;:&quot;text&quot;}"/>
          <p:cNvSpPr txBox="1"/>
          <p:nvPr/>
        </p:nvSpPr>
        <p:spPr>
          <a:xfrm rot="0" flipH="0" flipV="0">
            <a:off x="8210550" y="4448175"/>
            <a:ext cx="3105150" cy="88582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学生做什么：间隔后再次独立完成相应训练。需要观察什么：能力是否保持，是否重新出现原有错误。</a:t>
            </a:r>
            <a:endParaRPr/>
          </a:p>
        </p:txBody>
      </p:sp>
      <p:sp>
        <p:nvSpPr>
          <p:cNvPr id="1505"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506" name="" descr="{&quot;isTemplate&quot;:true,&quot;type&quot;:&quot;text&quot;}"/>
          <p:cNvSpPr txBox="1"/>
          <p:nvPr/>
        </p:nvSpPr>
        <p:spPr>
          <a:xfrm rot="0" flipH="0" flipV="0">
            <a:off x="666750" y="6381750"/>
            <a:ext cx="1743075" cy="209550"/>
          </a:xfrm>
          <a:prstGeom prst="rect"/>
        </p:spPr>
        <p:txBody>
          <a:bodyPr wrap="none" lIns="0" tIns="0" rIns="0" bIns="0"/>
          <a:p>
            <a:pPr>
              <a:lnSpc>
                <a:spcPct val="140000"/>
              </a:lnSpc>
            </a:pPr>
            <a:r>
              <a:rPr lang="zh-CN" sz="975">
                <a:solidFill>
                  <a:srgbClr val="7A8699"/>
                </a:solidFill>
                <a:latin typeface="Microsoft YaHei"/>
                <a:ea typeface="Microsoft YaHei"/>
              </a:rPr>
              <a:t>依据：套路层面设计思路</a:t>
            </a:r>
            <a:r>
              <a:rPr lang="en-US" sz="975">
                <a:solidFill>
                  <a:srgbClr val="7A8699"/>
                </a:solidFill>
                <a:latin typeface="Microsoft YaHei"/>
                <a:ea typeface="Microsoft YaHei"/>
              </a:rPr>
              <a:t>.md §3</a:t>
            </a:r>
            <a:endParaRPr/>
          </a:p>
        </p:txBody>
      </p:sp>
      <p:sp>
        <p:nvSpPr>
          <p:cNvPr id="1507"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39 / 124 </a:t>
            </a:r>
            <a:endParaRPr/>
          </a:p>
        </p:txBody>
      </p:sp>
    </p:spTree>
  </p:cSld>
</p:sld>
</file>

<file path=ppt/slides/slide40.xml><?xml version="1.0" encoding="utf-8"?>
<p:sld xmlns:p="http://schemas.openxmlformats.org/presentationml/2006/main" xmlns:a="http://schemas.openxmlformats.org/drawingml/2006/main">
  <p:cSld>
    <p:spTree>
      <p:nvGrpSpPr>
        <p:cNvPr id="1533"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4 / 套路层面&lt;/Text&gt;&lt;Text style={{ fontSize: 32, color: '#0E2340', fontWeight: 700, lineHeight: 1.3 }}&gt;概念辨析：“六步”不是“解题步骤”&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8 }}&gt;&lt;Box style={{ flexDirection: 'row', gap: 20, flex: 1 }}&gt;&lt;Box style={{ width: 560, background: '#FFFFFF', border: '1px solid #E3E8EF', borderRadius: 8, overflow: 'hidden', flexDirection: 'column' }}&gt;&lt;Box style={{ height: 4, background: 'linear-gradient(90deg, #1E7BE0 0%, #00A9B5 100%)' }} /&gt;&lt;Box style={{ flexDirection: 'column', gap: 10, padding: 20, flex: 1 }}&gt;&lt;Text style={{ fontSize: 22, color: '#0E2340', fontWeight: 600, lineHeight: 1.4 }}&gt;六步循环 = 训练阶段&lt;/Text&gt;&lt;Text style={{ fontSize: 18, color: '#333A45', fontWeight: 400, lineHeight: 1.6 }}&gt;指的是一个套路内部的六个训练阶段：方法识别、母题学习、分步仿练、无提示重做、同方法变式迁移、延迟复查。&lt;/Text&gt;&lt;/Box&gt;&lt;/Box&gt;&lt;Box style={{ width: 560, background: '#FFFFFF', border: '1px solid #E3E8EF', borderRadius: 8, overflow: 'hidden', flexDirection: 'column' }}&gt;&lt;Box style={{ height: 4, background: 'linear-gradient(90deg, #1E7BE0 0%, #00A9B5 100%)' }} /&gt;&lt;Box style={{ flexDirection: 'column', gap: 10, padding: 20, flex: 1 }}&gt;&lt;Text style={{ fontSize: 22, color: '#0E2340', fontWeight: 600, lineHeight: 1.4 }}&gt;解题步骤 = 题内结构&lt;/Text&gt;&lt;Text style={{ fontSize: 18, color: '#333A45', fontWeight: 400, lineHeight: 1.6 }}&gt;指的是一道题中被拆出来的结构化解题操作单元，定义在 steps.yaml，是批改与讲解的对象。&lt;/Text&gt;&lt;/Box&gt;&lt;/Box&gt;&lt;/Box&gt;&lt;Box style={{ flexDirection: 'row', alignItems: 'center', background: '#F5F7FA', borderLeft: '4px solid #00A9B5', borderRadius: 6, padding: '14px 20px' }}&gt;&lt;Text style={{ fontSize: 17, color: '#0E2340', fontWeight: 600, lineHeight: 1.5 }}&gt;阶段之间可回退：变式暴露某步不会 → 返回该步训练；前置知识缺口 → 转入知识补充再回套路练习。无需因一个局部问题机械重复全部学习内容&lt;/Text&gt;&lt;/Box&gt;&lt;Box style={{ flexDirection: 'row', alignItems: 'center', background: '#F5F7FA', borderLeft: '4px solid #98A2B3', borderRadius: 6, padding: '14px 20px' }}&gt;&lt;Text style={{ fontSize: 16, color: '#0E2340', fontWeight: 600, lineHeight: 1.5 }}&gt;边界：六阶段训练流程 / 一次循环是否通过 / 几次复查后掌握状态，属不同层面规则；既有状态机与复查间隔是实现口径，不能把状态名称当成经过验证的学习测量结论&lt;/Text&gt;&lt;/Box&gt;&lt;/Box&gt;&lt;/Box&gt;&lt;Box style={{ height: 40, flexDirection: 'row', justifyContent: 'space-between', alignItems: 'center', borderTop: '1px solid #E3E8EF', marginTop: 8 }}&gt;&lt;Text style={{ fontSize: 13, color: '#7A8699', fontWeight: 400, lineHeight: 1.4 }}&gt;依据：套路层面设计思路.md §3&lt;/Text&gt;&lt;Text style={{ fontSize: 14, color: '#7A8699', fontWeight: 400, lineHeight: 1.4 }}&gt; 40 / 124 &lt;/Text&gt;&lt;/Box&gt;&lt;/Slide&gt;"/>
        <p:cNvGrpSpPr/>
        <p:nvPr/>
      </p:nvGrpSpPr>
      <p:grpSpPr>
        <a:xfrm>
          <a:off x="0" y="0"/>
          <a:ext cx="0" cy="0"/>
          <a:chOff x="0" y="0"/>
          <a:chExt cx="0" cy="0"/>
        </a:xfrm>
      </p:grpSpPr>
      <p:sp>
        <p:nvSpPr>
          <p:cNvPr id="1534" name=""/>
          <p:cNvSpPr/>
          <p:nvPr/>
        </p:nvSpPr>
        <p:spPr>
          <a:xfrm rot="0" flipH="0" flipV="0">
            <a:off x="0" y="0"/>
            <a:ext cx="12192000" cy="6858000"/>
          </a:xfrm>
          <a:prstGeom prst="rect">
            <a:avLst/>
          </a:prstGeom>
          <a:solidFill>
            <a:srgbClr val="FFFFFF"/>
          </a:solidFill>
          <a:ln/>
        </p:spPr>
        <p:txBody>
          <a:bodyPr/>
          <a:p/>
        </p:txBody>
      </p:sp>
      <p:sp>
        <p:nvSpPr>
          <p:cNvPr id="1535" name="" descr="{&quot;isTemplate&quot;:true,&quot;type&quot;:&quot;text&quot;}"/>
          <p:cNvSpPr txBox="1"/>
          <p:nvPr/>
        </p:nvSpPr>
        <p:spPr>
          <a:xfrm rot="0" flipH="0" flipV="0">
            <a:off x="666750" y="381000"/>
            <a:ext cx="45720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04 / </a:t>
            </a:r>
            <a:r>
              <a:rPr lang="zh-CN" sz="1050" spc="75">
                <a:solidFill>
                  <a:srgbClr val="7A8699"/>
                </a:solidFill>
                <a:latin typeface="Microsoft YaHei"/>
                <a:ea typeface="Microsoft YaHei"/>
              </a:rPr>
              <a:t>套路层面</a:t>
            </a:r>
            <a:endParaRPr/>
          </a:p>
        </p:txBody>
      </p:sp>
      <p:sp>
        <p:nvSpPr>
          <p:cNvPr id="1536" name="" descr="{&quot;isTemplate&quot;:true,&quot;type&quot;:&quot;text&quot;}"/>
          <p:cNvSpPr txBox="1"/>
          <p:nvPr/>
        </p:nvSpPr>
        <p:spPr>
          <a:xfrm rot="0" flipH="0" flipV="0">
            <a:off x="666750" y="666750"/>
            <a:ext cx="4572000" cy="476250"/>
          </a:xfrm>
          <a:prstGeom prst="rect"/>
        </p:spPr>
        <p:txBody>
          <a:bodyPr wrap="none" lIns="0" tIns="0" rIns="0" bIns="0"/>
          <a:p>
            <a:pPr>
              <a:lnSpc>
                <a:spcPct val="130000"/>
              </a:lnSpc>
            </a:pPr>
            <a:r>
              <a:rPr lang="zh-CN" sz="2400" b="1">
                <a:solidFill>
                  <a:srgbClr val="0E2340"/>
                </a:solidFill>
                <a:latin typeface="Microsoft YaHei"/>
                <a:ea typeface="Microsoft YaHei"/>
              </a:rPr>
              <a:t>概念辨析：“六步”不是“解题步骤”</a:t>
            </a:r>
            <a:endParaRPr/>
          </a:p>
        </p:txBody>
      </p:sp>
      <p:sp>
        <p:nvSpPr>
          <p:cNvPr id="1537"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538"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1539" name=""/>
          <p:cNvSpPr/>
          <p:nvPr/>
        </p:nvSpPr>
        <p:spPr>
          <a:xfrm rot="0" flipH="0" flipV="0">
            <a:off x="666750" y="1219200"/>
            <a:ext cx="5334000" cy="3267075"/>
          </a:xfrm>
          <a:prstGeom prst="roundRect">
            <a:avLst>
              <a:gd name="adj" fmla="val 2332"/>
            </a:avLst>
          </a:prstGeom>
          <a:solidFill>
            <a:srgbClr val="FFFFFF"/>
          </a:solidFill>
          <a:ln w="12700">
            <a:solidFill>
              <a:srgbClr val="E3E8EF"/>
            </a:solidFill>
            <a:prstDash val="solid"/>
          </a:ln>
        </p:spPr>
        <p:txBody>
          <a:bodyPr/>
          <a:p/>
        </p:txBody>
      </p:sp>
      <p:sp>
        <p:nvSpPr>
          <p:cNvPr id="1540" name=""/>
          <p:cNvSpPr/>
          <p:nvPr/>
        </p:nvSpPr>
        <p:spPr>
          <a:xfrm rot="0" flipH="0" flipV="0">
            <a:off x="666750" y="1219200"/>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1541" name="" descr="{&quot;isTemplate&quot;:true,&quot;type&quot;:&quot;text&quot;}"/>
          <p:cNvSpPr txBox="1"/>
          <p:nvPr/>
        </p:nvSpPr>
        <p:spPr>
          <a:xfrm rot="0" flipH="0" flipV="0">
            <a:off x="857250" y="1447800"/>
            <a:ext cx="4953000" cy="352425"/>
          </a:xfrm>
          <a:prstGeom prst="rect"/>
        </p:spPr>
        <p:txBody>
          <a:bodyPr wrap="none" lIns="0" tIns="0" rIns="0" bIns="0"/>
          <a:p>
            <a:pPr>
              <a:lnSpc>
                <a:spcPct val="140000"/>
              </a:lnSpc>
            </a:pPr>
            <a:r>
              <a:rPr lang="zh-CN" sz="1650" b="1">
                <a:solidFill>
                  <a:srgbClr val="0E2340"/>
                </a:solidFill>
                <a:latin typeface="Microsoft YaHei"/>
                <a:ea typeface="Microsoft YaHei"/>
              </a:rPr>
              <a:t>六步循环</a:t>
            </a:r>
            <a:r>
              <a:rPr lang="en-US" sz="1650" b="1">
                <a:solidFill>
                  <a:srgbClr val="0E2340"/>
                </a:solidFill>
                <a:latin typeface="Microsoft YaHei"/>
                <a:ea typeface="Microsoft YaHei"/>
              </a:rPr>
              <a:t xml:space="preserve"> = </a:t>
            </a:r>
            <a:r>
              <a:rPr lang="zh-CN" sz="1650" b="1">
                <a:solidFill>
                  <a:srgbClr val="0E2340"/>
                </a:solidFill>
                <a:latin typeface="Microsoft YaHei"/>
                <a:ea typeface="Microsoft YaHei"/>
              </a:rPr>
              <a:t>训练阶段</a:t>
            </a:r>
            <a:endParaRPr/>
          </a:p>
        </p:txBody>
      </p:sp>
      <p:sp>
        <p:nvSpPr>
          <p:cNvPr id="1542" name="" descr="{&quot;isTemplate&quot;:true,&quot;type&quot;:&quot;text&quot;}"/>
          <p:cNvSpPr txBox="1"/>
          <p:nvPr/>
        </p:nvSpPr>
        <p:spPr>
          <a:xfrm rot="0" flipH="0" flipV="0">
            <a:off x="857250" y="1895475"/>
            <a:ext cx="4953000" cy="666750"/>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指的是一个套路内部的六个训练阶段：方法识别、母题学习、分步仿练、无提示重做、同方法变式迁移、延迟复查。</a:t>
            </a:r>
            <a:endParaRPr/>
          </a:p>
        </p:txBody>
      </p:sp>
      <p:sp>
        <p:nvSpPr>
          <p:cNvPr id="1543" name=""/>
          <p:cNvSpPr/>
          <p:nvPr/>
        </p:nvSpPr>
        <p:spPr>
          <a:xfrm rot="0" flipH="0" flipV="0">
            <a:off x="6191250" y="1219200"/>
            <a:ext cx="5334000" cy="3267075"/>
          </a:xfrm>
          <a:prstGeom prst="roundRect">
            <a:avLst>
              <a:gd name="adj" fmla="val 2332"/>
            </a:avLst>
          </a:prstGeom>
          <a:solidFill>
            <a:srgbClr val="FFFFFF"/>
          </a:solidFill>
          <a:ln w="12700">
            <a:solidFill>
              <a:srgbClr val="E3E8EF"/>
            </a:solidFill>
            <a:prstDash val="solid"/>
          </a:ln>
        </p:spPr>
        <p:txBody>
          <a:bodyPr/>
          <a:p/>
        </p:txBody>
      </p:sp>
      <p:sp>
        <p:nvSpPr>
          <p:cNvPr id="1544" name=""/>
          <p:cNvSpPr/>
          <p:nvPr/>
        </p:nvSpPr>
        <p:spPr>
          <a:xfrm rot="0" flipH="0" flipV="0">
            <a:off x="6191250" y="1219200"/>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1545" name="" descr="{&quot;isTemplate&quot;:true,&quot;type&quot;:&quot;text&quot;}"/>
          <p:cNvSpPr txBox="1"/>
          <p:nvPr/>
        </p:nvSpPr>
        <p:spPr>
          <a:xfrm rot="0" flipH="0" flipV="0">
            <a:off x="6381750" y="1447800"/>
            <a:ext cx="4953000" cy="352425"/>
          </a:xfrm>
          <a:prstGeom prst="rect"/>
        </p:spPr>
        <p:txBody>
          <a:bodyPr wrap="none" lIns="0" tIns="0" rIns="0" bIns="0"/>
          <a:p>
            <a:pPr>
              <a:lnSpc>
                <a:spcPct val="140000"/>
              </a:lnSpc>
            </a:pPr>
            <a:r>
              <a:rPr lang="zh-CN" sz="1650" b="1">
                <a:solidFill>
                  <a:srgbClr val="0E2340"/>
                </a:solidFill>
                <a:latin typeface="Microsoft YaHei"/>
                <a:ea typeface="Microsoft YaHei"/>
              </a:rPr>
              <a:t>解题步骤</a:t>
            </a:r>
            <a:r>
              <a:rPr lang="en-US" sz="1650" b="1">
                <a:solidFill>
                  <a:srgbClr val="0E2340"/>
                </a:solidFill>
                <a:latin typeface="Microsoft YaHei"/>
                <a:ea typeface="Microsoft YaHei"/>
              </a:rPr>
              <a:t xml:space="preserve"> = </a:t>
            </a:r>
            <a:r>
              <a:rPr lang="zh-CN" sz="1650" b="1">
                <a:solidFill>
                  <a:srgbClr val="0E2340"/>
                </a:solidFill>
                <a:latin typeface="Microsoft YaHei"/>
                <a:ea typeface="Microsoft YaHei"/>
              </a:rPr>
              <a:t>题内结构</a:t>
            </a:r>
            <a:endParaRPr/>
          </a:p>
        </p:txBody>
      </p:sp>
      <p:sp>
        <p:nvSpPr>
          <p:cNvPr id="1546" name="" descr="{&quot;isTemplate&quot;:true,&quot;type&quot;:&quot;text&quot;}"/>
          <p:cNvSpPr txBox="1"/>
          <p:nvPr/>
        </p:nvSpPr>
        <p:spPr>
          <a:xfrm rot="0" flipH="0" flipV="0">
            <a:off x="6381750" y="1895475"/>
            <a:ext cx="4953000" cy="666750"/>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指的是一道题中被拆出来的结构化解题操作单元，定义在</a:t>
            </a:r>
            <a:r>
              <a:rPr lang="en-US" sz="1350">
                <a:solidFill>
                  <a:srgbClr val="333A45"/>
                </a:solidFill>
                <a:latin typeface="Microsoft YaHei"/>
                <a:ea typeface="Microsoft YaHei"/>
              </a:rPr>
              <a:t xml:space="preserve"> steps.yaml</a:t>
            </a:r>
            <a:r>
              <a:rPr lang="zh-CN" sz="1350">
                <a:solidFill>
                  <a:srgbClr val="333A45"/>
                </a:solidFill>
                <a:latin typeface="Microsoft YaHei"/>
                <a:ea typeface="Microsoft YaHei"/>
              </a:rPr>
              <a:t>，是批改与讲解的对象。</a:t>
            </a:r>
            <a:endParaRPr/>
          </a:p>
        </p:txBody>
      </p:sp>
      <p:sp>
        <p:nvSpPr>
          <p:cNvPr id="1547" name=""/>
          <p:cNvSpPr/>
          <p:nvPr/>
        </p:nvSpPr>
        <p:spPr>
          <a:xfrm rot="0" flipH="0" flipV="0">
            <a:off x="704850" y="4657725"/>
            <a:ext cx="10858500" cy="561975"/>
          </a:xfrm>
          <a:prstGeom prst="roundRect">
            <a:avLst>
              <a:gd name="adj" fmla="val 10169"/>
            </a:avLst>
          </a:prstGeom>
          <a:solidFill>
            <a:srgbClr val="F5F7FA"/>
          </a:solidFill>
          <a:ln/>
        </p:spPr>
        <p:txBody>
          <a:bodyPr/>
          <a:p/>
        </p:txBody>
      </p:sp>
      <p:sp>
        <p:nvSpPr>
          <p:cNvPr id="1548" name=""/>
          <p:cNvSpPr/>
          <p:nvPr/>
        </p:nvSpPr>
        <p:spPr>
          <a:xfrm rot="0" flipH="0" flipV="0">
            <a:off x="704850" y="4657725"/>
            <a:ext cx="10858500" cy="561975"/>
          </a:xfrm>
          <a:custGeom>
            <a:pathLst>
              <a:path w="1140" h="59">
                <a:moveTo>
                  <a:pt x="6" y="0"/>
                </a:moveTo>
                <a:cubicBezTo>
                  <a:pt x="5" y="0"/>
                  <a:pt x="4" y="1"/>
                  <a:pt x="4" y="2"/>
                </a:cubicBezTo>
                <a:lnTo>
                  <a:pt x="4" y="57"/>
                </a:lnTo>
                <a:cubicBezTo>
                  <a:pt x="4" y="58"/>
                  <a:pt x="5" y="59"/>
                  <a:pt x="6" y="59"/>
                </a:cubicBezTo>
                <a:cubicBezTo>
                  <a:pt x="3" y="59"/>
                  <a:pt x="0" y="56"/>
                  <a:pt x="0" y="53"/>
                </a:cubicBezTo>
                <a:lnTo>
                  <a:pt x="0" y="6"/>
                </a:lnTo>
                <a:cubicBezTo>
                  <a:pt x="0" y="3"/>
                  <a:pt x="3" y="0"/>
                  <a:pt x="6" y="0"/>
                </a:cubicBezTo>
                <a:close/>
              </a:path>
            </a:pathLst>
          </a:custGeom>
          <a:solidFill>
            <a:srgbClr val="00A9B5"/>
          </a:solidFill>
          <a:ln/>
        </p:spPr>
        <p:txBody>
          <a:bodyPr/>
          <a:p/>
        </p:txBody>
      </p:sp>
      <p:sp>
        <p:nvSpPr>
          <p:cNvPr id="1549" name="" descr="{&quot;isTemplate&quot;:true,&quot;type&quot;:&quot;text&quot;}"/>
          <p:cNvSpPr txBox="1"/>
          <p:nvPr/>
        </p:nvSpPr>
        <p:spPr>
          <a:xfrm rot="0" flipH="0" flipV="0">
            <a:off x="895350" y="4791075"/>
            <a:ext cx="10382250" cy="295275"/>
          </a:xfrm>
          <a:prstGeom prst="rect"/>
        </p:spPr>
        <p:txBody>
          <a:bodyPr wrap="none" lIns="0" tIns="0" rIns="0" bIns="0"/>
          <a:p>
            <a:pPr>
              <a:lnSpc>
                <a:spcPct val="150000"/>
              </a:lnSpc>
            </a:pPr>
            <a:r>
              <a:rPr lang="zh-CN" sz="1275" b="1">
                <a:solidFill>
                  <a:srgbClr val="0E2340"/>
                </a:solidFill>
                <a:latin typeface="Microsoft YaHei"/>
                <a:ea typeface="Microsoft YaHei"/>
              </a:rPr>
              <a:t>阶段之间可回退：变式暴露某步不会</a:t>
            </a:r>
            <a:r>
              <a:rPr lang="en-US" sz="1275" b="1">
                <a:solidFill>
                  <a:srgbClr val="0E2340"/>
                </a:solidFill>
                <a:latin typeface="Microsoft YaHei"/>
                <a:ea typeface="Microsoft YaHei"/>
              </a:rPr>
              <a:t xml:space="preserve"> → </a:t>
            </a:r>
            <a:r>
              <a:rPr lang="zh-CN" sz="1275" b="1">
                <a:solidFill>
                  <a:srgbClr val="0E2340"/>
                </a:solidFill>
                <a:latin typeface="Microsoft YaHei"/>
                <a:ea typeface="Microsoft YaHei"/>
              </a:rPr>
              <a:t>返回该步训练；前置知识缺口</a:t>
            </a:r>
            <a:r>
              <a:rPr lang="en-US" sz="1275" b="1">
                <a:solidFill>
                  <a:srgbClr val="0E2340"/>
                </a:solidFill>
                <a:latin typeface="Microsoft YaHei"/>
                <a:ea typeface="Microsoft YaHei"/>
              </a:rPr>
              <a:t xml:space="preserve"> → </a:t>
            </a:r>
            <a:r>
              <a:rPr lang="zh-CN" sz="1275" b="1">
                <a:solidFill>
                  <a:srgbClr val="0E2340"/>
                </a:solidFill>
                <a:latin typeface="Microsoft YaHei"/>
                <a:ea typeface="Microsoft YaHei"/>
              </a:rPr>
              <a:t>转入知识补充再回套路练习。无需因一个局部问题机械重复全部学习内容</a:t>
            </a:r>
            <a:endParaRPr/>
          </a:p>
        </p:txBody>
      </p:sp>
      <p:sp>
        <p:nvSpPr>
          <p:cNvPr id="1550" name=""/>
          <p:cNvSpPr/>
          <p:nvPr/>
        </p:nvSpPr>
        <p:spPr>
          <a:xfrm rot="0" flipH="0" flipV="0">
            <a:off x="704850" y="5391150"/>
            <a:ext cx="10858500" cy="819150"/>
          </a:xfrm>
          <a:prstGeom prst="roundRect">
            <a:avLst>
              <a:gd name="adj" fmla="val 6977"/>
            </a:avLst>
          </a:prstGeom>
          <a:solidFill>
            <a:srgbClr val="F5F7FA"/>
          </a:solidFill>
          <a:ln/>
        </p:spPr>
        <p:txBody>
          <a:bodyPr/>
          <a:p/>
        </p:txBody>
      </p:sp>
      <p:sp>
        <p:nvSpPr>
          <p:cNvPr id="1551" name=""/>
          <p:cNvSpPr/>
          <p:nvPr/>
        </p:nvSpPr>
        <p:spPr>
          <a:xfrm rot="0" flipH="0" flipV="0">
            <a:off x="704850" y="5391150"/>
            <a:ext cx="10858500" cy="819150"/>
          </a:xfrm>
          <a:custGeom>
            <a:pathLst>
              <a:path w="1140" h="86">
                <a:moveTo>
                  <a:pt x="6" y="0"/>
                </a:moveTo>
                <a:cubicBezTo>
                  <a:pt x="5" y="0"/>
                  <a:pt x="4" y="1"/>
                  <a:pt x="4" y="2"/>
                </a:cubicBezTo>
                <a:lnTo>
                  <a:pt x="4" y="84"/>
                </a:lnTo>
                <a:cubicBezTo>
                  <a:pt x="4" y="85"/>
                  <a:pt x="5" y="86"/>
                  <a:pt x="6" y="86"/>
                </a:cubicBezTo>
                <a:cubicBezTo>
                  <a:pt x="3" y="86"/>
                  <a:pt x="0" y="83"/>
                  <a:pt x="0" y="80"/>
                </a:cubicBezTo>
                <a:lnTo>
                  <a:pt x="0" y="6"/>
                </a:lnTo>
                <a:cubicBezTo>
                  <a:pt x="0" y="3"/>
                  <a:pt x="3" y="0"/>
                  <a:pt x="6" y="0"/>
                </a:cubicBezTo>
                <a:close/>
              </a:path>
            </a:pathLst>
          </a:custGeom>
          <a:solidFill>
            <a:srgbClr val="98A2B3"/>
          </a:solidFill>
          <a:ln/>
        </p:spPr>
        <p:txBody>
          <a:bodyPr/>
          <a:p/>
        </p:txBody>
      </p:sp>
      <p:sp>
        <p:nvSpPr>
          <p:cNvPr id="1552" name="" descr="{&quot;isTemplate&quot;:true,&quot;type&quot;:&quot;text&quot;}"/>
          <p:cNvSpPr txBox="1"/>
          <p:nvPr/>
        </p:nvSpPr>
        <p:spPr>
          <a:xfrm rot="0" flipH="0" flipV="0">
            <a:off x="895350" y="5524500"/>
            <a:ext cx="10439400" cy="552450"/>
          </a:xfrm>
          <a:prstGeom prst="rect"/>
        </p:spPr>
        <p:txBody>
          <a:bodyPr wrap="square" lIns="0" tIns="0" rIns="0" bIns="0">
            <a:normAutofit/>
          </a:bodyPr>
          <a:p>
            <a:pPr>
              <a:lnSpc>
                <a:spcPct val="150000"/>
              </a:lnSpc>
            </a:pPr>
            <a:r>
              <a:rPr lang="zh-CN" sz="1200" b="1">
                <a:solidFill>
                  <a:srgbClr val="0E2340"/>
                </a:solidFill>
                <a:latin typeface="Microsoft YaHei"/>
                <a:ea typeface="Microsoft YaHei"/>
              </a:rPr>
              <a:t>边界：六阶段训练流程</a:t>
            </a:r>
            <a:r>
              <a:rPr lang="en-US" sz="1200" b="1">
                <a:solidFill>
                  <a:srgbClr val="0E2340"/>
                </a:solidFill>
                <a:latin typeface="Microsoft YaHei"/>
                <a:ea typeface="Microsoft YaHei"/>
              </a:rPr>
              <a:t xml:space="preserve"> / </a:t>
            </a:r>
            <a:r>
              <a:rPr lang="zh-CN" sz="1200" b="1">
                <a:solidFill>
                  <a:srgbClr val="0E2340"/>
                </a:solidFill>
                <a:latin typeface="Microsoft YaHei"/>
                <a:ea typeface="Microsoft YaHei"/>
              </a:rPr>
              <a:t>一次循环是否通过</a:t>
            </a:r>
            <a:r>
              <a:rPr lang="en-US" sz="1200" b="1">
                <a:solidFill>
                  <a:srgbClr val="0E2340"/>
                </a:solidFill>
                <a:latin typeface="Microsoft YaHei"/>
                <a:ea typeface="Microsoft YaHei"/>
              </a:rPr>
              <a:t xml:space="preserve"> / </a:t>
            </a:r>
            <a:r>
              <a:rPr lang="zh-CN" sz="1200" b="1">
                <a:solidFill>
                  <a:srgbClr val="0E2340"/>
                </a:solidFill>
                <a:latin typeface="Microsoft YaHei"/>
                <a:ea typeface="Microsoft YaHei"/>
              </a:rPr>
              <a:t>几次复查后掌握状态，属不同层面规则；既有状态机与复查间隔是实现口径，不能把状态名称当成经过验证的学习测量结论</a:t>
            </a:r>
            <a:endParaRPr/>
          </a:p>
        </p:txBody>
      </p:sp>
      <p:sp>
        <p:nvSpPr>
          <p:cNvPr id="1553"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554" name="" descr="{&quot;isTemplate&quot;:true,&quot;type&quot;:&quot;text&quot;}"/>
          <p:cNvSpPr txBox="1"/>
          <p:nvPr/>
        </p:nvSpPr>
        <p:spPr>
          <a:xfrm rot="0" flipH="0" flipV="0">
            <a:off x="666750" y="6381750"/>
            <a:ext cx="1743075" cy="209550"/>
          </a:xfrm>
          <a:prstGeom prst="rect"/>
        </p:spPr>
        <p:txBody>
          <a:bodyPr wrap="none" lIns="0" tIns="0" rIns="0" bIns="0"/>
          <a:p>
            <a:pPr>
              <a:lnSpc>
                <a:spcPct val="140000"/>
              </a:lnSpc>
            </a:pPr>
            <a:r>
              <a:rPr lang="zh-CN" sz="975">
                <a:solidFill>
                  <a:srgbClr val="7A8699"/>
                </a:solidFill>
                <a:latin typeface="Microsoft YaHei"/>
                <a:ea typeface="Microsoft YaHei"/>
              </a:rPr>
              <a:t>依据：套路层面设计思路</a:t>
            </a:r>
            <a:r>
              <a:rPr lang="en-US" sz="975">
                <a:solidFill>
                  <a:srgbClr val="7A8699"/>
                </a:solidFill>
                <a:latin typeface="Microsoft YaHei"/>
                <a:ea typeface="Microsoft YaHei"/>
              </a:rPr>
              <a:t>.md §3</a:t>
            </a:r>
            <a:endParaRPr/>
          </a:p>
        </p:txBody>
      </p:sp>
      <p:sp>
        <p:nvSpPr>
          <p:cNvPr id="1555"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40 / 124 </a:t>
            </a:r>
            <a:endParaRPr/>
          </a:p>
        </p:txBody>
      </p:sp>
    </p:spTree>
  </p:cSld>
</p:sld>
</file>

<file path=ppt/slides/slide41.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556"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4 / 套路层面&lt;/Text&gt;&lt;Text style={{ fontSize: 32, color: '#0E2340', fontWeight: 700, lineHeight: 1.3 }}&gt;隐藏套路名称的混合训练&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row', gap: 28, flex: 1 }}&gt;&lt;Box style={{ width: 700, justifyContent: 'center' }}&gt;&lt;svg width={700} height={330} viewBox='0 0 700 330'&gt;&lt;rect x='0' y='0' width='700' height='73' rx='8' fill='#0E2340'/&gt;&lt;text x='350.0' y='30.5' font-size='22' fill='#FFFFFF' text-anchor='middle' font-weight='600'&gt;第一档 · 有套路提示能完成&lt;/text&gt;&lt;text x='350.0' y='56.5' font-size='15' fill='#C8DCF2' text-anchor='middle' font-weight='400'&gt;给出套路名称或提示后可以完成&lt;/text&gt;&lt;path d='M342 74 l8 8 l-8 8' fill='none' stroke='#00A9B5' stroke-width='2'/&gt;&lt;rect x='0' y='85' width='700' height='73' rx='8' fill='#1B4E8C'/&gt;&lt;text x='350.0' y='115.5' font-size='22' fill='#FFFFFF' text-anchor='middle' font-weight='600'&gt;第二档 · 无套路提示能选对方法&lt;/text&gt;&lt;text x='350.0' y='141.5' font-size='15' fill='#C8DCF2' text-anchor='middle' font-weight='400'&gt;题面不显示套路名与分类标签，学生自行判断&lt;/text&gt;&lt;path d='M342 159 l8 8 l-8 8' fill='none' stroke='#00A9B5' stroke-width='2'/&gt;&lt;rect x='0' y='170' width='700' height='73' rx='8' fill='#1E7BE0'/&gt;&lt;text x='350.0' y='200.5' font-size='22' fill='#FFFFFF' text-anchor='middle' font-weight='600'&gt;第三档 · 选对方法后能独立执行&lt;/text&gt;&lt;text x='350.0' y='226.5' font-size='15' fill='#C8DCF2' text-anchor='middle' font-weight='400'&gt;在没有提示的条件下完整完成&lt;/text&gt;&lt;path d='M342 244 l8 8 l-8 8' fill='none' stroke='#00A9B5' stroke-width='2'/&gt;&lt;rect x='0' y='255' width='700' height='73' rx='8' fill='#9FD0F5'/&gt;&lt;text x='350.0' y='285.5' font-size='22' fill='#0E2340' text-anchor='middle' font-weight='600'&gt;作答后复盘再展示对应关系&lt;/text&gt;&lt;text x='350.0' y='311.5' font-size='15' fill='#333A45' text-anchor='middle' font-weight='400'&gt;教师与批改系统保留参考结构&lt;/text&gt;&lt;/svg&gt;&lt;/Box&gt;&lt;Box style={{ flex: 1, flexDirection: 'column', gap: 11, justifyContent: 'center' }}&gt;&lt;Text style={{ fontSize: 21, color: '#0E2340', fontWeight: 700, lineHeight: 1.4 }}&gt;三档能力&lt;/Text&gt;&lt;Box style={{ flexDirection: 'column', gap: 10 }}&gt;&lt;Box style={{ flexDirection: 'row', gap: 12, alignItems: 'flex-start' }}&gt;&lt;Box style={{ width: 8, height: 8, borderRadius: 4, background: '#1E7BE0', marginTop: 9 }} /&gt;&lt;Box style={{ flex: 1 }}&gt;&lt;Text style={{ fontSize: 17, color: '#333A45', fontWeight: 400, lineHeight: 1.6 }}&gt;专项训练之外增加跨套路混合练习，题面不提前显示目标套路名称、分类标签或泄露解法的提示。&lt;/Text&gt;&lt;/Box&gt;&lt;/Box&gt;&lt;Box style={{ flexDirection: 'row', gap: 12, alignItems: 'flex-start' }}&gt;&lt;Box style={{ width: 8, height: 8, borderRadius: 4, background: '#1E7BE0', marginTop: 9 }} /&gt;&lt;Box style={{ flex: 1 }}&gt;&lt;Text style={{ fontSize: 17, color: '#333A45', fontWeight: 400, lineHeight: 1.6 }}&gt;含两类题：题面不同而方法相同；外观相似但适用条件不同。&lt;/Text&gt;&lt;/Box&gt;&lt;/Box&gt;&lt;Box style={{ flexDirection: 'row', gap: 12, alignItems: 'flex-start' }}&gt;&lt;Box style={{ width: 8, height: 8, borderRadius: 4, background: '#1E7BE0', marginTop: 9 }} /&gt;&lt;Box style={{ flex: 1 }}&gt;&lt;Text style={{ fontSize: 17, color: '#333A45', fontWeight: 400, lineHeight: 1.6 }}&gt;允许多种合理解法，不把偏离参考套路直接判错。&lt;/Text&gt;&lt;/Box&gt;&lt;/Box&gt;&lt;Box style={{ flexDirection: 'row', gap: 12, alignItems: 'flex-start' }}&gt;&lt;Box style={{ width: 8, height: 8, borderRadius: 4, background: '#1E7BE0', marginTop: 9 }} /&gt;&lt;Box style={{ flex: 1 }}&gt;&lt;Text style={{ fontSize: 17, color: '#333A45', fontWeight: 400, lineHeight: 1.6 }}&gt;不作为六步循环之外机械追加的第七阶段，可安排在变式训练和延迟复查中，与专项练习分别记录，纳入统一时间预算。&lt;/Text&gt;&lt;/Box&gt;&lt;/Box&gt;&lt;Box style={{ flexDirection: 'row', gap: 12, alignItems: 'flex-start' }}&gt;&lt;Box style={{ width: 8, height: 8, borderRadius: 4, background: '#1E7BE0', marginTop: 9 }} /&gt;&lt;Box style={{ flex: 1 }}&gt;&lt;Text style={{ fontSize: 17, color: '#333A45', fontWeight: 400, lineHeight: 1.6 }}&gt;该功能为新增设计方向，不作为当前已实现能力。&lt;/Text&gt;&lt;/Box&gt;&lt;/Box&gt;&lt;/Box&gt;&lt;/Box&gt;&lt;/Box&gt;&lt;/Box&gt;&lt;Box style={{ height: 40, flexDirection: 'row', justifyContent: 'space-between', alignItems: 'center', borderTop: '1px solid #E3E8EF', marginTop: 8 }}&gt;&lt;Text style={{ fontSize: 13, color: '#7A8699', fontWeight: 400, lineHeight: 1.4 }}&gt;依据：套路层面设计思路.md §3.1&lt;/Text&gt;&lt;Text style={{ fontSize: 14, color: '#7A8699', fontWeight: 400, lineHeight: 1.4 }}&gt; 41 / 124 &lt;/Text&gt;&lt;/Box&gt;&lt;/Slide&gt;"/>
        <p:cNvGrpSpPr/>
        <p:nvPr/>
      </p:nvGrpSpPr>
      <p:grpSpPr>
        <a:xfrm>
          <a:off x="0" y="0"/>
          <a:ext cx="0" cy="0"/>
          <a:chOff x="0" y="0"/>
          <a:chExt cx="0" cy="0"/>
        </a:xfrm>
      </p:grpSpPr>
      <p:sp>
        <p:nvSpPr>
          <p:cNvPr id="1557" name=""/>
          <p:cNvSpPr/>
          <p:nvPr/>
        </p:nvSpPr>
        <p:spPr>
          <a:xfrm rot="0" flipH="0" flipV="0">
            <a:off x="0" y="0"/>
            <a:ext cx="12192000" cy="6858000"/>
          </a:xfrm>
          <a:prstGeom prst="rect">
            <a:avLst/>
          </a:prstGeom>
          <a:solidFill>
            <a:srgbClr val="FFFFFF"/>
          </a:solidFill>
          <a:ln/>
        </p:spPr>
        <p:txBody>
          <a:bodyPr/>
          <a:p/>
        </p:txBody>
      </p:sp>
      <p:sp>
        <p:nvSpPr>
          <p:cNvPr id="1558" name="" descr="{&quot;isTemplate&quot;:true,&quot;type&quot;:&quot;text&quot;}"/>
          <p:cNvSpPr txBox="1"/>
          <p:nvPr/>
        </p:nvSpPr>
        <p:spPr>
          <a:xfrm rot="0" flipH="0" flipV="0">
            <a:off x="666750" y="381000"/>
            <a:ext cx="3352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04 / </a:t>
            </a:r>
            <a:r>
              <a:rPr lang="zh-CN" sz="1050" spc="75">
                <a:solidFill>
                  <a:srgbClr val="7A8699"/>
                </a:solidFill>
                <a:latin typeface="Microsoft YaHei"/>
                <a:ea typeface="Microsoft YaHei"/>
              </a:rPr>
              <a:t>套路层面</a:t>
            </a:r>
            <a:endParaRPr/>
          </a:p>
        </p:txBody>
      </p:sp>
      <p:sp>
        <p:nvSpPr>
          <p:cNvPr id="1559" name="" descr="{&quot;isTemplate&quot;:true,&quot;type&quot;:&quot;text&quot;}"/>
          <p:cNvSpPr txBox="1"/>
          <p:nvPr/>
        </p:nvSpPr>
        <p:spPr>
          <a:xfrm rot="0" flipH="0" flipV="0">
            <a:off x="666750" y="666750"/>
            <a:ext cx="3352800" cy="476250"/>
          </a:xfrm>
          <a:prstGeom prst="rect"/>
        </p:spPr>
        <p:txBody>
          <a:bodyPr wrap="none" lIns="0" tIns="0" rIns="0" bIns="0"/>
          <a:p>
            <a:pPr>
              <a:lnSpc>
                <a:spcPct val="130000"/>
              </a:lnSpc>
            </a:pPr>
            <a:r>
              <a:rPr lang="zh-CN" sz="2400" b="1">
                <a:solidFill>
                  <a:srgbClr val="0E2340"/>
                </a:solidFill>
                <a:latin typeface="Microsoft YaHei"/>
                <a:ea typeface="Microsoft YaHei"/>
              </a:rPr>
              <a:t>隐藏套路名称的混合训练</a:t>
            </a:r>
            <a:endParaRPr/>
          </a:p>
        </p:txBody>
      </p:sp>
      <p:sp>
        <p:nvSpPr>
          <p:cNvPr id="1560"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561"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1562" name=""/>
          <p:cNvPicPr>
            <a:picLocks noChangeAspect="1"/>
          </p:cNvPicPr>
          <p:nvPr/>
        </p:nvPicPr>
        <p:blipFill>
          <a:blip>
            <a:extLst>
              <a:ext uri="{96DAC541-7B7A-43D3-8B79-37D633B846F1}">
                <asvg:svgBlip r:embed="rId1"/>
              </a:ext>
            </a:extLst>
          </a:blip>
          <a:stretch>
            <a:fillRect/>
          </a:stretch>
        </p:blipFill>
        <p:spPr>
          <a:xfrm rot="0" flipH="0" flipV="0">
            <a:off x="666750" y="2143125"/>
            <a:ext cx="6667500" cy="3143250"/>
          </a:xfrm>
          <a:prstGeom prst="rect">
            <a:avLst/>
          </a:prstGeom>
          <a:ln/>
        </p:spPr>
      </p:pic>
      <p:sp>
        <p:nvSpPr>
          <p:cNvPr id="1563" name="" descr="{&quot;isTemplate&quot;:true,&quot;type&quot;:&quot;text&quot;}"/>
          <p:cNvSpPr txBox="1"/>
          <p:nvPr/>
        </p:nvSpPr>
        <p:spPr>
          <a:xfrm rot="0" flipH="0" flipV="0">
            <a:off x="7600950" y="1895475"/>
            <a:ext cx="3924300" cy="342900"/>
          </a:xfrm>
          <a:prstGeom prst="rect"/>
        </p:spPr>
        <p:txBody>
          <a:bodyPr wrap="none" lIns="0" tIns="0" rIns="0" bIns="0"/>
          <a:p>
            <a:pPr>
              <a:lnSpc>
                <a:spcPct val="140000"/>
              </a:lnSpc>
            </a:pPr>
            <a:r>
              <a:rPr lang="zh-CN" sz="1575" b="1">
                <a:solidFill>
                  <a:srgbClr val="0E2340"/>
                </a:solidFill>
                <a:latin typeface="Microsoft YaHei"/>
                <a:ea typeface="Microsoft YaHei"/>
              </a:rPr>
              <a:t>三档能力</a:t>
            </a:r>
            <a:endParaRPr/>
          </a:p>
        </p:txBody>
      </p:sp>
      <p:sp>
        <p:nvSpPr>
          <p:cNvPr id="1564" name=""/>
          <p:cNvSpPr/>
          <p:nvPr/>
        </p:nvSpPr>
        <p:spPr>
          <a:xfrm rot="0" flipH="0" flipV="0">
            <a:off x="7600950" y="2428875"/>
            <a:ext cx="76200" cy="76200"/>
          </a:xfrm>
          <a:prstGeom prst="roundRect">
            <a:avLst>
              <a:gd name="adj" fmla="val 50000"/>
            </a:avLst>
          </a:prstGeom>
          <a:solidFill>
            <a:srgbClr val="1E7BE0"/>
          </a:solidFill>
          <a:ln/>
        </p:spPr>
        <p:txBody>
          <a:bodyPr/>
          <a:p/>
        </p:txBody>
      </p:sp>
      <p:sp>
        <p:nvSpPr>
          <p:cNvPr id="1565" name="" descr="{&quot;isTemplate&quot;:true,&quot;type&quot;:&quot;text&quot;}"/>
          <p:cNvSpPr txBox="1"/>
          <p:nvPr/>
        </p:nvSpPr>
        <p:spPr>
          <a:xfrm rot="0" flipH="0" flipV="0">
            <a:off x="7791450" y="2343150"/>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专项训练之外增加跨套路混合练习，题面不提前显示目标套路名称、分类标签或泄露解法的提示。</a:t>
            </a:r>
            <a:endParaRPr/>
          </a:p>
        </p:txBody>
      </p:sp>
      <p:sp>
        <p:nvSpPr>
          <p:cNvPr id="1566" name=""/>
          <p:cNvSpPr/>
          <p:nvPr/>
        </p:nvSpPr>
        <p:spPr>
          <a:xfrm rot="0" flipH="0" flipV="0">
            <a:off x="7600950" y="3152775"/>
            <a:ext cx="76200" cy="76200"/>
          </a:xfrm>
          <a:prstGeom prst="roundRect">
            <a:avLst>
              <a:gd name="adj" fmla="val 50000"/>
            </a:avLst>
          </a:prstGeom>
          <a:solidFill>
            <a:srgbClr val="1E7BE0"/>
          </a:solidFill>
          <a:ln/>
        </p:spPr>
        <p:txBody>
          <a:bodyPr/>
          <a:p/>
        </p:txBody>
      </p:sp>
      <p:sp>
        <p:nvSpPr>
          <p:cNvPr id="1567" name="" descr="{&quot;isTemplate&quot;:true,&quot;type&quot;:&quot;text&quot;}"/>
          <p:cNvSpPr txBox="1"/>
          <p:nvPr/>
        </p:nvSpPr>
        <p:spPr>
          <a:xfrm rot="0" flipH="0" flipV="0">
            <a:off x="7791450" y="3067050"/>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含两类题：题面不同而方法相同；外观相似但适用条件不同。</a:t>
            </a:r>
            <a:endParaRPr/>
          </a:p>
        </p:txBody>
      </p:sp>
      <p:sp>
        <p:nvSpPr>
          <p:cNvPr id="1568" name=""/>
          <p:cNvSpPr/>
          <p:nvPr/>
        </p:nvSpPr>
        <p:spPr>
          <a:xfrm rot="0" flipH="0" flipV="0">
            <a:off x="7600950" y="3876675"/>
            <a:ext cx="76200" cy="76200"/>
          </a:xfrm>
          <a:prstGeom prst="roundRect">
            <a:avLst>
              <a:gd name="adj" fmla="val 50000"/>
            </a:avLst>
          </a:prstGeom>
          <a:solidFill>
            <a:srgbClr val="1E7BE0"/>
          </a:solidFill>
          <a:ln/>
        </p:spPr>
        <p:txBody>
          <a:bodyPr/>
          <a:p/>
        </p:txBody>
      </p:sp>
      <p:sp>
        <p:nvSpPr>
          <p:cNvPr id="1569" name="" descr="{&quot;isTemplate&quot;:true,&quot;type&quot;:&quot;text&quot;}"/>
          <p:cNvSpPr txBox="1"/>
          <p:nvPr/>
        </p:nvSpPr>
        <p:spPr>
          <a:xfrm rot="0" flipH="0" flipV="0">
            <a:off x="7791450" y="3790950"/>
            <a:ext cx="3733800" cy="314325"/>
          </a:xfrm>
          <a:prstGeom prst="rect"/>
        </p:spPr>
        <p:txBody>
          <a:bodyPr wrap="none" lIns="0" tIns="0" rIns="0" bIns="0"/>
          <a:p>
            <a:pPr>
              <a:lnSpc>
                <a:spcPct val="160000"/>
              </a:lnSpc>
            </a:pPr>
            <a:r>
              <a:rPr lang="zh-CN" sz="1275">
                <a:solidFill>
                  <a:srgbClr val="333A45"/>
                </a:solidFill>
                <a:latin typeface="Microsoft YaHei"/>
                <a:ea typeface="Microsoft YaHei"/>
              </a:rPr>
              <a:t>允许多种合理解法，不把偏离参考套路直接判错。</a:t>
            </a:r>
            <a:endParaRPr/>
          </a:p>
        </p:txBody>
      </p:sp>
      <p:sp>
        <p:nvSpPr>
          <p:cNvPr id="1570" name=""/>
          <p:cNvSpPr/>
          <p:nvPr/>
        </p:nvSpPr>
        <p:spPr>
          <a:xfrm rot="0" flipH="0" flipV="0">
            <a:off x="7600950" y="4286250"/>
            <a:ext cx="76200" cy="76200"/>
          </a:xfrm>
          <a:prstGeom prst="roundRect">
            <a:avLst>
              <a:gd name="adj" fmla="val 50000"/>
            </a:avLst>
          </a:prstGeom>
          <a:solidFill>
            <a:srgbClr val="1E7BE0"/>
          </a:solidFill>
          <a:ln/>
        </p:spPr>
        <p:txBody>
          <a:bodyPr/>
          <a:p/>
        </p:txBody>
      </p:sp>
      <p:sp>
        <p:nvSpPr>
          <p:cNvPr id="1571" name="" descr="{&quot;isTemplate&quot;:true,&quot;type&quot;:&quot;text&quot;}"/>
          <p:cNvSpPr txBox="1"/>
          <p:nvPr/>
        </p:nvSpPr>
        <p:spPr>
          <a:xfrm rot="0" flipH="0" flipV="0">
            <a:off x="7791450" y="4200525"/>
            <a:ext cx="3733800" cy="9334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不作为六步循环之外机械追加的第七阶段，可安排在变式训练和延迟复查中，与专项练习分别记录，纳入统一时间预算。</a:t>
            </a:r>
            <a:endParaRPr/>
          </a:p>
        </p:txBody>
      </p:sp>
      <p:sp>
        <p:nvSpPr>
          <p:cNvPr id="1572" name=""/>
          <p:cNvSpPr/>
          <p:nvPr/>
        </p:nvSpPr>
        <p:spPr>
          <a:xfrm rot="0" flipH="0" flipV="0">
            <a:off x="7600950" y="5314950"/>
            <a:ext cx="76200" cy="76200"/>
          </a:xfrm>
          <a:prstGeom prst="roundRect">
            <a:avLst>
              <a:gd name="adj" fmla="val 50000"/>
            </a:avLst>
          </a:prstGeom>
          <a:solidFill>
            <a:srgbClr val="1E7BE0"/>
          </a:solidFill>
          <a:ln/>
        </p:spPr>
        <p:txBody>
          <a:bodyPr/>
          <a:p/>
        </p:txBody>
      </p:sp>
      <p:sp>
        <p:nvSpPr>
          <p:cNvPr id="1573" name="" descr="{&quot;isTemplate&quot;:true,&quot;type&quot;:&quot;text&quot;}"/>
          <p:cNvSpPr txBox="1"/>
          <p:nvPr/>
        </p:nvSpPr>
        <p:spPr>
          <a:xfrm rot="0" flipH="0" flipV="0">
            <a:off x="7791450" y="5229225"/>
            <a:ext cx="3733800" cy="314325"/>
          </a:xfrm>
          <a:prstGeom prst="rect"/>
        </p:spPr>
        <p:txBody>
          <a:bodyPr wrap="none" lIns="0" tIns="0" rIns="0" bIns="0"/>
          <a:p>
            <a:pPr>
              <a:lnSpc>
                <a:spcPct val="160000"/>
              </a:lnSpc>
            </a:pPr>
            <a:r>
              <a:rPr lang="zh-CN" sz="1275">
                <a:solidFill>
                  <a:srgbClr val="333A45"/>
                </a:solidFill>
                <a:latin typeface="Microsoft YaHei"/>
                <a:ea typeface="Microsoft YaHei"/>
              </a:rPr>
              <a:t>该功能为新增设计方向，不作为当前已实现能力。</a:t>
            </a:r>
            <a:endParaRPr/>
          </a:p>
        </p:txBody>
      </p:sp>
      <p:sp>
        <p:nvSpPr>
          <p:cNvPr id="1574"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575" name="" descr="{&quot;isTemplate&quot;:true,&quot;type&quot;:&quot;text&quot;}"/>
          <p:cNvSpPr txBox="1"/>
          <p:nvPr/>
        </p:nvSpPr>
        <p:spPr>
          <a:xfrm rot="0" flipH="0" flipV="0">
            <a:off x="666750" y="6381750"/>
            <a:ext cx="1847850" cy="209550"/>
          </a:xfrm>
          <a:prstGeom prst="rect"/>
        </p:spPr>
        <p:txBody>
          <a:bodyPr wrap="none" lIns="0" tIns="0" rIns="0" bIns="0"/>
          <a:p>
            <a:pPr>
              <a:lnSpc>
                <a:spcPct val="140000"/>
              </a:lnSpc>
            </a:pPr>
            <a:r>
              <a:rPr lang="zh-CN" sz="975">
                <a:solidFill>
                  <a:srgbClr val="7A8699"/>
                </a:solidFill>
                <a:latin typeface="Microsoft YaHei"/>
                <a:ea typeface="Microsoft YaHei"/>
              </a:rPr>
              <a:t>依据：套路层面设计思路</a:t>
            </a:r>
            <a:r>
              <a:rPr lang="en-US" sz="975">
                <a:solidFill>
                  <a:srgbClr val="7A8699"/>
                </a:solidFill>
                <a:latin typeface="Microsoft YaHei"/>
                <a:ea typeface="Microsoft YaHei"/>
              </a:rPr>
              <a:t>.md §3.1</a:t>
            </a:r>
            <a:endParaRPr/>
          </a:p>
        </p:txBody>
      </p:sp>
      <p:sp>
        <p:nvSpPr>
          <p:cNvPr id="1576"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41 / 124 </a:t>
            </a:r>
            <a:endParaRPr/>
          </a:p>
        </p:txBody>
      </p:sp>
    </p:spTree>
  </p:cSld>
</p:sld>
</file>

<file path=ppt/slides/slide42.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577"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4 / 套路层面&lt;/Text&gt;&lt;Text style={{ fontSize: 32, color: '#0E2340', fontWeight: 700, lineHeight: 1.3 }}&gt;两条推荐路线如何共同工作&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gap: 16, flex: 1, justifyContent: 'center' }}&gt;&lt;svg width={1140} height={190} viewBox='0 0 1140 190'&gt;&lt;rect x='0' y='40' width='151' height='88' rx='8' fill='#0E2340' stroke='#1E7BE0' stroke-width='1.5'/&gt;&lt;text x='75.5' y='78.0' font-size='20' fill='#FFFFFF' text-anchor='middle' font-weight='600'&gt;套路顺序与前置关系&lt;/text&gt;&lt;text x='75.5' y='104.0' font-size='15' fill='#FFFFFF' text-anchor='middle' font-weight='400'&gt;默认路径&lt;/text&gt;&lt;line x1='157' y1='84' x2='183' y2='84' stroke='#1E7BE0' stroke-width='2'/&gt;&lt;path d='M183 78 l10 -6 l0 12 z' fill='#1E7BE0'/&gt;&lt;rect x='197' y='40' width='151' height='88' rx='8' fill='#FFFFFF' stroke='#1E7BE0' stroke-width='1.5'/&gt;&lt;text x='272.5' y='78.0' font-size='20' fill='#0E2340' text-anchor='middle' font-weight='600'&gt;形成候选套路&lt;/text&gt;&lt;text x='272.5' y='104.0' font-size='15' fill='#7A8699' text-anchor='middle' font-weight='400'&gt;结合准备情况&lt;/text&gt;&lt;line x1='354' y1='84' x2='380' y2='84' stroke='#1E7BE0' stroke-width='2'/&gt;&lt;path d='M380 78 l10 -6 l0 12 z' fill='#1E7BE0'/&gt;&lt;rect x='394' y='40' width='151' height='88' rx='8' fill='#FFFFFF' stroke='#1E7BE0' stroke-width='1.5'/&gt;&lt;text x='469.5' y='78.0' font-size='20' fill='#0E2340' text-anchor='middle' font-weight='600'&gt;知识点 + 套路表现 + 到期复查&lt;/text&gt;&lt;text x='469.5' y='104.0' font-size='15' fill='#7A8699' text-anchor='middle' font-weight='400'&gt;四项输入&lt;/text&gt;&lt;line x1='551' y1='84' x2='577' y2='84' stroke='#1E7BE0' stroke-width='2'/&gt;&lt;path d='M577 78 l10 -6 l0 12 z' fill='#1E7BE0'/&gt;&lt;rect x='591' y='40' width='151' height='88' rx='8' fill='#FFFFFF' stroke='#1E7BE0' stroke-width='1.5'/&gt;&lt;text x='666.5' y='78.0' font-size='20' fill='#0E2340' text-anchor='middle' font-weight='600'&gt;推荐新套路 / 补知识 / 练步骤 / 做复查&lt;/text&gt;&lt;text x='666.5' y='104.0' font-size='15' fill='#7A8699' text-anchor='middle' font-weight='400'&gt;给出理由&lt;/text&gt;&lt;line x1='748' y1='84' x2='774' y2='84' stroke='#1E7BE0' stroke-width='2'/&gt;&lt;path d='M774 78 l10 -6 l0 12 z' fill='#1E7BE0'/&gt;&lt;rect x='788' y='40' width='151' height='88' rx='8' fill='#FFFFFF' stroke='#1E7BE0' stroke-width='1.5'/&gt;&lt;text x='863.5' y='78.0' font-size='20' fill='#0E2340' text-anchor='middle' font-weight='600'&gt;六步循环或补充任务&lt;/text&gt;&lt;text x='863.5' y='104.0' font-size='15' fill='#7A8699' text-anchor='middle' font-weight='400'&gt;执行&lt;/text&gt;&lt;line x1='945' y1='84' x2='971' y2='84' stroke='#1E7BE0' stroke-width='2'/&gt;&lt;path d='M971 78 l10 -6 l0 12 z' fill='#1E7BE0'/&gt;&lt;rect x='985' y='40' width='151' height='88' rx='8' fill='#F5F7FA' stroke='#1E7BE0' stroke-width='1.5'/&gt;&lt;text x='1060.5' y='78.0' font-size='20' fill='#0E2340' text-anchor='middle' font-weight='600'&gt;新的独立作答证据&lt;/text&gt;&lt;text x='1060.5' y='104.0' font-size='15' fill='#7A8699' text-anchor='middle' font-weight='400'&gt;更新后续推荐&lt;/text&gt;&lt;/svg&gt;&lt;svg width={1140} height={110} viewBox='0 0 1140 110'&gt;&lt;rect x='0' y='10' width='1140' height='90' rx='8' fill='#F5F7FA'/&gt;&lt;text x='570' y='42' font-size='17' fill='#0E2340' text-anchor='middle' font-weight='700'&gt;每次推荐应给出简明理由，例如“相关知识已有独立作答证据，但这个套路的变式尚未通过”&lt;/text&gt;&lt;text x='570' y='76' font-size='15' fill='#333A45' text-anchor='middle' font-weight='400'&gt;不是永远挑正确率最高的题，也不是一味选最薄弱最难的内容；缺少记录 ≠ 不会&lt;/text&gt;&lt;/svg&gt;&lt;/Box&gt;&lt;/Box&gt;&lt;Box style={{ height: 40, flexDirection: 'row', justifyContent: 'space-between', alignItems: 'center', borderTop: '1px solid #E3E8EF', marginTop: 8 }}&gt;&lt;Text style={{ fontSize: 13, color: '#7A8699', fontWeight: 400, lineHeight: 1.4 }}&gt;依据：套路层面设计思路.md §4&lt;/Text&gt;&lt;Text style={{ fontSize: 14, color: '#7A8699', fontWeight: 400, lineHeight: 1.4 }}&gt; 42 / 124 &lt;/Text&gt;&lt;/Box&gt;&lt;/Slide&gt;"/>
        <p:cNvGrpSpPr/>
        <p:nvPr/>
      </p:nvGrpSpPr>
      <p:grpSpPr>
        <a:xfrm>
          <a:off x="0" y="0"/>
          <a:ext cx="0" cy="0"/>
          <a:chOff x="0" y="0"/>
          <a:chExt cx="0" cy="0"/>
        </a:xfrm>
      </p:grpSpPr>
      <p:sp>
        <p:nvSpPr>
          <p:cNvPr id="1578" name=""/>
          <p:cNvSpPr/>
          <p:nvPr/>
        </p:nvSpPr>
        <p:spPr>
          <a:xfrm rot="0" flipH="0" flipV="0">
            <a:off x="0" y="0"/>
            <a:ext cx="12192000" cy="6858000"/>
          </a:xfrm>
          <a:prstGeom prst="rect">
            <a:avLst/>
          </a:prstGeom>
          <a:solidFill>
            <a:srgbClr val="FFFFFF"/>
          </a:solidFill>
          <a:ln/>
        </p:spPr>
        <p:txBody>
          <a:bodyPr/>
          <a:p/>
        </p:txBody>
      </p:sp>
      <p:sp>
        <p:nvSpPr>
          <p:cNvPr id="1579" name="" descr="{&quot;isTemplate&quot;:true,&quot;type&quot;:&quot;text&quot;}"/>
          <p:cNvSpPr txBox="1"/>
          <p:nvPr/>
        </p:nvSpPr>
        <p:spPr>
          <a:xfrm rot="0" flipH="0" flipV="0">
            <a:off x="666750" y="381000"/>
            <a:ext cx="3657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04 / </a:t>
            </a:r>
            <a:r>
              <a:rPr lang="zh-CN" sz="1050" spc="75">
                <a:solidFill>
                  <a:srgbClr val="7A8699"/>
                </a:solidFill>
                <a:latin typeface="Microsoft YaHei"/>
                <a:ea typeface="Microsoft YaHei"/>
              </a:rPr>
              <a:t>套路层面</a:t>
            </a:r>
            <a:endParaRPr/>
          </a:p>
        </p:txBody>
      </p:sp>
      <p:sp>
        <p:nvSpPr>
          <p:cNvPr id="1580" name="" descr="{&quot;isTemplate&quot;:true,&quot;type&quot;:&quot;text&quot;}"/>
          <p:cNvSpPr txBox="1"/>
          <p:nvPr/>
        </p:nvSpPr>
        <p:spPr>
          <a:xfrm rot="0" flipH="0" flipV="0">
            <a:off x="666750" y="666750"/>
            <a:ext cx="3657600" cy="476250"/>
          </a:xfrm>
          <a:prstGeom prst="rect"/>
        </p:spPr>
        <p:txBody>
          <a:bodyPr wrap="none" lIns="0" tIns="0" rIns="0" bIns="0"/>
          <a:p>
            <a:pPr>
              <a:lnSpc>
                <a:spcPct val="130000"/>
              </a:lnSpc>
            </a:pPr>
            <a:r>
              <a:rPr lang="zh-CN" sz="2400" b="1">
                <a:solidFill>
                  <a:srgbClr val="0E2340"/>
                </a:solidFill>
                <a:latin typeface="Microsoft YaHei"/>
                <a:ea typeface="Microsoft YaHei"/>
              </a:rPr>
              <a:t>两条推荐路线如何共同工作</a:t>
            </a:r>
            <a:endParaRPr/>
          </a:p>
        </p:txBody>
      </p:sp>
      <p:sp>
        <p:nvSpPr>
          <p:cNvPr id="1581"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582"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1583" name=""/>
          <p:cNvPicPr>
            <a:picLocks noChangeAspect="1"/>
          </p:cNvPicPr>
          <p:nvPr/>
        </p:nvPicPr>
        <p:blipFill>
          <a:blip>
            <a:extLst>
              <a:ext uri="{96DAC541-7B7A-43D3-8B79-37D633B846F1}">
                <asvg:svgBlip r:embed="rId1"/>
              </a:ext>
            </a:extLst>
          </a:blip>
          <a:stretch>
            <a:fillRect/>
          </a:stretch>
        </p:blipFill>
        <p:spPr>
          <a:xfrm rot="0" flipH="0" flipV="0">
            <a:off x="666750" y="2209800"/>
            <a:ext cx="10858500" cy="1809750"/>
          </a:xfrm>
          <a:prstGeom prst="rect">
            <a:avLst/>
          </a:prstGeom>
          <a:ln/>
        </p:spPr>
      </p:pic>
      <p:pic>
        <p:nvPicPr>
          <p:cNvPr id="1584" name=""/>
          <p:cNvPicPr>
            <a:picLocks noChangeAspect="1"/>
          </p:cNvPicPr>
          <p:nvPr/>
        </p:nvPicPr>
        <p:blipFill>
          <a:blip>
            <a:extLst>
              <a:ext uri="{96DAC541-7B7A-43D3-8B79-37D633B846F1}">
                <asvg:svgBlip r:embed="rId2"/>
              </a:ext>
            </a:extLst>
          </a:blip>
          <a:stretch>
            <a:fillRect/>
          </a:stretch>
        </p:blipFill>
        <p:spPr>
          <a:xfrm rot="0" flipH="0" flipV="0">
            <a:off x="666750" y="4171950"/>
            <a:ext cx="10858500" cy="1047750"/>
          </a:xfrm>
          <a:prstGeom prst="rect">
            <a:avLst/>
          </a:prstGeom>
          <a:ln/>
        </p:spPr>
      </p:pic>
      <p:sp>
        <p:nvSpPr>
          <p:cNvPr id="1585"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586" name="" descr="{&quot;isTemplate&quot;:true,&quot;type&quot;:&quot;text&quot;}"/>
          <p:cNvSpPr txBox="1"/>
          <p:nvPr/>
        </p:nvSpPr>
        <p:spPr>
          <a:xfrm rot="0" flipH="0" flipV="0">
            <a:off x="666750" y="6381750"/>
            <a:ext cx="1743075" cy="209550"/>
          </a:xfrm>
          <a:prstGeom prst="rect"/>
        </p:spPr>
        <p:txBody>
          <a:bodyPr wrap="none" lIns="0" tIns="0" rIns="0" bIns="0"/>
          <a:p>
            <a:pPr>
              <a:lnSpc>
                <a:spcPct val="140000"/>
              </a:lnSpc>
            </a:pPr>
            <a:r>
              <a:rPr lang="zh-CN" sz="975">
                <a:solidFill>
                  <a:srgbClr val="7A8699"/>
                </a:solidFill>
                <a:latin typeface="Microsoft YaHei"/>
                <a:ea typeface="Microsoft YaHei"/>
              </a:rPr>
              <a:t>依据：套路层面设计思路</a:t>
            </a:r>
            <a:r>
              <a:rPr lang="en-US" sz="975">
                <a:solidFill>
                  <a:srgbClr val="7A8699"/>
                </a:solidFill>
                <a:latin typeface="Microsoft YaHei"/>
                <a:ea typeface="Microsoft YaHei"/>
              </a:rPr>
              <a:t>.md §4</a:t>
            </a:r>
            <a:endParaRPr/>
          </a:p>
        </p:txBody>
      </p:sp>
      <p:sp>
        <p:nvSpPr>
          <p:cNvPr id="1587"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42 / 124 </a:t>
            </a:r>
            <a:endParaRPr/>
          </a:p>
        </p:txBody>
      </p:sp>
    </p:spTree>
  </p:cSld>
</p:sld>
</file>

<file path=ppt/slides/slide43.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1588"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4 / 套路层面&lt;/Text&gt;&lt;Text style={{ fontSize: 32, color: '#0E2340', fontWeight: 700, lineHeight: 1.3 }}&gt;路线二：结合知识点掌握情况推荐&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paddingTop: 4 }}&gt;&lt;Box style={{ marginBottom: 14 }}&gt;&lt;Box style={{ flexDirection: 'row', alignItems: 'center', background: '#F5F7FA', borderLeft: '4px solid #0E2340', borderRadius: 6, padding: '14px 20px' }}&gt;&lt;Text style={{ fontSize: 20, color: '#0E2340', fontWeight: 600, lineHeight: 1.5 }}&gt;推荐同时考虑该套路本身的练习表现，不能只看知识点分数&lt;/Text&gt;&lt;/Box&gt;&lt;/Box&gt;&lt;Box style={{ flex: 1 }}&gt;&lt;Table style={{ width: '100%', height: '100%' }} defaultTextStyle={{ fontSize: 17, textAlign: 'left', color: '#333A45' }} defaultCellStyle={{ padding: 10, border: { left: { width: 1, color: '#E3E8EF' }, right: { width: 1, color: '#E3E8EF' }, top: { width: 1, color: '#E3E8EF' }, bottom: { width: 1, color: '#E3E8EF' } } }} cells={[[{ text: '学生当前情况', textStyle: { color: '#FFFFFF', fontWeight: 600, fontSize: 17 }, cellStyle: { background: { color: '#0E2340' } } }, { text: '推荐方向', textStyle: { color: '#FFFFFF', fontWeight: 600, fontSize: 17 }, cellStyle: { background: { color: '#0E2340' } } }],&#10;        [{ text: '前置知识充分，但套路练习不足', textStyle: { fontWeight: 600, fontSize: 17 } }, { text: '直接安排该套路的六步循环训练', textStyle: { fontSize: 17 } }],&#10;        [{ text: '某前置知识点有经核实的薄弱表现', textStyle: { fontWeight: 600, fontSize: 17 }, cellStyle: { background: { color: '#F5F7FA' } } }, { text: '先补该知识点，再回到套路训练', textStyle: { fontSize: 17 }, cellStyle: { background: { color: '#F5F7FA' } } }],&#10;        [{ text: '只在某一步骤反复卡住', textStyle: { fontWeight: 600, fontSize: 17 } }, { text: '安排该步骤的专项补练，再应用回完整题目', textStyle: { fontSize: 17 } }],&#10;        [{ text: '套路题会做，但概念条件辨析弱', textStyle: { fontWeight: 600, fontSize: 17 }, cellStyle: { background: { color: '#F5F7FA' } } }, { text: '增加知识理解专项测评与变式比较', textStyle: { fontSize: 17 }, cellStyle: { background: { color: '#F5F7FA' } } }],&#10;        [{ text: '知识或套路记录不足', textStyle: { fontWeight: 600, fontSize: 17 } }, { text: '先安排适量诊断，不因缺少记录长期分配较低要求的作业', textStyle: { fontSize: 17 } }]]} /&gt;&lt;/Box&gt;&lt;/Box&gt;&lt;/Box&gt;&lt;Box style={{ height: 40, flexDirection: 'row', justifyContent: 'space-between', alignItems: 'center', borderTop: '1px solid #E3E8EF', marginTop: 8 }}&gt;&lt;Text style={{ fontSize: 13, color: '#7A8699', fontWeight: 400, lineHeight: 1.4 }}&gt;依据：套路层面设计思路.md §4.2&lt;/Text&gt;&lt;Text style={{ fontSize: 14, color: '#7A8699', fontWeight: 400, lineHeight: 1.4 }}&gt; 43 / 124 &lt;/Text&gt;&lt;/Box&gt;&lt;/Slide&gt;"/>
        <p:cNvGrpSpPr/>
        <p:nvPr/>
      </p:nvGrpSpPr>
      <p:grpSpPr>
        <a:xfrm>
          <a:off x="0" y="0"/>
          <a:ext cx="0" cy="0"/>
          <a:chOff x="0" y="0"/>
          <a:chExt cx="0" cy="0"/>
        </a:xfrm>
      </p:grpSpPr>
      <p:sp>
        <p:nvSpPr>
          <p:cNvPr id="1589" name=""/>
          <p:cNvSpPr/>
          <p:nvPr/>
        </p:nvSpPr>
        <p:spPr>
          <a:xfrm rot="0" flipH="0" flipV="0">
            <a:off x="0" y="0"/>
            <a:ext cx="12192000" cy="6858000"/>
          </a:xfrm>
          <a:prstGeom prst="rect">
            <a:avLst/>
          </a:prstGeom>
          <a:solidFill>
            <a:srgbClr val="FFFFFF"/>
          </a:solidFill>
          <a:ln/>
        </p:spPr>
        <p:txBody>
          <a:bodyPr/>
          <a:p/>
        </p:txBody>
      </p:sp>
      <p:sp>
        <p:nvSpPr>
          <p:cNvPr id="1590" name="" descr="{&quot;isTemplate&quot;:true,&quot;type&quot;:&quot;text&quot;}"/>
          <p:cNvSpPr txBox="1"/>
          <p:nvPr/>
        </p:nvSpPr>
        <p:spPr>
          <a:xfrm rot="0" flipH="0" flipV="0">
            <a:off x="666750" y="381000"/>
            <a:ext cx="45720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04 / </a:t>
            </a:r>
            <a:r>
              <a:rPr lang="zh-CN" sz="1050" spc="75">
                <a:solidFill>
                  <a:srgbClr val="7A8699"/>
                </a:solidFill>
                <a:latin typeface="Microsoft YaHei"/>
                <a:ea typeface="Microsoft YaHei"/>
              </a:rPr>
              <a:t>套路层面</a:t>
            </a:r>
            <a:endParaRPr/>
          </a:p>
        </p:txBody>
      </p:sp>
      <p:sp>
        <p:nvSpPr>
          <p:cNvPr id="1591" name="" descr="{&quot;isTemplate&quot;:true,&quot;type&quot;:&quot;text&quot;}"/>
          <p:cNvSpPr txBox="1"/>
          <p:nvPr/>
        </p:nvSpPr>
        <p:spPr>
          <a:xfrm rot="0" flipH="0" flipV="0">
            <a:off x="666750" y="666750"/>
            <a:ext cx="4572000" cy="476250"/>
          </a:xfrm>
          <a:prstGeom prst="rect"/>
        </p:spPr>
        <p:txBody>
          <a:bodyPr wrap="none" lIns="0" tIns="0" rIns="0" bIns="0"/>
          <a:p>
            <a:pPr>
              <a:lnSpc>
                <a:spcPct val="130000"/>
              </a:lnSpc>
            </a:pPr>
            <a:r>
              <a:rPr lang="zh-CN" sz="2400" b="1">
                <a:solidFill>
                  <a:srgbClr val="0E2340"/>
                </a:solidFill>
                <a:latin typeface="Microsoft YaHei"/>
                <a:ea typeface="Microsoft YaHei"/>
              </a:rPr>
              <a:t>路线二：结合知识点掌握情况推荐</a:t>
            </a:r>
            <a:endParaRPr/>
          </a:p>
        </p:txBody>
      </p:sp>
      <p:sp>
        <p:nvSpPr>
          <p:cNvPr id="1592"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593"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1594" name=""/>
          <p:cNvSpPr/>
          <p:nvPr/>
        </p:nvSpPr>
        <p:spPr>
          <a:xfrm rot="0" flipH="0" flipV="0">
            <a:off x="704850" y="1257300"/>
            <a:ext cx="10858500" cy="609600"/>
          </a:xfrm>
          <a:prstGeom prst="roundRect">
            <a:avLst>
              <a:gd name="adj" fmla="val 9375"/>
            </a:avLst>
          </a:prstGeom>
          <a:solidFill>
            <a:srgbClr val="F5F7FA"/>
          </a:solidFill>
          <a:ln/>
        </p:spPr>
        <p:txBody>
          <a:bodyPr/>
          <a:p/>
        </p:txBody>
      </p:sp>
      <p:sp>
        <p:nvSpPr>
          <p:cNvPr id="1595" name=""/>
          <p:cNvSpPr/>
          <p:nvPr/>
        </p:nvSpPr>
        <p:spPr>
          <a:xfrm rot="0" flipH="0" flipV="0">
            <a:off x="704850" y="12573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1596" name="" descr="{&quot;isTemplate&quot;:true,&quot;type&quot;:&quot;text&quot;}"/>
          <p:cNvSpPr txBox="1"/>
          <p:nvPr/>
        </p:nvSpPr>
        <p:spPr>
          <a:xfrm rot="0" flipH="0" flipV="0">
            <a:off x="895350" y="1390650"/>
            <a:ext cx="4953000" cy="342900"/>
          </a:xfrm>
          <a:prstGeom prst="rect"/>
        </p:spPr>
        <p:txBody>
          <a:bodyPr wrap="none" lIns="0" tIns="0" rIns="0" bIns="0"/>
          <a:p>
            <a:pPr>
              <a:lnSpc>
                <a:spcPct val="150000"/>
              </a:lnSpc>
            </a:pPr>
            <a:r>
              <a:rPr lang="zh-CN" sz="1500" b="1">
                <a:solidFill>
                  <a:srgbClr val="0E2340"/>
                </a:solidFill>
                <a:latin typeface="Microsoft YaHei"/>
                <a:ea typeface="Microsoft YaHei"/>
              </a:rPr>
              <a:t>推荐同时考虑该套路本身的练习表现，不能只看知识点分数</a:t>
            </a:r>
            <a:endParaRPr/>
          </a:p>
        </p:txBody>
      </p:sp>
      <p:graphicFrame>
        <p:nvGraphicFramePr>
          <p:cNvPr id="1597" name=""/>
          <p:cNvGraphicFramePr/>
          <p:nvPr/>
        </p:nvGraphicFramePr>
        <p:xfrm rot="0" flipH="0" flipV="0">
          <a:off x="666750" y="2000250"/>
          <a:ext cx="10858500" cy="4210050"/>
        </p:xfrm>
        <a:graphic>
          <a:graphicData uri="http://schemas.openxmlformats.org/drawingml/2006/table">
            <a:tbl>
              <a:tblGrid>
                <a:gridCol w="4109209">
                  <a:extLst>
                    <a:ext uri="{9D8B030D-6E8A-4147-A177-3AD203B41FA5}">
                      <a16:colId val="1"/>
                    </a:ext>
                  </a:extLst>
                </a:gridCol>
                <a:gridCol w="6749291">
                  <a:extLst>
                    <a:ext uri="{9D8B030D-6E8A-4147-A177-3AD203B41FA5}">
                      <a16:colId val="2"/>
                    </a:ext>
                  </a:extLst>
                </a:gridCol>
              </a:tblGrid>
              <a:tr h="701675">
                <a:tc>
                  <a:txBody>
                    <a:bodyPr wrap="square" lIns="0" tIns="0" rIns="0" bIns="0" anchor="ctr">
                      <a:normAutofit/>
                    </a:bodyPr>
                    <a:p>
                      <a:pPr marL="114300" marR="114300" algn="l">
                        <a:lnSpc>
                          <a:spcPct val="120000"/>
                        </a:lnSpc>
                      </a:pPr>
                      <a:r>
                        <a:rPr sz="1275">
                          <a:solidFill>
                            <a:srgbClr val="FFFFFF"/>
                          </a:solidFill>
                          <a:latin typeface="Microsoft YaHei"/>
                          <a:ea typeface="Microsoft YaHei"/>
                        </a:rPr>
                        <a:t>学生当前情况</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75">
                          <a:solidFill>
                            <a:srgbClr val="FFFFFF"/>
                          </a:solidFill>
                          <a:latin typeface="Microsoft YaHei"/>
                          <a:ea typeface="Microsoft YaHei"/>
                        </a:rPr>
                        <a:t>推荐方向</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701675">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前置知识充分，但套路练习不足</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直接安排该套路的六步循环训练</a:t>
                      </a:r>
                      <a:endParaRPr/>
                    </a:p>
                  </a:txBody>
                  <a:tcPr marL="45720" marR="45720" marT="45720" marB="45720" anchor="ctr">
                    <a:lnL>
                      <a:noFill/>
                    </a:lnL>
                    <a:lnR>
                      <a:noFill/>
                    </a:lnR>
                    <a:lnT>
                      <a:noFill/>
                    </a:lnT>
                    <a:lnB>
                      <a:noFill/>
                    </a:lnB>
                  </a:tcPr>
                </a:tc>
                <a:extLst>
                  <a:ext uri="{0D108BD9-81ED-4DB2-BD59-A6C34878D82A}">
                    <a16:rowId val="2"/>
                  </a:ext>
                </a:extLst>
              </a:tr>
              <a:tr h="701675">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某前置知识点有经核实的薄弱表现</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先补该知识点，再回到套路训练</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701675">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只在某一步骤反复卡住</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安排该步骤的专项补练，再应用回完整题目</a:t>
                      </a:r>
                      <a:endParaRPr/>
                    </a:p>
                  </a:txBody>
                  <a:tcPr marL="45720" marR="45720" marT="45720" marB="45720" anchor="ctr">
                    <a:lnL>
                      <a:noFill/>
                    </a:lnL>
                    <a:lnR>
                      <a:noFill/>
                    </a:lnR>
                    <a:lnT>
                      <a:noFill/>
                    </a:lnT>
                    <a:lnB>
                      <a:noFill/>
                    </a:lnB>
                  </a:tcPr>
                </a:tc>
                <a:extLst>
                  <a:ext uri="{0D108BD9-81ED-4DB2-BD59-A6C34878D82A}">
                    <a16:rowId val="4"/>
                  </a:ext>
                </a:extLst>
              </a:tr>
              <a:tr h="701675">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套路题会做，但概念条件辨析弱</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增加知识理解专项测评与变式比较</a:t>
                      </a:r>
                      <a:endParaRPr/>
                    </a:p>
                  </a:txBody>
                  <a:tcPr marL="45720" marR="45720" marT="45720" marB="45720" anchor="ctr">
                    <a:lnL>
                      <a:noFill/>
                    </a:lnL>
                    <a:lnR>
                      <a:noFill/>
                    </a:lnR>
                    <a:lnT>
                      <a:noFill/>
                    </a:lnT>
                    <a:lnB>
                      <a:noFill/>
                    </a:lnB>
                    <a:solidFill>
                      <a:srgbClr val="F5F7FA"/>
                    </a:solidFill>
                  </a:tcPr>
                </a:tc>
                <a:extLst>
                  <a:ext uri="{0D108BD9-81ED-4DB2-BD59-A6C34878D82A}">
                    <a16:rowId val="5"/>
                  </a:ext>
                </a:extLst>
              </a:tr>
              <a:tr h="701675">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知识或套路记录不足</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先安排适量诊断，不因缺少记录长期分配较低要求的作业</a:t>
                      </a:r>
                      <a:endParaRPr/>
                    </a:p>
                  </a:txBody>
                  <a:tcPr marL="45720" marR="45720" marT="45720" marB="45720" anchor="ctr">
                    <a:lnL>
                      <a:noFill/>
                    </a:lnL>
                    <a:lnR>
                      <a:noFill/>
                    </a:lnR>
                    <a:lnT>
                      <a:noFill/>
                    </a:lnT>
                    <a:lnB>
                      <a:noFill/>
                    </a:lnB>
                  </a:tcPr>
                </a:tc>
                <a:extLst>
                  <a:ext uri="{0D108BD9-81ED-4DB2-BD59-A6C34878D82A}">
                    <a16:rowId val="6"/>
                  </a:ext>
                </a:extLst>
              </a:tr>
            </a:tbl>
          </a:graphicData>
        </a:graphic>
      </p:graphicFrame>
      <p:sp>
        <p:nvSpPr>
          <p:cNvPr id="1598"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599" name="" descr="{&quot;isTemplate&quot;:true,&quot;type&quot;:&quot;text&quot;}"/>
          <p:cNvSpPr txBox="1"/>
          <p:nvPr/>
        </p:nvSpPr>
        <p:spPr>
          <a:xfrm rot="0" flipH="0" flipV="0">
            <a:off x="666750" y="6381750"/>
            <a:ext cx="1847850" cy="209550"/>
          </a:xfrm>
          <a:prstGeom prst="rect"/>
        </p:spPr>
        <p:txBody>
          <a:bodyPr wrap="none" lIns="0" tIns="0" rIns="0" bIns="0"/>
          <a:p>
            <a:pPr>
              <a:lnSpc>
                <a:spcPct val="140000"/>
              </a:lnSpc>
            </a:pPr>
            <a:r>
              <a:rPr lang="zh-CN" sz="975">
                <a:solidFill>
                  <a:srgbClr val="7A8699"/>
                </a:solidFill>
                <a:latin typeface="Microsoft YaHei"/>
                <a:ea typeface="Microsoft YaHei"/>
              </a:rPr>
              <a:t>依据：套路层面设计思路</a:t>
            </a:r>
            <a:r>
              <a:rPr lang="en-US" sz="975">
                <a:solidFill>
                  <a:srgbClr val="7A8699"/>
                </a:solidFill>
                <a:latin typeface="Microsoft YaHei"/>
                <a:ea typeface="Microsoft YaHei"/>
              </a:rPr>
              <a:t>.md §4.2</a:t>
            </a:r>
            <a:endParaRPr/>
          </a:p>
        </p:txBody>
      </p:sp>
      <p:sp>
        <p:nvSpPr>
          <p:cNvPr id="1600"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43 / 124 </a:t>
            </a:r>
            <a:endParaRPr/>
          </a:p>
        </p:txBody>
      </p:sp>
    </p:spTree>
  </p:cSld>
</p:sld>
</file>

<file path=ppt/slides/slide44.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1601"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4 / 套路层面&lt;/Text&gt;&lt;Text style={{ fontSize: 32, color: '#0E2340', fontWeight: 700, lineHeight: 1.3 }}&gt;已有相近算法与初期可行方案&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gap: 14 }}&gt;&lt;Box style={{ height: 250 }}&gt;&lt;Table style={{ width: '100%', height: '100%' }} defaultTextStyle={{ fontSize: 15, textAlign: 'left', color: '#333A45' }} defaultCellStyle={{ padding: 10, border: { left: { width: 1, color: '#E3E8EF' }, right: { width: 1, color: '#E3E8EF' }, top: { width: 1, color: '#E3E8EF' }, bottom: { width: 1, color: '#E3E8EF' } } }} cells={[[{ text: '工作', textStyle: { color: '#FFFFFF', fontWeight: 600, fontSize: 15 }, cellStyle: { background: { color: '#0E2340' } } }, { text: '已有研究', textStyle: { color: '#FFFFFF', fontWeight: 600, fontSize: 15 }, cellStyle: { background: { color: '#0E2340' } } }, { text: '对本项目的边界', textStyle: { color: '#FFFFFF', fontWeight: 600, fontSize: 15 }, cellStyle: { background: { color: '#0E2340' } } }],&#10;        [{ text: 'PFA（Performance Factors Analysis，AIED 2009）', textStyle: { fontWeight: 600, fontSize: 15 } }, { text: '知识成分的成功 / 失败历史建模', textStyle: { fontSize: 15 } }, { text: '论文知识成分与本项目 YAML 知识点不天然一一对应，需建立映射并拟合参数', textStyle: { fontSize: 15 } }],&#10;        [{ text: 'HGKT（SIGIR 2022）', textStyle: { fontWeight: 600, fontSize: 15 }, cellStyle: { background: { color: '#F5F7FA' } } }, { text: '引入 problem schema 建立分层习题图，用 K&amp;amp;S 诊断矩阵', textStyle: { fontSize: 15 }, cellStyle: { background: { color: '#F5F7FA' } } }, { text: '与本项目同时保留知识点和套路两种记录最接近；problem schema 不可直接等同步骤组合定义', textStyle: { fontSize: 15 }, cellStyle: { background: { color: '#F5F7FA' } } }],&#10;        [{ text: 'Prerequisite-Driven Deep Knowledge Tracing', textStyle: { fontWeight: 600, fontSize: 15 } }, { text: '概念前置关系作结构约束', textStyle: { fontSize: 15 } }, { text: '不能把会做某套路硬推为所有前置知识均已掌握', textStyle: { fontSize: 15 } }],&#10;        [{ text: 'Prerequisite Structure Discovery in ITS（ICDL 2023）', textStyle: { fontWeight: 600, fontSize: 15 }, cellStyle: { background: { color: '#F5F7FA' } } }, { text: '联合知识结构与知识追踪用于内容推荐', textStyle: { fontSize: 15 }, cellStyle: { background: { color: '#F5F7FA' } } }, { text: '其推荐评价用模拟学生，不能直接外推为真实高中生学习增益', textStyle: { fontSize: 15 }, cellStyle: { background: { color: '#F5F7FA' } } }]]} /&gt;&lt;/Box&gt;&lt;Box style={{ flexDirection: 'row', alignItems: 'center', background: '#F5F7FA', borderLeft: '4px solid #1E7BE0', borderRadius: 6, padding: '14px 20px' }}&gt;&lt;Text style={{ fontSize: 17, color: '#0E2340', fontWeight: 600, lineHeight: 1.5 }}&gt;关键区分：知识追踪模型解决“下一次可能表现怎样”，还需推荐策略决定“下一项应该练什么”；预测准确 ≠ 推荐提高了学习效果&lt;/Text&gt;&lt;/Box&gt;&lt;/Box&gt;&lt;/Box&gt;&lt;Box style={{ height: 40, flexDirection: 'row', justifyContent: 'space-between', alignItems: 'center', borderTop: '1px solid #E3E8EF', marginTop: 8 }}&gt;&lt;Text style={{ fontSize: 13, color: '#7A8699', fontWeight: 400, lineHeight: 1.4 }}&gt;依据：套路层面设计思路.md §5–§6&lt;/Text&gt;&lt;Text style={{ fontSize: 14, color: '#7A8699', fontWeight: 400, lineHeight: 1.4 }}&gt; 44 / 124 &lt;/Text&gt;&lt;/Box&gt;&lt;/Slide&gt;"/>
        <p:cNvGrpSpPr/>
        <p:nvPr/>
      </p:nvGrpSpPr>
      <p:grpSpPr>
        <a:xfrm>
          <a:off x="0" y="0"/>
          <a:ext cx="0" cy="0"/>
          <a:chOff x="0" y="0"/>
          <a:chExt cx="0" cy="0"/>
        </a:xfrm>
      </p:grpSpPr>
      <p:sp>
        <p:nvSpPr>
          <p:cNvPr id="1602" name=""/>
          <p:cNvSpPr/>
          <p:nvPr/>
        </p:nvSpPr>
        <p:spPr>
          <a:xfrm rot="0" flipH="0" flipV="0">
            <a:off x="0" y="0"/>
            <a:ext cx="12192000" cy="6858000"/>
          </a:xfrm>
          <a:prstGeom prst="rect">
            <a:avLst/>
          </a:prstGeom>
          <a:solidFill>
            <a:srgbClr val="FFFFFF"/>
          </a:solidFill>
          <a:ln/>
        </p:spPr>
        <p:txBody>
          <a:bodyPr/>
          <a:p/>
        </p:txBody>
      </p:sp>
      <p:sp>
        <p:nvSpPr>
          <p:cNvPr id="1603" name="" descr="{&quot;isTemplate&quot;:true,&quot;type&quot;:&quot;text&quot;}"/>
          <p:cNvSpPr txBox="1"/>
          <p:nvPr/>
        </p:nvSpPr>
        <p:spPr>
          <a:xfrm rot="0" flipH="0" flipV="0">
            <a:off x="666750" y="381000"/>
            <a:ext cx="39624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04 / </a:t>
            </a:r>
            <a:r>
              <a:rPr lang="zh-CN" sz="1050" spc="75">
                <a:solidFill>
                  <a:srgbClr val="7A8699"/>
                </a:solidFill>
                <a:latin typeface="Microsoft YaHei"/>
                <a:ea typeface="Microsoft YaHei"/>
              </a:rPr>
              <a:t>套路层面</a:t>
            </a:r>
            <a:endParaRPr/>
          </a:p>
        </p:txBody>
      </p:sp>
      <p:sp>
        <p:nvSpPr>
          <p:cNvPr id="1604" name="" descr="{&quot;isTemplate&quot;:true,&quot;type&quot;:&quot;text&quot;}"/>
          <p:cNvSpPr txBox="1"/>
          <p:nvPr/>
        </p:nvSpPr>
        <p:spPr>
          <a:xfrm rot="0" flipH="0" flipV="0">
            <a:off x="666750" y="666750"/>
            <a:ext cx="3962400" cy="476250"/>
          </a:xfrm>
          <a:prstGeom prst="rect"/>
        </p:spPr>
        <p:txBody>
          <a:bodyPr wrap="none" lIns="0" tIns="0" rIns="0" bIns="0"/>
          <a:p>
            <a:pPr>
              <a:lnSpc>
                <a:spcPct val="130000"/>
              </a:lnSpc>
            </a:pPr>
            <a:r>
              <a:rPr lang="zh-CN" sz="2400" b="1">
                <a:solidFill>
                  <a:srgbClr val="0E2340"/>
                </a:solidFill>
                <a:latin typeface="Microsoft YaHei"/>
                <a:ea typeface="Microsoft YaHei"/>
              </a:rPr>
              <a:t>已有相近算法与初期可行方案</a:t>
            </a:r>
            <a:endParaRPr/>
          </a:p>
        </p:txBody>
      </p:sp>
      <p:sp>
        <p:nvSpPr>
          <p:cNvPr id="1605"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606"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graphicFrame>
        <p:nvGraphicFramePr>
          <p:cNvPr id="1607" name=""/>
          <p:cNvGraphicFramePr/>
          <p:nvPr/>
        </p:nvGraphicFramePr>
        <p:xfrm rot="0" flipH="0" flipV="0">
          <a:off x="666750" y="1219200"/>
          <a:ext cx="10858500" cy="2381250"/>
        </p:xfrm>
        <a:graphic>
          <a:graphicData uri="http://schemas.openxmlformats.org/drawingml/2006/table">
            <a:tbl>
              <a:tblGrid>
                <a:gridCol w="2810560">
                  <a:extLst>
                    <a:ext uri="{9D8B030D-6E8A-4147-A177-3AD203B41FA5}">
                      <a16:colId val="1"/>
                    </a:ext>
                  </a:extLst>
                </a:gridCol>
                <a:gridCol w="3227670">
                  <a:extLst>
                    <a:ext uri="{9D8B030D-6E8A-4147-A177-3AD203B41FA5}">
                      <a16:colId val="2"/>
                    </a:ext>
                  </a:extLst>
                </a:gridCol>
                <a:gridCol w="4820270">
                  <a:extLst>
                    <a:ext uri="{9D8B030D-6E8A-4147-A177-3AD203B41FA5}">
                      <a16:colId val="3"/>
                    </a:ext>
                  </a:extLst>
                </a:gridCol>
              </a:tblGrid>
              <a:tr h="305884">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工作</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已有研究</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对本项目的边界</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518841">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PFA（Performance Factors Analysis，AIED 2009）</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知识成分的成功 / 失败历史建模</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论文知识成分与本项目 YAML 知识点不天然一一对应，需建立映射并拟合参数</a:t>
                      </a:r>
                      <a:endParaRPr/>
                    </a:p>
                  </a:txBody>
                  <a:tcPr marL="45720" marR="45720" marT="45720" marB="45720" anchor="ctr">
                    <a:lnL>
                      <a:noFill/>
                    </a:lnL>
                    <a:lnR>
                      <a:noFill/>
                    </a:lnR>
                    <a:lnT>
                      <a:noFill/>
                    </a:lnT>
                    <a:lnB>
                      <a:noFill/>
                    </a:lnB>
                  </a:tcPr>
                </a:tc>
                <a:extLst>
                  <a:ext uri="{0D108BD9-81ED-4DB2-BD59-A6C34878D82A}">
                    <a16:rowId val="2"/>
                  </a:ext>
                </a:extLst>
              </a:tr>
              <a:tr h="518841">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HGKT（SIGIR 2022）</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引入 problem schema 建立分层习题图，用 K&amp;amp;S 诊断矩阵</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与本项目同时保留知识点和套路两种记录最接近；problem schema 不可直接等同步骤组合定义</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518841">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Prerequisite-Driven Deep Knowledge Tracing</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概念前置关系作结构约束</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不能把会做某套路硬推为所有前置知识均已掌握</a:t>
                      </a:r>
                      <a:endParaRPr/>
                    </a:p>
                  </a:txBody>
                  <a:tcPr marL="45720" marR="45720" marT="45720" marB="45720" anchor="ctr">
                    <a:lnL>
                      <a:noFill/>
                    </a:lnL>
                    <a:lnR>
                      <a:noFill/>
                    </a:lnR>
                    <a:lnT>
                      <a:noFill/>
                    </a:lnT>
                    <a:lnB>
                      <a:noFill/>
                    </a:lnB>
                  </a:tcPr>
                </a:tc>
                <a:extLst>
                  <a:ext uri="{0D108BD9-81ED-4DB2-BD59-A6C34878D82A}">
                    <a16:rowId val="4"/>
                  </a:ext>
                </a:extLst>
              </a:tr>
              <a:tr h="518841">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Prerequisite Structure Discovery in ITS（ICDL 2023）</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联合知识结构与知识追踪用于内容推荐</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其推荐评价用模拟学生，不能直接外推为真实高中生学习增益</a:t>
                      </a:r>
                      <a:endParaRPr/>
                    </a:p>
                  </a:txBody>
                  <a:tcPr marL="45720" marR="45720" marT="45720" marB="45720" anchor="ctr">
                    <a:lnL>
                      <a:noFill/>
                    </a:lnL>
                    <a:lnR>
                      <a:noFill/>
                    </a:lnR>
                    <a:lnT>
                      <a:noFill/>
                    </a:lnT>
                    <a:lnB>
                      <a:noFill/>
                    </a:lnB>
                    <a:solidFill>
                      <a:srgbClr val="F5F7FA"/>
                    </a:solidFill>
                  </a:tcPr>
                </a:tc>
                <a:extLst>
                  <a:ext uri="{0D108BD9-81ED-4DB2-BD59-A6C34878D82A}">
                    <a16:rowId val="5"/>
                  </a:ext>
                </a:extLst>
              </a:tr>
            </a:tbl>
          </a:graphicData>
        </a:graphic>
      </p:graphicFrame>
      <p:sp>
        <p:nvSpPr>
          <p:cNvPr id="1608" name=""/>
          <p:cNvSpPr/>
          <p:nvPr/>
        </p:nvSpPr>
        <p:spPr>
          <a:xfrm rot="0" flipH="0" flipV="0">
            <a:off x="704850" y="3733800"/>
            <a:ext cx="10858500" cy="561975"/>
          </a:xfrm>
          <a:prstGeom prst="roundRect">
            <a:avLst>
              <a:gd name="adj" fmla="val 10169"/>
            </a:avLst>
          </a:prstGeom>
          <a:solidFill>
            <a:srgbClr val="F5F7FA"/>
          </a:solidFill>
          <a:ln/>
        </p:spPr>
        <p:txBody>
          <a:bodyPr/>
          <a:p/>
        </p:txBody>
      </p:sp>
      <p:sp>
        <p:nvSpPr>
          <p:cNvPr id="1609" name=""/>
          <p:cNvSpPr/>
          <p:nvPr/>
        </p:nvSpPr>
        <p:spPr>
          <a:xfrm rot="0" flipH="0" flipV="0">
            <a:off x="704850" y="3733800"/>
            <a:ext cx="10858500" cy="561975"/>
          </a:xfrm>
          <a:custGeom>
            <a:pathLst>
              <a:path w="1140" h="59">
                <a:moveTo>
                  <a:pt x="6" y="0"/>
                </a:moveTo>
                <a:cubicBezTo>
                  <a:pt x="5" y="0"/>
                  <a:pt x="4" y="1"/>
                  <a:pt x="4" y="2"/>
                </a:cubicBezTo>
                <a:lnTo>
                  <a:pt x="4" y="57"/>
                </a:lnTo>
                <a:cubicBezTo>
                  <a:pt x="4" y="58"/>
                  <a:pt x="5" y="59"/>
                  <a:pt x="6" y="59"/>
                </a:cubicBezTo>
                <a:cubicBezTo>
                  <a:pt x="3" y="59"/>
                  <a:pt x="0" y="56"/>
                  <a:pt x="0" y="53"/>
                </a:cubicBezTo>
                <a:lnTo>
                  <a:pt x="0" y="6"/>
                </a:lnTo>
                <a:cubicBezTo>
                  <a:pt x="0" y="3"/>
                  <a:pt x="3" y="0"/>
                  <a:pt x="6" y="0"/>
                </a:cubicBezTo>
                <a:close/>
              </a:path>
            </a:pathLst>
          </a:custGeom>
          <a:solidFill>
            <a:srgbClr val="1E7BE0"/>
          </a:solidFill>
          <a:ln/>
        </p:spPr>
        <p:txBody>
          <a:bodyPr/>
          <a:p/>
        </p:txBody>
      </p:sp>
      <p:sp>
        <p:nvSpPr>
          <p:cNvPr id="1610" name="" descr="{&quot;isTemplate&quot;:true,&quot;type&quot;:&quot;text&quot;}"/>
          <p:cNvSpPr txBox="1"/>
          <p:nvPr/>
        </p:nvSpPr>
        <p:spPr>
          <a:xfrm rot="0" flipH="0" flipV="0">
            <a:off x="895350" y="3867150"/>
            <a:ext cx="9086850" cy="295275"/>
          </a:xfrm>
          <a:prstGeom prst="rect"/>
        </p:spPr>
        <p:txBody>
          <a:bodyPr wrap="none" lIns="0" tIns="0" rIns="0" bIns="0"/>
          <a:p>
            <a:pPr>
              <a:lnSpc>
                <a:spcPct val="150000"/>
              </a:lnSpc>
            </a:pPr>
            <a:r>
              <a:rPr lang="zh-CN" sz="1275" b="1">
                <a:solidFill>
                  <a:srgbClr val="0E2340"/>
                </a:solidFill>
                <a:latin typeface="Microsoft YaHei"/>
                <a:ea typeface="Microsoft YaHei"/>
              </a:rPr>
              <a:t>关键区分：知识追踪模型解决“下一次可能表现怎样”，还需推荐策略决定“下一项应该练什么”；预测准确</a:t>
            </a:r>
            <a:r>
              <a:rPr lang="en-US" sz="1275" b="1">
                <a:solidFill>
                  <a:srgbClr val="0E2340"/>
                </a:solidFill>
                <a:latin typeface="Microsoft YaHei"/>
                <a:ea typeface="Microsoft YaHei"/>
              </a:rPr>
              <a:t xml:space="preserve"> ≠ </a:t>
            </a:r>
            <a:r>
              <a:rPr lang="zh-CN" sz="1275" b="1">
                <a:solidFill>
                  <a:srgbClr val="0E2340"/>
                </a:solidFill>
                <a:latin typeface="Microsoft YaHei"/>
                <a:ea typeface="Microsoft YaHei"/>
              </a:rPr>
              <a:t>推荐提高了学习效果</a:t>
            </a:r>
            <a:endParaRPr/>
          </a:p>
        </p:txBody>
      </p:sp>
      <p:sp>
        <p:nvSpPr>
          <p:cNvPr id="1611"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612" name="" descr="{&quot;isTemplate&quot;:true,&quot;type&quot;:&quot;text&quot;}"/>
          <p:cNvSpPr txBox="1"/>
          <p:nvPr/>
        </p:nvSpPr>
        <p:spPr>
          <a:xfrm rot="0" flipH="0" flipV="0">
            <a:off x="666750" y="6381750"/>
            <a:ext cx="1952625" cy="209550"/>
          </a:xfrm>
          <a:prstGeom prst="rect"/>
        </p:spPr>
        <p:txBody>
          <a:bodyPr wrap="none" lIns="0" tIns="0" rIns="0" bIns="0"/>
          <a:p>
            <a:pPr>
              <a:lnSpc>
                <a:spcPct val="140000"/>
              </a:lnSpc>
            </a:pPr>
            <a:r>
              <a:rPr lang="zh-CN" sz="975">
                <a:solidFill>
                  <a:srgbClr val="7A8699"/>
                </a:solidFill>
                <a:latin typeface="Microsoft YaHei"/>
                <a:ea typeface="Microsoft YaHei"/>
              </a:rPr>
              <a:t>依据：套路层面设计思路</a:t>
            </a:r>
            <a:r>
              <a:rPr lang="en-US" sz="975">
                <a:solidFill>
                  <a:srgbClr val="7A8699"/>
                </a:solidFill>
                <a:latin typeface="Microsoft YaHei"/>
                <a:ea typeface="Microsoft YaHei"/>
              </a:rPr>
              <a:t>.md §5–§6</a:t>
            </a:r>
            <a:endParaRPr/>
          </a:p>
        </p:txBody>
      </p:sp>
      <p:sp>
        <p:nvSpPr>
          <p:cNvPr id="1613"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44 / 124 </a:t>
            </a:r>
            <a:endParaRPr/>
          </a:p>
        </p:txBody>
      </p:sp>
    </p:spTree>
  </p:cSld>
</p:sld>
</file>

<file path=ppt/slides/slide45.xml><?xml version="1.0" encoding="utf-8"?>
<p:sld xmlns:p="http://schemas.openxmlformats.org/presentationml/2006/main" xmlns:a="http://schemas.openxmlformats.org/drawingml/2006/main">
  <p:cSld>
    <p:spTree>
      <p:nvGrpSpPr>
        <p:cNvPr id="1614"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4 / 套路层面&lt;/Text&gt;&lt;Text style={{ fontSize: 32, color: '#0E2340', fontWeight: 700, lineHeight: 1.3 }}&gt;怎样验证它是否是更科学的刷题方式&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gt;&lt;Box style={{ marginBottom: 16 }}&gt;&lt;Box style={{ flexDirection: 'row', alignItems: 'center', background: '#F5F7FA', borderLeft: '4px solid #0E2340', borderRadius: 6, padding: '14px 20px' }}&gt;&lt;Text style={{ fontSize: 20, color: '#0E2340', fontWeight: 600, lineHeight: 1.5 }}&gt;三种策略比较：固定套路顺序 / 仅按知识状态推荐 / 顺序与知识状态结合；保持题库、时间、提示权限、批改标准一致&lt;/Text&gt;&lt;/Box&gt;&lt;/Box&gt;&lt;Box style={{ flexDirection: 'row', gap: 20, flex: 1 }}&gt;&lt;Box style={{ width: 270,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套路能力&lt;/Text&gt;&lt;Text style={{ fontSize: 18, color: '#333A45', fontWeight: 400, lineHeight: 1.6 }}&gt;新题独立识别与完成、间隔保持是否提升&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知识理解&lt;/Text&gt;&lt;Text style={{ fontSize: 18, color: '#333A45', fontWeight: 400, lineHeight: 1.6 }}&gt;概念条件与不同情境下的表现，不用套路通过率替代&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训练效率&lt;/Text&gt;&lt;Text style={{ fontSize: 18, color: '#333A45', fontWeight: 400, lineHeight: 1.6 }}&gt;达到同一目标所需的时间与题量&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推荐质量&lt;/Text&gt;&lt;Text style={{ fontSize: 18, color: '#333A45', fontWeight: 400, lineHeight: 1.6 }}&gt;前置是否适配、解释是否可核对、是否真正改善学习结果&lt;/Text&gt;&lt;/Box&gt;&lt;/Box&gt;&lt;/Box&gt;&lt;/Box&gt;&lt;/Box&gt;&lt;Box style={{ height: 40, flexDirection: 'row', justifyContent: 'space-between', alignItems: 'center', borderTop: '1px solid #E3E8EF', marginTop: 8 }}&gt;&lt;Text style={{ fontSize: 13, color: '#7A8699', fontWeight: 400, lineHeight: 1.4 }}&gt;依据：套路层面设计思路.md §7&lt;/Text&gt;&lt;Text style={{ fontSize: 14, color: '#7A8699', fontWeight: 400, lineHeight: 1.4 }}&gt; 45 / 124 &lt;/Text&gt;&lt;/Box&gt;&lt;/Slide&gt;"/>
        <p:cNvGrpSpPr/>
        <p:nvPr/>
      </p:nvGrpSpPr>
      <p:grpSpPr>
        <a:xfrm>
          <a:off x="0" y="0"/>
          <a:ext cx="0" cy="0"/>
          <a:chOff x="0" y="0"/>
          <a:chExt cx="0" cy="0"/>
        </a:xfrm>
      </p:grpSpPr>
      <p:sp>
        <p:nvSpPr>
          <p:cNvPr id="1615" name=""/>
          <p:cNvSpPr/>
          <p:nvPr/>
        </p:nvSpPr>
        <p:spPr>
          <a:xfrm rot="0" flipH="0" flipV="0">
            <a:off x="0" y="0"/>
            <a:ext cx="12192000" cy="6858000"/>
          </a:xfrm>
          <a:prstGeom prst="rect">
            <a:avLst/>
          </a:prstGeom>
          <a:solidFill>
            <a:srgbClr val="FFFFFF"/>
          </a:solidFill>
          <a:ln/>
        </p:spPr>
        <p:txBody>
          <a:bodyPr/>
          <a:p/>
        </p:txBody>
      </p:sp>
      <p:sp>
        <p:nvSpPr>
          <p:cNvPr id="1616" name="" descr="{&quot;isTemplate&quot;:true,&quot;type&quot;:&quot;text&quot;}"/>
          <p:cNvSpPr txBox="1"/>
          <p:nvPr/>
        </p:nvSpPr>
        <p:spPr>
          <a:xfrm rot="0" flipH="0" flipV="0">
            <a:off x="666750" y="381000"/>
            <a:ext cx="4876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04 / </a:t>
            </a:r>
            <a:r>
              <a:rPr lang="zh-CN" sz="1050" spc="75">
                <a:solidFill>
                  <a:srgbClr val="7A8699"/>
                </a:solidFill>
                <a:latin typeface="Microsoft YaHei"/>
                <a:ea typeface="Microsoft YaHei"/>
              </a:rPr>
              <a:t>套路层面</a:t>
            </a:r>
            <a:endParaRPr/>
          </a:p>
        </p:txBody>
      </p:sp>
      <p:sp>
        <p:nvSpPr>
          <p:cNvPr id="1617" name="" descr="{&quot;isTemplate&quot;:true,&quot;type&quot;:&quot;text&quot;}"/>
          <p:cNvSpPr txBox="1"/>
          <p:nvPr/>
        </p:nvSpPr>
        <p:spPr>
          <a:xfrm rot="0" flipH="0" flipV="0">
            <a:off x="666750" y="666750"/>
            <a:ext cx="4876800" cy="476250"/>
          </a:xfrm>
          <a:prstGeom prst="rect"/>
        </p:spPr>
        <p:txBody>
          <a:bodyPr wrap="none" lIns="0" tIns="0" rIns="0" bIns="0"/>
          <a:p>
            <a:pPr>
              <a:lnSpc>
                <a:spcPct val="130000"/>
              </a:lnSpc>
            </a:pPr>
            <a:r>
              <a:rPr lang="zh-CN" sz="2400" b="1">
                <a:solidFill>
                  <a:srgbClr val="0E2340"/>
                </a:solidFill>
                <a:latin typeface="Microsoft YaHei"/>
                <a:ea typeface="Microsoft YaHei"/>
              </a:rPr>
              <a:t>怎样验证它是否是更科学的刷题方式</a:t>
            </a:r>
            <a:endParaRPr/>
          </a:p>
        </p:txBody>
      </p:sp>
      <p:sp>
        <p:nvSpPr>
          <p:cNvPr id="1618"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619"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1620" name=""/>
          <p:cNvSpPr/>
          <p:nvPr/>
        </p:nvSpPr>
        <p:spPr>
          <a:xfrm rot="0" flipH="0" flipV="0">
            <a:off x="704850" y="1219200"/>
            <a:ext cx="10858500" cy="609600"/>
          </a:xfrm>
          <a:prstGeom prst="roundRect">
            <a:avLst>
              <a:gd name="adj" fmla="val 9375"/>
            </a:avLst>
          </a:prstGeom>
          <a:solidFill>
            <a:srgbClr val="F5F7FA"/>
          </a:solidFill>
          <a:ln/>
        </p:spPr>
        <p:txBody>
          <a:bodyPr/>
          <a:p/>
        </p:txBody>
      </p:sp>
      <p:sp>
        <p:nvSpPr>
          <p:cNvPr id="1621" name=""/>
          <p:cNvSpPr/>
          <p:nvPr/>
        </p:nvSpPr>
        <p:spPr>
          <a:xfrm rot="0" flipH="0" flipV="0">
            <a:off x="704850" y="12192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1622" name="" descr="{&quot;isTemplate&quot;:true,&quot;type&quot;:&quot;text&quot;}"/>
          <p:cNvSpPr txBox="1"/>
          <p:nvPr/>
        </p:nvSpPr>
        <p:spPr>
          <a:xfrm rot="0" flipH="0" flipV="0">
            <a:off x="895350" y="1352550"/>
            <a:ext cx="9848850" cy="342900"/>
          </a:xfrm>
          <a:prstGeom prst="rect"/>
        </p:spPr>
        <p:txBody>
          <a:bodyPr wrap="none" lIns="0" tIns="0" rIns="0" bIns="0"/>
          <a:p>
            <a:pPr>
              <a:lnSpc>
                <a:spcPct val="150000"/>
              </a:lnSpc>
            </a:pPr>
            <a:r>
              <a:rPr lang="zh-CN" sz="1500" b="1">
                <a:solidFill>
                  <a:srgbClr val="0E2340"/>
                </a:solidFill>
                <a:latin typeface="Microsoft YaHei"/>
                <a:ea typeface="Microsoft YaHei"/>
              </a:rPr>
              <a:t>三种策略比较：固定套路顺序</a:t>
            </a:r>
            <a:r>
              <a:rPr lang="en-US" sz="1500" b="1">
                <a:solidFill>
                  <a:srgbClr val="0E2340"/>
                </a:solidFill>
                <a:latin typeface="Microsoft YaHei"/>
                <a:ea typeface="Microsoft YaHei"/>
              </a:rPr>
              <a:t xml:space="preserve"> / </a:t>
            </a:r>
            <a:r>
              <a:rPr lang="zh-CN" sz="1500" b="1">
                <a:solidFill>
                  <a:srgbClr val="0E2340"/>
                </a:solidFill>
                <a:latin typeface="Microsoft YaHei"/>
                <a:ea typeface="Microsoft YaHei"/>
              </a:rPr>
              <a:t>仅按知识状态推荐</a:t>
            </a:r>
            <a:r>
              <a:rPr lang="en-US" sz="1500" b="1">
                <a:solidFill>
                  <a:srgbClr val="0E2340"/>
                </a:solidFill>
                <a:latin typeface="Microsoft YaHei"/>
                <a:ea typeface="Microsoft YaHei"/>
              </a:rPr>
              <a:t xml:space="preserve"> / </a:t>
            </a:r>
            <a:r>
              <a:rPr lang="zh-CN" sz="1500" b="1">
                <a:solidFill>
                  <a:srgbClr val="0E2340"/>
                </a:solidFill>
                <a:latin typeface="Microsoft YaHei"/>
                <a:ea typeface="Microsoft YaHei"/>
              </a:rPr>
              <a:t>顺序与知识状态结合；保持题库、时间、提示权限、批改标准一致</a:t>
            </a:r>
            <a:endParaRPr/>
          </a:p>
        </p:txBody>
      </p:sp>
      <p:sp>
        <p:nvSpPr>
          <p:cNvPr id="1623" name=""/>
          <p:cNvSpPr/>
          <p:nvPr/>
        </p:nvSpPr>
        <p:spPr>
          <a:xfrm rot="0" flipH="0" flipV="0">
            <a:off x="666750" y="1981200"/>
            <a:ext cx="2571750" cy="4229100"/>
          </a:xfrm>
          <a:prstGeom prst="roundRect">
            <a:avLst>
              <a:gd name="adj" fmla="val 2963"/>
            </a:avLst>
          </a:prstGeom>
          <a:solidFill>
            <a:srgbClr val="FFFFFF"/>
          </a:solidFill>
          <a:ln w="12700">
            <a:solidFill>
              <a:srgbClr val="E3E8EF"/>
            </a:solidFill>
            <a:prstDash val="solid"/>
          </a:ln>
        </p:spPr>
        <p:txBody>
          <a:bodyPr/>
          <a:p/>
        </p:txBody>
      </p:sp>
      <p:sp>
        <p:nvSpPr>
          <p:cNvPr id="1624" name=""/>
          <p:cNvSpPr/>
          <p:nvPr/>
        </p:nvSpPr>
        <p:spPr>
          <a:xfrm rot="0" flipH="0" flipV="0">
            <a:off x="666750" y="1981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625" name="" descr="{&quot;isTemplate&quot;:true,&quot;type&quot;:&quot;text&quot;}"/>
          <p:cNvSpPr txBox="1"/>
          <p:nvPr/>
        </p:nvSpPr>
        <p:spPr>
          <a:xfrm rot="0" flipH="0" flipV="0">
            <a:off x="857250" y="2209800"/>
            <a:ext cx="2190750" cy="390525"/>
          </a:xfrm>
          <a:prstGeom prst="rect"/>
        </p:spPr>
        <p:txBody>
          <a:bodyPr wrap="none" lIns="0" tIns="0" rIns="0" bIns="0"/>
          <a:p>
            <a:pPr>
              <a:lnSpc>
                <a:spcPct val="140000"/>
              </a:lnSpc>
            </a:pPr>
            <a:r>
              <a:rPr lang="zh-CN" sz="1800" b="1">
                <a:solidFill>
                  <a:srgbClr val="0E2340"/>
                </a:solidFill>
                <a:latin typeface="Microsoft YaHei"/>
                <a:ea typeface="Microsoft YaHei"/>
              </a:rPr>
              <a:t>套路能力</a:t>
            </a:r>
            <a:endParaRPr/>
          </a:p>
        </p:txBody>
      </p:sp>
      <p:sp>
        <p:nvSpPr>
          <p:cNvPr id="1626" name="" descr="{&quot;isTemplate&quot;:true,&quot;type&quot;:&quot;text&quot;}"/>
          <p:cNvSpPr txBox="1"/>
          <p:nvPr/>
        </p:nvSpPr>
        <p:spPr>
          <a:xfrm rot="0" flipH="0" flipV="0">
            <a:off x="857250" y="2695575"/>
            <a:ext cx="2190750" cy="666750"/>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新题独立识别与完成、间隔保持是否提升</a:t>
            </a:r>
            <a:endParaRPr/>
          </a:p>
        </p:txBody>
      </p:sp>
      <p:sp>
        <p:nvSpPr>
          <p:cNvPr id="1627" name=""/>
          <p:cNvSpPr/>
          <p:nvPr/>
        </p:nvSpPr>
        <p:spPr>
          <a:xfrm rot="0" flipH="0" flipV="0">
            <a:off x="3429000" y="1981200"/>
            <a:ext cx="2571750" cy="4229100"/>
          </a:xfrm>
          <a:prstGeom prst="roundRect">
            <a:avLst>
              <a:gd name="adj" fmla="val 2963"/>
            </a:avLst>
          </a:prstGeom>
          <a:solidFill>
            <a:srgbClr val="FFFFFF"/>
          </a:solidFill>
          <a:ln w="12700">
            <a:solidFill>
              <a:srgbClr val="E3E8EF"/>
            </a:solidFill>
            <a:prstDash val="solid"/>
          </a:ln>
        </p:spPr>
        <p:txBody>
          <a:bodyPr/>
          <a:p/>
        </p:txBody>
      </p:sp>
      <p:sp>
        <p:nvSpPr>
          <p:cNvPr id="1628" name=""/>
          <p:cNvSpPr/>
          <p:nvPr/>
        </p:nvSpPr>
        <p:spPr>
          <a:xfrm rot="0" flipH="0" flipV="0">
            <a:off x="3429000" y="1981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629" name="" descr="{&quot;isTemplate&quot;:true,&quot;type&quot;:&quot;text&quot;}"/>
          <p:cNvSpPr txBox="1"/>
          <p:nvPr/>
        </p:nvSpPr>
        <p:spPr>
          <a:xfrm rot="0" flipH="0" flipV="0">
            <a:off x="3619500" y="2209800"/>
            <a:ext cx="2190750" cy="390525"/>
          </a:xfrm>
          <a:prstGeom prst="rect"/>
        </p:spPr>
        <p:txBody>
          <a:bodyPr wrap="none" lIns="0" tIns="0" rIns="0" bIns="0"/>
          <a:p>
            <a:pPr>
              <a:lnSpc>
                <a:spcPct val="140000"/>
              </a:lnSpc>
            </a:pPr>
            <a:r>
              <a:rPr lang="zh-CN" sz="1800" b="1">
                <a:solidFill>
                  <a:srgbClr val="0E2340"/>
                </a:solidFill>
                <a:latin typeface="Microsoft YaHei"/>
                <a:ea typeface="Microsoft YaHei"/>
              </a:rPr>
              <a:t>知识理解</a:t>
            </a:r>
            <a:endParaRPr/>
          </a:p>
        </p:txBody>
      </p:sp>
      <p:sp>
        <p:nvSpPr>
          <p:cNvPr id="1630" name="" descr="{&quot;isTemplate&quot;:true,&quot;type&quot;:&quot;text&quot;}"/>
          <p:cNvSpPr txBox="1"/>
          <p:nvPr/>
        </p:nvSpPr>
        <p:spPr>
          <a:xfrm rot="0" flipH="0" flipV="0">
            <a:off x="3619500" y="2695575"/>
            <a:ext cx="2190750" cy="666750"/>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概念条件与不同情境下的表现，不用套路通过率替代</a:t>
            </a:r>
            <a:endParaRPr/>
          </a:p>
        </p:txBody>
      </p:sp>
      <p:sp>
        <p:nvSpPr>
          <p:cNvPr id="1631" name=""/>
          <p:cNvSpPr/>
          <p:nvPr/>
        </p:nvSpPr>
        <p:spPr>
          <a:xfrm rot="0" flipH="0" flipV="0">
            <a:off x="6191250" y="1981200"/>
            <a:ext cx="2571750" cy="4229100"/>
          </a:xfrm>
          <a:prstGeom prst="roundRect">
            <a:avLst>
              <a:gd name="adj" fmla="val 2963"/>
            </a:avLst>
          </a:prstGeom>
          <a:solidFill>
            <a:srgbClr val="FFFFFF"/>
          </a:solidFill>
          <a:ln w="12700">
            <a:solidFill>
              <a:srgbClr val="E3E8EF"/>
            </a:solidFill>
            <a:prstDash val="solid"/>
          </a:ln>
        </p:spPr>
        <p:txBody>
          <a:bodyPr/>
          <a:p/>
        </p:txBody>
      </p:sp>
      <p:sp>
        <p:nvSpPr>
          <p:cNvPr id="1632" name=""/>
          <p:cNvSpPr/>
          <p:nvPr/>
        </p:nvSpPr>
        <p:spPr>
          <a:xfrm rot="0" flipH="0" flipV="0">
            <a:off x="6191250" y="1981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633" name="" descr="{&quot;isTemplate&quot;:true,&quot;type&quot;:&quot;text&quot;}"/>
          <p:cNvSpPr txBox="1"/>
          <p:nvPr/>
        </p:nvSpPr>
        <p:spPr>
          <a:xfrm rot="0" flipH="0" flipV="0">
            <a:off x="6381750" y="2209800"/>
            <a:ext cx="2190750" cy="390525"/>
          </a:xfrm>
          <a:prstGeom prst="rect"/>
        </p:spPr>
        <p:txBody>
          <a:bodyPr wrap="none" lIns="0" tIns="0" rIns="0" bIns="0"/>
          <a:p>
            <a:pPr>
              <a:lnSpc>
                <a:spcPct val="140000"/>
              </a:lnSpc>
            </a:pPr>
            <a:r>
              <a:rPr lang="zh-CN" sz="1800" b="1">
                <a:solidFill>
                  <a:srgbClr val="0E2340"/>
                </a:solidFill>
                <a:latin typeface="Microsoft YaHei"/>
                <a:ea typeface="Microsoft YaHei"/>
              </a:rPr>
              <a:t>训练效率</a:t>
            </a:r>
            <a:endParaRPr/>
          </a:p>
        </p:txBody>
      </p:sp>
      <p:sp>
        <p:nvSpPr>
          <p:cNvPr id="1634" name="" descr="{&quot;isTemplate&quot;:true,&quot;type&quot;:&quot;text&quot;}"/>
          <p:cNvSpPr txBox="1"/>
          <p:nvPr/>
        </p:nvSpPr>
        <p:spPr>
          <a:xfrm rot="0" flipH="0" flipV="0">
            <a:off x="6381750" y="2695575"/>
            <a:ext cx="2190750" cy="666750"/>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达到同一目标所需的时间与题量</a:t>
            </a:r>
            <a:endParaRPr/>
          </a:p>
        </p:txBody>
      </p:sp>
      <p:sp>
        <p:nvSpPr>
          <p:cNvPr id="1635" name=""/>
          <p:cNvSpPr/>
          <p:nvPr/>
        </p:nvSpPr>
        <p:spPr>
          <a:xfrm rot="0" flipH="0" flipV="0">
            <a:off x="8953500" y="1981200"/>
            <a:ext cx="2571750" cy="4229100"/>
          </a:xfrm>
          <a:prstGeom prst="roundRect">
            <a:avLst>
              <a:gd name="adj" fmla="val 2963"/>
            </a:avLst>
          </a:prstGeom>
          <a:solidFill>
            <a:srgbClr val="FFFFFF"/>
          </a:solidFill>
          <a:ln w="12700">
            <a:solidFill>
              <a:srgbClr val="E3E8EF"/>
            </a:solidFill>
            <a:prstDash val="solid"/>
          </a:ln>
        </p:spPr>
        <p:txBody>
          <a:bodyPr/>
          <a:p/>
        </p:txBody>
      </p:sp>
      <p:sp>
        <p:nvSpPr>
          <p:cNvPr id="1636" name=""/>
          <p:cNvSpPr/>
          <p:nvPr/>
        </p:nvSpPr>
        <p:spPr>
          <a:xfrm rot="0" flipH="0" flipV="0">
            <a:off x="8953500" y="1981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637" name="" descr="{&quot;isTemplate&quot;:true,&quot;type&quot;:&quot;text&quot;}"/>
          <p:cNvSpPr txBox="1"/>
          <p:nvPr/>
        </p:nvSpPr>
        <p:spPr>
          <a:xfrm rot="0" flipH="0" flipV="0">
            <a:off x="9144000" y="2209800"/>
            <a:ext cx="2190750" cy="390525"/>
          </a:xfrm>
          <a:prstGeom prst="rect"/>
        </p:spPr>
        <p:txBody>
          <a:bodyPr wrap="none" lIns="0" tIns="0" rIns="0" bIns="0"/>
          <a:p>
            <a:pPr>
              <a:lnSpc>
                <a:spcPct val="140000"/>
              </a:lnSpc>
            </a:pPr>
            <a:r>
              <a:rPr lang="zh-CN" sz="1800" b="1">
                <a:solidFill>
                  <a:srgbClr val="0E2340"/>
                </a:solidFill>
                <a:latin typeface="Microsoft YaHei"/>
                <a:ea typeface="Microsoft YaHei"/>
              </a:rPr>
              <a:t>推荐质量</a:t>
            </a:r>
            <a:endParaRPr/>
          </a:p>
        </p:txBody>
      </p:sp>
      <p:sp>
        <p:nvSpPr>
          <p:cNvPr id="1638" name="" descr="{&quot;isTemplate&quot;:true,&quot;type&quot;:&quot;text&quot;}"/>
          <p:cNvSpPr txBox="1"/>
          <p:nvPr/>
        </p:nvSpPr>
        <p:spPr>
          <a:xfrm rot="0" flipH="0" flipV="0">
            <a:off x="9144000" y="2695575"/>
            <a:ext cx="2190750" cy="990600"/>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前置是否适配、解释是否可核对、是否真正改善学习结果</a:t>
            </a:r>
            <a:endParaRPr/>
          </a:p>
        </p:txBody>
      </p:sp>
      <p:sp>
        <p:nvSpPr>
          <p:cNvPr id="1639"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640" name="" descr="{&quot;isTemplate&quot;:true,&quot;type&quot;:&quot;text&quot;}"/>
          <p:cNvSpPr txBox="1"/>
          <p:nvPr/>
        </p:nvSpPr>
        <p:spPr>
          <a:xfrm rot="0" flipH="0" flipV="0">
            <a:off x="666750" y="6381750"/>
            <a:ext cx="1743075" cy="209550"/>
          </a:xfrm>
          <a:prstGeom prst="rect"/>
        </p:spPr>
        <p:txBody>
          <a:bodyPr wrap="none" lIns="0" tIns="0" rIns="0" bIns="0"/>
          <a:p>
            <a:pPr>
              <a:lnSpc>
                <a:spcPct val="140000"/>
              </a:lnSpc>
            </a:pPr>
            <a:r>
              <a:rPr lang="zh-CN" sz="975">
                <a:solidFill>
                  <a:srgbClr val="7A8699"/>
                </a:solidFill>
                <a:latin typeface="Microsoft YaHei"/>
                <a:ea typeface="Microsoft YaHei"/>
              </a:rPr>
              <a:t>依据：套路层面设计思路</a:t>
            </a:r>
            <a:r>
              <a:rPr lang="en-US" sz="975">
                <a:solidFill>
                  <a:srgbClr val="7A8699"/>
                </a:solidFill>
                <a:latin typeface="Microsoft YaHei"/>
                <a:ea typeface="Microsoft YaHei"/>
              </a:rPr>
              <a:t>.md §7</a:t>
            </a:r>
            <a:endParaRPr/>
          </a:p>
        </p:txBody>
      </p:sp>
      <p:sp>
        <p:nvSpPr>
          <p:cNvPr id="1641"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45 / 124 </a:t>
            </a:r>
            <a:endParaRPr/>
          </a:p>
        </p:txBody>
      </p:sp>
    </p:spTree>
  </p:cSld>
</p:sld>
</file>

<file path=ppt/slides/slide46.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642" name="" descr="&lt;Slide style={{ width: '1280px', height: '720px', background: '#FFFFFF', padding: 0 }}&gt;&lt;Box style={{ position: 'absolute', top: 0, left: 0 }}&gt;&lt;svg width={1280} height={720} viewBox='0 0 1280 720'&gt;&lt;line x1='0' y1='0' x2='1280' y2='0' stroke='#E3E8EF' stroke-width='1' opacity='0.55'/&gt;&lt;line x1='0' y1='90' x2='1280' y2='90' stroke='#E3E8EF' stroke-width='1' opacity='0.55'/&gt;&lt;line x1='0' y1='180' x2='1280' y2='180' stroke='#E3E8EF' stroke-width='1' opacity='0.55'/&gt;&lt;line x1='0' y1='270' x2='1280' y2='270' stroke='#E3E8EF' stroke-width='1' opacity='0.55'/&gt;&lt;line x1='0' y1='360' x2='1280' y2='360' stroke='#E3E8EF' stroke-width='1' opacity='0.55'/&gt;&lt;line x1='0' y1='450' x2='1280' y2='450' stroke='#E3E8EF' stroke-width='1' opacity='0.55'/&gt;&lt;line x1='0' y1='540' x2='1280' y2='540' stroke='#E3E8EF' stroke-width='1' opacity='0.55'/&gt;&lt;line x1='0' y1='630' x2='1280' y2='630' stroke='#E3E8EF' stroke-width='1' opacity='0.55'/&gt;&lt;line x1='0' y1='720' x2='1280' y2='720' stroke='#E3E8EF' stroke-width='1' opacity='0.55'/&gt;&lt;/svg&gt;&lt;/Box&gt;&lt;Box style={{ position: 'relative', zIndex: 2, flexDirection: 'row', flex: 1, padding: '48px 80px 52px', gap: 44 }}&gt;&lt;Box style={{ width: 520, flexDirection: 'column', justifyContent: 'space-between' }}&gt;&lt;Box style={{ flexDirection: 'column' }}&gt;&lt;Text style={{ fontSize: 15, color: '#1E7BE0', fontWeight: 600, lineHeight: 1.4, letterSpacing: 2 }}&gt;STUDYAGENT · DESIGN REVIEW&lt;/Text&gt;&lt;/Box&gt;&lt;Box style={{ flexDirection: 'column' }}&gt;&lt;Text style={{ fontSize: 100, color: '#0E2340', fontWeight: 700, lineHeight: 1.0, fontFamily: 'JetBrains Mono, Inter' }}&gt;05&lt;/Text&gt;&lt;Box style={{ width: 78, height: 5, background: '#1E7BE0', marginTop: 10 }} /&gt;&lt;Text style={{ fontSize: 44, color: '#0E2340', fontWeight: 700, lineHeight: 1.2 }}&gt;教师端&lt;/Text&gt;&lt;/Box&gt;&lt;Box style={{ flexDirection: 'column', gap: 12 }}&gt;&lt;Box style={{ flexDirection: 'row', alignItems: 'center', background: '#F5F7FA', borderLeft: '4px solid #1E7BE0', borderRadius: 6, padding: '14px 20px' }}&gt;&lt;Text style={{ fontSize: 19, color: '#0E2340', fontWeight: 600, lineHeight: 1.5 }}&gt;围绕课时组织教学&lt;/Text&gt;&lt;/Box&gt;&lt;Box style={{ flexDirection: 'row', alignItems: 'center', background: '#F5F7FA', borderLeft: '4px solid #1E7BE0', borderRadius: 6, padding: '14px 20px' }}&gt;&lt;Text style={{ fontSize: 19, color: '#0E2340', fontWeight: 600, lineHeight: 1.5 }}&gt;七项教师端目标&lt;/Text&gt;&lt;/Box&gt;&lt;Box style={{ flexDirection: 'row', alignItems: 'center', background: '#F5F7FA', borderLeft: '4px solid #1E7BE0', borderRadius: 6, padding: '14px 20px' }}&gt;&lt;Text style={{ fontSize: 19, color: '#0E2340', fontWeight: 600, lineHeight: 1.5 }}&gt;AI 提供依据 · 教师作决定&lt;/Text&gt;&lt;/Box&gt;&lt;/Box&gt;&lt;Box style={{ flexDirection: 'column' }}&gt;&lt;Text style={{ fontSize: 13, color: '#7A8699', fontWeight: 400, lineHeight: 1.5 }}&gt;来源：教师端设计思路.md（更新日期 2026-10-25，教师端尚未开始实施）&lt;/Text&gt;&lt;/Box&gt;&lt;/Box&gt;&lt;Box style={{ flex: 1, flexDirection: 'column', justifyContent: 'space-between', gap: 12 }}&gt;&lt;Text style={{ fontSize: 20, color: '#0E2340', fontWeight: 700, lineHeight: 1.4 }}&gt;汇报结构 · 13 章&lt;/Text&gt;&lt;Box style={{ flexDirection: 'column', gap: 10 }}&gt;&lt;Box style={{ flexDirection: 'row', gap: 10 }}&gt;&lt;Box style={{ width: 172, height: 64, borderRadius: 6, padding: '9px 12px', background: '#F5F7FA', flexDirection: 'column', justifyContent: 'center' }}&gt;&lt;Text style={{ fontSize: 18, color: '#0E2340', fontWeight: 700, lineHeight: 1.2 }}&gt;01&lt;/Text&gt;&lt;Text style={{ fontSize: 13, color: '#7A8699', fontWeight: 400, lineHeight: 1.3 }}&gt;概念地基&lt;/Text&gt;&lt;/Box&gt;&lt;Box style={{ width: 172, height: 64, borderRadius: 6, padding: '9px 12px', background: '#F5F7FA', flexDirection: 'column', justifyContent: 'center' }}&gt;&lt;Text style={{ fontSize: 18, color: '#0E2340', fontWeight: 700, lineHeight: 1.2 }}&gt;02&lt;/Text&gt;&lt;Text style={{ fontSize: 13, color: '#7A8699', fontWeight: 400, lineHeight: 1.3 }}&gt;现状盘点&lt;/Text&gt;&lt;/Box&gt;&lt;Box style={{ width: 172, height: 64, borderRadius: 6, padding: '9px 12px', background: '#F5F7FA', flexDirection: 'column', justifyContent: 'center' }}&gt;&lt;Text style={{ fontSize: 18, color: '#0E2340', fontWeight: 700, lineHeight: 1.2 }}&gt;03&lt;/Text&gt;&lt;Text style={{ fontSize: 13, color: '#7A8699', fontWeight: 400, lineHeight: 1.3 }}&gt;单题引擎&lt;/Text&gt;&lt;/Box&gt;&lt;/Box&gt;&lt;Box style={{ flexDirection: 'row', gap: 10 }}&gt;&lt;Box style={{ width: 172, height: 64, borderRadius: 6, padding: '9px 12px', background: '#F5F7FA', flexDirection: 'column', justifyContent: 'center' }}&gt;&lt;Text style={{ fontSize: 18, color: '#0E2340', fontWeight: 700, lineHeight: 1.2 }}&gt;04&lt;/Text&gt;&lt;Text style={{ fontSize: 13, color: '#7A8699', fontWeight: 400, lineHeight: 1.3 }}&gt;套路层面&lt;/Text&gt;&lt;/Box&gt;&lt;Box style={{ width: 172, height: 64, borderRadius: 6, padding: '9px 12px', background: '#0E2340', flexDirection: 'column', justifyContent: 'center' }}&gt;&lt;Text style={{ fontSize: 18, color: '#FFFFFF', fontWeight: 700, lineHeight: 1.2 }}&gt;05&lt;/Text&gt;&lt;Text style={{ fontSize: 13, color: '#C8DCF2', fontWeight: 400, lineHeight: 1.3 }}&gt;教师端&lt;/Text&gt;&lt;/Box&gt;&lt;Box style={{ width: 172, height: 64, borderRadius: 6, padding: '9px 12px', background: '#F5F7FA', flexDirection: 'column', justifyContent: 'center' }}&gt;&lt;Text style={{ fontSize: 18, color: '#0E2340', fontWeight: 700, lineHeight: 1.2 }}&gt;06&lt;/Text&gt;&lt;Text style={{ fontSize: 13, color: '#7A8699', fontWeight: 400, lineHeight: 1.3 }}&gt;学校端&lt;/Text&gt;&lt;/Box&gt;&lt;/Box&gt;&lt;Box style={{ flexDirection: 'row', gap: 10 }}&gt;&lt;Box style={{ width: 172, height: 64, borderRadius: 6, padding: '9px 12px', background: '#F5F7FA', flexDirection: 'column', justifyContent: 'center' }}&gt;&lt;Text style={{ fontSize: 18, color: '#0E2340', fontWeight: 700, lineHeight: 1.2 }}&gt;07&lt;/Text&gt;&lt;Text style={{ fontSize: 13, color: '#7A8699', fontWeight: 400, lineHeight: 1.3 }}&gt;试卷与生涯&lt;/Text&gt;&lt;/Box&gt;&lt;Box style={{ width: 172, height: 64, borderRadius: 6, padding: '9px 12px', background: '#F5F7FA', flexDirection: 'column', justifyContent: 'center' }}&gt;&lt;Text style={{ fontSize: 18, color: '#0E2340', fontWeight: 700, lineHeight: 1.2 }}&gt;08&lt;/Text&gt;&lt;Text style={{ fontSize: 13, color: '#7A8699', fontWeight: 400, lineHeight: 1.3 }}&gt;协同 Agent&lt;/Text&gt;&lt;/Box&gt;&lt;Box style={{ width: 172, height: 64, borderRadius: 6, padding: '9px 12px', background: '#F5F7FA', flexDirection: 'column', justifyContent: 'center' }}&gt;&lt;Text style={{ fontSize: 18, color: '#0E2340', fontWeight: 700, lineHeight: 1.2 }}&gt;09&lt;/Text&gt;&lt;Text style={{ fontSize: 13, color: '#7A8699', fontWeight: 400, lineHeight: 1.3 }}&gt;MCP 接入&lt;/Text&gt;&lt;/Box&gt;&lt;/Box&gt;&lt;Box style={{ flexDirection: 'row', gap: 10 }}&gt;&lt;Box style={{ width: 172, height: 64, borderRadius: 6, padding: '9px 12px', background: '#F5F7FA', flexDirection: 'column', justifyContent: 'center' }}&gt;&lt;Text style={{ fontSize: 18, color: '#0E2340', fontWeight: 700, lineHeight: 1.2 }}&gt;10&lt;/Text&gt;&lt;Text style={{ fontSize: 13, color: '#7A8699', fontWeight: 400, lineHeight: 1.3 }}&gt;待深化研究&lt;/Text&gt;&lt;/Box&gt;&lt;Box style={{ width: 172, height: 64, borderRadius: 6, padding: '9px 12px', background: '#F5F7FA', flexDirection: 'column', justifyContent: 'center' }}&gt;&lt;Text style={{ fontSize: 18, color: '#0E2340', fontWeight: 700, lineHeight: 1.2 }}&gt;11&lt;/Text&gt;&lt;Text style={{ fontSize: 13, color: '#7A8699', fontWeight: 400, lineHeight: 1.3 }}&gt;落地与边界&lt;/Text&gt;&lt;/Box&gt;&lt;Box style={{ width: 172, height: 64, borderRadius: 6, padding: '9px 12px', background: '#F5F7FA', flexDirection: 'column', justifyContent: 'center' }}&gt;&lt;Text style={{ fontSize: 18, color: '#0E2340', fontWeight: 700, lineHeight: 1.2 }}&gt;12&lt;/Text&gt;&lt;Text style={{ fontSize: 13, color: '#7A8699', fontWeight: 400, lineHeight: 1.3 }}&gt;自进化与扩展&lt;/Text&gt;&lt;/Box&gt;&lt;/Box&gt;&lt;Box style={{ flexDirection: 'row', gap: 10 }}&gt;&lt;Box style={{ width: 172, height: 64, borderRadius: 6, padding: '9px 12px', background: '#F5F7FA', flexDirection: 'column', justifyContent: 'center' }}&gt;&lt;Text style={{ fontSize: 18, color: '#0E2340', fontWeight: 700, lineHeight: 1.2 }}&gt;13&lt;/Text&gt;&lt;Text style={{ fontSize: 13, color: '#7A8699', fontWeight: 400, lineHeight: 1.3 }}&gt;收尾&lt;/Text&gt;&lt;/Box&gt;&lt;/Box&gt;&lt;/Box&gt;&lt;Box style={{ flexDirection: 'row', alignItems: 'center', gap: 10, background: '#F5F7FA', borderRadius: 6, padding: '10px 14px' }}&gt;&lt;Box style={{ width: 6, height: 22, background: '#00A9B5' }} /&gt;&lt;Text style={{ fontSize: 15, color: '#0E2340', fontWeight: 600, lineHeight: 1.4 }}&gt;当前位置：第 05 章 · 教师端&lt;/Text&gt;&lt;/Box&gt;&lt;Box style={{ flexDirection: 'row', gap: 10 }}&gt;&lt;Box style={{ flex: 1, flexDirection: 'row', alignItems: 'center', gap: 8, borderRadius: 6, padding: '9px 10px', background: '#F5F7FA' }}&gt;&lt;Box style={{ width: 10, height: 10, borderRadius: 5, background: '#1E9E62' }} /&gt;&lt;Text style={{ fontSize: 14, color: '#333A45', fontWeight: 600, lineHeight: 1.3 }}&gt;已实现&lt;/Text&gt;&lt;/Box&gt;&lt;Box style={{ flex: 1, flexDirection: 'row', alignItems: 'center', gap: 8, borderRadius: 6, padding: '9px 10px', background: '#F5F7FA' }}&gt;&lt;Box style={{ width: 10, height: 10, borderRadius: 5, background: '#E8A33D' }} /&gt;&lt;Text style={{ fontSize: 14, color: '#333A45', fontWeight: 600, lineHeight: 1.3 }}&gt;部分实现&lt;/Text&gt;&lt;/Box&gt;&lt;Box style={{ flex: 1, flexDirection: 'row', alignItems: 'center', gap: 8, borderRadius: 6, padding: '9px 10px', background: '#F5F7FA' }}&gt;&lt;Box style={{ width: 10, height: 10, borderRadius: 5, background: '#1E7BE0' }} /&gt;&lt;Text style={{ fontSize: 14, color: '#333A45', fontWeight: 600, lineHeight: 1.3 }}&gt;设计中&lt;/Text&gt;&lt;/Box&gt;&lt;Box style={{ flex: 1, flexDirection: 'row', alignItems: 'center', gap: 8, borderRadius: 6, padding: '9px 10px', background: '#F5F7FA' }}&gt;&lt;Box style={{ width: 10, height: 10, borderRadius: 5, background: '#98A2B3' }} /&gt;&lt;Text style={{ fontSize: 14, color: '#333A45', fontWeight: 600, lineHeight: 1.3 }}&gt;待研究&lt;/Text&gt;&lt;/Box&gt;&lt;/Box&gt;&lt;Box style={{ flexDirection: 'row', alignItems: 'center', gap: 12, borderTop: '1px solid #E3E8EF', paddingTop: 14 }}&gt;&lt;Box style={{ width: 46, height: 5, background: '#00A9B5' }} /&gt;&lt;Text style={{ fontSize: 15, color: '#7A8699', fontWeight: 600, lineHeight: 1.4 }}&gt;StudyAgent 项目设计汇报 · 技术评审版 · 共 124 页&lt;/Text&gt;&lt;/Box&gt;&lt;/Box&gt;&lt;/Box&gt;&lt;/Slide&gt;"/>
        <p:cNvGrpSpPr/>
        <p:nvPr/>
      </p:nvGrpSpPr>
      <p:grpSpPr>
        <a:xfrm>
          <a:off x="0" y="0"/>
          <a:ext cx="0" cy="0"/>
          <a:chOff x="0" y="0"/>
          <a:chExt cx="0" cy="0"/>
        </a:xfrm>
      </p:grpSpPr>
      <p:sp>
        <p:nvSpPr>
          <p:cNvPr id="1643" name=""/>
          <p:cNvSpPr/>
          <p:nvPr/>
        </p:nvSpPr>
        <p:spPr>
          <a:xfrm rot="0" flipH="0" flipV="0">
            <a:off x="0" y="0"/>
            <a:ext cx="12192000" cy="6858000"/>
          </a:xfrm>
          <a:prstGeom prst="rect">
            <a:avLst/>
          </a:prstGeom>
          <a:solidFill>
            <a:srgbClr val="FFFFFF"/>
          </a:solidFill>
          <a:ln/>
        </p:spPr>
        <p:txBody>
          <a:bodyPr/>
          <a:p/>
        </p:txBody>
      </p:sp>
      <p:pic>
        <p:nvPicPr>
          <p:cNvPr id="1644" name=""/>
          <p:cNvPicPr>
            <a:picLocks noChangeAspect="1"/>
          </p:cNvPicPr>
          <p:nvPr/>
        </p:nvPicPr>
        <p:blipFill>
          <a:blip>
            <a:extLst>
              <a:ext uri="{96DAC541-7B7A-43D3-8B79-37D633B846F1}">
                <asvg:svgBlip r:embed="rId1"/>
              </a:ext>
            </a:extLst>
          </a:blip>
          <a:stretch>
            <a:fillRect/>
          </a:stretch>
        </p:blipFill>
        <p:spPr>
          <a:xfrm rot="0" flipH="0" flipV="0">
            <a:off x="0" y="0"/>
            <a:ext cx="12192000" cy="6858000"/>
          </a:xfrm>
          <a:prstGeom prst="rect">
            <a:avLst/>
          </a:prstGeom>
          <a:ln/>
        </p:spPr>
      </p:pic>
      <p:sp>
        <p:nvSpPr>
          <p:cNvPr id="1645" name="" descr="{&quot;isTemplate&quot;:true,&quot;type&quot;:&quot;text&quot;}"/>
          <p:cNvSpPr txBox="1"/>
          <p:nvPr/>
        </p:nvSpPr>
        <p:spPr>
          <a:xfrm rot="0" flipH="0" flipV="0">
            <a:off x="762000" y="457200"/>
            <a:ext cx="4953000" cy="247650"/>
          </a:xfrm>
          <a:prstGeom prst="rect"/>
        </p:spPr>
        <p:txBody>
          <a:bodyPr wrap="none" lIns="0" tIns="0" rIns="0" bIns="0"/>
          <a:p>
            <a:pPr>
              <a:lnSpc>
                <a:spcPct val="140000"/>
              </a:lnSpc>
            </a:pPr>
            <a:r>
              <a:rPr lang="en-US" sz="1125" b="1" spc="150">
                <a:solidFill>
                  <a:srgbClr val="1E7BE0"/>
                </a:solidFill>
                <a:latin typeface="Microsoft YaHei"/>
                <a:ea typeface="Microsoft YaHei"/>
              </a:rPr>
              <a:t>STUDYAGENT · DESIGN REVIEW</a:t>
            </a:r>
            <a:endParaRPr/>
          </a:p>
        </p:txBody>
      </p:sp>
      <p:sp>
        <p:nvSpPr>
          <p:cNvPr id="1646" name="" descr="{&quot;isTemplate&quot;:true,&quot;type&quot;:&quot;text&quot;}"/>
          <p:cNvSpPr txBox="1"/>
          <p:nvPr/>
        </p:nvSpPr>
        <p:spPr>
          <a:xfrm rot="0" flipH="0" flipV="0">
            <a:off x="762000" y="1209675"/>
            <a:ext cx="4953000" cy="1143000"/>
          </a:xfrm>
          <a:prstGeom prst="rect"/>
        </p:spPr>
        <p:txBody>
          <a:bodyPr wrap="none" lIns="0" tIns="0" rIns="0" bIns="0"/>
          <a:p>
            <a:pPr>
              <a:lnSpc>
                <a:spcPct val="100000"/>
              </a:lnSpc>
            </a:pPr>
            <a:r>
              <a:rPr lang="en-US" sz="7500" b="1">
                <a:solidFill>
                  <a:srgbClr val="0E2340"/>
                </a:solidFill>
                <a:latin typeface="JetBrains Mono"/>
                <a:ea typeface="JetBrains Mono"/>
              </a:rPr>
              <a:t>05</a:t>
            </a:r>
            <a:endParaRPr/>
          </a:p>
        </p:txBody>
      </p:sp>
      <p:sp>
        <p:nvSpPr>
          <p:cNvPr id="1647" name=""/>
          <p:cNvSpPr/>
          <p:nvPr/>
        </p:nvSpPr>
        <p:spPr>
          <a:xfrm rot="0" flipH="0" flipV="0">
            <a:off x="762000" y="2447925"/>
            <a:ext cx="742950" cy="47625"/>
          </a:xfrm>
          <a:prstGeom prst="rect">
            <a:avLst/>
          </a:prstGeom>
          <a:solidFill>
            <a:srgbClr val="1E7BE0"/>
          </a:solidFill>
          <a:ln/>
        </p:spPr>
        <p:txBody>
          <a:bodyPr/>
          <a:p/>
        </p:txBody>
      </p:sp>
      <p:sp>
        <p:nvSpPr>
          <p:cNvPr id="1648" name="" descr="{&quot;isTemplate&quot;:true,&quot;type&quot;:&quot;text&quot;}"/>
          <p:cNvSpPr txBox="1"/>
          <p:nvPr/>
        </p:nvSpPr>
        <p:spPr>
          <a:xfrm rot="0" flipH="0" flipV="0">
            <a:off x="762000" y="2495550"/>
            <a:ext cx="4953000" cy="609600"/>
          </a:xfrm>
          <a:prstGeom prst="rect"/>
        </p:spPr>
        <p:txBody>
          <a:bodyPr wrap="none" lIns="0" tIns="0" rIns="0" bIns="0"/>
          <a:p>
            <a:pPr>
              <a:lnSpc>
                <a:spcPct val="120000"/>
              </a:lnSpc>
            </a:pPr>
            <a:r>
              <a:rPr lang="zh-CN" sz="3300" b="1">
                <a:solidFill>
                  <a:srgbClr val="0E2340"/>
                </a:solidFill>
                <a:latin typeface="Microsoft YaHei"/>
                <a:ea typeface="Microsoft YaHei"/>
              </a:rPr>
              <a:t>教师端</a:t>
            </a:r>
            <a:endParaRPr/>
          </a:p>
        </p:txBody>
      </p:sp>
      <p:sp>
        <p:nvSpPr>
          <p:cNvPr id="1649" name=""/>
          <p:cNvSpPr/>
          <p:nvPr/>
        </p:nvSpPr>
        <p:spPr>
          <a:xfrm rot="0" flipH="0" flipV="0">
            <a:off x="800100" y="3600450"/>
            <a:ext cx="4953000" cy="600075"/>
          </a:xfrm>
          <a:prstGeom prst="roundRect">
            <a:avLst>
              <a:gd name="adj" fmla="val 9524"/>
            </a:avLst>
          </a:prstGeom>
          <a:solidFill>
            <a:srgbClr val="F5F7FA"/>
          </a:solidFill>
          <a:ln/>
        </p:spPr>
        <p:txBody>
          <a:bodyPr/>
          <a:p/>
        </p:txBody>
      </p:sp>
      <p:sp>
        <p:nvSpPr>
          <p:cNvPr id="1650" name=""/>
          <p:cNvSpPr/>
          <p:nvPr/>
        </p:nvSpPr>
        <p:spPr>
          <a:xfrm rot="0" flipH="0" flipV="0">
            <a:off x="800100" y="360045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1651" name="" descr="{&quot;isTemplate&quot;:true,&quot;type&quot;:&quot;text&quot;}"/>
          <p:cNvSpPr txBox="1"/>
          <p:nvPr/>
        </p:nvSpPr>
        <p:spPr>
          <a:xfrm rot="0" flipH="0" flipV="0">
            <a:off x="990600" y="3733800"/>
            <a:ext cx="1447800" cy="333375"/>
          </a:xfrm>
          <a:prstGeom prst="rect"/>
        </p:spPr>
        <p:txBody>
          <a:bodyPr wrap="none" lIns="0" tIns="0" rIns="0" bIns="0"/>
          <a:p>
            <a:pPr>
              <a:lnSpc>
                <a:spcPct val="150000"/>
              </a:lnSpc>
            </a:pPr>
            <a:r>
              <a:rPr lang="zh-CN" sz="1425" b="1">
                <a:solidFill>
                  <a:srgbClr val="0E2340"/>
                </a:solidFill>
                <a:latin typeface="Microsoft YaHei"/>
                <a:ea typeface="Microsoft YaHei"/>
              </a:rPr>
              <a:t>围绕课时组织教学</a:t>
            </a:r>
            <a:endParaRPr/>
          </a:p>
        </p:txBody>
      </p:sp>
      <p:sp>
        <p:nvSpPr>
          <p:cNvPr id="1652" name=""/>
          <p:cNvSpPr/>
          <p:nvPr/>
        </p:nvSpPr>
        <p:spPr>
          <a:xfrm rot="0" flipH="0" flipV="0">
            <a:off x="800100" y="4314825"/>
            <a:ext cx="4953000" cy="600075"/>
          </a:xfrm>
          <a:prstGeom prst="roundRect">
            <a:avLst>
              <a:gd name="adj" fmla="val 9524"/>
            </a:avLst>
          </a:prstGeom>
          <a:solidFill>
            <a:srgbClr val="F5F7FA"/>
          </a:solidFill>
          <a:ln/>
        </p:spPr>
        <p:txBody>
          <a:bodyPr/>
          <a:p/>
        </p:txBody>
      </p:sp>
      <p:sp>
        <p:nvSpPr>
          <p:cNvPr id="1653" name=""/>
          <p:cNvSpPr/>
          <p:nvPr/>
        </p:nvSpPr>
        <p:spPr>
          <a:xfrm rot="0" flipH="0" flipV="0">
            <a:off x="800100" y="4314825"/>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1654" name="" descr="{&quot;isTemplate&quot;:true,&quot;type&quot;:&quot;text&quot;}"/>
          <p:cNvSpPr txBox="1"/>
          <p:nvPr/>
        </p:nvSpPr>
        <p:spPr>
          <a:xfrm rot="0" flipH="0" flipV="0">
            <a:off x="990600" y="4448175"/>
            <a:ext cx="1266825" cy="333375"/>
          </a:xfrm>
          <a:prstGeom prst="rect"/>
        </p:spPr>
        <p:txBody>
          <a:bodyPr wrap="none" lIns="0" tIns="0" rIns="0" bIns="0"/>
          <a:p>
            <a:pPr>
              <a:lnSpc>
                <a:spcPct val="150000"/>
              </a:lnSpc>
            </a:pPr>
            <a:r>
              <a:rPr lang="zh-CN" sz="1425" b="1">
                <a:solidFill>
                  <a:srgbClr val="0E2340"/>
                </a:solidFill>
                <a:latin typeface="Microsoft YaHei"/>
                <a:ea typeface="Microsoft YaHei"/>
              </a:rPr>
              <a:t>七项教师端目标</a:t>
            </a:r>
            <a:endParaRPr/>
          </a:p>
        </p:txBody>
      </p:sp>
      <p:sp>
        <p:nvSpPr>
          <p:cNvPr id="1655" name=""/>
          <p:cNvSpPr/>
          <p:nvPr/>
        </p:nvSpPr>
        <p:spPr>
          <a:xfrm rot="0" flipH="0" flipV="0">
            <a:off x="800100" y="5029200"/>
            <a:ext cx="4953000" cy="600075"/>
          </a:xfrm>
          <a:prstGeom prst="roundRect">
            <a:avLst>
              <a:gd name="adj" fmla="val 9524"/>
            </a:avLst>
          </a:prstGeom>
          <a:solidFill>
            <a:srgbClr val="F5F7FA"/>
          </a:solidFill>
          <a:ln/>
        </p:spPr>
        <p:txBody>
          <a:bodyPr/>
          <a:p/>
        </p:txBody>
      </p:sp>
      <p:sp>
        <p:nvSpPr>
          <p:cNvPr id="1656" name=""/>
          <p:cNvSpPr/>
          <p:nvPr/>
        </p:nvSpPr>
        <p:spPr>
          <a:xfrm rot="0" flipH="0" flipV="0">
            <a:off x="800100" y="502920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1657" name="" descr="{&quot;isTemplate&quot;:true,&quot;type&quot;:&quot;text&quot;}"/>
          <p:cNvSpPr txBox="1"/>
          <p:nvPr/>
        </p:nvSpPr>
        <p:spPr>
          <a:xfrm rot="0" flipH="0" flipV="0">
            <a:off x="990600" y="5162550"/>
            <a:ext cx="2028825" cy="333375"/>
          </a:xfrm>
          <a:prstGeom prst="rect"/>
        </p:spPr>
        <p:txBody>
          <a:bodyPr wrap="none" lIns="0" tIns="0" rIns="0" bIns="0"/>
          <a:p>
            <a:pPr>
              <a:lnSpc>
                <a:spcPct val="150000"/>
              </a:lnSpc>
            </a:pPr>
            <a:r>
              <a:rPr lang="en-US" sz="1425" b="1">
                <a:solidFill>
                  <a:srgbClr val="0E2340"/>
                </a:solidFill>
                <a:latin typeface="Microsoft YaHei"/>
                <a:ea typeface="Microsoft YaHei"/>
              </a:rPr>
              <a:t xml:space="preserve">AI </a:t>
            </a:r>
            <a:r>
              <a:rPr lang="zh-CN" sz="1425" b="1">
                <a:solidFill>
                  <a:srgbClr val="0E2340"/>
                </a:solidFill>
                <a:latin typeface="Microsoft YaHei"/>
                <a:ea typeface="Microsoft YaHei"/>
              </a:rPr>
              <a:t>提供依据</a:t>
            </a:r>
            <a:r>
              <a:rPr lang="en-US" sz="1425" b="1">
                <a:solidFill>
                  <a:srgbClr val="0E2340"/>
                </a:solidFill>
                <a:latin typeface="Microsoft YaHei"/>
                <a:ea typeface="Microsoft YaHei"/>
              </a:rPr>
              <a:t xml:space="preserve"> · </a:t>
            </a:r>
            <a:r>
              <a:rPr lang="zh-CN" sz="1425" b="1">
                <a:solidFill>
                  <a:srgbClr val="0E2340"/>
                </a:solidFill>
                <a:latin typeface="Microsoft YaHei"/>
                <a:ea typeface="Microsoft YaHei"/>
              </a:rPr>
              <a:t>教师作决定</a:t>
            </a:r>
            <a:endParaRPr/>
          </a:p>
        </p:txBody>
      </p:sp>
      <p:sp>
        <p:nvSpPr>
          <p:cNvPr id="1658" name="" descr="{&quot;isTemplate&quot;:true,&quot;type&quot;:&quot;text&quot;}"/>
          <p:cNvSpPr txBox="1"/>
          <p:nvPr/>
        </p:nvSpPr>
        <p:spPr>
          <a:xfrm rot="0" flipH="0" flipV="0">
            <a:off x="762000" y="6134100"/>
            <a:ext cx="4953000" cy="228600"/>
          </a:xfrm>
          <a:prstGeom prst="rect"/>
        </p:spPr>
        <p:txBody>
          <a:bodyPr wrap="none" lIns="0" tIns="0" rIns="0" bIns="0"/>
          <a:p>
            <a:pPr>
              <a:lnSpc>
                <a:spcPct val="150000"/>
              </a:lnSpc>
            </a:pPr>
            <a:r>
              <a:rPr lang="zh-CN" sz="975">
                <a:solidFill>
                  <a:srgbClr val="7A8699"/>
                </a:solidFill>
                <a:latin typeface="Microsoft YaHei"/>
                <a:ea typeface="Microsoft YaHei"/>
              </a:rPr>
              <a:t>来源：教师端设计思路</a:t>
            </a:r>
            <a:r>
              <a:rPr lang="en-US" sz="975">
                <a:solidFill>
                  <a:srgbClr val="7A8699"/>
                </a:solidFill>
                <a:latin typeface="Microsoft YaHei"/>
                <a:ea typeface="Microsoft YaHei"/>
              </a:rPr>
              <a:t>.md</a:t>
            </a:r>
            <a:r>
              <a:rPr lang="zh-CN" sz="975">
                <a:solidFill>
                  <a:srgbClr val="7A8699"/>
                </a:solidFill>
                <a:latin typeface="Microsoft YaHei"/>
                <a:ea typeface="Microsoft YaHei"/>
              </a:rPr>
              <a:t>（更新日期</a:t>
            </a:r>
            <a:r>
              <a:rPr lang="en-US" sz="975">
                <a:solidFill>
                  <a:srgbClr val="7A8699"/>
                </a:solidFill>
                <a:latin typeface="Microsoft YaHei"/>
                <a:ea typeface="Microsoft YaHei"/>
              </a:rPr>
              <a:t xml:space="preserve"> 2026-10-25</a:t>
            </a:r>
            <a:r>
              <a:rPr lang="zh-CN" sz="975">
                <a:solidFill>
                  <a:srgbClr val="7A8699"/>
                </a:solidFill>
                <a:latin typeface="Microsoft YaHei"/>
                <a:ea typeface="Microsoft YaHei"/>
              </a:rPr>
              <a:t>，教师端尚未开始实施）</a:t>
            </a:r>
            <a:endParaRPr/>
          </a:p>
        </p:txBody>
      </p:sp>
      <p:sp>
        <p:nvSpPr>
          <p:cNvPr id="1659" name="" descr="{&quot;isTemplate&quot;:true,&quot;type&quot;:&quot;text&quot;}"/>
          <p:cNvSpPr txBox="1"/>
          <p:nvPr/>
        </p:nvSpPr>
        <p:spPr>
          <a:xfrm rot="0" flipH="0" flipV="0">
            <a:off x="6134100" y="457200"/>
            <a:ext cx="5295900" cy="323850"/>
          </a:xfrm>
          <a:prstGeom prst="rect"/>
        </p:spPr>
        <p:txBody>
          <a:bodyPr wrap="none" lIns="0" tIns="0" rIns="0" bIns="0"/>
          <a:p>
            <a:pPr>
              <a:lnSpc>
                <a:spcPct val="140000"/>
              </a:lnSpc>
            </a:pPr>
            <a:r>
              <a:rPr lang="zh-CN" sz="1500" b="1">
                <a:solidFill>
                  <a:srgbClr val="0E2340"/>
                </a:solidFill>
                <a:latin typeface="Microsoft YaHei"/>
                <a:ea typeface="Microsoft YaHei"/>
              </a:rPr>
              <a:t>汇报结构</a:t>
            </a:r>
            <a:r>
              <a:rPr lang="en-US" sz="1500" b="1">
                <a:solidFill>
                  <a:srgbClr val="0E2340"/>
                </a:solidFill>
                <a:latin typeface="Microsoft YaHei"/>
                <a:ea typeface="Microsoft YaHei"/>
              </a:rPr>
              <a:t xml:space="preserve"> · 13 </a:t>
            </a:r>
            <a:r>
              <a:rPr lang="zh-CN" sz="1500" b="1">
                <a:solidFill>
                  <a:srgbClr val="0E2340"/>
                </a:solidFill>
                <a:latin typeface="Microsoft YaHei"/>
                <a:ea typeface="Microsoft YaHei"/>
              </a:rPr>
              <a:t>章</a:t>
            </a:r>
            <a:endParaRPr/>
          </a:p>
        </p:txBody>
      </p:sp>
      <p:sp>
        <p:nvSpPr>
          <p:cNvPr id="1660" name=""/>
          <p:cNvSpPr/>
          <p:nvPr/>
        </p:nvSpPr>
        <p:spPr>
          <a:xfrm rot="0" flipH="0" flipV="0">
            <a:off x="6134100" y="1019175"/>
            <a:ext cx="1638300" cy="609600"/>
          </a:xfrm>
          <a:prstGeom prst="roundRect">
            <a:avLst>
              <a:gd name="adj" fmla="val 9375"/>
            </a:avLst>
          </a:prstGeom>
          <a:solidFill>
            <a:srgbClr val="F5F7FA"/>
          </a:solidFill>
          <a:ln/>
        </p:spPr>
        <p:txBody>
          <a:bodyPr/>
          <a:p/>
        </p:txBody>
      </p:sp>
      <p:sp>
        <p:nvSpPr>
          <p:cNvPr id="1661" name="" descr="{&quot;isTemplate&quot;:true,&quot;type&quot;:&quot;text&quot;}"/>
          <p:cNvSpPr txBox="1"/>
          <p:nvPr/>
        </p:nvSpPr>
        <p:spPr>
          <a:xfrm rot="0" flipH="0" flipV="0">
            <a:off x="62484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01</a:t>
            </a:r>
            <a:endParaRPr/>
          </a:p>
        </p:txBody>
      </p:sp>
      <p:sp>
        <p:nvSpPr>
          <p:cNvPr id="1662" name="" descr="{&quot;isTemplate&quot;:true,&quot;type&quot;:&quot;text&quot;}"/>
          <p:cNvSpPr txBox="1"/>
          <p:nvPr/>
        </p:nvSpPr>
        <p:spPr>
          <a:xfrm rot="0" flipH="0" flipV="0">
            <a:off x="62484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概念地基</a:t>
            </a:r>
            <a:endParaRPr/>
          </a:p>
        </p:txBody>
      </p:sp>
      <p:sp>
        <p:nvSpPr>
          <p:cNvPr id="1663" name=""/>
          <p:cNvSpPr/>
          <p:nvPr/>
        </p:nvSpPr>
        <p:spPr>
          <a:xfrm rot="0" flipH="0" flipV="0">
            <a:off x="7867650" y="1019175"/>
            <a:ext cx="1638300" cy="609600"/>
          </a:xfrm>
          <a:prstGeom prst="roundRect">
            <a:avLst>
              <a:gd name="adj" fmla="val 9375"/>
            </a:avLst>
          </a:prstGeom>
          <a:solidFill>
            <a:srgbClr val="F5F7FA"/>
          </a:solidFill>
          <a:ln/>
        </p:spPr>
        <p:txBody>
          <a:bodyPr/>
          <a:p/>
        </p:txBody>
      </p:sp>
      <p:sp>
        <p:nvSpPr>
          <p:cNvPr id="1664" name="" descr="{&quot;isTemplate&quot;:true,&quot;type&quot;:&quot;text&quot;}"/>
          <p:cNvSpPr txBox="1"/>
          <p:nvPr/>
        </p:nvSpPr>
        <p:spPr>
          <a:xfrm rot="0" flipH="0" flipV="0">
            <a:off x="798195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02</a:t>
            </a:r>
            <a:endParaRPr/>
          </a:p>
        </p:txBody>
      </p:sp>
      <p:sp>
        <p:nvSpPr>
          <p:cNvPr id="1665" name="" descr="{&quot;isTemplate&quot;:true,&quot;type&quot;:&quot;text&quot;}"/>
          <p:cNvSpPr txBox="1"/>
          <p:nvPr/>
        </p:nvSpPr>
        <p:spPr>
          <a:xfrm rot="0" flipH="0" flipV="0">
            <a:off x="798195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现状盘点</a:t>
            </a:r>
            <a:endParaRPr/>
          </a:p>
        </p:txBody>
      </p:sp>
      <p:sp>
        <p:nvSpPr>
          <p:cNvPr id="1666" name=""/>
          <p:cNvSpPr/>
          <p:nvPr/>
        </p:nvSpPr>
        <p:spPr>
          <a:xfrm rot="0" flipH="0" flipV="0">
            <a:off x="9601200" y="1019175"/>
            <a:ext cx="1638300" cy="609600"/>
          </a:xfrm>
          <a:prstGeom prst="roundRect">
            <a:avLst>
              <a:gd name="adj" fmla="val 9375"/>
            </a:avLst>
          </a:prstGeom>
          <a:solidFill>
            <a:srgbClr val="F5F7FA"/>
          </a:solidFill>
          <a:ln/>
        </p:spPr>
        <p:txBody>
          <a:bodyPr/>
          <a:p/>
        </p:txBody>
      </p:sp>
      <p:sp>
        <p:nvSpPr>
          <p:cNvPr id="1667" name="" descr="{&quot;isTemplate&quot;:true,&quot;type&quot;:&quot;text&quot;}"/>
          <p:cNvSpPr txBox="1"/>
          <p:nvPr/>
        </p:nvSpPr>
        <p:spPr>
          <a:xfrm rot="0" flipH="0" flipV="0">
            <a:off x="97155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03</a:t>
            </a:r>
            <a:endParaRPr/>
          </a:p>
        </p:txBody>
      </p:sp>
      <p:sp>
        <p:nvSpPr>
          <p:cNvPr id="1668" name="" descr="{&quot;isTemplate&quot;:true,&quot;type&quot;:&quot;text&quot;}"/>
          <p:cNvSpPr txBox="1"/>
          <p:nvPr/>
        </p:nvSpPr>
        <p:spPr>
          <a:xfrm rot="0" flipH="0" flipV="0">
            <a:off x="97155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单题引擎</a:t>
            </a:r>
            <a:endParaRPr/>
          </a:p>
        </p:txBody>
      </p:sp>
      <p:sp>
        <p:nvSpPr>
          <p:cNvPr id="1669" name=""/>
          <p:cNvSpPr/>
          <p:nvPr/>
        </p:nvSpPr>
        <p:spPr>
          <a:xfrm rot="0" flipH="0" flipV="0">
            <a:off x="6134100" y="1724025"/>
            <a:ext cx="1638300" cy="609600"/>
          </a:xfrm>
          <a:prstGeom prst="roundRect">
            <a:avLst>
              <a:gd name="adj" fmla="val 9375"/>
            </a:avLst>
          </a:prstGeom>
          <a:solidFill>
            <a:srgbClr val="F5F7FA"/>
          </a:solidFill>
          <a:ln/>
        </p:spPr>
        <p:txBody>
          <a:bodyPr/>
          <a:p/>
        </p:txBody>
      </p:sp>
      <p:sp>
        <p:nvSpPr>
          <p:cNvPr id="1670" name="" descr="{&quot;isTemplate&quot;:true,&quot;type&quot;:&quot;text&quot;}"/>
          <p:cNvSpPr txBox="1"/>
          <p:nvPr/>
        </p:nvSpPr>
        <p:spPr>
          <a:xfrm rot="0" flipH="0" flipV="0">
            <a:off x="62484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04</a:t>
            </a:r>
            <a:endParaRPr/>
          </a:p>
        </p:txBody>
      </p:sp>
      <p:sp>
        <p:nvSpPr>
          <p:cNvPr id="1671" name="" descr="{&quot;isTemplate&quot;:true,&quot;type&quot;:&quot;text&quot;}"/>
          <p:cNvSpPr txBox="1"/>
          <p:nvPr/>
        </p:nvSpPr>
        <p:spPr>
          <a:xfrm rot="0" flipH="0" flipV="0">
            <a:off x="62484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套路层面</a:t>
            </a:r>
            <a:endParaRPr/>
          </a:p>
        </p:txBody>
      </p:sp>
      <p:sp>
        <p:nvSpPr>
          <p:cNvPr id="1672" name=""/>
          <p:cNvSpPr/>
          <p:nvPr/>
        </p:nvSpPr>
        <p:spPr>
          <a:xfrm rot="0" flipH="0" flipV="0">
            <a:off x="7867650" y="1724025"/>
            <a:ext cx="1638300" cy="609600"/>
          </a:xfrm>
          <a:prstGeom prst="roundRect">
            <a:avLst>
              <a:gd name="adj" fmla="val 9375"/>
            </a:avLst>
          </a:prstGeom>
          <a:solidFill>
            <a:srgbClr val="0E2340"/>
          </a:solidFill>
          <a:ln/>
        </p:spPr>
        <p:txBody>
          <a:bodyPr/>
          <a:p/>
        </p:txBody>
      </p:sp>
      <p:sp>
        <p:nvSpPr>
          <p:cNvPr id="1673" name="" descr="{&quot;isTemplate&quot;:true,&quot;type&quot;:&quot;text&quot;}"/>
          <p:cNvSpPr txBox="1"/>
          <p:nvPr/>
        </p:nvSpPr>
        <p:spPr>
          <a:xfrm rot="0" flipH="0" flipV="0">
            <a:off x="7981950" y="1809750"/>
            <a:ext cx="1409700" cy="247650"/>
          </a:xfrm>
          <a:prstGeom prst="rect"/>
        </p:spPr>
        <p:txBody>
          <a:bodyPr wrap="none" lIns="0" tIns="0" rIns="0" bIns="0"/>
          <a:p>
            <a:pPr>
              <a:lnSpc>
                <a:spcPct val="120000"/>
              </a:lnSpc>
            </a:pPr>
            <a:r>
              <a:rPr lang="en-US" sz="1350" b="1">
                <a:solidFill>
                  <a:srgbClr val="FFFFFF"/>
                </a:solidFill>
                <a:latin typeface="Microsoft YaHei"/>
                <a:ea typeface="Microsoft YaHei"/>
              </a:rPr>
              <a:t>05</a:t>
            </a:r>
            <a:endParaRPr/>
          </a:p>
        </p:txBody>
      </p:sp>
      <p:sp>
        <p:nvSpPr>
          <p:cNvPr id="1674" name="" descr="{&quot;isTemplate&quot;:true,&quot;type&quot;:&quot;text&quot;}"/>
          <p:cNvSpPr txBox="1"/>
          <p:nvPr/>
        </p:nvSpPr>
        <p:spPr>
          <a:xfrm rot="0" flipH="0" flipV="0">
            <a:off x="7981950" y="2057400"/>
            <a:ext cx="1409700" cy="200025"/>
          </a:xfrm>
          <a:prstGeom prst="rect"/>
        </p:spPr>
        <p:txBody>
          <a:bodyPr wrap="none" lIns="0" tIns="0" rIns="0" bIns="0"/>
          <a:p>
            <a:pPr>
              <a:lnSpc>
                <a:spcPct val="130000"/>
              </a:lnSpc>
            </a:pPr>
            <a:r>
              <a:rPr lang="zh-CN" sz="975">
                <a:solidFill>
                  <a:srgbClr val="C8DCF2"/>
                </a:solidFill>
                <a:latin typeface="Microsoft YaHei"/>
                <a:ea typeface="Microsoft YaHei"/>
              </a:rPr>
              <a:t>教师端</a:t>
            </a:r>
            <a:endParaRPr/>
          </a:p>
        </p:txBody>
      </p:sp>
      <p:sp>
        <p:nvSpPr>
          <p:cNvPr id="1675" name=""/>
          <p:cNvSpPr/>
          <p:nvPr/>
        </p:nvSpPr>
        <p:spPr>
          <a:xfrm rot="0" flipH="0" flipV="0">
            <a:off x="9601200" y="1724025"/>
            <a:ext cx="1638300" cy="609600"/>
          </a:xfrm>
          <a:prstGeom prst="roundRect">
            <a:avLst>
              <a:gd name="adj" fmla="val 9375"/>
            </a:avLst>
          </a:prstGeom>
          <a:solidFill>
            <a:srgbClr val="F5F7FA"/>
          </a:solidFill>
          <a:ln/>
        </p:spPr>
        <p:txBody>
          <a:bodyPr/>
          <a:p/>
        </p:txBody>
      </p:sp>
      <p:sp>
        <p:nvSpPr>
          <p:cNvPr id="1676" name="" descr="{&quot;isTemplate&quot;:true,&quot;type&quot;:&quot;text&quot;}"/>
          <p:cNvSpPr txBox="1"/>
          <p:nvPr/>
        </p:nvSpPr>
        <p:spPr>
          <a:xfrm rot="0" flipH="0" flipV="0">
            <a:off x="97155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06</a:t>
            </a:r>
            <a:endParaRPr/>
          </a:p>
        </p:txBody>
      </p:sp>
      <p:sp>
        <p:nvSpPr>
          <p:cNvPr id="1677" name="" descr="{&quot;isTemplate&quot;:true,&quot;type&quot;:&quot;text&quot;}"/>
          <p:cNvSpPr txBox="1"/>
          <p:nvPr/>
        </p:nvSpPr>
        <p:spPr>
          <a:xfrm rot="0" flipH="0" flipV="0">
            <a:off x="97155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学校端</a:t>
            </a:r>
            <a:endParaRPr/>
          </a:p>
        </p:txBody>
      </p:sp>
      <p:sp>
        <p:nvSpPr>
          <p:cNvPr id="1678" name=""/>
          <p:cNvSpPr/>
          <p:nvPr/>
        </p:nvSpPr>
        <p:spPr>
          <a:xfrm rot="0" flipH="0" flipV="0">
            <a:off x="6134100" y="2428875"/>
            <a:ext cx="1638300" cy="609600"/>
          </a:xfrm>
          <a:prstGeom prst="roundRect">
            <a:avLst>
              <a:gd name="adj" fmla="val 9375"/>
            </a:avLst>
          </a:prstGeom>
          <a:solidFill>
            <a:srgbClr val="F5F7FA"/>
          </a:solidFill>
          <a:ln/>
        </p:spPr>
        <p:txBody>
          <a:bodyPr/>
          <a:p/>
        </p:txBody>
      </p:sp>
      <p:sp>
        <p:nvSpPr>
          <p:cNvPr id="1679" name="" descr="{&quot;isTemplate&quot;:true,&quot;type&quot;:&quot;text&quot;}"/>
          <p:cNvSpPr txBox="1"/>
          <p:nvPr/>
        </p:nvSpPr>
        <p:spPr>
          <a:xfrm rot="0" flipH="0" flipV="0">
            <a:off x="62484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07</a:t>
            </a:r>
            <a:endParaRPr/>
          </a:p>
        </p:txBody>
      </p:sp>
      <p:sp>
        <p:nvSpPr>
          <p:cNvPr id="1680" name="" descr="{&quot;isTemplate&quot;:true,&quot;type&quot;:&quot;text&quot;}"/>
          <p:cNvSpPr txBox="1"/>
          <p:nvPr/>
        </p:nvSpPr>
        <p:spPr>
          <a:xfrm rot="0" flipH="0" flipV="0">
            <a:off x="624840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试卷与生涯</a:t>
            </a:r>
            <a:endParaRPr/>
          </a:p>
        </p:txBody>
      </p:sp>
      <p:sp>
        <p:nvSpPr>
          <p:cNvPr id="1681" name=""/>
          <p:cNvSpPr/>
          <p:nvPr/>
        </p:nvSpPr>
        <p:spPr>
          <a:xfrm rot="0" flipH="0" flipV="0">
            <a:off x="7867650" y="2428875"/>
            <a:ext cx="1638300" cy="609600"/>
          </a:xfrm>
          <a:prstGeom prst="roundRect">
            <a:avLst>
              <a:gd name="adj" fmla="val 9375"/>
            </a:avLst>
          </a:prstGeom>
          <a:solidFill>
            <a:srgbClr val="F5F7FA"/>
          </a:solidFill>
          <a:ln/>
        </p:spPr>
        <p:txBody>
          <a:bodyPr/>
          <a:p/>
        </p:txBody>
      </p:sp>
      <p:sp>
        <p:nvSpPr>
          <p:cNvPr id="1682" name="" descr="{&quot;isTemplate&quot;:true,&quot;type&quot;:&quot;text&quot;}"/>
          <p:cNvSpPr txBox="1"/>
          <p:nvPr/>
        </p:nvSpPr>
        <p:spPr>
          <a:xfrm rot="0" flipH="0" flipV="0">
            <a:off x="798195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08</a:t>
            </a:r>
            <a:endParaRPr/>
          </a:p>
        </p:txBody>
      </p:sp>
      <p:sp>
        <p:nvSpPr>
          <p:cNvPr id="1683" name="" descr="{&quot;isTemplate&quot;:true,&quot;type&quot;:&quot;text&quot;}"/>
          <p:cNvSpPr txBox="1"/>
          <p:nvPr/>
        </p:nvSpPr>
        <p:spPr>
          <a:xfrm rot="0" flipH="0" flipV="0">
            <a:off x="798195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协同</a:t>
            </a:r>
            <a:r>
              <a:rPr lang="en-US" sz="975">
                <a:solidFill>
                  <a:srgbClr val="7A8699"/>
                </a:solidFill>
                <a:latin typeface="Microsoft YaHei"/>
                <a:ea typeface="Microsoft YaHei"/>
              </a:rPr>
              <a:t xml:space="preserve"> Agent</a:t>
            </a:r>
            <a:endParaRPr/>
          </a:p>
        </p:txBody>
      </p:sp>
      <p:sp>
        <p:nvSpPr>
          <p:cNvPr id="1684" name=""/>
          <p:cNvSpPr/>
          <p:nvPr/>
        </p:nvSpPr>
        <p:spPr>
          <a:xfrm rot="0" flipH="0" flipV="0">
            <a:off x="9601200" y="2428875"/>
            <a:ext cx="1638300" cy="609600"/>
          </a:xfrm>
          <a:prstGeom prst="roundRect">
            <a:avLst>
              <a:gd name="adj" fmla="val 9375"/>
            </a:avLst>
          </a:prstGeom>
          <a:solidFill>
            <a:srgbClr val="F5F7FA"/>
          </a:solidFill>
          <a:ln/>
        </p:spPr>
        <p:txBody>
          <a:bodyPr/>
          <a:p/>
        </p:txBody>
      </p:sp>
      <p:sp>
        <p:nvSpPr>
          <p:cNvPr id="1685" name="" descr="{&quot;isTemplate&quot;:true,&quot;type&quot;:&quot;text&quot;}"/>
          <p:cNvSpPr txBox="1"/>
          <p:nvPr/>
        </p:nvSpPr>
        <p:spPr>
          <a:xfrm rot="0" flipH="0" flipV="0">
            <a:off x="97155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09</a:t>
            </a:r>
            <a:endParaRPr/>
          </a:p>
        </p:txBody>
      </p:sp>
      <p:sp>
        <p:nvSpPr>
          <p:cNvPr id="1686" name="" descr="{&quot;isTemplate&quot;:true,&quot;type&quot;:&quot;text&quot;}"/>
          <p:cNvSpPr txBox="1"/>
          <p:nvPr/>
        </p:nvSpPr>
        <p:spPr>
          <a:xfrm rot="0" flipH="0" flipV="0">
            <a:off x="9715500" y="2762250"/>
            <a:ext cx="1409700" cy="200025"/>
          </a:xfrm>
          <a:prstGeom prst="rect"/>
        </p:spPr>
        <p:txBody>
          <a:bodyPr wrap="none" lIns="0" tIns="0" rIns="0" bIns="0"/>
          <a:p>
            <a:pPr>
              <a:lnSpc>
                <a:spcPct val="130000"/>
              </a:lnSpc>
            </a:pPr>
            <a:r>
              <a:rPr lang="en-US" sz="975">
                <a:solidFill>
                  <a:srgbClr val="7A8699"/>
                </a:solidFill>
                <a:latin typeface="Microsoft YaHei"/>
                <a:ea typeface="Microsoft YaHei"/>
              </a:rPr>
              <a:t xml:space="preserve">MCP </a:t>
            </a:r>
            <a:r>
              <a:rPr lang="zh-CN" sz="975">
                <a:solidFill>
                  <a:srgbClr val="7A8699"/>
                </a:solidFill>
                <a:latin typeface="Microsoft YaHei"/>
                <a:ea typeface="Microsoft YaHei"/>
              </a:rPr>
              <a:t>接入</a:t>
            </a:r>
            <a:endParaRPr/>
          </a:p>
        </p:txBody>
      </p:sp>
      <p:sp>
        <p:nvSpPr>
          <p:cNvPr id="1687" name=""/>
          <p:cNvSpPr/>
          <p:nvPr/>
        </p:nvSpPr>
        <p:spPr>
          <a:xfrm rot="0" flipH="0" flipV="0">
            <a:off x="6134100" y="3133725"/>
            <a:ext cx="1638300" cy="609600"/>
          </a:xfrm>
          <a:prstGeom prst="roundRect">
            <a:avLst>
              <a:gd name="adj" fmla="val 9375"/>
            </a:avLst>
          </a:prstGeom>
          <a:solidFill>
            <a:srgbClr val="F5F7FA"/>
          </a:solidFill>
          <a:ln/>
        </p:spPr>
        <p:txBody>
          <a:bodyPr/>
          <a:p/>
        </p:txBody>
      </p:sp>
      <p:sp>
        <p:nvSpPr>
          <p:cNvPr id="1688" name="" descr="{&quot;isTemplate&quot;:true,&quot;type&quot;:&quot;text&quot;}"/>
          <p:cNvSpPr txBox="1"/>
          <p:nvPr/>
        </p:nvSpPr>
        <p:spPr>
          <a:xfrm rot="0" flipH="0" flipV="0">
            <a:off x="62484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10</a:t>
            </a:r>
            <a:endParaRPr/>
          </a:p>
        </p:txBody>
      </p:sp>
      <p:sp>
        <p:nvSpPr>
          <p:cNvPr id="1689" name="" descr="{&quot;isTemplate&quot;:true,&quot;type&quot;:&quot;text&quot;}"/>
          <p:cNvSpPr txBox="1"/>
          <p:nvPr/>
        </p:nvSpPr>
        <p:spPr>
          <a:xfrm rot="0" flipH="0" flipV="0">
            <a:off x="62484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待深化研究</a:t>
            </a:r>
            <a:endParaRPr/>
          </a:p>
        </p:txBody>
      </p:sp>
      <p:sp>
        <p:nvSpPr>
          <p:cNvPr id="1690" name=""/>
          <p:cNvSpPr/>
          <p:nvPr/>
        </p:nvSpPr>
        <p:spPr>
          <a:xfrm rot="0" flipH="0" flipV="0">
            <a:off x="7867650" y="3133725"/>
            <a:ext cx="1638300" cy="609600"/>
          </a:xfrm>
          <a:prstGeom prst="roundRect">
            <a:avLst>
              <a:gd name="adj" fmla="val 9375"/>
            </a:avLst>
          </a:prstGeom>
          <a:solidFill>
            <a:srgbClr val="F5F7FA"/>
          </a:solidFill>
          <a:ln/>
        </p:spPr>
        <p:txBody>
          <a:bodyPr/>
          <a:p/>
        </p:txBody>
      </p:sp>
      <p:sp>
        <p:nvSpPr>
          <p:cNvPr id="1691" name="" descr="{&quot;isTemplate&quot;:true,&quot;type&quot;:&quot;text&quot;}"/>
          <p:cNvSpPr txBox="1"/>
          <p:nvPr/>
        </p:nvSpPr>
        <p:spPr>
          <a:xfrm rot="0" flipH="0" flipV="0">
            <a:off x="798195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11</a:t>
            </a:r>
            <a:endParaRPr/>
          </a:p>
        </p:txBody>
      </p:sp>
      <p:sp>
        <p:nvSpPr>
          <p:cNvPr id="1692" name="" descr="{&quot;isTemplate&quot;:true,&quot;type&quot;:&quot;text&quot;}"/>
          <p:cNvSpPr txBox="1"/>
          <p:nvPr/>
        </p:nvSpPr>
        <p:spPr>
          <a:xfrm rot="0" flipH="0" flipV="0">
            <a:off x="798195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落地与边界</a:t>
            </a:r>
            <a:endParaRPr/>
          </a:p>
        </p:txBody>
      </p:sp>
      <p:sp>
        <p:nvSpPr>
          <p:cNvPr id="1693" name=""/>
          <p:cNvSpPr/>
          <p:nvPr/>
        </p:nvSpPr>
        <p:spPr>
          <a:xfrm rot="0" flipH="0" flipV="0">
            <a:off x="9601200" y="3133725"/>
            <a:ext cx="1638300" cy="609600"/>
          </a:xfrm>
          <a:prstGeom prst="roundRect">
            <a:avLst>
              <a:gd name="adj" fmla="val 9375"/>
            </a:avLst>
          </a:prstGeom>
          <a:solidFill>
            <a:srgbClr val="F5F7FA"/>
          </a:solidFill>
          <a:ln/>
        </p:spPr>
        <p:txBody>
          <a:bodyPr/>
          <a:p/>
        </p:txBody>
      </p:sp>
      <p:sp>
        <p:nvSpPr>
          <p:cNvPr id="1694" name="" descr="{&quot;isTemplate&quot;:true,&quot;type&quot;:&quot;text&quot;}"/>
          <p:cNvSpPr txBox="1"/>
          <p:nvPr/>
        </p:nvSpPr>
        <p:spPr>
          <a:xfrm rot="0" flipH="0" flipV="0">
            <a:off x="97155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12</a:t>
            </a:r>
            <a:endParaRPr/>
          </a:p>
        </p:txBody>
      </p:sp>
      <p:sp>
        <p:nvSpPr>
          <p:cNvPr id="1695" name="" descr="{&quot;isTemplate&quot;:true,&quot;type&quot;:&quot;text&quot;}"/>
          <p:cNvSpPr txBox="1"/>
          <p:nvPr/>
        </p:nvSpPr>
        <p:spPr>
          <a:xfrm rot="0" flipH="0" flipV="0">
            <a:off x="97155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自进化与扩展</a:t>
            </a:r>
            <a:endParaRPr/>
          </a:p>
        </p:txBody>
      </p:sp>
      <p:sp>
        <p:nvSpPr>
          <p:cNvPr id="1696" name=""/>
          <p:cNvSpPr/>
          <p:nvPr/>
        </p:nvSpPr>
        <p:spPr>
          <a:xfrm rot="0" flipH="0" flipV="0">
            <a:off x="6134100" y="3838575"/>
            <a:ext cx="1638300" cy="609600"/>
          </a:xfrm>
          <a:prstGeom prst="roundRect">
            <a:avLst>
              <a:gd name="adj" fmla="val 9375"/>
            </a:avLst>
          </a:prstGeom>
          <a:solidFill>
            <a:srgbClr val="F5F7FA"/>
          </a:solidFill>
          <a:ln/>
        </p:spPr>
        <p:txBody>
          <a:bodyPr/>
          <a:p/>
        </p:txBody>
      </p:sp>
      <p:sp>
        <p:nvSpPr>
          <p:cNvPr id="1697" name="" descr="{&quot;isTemplate&quot;:true,&quot;type&quot;:&quot;text&quot;}"/>
          <p:cNvSpPr txBox="1"/>
          <p:nvPr/>
        </p:nvSpPr>
        <p:spPr>
          <a:xfrm rot="0" flipH="0" flipV="0">
            <a:off x="6248400" y="39243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13</a:t>
            </a:r>
            <a:endParaRPr/>
          </a:p>
        </p:txBody>
      </p:sp>
      <p:sp>
        <p:nvSpPr>
          <p:cNvPr id="1698" name="" descr="{&quot;isTemplate&quot;:true,&quot;type&quot;:&quot;text&quot;}"/>
          <p:cNvSpPr txBox="1"/>
          <p:nvPr/>
        </p:nvSpPr>
        <p:spPr>
          <a:xfrm rot="0" flipH="0" flipV="0">
            <a:off x="6248400" y="41719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收尾</a:t>
            </a:r>
            <a:endParaRPr/>
          </a:p>
        </p:txBody>
      </p:sp>
      <p:sp>
        <p:nvSpPr>
          <p:cNvPr id="1699" name=""/>
          <p:cNvSpPr/>
          <p:nvPr/>
        </p:nvSpPr>
        <p:spPr>
          <a:xfrm rot="0" flipH="0" flipV="0">
            <a:off x="6134100" y="4686300"/>
            <a:ext cx="5295900" cy="438150"/>
          </a:xfrm>
          <a:prstGeom prst="roundRect">
            <a:avLst>
              <a:gd name="adj" fmla="val 13043"/>
            </a:avLst>
          </a:prstGeom>
          <a:solidFill>
            <a:srgbClr val="F5F7FA"/>
          </a:solidFill>
          <a:ln/>
        </p:spPr>
        <p:txBody>
          <a:bodyPr/>
          <a:p/>
        </p:txBody>
      </p:sp>
      <p:sp>
        <p:nvSpPr>
          <p:cNvPr id="1700" name=""/>
          <p:cNvSpPr/>
          <p:nvPr/>
        </p:nvSpPr>
        <p:spPr>
          <a:xfrm rot="0" flipH="0" flipV="0">
            <a:off x="6267450" y="4800600"/>
            <a:ext cx="57150" cy="209550"/>
          </a:xfrm>
          <a:prstGeom prst="rect">
            <a:avLst/>
          </a:prstGeom>
          <a:solidFill>
            <a:srgbClr val="00A9B5"/>
          </a:solidFill>
          <a:ln/>
        </p:spPr>
        <p:txBody>
          <a:bodyPr/>
          <a:p/>
        </p:txBody>
      </p:sp>
      <p:sp>
        <p:nvSpPr>
          <p:cNvPr id="1701" name="" descr="{&quot;isTemplate&quot;:true,&quot;type&quot;:&quot;text&quot;}"/>
          <p:cNvSpPr txBox="1"/>
          <p:nvPr/>
        </p:nvSpPr>
        <p:spPr>
          <a:xfrm rot="0" flipH="0" flipV="0">
            <a:off x="6419850" y="4781550"/>
            <a:ext cx="1800225" cy="247650"/>
          </a:xfrm>
          <a:prstGeom prst="rect"/>
        </p:spPr>
        <p:txBody>
          <a:bodyPr wrap="none" lIns="0" tIns="0" rIns="0" bIns="0"/>
          <a:p>
            <a:pPr>
              <a:lnSpc>
                <a:spcPct val="140000"/>
              </a:lnSpc>
            </a:pPr>
            <a:r>
              <a:rPr lang="zh-CN" sz="1125" b="1">
                <a:solidFill>
                  <a:srgbClr val="0E2340"/>
                </a:solidFill>
                <a:latin typeface="Microsoft YaHei"/>
                <a:ea typeface="Microsoft YaHei"/>
              </a:rPr>
              <a:t>当前位置：第</a:t>
            </a:r>
            <a:r>
              <a:rPr lang="en-US" sz="1125" b="1">
                <a:solidFill>
                  <a:srgbClr val="0E2340"/>
                </a:solidFill>
                <a:latin typeface="Microsoft YaHei"/>
                <a:ea typeface="Microsoft YaHei"/>
              </a:rPr>
              <a:t xml:space="preserve"> 05 </a:t>
            </a:r>
            <a:r>
              <a:rPr lang="zh-CN" sz="1125" b="1">
                <a:solidFill>
                  <a:srgbClr val="0E2340"/>
                </a:solidFill>
                <a:latin typeface="Microsoft YaHei"/>
                <a:ea typeface="Microsoft YaHei"/>
              </a:rPr>
              <a:t>章</a:t>
            </a:r>
            <a:r>
              <a:rPr lang="en-US" sz="1125" b="1">
                <a:solidFill>
                  <a:srgbClr val="0E2340"/>
                </a:solidFill>
                <a:latin typeface="Microsoft YaHei"/>
                <a:ea typeface="Microsoft YaHei"/>
              </a:rPr>
              <a:t xml:space="preserve"> · </a:t>
            </a:r>
            <a:r>
              <a:rPr lang="zh-CN" sz="1125" b="1">
                <a:solidFill>
                  <a:srgbClr val="0E2340"/>
                </a:solidFill>
                <a:latin typeface="Microsoft YaHei"/>
                <a:ea typeface="Microsoft YaHei"/>
              </a:rPr>
              <a:t>教师端</a:t>
            </a:r>
            <a:endParaRPr/>
          </a:p>
        </p:txBody>
      </p:sp>
      <p:sp>
        <p:nvSpPr>
          <p:cNvPr id="1702" name=""/>
          <p:cNvSpPr/>
          <p:nvPr/>
        </p:nvSpPr>
        <p:spPr>
          <a:xfrm rot="0" flipH="0" flipV="0">
            <a:off x="6134100" y="5353050"/>
            <a:ext cx="1257300" cy="381000"/>
          </a:xfrm>
          <a:prstGeom prst="roundRect">
            <a:avLst>
              <a:gd name="adj" fmla="val 15000"/>
            </a:avLst>
          </a:prstGeom>
          <a:solidFill>
            <a:srgbClr val="F5F7FA"/>
          </a:solidFill>
          <a:ln/>
        </p:spPr>
        <p:txBody>
          <a:bodyPr/>
          <a:p/>
        </p:txBody>
      </p:sp>
      <p:sp>
        <p:nvSpPr>
          <p:cNvPr id="1703" name=""/>
          <p:cNvSpPr/>
          <p:nvPr/>
        </p:nvSpPr>
        <p:spPr>
          <a:xfrm rot="0" flipH="0" flipV="0">
            <a:off x="6229350" y="5495925"/>
            <a:ext cx="95250" cy="95250"/>
          </a:xfrm>
          <a:prstGeom prst="roundRect">
            <a:avLst>
              <a:gd name="adj" fmla="val 50000"/>
            </a:avLst>
          </a:prstGeom>
          <a:solidFill>
            <a:srgbClr val="1E9E62"/>
          </a:solidFill>
          <a:ln/>
        </p:spPr>
        <p:txBody>
          <a:bodyPr/>
          <a:p/>
        </p:txBody>
      </p:sp>
      <p:sp>
        <p:nvSpPr>
          <p:cNvPr id="1704" name="" descr="{&quot;isTemplate&quot;:true,&quot;type&quot;:&quot;text&quot;}"/>
          <p:cNvSpPr txBox="1"/>
          <p:nvPr/>
        </p:nvSpPr>
        <p:spPr>
          <a:xfrm rot="0" flipH="0" flipV="0">
            <a:off x="6400800"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已实现</a:t>
            </a:r>
            <a:endParaRPr/>
          </a:p>
        </p:txBody>
      </p:sp>
      <p:sp>
        <p:nvSpPr>
          <p:cNvPr id="1705" name=""/>
          <p:cNvSpPr/>
          <p:nvPr/>
        </p:nvSpPr>
        <p:spPr>
          <a:xfrm rot="0" flipH="0" flipV="0">
            <a:off x="7486650" y="5353050"/>
            <a:ext cx="1247775" cy="381000"/>
          </a:xfrm>
          <a:prstGeom prst="roundRect">
            <a:avLst>
              <a:gd name="adj" fmla="val 15000"/>
            </a:avLst>
          </a:prstGeom>
          <a:solidFill>
            <a:srgbClr val="F5F7FA"/>
          </a:solidFill>
          <a:ln/>
        </p:spPr>
        <p:txBody>
          <a:bodyPr/>
          <a:p/>
        </p:txBody>
      </p:sp>
      <p:sp>
        <p:nvSpPr>
          <p:cNvPr id="1706" name=""/>
          <p:cNvSpPr/>
          <p:nvPr/>
        </p:nvSpPr>
        <p:spPr>
          <a:xfrm rot="0" flipH="0" flipV="0">
            <a:off x="7581900" y="5495925"/>
            <a:ext cx="95250" cy="95250"/>
          </a:xfrm>
          <a:prstGeom prst="roundRect">
            <a:avLst>
              <a:gd name="adj" fmla="val 50000"/>
            </a:avLst>
          </a:prstGeom>
          <a:solidFill>
            <a:srgbClr val="E8A33D"/>
          </a:solidFill>
          <a:ln/>
        </p:spPr>
        <p:txBody>
          <a:bodyPr/>
          <a:p/>
        </p:txBody>
      </p:sp>
      <p:sp>
        <p:nvSpPr>
          <p:cNvPr id="1707" name="" descr="{&quot;isTemplate&quot;:true,&quot;type&quot;:&quot;text&quot;}"/>
          <p:cNvSpPr txBox="1"/>
          <p:nvPr/>
        </p:nvSpPr>
        <p:spPr>
          <a:xfrm rot="0" flipH="0" flipV="0">
            <a:off x="7753350" y="5438775"/>
            <a:ext cx="533400" cy="209550"/>
          </a:xfrm>
          <a:prstGeom prst="rect"/>
        </p:spPr>
        <p:txBody>
          <a:bodyPr wrap="none" lIns="0" tIns="0" rIns="0" bIns="0"/>
          <a:p>
            <a:pPr>
              <a:lnSpc>
                <a:spcPct val="130000"/>
              </a:lnSpc>
            </a:pPr>
            <a:r>
              <a:rPr lang="zh-CN" sz="1050" b="1">
                <a:solidFill>
                  <a:srgbClr val="333A45"/>
                </a:solidFill>
                <a:latin typeface="Microsoft YaHei"/>
                <a:ea typeface="Microsoft YaHei"/>
              </a:rPr>
              <a:t>部分实现</a:t>
            </a:r>
            <a:endParaRPr/>
          </a:p>
        </p:txBody>
      </p:sp>
      <p:sp>
        <p:nvSpPr>
          <p:cNvPr id="1708" name=""/>
          <p:cNvSpPr/>
          <p:nvPr/>
        </p:nvSpPr>
        <p:spPr>
          <a:xfrm rot="0" flipH="0" flipV="0">
            <a:off x="8829675" y="5353050"/>
            <a:ext cx="1257300" cy="381000"/>
          </a:xfrm>
          <a:prstGeom prst="roundRect">
            <a:avLst>
              <a:gd name="adj" fmla="val 15000"/>
            </a:avLst>
          </a:prstGeom>
          <a:solidFill>
            <a:srgbClr val="F5F7FA"/>
          </a:solidFill>
          <a:ln/>
        </p:spPr>
        <p:txBody>
          <a:bodyPr/>
          <a:p/>
        </p:txBody>
      </p:sp>
      <p:sp>
        <p:nvSpPr>
          <p:cNvPr id="1709" name=""/>
          <p:cNvSpPr/>
          <p:nvPr/>
        </p:nvSpPr>
        <p:spPr>
          <a:xfrm rot="0" flipH="0" flipV="0">
            <a:off x="8924925" y="5495925"/>
            <a:ext cx="95250" cy="95250"/>
          </a:xfrm>
          <a:prstGeom prst="roundRect">
            <a:avLst>
              <a:gd name="adj" fmla="val 50000"/>
            </a:avLst>
          </a:prstGeom>
          <a:solidFill>
            <a:srgbClr val="1E7BE0"/>
          </a:solidFill>
          <a:ln/>
        </p:spPr>
        <p:txBody>
          <a:bodyPr/>
          <a:p/>
        </p:txBody>
      </p:sp>
      <p:sp>
        <p:nvSpPr>
          <p:cNvPr id="1710" name="" descr="{&quot;isTemplate&quot;:true,&quot;type&quot;:&quot;text&quot;}"/>
          <p:cNvSpPr txBox="1"/>
          <p:nvPr/>
        </p:nvSpPr>
        <p:spPr>
          <a:xfrm rot="0" flipH="0" flipV="0">
            <a:off x="909637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设计中</a:t>
            </a:r>
            <a:endParaRPr/>
          </a:p>
        </p:txBody>
      </p:sp>
      <p:sp>
        <p:nvSpPr>
          <p:cNvPr id="1711" name=""/>
          <p:cNvSpPr/>
          <p:nvPr/>
        </p:nvSpPr>
        <p:spPr>
          <a:xfrm rot="0" flipH="0" flipV="0">
            <a:off x="10182225" y="5353050"/>
            <a:ext cx="1247775" cy="381000"/>
          </a:xfrm>
          <a:prstGeom prst="roundRect">
            <a:avLst>
              <a:gd name="adj" fmla="val 15000"/>
            </a:avLst>
          </a:prstGeom>
          <a:solidFill>
            <a:srgbClr val="F5F7FA"/>
          </a:solidFill>
          <a:ln/>
        </p:spPr>
        <p:txBody>
          <a:bodyPr/>
          <a:p/>
        </p:txBody>
      </p:sp>
      <p:sp>
        <p:nvSpPr>
          <p:cNvPr id="1712" name=""/>
          <p:cNvSpPr/>
          <p:nvPr/>
        </p:nvSpPr>
        <p:spPr>
          <a:xfrm rot="0" flipH="0" flipV="0">
            <a:off x="10277475" y="5495925"/>
            <a:ext cx="95250" cy="95250"/>
          </a:xfrm>
          <a:prstGeom prst="roundRect">
            <a:avLst>
              <a:gd name="adj" fmla="val 50000"/>
            </a:avLst>
          </a:prstGeom>
          <a:solidFill>
            <a:srgbClr val="98A2B3"/>
          </a:solidFill>
          <a:ln/>
        </p:spPr>
        <p:txBody>
          <a:bodyPr/>
          <a:p/>
        </p:txBody>
      </p:sp>
      <p:sp>
        <p:nvSpPr>
          <p:cNvPr id="1713" name="" descr="{&quot;isTemplate&quot;:true,&quot;type&quot;:&quot;text&quot;}"/>
          <p:cNvSpPr txBox="1"/>
          <p:nvPr/>
        </p:nvSpPr>
        <p:spPr>
          <a:xfrm rot="0" flipH="0" flipV="0">
            <a:off x="1044892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待研究</a:t>
            </a:r>
            <a:endParaRPr/>
          </a:p>
        </p:txBody>
      </p:sp>
      <p:sp>
        <p:nvSpPr>
          <p:cNvPr id="1714" name=""/>
          <p:cNvSpPr/>
          <p:nvPr/>
        </p:nvSpPr>
        <p:spPr>
          <a:xfrm rot="0" flipH="0" flipV="0">
            <a:off x="6134100" y="5972175"/>
            <a:ext cx="5295900" cy="400050"/>
          </a:xfrm>
          <a:custGeom>
            <a:pathLst>
              <a:path w="556" h="42">
                <a:moveTo>
                  <a:pt x="0" y="0"/>
                </a:moveTo>
                <a:lnTo>
                  <a:pt x="556" y="0"/>
                </a:lnTo>
                <a:lnTo>
                  <a:pt x="556" y="1"/>
                </a:lnTo>
                <a:lnTo>
                  <a:pt x="0" y="1"/>
                </a:lnTo>
                <a:close/>
              </a:path>
            </a:pathLst>
          </a:custGeom>
          <a:solidFill>
            <a:srgbClr val="E3E8EF"/>
          </a:solidFill>
          <a:ln/>
        </p:spPr>
        <p:txBody>
          <a:bodyPr/>
          <a:p/>
        </p:txBody>
      </p:sp>
      <p:sp>
        <p:nvSpPr>
          <p:cNvPr id="1715" name=""/>
          <p:cNvSpPr/>
          <p:nvPr/>
        </p:nvSpPr>
        <p:spPr>
          <a:xfrm rot="0" flipH="0" flipV="0">
            <a:off x="6134100" y="6219825"/>
            <a:ext cx="438150" cy="47625"/>
          </a:xfrm>
          <a:prstGeom prst="rect">
            <a:avLst/>
          </a:prstGeom>
          <a:solidFill>
            <a:srgbClr val="00A9B5"/>
          </a:solidFill>
          <a:ln/>
        </p:spPr>
        <p:txBody>
          <a:bodyPr/>
          <a:p/>
        </p:txBody>
      </p:sp>
      <p:sp>
        <p:nvSpPr>
          <p:cNvPr id="1716" name="" descr="{&quot;isTemplate&quot;:true,&quot;type&quot;:&quot;text&quot;}"/>
          <p:cNvSpPr txBox="1"/>
          <p:nvPr/>
        </p:nvSpPr>
        <p:spPr>
          <a:xfrm rot="0" flipH="0" flipV="0">
            <a:off x="6686550" y="6115050"/>
            <a:ext cx="3276600" cy="247650"/>
          </a:xfrm>
          <a:prstGeom prst="rect"/>
        </p:spPr>
        <p:txBody>
          <a:bodyPr wrap="none" lIns="0" tIns="0" rIns="0" bIns="0"/>
          <a:p>
            <a:pPr>
              <a:lnSpc>
                <a:spcPct val="140000"/>
              </a:lnSpc>
            </a:pPr>
            <a:r>
              <a:rPr lang="en-US" sz="1125" b="1">
                <a:solidFill>
                  <a:srgbClr val="7A8699"/>
                </a:solidFill>
                <a:latin typeface="Microsoft YaHei"/>
                <a:ea typeface="Microsoft YaHei"/>
              </a:rPr>
              <a:t xml:space="preserve">StudyAgent </a:t>
            </a:r>
            <a:r>
              <a:rPr lang="zh-CN" sz="1125" b="1">
                <a:solidFill>
                  <a:srgbClr val="7A8699"/>
                </a:solidFill>
                <a:latin typeface="Microsoft YaHei"/>
                <a:ea typeface="Microsoft YaHei"/>
              </a:rPr>
              <a:t>项目设计汇报</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技术评审版</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共</a:t>
            </a:r>
            <a:r>
              <a:rPr lang="en-US" sz="1125" b="1">
                <a:solidFill>
                  <a:srgbClr val="7A8699"/>
                </a:solidFill>
                <a:latin typeface="Microsoft YaHei"/>
                <a:ea typeface="Microsoft YaHei"/>
              </a:rPr>
              <a:t xml:space="preserve"> 124 </a:t>
            </a:r>
            <a:r>
              <a:rPr lang="zh-CN" sz="1125" b="1">
                <a:solidFill>
                  <a:srgbClr val="7A8699"/>
                </a:solidFill>
                <a:latin typeface="Microsoft YaHei"/>
                <a:ea typeface="Microsoft YaHei"/>
              </a:rPr>
              <a:t>页</a:t>
            </a:r>
            <a:endParaRPr/>
          </a:p>
        </p:txBody>
      </p:sp>
    </p:spTree>
  </p:cSld>
</p:sld>
</file>

<file path=ppt/slides/slide47.xml><?xml version="1.0" encoding="utf-8"?>
<p:sld xmlns:p="http://schemas.openxmlformats.org/presentationml/2006/main" xmlns:a="http://schemas.openxmlformats.org/drawingml/2006/main">
  <p:cSld>
    <p:spTree>
      <p:nvGrpSpPr>
        <p:cNvPr id="1717"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5 / 教师端&lt;/Text&gt;&lt;Text style={{ fontSize: 32, color: '#0E2340', fontWeight: 700, lineHeight: 1.3 }}&gt;七项教师端目标总览&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4 }}&gt;&lt;Box style={{ flexDirection: 'row', gap: 20, flex: 1 }}&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① 备课&lt;/Text&gt;&lt;Text style={{ fontSize: 16, color: '#333A45', fontWeight: 400, lineHeight: 1.6 }}&gt;AI 辅助备课与课堂演示&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② 做 PPT&lt;/Text&gt;&lt;Text style={{ fontSize: 16, color: '#333A45', fontWeight: 400, lineHeight: 1.6 }}&gt;查询系统 MCP 能力制作不同用途课件&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③ 分层作业&lt;/Text&gt;&lt;Text style={{ fontSize: 16, color: '#333A45', fontWeight: 400, lineHeight: 1.6 }}&gt;按个人水平布置作业并加入复习题&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④ 批改&lt;/Text&gt;&lt;Text style={{ fontSize: 16, color: '#333A45', fontWeight: 400, lineHeight: 1.6 }}&gt;AI 批改作业，反馈班级薄弱环节&lt;/Text&gt;&lt;/Box&gt;&lt;/Box&gt;&lt;/Box&gt;&lt;Box style={{ flexDirection: 'row', gap: 20, flex: 1 }}&gt;&lt;Box style={{ width: 366,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⑤ 出卷&lt;/Text&gt;&lt;Text style={{ fontSize: 16, color: '#333A45', fontWeight: 400, lineHeight: 1.6 }}&gt;AI 出卷与评价试卷&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⑥ 改卷&lt;/Text&gt;&lt;Text style={{ fontSize: 16, color: '#333A45', fontWeight: 400, lineHeight: 1.6 }}&gt;AI 改卷，反馈阶段薄弱知识与后续备课建议&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⑦ 综合评价&lt;/Text&gt;&lt;Text style={{ fontSize: 16, color: '#333A45', fontWeight: 400, lineHeight: 1.6 }}&gt;综合评价进步，识别需要人工关注的情况&lt;/Text&gt;&lt;/Box&gt;&lt;/Box&gt;&lt;/Box&gt;&lt;/Box&gt;&lt;/Box&gt;&lt;Box style={{ height: 40, flexDirection: 'row', justifyContent: 'space-between', alignItems: 'center', borderTop: '1px solid #E3E8EF', marginTop: 8 }}&gt;&lt;Text style={{ fontSize: 13, color: '#7A8699', fontWeight: 400, lineHeight: 1.4 }}&gt;依据：教师端设计思路.md §2–§8&lt;/Text&gt;&lt;Text style={{ fontSize: 14, color: '#7A8699', fontWeight: 400, lineHeight: 1.4 }}&gt; 47 / 124 &lt;/Text&gt;&lt;/Box&gt;&lt;/Slide&gt;"/>
        <p:cNvGrpSpPr/>
        <p:nvPr/>
      </p:nvGrpSpPr>
      <p:grpSpPr>
        <a:xfrm>
          <a:off x="0" y="0"/>
          <a:ext cx="0" cy="0"/>
          <a:chOff x="0" y="0"/>
          <a:chExt cx="0" cy="0"/>
        </a:xfrm>
      </p:grpSpPr>
      <p:sp>
        <p:nvSpPr>
          <p:cNvPr id="1718" name=""/>
          <p:cNvSpPr/>
          <p:nvPr/>
        </p:nvSpPr>
        <p:spPr>
          <a:xfrm rot="0" flipH="0" flipV="0">
            <a:off x="0" y="0"/>
            <a:ext cx="12192000" cy="6858000"/>
          </a:xfrm>
          <a:prstGeom prst="rect">
            <a:avLst/>
          </a:prstGeom>
          <a:solidFill>
            <a:srgbClr val="FFFFFF"/>
          </a:solidFill>
          <a:ln/>
        </p:spPr>
        <p:txBody>
          <a:bodyPr/>
          <a:p/>
        </p:txBody>
      </p:sp>
      <p:sp>
        <p:nvSpPr>
          <p:cNvPr id="1719" name="" descr="{&quot;isTemplate&quot;:true,&quot;type&quot;:&quot;text&quot;}"/>
          <p:cNvSpPr txBox="1"/>
          <p:nvPr/>
        </p:nvSpPr>
        <p:spPr>
          <a:xfrm rot="0" flipH="0" flipV="0">
            <a:off x="666750" y="381000"/>
            <a:ext cx="27432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05 / </a:t>
            </a:r>
            <a:r>
              <a:rPr lang="zh-CN" sz="1050" spc="75">
                <a:solidFill>
                  <a:srgbClr val="7A8699"/>
                </a:solidFill>
                <a:latin typeface="Microsoft YaHei"/>
                <a:ea typeface="Microsoft YaHei"/>
              </a:rPr>
              <a:t>教师端</a:t>
            </a:r>
            <a:endParaRPr/>
          </a:p>
        </p:txBody>
      </p:sp>
      <p:sp>
        <p:nvSpPr>
          <p:cNvPr id="1720" name="" descr="{&quot;isTemplate&quot;:true,&quot;type&quot;:&quot;text&quot;}"/>
          <p:cNvSpPr txBox="1"/>
          <p:nvPr/>
        </p:nvSpPr>
        <p:spPr>
          <a:xfrm rot="0" flipH="0" flipV="0">
            <a:off x="666750" y="666750"/>
            <a:ext cx="2743200" cy="476250"/>
          </a:xfrm>
          <a:prstGeom prst="rect"/>
        </p:spPr>
        <p:txBody>
          <a:bodyPr wrap="none" lIns="0" tIns="0" rIns="0" bIns="0"/>
          <a:p>
            <a:pPr>
              <a:lnSpc>
                <a:spcPct val="130000"/>
              </a:lnSpc>
            </a:pPr>
            <a:r>
              <a:rPr lang="zh-CN" sz="2400" b="1">
                <a:solidFill>
                  <a:srgbClr val="0E2340"/>
                </a:solidFill>
                <a:latin typeface="Microsoft YaHei"/>
                <a:ea typeface="Microsoft YaHei"/>
              </a:rPr>
              <a:t>七项教师端目标总览</a:t>
            </a:r>
            <a:endParaRPr/>
          </a:p>
        </p:txBody>
      </p:sp>
      <p:sp>
        <p:nvSpPr>
          <p:cNvPr id="1721"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722"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1723" name=""/>
          <p:cNvSpPr/>
          <p:nvPr/>
        </p:nvSpPr>
        <p:spPr>
          <a:xfrm rot="0" flipH="0" flipV="0">
            <a:off x="666750" y="1219200"/>
            <a:ext cx="2571750" cy="2581275"/>
          </a:xfrm>
          <a:prstGeom prst="roundRect">
            <a:avLst>
              <a:gd name="adj" fmla="val 2963"/>
            </a:avLst>
          </a:prstGeom>
          <a:solidFill>
            <a:srgbClr val="FFFFFF"/>
          </a:solidFill>
          <a:ln w="12700">
            <a:solidFill>
              <a:srgbClr val="E3E8EF"/>
            </a:solidFill>
            <a:prstDash val="solid"/>
          </a:ln>
        </p:spPr>
        <p:txBody>
          <a:bodyPr/>
          <a:p/>
        </p:txBody>
      </p:sp>
      <p:sp>
        <p:nvSpPr>
          <p:cNvPr id="1724" name=""/>
          <p:cNvSpPr/>
          <p:nvPr/>
        </p:nvSpPr>
        <p:spPr>
          <a:xfrm rot="0" flipH="0" flipV="0">
            <a:off x="66675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725" name="" descr="{&quot;isTemplate&quot;:true,&quot;type&quot;:&quot;text&quot;}"/>
          <p:cNvSpPr txBox="1"/>
          <p:nvPr/>
        </p:nvSpPr>
        <p:spPr>
          <a:xfrm rot="0" flipH="0" flipV="0">
            <a:off x="857250" y="1447800"/>
            <a:ext cx="2190750" cy="342900"/>
          </a:xfrm>
          <a:prstGeom prst="rect"/>
        </p:spPr>
        <p:txBody>
          <a:bodyPr wrap="none" lIns="0" tIns="0" rIns="0" bIns="0"/>
          <a:p>
            <a:pPr>
              <a:lnSpc>
                <a:spcPct val="140000"/>
              </a:lnSpc>
            </a:pPr>
            <a:r>
              <a:rPr lang="en-US" sz="1575" b="1">
                <a:solidFill>
                  <a:srgbClr val="0E2340"/>
                </a:solidFill>
                <a:latin typeface="Microsoft YaHei"/>
                <a:ea typeface="Microsoft YaHei"/>
              </a:rPr>
              <a:t xml:space="preserve">① </a:t>
            </a:r>
            <a:r>
              <a:rPr lang="zh-CN" sz="1575" b="1">
                <a:solidFill>
                  <a:srgbClr val="0E2340"/>
                </a:solidFill>
                <a:latin typeface="Microsoft YaHei"/>
                <a:ea typeface="Microsoft YaHei"/>
              </a:rPr>
              <a:t>备课</a:t>
            </a:r>
            <a:endParaRPr/>
          </a:p>
        </p:txBody>
      </p:sp>
      <p:sp>
        <p:nvSpPr>
          <p:cNvPr id="1726" name="" descr="{&quot;isTemplate&quot;:true,&quot;type&quot;:&quot;text&quot;}"/>
          <p:cNvSpPr txBox="1"/>
          <p:nvPr/>
        </p:nvSpPr>
        <p:spPr>
          <a:xfrm rot="0" flipH="0" flipV="0">
            <a:off x="857250" y="1885950"/>
            <a:ext cx="2190750" cy="295275"/>
          </a:xfrm>
          <a:prstGeom prst="rect"/>
        </p:spPr>
        <p:txBody>
          <a:bodyPr wrap="none" lIns="0" tIns="0" rIns="0" bIns="0"/>
          <a:p>
            <a:pPr>
              <a:lnSpc>
                <a:spcPct val="160000"/>
              </a:lnSpc>
            </a:pPr>
            <a:r>
              <a:rPr lang="en-US" sz="1200">
                <a:solidFill>
                  <a:srgbClr val="333A45"/>
                </a:solidFill>
                <a:latin typeface="Microsoft YaHei"/>
                <a:ea typeface="Microsoft YaHei"/>
              </a:rPr>
              <a:t xml:space="preserve">AI </a:t>
            </a:r>
            <a:r>
              <a:rPr lang="zh-CN" sz="1200">
                <a:solidFill>
                  <a:srgbClr val="333A45"/>
                </a:solidFill>
                <a:latin typeface="Microsoft YaHei"/>
                <a:ea typeface="Microsoft YaHei"/>
              </a:rPr>
              <a:t>辅助备课与课堂演示</a:t>
            </a:r>
            <a:endParaRPr/>
          </a:p>
        </p:txBody>
      </p:sp>
      <p:sp>
        <p:nvSpPr>
          <p:cNvPr id="1727" name=""/>
          <p:cNvSpPr/>
          <p:nvPr/>
        </p:nvSpPr>
        <p:spPr>
          <a:xfrm rot="0" flipH="0" flipV="0">
            <a:off x="3429000" y="1219200"/>
            <a:ext cx="2571750" cy="2581275"/>
          </a:xfrm>
          <a:prstGeom prst="roundRect">
            <a:avLst>
              <a:gd name="adj" fmla="val 2963"/>
            </a:avLst>
          </a:prstGeom>
          <a:solidFill>
            <a:srgbClr val="FFFFFF"/>
          </a:solidFill>
          <a:ln w="12700">
            <a:solidFill>
              <a:srgbClr val="E3E8EF"/>
            </a:solidFill>
            <a:prstDash val="solid"/>
          </a:ln>
        </p:spPr>
        <p:txBody>
          <a:bodyPr/>
          <a:p/>
        </p:txBody>
      </p:sp>
      <p:sp>
        <p:nvSpPr>
          <p:cNvPr id="1728" name=""/>
          <p:cNvSpPr/>
          <p:nvPr/>
        </p:nvSpPr>
        <p:spPr>
          <a:xfrm rot="0" flipH="0" flipV="0">
            <a:off x="342900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729" name="" descr="{&quot;isTemplate&quot;:true,&quot;type&quot;:&quot;text&quot;}"/>
          <p:cNvSpPr txBox="1"/>
          <p:nvPr/>
        </p:nvSpPr>
        <p:spPr>
          <a:xfrm rot="0" flipH="0" flipV="0">
            <a:off x="3619500" y="1447800"/>
            <a:ext cx="2190750" cy="342900"/>
          </a:xfrm>
          <a:prstGeom prst="rect"/>
        </p:spPr>
        <p:txBody>
          <a:bodyPr wrap="none" lIns="0" tIns="0" rIns="0" bIns="0"/>
          <a:p>
            <a:pPr>
              <a:lnSpc>
                <a:spcPct val="140000"/>
              </a:lnSpc>
            </a:pPr>
            <a:r>
              <a:rPr lang="en-US" sz="1575" b="1">
                <a:solidFill>
                  <a:srgbClr val="0E2340"/>
                </a:solidFill>
                <a:latin typeface="Microsoft YaHei"/>
                <a:ea typeface="Microsoft YaHei"/>
              </a:rPr>
              <a:t xml:space="preserve">② </a:t>
            </a:r>
            <a:r>
              <a:rPr lang="zh-CN" sz="1575" b="1">
                <a:solidFill>
                  <a:srgbClr val="0E2340"/>
                </a:solidFill>
                <a:latin typeface="Microsoft YaHei"/>
                <a:ea typeface="Microsoft YaHei"/>
              </a:rPr>
              <a:t>做</a:t>
            </a:r>
            <a:r>
              <a:rPr lang="en-US" sz="1575" b="1">
                <a:solidFill>
                  <a:srgbClr val="0E2340"/>
                </a:solidFill>
                <a:latin typeface="Microsoft YaHei"/>
                <a:ea typeface="Microsoft YaHei"/>
              </a:rPr>
              <a:t xml:space="preserve"> PPT</a:t>
            </a:r>
            <a:endParaRPr/>
          </a:p>
        </p:txBody>
      </p:sp>
      <p:sp>
        <p:nvSpPr>
          <p:cNvPr id="1730" name="" descr="{&quot;isTemplate&quot;:true,&quot;type&quot;:&quot;text&quot;}"/>
          <p:cNvSpPr txBox="1"/>
          <p:nvPr/>
        </p:nvSpPr>
        <p:spPr>
          <a:xfrm rot="0" flipH="0" flipV="0">
            <a:off x="3619500" y="1885950"/>
            <a:ext cx="219075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查询系统</a:t>
            </a:r>
            <a:r>
              <a:rPr lang="en-US" sz="1200">
                <a:solidFill>
                  <a:srgbClr val="333A45"/>
                </a:solidFill>
                <a:latin typeface="Microsoft YaHei"/>
                <a:ea typeface="Microsoft YaHei"/>
              </a:rPr>
              <a:t xml:space="preserve"> MCP </a:t>
            </a:r>
            <a:r>
              <a:rPr lang="zh-CN" sz="1200">
                <a:solidFill>
                  <a:srgbClr val="333A45"/>
                </a:solidFill>
                <a:latin typeface="Microsoft YaHei"/>
                <a:ea typeface="Microsoft YaHei"/>
              </a:rPr>
              <a:t>能力制作不同用途课件</a:t>
            </a:r>
            <a:endParaRPr/>
          </a:p>
        </p:txBody>
      </p:sp>
      <p:sp>
        <p:nvSpPr>
          <p:cNvPr id="1731" name=""/>
          <p:cNvSpPr/>
          <p:nvPr/>
        </p:nvSpPr>
        <p:spPr>
          <a:xfrm rot="0" flipH="0" flipV="0">
            <a:off x="6191250" y="1219200"/>
            <a:ext cx="2571750" cy="2581275"/>
          </a:xfrm>
          <a:prstGeom prst="roundRect">
            <a:avLst>
              <a:gd name="adj" fmla="val 2963"/>
            </a:avLst>
          </a:prstGeom>
          <a:solidFill>
            <a:srgbClr val="FFFFFF"/>
          </a:solidFill>
          <a:ln w="12700">
            <a:solidFill>
              <a:srgbClr val="E3E8EF"/>
            </a:solidFill>
            <a:prstDash val="solid"/>
          </a:ln>
        </p:spPr>
        <p:txBody>
          <a:bodyPr/>
          <a:p/>
        </p:txBody>
      </p:sp>
      <p:sp>
        <p:nvSpPr>
          <p:cNvPr id="1732" name=""/>
          <p:cNvSpPr/>
          <p:nvPr/>
        </p:nvSpPr>
        <p:spPr>
          <a:xfrm rot="0" flipH="0" flipV="0">
            <a:off x="619125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733" name="" descr="{&quot;isTemplate&quot;:true,&quot;type&quot;:&quot;text&quot;}"/>
          <p:cNvSpPr txBox="1"/>
          <p:nvPr/>
        </p:nvSpPr>
        <p:spPr>
          <a:xfrm rot="0" flipH="0" flipV="0">
            <a:off x="6381750" y="1447800"/>
            <a:ext cx="2190750" cy="342900"/>
          </a:xfrm>
          <a:prstGeom prst="rect"/>
        </p:spPr>
        <p:txBody>
          <a:bodyPr wrap="none" lIns="0" tIns="0" rIns="0" bIns="0"/>
          <a:p>
            <a:pPr>
              <a:lnSpc>
                <a:spcPct val="140000"/>
              </a:lnSpc>
            </a:pPr>
            <a:r>
              <a:rPr lang="en-US" sz="1575" b="1">
                <a:solidFill>
                  <a:srgbClr val="0E2340"/>
                </a:solidFill>
                <a:latin typeface="Microsoft YaHei"/>
                <a:ea typeface="Microsoft YaHei"/>
              </a:rPr>
              <a:t xml:space="preserve">③ </a:t>
            </a:r>
            <a:r>
              <a:rPr lang="zh-CN" sz="1575" b="1">
                <a:solidFill>
                  <a:srgbClr val="0E2340"/>
                </a:solidFill>
                <a:latin typeface="Microsoft YaHei"/>
                <a:ea typeface="Microsoft YaHei"/>
              </a:rPr>
              <a:t>分层作业</a:t>
            </a:r>
            <a:endParaRPr/>
          </a:p>
        </p:txBody>
      </p:sp>
      <p:sp>
        <p:nvSpPr>
          <p:cNvPr id="1734" name="" descr="{&quot;isTemplate&quot;:true,&quot;type&quot;:&quot;text&quot;}"/>
          <p:cNvSpPr txBox="1"/>
          <p:nvPr/>
        </p:nvSpPr>
        <p:spPr>
          <a:xfrm rot="0" flipH="0" flipV="0">
            <a:off x="6381750" y="1885950"/>
            <a:ext cx="219075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按个人水平布置作业并加入复习题</a:t>
            </a:r>
            <a:endParaRPr/>
          </a:p>
        </p:txBody>
      </p:sp>
      <p:sp>
        <p:nvSpPr>
          <p:cNvPr id="1735" name=""/>
          <p:cNvSpPr/>
          <p:nvPr/>
        </p:nvSpPr>
        <p:spPr>
          <a:xfrm rot="0" flipH="0" flipV="0">
            <a:off x="8953500" y="1219200"/>
            <a:ext cx="2571750" cy="2581275"/>
          </a:xfrm>
          <a:prstGeom prst="roundRect">
            <a:avLst>
              <a:gd name="adj" fmla="val 2963"/>
            </a:avLst>
          </a:prstGeom>
          <a:solidFill>
            <a:srgbClr val="FFFFFF"/>
          </a:solidFill>
          <a:ln w="12700">
            <a:solidFill>
              <a:srgbClr val="E3E8EF"/>
            </a:solidFill>
            <a:prstDash val="solid"/>
          </a:ln>
        </p:spPr>
        <p:txBody>
          <a:bodyPr/>
          <a:p/>
        </p:txBody>
      </p:sp>
      <p:sp>
        <p:nvSpPr>
          <p:cNvPr id="1736" name=""/>
          <p:cNvSpPr/>
          <p:nvPr/>
        </p:nvSpPr>
        <p:spPr>
          <a:xfrm rot="0" flipH="0" flipV="0">
            <a:off x="895350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737" name="" descr="{&quot;isTemplate&quot;:true,&quot;type&quot;:&quot;text&quot;}"/>
          <p:cNvSpPr txBox="1"/>
          <p:nvPr/>
        </p:nvSpPr>
        <p:spPr>
          <a:xfrm rot="0" flipH="0" flipV="0">
            <a:off x="9144000" y="1447800"/>
            <a:ext cx="2190750" cy="342900"/>
          </a:xfrm>
          <a:prstGeom prst="rect"/>
        </p:spPr>
        <p:txBody>
          <a:bodyPr wrap="none" lIns="0" tIns="0" rIns="0" bIns="0"/>
          <a:p>
            <a:pPr>
              <a:lnSpc>
                <a:spcPct val="140000"/>
              </a:lnSpc>
            </a:pPr>
            <a:r>
              <a:rPr lang="en-US" sz="1575" b="1">
                <a:solidFill>
                  <a:srgbClr val="0E2340"/>
                </a:solidFill>
                <a:latin typeface="Microsoft YaHei"/>
                <a:ea typeface="Microsoft YaHei"/>
              </a:rPr>
              <a:t xml:space="preserve">④ </a:t>
            </a:r>
            <a:r>
              <a:rPr lang="zh-CN" sz="1575" b="1">
                <a:solidFill>
                  <a:srgbClr val="0E2340"/>
                </a:solidFill>
                <a:latin typeface="Microsoft YaHei"/>
                <a:ea typeface="Microsoft YaHei"/>
              </a:rPr>
              <a:t>批改</a:t>
            </a:r>
            <a:endParaRPr/>
          </a:p>
        </p:txBody>
      </p:sp>
      <p:sp>
        <p:nvSpPr>
          <p:cNvPr id="1738" name="" descr="{&quot;isTemplate&quot;:true,&quot;type&quot;:&quot;text&quot;}"/>
          <p:cNvSpPr txBox="1"/>
          <p:nvPr/>
        </p:nvSpPr>
        <p:spPr>
          <a:xfrm rot="0" flipH="0" flipV="0">
            <a:off x="9144000" y="1885950"/>
            <a:ext cx="2190750" cy="295275"/>
          </a:xfrm>
          <a:prstGeom prst="rect"/>
        </p:spPr>
        <p:txBody>
          <a:bodyPr wrap="none" lIns="0" tIns="0" rIns="0" bIns="0"/>
          <a:p>
            <a:pPr>
              <a:lnSpc>
                <a:spcPct val="160000"/>
              </a:lnSpc>
            </a:pPr>
            <a:r>
              <a:rPr lang="en-US" sz="1200">
                <a:solidFill>
                  <a:srgbClr val="333A45"/>
                </a:solidFill>
                <a:latin typeface="Microsoft YaHei"/>
                <a:ea typeface="Microsoft YaHei"/>
              </a:rPr>
              <a:t xml:space="preserve">AI </a:t>
            </a:r>
            <a:r>
              <a:rPr lang="zh-CN" sz="1200">
                <a:solidFill>
                  <a:srgbClr val="333A45"/>
                </a:solidFill>
                <a:latin typeface="Microsoft YaHei"/>
                <a:ea typeface="Microsoft YaHei"/>
              </a:rPr>
              <a:t>批改作业，反馈班级薄弱环节</a:t>
            </a:r>
            <a:endParaRPr/>
          </a:p>
        </p:txBody>
      </p:sp>
      <p:sp>
        <p:nvSpPr>
          <p:cNvPr id="1739" name=""/>
          <p:cNvSpPr/>
          <p:nvPr/>
        </p:nvSpPr>
        <p:spPr>
          <a:xfrm rot="0" flipH="0" flipV="0">
            <a:off x="666750" y="3933825"/>
            <a:ext cx="3486150" cy="2276475"/>
          </a:xfrm>
          <a:prstGeom prst="roundRect">
            <a:avLst>
              <a:gd name="adj" fmla="val 3347"/>
            </a:avLst>
          </a:prstGeom>
          <a:solidFill>
            <a:srgbClr val="FFFFFF"/>
          </a:solidFill>
          <a:ln w="12700">
            <a:solidFill>
              <a:srgbClr val="E3E8EF"/>
            </a:solidFill>
            <a:prstDash val="solid"/>
          </a:ln>
        </p:spPr>
        <p:txBody>
          <a:bodyPr/>
          <a:p/>
        </p:txBody>
      </p:sp>
      <p:sp>
        <p:nvSpPr>
          <p:cNvPr id="1740" name=""/>
          <p:cNvSpPr/>
          <p:nvPr/>
        </p:nvSpPr>
        <p:spPr>
          <a:xfrm rot="0" flipH="0" flipV="0">
            <a:off x="666750" y="3933825"/>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1741" name="" descr="{&quot;isTemplate&quot;:true,&quot;type&quot;:&quot;text&quot;}"/>
          <p:cNvSpPr txBox="1"/>
          <p:nvPr/>
        </p:nvSpPr>
        <p:spPr>
          <a:xfrm rot="0" flipH="0" flipV="0">
            <a:off x="857250" y="4162425"/>
            <a:ext cx="3105150" cy="342900"/>
          </a:xfrm>
          <a:prstGeom prst="rect"/>
        </p:spPr>
        <p:txBody>
          <a:bodyPr wrap="none" lIns="0" tIns="0" rIns="0" bIns="0"/>
          <a:p>
            <a:pPr>
              <a:lnSpc>
                <a:spcPct val="140000"/>
              </a:lnSpc>
            </a:pPr>
            <a:r>
              <a:rPr lang="en-US" sz="1575" b="1">
                <a:solidFill>
                  <a:srgbClr val="0E2340"/>
                </a:solidFill>
                <a:latin typeface="Microsoft YaHei"/>
                <a:ea typeface="Microsoft YaHei"/>
              </a:rPr>
              <a:t xml:space="preserve">⑤ </a:t>
            </a:r>
            <a:r>
              <a:rPr lang="zh-CN" sz="1575" b="1">
                <a:solidFill>
                  <a:srgbClr val="0E2340"/>
                </a:solidFill>
                <a:latin typeface="Microsoft YaHei"/>
                <a:ea typeface="Microsoft YaHei"/>
              </a:rPr>
              <a:t>出卷</a:t>
            </a:r>
            <a:endParaRPr/>
          </a:p>
        </p:txBody>
      </p:sp>
      <p:sp>
        <p:nvSpPr>
          <p:cNvPr id="1742" name="" descr="{&quot;isTemplate&quot;:true,&quot;type&quot;:&quot;text&quot;}"/>
          <p:cNvSpPr txBox="1"/>
          <p:nvPr/>
        </p:nvSpPr>
        <p:spPr>
          <a:xfrm rot="0" flipH="0" flipV="0">
            <a:off x="857250" y="4600575"/>
            <a:ext cx="3105150" cy="295275"/>
          </a:xfrm>
          <a:prstGeom prst="rect"/>
        </p:spPr>
        <p:txBody>
          <a:bodyPr wrap="none" lIns="0" tIns="0" rIns="0" bIns="0"/>
          <a:p>
            <a:pPr>
              <a:lnSpc>
                <a:spcPct val="160000"/>
              </a:lnSpc>
            </a:pPr>
            <a:r>
              <a:rPr lang="en-US" sz="1200">
                <a:solidFill>
                  <a:srgbClr val="333A45"/>
                </a:solidFill>
                <a:latin typeface="Microsoft YaHei"/>
                <a:ea typeface="Microsoft YaHei"/>
              </a:rPr>
              <a:t xml:space="preserve">AI </a:t>
            </a:r>
            <a:r>
              <a:rPr lang="zh-CN" sz="1200">
                <a:solidFill>
                  <a:srgbClr val="333A45"/>
                </a:solidFill>
                <a:latin typeface="Microsoft YaHei"/>
                <a:ea typeface="Microsoft YaHei"/>
              </a:rPr>
              <a:t>出卷与评价试卷</a:t>
            </a:r>
            <a:endParaRPr/>
          </a:p>
        </p:txBody>
      </p:sp>
      <p:sp>
        <p:nvSpPr>
          <p:cNvPr id="1743" name=""/>
          <p:cNvSpPr/>
          <p:nvPr/>
        </p:nvSpPr>
        <p:spPr>
          <a:xfrm rot="0" flipH="0" flipV="0">
            <a:off x="4343400" y="3933825"/>
            <a:ext cx="3486150" cy="2276475"/>
          </a:xfrm>
          <a:prstGeom prst="roundRect">
            <a:avLst>
              <a:gd name="adj" fmla="val 3347"/>
            </a:avLst>
          </a:prstGeom>
          <a:solidFill>
            <a:srgbClr val="FFFFFF"/>
          </a:solidFill>
          <a:ln w="12700">
            <a:solidFill>
              <a:srgbClr val="E3E8EF"/>
            </a:solidFill>
            <a:prstDash val="solid"/>
          </a:ln>
        </p:spPr>
        <p:txBody>
          <a:bodyPr/>
          <a:p/>
        </p:txBody>
      </p:sp>
      <p:sp>
        <p:nvSpPr>
          <p:cNvPr id="1744" name=""/>
          <p:cNvSpPr/>
          <p:nvPr/>
        </p:nvSpPr>
        <p:spPr>
          <a:xfrm rot="0" flipH="0" flipV="0">
            <a:off x="4343400" y="3933825"/>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1745" name="" descr="{&quot;isTemplate&quot;:true,&quot;type&quot;:&quot;text&quot;}"/>
          <p:cNvSpPr txBox="1"/>
          <p:nvPr/>
        </p:nvSpPr>
        <p:spPr>
          <a:xfrm rot="0" flipH="0" flipV="0">
            <a:off x="4533900" y="4162425"/>
            <a:ext cx="3105150" cy="342900"/>
          </a:xfrm>
          <a:prstGeom prst="rect"/>
        </p:spPr>
        <p:txBody>
          <a:bodyPr wrap="none" lIns="0" tIns="0" rIns="0" bIns="0"/>
          <a:p>
            <a:pPr>
              <a:lnSpc>
                <a:spcPct val="140000"/>
              </a:lnSpc>
            </a:pPr>
            <a:r>
              <a:rPr lang="en-US" sz="1575" b="1">
                <a:solidFill>
                  <a:srgbClr val="0E2340"/>
                </a:solidFill>
                <a:latin typeface="Microsoft YaHei"/>
                <a:ea typeface="Microsoft YaHei"/>
              </a:rPr>
              <a:t xml:space="preserve">⑥ </a:t>
            </a:r>
            <a:r>
              <a:rPr lang="zh-CN" sz="1575" b="1">
                <a:solidFill>
                  <a:srgbClr val="0E2340"/>
                </a:solidFill>
                <a:latin typeface="Microsoft YaHei"/>
                <a:ea typeface="Microsoft YaHei"/>
              </a:rPr>
              <a:t>改卷</a:t>
            </a:r>
            <a:endParaRPr/>
          </a:p>
        </p:txBody>
      </p:sp>
      <p:sp>
        <p:nvSpPr>
          <p:cNvPr id="1746" name="" descr="{&quot;isTemplate&quot;:true,&quot;type&quot;:&quot;text&quot;}"/>
          <p:cNvSpPr txBox="1"/>
          <p:nvPr/>
        </p:nvSpPr>
        <p:spPr>
          <a:xfrm rot="0" flipH="0" flipV="0">
            <a:off x="4533900" y="4600575"/>
            <a:ext cx="3105150" cy="295275"/>
          </a:xfrm>
          <a:prstGeom prst="rect"/>
        </p:spPr>
        <p:txBody>
          <a:bodyPr wrap="none" lIns="0" tIns="0" rIns="0" bIns="0"/>
          <a:p>
            <a:pPr>
              <a:lnSpc>
                <a:spcPct val="160000"/>
              </a:lnSpc>
            </a:pPr>
            <a:r>
              <a:rPr lang="en-US" sz="1200">
                <a:solidFill>
                  <a:srgbClr val="333A45"/>
                </a:solidFill>
                <a:latin typeface="Microsoft YaHei"/>
                <a:ea typeface="Microsoft YaHei"/>
              </a:rPr>
              <a:t xml:space="preserve">AI </a:t>
            </a:r>
            <a:r>
              <a:rPr lang="zh-CN" sz="1200">
                <a:solidFill>
                  <a:srgbClr val="333A45"/>
                </a:solidFill>
                <a:latin typeface="Microsoft YaHei"/>
                <a:ea typeface="Microsoft YaHei"/>
              </a:rPr>
              <a:t>改卷，反馈阶段薄弱知识与后续备课建议</a:t>
            </a:r>
            <a:endParaRPr/>
          </a:p>
        </p:txBody>
      </p:sp>
      <p:sp>
        <p:nvSpPr>
          <p:cNvPr id="1747" name=""/>
          <p:cNvSpPr/>
          <p:nvPr/>
        </p:nvSpPr>
        <p:spPr>
          <a:xfrm rot="0" flipH="0" flipV="0">
            <a:off x="8020050" y="3933825"/>
            <a:ext cx="3486150" cy="2276475"/>
          </a:xfrm>
          <a:prstGeom prst="roundRect">
            <a:avLst>
              <a:gd name="adj" fmla="val 3347"/>
            </a:avLst>
          </a:prstGeom>
          <a:solidFill>
            <a:srgbClr val="FFFFFF"/>
          </a:solidFill>
          <a:ln w="12700">
            <a:solidFill>
              <a:srgbClr val="E3E8EF"/>
            </a:solidFill>
            <a:prstDash val="solid"/>
          </a:ln>
        </p:spPr>
        <p:txBody>
          <a:bodyPr/>
          <a:p/>
        </p:txBody>
      </p:sp>
      <p:sp>
        <p:nvSpPr>
          <p:cNvPr id="1748" name=""/>
          <p:cNvSpPr/>
          <p:nvPr/>
        </p:nvSpPr>
        <p:spPr>
          <a:xfrm rot="0" flipH="0" flipV="0">
            <a:off x="8020050" y="3933825"/>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1749" name="" descr="{&quot;isTemplate&quot;:true,&quot;type&quot;:&quot;text&quot;}"/>
          <p:cNvSpPr txBox="1"/>
          <p:nvPr/>
        </p:nvSpPr>
        <p:spPr>
          <a:xfrm rot="0" flipH="0" flipV="0">
            <a:off x="8210550" y="4162425"/>
            <a:ext cx="3105150" cy="342900"/>
          </a:xfrm>
          <a:prstGeom prst="rect"/>
        </p:spPr>
        <p:txBody>
          <a:bodyPr wrap="none" lIns="0" tIns="0" rIns="0" bIns="0"/>
          <a:p>
            <a:pPr>
              <a:lnSpc>
                <a:spcPct val="140000"/>
              </a:lnSpc>
            </a:pPr>
            <a:r>
              <a:rPr lang="en-US" sz="1575" b="1">
                <a:solidFill>
                  <a:srgbClr val="0E2340"/>
                </a:solidFill>
                <a:latin typeface="Microsoft YaHei"/>
                <a:ea typeface="Microsoft YaHei"/>
              </a:rPr>
              <a:t xml:space="preserve">⑦ </a:t>
            </a:r>
            <a:r>
              <a:rPr lang="zh-CN" sz="1575" b="1">
                <a:solidFill>
                  <a:srgbClr val="0E2340"/>
                </a:solidFill>
                <a:latin typeface="Microsoft YaHei"/>
                <a:ea typeface="Microsoft YaHei"/>
              </a:rPr>
              <a:t>综合评价</a:t>
            </a:r>
            <a:endParaRPr/>
          </a:p>
        </p:txBody>
      </p:sp>
      <p:sp>
        <p:nvSpPr>
          <p:cNvPr id="1750" name="" descr="{&quot;isTemplate&quot;:true,&quot;type&quot;:&quot;text&quot;}"/>
          <p:cNvSpPr txBox="1"/>
          <p:nvPr/>
        </p:nvSpPr>
        <p:spPr>
          <a:xfrm rot="0" flipH="0" flipV="0">
            <a:off x="8210550" y="4600575"/>
            <a:ext cx="3105150" cy="295275"/>
          </a:xfrm>
          <a:prstGeom prst="rect"/>
        </p:spPr>
        <p:txBody>
          <a:bodyPr wrap="none" lIns="0" tIns="0" rIns="0" bIns="0"/>
          <a:p>
            <a:pPr>
              <a:lnSpc>
                <a:spcPct val="160000"/>
              </a:lnSpc>
            </a:pPr>
            <a:r>
              <a:rPr lang="zh-CN" sz="1200">
                <a:solidFill>
                  <a:srgbClr val="333A45"/>
                </a:solidFill>
                <a:latin typeface="Microsoft YaHei"/>
                <a:ea typeface="Microsoft YaHei"/>
              </a:rPr>
              <a:t>综合评价进步，识别需要人工关注的情况</a:t>
            </a:r>
            <a:endParaRPr/>
          </a:p>
        </p:txBody>
      </p:sp>
      <p:sp>
        <p:nvSpPr>
          <p:cNvPr id="1751"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752" name="" descr="{&quot;isTemplate&quot;:true,&quot;type&quot;:&quot;text&quot;}"/>
          <p:cNvSpPr txBox="1"/>
          <p:nvPr/>
        </p:nvSpPr>
        <p:spPr>
          <a:xfrm rot="0" flipH="0" flipV="0">
            <a:off x="666750" y="6381750"/>
            <a:ext cx="1828800" cy="209550"/>
          </a:xfrm>
          <a:prstGeom prst="rect"/>
        </p:spPr>
        <p:txBody>
          <a:bodyPr wrap="none" lIns="0" tIns="0" rIns="0" bIns="0"/>
          <a:p>
            <a:pPr>
              <a:lnSpc>
                <a:spcPct val="140000"/>
              </a:lnSpc>
            </a:pPr>
            <a:r>
              <a:rPr lang="zh-CN" sz="975">
                <a:solidFill>
                  <a:srgbClr val="7A8699"/>
                </a:solidFill>
                <a:latin typeface="Microsoft YaHei"/>
                <a:ea typeface="Microsoft YaHei"/>
              </a:rPr>
              <a:t>依据：教师端设计思路</a:t>
            </a:r>
            <a:r>
              <a:rPr lang="en-US" sz="975">
                <a:solidFill>
                  <a:srgbClr val="7A8699"/>
                </a:solidFill>
                <a:latin typeface="Microsoft YaHei"/>
                <a:ea typeface="Microsoft YaHei"/>
              </a:rPr>
              <a:t>.md §2–§8</a:t>
            </a:r>
            <a:endParaRPr/>
          </a:p>
        </p:txBody>
      </p:sp>
      <p:sp>
        <p:nvSpPr>
          <p:cNvPr id="1753"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47 / 124 </a:t>
            </a:r>
            <a:endParaRPr/>
          </a:p>
        </p:txBody>
      </p:sp>
    </p:spTree>
  </p:cSld>
</p:sld>
</file>

<file path=ppt/slides/slide48.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754"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5 / 教师端&lt;/Text&gt;&lt;Text style={{ fontSize: 32, color: '#0E2340', fontWeight: 700, lineHeight: 1.3 }}&gt;课时主线闭环与人机分工&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8 }}&gt;&lt;Box style={{ flexDirection: 'column', gap: 16, flex: 1, justifyContent: 'center' }}&gt;&lt;svg width={1140} height={180} viewBox='0 0 1140 180'&gt;&lt;rect x='0' y='40' width='151' height='88' rx='8' fill='#0E2340' stroke='#1E7BE0' stroke-width='1.5'/&gt;&lt;text x='75.5' y='78.0' font-size='20' fill='#FFFFFF' text-anchor='middle' font-weight='600'&gt;备课&lt;/text&gt;&lt;text x='75.5' y='104.0' font-size='15' fill='#FFFFFF' text-anchor='middle' font-weight='400'&gt;教案与素材&lt;/text&gt;&lt;line x1='157' y1='84' x2='183' y2='84' stroke='#1E7BE0' stroke-width='2'/&gt;&lt;path d='M183 78 l10 -6 l0 12 z' fill='#1E7BE0'/&gt;&lt;rect x='197' y='40' width='151' height='88' rx='8' fill='#FFFFFF' stroke='#1E7BE0' stroke-width='1.5'/&gt;&lt;text x='272.5' y='78.0' font-size='20' fill='#0E2340' text-anchor='middle' font-weight='600'&gt;课堂演示&lt;/text&gt;&lt;text x='272.5' y='104.0' font-size='15' fill='#7A8699' text-anchor='middle' font-weight='400'&gt;分步与图形&lt;/text&gt;&lt;line x1='354' y1='84' x2='380' y2='84' stroke='#1E7BE0' stroke-width='2'/&gt;&lt;path d='M380 78 l10 -6 l0 12 z' fill='#1E7BE0'/&gt;&lt;rect x='394' y='40' width='151' height='88' rx='8' fill='#FFFFFF' stroke='#1E7BE0' stroke-width='1.5'/&gt;&lt;text x='469.5' y='78.0' font-size='20' fill='#0E2340' text-anchor='middle' font-weight='600'&gt;作业&lt;/text&gt;&lt;text x='469.5' y='104.0' font-size='15' fill='#7A8699' text-anchor='middle' font-weight='400'&gt;分层 + 复习&lt;/text&gt;&lt;line x1='551' y1='84' x2='577' y2='84' stroke='#1E7BE0' stroke-width='2'/&gt;&lt;path d='M577 78 l10 -6 l0 12 z' fill='#1E7BE0'/&gt;&lt;rect x='591' y='40' width='151' height='88' rx='8' fill='#FFFFFF' stroke='#1E7BE0' stroke-width='1.5'/&gt;&lt;text x='666.5' y='78.0' font-size='20' fill='#0E2340' text-anchor='middle' font-weight='600'&gt;批改&lt;/text&gt;&lt;text x='666.5' y='104.0' font-size='15' fill='#7A8699' text-anchor='middle' font-weight='400'&gt;共性问题&lt;/text&gt;&lt;line x1='748' y1='84' x2='774' y2='84' stroke='#1E7BE0' stroke-width='2'/&gt;&lt;path d='M774 78 l10 -6 l0 12 z' fill='#1E7BE0'/&gt;&lt;rect x='788' y='40' width='151' height='88' rx='8' fill='#FFFFFF' stroke='#1E7BE0' stroke-width='1.5'/&gt;&lt;text x='863.5' y='78.0' font-size='20' fill='#0E2340' text-anchor='middle' font-weight='600'&gt;考试&lt;/text&gt;&lt;text x='863.5' y='104.0' font-size='15' fill='#7A8699' text-anchor='middle' font-weight='400'&gt;出卷与改卷&lt;/text&gt;&lt;line x1='945' y1='84' x2='971' y2='84' stroke='#1E7BE0' stroke-width='2'/&gt;&lt;path d='M971 78 l10 -6 l0 12 z' fill='#1E7BE0'/&gt;&lt;rect x='985' y='40' width='151' height='88' rx='8' fill='#F5F7FA' stroke='#1E7BE0' stroke-width='1.5'/&gt;&lt;text x='1060.5' y='78.0' font-size='20' fill='#0E2340' text-anchor='middle' font-weight='600'&gt;教学调整&lt;/text&gt;&lt;text x='1060.5' y='104.0' font-size='15' fill='#7A8699' text-anchor='middle' font-weight='400'&gt;重讲 / 补练 / 辅导&lt;/text&gt;&lt;/svg&gt;&lt;/Box&gt;&lt;Box style={{ flexDirection: 'row', gap: 20 }}&gt;&lt;Box style={{ width: 560, background: '#FFFFFF', border: '1px solid #E3E8EF', borderRadius: 8, overflow: 'hidden', flexDirection: 'column' }}&gt;&lt;Box style={{ height: 4, background: 'linear-gradient(90deg, #1E7BE0 0%, #00A9B5 100%)' }} /&gt;&lt;Box style={{ flexDirection: 'column', gap: 10, padding: 20, flex: 1 }}&gt;&lt;Text style={{ fontSize: 22, color: '#0E2340', fontWeight: 700, lineHeight: 1.4 }}&gt;系统负责&lt;/Text&gt;&lt;Text style={{ fontSize: 18, color: '#333A45', fontWeight: 400, lineHeight: 1.6 }}&gt;整理资料、分析证据、生成可修改的建议&lt;/Text&gt;&lt;/Box&gt;&lt;/Box&gt;&lt;Box style={{ width: 560, background: '#FFFFFF', border: '1px solid #E3E8EF', borderRadius: 8, overflow: 'hidden', flexDirection: 'column' }}&gt;&lt;Box style={{ height: 4, background: 'linear-gradient(90deg, #1E7BE0 0%, #00A9B5 100%)' }} /&gt;&lt;Box style={{ flexDirection: 'column', gap: 10, padding: 20, flex: 1 }}&gt;&lt;Text style={{ fontSize: 22, color: '#1E7BE0', fontWeight: 700, lineHeight: 1.4 }}&gt;教师决定&lt;/Text&gt;&lt;Text style={{ fontSize: 18, color: '#333A45', fontWeight: 400, lineHeight: 1.6 }}&gt;教学重点、作业安排、评价标准及必要的人际沟通&lt;/Text&gt;&lt;/Box&gt;&lt;/Box&gt;&lt;/Box&gt;&lt;/Box&gt;&lt;/Box&gt;&lt;Box style={{ height: 40, flexDirection: 'row', justifyContent: 'space-between', alignItems: 'center', borderTop: '1px solid #E3E8EF', marginTop: 8 }}&gt;&lt;Text style={{ fontSize: 13, color: '#7A8699', fontWeight: 400, lineHeight: 1.4 }}&gt;依据：教师端设计思路.md §1、§2&lt;/Text&gt;&lt;Text style={{ fontSize: 14, color: '#7A8699', fontWeight: 400, lineHeight: 1.4 }}&gt; 48 / 124 &lt;/Text&gt;&lt;/Box&gt;&lt;/Slide&gt;"/>
        <p:cNvGrpSpPr/>
        <p:nvPr/>
      </p:nvGrpSpPr>
      <p:grpSpPr>
        <a:xfrm>
          <a:off x="0" y="0"/>
          <a:ext cx="0" cy="0"/>
          <a:chOff x="0" y="0"/>
          <a:chExt cx="0" cy="0"/>
        </a:xfrm>
      </p:grpSpPr>
      <p:sp>
        <p:nvSpPr>
          <p:cNvPr id="1755" name=""/>
          <p:cNvSpPr/>
          <p:nvPr/>
        </p:nvSpPr>
        <p:spPr>
          <a:xfrm rot="0" flipH="0" flipV="0">
            <a:off x="0" y="0"/>
            <a:ext cx="12192000" cy="6858000"/>
          </a:xfrm>
          <a:prstGeom prst="rect">
            <a:avLst/>
          </a:prstGeom>
          <a:solidFill>
            <a:srgbClr val="FFFFFF"/>
          </a:solidFill>
          <a:ln/>
        </p:spPr>
        <p:txBody>
          <a:bodyPr/>
          <a:p/>
        </p:txBody>
      </p:sp>
      <p:sp>
        <p:nvSpPr>
          <p:cNvPr id="1756" name="" descr="{&quot;isTemplate&quot;:true,&quot;type&quot;:&quot;text&quot;}"/>
          <p:cNvSpPr txBox="1"/>
          <p:nvPr/>
        </p:nvSpPr>
        <p:spPr>
          <a:xfrm rot="0" flipH="0" flipV="0">
            <a:off x="666750" y="381000"/>
            <a:ext cx="3352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05 / </a:t>
            </a:r>
            <a:r>
              <a:rPr lang="zh-CN" sz="1050" spc="75">
                <a:solidFill>
                  <a:srgbClr val="7A8699"/>
                </a:solidFill>
                <a:latin typeface="Microsoft YaHei"/>
                <a:ea typeface="Microsoft YaHei"/>
              </a:rPr>
              <a:t>教师端</a:t>
            </a:r>
            <a:endParaRPr/>
          </a:p>
        </p:txBody>
      </p:sp>
      <p:sp>
        <p:nvSpPr>
          <p:cNvPr id="1757" name="" descr="{&quot;isTemplate&quot;:true,&quot;type&quot;:&quot;text&quot;}"/>
          <p:cNvSpPr txBox="1"/>
          <p:nvPr/>
        </p:nvSpPr>
        <p:spPr>
          <a:xfrm rot="0" flipH="0" flipV="0">
            <a:off x="666750" y="666750"/>
            <a:ext cx="3352800" cy="476250"/>
          </a:xfrm>
          <a:prstGeom prst="rect"/>
        </p:spPr>
        <p:txBody>
          <a:bodyPr wrap="none" lIns="0" tIns="0" rIns="0" bIns="0"/>
          <a:p>
            <a:pPr>
              <a:lnSpc>
                <a:spcPct val="130000"/>
              </a:lnSpc>
            </a:pPr>
            <a:r>
              <a:rPr lang="zh-CN" sz="2400" b="1">
                <a:solidFill>
                  <a:srgbClr val="0E2340"/>
                </a:solidFill>
                <a:latin typeface="Microsoft YaHei"/>
                <a:ea typeface="Microsoft YaHei"/>
              </a:rPr>
              <a:t>课时主线闭环与人机分工</a:t>
            </a:r>
            <a:endParaRPr/>
          </a:p>
        </p:txBody>
      </p:sp>
      <p:sp>
        <p:nvSpPr>
          <p:cNvPr id="1758"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759"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1760" name=""/>
          <p:cNvPicPr>
            <a:picLocks noChangeAspect="1"/>
          </p:cNvPicPr>
          <p:nvPr/>
        </p:nvPicPr>
        <p:blipFill>
          <a:blip>
            <a:extLst>
              <a:ext uri="{96DAC541-7B7A-43D3-8B79-37D633B846F1}">
                <asvg:svgBlip r:embed="rId1"/>
              </a:ext>
            </a:extLst>
          </a:blip>
          <a:stretch>
            <a:fillRect/>
          </a:stretch>
        </p:blipFill>
        <p:spPr>
          <a:xfrm rot="0" flipH="0" flipV="0">
            <a:off x="666750" y="2171700"/>
            <a:ext cx="10858500" cy="1714500"/>
          </a:xfrm>
          <a:prstGeom prst="rect">
            <a:avLst/>
          </a:prstGeom>
          <a:ln/>
        </p:spPr>
      </p:pic>
      <p:sp>
        <p:nvSpPr>
          <p:cNvPr id="1761" name=""/>
          <p:cNvSpPr/>
          <p:nvPr/>
        </p:nvSpPr>
        <p:spPr>
          <a:xfrm rot="0" flipH="0" flipV="0">
            <a:off x="666750" y="5010150"/>
            <a:ext cx="5334000" cy="1200150"/>
          </a:xfrm>
          <a:prstGeom prst="roundRect">
            <a:avLst>
              <a:gd name="adj" fmla="val 6349"/>
            </a:avLst>
          </a:prstGeom>
          <a:solidFill>
            <a:srgbClr val="FFFFFF"/>
          </a:solidFill>
          <a:ln w="12700">
            <a:solidFill>
              <a:srgbClr val="E3E8EF"/>
            </a:solidFill>
            <a:prstDash val="solid"/>
          </a:ln>
        </p:spPr>
        <p:txBody>
          <a:bodyPr/>
          <a:p/>
        </p:txBody>
      </p:sp>
      <p:sp>
        <p:nvSpPr>
          <p:cNvPr id="1762" name=""/>
          <p:cNvSpPr/>
          <p:nvPr/>
        </p:nvSpPr>
        <p:spPr>
          <a:xfrm rot="0" flipH="0" flipV="0">
            <a:off x="666750" y="5010150"/>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1763" name="" descr="{&quot;isTemplate&quot;:true,&quot;type&quot;:&quot;text&quot;}"/>
          <p:cNvSpPr txBox="1"/>
          <p:nvPr/>
        </p:nvSpPr>
        <p:spPr>
          <a:xfrm rot="0" flipH="0" flipV="0">
            <a:off x="857250" y="5238750"/>
            <a:ext cx="4953000" cy="352425"/>
          </a:xfrm>
          <a:prstGeom prst="rect"/>
        </p:spPr>
        <p:txBody>
          <a:bodyPr wrap="none" lIns="0" tIns="0" rIns="0" bIns="0"/>
          <a:p>
            <a:pPr>
              <a:lnSpc>
                <a:spcPct val="140000"/>
              </a:lnSpc>
            </a:pPr>
            <a:r>
              <a:rPr lang="zh-CN" sz="1650" b="1">
                <a:solidFill>
                  <a:srgbClr val="0E2340"/>
                </a:solidFill>
                <a:latin typeface="Microsoft YaHei"/>
                <a:ea typeface="Microsoft YaHei"/>
              </a:rPr>
              <a:t>系统负责</a:t>
            </a:r>
            <a:endParaRPr/>
          </a:p>
        </p:txBody>
      </p:sp>
      <p:sp>
        <p:nvSpPr>
          <p:cNvPr id="1764" name="" descr="{&quot;isTemplate&quot;:true,&quot;type&quot;:&quot;text&quot;}"/>
          <p:cNvSpPr txBox="1"/>
          <p:nvPr/>
        </p:nvSpPr>
        <p:spPr>
          <a:xfrm rot="0" flipH="0" flipV="0">
            <a:off x="857250" y="5686425"/>
            <a:ext cx="4953000" cy="333375"/>
          </a:xfrm>
          <a:prstGeom prst="rect"/>
        </p:spPr>
        <p:txBody>
          <a:bodyPr wrap="none" lIns="0" tIns="0" rIns="0" bIns="0"/>
          <a:p>
            <a:pPr>
              <a:lnSpc>
                <a:spcPct val="160000"/>
              </a:lnSpc>
            </a:pPr>
            <a:r>
              <a:rPr lang="zh-CN" sz="1350">
                <a:solidFill>
                  <a:srgbClr val="333A45"/>
                </a:solidFill>
                <a:latin typeface="Microsoft YaHei"/>
                <a:ea typeface="Microsoft YaHei"/>
              </a:rPr>
              <a:t>整理资料、分析证据、生成可修改的建议</a:t>
            </a:r>
            <a:endParaRPr/>
          </a:p>
        </p:txBody>
      </p:sp>
      <p:sp>
        <p:nvSpPr>
          <p:cNvPr id="1765" name=""/>
          <p:cNvSpPr/>
          <p:nvPr/>
        </p:nvSpPr>
        <p:spPr>
          <a:xfrm rot="0" flipH="0" flipV="0">
            <a:off x="6191250" y="5010150"/>
            <a:ext cx="5334000" cy="1200150"/>
          </a:xfrm>
          <a:prstGeom prst="roundRect">
            <a:avLst>
              <a:gd name="adj" fmla="val 6349"/>
            </a:avLst>
          </a:prstGeom>
          <a:solidFill>
            <a:srgbClr val="FFFFFF"/>
          </a:solidFill>
          <a:ln w="12700">
            <a:solidFill>
              <a:srgbClr val="E3E8EF"/>
            </a:solidFill>
            <a:prstDash val="solid"/>
          </a:ln>
        </p:spPr>
        <p:txBody>
          <a:bodyPr/>
          <a:p/>
        </p:txBody>
      </p:sp>
      <p:sp>
        <p:nvSpPr>
          <p:cNvPr id="1766" name=""/>
          <p:cNvSpPr/>
          <p:nvPr/>
        </p:nvSpPr>
        <p:spPr>
          <a:xfrm rot="0" flipH="0" flipV="0">
            <a:off x="6191250" y="5010150"/>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1767" name="" descr="{&quot;isTemplate&quot;:true,&quot;type&quot;:&quot;text&quot;}"/>
          <p:cNvSpPr txBox="1"/>
          <p:nvPr/>
        </p:nvSpPr>
        <p:spPr>
          <a:xfrm rot="0" flipH="0" flipV="0">
            <a:off x="6381750" y="5238750"/>
            <a:ext cx="4953000" cy="352425"/>
          </a:xfrm>
          <a:prstGeom prst="rect"/>
        </p:spPr>
        <p:txBody>
          <a:bodyPr wrap="none" lIns="0" tIns="0" rIns="0" bIns="0"/>
          <a:p>
            <a:pPr>
              <a:lnSpc>
                <a:spcPct val="140000"/>
              </a:lnSpc>
            </a:pPr>
            <a:r>
              <a:rPr lang="zh-CN" sz="1650" b="1">
                <a:solidFill>
                  <a:srgbClr val="1E7BE0"/>
                </a:solidFill>
                <a:latin typeface="Microsoft YaHei"/>
                <a:ea typeface="Microsoft YaHei"/>
              </a:rPr>
              <a:t>教师决定</a:t>
            </a:r>
            <a:endParaRPr/>
          </a:p>
        </p:txBody>
      </p:sp>
      <p:sp>
        <p:nvSpPr>
          <p:cNvPr id="1768" name="" descr="{&quot;isTemplate&quot;:true,&quot;type&quot;:&quot;text&quot;}"/>
          <p:cNvSpPr txBox="1"/>
          <p:nvPr/>
        </p:nvSpPr>
        <p:spPr>
          <a:xfrm rot="0" flipH="0" flipV="0">
            <a:off x="6381750" y="5686425"/>
            <a:ext cx="4953000" cy="333375"/>
          </a:xfrm>
          <a:prstGeom prst="rect"/>
        </p:spPr>
        <p:txBody>
          <a:bodyPr wrap="none" lIns="0" tIns="0" rIns="0" bIns="0"/>
          <a:p>
            <a:pPr>
              <a:lnSpc>
                <a:spcPct val="160000"/>
              </a:lnSpc>
            </a:pPr>
            <a:r>
              <a:rPr lang="zh-CN" sz="1350">
                <a:solidFill>
                  <a:srgbClr val="333A45"/>
                </a:solidFill>
                <a:latin typeface="Microsoft YaHei"/>
                <a:ea typeface="Microsoft YaHei"/>
              </a:rPr>
              <a:t>教学重点、作业安排、评价标准及必要的人际沟通</a:t>
            </a:r>
            <a:endParaRPr/>
          </a:p>
        </p:txBody>
      </p:sp>
      <p:sp>
        <p:nvSpPr>
          <p:cNvPr id="1769"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770" name="" descr="{&quot;isTemplate&quot;:true,&quot;type&quot;:&quot;text&quot;}"/>
          <p:cNvSpPr txBox="1"/>
          <p:nvPr/>
        </p:nvSpPr>
        <p:spPr>
          <a:xfrm rot="0" flipH="0" flipV="0">
            <a:off x="666750" y="6381750"/>
            <a:ext cx="1885950" cy="209550"/>
          </a:xfrm>
          <a:prstGeom prst="rect"/>
        </p:spPr>
        <p:txBody>
          <a:bodyPr wrap="none" lIns="0" tIns="0" rIns="0" bIns="0"/>
          <a:p>
            <a:pPr>
              <a:lnSpc>
                <a:spcPct val="140000"/>
              </a:lnSpc>
            </a:pPr>
            <a:r>
              <a:rPr lang="zh-CN" sz="975">
                <a:solidFill>
                  <a:srgbClr val="7A8699"/>
                </a:solidFill>
                <a:latin typeface="Microsoft YaHei"/>
                <a:ea typeface="Microsoft YaHei"/>
              </a:rPr>
              <a:t>依据：教师端设计思路</a:t>
            </a:r>
            <a:r>
              <a:rPr lang="en-US" sz="975">
                <a:solidFill>
                  <a:srgbClr val="7A8699"/>
                </a:solidFill>
                <a:latin typeface="Microsoft YaHei"/>
                <a:ea typeface="Microsoft YaHei"/>
              </a:rPr>
              <a:t>.md §1</a:t>
            </a:r>
            <a:r>
              <a:rPr lang="zh-CN" sz="975">
                <a:solidFill>
                  <a:srgbClr val="7A8699"/>
                </a:solidFill>
                <a:latin typeface="Microsoft YaHei"/>
                <a:ea typeface="Microsoft YaHei"/>
              </a:rPr>
              <a:t>、§</a:t>
            </a:r>
            <a:r>
              <a:rPr lang="en-US" sz="975">
                <a:solidFill>
                  <a:srgbClr val="7A8699"/>
                </a:solidFill>
                <a:latin typeface="Microsoft YaHei"/>
                <a:ea typeface="Microsoft YaHei"/>
              </a:rPr>
              <a:t>2</a:t>
            </a:r>
            <a:endParaRPr/>
          </a:p>
        </p:txBody>
      </p:sp>
      <p:sp>
        <p:nvSpPr>
          <p:cNvPr id="1771"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48 / 124 </a:t>
            </a:r>
            <a:endParaRPr/>
          </a:p>
        </p:txBody>
      </p:sp>
    </p:spTree>
  </p:cSld>
</p:sld>
</file>

<file path=ppt/slides/slide49.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772"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5 / 教师端&lt;/Text&gt;&lt;Text style={{ fontSize: 32, color: '#0E2340', fontWeight: 700, lineHeight: 1.3 }}&gt;AI 辅助备课：五项输入到七项教案要素&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row', gap: 28, flex: 1 }}&gt;&lt;Box style={{ width: 620, justifyContent: 'center' }}&gt;&lt;svg width={620} height={400} viewBox='0 0 620 400'&gt;&lt;rect x='0' y='0' width='620' height='400' rx='8' fill='#FFFFFF' stroke='#E3E8EF' stroke-width='1.5'/&gt;&lt;rect x='0' y='0' width='620' height='40' rx='8' fill='#0E2340'/&gt;&lt;rect x='0' y='26' width='620' height='14' fill='#0E2340'/&gt;&lt;text x='16' y='26' font-size='15' fill='#FFFFFF' text-anchor='start' font-weight='600'&gt;StudyAgent&lt;/text&gt;&lt;rect x='18' y='58' width='584' height='26' rx='4' fill='#F5F7FA'/&gt;&lt;text x='30' y='76' font-size='14' fill='#0E2340' text-anchor='start' font-weight='600'&gt;AI 备课 · 输入：课时 / 目标 / 教材版本 / 时长 / 前置情况&lt;/text&gt;&lt;rect x='18' y='92' width='584' height='52' rx='6' fill='#FFFFFF' stroke='#7A8699' stroke-width='1' stroke-dasharray='4 4'/&gt;&lt;text x='30' y='124' font-size='14' fill='#333A45' text-anchor='start' font-weight='400'&gt;知识点 · 易混淆概念 · 前置检查&lt;/text&gt;&lt;rect x='18' y='152' width='584' height='52' rx='6' fill='#FFFFFF' stroke='#7A8699' stroke-width='1' stroke-dasharray='4 4'/&gt;&lt;text x='30' y='184' font-size='14' fill='#333A45' text-anchor='start' font-weight='400'&gt;例题 · 讲解步骤 · 课堂练习 · 课后任务&lt;/text&gt;&lt;rect x='18' y='212' width='584' height='28' rx='14' fill='#EAF3FD'/&gt;&lt;text x='30' y='231' font-size='14' fill='#1E7BE0' text-anchor='start' font-weight='600'&gt;同一课时四种组织方式：前置检查型 / 典型问题型 / 多解法对比型 / 小组活动型&lt;/text&gt;&lt;rect x='18' y='248' width='584' height='34' rx='17' fill='#1E7BE0'/&gt;&lt;text x='310.0' y='271' font-size='15' fill='#FFFFFF' text-anchor='middle' font-weight='600'&gt;生成可编辑教案&lt;/text&gt;&lt;text x='608' y='390' font-size='12' fill='#7A8699' text-anchor='end' font-weight='400'&gt;示意占位 · S14&lt;/text&gt;&lt;/svg&gt;&lt;/Box&gt;&lt;Box style={{ flex: 1, flexDirection: 'column', gap: 10, justifyContent: 'center' }}&gt;&lt;Text style={{ fontSize: 21, color: '#0E2340', fontWeight: 700, lineHeight: 1.4 }}&gt;界面要点&lt;/Text&gt;&lt;Box style={{ flexDirection: 'column', gap: 9 }}&gt;&lt;Box style={{ flexDirection: 'row', gap: 12, alignItems: 'flex-start' }}&gt;&lt;Box style={{ width: 8, height: 8, borderRadius: 4, background: '#1E7BE0', marginTop: 9 }} /&gt;&lt;Box style={{ flex: 1 }}&gt;&lt;Text style={{ fontSize: 16, color: '#333A45', fontWeight: 400, lineHeight: 1.6 }}&gt;五项输入：课时、教学目标、教材版本、授课时长、班级前置知识情况。&lt;/Text&gt;&lt;/Box&gt;&lt;/Box&gt;&lt;Box style={{ flexDirection: 'row', gap: 12, alignItems: 'flex-start' }}&gt;&lt;Box style={{ width: 8, height: 8, borderRadius: 4, background: '#1E7BE0', marginTop: 9 }} /&gt;&lt;Box style={{ flex: 1 }}&gt;&lt;Text style={{ fontSize: 16, color: '#333A45', fontWeight: 400, lineHeight: 1.6 }}&gt;生成可编辑教案，含七项要素：知识点、易混淆概念、前置检查、例题、讲解步骤、课堂练习、课后任务。&lt;/Text&gt;&lt;/Box&gt;&lt;/Box&gt;&lt;Box style={{ flexDirection: 'row', gap: 12, alignItems: 'flex-start' }}&gt;&lt;Box style={{ width: 8, height: 8, borderRadius: 4, background: '#1E7BE0', marginTop: 9 }} /&gt;&lt;Box style={{ flex: 1 }}&gt;&lt;Text style={{ fontSize: 16, color: '#333A45', fontWeight: 400, lineHeight: 1.6 }}&gt;同一课时可生成四种不同组织方式。&lt;/Text&gt;&lt;/Box&gt;&lt;/Box&gt;&lt;Box style={{ flexDirection: 'row', gap: 12, alignItems: 'flex-start' }}&gt;&lt;Box style={{ width: 8, height: 8, borderRadius: 4, background: '#1E7BE0', marginTop: 9 }} /&gt;&lt;Box style={{ flex: 1 }}&gt;&lt;Text style={{ fontSize: 16, color: '#333A45', fontWeight: 400, lineHeight: 1.6 }}&gt;补课需求须说明触发该建议的学情证据。&lt;/Text&gt;&lt;/Box&gt;&lt;/Box&gt;&lt;Box style={{ flexDirection: 'row', gap: 12, alignItems: 'flex-start' }}&gt;&lt;Box style={{ width: 8, height: 8, borderRadius: 4, background: '#1E7BE0', marginTop: 9 }} /&gt;&lt;Box style={{ flex: 1 }}&gt;&lt;Text style={{ fontSize: 16, color: '#333A45', fontWeight: 400, lineHeight: 1.6 }}&gt;未核实的生成内容在发布和课堂使用前完成核对。&lt;/Text&gt;&lt;/Box&gt;&lt;/Box&gt;&lt;/Box&gt;&lt;Box style={{ marginTop: 6, padding: '9px 14px', background: '#F5F7FA', borderRadius: 6, alignSelf: 'flex-start' }}&gt;&lt;Text style={{ fontSize: 14, color: '#7A8699', fontWeight: 600, lineHeight: 1.4 }}&gt;示意占位 S14 · 待替换为实际截图&lt;/Text&gt;&lt;/Box&gt;&lt;/Box&gt;&lt;/Box&gt;&lt;/Box&gt;&lt;Box style={{ height: 40, flexDirection: 'row', justifyContent: 'space-between', alignItems: 'center', borderTop: '1px solid #E3E8EF', marginTop: 8 }}&gt;&lt;Text style={{ fontSize: 13, color: '#7A8699', fontWeight: 400, lineHeight: 1.4 }}&gt;依据：教师端设计思路.md §2&lt;/Text&gt;&lt;Text style={{ fontSize: 14, color: '#7A8699', fontWeight: 400, lineHeight: 1.4 }}&gt; 49 / 124 &lt;/Text&gt;&lt;/Box&gt;&lt;/Slide&gt;"/>
        <p:cNvGrpSpPr/>
        <p:nvPr/>
      </p:nvGrpSpPr>
      <p:grpSpPr>
        <a:xfrm>
          <a:off x="0" y="0"/>
          <a:ext cx="0" cy="0"/>
          <a:chOff x="0" y="0"/>
          <a:chExt cx="0" cy="0"/>
        </a:xfrm>
      </p:grpSpPr>
      <p:sp>
        <p:nvSpPr>
          <p:cNvPr id="1773" name=""/>
          <p:cNvSpPr/>
          <p:nvPr/>
        </p:nvSpPr>
        <p:spPr>
          <a:xfrm rot="0" flipH="0" flipV="0">
            <a:off x="0" y="0"/>
            <a:ext cx="12192000" cy="6858000"/>
          </a:xfrm>
          <a:prstGeom prst="rect">
            <a:avLst/>
          </a:prstGeom>
          <a:solidFill>
            <a:srgbClr val="FFFFFF"/>
          </a:solidFill>
          <a:ln/>
        </p:spPr>
        <p:txBody>
          <a:bodyPr/>
          <a:p/>
        </p:txBody>
      </p:sp>
      <p:sp>
        <p:nvSpPr>
          <p:cNvPr id="1774" name="" descr="{&quot;isTemplate&quot;:true,&quot;type&quot;:&quot;text&quot;}"/>
          <p:cNvSpPr txBox="1"/>
          <p:nvPr/>
        </p:nvSpPr>
        <p:spPr>
          <a:xfrm rot="0" flipH="0" flipV="0">
            <a:off x="666750" y="381000"/>
            <a:ext cx="5267325"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05 / </a:t>
            </a:r>
            <a:r>
              <a:rPr lang="zh-CN" sz="1050" spc="75">
                <a:solidFill>
                  <a:srgbClr val="7A8699"/>
                </a:solidFill>
                <a:latin typeface="Microsoft YaHei"/>
                <a:ea typeface="Microsoft YaHei"/>
              </a:rPr>
              <a:t>教师端</a:t>
            </a:r>
            <a:endParaRPr/>
          </a:p>
        </p:txBody>
      </p:sp>
      <p:sp>
        <p:nvSpPr>
          <p:cNvPr id="1775" name="" descr="{&quot;isTemplate&quot;:true,&quot;type&quot;:&quot;text&quot;}"/>
          <p:cNvSpPr txBox="1"/>
          <p:nvPr/>
        </p:nvSpPr>
        <p:spPr>
          <a:xfrm rot="0" flipH="0" flipV="0">
            <a:off x="666750" y="666750"/>
            <a:ext cx="5267325" cy="476250"/>
          </a:xfrm>
          <a:prstGeom prst="rect"/>
        </p:spPr>
        <p:txBody>
          <a:bodyPr wrap="none" lIns="0" tIns="0" rIns="0" bIns="0"/>
          <a:p>
            <a:pPr>
              <a:lnSpc>
                <a:spcPct val="130000"/>
              </a:lnSpc>
            </a:pPr>
            <a:r>
              <a:rPr lang="en-US" sz="2400" b="1">
                <a:solidFill>
                  <a:srgbClr val="0E2340"/>
                </a:solidFill>
                <a:latin typeface="Microsoft YaHei"/>
                <a:ea typeface="Microsoft YaHei"/>
              </a:rPr>
              <a:t xml:space="preserve">AI </a:t>
            </a:r>
            <a:r>
              <a:rPr lang="zh-CN" sz="2400" b="1">
                <a:solidFill>
                  <a:srgbClr val="0E2340"/>
                </a:solidFill>
                <a:latin typeface="Microsoft YaHei"/>
                <a:ea typeface="Microsoft YaHei"/>
              </a:rPr>
              <a:t>辅助备课：五项输入到七项教案要素</a:t>
            </a:r>
            <a:endParaRPr/>
          </a:p>
        </p:txBody>
      </p:sp>
      <p:sp>
        <p:nvSpPr>
          <p:cNvPr id="1776"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777"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1778" name=""/>
          <p:cNvPicPr>
            <a:picLocks noChangeAspect="1"/>
          </p:cNvPicPr>
          <p:nvPr/>
        </p:nvPicPr>
        <p:blipFill>
          <a:blip>
            <a:extLst>
              <a:ext uri="{96DAC541-7B7A-43D3-8B79-37D633B846F1}">
                <asvg:svgBlip r:embed="rId1"/>
              </a:ext>
            </a:extLst>
          </a:blip>
          <a:stretch>
            <a:fillRect/>
          </a:stretch>
        </p:blipFill>
        <p:spPr>
          <a:xfrm rot="0" flipH="0" flipV="0">
            <a:off x="666750" y="1809750"/>
            <a:ext cx="5905500" cy="3810000"/>
          </a:xfrm>
          <a:prstGeom prst="rect">
            <a:avLst/>
          </a:prstGeom>
          <a:ln/>
        </p:spPr>
      </p:pic>
      <p:sp>
        <p:nvSpPr>
          <p:cNvPr id="1779" name="" descr="{&quot;isTemplate&quot;:true,&quot;type&quot;:&quot;text&quot;}"/>
          <p:cNvSpPr txBox="1"/>
          <p:nvPr/>
        </p:nvSpPr>
        <p:spPr>
          <a:xfrm rot="0" flipH="0" flipV="0">
            <a:off x="6838950" y="2019300"/>
            <a:ext cx="4686300" cy="342900"/>
          </a:xfrm>
          <a:prstGeom prst="rect"/>
        </p:spPr>
        <p:txBody>
          <a:bodyPr wrap="none" lIns="0" tIns="0" rIns="0" bIns="0"/>
          <a:p>
            <a:pPr>
              <a:lnSpc>
                <a:spcPct val="140000"/>
              </a:lnSpc>
            </a:pPr>
            <a:r>
              <a:rPr lang="zh-CN" sz="1575" b="1">
                <a:solidFill>
                  <a:srgbClr val="0E2340"/>
                </a:solidFill>
                <a:latin typeface="Microsoft YaHei"/>
                <a:ea typeface="Microsoft YaHei"/>
              </a:rPr>
              <a:t>界面要点</a:t>
            </a:r>
            <a:endParaRPr/>
          </a:p>
        </p:txBody>
      </p:sp>
      <p:sp>
        <p:nvSpPr>
          <p:cNvPr id="1780" name=""/>
          <p:cNvSpPr/>
          <p:nvPr/>
        </p:nvSpPr>
        <p:spPr>
          <a:xfrm rot="0" flipH="0" flipV="0">
            <a:off x="6838950" y="2543175"/>
            <a:ext cx="76200" cy="76200"/>
          </a:xfrm>
          <a:prstGeom prst="roundRect">
            <a:avLst>
              <a:gd name="adj" fmla="val 50000"/>
            </a:avLst>
          </a:prstGeom>
          <a:solidFill>
            <a:srgbClr val="1E7BE0"/>
          </a:solidFill>
          <a:ln/>
        </p:spPr>
        <p:txBody>
          <a:bodyPr/>
          <a:p/>
        </p:txBody>
      </p:sp>
      <p:sp>
        <p:nvSpPr>
          <p:cNvPr id="1781" name="" descr="{&quot;isTemplate&quot;:true,&quot;type&quot;:&quot;text&quot;}"/>
          <p:cNvSpPr txBox="1"/>
          <p:nvPr/>
        </p:nvSpPr>
        <p:spPr>
          <a:xfrm rot="0" flipH="0" flipV="0">
            <a:off x="7029450" y="2457450"/>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五项输入：课时、教学目标、教材版本、授课时长、班级前置知识情况。</a:t>
            </a:r>
            <a:endParaRPr/>
          </a:p>
        </p:txBody>
      </p:sp>
      <p:sp>
        <p:nvSpPr>
          <p:cNvPr id="1782" name=""/>
          <p:cNvSpPr/>
          <p:nvPr/>
        </p:nvSpPr>
        <p:spPr>
          <a:xfrm rot="0" flipH="0" flipV="0">
            <a:off x="6838950" y="3219450"/>
            <a:ext cx="76200" cy="76200"/>
          </a:xfrm>
          <a:prstGeom prst="roundRect">
            <a:avLst>
              <a:gd name="adj" fmla="val 50000"/>
            </a:avLst>
          </a:prstGeom>
          <a:solidFill>
            <a:srgbClr val="1E7BE0"/>
          </a:solidFill>
          <a:ln/>
        </p:spPr>
        <p:txBody>
          <a:bodyPr/>
          <a:p/>
        </p:txBody>
      </p:sp>
      <p:sp>
        <p:nvSpPr>
          <p:cNvPr id="1783" name="" descr="{&quot;isTemplate&quot;:true,&quot;type&quot;:&quot;text&quot;}"/>
          <p:cNvSpPr txBox="1"/>
          <p:nvPr/>
        </p:nvSpPr>
        <p:spPr>
          <a:xfrm rot="0" flipH="0" flipV="0">
            <a:off x="7029450" y="3133725"/>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生成可编辑教案，含七项要素：知识点、易混淆概念、前置检查、例题、讲解步骤、课堂练习、课后任务。</a:t>
            </a:r>
            <a:endParaRPr/>
          </a:p>
        </p:txBody>
      </p:sp>
      <p:sp>
        <p:nvSpPr>
          <p:cNvPr id="1784" name=""/>
          <p:cNvSpPr/>
          <p:nvPr/>
        </p:nvSpPr>
        <p:spPr>
          <a:xfrm rot="0" flipH="0" flipV="0">
            <a:off x="6838950" y="3895725"/>
            <a:ext cx="76200" cy="76200"/>
          </a:xfrm>
          <a:prstGeom prst="roundRect">
            <a:avLst>
              <a:gd name="adj" fmla="val 50000"/>
            </a:avLst>
          </a:prstGeom>
          <a:solidFill>
            <a:srgbClr val="1E7BE0"/>
          </a:solidFill>
          <a:ln/>
        </p:spPr>
        <p:txBody>
          <a:bodyPr/>
          <a:p/>
        </p:txBody>
      </p:sp>
      <p:sp>
        <p:nvSpPr>
          <p:cNvPr id="1785" name="" descr="{&quot;isTemplate&quot;:true,&quot;type&quot;:&quot;text&quot;}"/>
          <p:cNvSpPr txBox="1"/>
          <p:nvPr/>
        </p:nvSpPr>
        <p:spPr>
          <a:xfrm rot="0" flipH="0" flipV="0">
            <a:off x="7029450" y="3810000"/>
            <a:ext cx="4495800" cy="295275"/>
          </a:xfrm>
          <a:prstGeom prst="rect"/>
        </p:spPr>
        <p:txBody>
          <a:bodyPr wrap="none" lIns="0" tIns="0" rIns="0" bIns="0"/>
          <a:p>
            <a:pPr>
              <a:lnSpc>
                <a:spcPct val="160000"/>
              </a:lnSpc>
            </a:pPr>
            <a:r>
              <a:rPr lang="zh-CN" sz="1200">
                <a:solidFill>
                  <a:srgbClr val="333A45"/>
                </a:solidFill>
                <a:latin typeface="Microsoft YaHei"/>
                <a:ea typeface="Microsoft YaHei"/>
              </a:rPr>
              <a:t>同一课时可生成四种不同组织方式。</a:t>
            </a:r>
            <a:endParaRPr/>
          </a:p>
        </p:txBody>
      </p:sp>
      <p:sp>
        <p:nvSpPr>
          <p:cNvPr id="1786" name=""/>
          <p:cNvSpPr/>
          <p:nvPr/>
        </p:nvSpPr>
        <p:spPr>
          <a:xfrm rot="0" flipH="0" flipV="0">
            <a:off x="6838950" y="4276725"/>
            <a:ext cx="76200" cy="76200"/>
          </a:xfrm>
          <a:prstGeom prst="roundRect">
            <a:avLst>
              <a:gd name="adj" fmla="val 50000"/>
            </a:avLst>
          </a:prstGeom>
          <a:solidFill>
            <a:srgbClr val="1E7BE0"/>
          </a:solidFill>
          <a:ln/>
        </p:spPr>
        <p:txBody>
          <a:bodyPr/>
          <a:p/>
        </p:txBody>
      </p:sp>
      <p:sp>
        <p:nvSpPr>
          <p:cNvPr id="1787" name="" descr="{&quot;isTemplate&quot;:true,&quot;type&quot;:&quot;text&quot;}"/>
          <p:cNvSpPr txBox="1"/>
          <p:nvPr/>
        </p:nvSpPr>
        <p:spPr>
          <a:xfrm rot="0" flipH="0" flipV="0">
            <a:off x="7029450" y="4191000"/>
            <a:ext cx="4495800" cy="295275"/>
          </a:xfrm>
          <a:prstGeom prst="rect"/>
        </p:spPr>
        <p:txBody>
          <a:bodyPr wrap="none" lIns="0" tIns="0" rIns="0" bIns="0"/>
          <a:p>
            <a:pPr>
              <a:lnSpc>
                <a:spcPct val="160000"/>
              </a:lnSpc>
            </a:pPr>
            <a:r>
              <a:rPr lang="zh-CN" sz="1200">
                <a:solidFill>
                  <a:srgbClr val="333A45"/>
                </a:solidFill>
                <a:latin typeface="Microsoft YaHei"/>
                <a:ea typeface="Microsoft YaHei"/>
              </a:rPr>
              <a:t>补课需求须说明触发该建议的学情证据。</a:t>
            </a:r>
            <a:endParaRPr/>
          </a:p>
        </p:txBody>
      </p:sp>
      <p:sp>
        <p:nvSpPr>
          <p:cNvPr id="1788" name=""/>
          <p:cNvSpPr/>
          <p:nvPr/>
        </p:nvSpPr>
        <p:spPr>
          <a:xfrm rot="0" flipH="0" flipV="0">
            <a:off x="6838950" y="4657725"/>
            <a:ext cx="76200" cy="76200"/>
          </a:xfrm>
          <a:prstGeom prst="roundRect">
            <a:avLst>
              <a:gd name="adj" fmla="val 50000"/>
            </a:avLst>
          </a:prstGeom>
          <a:solidFill>
            <a:srgbClr val="1E7BE0"/>
          </a:solidFill>
          <a:ln/>
        </p:spPr>
        <p:txBody>
          <a:bodyPr/>
          <a:p/>
        </p:txBody>
      </p:sp>
      <p:sp>
        <p:nvSpPr>
          <p:cNvPr id="1789" name="" descr="{&quot;isTemplate&quot;:true,&quot;type&quot;:&quot;text&quot;}"/>
          <p:cNvSpPr txBox="1"/>
          <p:nvPr/>
        </p:nvSpPr>
        <p:spPr>
          <a:xfrm rot="0" flipH="0" flipV="0">
            <a:off x="7029450" y="4572000"/>
            <a:ext cx="4495800" cy="295275"/>
          </a:xfrm>
          <a:prstGeom prst="rect"/>
        </p:spPr>
        <p:txBody>
          <a:bodyPr wrap="none" lIns="0" tIns="0" rIns="0" bIns="0"/>
          <a:p>
            <a:pPr>
              <a:lnSpc>
                <a:spcPct val="160000"/>
              </a:lnSpc>
            </a:pPr>
            <a:r>
              <a:rPr lang="zh-CN" sz="1200">
                <a:solidFill>
                  <a:srgbClr val="333A45"/>
                </a:solidFill>
                <a:latin typeface="Microsoft YaHei"/>
                <a:ea typeface="Microsoft YaHei"/>
              </a:rPr>
              <a:t>未核实的生成内容在发布和课堂使用前完成核对。</a:t>
            </a:r>
            <a:endParaRPr/>
          </a:p>
        </p:txBody>
      </p:sp>
      <p:sp>
        <p:nvSpPr>
          <p:cNvPr id="1790" name=""/>
          <p:cNvSpPr/>
          <p:nvPr/>
        </p:nvSpPr>
        <p:spPr>
          <a:xfrm rot="0" flipH="0" flipV="0">
            <a:off x="6838950" y="5019675"/>
            <a:ext cx="2266950" cy="400050"/>
          </a:xfrm>
          <a:prstGeom prst="roundRect">
            <a:avLst>
              <a:gd name="adj" fmla="val 14286"/>
            </a:avLst>
          </a:prstGeom>
          <a:solidFill>
            <a:srgbClr val="F5F7FA"/>
          </a:solidFill>
          <a:ln/>
        </p:spPr>
        <p:txBody>
          <a:bodyPr/>
          <a:p/>
        </p:txBody>
      </p:sp>
      <p:sp>
        <p:nvSpPr>
          <p:cNvPr id="1791" name="" descr="{&quot;isTemplate&quot;:true,&quot;type&quot;:&quot;text&quot;}"/>
          <p:cNvSpPr txBox="1"/>
          <p:nvPr/>
        </p:nvSpPr>
        <p:spPr>
          <a:xfrm rot="0" flipH="0" flipV="0">
            <a:off x="6972300" y="5105400"/>
            <a:ext cx="2000250" cy="228600"/>
          </a:xfrm>
          <a:prstGeom prst="rect"/>
        </p:spPr>
        <p:txBody>
          <a:bodyPr wrap="none" lIns="0" tIns="0" rIns="0" bIns="0"/>
          <a:p>
            <a:pPr>
              <a:lnSpc>
                <a:spcPct val="140000"/>
              </a:lnSpc>
            </a:pPr>
            <a:r>
              <a:rPr lang="zh-CN" sz="1050" b="1">
                <a:solidFill>
                  <a:srgbClr val="7A8699"/>
                </a:solidFill>
                <a:latin typeface="Microsoft YaHei"/>
                <a:ea typeface="Microsoft YaHei"/>
              </a:rPr>
              <a:t>示意占位</a:t>
            </a:r>
            <a:r>
              <a:rPr lang="en-US" sz="1050" b="1">
                <a:solidFill>
                  <a:srgbClr val="7A8699"/>
                </a:solidFill>
                <a:latin typeface="Microsoft YaHei"/>
                <a:ea typeface="Microsoft YaHei"/>
              </a:rPr>
              <a:t xml:space="preserve"> S14 · </a:t>
            </a:r>
            <a:r>
              <a:rPr lang="zh-CN" sz="1050" b="1">
                <a:solidFill>
                  <a:srgbClr val="7A8699"/>
                </a:solidFill>
                <a:latin typeface="Microsoft YaHei"/>
                <a:ea typeface="Microsoft YaHei"/>
              </a:rPr>
              <a:t>待替换为实际截图</a:t>
            </a:r>
            <a:endParaRPr/>
          </a:p>
        </p:txBody>
      </p:sp>
      <p:sp>
        <p:nvSpPr>
          <p:cNvPr id="1792"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793" name="" descr="{&quot;isTemplate&quot;:true,&quot;type&quot;:&quot;text&quot;}"/>
          <p:cNvSpPr txBox="1"/>
          <p:nvPr/>
        </p:nvSpPr>
        <p:spPr>
          <a:xfrm rot="0" flipH="0" flipV="0">
            <a:off x="666750" y="6381750"/>
            <a:ext cx="1619250" cy="209550"/>
          </a:xfrm>
          <a:prstGeom prst="rect"/>
        </p:spPr>
        <p:txBody>
          <a:bodyPr wrap="none" lIns="0" tIns="0" rIns="0" bIns="0"/>
          <a:p>
            <a:pPr>
              <a:lnSpc>
                <a:spcPct val="140000"/>
              </a:lnSpc>
            </a:pPr>
            <a:r>
              <a:rPr lang="zh-CN" sz="975">
                <a:solidFill>
                  <a:srgbClr val="7A8699"/>
                </a:solidFill>
                <a:latin typeface="Microsoft YaHei"/>
                <a:ea typeface="Microsoft YaHei"/>
              </a:rPr>
              <a:t>依据：教师端设计思路</a:t>
            </a:r>
            <a:r>
              <a:rPr lang="en-US" sz="975">
                <a:solidFill>
                  <a:srgbClr val="7A8699"/>
                </a:solidFill>
                <a:latin typeface="Microsoft YaHei"/>
                <a:ea typeface="Microsoft YaHei"/>
              </a:rPr>
              <a:t>.md §2</a:t>
            </a:r>
            <a:endParaRPr/>
          </a:p>
        </p:txBody>
      </p:sp>
      <p:sp>
        <p:nvSpPr>
          <p:cNvPr id="1794"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49 / 124 </a:t>
            </a:r>
            <a:endParaRPr/>
          </a:p>
        </p:txBody>
      </p:sp>
    </p:spTree>
  </p:cSld>
</p:sld>
</file>

<file path=ppt/slides/slide50.xml><?xml version="1.0" encoding="utf-8"?>
<p:sld xmlns:p="http://schemas.openxmlformats.org/presentationml/2006/main" xmlns:a="http://schemas.openxmlformats.org/drawingml/2006/main">
  <p:cSld>
    <p:spTree>
      <p:nvGrpSpPr>
        <p:cNvPr id="1870"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5 / 教师端&lt;/Text&gt;&lt;Text style={{ fontSize: 32, color: '#0E2340', fontWeight: 700, lineHeight: 1.3 }}&gt;课堂演示四类素材与一条红线&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8 }}&gt;&lt;Box style={{ flexDirection: 'row', gap: 20, flex: 1 }}&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几何画板&lt;/Text&gt;&lt;Text style={{ fontSize: 17, color: '#333A45', fontWeight: 400, lineHeight: 1.6 }}&gt;图形构造与条件变化的直观演示&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函数变化&lt;/Text&gt;&lt;Text style={{ fontSize: 17, color: '#333A45', fontWeight: 400, lineHeight: 1.6 }}&gt;参数变化对图像与性质的影响&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分步解析&lt;/Text&gt;&lt;Text style={{ fontSize: 17, color: '#333A45', fontWeight: 400, lineHeight: 1.6 }}&gt;按步骤展开的讲解素材&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反例与条件变化&lt;/Text&gt;&lt;Text style={{ fontSize: 17, color: '#333A45', fontWeight: 400, lineHeight: 1.6 }}&gt;暴露适用条件与易错边界&lt;/Text&gt;&lt;/Box&gt;&lt;/Box&gt;&lt;/Box&gt;&lt;Box style={{ flexDirection: 'row', alignItems: 'center', background: '#F5F7FA', borderLeft: '4px solid #E8A33D', borderRadius: 6, padding: '14px 20px' }}&gt;&lt;Text style={{ fontSize: 18, color: '#0E2340', fontWeight: 600, lineHeight: 1.5 }}&gt;演示要帮助学生看到推理依据与适用条件；动画本身不能替代学生解释、独立尝试和课堂检查&lt;/Text&gt;&lt;/Box&gt;&lt;Box style={{ flexDirection: 'row', alignItems: 'center', background: '#F5F7FA', borderLeft: '4px solid #00A9B5', borderRadius: 6, padding: '14px 20px' }}&gt;&lt;Text style={{ fontSize: 16, color: '#0E2340', fontWeight: 600, lineHeight: 1.5 }}&gt;可优先复用教师现有教案、演示素材及研究成果，记录来源、适用年级、使用条件和教师修改&lt;/Text&gt;&lt;/Box&gt;&lt;/Box&gt;&lt;/Box&gt;&lt;Box style={{ height: 40, flexDirection: 'row', justifyContent: 'space-between', alignItems: 'center', borderTop: '1px solid #E3E8EF', marginTop: 8 }}&gt;&lt;Text style={{ fontSize: 13, color: '#7A8699', fontWeight: 400, lineHeight: 1.4 }}&gt;依据：教师端设计思路.md §2&lt;/Text&gt;&lt;Text style={{ fontSize: 14, color: '#7A8699', fontWeight: 400, lineHeight: 1.4 }}&gt; 50 / 124 &lt;/Text&gt;&lt;/Box&gt;&lt;/Slide&gt;"/>
        <p:cNvGrpSpPr/>
        <p:nvPr/>
      </p:nvGrpSpPr>
      <p:grpSpPr>
        <a:xfrm>
          <a:off x="0" y="0"/>
          <a:ext cx="0" cy="0"/>
          <a:chOff x="0" y="0"/>
          <a:chExt cx="0" cy="0"/>
        </a:xfrm>
      </p:grpSpPr>
      <p:sp>
        <p:nvSpPr>
          <p:cNvPr id="1871" name=""/>
          <p:cNvSpPr/>
          <p:nvPr/>
        </p:nvSpPr>
        <p:spPr>
          <a:xfrm rot="0" flipH="0" flipV="0">
            <a:off x="0" y="0"/>
            <a:ext cx="12192000" cy="6858000"/>
          </a:xfrm>
          <a:prstGeom prst="rect">
            <a:avLst/>
          </a:prstGeom>
          <a:solidFill>
            <a:srgbClr val="FFFFFF"/>
          </a:solidFill>
          <a:ln/>
        </p:spPr>
        <p:txBody>
          <a:bodyPr/>
          <a:p/>
        </p:txBody>
      </p:sp>
      <p:sp>
        <p:nvSpPr>
          <p:cNvPr id="1872" name="" descr="{&quot;isTemplate&quot;:true,&quot;type&quot;:&quot;text&quot;}"/>
          <p:cNvSpPr txBox="1"/>
          <p:nvPr/>
        </p:nvSpPr>
        <p:spPr>
          <a:xfrm rot="0" flipH="0" flipV="0">
            <a:off x="666750" y="381000"/>
            <a:ext cx="39624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05 / </a:t>
            </a:r>
            <a:r>
              <a:rPr lang="zh-CN" sz="1050" spc="75">
                <a:solidFill>
                  <a:srgbClr val="7A8699"/>
                </a:solidFill>
                <a:latin typeface="Microsoft YaHei"/>
                <a:ea typeface="Microsoft YaHei"/>
              </a:rPr>
              <a:t>教师端</a:t>
            </a:r>
            <a:endParaRPr/>
          </a:p>
        </p:txBody>
      </p:sp>
      <p:sp>
        <p:nvSpPr>
          <p:cNvPr id="1873" name="" descr="{&quot;isTemplate&quot;:true,&quot;type&quot;:&quot;text&quot;}"/>
          <p:cNvSpPr txBox="1"/>
          <p:nvPr/>
        </p:nvSpPr>
        <p:spPr>
          <a:xfrm rot="0" flipH="0" flipV="0">
            <a:off x="666750" y="666750"/>
            <a:ext cx="3962400" cy="476250"/>
          </a:xfrm>
          <a:prstGeom prst="rect"/>
        </p:spPr>
        <p:txBody>
          <a:bodyPr wrap="none" lIns="0" tIns="0" rIns="0" bIns="0"/>
          <a:p>
            <a:pPr>
              <a:lnSpc>
                <a:spcPct val="130000"/>
              </a:lnSpc>
            </a:pPr>
            <a:r>
              <a:rPr lang="zh-CN" sz="2400" b="1">
                <a:solidFill>
                  <a:srgbClr val="0E2340"/>
                </a:solidFill>
                <a:latin typeface="Microsoft YaHei"/>
                <a:ea typeface="Microsoft YaHei"/>
              </a:rPr>
              <a:t>课堂演示四类素材与一条红线</a:t>
            </a:r>
            <a:endParaRPr/>
          </a:p>
        </p:txBody>
      </p:sp>
      <p:sp>
        <p:nvSpPr>
          <p:cNvPr id="1874"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875"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1876" name=""/>
          <p:cNvSpPr/>
          <p:nvPr/>
        </p:nvSpPr>
        <p:spPr>
          <a:xfrm rot="0" flipH="0" flipV="0">
            <a:off x="666750" y="1219200"/>
            <a:ext cx="2571750" cy="3524250"/>
          </a:xfrm>
          <a:prstGeom prst="roundRect">
            <a:avLst>
              <a:gd name="adj" fmla="val 2963"/>
            </a:avLst>
          </a:prstGeom>
          <a:solidFill>
            <a:srgbClr val="FFFFFF"/>
          </a:solidFill>
          <a:ln w="12700">
            <a:solidFill>
              <a:srgbClr val="E3E8EF"/>
            </a:solidFill>
            <a:prstDash val="solid"/>
          </a:ln>
        </p:spPr>
        <p:txBody>
          <a:bodyPr/>
          <a:p/>
        </p:txBody>
      </p:sp>
      <p:sp>
        <p:nvSpPr>
          <p:cNvPr id="1877" name=""/>
          <p:cNvSpPr/>
          <p:nvPr/>
        </p:nvSpPr>
        <p:spPr>
          <a:xfrm rot="0" flipH="0" flipV="0">
            <a:off x="66675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878" name="" descr="{&quot;isTemplate&quot;:true,&quot;type&quot;:&quot;text&quot;}"/>
          <p:cNvSpPr txBox="1"/>
          <p:nvPr/>
        </p:nvSpPr>
        <p:spPr>
          <a:xfrm rot="0" flipH="0" flipV="0">
            <a:off x="85725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几何画板</a:t>
            </a:r>
            <a:endParaRPr/>
          </a:p>
        </p:txBody>
      </p:sp>
      <p:sp>
        <p:nvSpPr>
          <p:cNvPr id="1879" name="" descr="{&quot;isTemplate&quot;:true,&quot;type&quot;:&quot;text&quot;}"/>
          <p:cNvSpPr txBox="1"/>
          <p:nvPr/>
        </p:nvSpPr>
        <p:spPr>
          <a:xfrm rot="0" flipH="0" flipV="0">
            <a:off x="857250" y="1885950"/>
            <a:ext cx="219075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图形构造与条件变化的直观演示</a:t>
            </a:r>
            <a:endParaRPr/>
          </a:p>
        </p:txBody>
      </p:sp>
      <p:sp>
        <p:nvSpPr>
          <p:cNvPr id="1880" name=""/>
          <p:cNvSpPr/>
          <p:nvPr/>
        </p:nvSpPr>
        <p:spPr>
          <a:xfrm rot="0" flipH="0" flipV="0">
            <a:off x="3429000" y="1219200"/>
            <a:ext cx="2571750" cy="3524250"/>
          </a:xfrm>
          <a:prstGeom prst="roundRect">
            <a:avLst>
              <a:gd name="adj" fmla="val 2963"/>
            </a:avLst>
          </a:prstGeom>
          <a:solidFill>
            <a:srgbClr val="FFFFFF"/>
          </a:solidFill>
          <a:ln w="12700">
            <a:solidFill>
              <a:srgbClr val="E3E8EF"/>
            </a:solidFill>
            <a:prstDash val="solid"/>
          </a:ln>
        </p:spPr>
        <p:txBody>
          <a:bodyPr/>
          <a:p/>
        </p:txBody>
      </p:sp>
      <p:sp>
        <p:nvSpPr>
          <p:cNvPr id="1881" name=""/>
          <p:cNvSpPr/>
          <p:nvPr/>
        </p:nvSpPr>
        <p:spPr>
          <a:xfrm rot="0" flipH="0" flipV="0">
            <a:off x="342900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882" name="" descr="{&quot;isTemplate&quot;:true,&quot;type&quot;:&quot;text&quot;}"/>
          <p:cNvSpPr txBox="1"/>
          <p:nvPr/>
        </p:nvSpPr>
        <p:spPr>
          <a:xfrm rot="0" flipH="0" flipV="0">
            <a:off x="361950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函数变化</a:t>
            </a:r>
            <a:endParaRPr/>
          </a:p>
        </p:txBody>
      </p:sp>
      <p:sp>
        <p:nvSpPr>
          <p:cNvPr id="1883" name="" descr="{&quot;isTemplate&quot;:true,&quot;type&quot;:&quot;text&quot;}"/>
          <p:cNvSpPr txBox="1"/>
          <p:nvPr/>
        </p:nvSpPr>
        <p:spPr>
          <a:xfrm rot="0" flipH="0" flipV="0">
            <a:off x="3619500" y="1885950"/>
            <a:ext cx="2190750" cy="314325"/>
          </a:xfrm>
          <a:prstGeom prst="rect"/>
        </p:spPr>
        <p:txBody>
          <a:bodyPr wrap="none" lIns="0" tIns="0" rIns="0" bIns="0"/>
          <a:p>
            <a:pPr>
              <a:lnSpc>
                <a:spcPct val="160000"/>
              </a:lnSpc>
            </a:pPr>
            <a:r>
              <a:rPr lang="zh-CN" sz="1275">
                <a:solidFill>
                  <a:srgbClr val="333A45"/>
                </a:solidFill>
                <a:latin typeface="Microsoft YaHei"/>
                <a:ea typeface="Microsoft YaHei"/>
              </a:rPr>
              <a:t>参数变化对图像与性质的影响</a:t>
            </a:r>
            <a:endParaRPr/>
          </a:p>
        </p:txBody>
      </p:sp>
      <p:sp>
        <p:nvSpPr>
          <p:cNvPr id="1884" name=""/>
          <p:cNvSpPr/>
          <p:nvPr/>
        </p:nvSpPr>
        <p:spPr>
          <a:xfrm rot="0" flipH="0" flipV="0">
            <a:off x="6191250" y="1219200"/>
            <a:ext cx="2571750" cy="3524250"/>
          </a:xfrm>
          <a:prstGeom prst="roundRect">
            <a:avLst>
              <a:gd name="adj" fmla="val 2963"/>
            </a:avLst>
          </a:prstGeom>
          <a:solidFill>
            <a:srgbClr val="FFFFFF"/>
          </a:solidFill>
          <a:ln w="12700">
            <a:solidFill>
              <a:srgbClr val="E3E8EF"/>
            </a:solidFill>
            <a:prstDash val="solid"/>
          </a:ln>
        </p:spPr>
        <p:txBody>
          <a:bodyPr/>
          <a:p/>
        </p:txBody>
      </p:sp>
      <p:sp>
        <p:nvSpPr>
          <p:cNvPr id="1885" name=""/>
          <p:cNvSpPr/>
          <p:nvPr/>
        </p:nvSpPr>
        <p:spPr>
          <a:xfrm rot="0" flipH="0" flipV="0">
            <a:off x="619125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886" name="" descr="{&quot;isTemplate&quot;:true,&quot;type&quot;:&quot;text&quot;}"/>
          <p:cNvSpPr txBox="1"/>
          <p:nvPr/>
        </p:nvSpPr>
        <p:spPr>
          <a:xfrm rot="0" flipH="0" flipV="0">
            <a:off x="638175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分步解析</a:t>
            </a:r>
            <a:endParaRPr/>
          </a:p>
        </p:txBody>
      </p:sp>
      <p:sp>
        <p:nvSpPr>
          <p:cNvPr id="1887" name="" descr="{&quot;isTemplate&quot;:true,&quot;type&quot;:&quot;text&quot;}"/>
          <p:cNvSpPr txBox="1"/>
          <p:nvPr/>
        </p:nvSpPr>
        <p:spPr>
          <a:xfrm rot="0" flipH="0" flipV="0">
            <a:off x="6381750" y="1885950"/>
            <a:ext cx="2190750" cy="314325"/>
          </a:xfrm>
          <a:prstGeom prst="rect"/>
        </p:spPr>
        <p:txBody>
          <a:bodyPr wrap="none" lIns="0" tIns="0" rIns="0" bIns="0"/>
          <a:p>
            <a:pPr>
              <a:lnSpc>
                <a:spcPct val="160000"/>
              </a:lnSpc>
            </a:pPr>
            <a:r>
              <a:rPr lang="zh-CN" sz="1275">
                <a:solidFill>
                  <a:srgbClr val="333A45"/>
                </a:solidFill>
                <a:latin typeface="Microsoft YaHei"/>
                <a:ea typeface="Microsoft YaHei"/>
              </a:rPr>
              <a:t>按步骤展开的讲解素材</a:t>
            </a:r>
            <a:endParaRPr/>
          </a:p>
        </p:txBody>
      </p:sp>
      <p:sp>
        <p:nvSpPr>
          <p:cNvPr id="1888" name=""/>
          <p:cNvSpPr/>
          <p:nvPr/>
        </p:nvSpPr>
        <p:spPr>
          <a:xfrm rot="0" flipH="0" flipV="0">
            <a:off x="8953500" y="1219200"/>
            <a:ext cx="2571750" cy="3524250"/>
          </a:xfrm>
          <a:prstGeom prst="roundRect">
            <a:avLst>
              <a:gd name="adj" fmla="val 2963"/>
            </a:avLst>
          </a:prstGeom>
          <a:solidFill>
            <a:srgbClr val="FFFFFF"/>
          </a:solidFill>
          <a:ln w="12700">
            <a:solidFill>
              <a:srgbClr val="E3E8EF"/>
            </a:solidFill>
            <a:prstDash val="solid"/>
          </a:ln>
        </p:spPr>
        <p:txBody>
          <a:bodyPr/>
          <a:p/>
        </p:txBody>
      </p:sp>
      <p:sp>
        <p:nvSpPr>
          <p:cNvPr id="1889" name=""/>
          <p:cNvSpPr/>
          <p:nvPr/>
        </p:nvSpPr>
        <p:spPr>
          <a:xfrm rot="0" flipH="0" flipV="0">
            <a:off x="895350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890" name="" descr="{&quot;isTemplate&quot;:true,&quot;type&quot;:&quot;text&quot;}"/>
          <p:cNvSpPr txBox="1"/>
          <p:nvPr/>
        </p:nvSpPr>
        <p:spPr>
          <a:xfrm rot="0" flipH="0" flipV="0">
            <a:off x="914400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反例与条件变化</a:t>
            </a:r>
            <a:endParaRPr/>
          </a:p>
        </p:txBody>
      </p:sp>
      <p:sp>
        <p:nvSpPr>
          <p:cNvPr id="1891" name="" descr="{&quot;isTemplate&quot;:true,&quot;type&quot;:&quot;text&quot;}"/>
          <p:cNvSpPr txBox="1"/>
          <p:nvPr/>
        </p:nvSpPr>
        <p:spPr>
          <a:xfrm rot="0" flipH="0" flipV="0">
            <a:off x="9144000" y="1885950"/>
            <a:ext cx="2190750" cy="314325"/>
          </a:xfrm>
          <a:prstGeom prst="rect"/>
        </p:spPr>
        <p:txBody>
          <a:bodyPr wrap="none" lIns="0" tIns="0" rIns="0" bIns="0"/>
          <a:p>
            <a:pPr>
              <a:lnSpc>
                <a:spcPct val="160000"/>
              </a:lnSpc>
            </a:pPr>
            <a:r>
              <a:rPr lang="zh-CN" sz="1275">
                <a:solidFill>
                  <a:srgbClr val="333A45"/>
                </a:solidFill>
                <a:latin typeface="Microsoft YaHei"/>
                <a:ea typeface="Microsoft YaHei"/>
              </a:rPr>
              <a:t>暴露适用条件与易错边界</a:t>
            </a:r>
            <a:endParaRPr/>
          </a:p>
        </p:txBody>
      </p:sp>
      <p:sp>
        <p:nvSpPr>
          <p:cNvPr id="1892" name=""/>
          <p:cNvSpPr/>
          <p:nvPr/>
        </p:nvSpPr>
        <p:spPr>
          <a:xfrm rot="0" flipH="0" flipV="0">
            <a:off x="704850" y="4914900"/>
            <a:ext cx="10858500" cy="581025"/>
          </a:xfrm>
          <a:prstGeom prst="roundRect">
            <a:avLst>
              <a:gd name="adj" fmla="val 9836"/>
            </a:avLst>
          </a:prstGeom>
          <a:solidFill>
            <a:srgbClr val="F5F7FA"/>
          </a:solidFill>
          <a:ln/>
        </p:spPr>
        <p:txBody>
          <a:bodyPr/>
          <a:p/>
        </p:txBody>
      </p:sp>
      <p:sp>
        <p:nvSpPr>
          <p:cNvPr id="1893" name=""/>
          <p:cNvSpPr/>
          <p:nvPr/>
        </p:nvSpPr>
        <p:spPr>
          <a:xfrm rot="0" flipH="0" flipV="0">
            <a:off x="704850" y="4914900"/>
            <a:ext cx="10858500" cy="581025"/>
          </a:xfrm>
          <a:custGeom>
            <a:pathLst>
              <a:path w="1140" h="61">
                <a:moveTo>
                  <a:pt x="6" y="0"/>
                </a:moveTo>
                <a:cubicBezTo>
                  <a:pt x="5" y="0"/>
                  <a:pt x="4" y="1"/>
                  <a:pt x="4" y="2"/>
                </a:cubicBezTo>
                <a:lnTo>
                  <a:pt x="4" y="59"/>
                </a:lnTo>
                <a:cubicBezTo>
                  <a:pt x="4" y="60"/>
                  <a:pt x="5" y="61"/>
                  <a:pt x="6" y="61"/>
                </a:cubicBezTo>
                <a:cubicBezTo>
                  <a:pt x="3" y="61"/>
                  <a:pt x="0" y="58"/>
                  <a:pt x="0" y="55"/>
                </a:cubicBezTo>
                <a:lnTo>
                  <a:pt x="0" y="6"/>
                </a:lnTo>
                <a:cubicBezTo>
                  <a:pt x="0" y="3"/>
                  <a:pt x="3" y="0"/>
                  <a:pt x="6" y="0"/>
                </a:cubicBezTo>
                <a:close/>
              </a:path>
            </a:pathLst>
          </a:custGeom>
          <a:solidFill>
            <a:srgbClr val="E8A33D"/>
          </a:solidFill>
          <a:ln/>
        </p:spPr>
        <p:txBody>
          <a:bodyPr/>
          <a:p/>
        </p:txBody>
      </p:sp>
      <p:sp>
        <p:nvSpPr>
          <p:cNvPr id="1894" name="" descr="{&quot;isTemplate&quot;:true,&quot;type&quot;:&quot;text&quot;}"/>
          <p:cNvSpPr txBox="1"/>
          <p:nvPr/>
        </p:nvSpPr>
        <p:spPr>
          <a:xfrm rot="0" flipH="0" flipV="0">
            <a:off x="895350" y="5048250"/>
            <a:ext cx="7029450" cy="314325"/>
          </a:xfrm>
          <a:prstGeom prst="rect"/>
        </p:spPr>
        <p:txBody>
          <a:bodyPr wrap="none" lIns="0" tIns="0" rIns="0" bIns="0"/>
          <a:p>
            <a:pPr>
              <a:lnSpc>
                <a:spcPct val="150000"/>
              </a:lnSpc>
            </a:pPr>
            <a:r>
              <a:rPr lang="zh-CN" sz="1350" b="1">
                <a:solidFill>
                  <a:srgbClr val="0E2340"/>
                </a:solidFill>
                <a:latin typeface="Microsoft YaHei"/>
                <a:ea typeface="Microsoft YaHei"/>
              </a:rPr>
              <a:t>演示要帮助学生看到推理依据与适用条件；动画本身不能替代学生解释、独立尝试和课堂检查</a:t>
            </a:r>
            <a:endParaRPr/>
          </a:p>
        </p:txBody>
      </p:sp>
      <p:sp>
        <p:nvSpPr>
          <p:cNvPr id="1895" name=""/>
          <p:cNvSpPr/>
          <p:nvPr/>
        </p:nvSpPr>
        <p:spPr>
          <a:xfrm rot="0" flipH="0" flipV="0">
            <a:off x="704850" y="5667375"/>
            <a:ext cx="10858500" cy="542925"/>
          </a:xfrm>
          <a:prstGeom prst="roundRect">
            <a:avLst>
              <a:gd name="adj" fmla="val 10526"/>
            </a:avLst>
          </a:prstGeom>
          <a:solidFill>
            <a:srgbClr val="F5F7FA"/>
          </a:solidFill>
          <a:ln/>
        </p:spPr>
        <p:txBody>
          <a:bodyPr/>
          <a:p/>
        </p:txBody>
      </p:sp>
      <p:sp>
        <p:nvSpPr>
          <p:cNvPr id="1896" name=""/>
          <p:cNvSpPr/>
          <p:nvPr/>
        </p:nvSpPr>
        <p:spPr>
          <a:xfrm rot="0" flipH="0" flipV="0">
            <a:off x="704850" y="5667375"/>
            <a:ext cx="10858500" cy="542925"/>
          </a:xfrm>
          <a:custGeom>
            <a:pathLst>
              <a:path w="1140" h="57">
                <a:moveTo>
                  <a:pt x="6" y="0"/>
                </a:moveTo>
                <a:cubicBezTo>
                  <a:pt x="5" y="0"/>
                  <a:pt x="4" y="1"/>
                  <a:pt x="4" y="2"/>
                </a:cubicBezTo>
                <a:lnTo>
                  <a:pt x="4" y="55"/>
                </a:lnTo>
                <a:cubicBezTo>
                  <a:pt x="4" y="56"/>
                  <a:pt x="5" y="57"/>
                  <a:pt x="6" y="57"/>
                </a:cubicBezTo>
                <a:cubicBezTo>
                  <a:pt x="3" y="57"/>
                  <a:pt x="0" y="54"/>
                  <a:pt x="0" y="51"/>
                </a:cubicBezTo>
                <a:lnTo>
                  <a:pt x="0" y="6"/>
                </a:lnTo>
                <a:cubicBezTo>
                  <a:pt x="0" y="3"/>
                  <a:pt x="3" y="0"/>
                  <a:pt x="6" y="0"/>
                </a:cubicBezTo>
                <a:close/>
              </a:path>
            </a:pathLst>
          </a:custGeom>
          <a:solidFill>
            <a:srgbClr val="00A9B5"/>
          </a:solidFill>
          <a:ln/>
        </p:spPr>
        <p:txBody>
          <a:bodyPr/>
          <a:p/>
        </p:txBody>
      </p:sp>
      <p:sp>
        <p:nvSpPr>
          <p:cNvPr id="1897" name="" descr="{&quot;isTemplate&quot;:true,&quot;type&quot;:&quot;text&quot;}"/>
          <p:cNvSpPr txBox="1"/>
          <p:nvPr/>
        </p:nvSpPr>
        <p:spPr>
          <a:xfrm rot="0" flipH="0" flipV="0">
            <a:off x="895350" y="5800725"/>
            <a:ext cx="6248400" cy="276225"/>
          </a:xfrm>
          <a:prstGeom prst="rect"/>
        </p:spPr>
        <p:txBody>
          <a:bodyPr wrap="none" lIns="0" tIns="0" rIns="0" bIns="0"/>
          <a:p>
            <a:pPr>
              <a:lnSpc>
                <a:spcPct val="150000"/>
              </a:lnSpc>
            </a:pPr>
            <a:r>
              <a:rPr lang="zh-CN" sz="1200" b="1">
                <a:solidFill>
                  <a:srgbClr val="0E2340"/>
                </a:solidFill>
                <a:latin typeface="Microsoft YaHei"/>
                <a:ea typeface="Microsoft YaHei"/>
              </a:rPr>
              <a:t>可优先复用教师现有教案、演示素材及研究成果，记录来源、适用年级、使用条件和教师修改</a:t>
            </a:r>
            <a:endParaRPr/>
          </a:p>
        </p:txBody>
      </p:sp>
      <p:sp>
        <p:nvSpPr>
          <p:cNvPr id="1898"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899" name="" descr="{&quot;isTemplate&quot;:true,&quot;type&quot;:&quot;text&quot;}"/>
          <p:cNvSpPr txBox="1"/>
          <p:nvPr/>
        </p:nvSpPr>
        <p:spPr>
          <a:xfrm rot="0" flipH="0" flipV="0">
            <a:off x="666750" y="6381750"/>
            <a:ext cx="1619250" cy="209550"/>
          </a:xfrm>
          <a:prstGeom prst="rect"/>
        </p:spPr>
        <p:txBody>
          <a:bodyPr wrap="none" lIns="0" tIns="0" rIns="0" bIns="0"/>
          <a:p>
            <a:pPr>
              <a:lnSpc>
                <a:spcPct val="140000"/>
              </a:lnSpc>
            </a:pPr>
            <a:r>
              <a:rPr lang="zh-CN" sz="975">
                <a:solidFill>
                  <a:srgbClr val="7A8699"/>
                </a:solidFill>
                <a:latin typeface="Microsoft YaHei"/>
                <a:ea typeface="Microsoft YaHei"/>
              </a:rPr>
              <a:t>依据：教师端设计思路</a:t>
            </a:r>
            <a:r>
              <a:rPr lang="en-US" sz="975">
                <a:solidFill>
                  <a:srgbClr val="7A8699"/>
                </a:solidFill>
                <a:latin typeface="Microsoft YaHei"/>
                <a:ea typeface="Microsoft YaHei"/>
              </a:rPr>
              <a:t>.md §2</a:t>
            </a:r>
            <a:endParaRPr/>
          </a:p>
        </p:txBody>
      </p:sp>
      <p:sp>
        <p:nvSpPr>
          <p:cNvPr id="1900"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50 / 124 </a:t>
            </a:r>
            <a:endParaRPr/>
          </a:p>
        </p:txBody>
      </p:sp>
    </p:spTree>
  </p:cSld>
</p:sld>
</file>

<file path=ppt/slides/slide51.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1901"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5 / 教师端&lt;/Text&gt;&lt;Text style={{ fontSize: 32, color: '#0E2340', fontWeight: 700, lineHeight: 1.3 }}&gt;查询系统能力制作不同用途的课件&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paddingTop: 4 }}&gt;&lt;Box style={{ marginBottom: 14 }}&gt;&lt;Box style={{ flexDirection: 'row', alignItems: 'center', background: '#F5F7FA', borderLeft: '4px solid #0E2340', borderRadius: 6, padding: '14px 20px' }}&gt;&lt;Text style={{ fontSize: 20, color: '#0E2340', fontWeight: 600, lineHeight: 1.5 }}&gt;教师用自然语言说明用途，助教查询可用工具目录并组合课程、题库、图形和学情接口&lt;/Text&gt;&lt;/Box&gt;&lt;/Box&gt;&lt;Box style={{ flex: 1 }}&gt;&lt;Table style={{ width: '100%', height: '100%' }} defaultTextStyle={{ fontSize: 17, textAlign: 'left', color: '#333A45' }} defaultCellStyle={{ padding: 10, border: { left: { width: 1, color: '#E3E8EF' }, right: { width: 1, color: '#E3E8EF' }, top: { width: 1, color: '#E3E8EF' }, bottom: { width: 1, color: '#E3E8EF' } } }} cells={[[{ text: '用途', textStyle: { color: '#FFFFFF', fontWeight: 600, fontSize: 17 }, cellStyle: { background: { color: '#0E2340' } } }, { text: '可调用的系统内容', textStyle: { color: '#FFFFFF', fontWeight: 600, fontSize: 17 }, cellStyle: { background: { color: '#0E2340' } } }, { text: '主要输出', textStyle: { color: '#FFFFFF', fontWeight: 600, fontSize: 17 }, cellStyle: { background: { color: '#0E2340' } } }],&#10;        [{ text: '新课与复习', textStyle: { fontWeight: 600, fontSize: 17 } }, { text: '课时、前置知识、例题与步骤关系', textStyle: { fontSize: 17 } }, { text: '教学结构、讲解页、课堂练习', textStyle: { fontSize: 17 } }],&#10;        [{ text: '试卷讲评', textStyle: { fontWeight: 600, fontSize: 17 }, cellStyle: { background: { color: '#F5F7FA' } } }, { text: '经复核的批改结果、全班共性步骤问题', textStyle: { fontSize: 17 }, cellStyle: { background: { color: '#F5F7FA' } } }, { text: '错误比较、方法分析与补练任务', textStyle: { fontSize: 17 }, cellStyle: { background: { color: '#F5F7FA' } } }],&#10;        [{ text: '教研汇报', textStyle: { fontWeight: 600, fontSize: 17 } }, { text: '阶段学习变化、教学调整及其后续表现', textStyle: { fontSize: 17 } }, { text: '有证据的图表与改进说明', textStyle: { fontSize: 17 } }],&#10;        [{ text: '分层辅导', textStyle: { fontWeight: 600, fontSize: 17 }, cellStyle: { background: { color: '#F5F7FA' } } }, { text: '学生或小组的具体学习需求', textStyle: { fontSize: 17 }, cellStyle: { background: { color: '#F5F7FA' } } }, { text: '知识补充、步骤演示与练习材料', textStyle: { fontSize: 17 }, cellStyle: { background: { color: '#F5F7FA' } } }]]} /&gt;&lt;/Box&gt;&lt;/Box&gt;&lt;/Box&gt;&lt;Box style={{ height: 40, flexDirection: 'row', justifyContent: 'space-between', alignItems: 'center', borderTop: '1px solid #E3E8EF', marginTop: 8 }}&gt;&lt;Text style={{ fontSize: 13, color: '#7A8699', fontWeight: 400, lineHeight: 1.4 }}&gt;依据：教师端设计思路.md §3&lt;/Text&gt;&lt;Text style={{ fontSize: 14, color: '#7A8699', fontWeight: 400, lineHeight: 1.4 }}&gt; 51 / 124 &lt;/Text&gt;&lt;/Box&gt;&lt;/Slide&gt;"/>
        <p:cNvGrpSpPr/>
        <p:nvPr/>
      </p:nvGrpSpPr>
      <p:grpSpPr>
        <a:xfrm>
          <a:off x="0" y="0"/>
          <a:ext cx="0" cy="0"/>
          <a:chOff x="0" y="0"/>
          <a:chExt cx="0" cy="0"/>
        </a:xfrm>
      </p:grpSpPr>
      <p:sp>
        <p:nvSpPr>
          <p:cNvPr id="1902" name=""/>
          <p:cNvSpPr/>
          <p:nvPr/>
        </p:nvSpPr>
        <p:spPr>
          <a:xfrm rot="0" flipH="0" flipV="0">
            <a:off x="0" y="0"/>
            <a:ext cx="12192000" cy="6858000"/>
          </a:xfrm>
          <a:prstGeom prst="rect">
            <a:avLst/>
          </a:prstGeom>
          <a:solidFill>
            <a:srgbClr val="FFFFFF"/>
          </a:solidFill>
          <a:ln/>
        </p:spPr>
        <p:txBody>
          <a:bodyPr/>
          <a:p/>
        </p:txBody>
      </p:sp>
      <p:sp>
        <p:nvSpPr>
          <p:cNvPr id="1903" name="" descr="{&quot;isTemplate&quot;:true,&quot;type&quot;:&quot;text&quot;}"/>
          <p:cNvSpPr txBox="1"/>
          <p:nvPr/>
        </p:nvSpPr>
        <p:spPr>
          <a:xfrm rot="0" flipH="0" flipV="0">
            <a:off x="666750" y="381000"/>
            <a:ext cx="45720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05 / </a:t>
            </a:r>
            <a:r>
              <a:rPr lang="zh-CN" sz="1050" spc="75">
                <a:solidFill>
                  <a:srgbClr val="7A8699"/>
                </a:solidFill>
                <a:latin typeface="Microsoft YaHei"/>
                <a:ea typeface="Microsoft YaHei"/>
              </a:rPr>
              <a:t>教师端</a:t>
            </a:r>
            <a:endParaRPr/>
          </a:p>
        </p:txBody>
      </p:sp>
      <p:sp>
        <p:nvSpPr>
          <p:cNvPr id="1904" name="" descr="{&quot;isTemplate&quot;:true,&quot;type&quot;:&quot;text&quot;}"/>
          <p:cNvSpPr txBox="1"/>
          <p:nvPr/>
        </p:nvSpPr>
        <p:spPr>
          <a:xfrm rot="0" flipH="0" flipV="0">
            <a:off x="666750" y="666750"/>
            <a:ext cx="4572000" cy="476250"/>
          </a:xfrm>
          <a:prstGeom prst="rect"/>
        </p:spPr>
        <p:txBody>
          <a:bodyPr wrap="none" lIns="0" tIns="0" rIns="0" bIns="0"/>
          <a:p>
            <a:pPr>
              <a:lnSpc>
                <a:spcPct val="130000"/>
              </a:lnSpc>
            </a:pPr>
            <a:r>
              <a:rPr lang="zh-CN" sz="2400" b="1">
                <a:solidFill>
                  <a:srgbClr val="0E2340"/>
                </a:solidFill>
                <a:latin typeface="Microsoft YaHei"/>
                <a:ea typeface="Microsoft YaHei"/>
              </a:rPr>
              <a:t>查询系统能力制作不同用途的课件</a:t>
            </a:r>
            <a:endParaRPr/>
          </a:p>
        </p:txBody>
      </p:sp>
      <p:sp>
        <p:nvSpPr>
          <p:cNvPr id="1905"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906"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1907" name=""/>
          <p:cNvSpPr/>
          <p:nvPr/>
        </p:nvSpPr>
        <p:spPr>
          <a:xfrm rot="0" flipH="0" flipV="0">
            <a:off x="704850" y="1257300"/>
            <a:ext cx="10858500" cy="609600"/>
          </a:xfrm>
          <a:prstGeom prst="roundRect">
            <a:avLst>
              <a:gd name="adj" fmla="val 9375"/>
            </a:avLst>
          </a:prstGeom>
          <a:solidFill>
            <a:srgbClr val="F5F7FA"/>
          </a:solidFill>
          <a:ln/>
        </p:spPr>
        <p:txBody>
          <a:bodyPr/>
          <a:p/>
        </p:txBody>
      </p:sp>
      <p:sp>
        <p:nvSpPr>
          <p:cNvPr id="1908" name=""/>
          <p:cNvSpPr/>
          <p:nvPr/>
        </p:nvSpPr>
        <p:spPr>
          <a:xfrm rot="0" flipH="0" flipV="0">
            <a:off x="704850" y="12573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1909" name="" descr="{&quot;isTemplate&quot;:true,&quot;type&quot;:&quot;text&quot;}"/>
          <p:cNvSpPr txBox="1"/>
          <p:nvPr/>
        </p:nvSpPr>
        <p:spPr>
          <a:xfrm rot="0" flipH="0" flipV="0">
            <a:off x="895350" y="1390650"/>
            <a:ext cx="7239000" cy="342900"/>
          </a:xfrm>
          <a:prstGeom prst="rect"/>
        </p:spPr>
        <p:txBody>
          <a:bodyPr wrap="none" lIns="0" tIns="0" rIns="0" bIns="0"/>
          <a:p>
            <a:pPr>
              <a:lnSpc>
                <a:spcPct val="150000"/>
              </a:lnSpc>
            </a:pPr>
            <a:r>
              <a:rPr lang="zh-CN" sz="1500" b="1">
                <a:solidFill>
                  <a:srgbClr val="0E2340"/>
                </a:solidFill>
                <a:latin typeface="Microsoft YaHei"/>
                <a:ea typeface="Microsoft YaHei"/>
              </a:rPr>
              <a:t>教师用自然语言说明用途，助教查询可用工具目录并组合课程、题库、图形和学情接口</a:t>
            </a:r>
            <a:endParaRPr/>
          </a:p>
        </p:txBody>
      </p:sp>
      <p:graphicFrame>
        <p:nvGraphicFramePr>
          <p:cNvPr id="1910" name=""/>
          <p:cNvGraphicFramePr/>
          <p:nvPr/>
        </p:nvGraphicFramePr>
        <p:xfrm rot="0" flipH="0" flipV="0">
          <a:off x="666750" y="2000250"/>
          <a:ext cx="10858500" cy="4210050"/>
        </p:xfrm>
        <a:graphic>
          <a:graphicData uri="http://schemas.openxmlformats.org/drawingml/2006/table">
            <a:tbl>
              <a:tblGrid>
                <a:gridCol w="1603018">
                  <a:extLst>
                    <a:ext uri="{9D8B030D-6E8A-4147-A177-3AD203B41FA5}">
                      <a16:colId val="1"/>
                    </a:ext>
                  </a:extLst>
                </a:gridCol>
                <a:gridCol w="5059844">
                  <a:extLst>
                    <a:ext uri="{9D8B030D-6E8A-4147-A177-3AD203B41FA5}">
                      <a16:colId val="2"/>
                    </a:ext>
                  </a:extLst>
                </a:gridCol>
                <a:gridCol w="4195638">
                  <a:extLst>
                    <a:ext uri="{9D8B030D-6E8A-4147-A177-3AD203B41FA5}">
                      <a16:colId val="3"/>
                    </a:ext>
                  </a:extLst>
                </a:gridCol>
              </a:tblGrid>
              <a:tr h="842010">
                <a:tc>
                  <a:txBody>
                    <a:bodyPr wrap="square" lIns="0" tIns="0" rIns="0" bIns="0" anchor="ctr">
                      <a:normAutofit/>
                    </a:bodyPr>
                    <a:p>
                      <a:pPr marL="114300" marR="114300" algn="l">
                        <a:lnSpc>
                          <a:spcPct val="120000"/>
                        </a:lnSpc>
                      </a:pPr>
                      <a:r>
                        <a:rPr sz="1275">
                          <a:solidFill>
                            <a:srgbClr val="FFFFFF"/>
                          </a:solidFill>
                          <a:latin typeface="Microsoft YaHei"/>
                          <a:ea typeface="Microsoft YaHei"/>
                        </a:rPr>
                        <a:t>用途</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75">
                          <a:solidFill>
                            <a:srgbClr val="FFFFFF"/>
                          </a:solidFill>
                          <a:latin typeface="Microsoft YaHei"/>
                          <a:ea typeface="Microsoft YaHei"/>
                        </a:rPr>
                        <a:t>可调用的系统内容</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75">
                          <a:solidFill>
                            <a:srgbClr val="FFFFFF"/>
                          </a:solidFill>
                          <a:latin typeface="Microsoft YaHei"/>
                          <a:ea typeface="Microsoft YaHei"/>
                        </a:rPr>
                        <a:t>主要输出</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842010">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新课与复习</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课时、前置知识、例题与步骤关系</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教学结构、讲解页、课堂练习</a:t>
                      </a:r>
                      <a:endParaRPr/>
                    </a:p>
                  </a:txBody>
                  <a:tcPr marL="45720" marR="45720" marT="45720" marB="45720" anchor="ctr">
                    <a:lnL>
                      <a:noFill/>
                    </a:lnL>
                    <a:lnR>
                      <a:noFill/>
                    </a:lnR>
                    <a:lnT>
                      <a:noFill/>
                    </a:lnT>
                    <a:lnB>
                      <a:noFill/>
                    </a:lnB>
                  </a:tcPr>
                </a:tc>
                <a:extLst>
                  <a:ext uri="{0D108BD9-81ED-4DB2-BD59-A6C34878D82A}">
                    <a16:rowId val="2"/>
                  </a:ext>
                </a:extLst>
              </a:tr>
              <a:tr h="842010">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试卷讲评</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经复核的批改结果、全班共性步骤问题</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错误比较、方法分析与补练任务</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842010">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教研汇报</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阶段学习变化、教学调整及其后续表现</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有证据的图表与改进说明</a:t>
                      </a:r>
                      <a:endParaRPr/>
                    </a:p>
                  </a:txBody>
                  <a:tcPr marL="45720" marR="45720" marT="45720" marB="45720" anchor="ctr">
                    <a:lnL>
                      <a:noFill/>
                    </a:lnL>
                    <a:lnR>
                      <a:noFill/>
                    </a:lnR>
                    <a:lnT>
                      <a:noFill/>
                    </a:lnT>
                    <a:lnB>
                      <a:noFill/>
                    </a:lnB>
                  </a:tcPr>
                </a:tc>
                <a:extLst>
                  <a:ext uri="{0D108BD9-81ED-4DB2-BD59-A6C34878D82A}">
                    <a16:rowId val="4"/>
                  </a:ext>
                </a:extLst>
              </a:tr>
              <a:tr h="842010">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分层辅导</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学生或小组的具体学习需求</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75">
                          <a:solidFill>
                            <a:srgbClr val="333A45"/>
                          </a:solidFill>
                          <a:latin typeface="Microsoft YaHei"/>
                          <a:ea typeface="Microsoft YaHei"/>
                        </a:rPr>
                        <a:t>知识补充、步骤演示与练习材料</a:t>
                      </a:r>
                      <a:endParaRPr/>
                    </a:p>
                  </a:txBody>
                  <a:tcPr marL="45720" marR="45720" marT="45720" marB="45720" anchor="ctr">
                    <a:lnL>
                      <a:noFill/>
                    </a:lnL>
                    <a:lnR>
                      <a:noFill/>
                    </a:lnR>
                    <a:lnT>
                      <a:noFill/>
                    </a:lnT>
                    <a:lnB>
                      <a:noFill/>
                    </a:lnB>
                    <a:solidFill>
                      <a:srgbClr val="F5F7FA"/>
                    </a:solidFill>
                  </a:tcPr>
                </a:tc>
                <a:extLst>
                  <a:ext uri="{0D108BD9-81ED-4DB2-BD59-A6C34878D82A}">
                    <a16:rowId val="5"/>
                  </a:ext>
                </a:extLst>
              </a:tr>
            </a:tbl>
          </a:graphicData>
        </a:graphic>
      </p:graphicFrame>
      <p:sp>
        <p:nvSpPr>
          <p:cNvPr id="1911"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912" name="" descr="{&quot;isTemplate&quot;:true,&quot;type&quot;:&quot;text&quot;}"/>
          <p:cNvSpPr txBox="1"/>
          <p:nvPr/>
        </p:nvSpPr>
        <p:spPr>
          <a:xfrm rot="0" flipH="0" flipV="0">
            <a:off x="666750" y="6381750"/>
            <a:ext cx="1619250" cy="209550"/>
          </a:xfrm>
          <a:prstGeom prst="rect"/>
        </p:spPr>
        <p:txBody>
          <a:bodyPr wrap="none" lIns="0" tIns="0" rIns="0" bIns="0"/>
          <a:p>
            <a:pPr>
              <a:lnSpc>
                <a:spcPct val="140000"/>
              </a:lnSpc>
            </a:pPr>
            <a:r>
              <a:rPr lang="zh-CN" sz="975">
                <a:solidFill>
                  <a:srgbClr val="7A8699"/>
                </a:solidFill>
                <a:latin typeface="Microsoft YaHei"/>
                <a:ea typeface="Microsoft YaHei"/>
              </a:rPr>
              <a:t>依据：教师端设计思路</a:t>
            </a:r>
            <a:r>
              <a:rPr lang="en-US" sz="975">
                <a:solidFill>
                  <a:srgbClr val="7A8699"/>
                </a:solidFill>
                <a:latin typeface="Microsoft YaHei"/>
                <a:ea typeface="Microsoft YaHei"/>
              </a:rPr>
              <a:t>.md §3</a:t>
            </a:r>
            <a:endParaRPr/>
          </a:p>
        </p:txBody>
      </p:sp>
      <p:sp>
        <p:nvSpPr>
          <p:cNvPr id="1913"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51 / 124 </a:t>
            </a:r>
            <a:endParaRPr/>
          </a:p>
        </p:txBody>
      </p:sp>
    </p:spTree>
  </p:cSld>
</p:sld>
</file>

<file path=ppt/slides/slide52.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914"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5 / 教师端&lt;/Text&gt;&lt;Text style={{ fontSize: 32, color: '#0E2340', fontWeight: 700, lineHeight: 1.3 }}&gt;分层作业：三部分构成与四条差异化规则&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8 }}&gt;&lt;Box style={{ flexDirection: 'column', gap: 16, flex: 1, justifyContent: 'center' }}&gt;&lt;svg width={1140} height={200} viewBox='0 0 1140 200'&gt;&lt;rect x='0' y='0' width='1140' height='58' rx='8' fill='#0E2340'/&gt;&lt;text x='570.0' y='23.0' font-size='22' fill='#FFFFFF' text-anchor='middle' font-weight='600'&gt;共同必做部分&lt;/text&gt;&lt;text x='570.0' y='49.0' font-size='15' fill='#C8DCF2' text-anchor='middle' font-weight='400'&gt;全班一致的基础任务&lt;/text&gt;&lt;path d='M562 59 l8 8 l-8 8' fill='none' stroke='#00A9B5' stroke-width='2'/&gt;&lt;rect x='0' y='70' width='1140' height='58' rx='8' fill='#1E7BE0'/&gt;&lt;text x='570.0' y='93.0' font-size='22' fill='#FFFFFF' text-anchor='middle' font-weight='600'&gt;针对性练习&lt;/text&gt;&lt;text x='570.0' y='119.0' font-size='15' fill='#C8DCF2' text-anchor='middle' font-weight='400'&gt;按前置知识与步骤熟练度差异安排&lt;/text&gt;&lt;path d='M562 129 l8 8 l-8 8' fill='none' stroke='#00A9B5' stroke-width='2'/&gt;&lt;rect x='0' y='140' width='1140' height='58' rx='8' fill='#9FD0F5'/&gt;&lt;text x='570.0' y='163.0' font-size='22' fill='#FFFFFF' text-anchor='middle' font-weight='600'&gt;复习内容&lt;/text&gt;&lt;text x='570.0' y='189.0' font-size='15' fill='#C8DCF2' text-anchor='middle' font-weight='400'&gt;针对前面不稳定的知识点，并安排新题验证&lt;/text&gt;&lt;/svg&gt;&lt;/Box&gt;&lt;Box style={{ flexDirection: 'column', gap: 7 }}&gt;&lt;Box style={{ flexDirection: 'row', gap: 12, alignItems: 'flex-start' }}&gt;&lt;Box style={{ width: 8, height: 8, borderRadius: 4, background: '#1E7BE0', marginTop: 9 }} /&gt;&lt;Box style={{ flex: 1 }}&gt;&lt;Text style={{ fontSize: 16, color: '#0E2340', fontWeight: 600, lineHeight: 1.5 }}&gt;规则一&lt;/Text&gt;&lt;Text style={{ fontSize: 15, color: '#333A45', fontWeight: 400, lineHeight: 1.6 }}&gt;目标相同的学生可因前置知识、步骤熟练度不同而获不同题目或提示安排。&lt;/Text&gt;&lt;/Box&gt;&lt;/Box&gt;&lt;Box style={{ flexDirection: 'row', gap: 12, alignItems: 'flex-start' }}&gt;&lt;Box style={{ width: 8, height: 8, borderRadius: 4, background: '#1E7BE0', marginTop: 9 }} /&gt;&lt;Box style={{ flex: 1 }}&gt;&lt;Text style={{ fontSize: 16, color: '#0E2340', fontWeight: 600, lineHeight: 1.5 }}&gt;规则二&lt;/Text&gt;&lt;Text style={{ fontSize: 15, color: '#333A45', fontWeight: 400, lineHeight: 1.6 }}&gt;前面知识点不稳定的学生加入复习题，并安排新题验证复习效果。&lt;/Text&gt;&lt;/Box&gt;&lt;/Box&gt;&lt;Box style={{ flexDirection: 'row', gap: 12, alignItems: 'flex-start' }}&gt;&lt;Box style={{ width: 8, height: 8, borderRadius: 4, background: '#1E7BE0', marginTop: 9 }} /&gt;&lt;Box style={{ flex: 1 }}&gt;&lt;Text style={{ fontSize: 16, color: '#0E2340', fontWeight: 600, lineHeight: 1.5 }}&gt;规则三&lt;/Text&gt;&lt;Text style={{ fontSize: 15, color: '#333A45', fontWeight: 400, lineHeight: 1.6 }}&gt;知识准备充分但迁移不足时增加变式或方法比较，避免简单增加题量。&lt;/Text&gt;&lt;/Box&gt;&lt;/Box&gt;&lt;Box style={{ flexDirection: 'row', gap: 12, alignItems: 'flex-start' }}&gt;&lt;Box style={{ width: 8, height: 8, borderRadius: 4, background: '#1E7BE0', marginTop: 9 }} /&gt;&lt;Box style={{ flex: 1 }}&gt;&lt;Text style={{ fontSize: 16, color: '#0E2340', fontWeight: 600, lineHeight: 1.5 }}&gt;规则四&lt;/Text&gt;&lt;Text style={{ fontSize: 15, color: '#333A45', fontWeight: 400, lineHeight: 1.6 }}&gt;历史记录不足时先安排适量诊断，不能仅凭缺少数据长期分配较低要求的作业。&lt;/Text&gt;&lt;/Box&gt;&lt;/Box&gt;&lt;/Box&gt;&lt;/Box&gt;&lt;/Box&gt;&lt;Box style={{ height: 40, flexDirection: 'row', justifyContent: 'space-between', alignItems: 'center', borderTop: '1px solid #E3E8EF', marginTop: 8 }}&gt;&lt;Text style={{ fontSize: 13, color: '#7A8699', fontWeight: 400, lineHeight: 1.4 }}&gt;依据：教师端设计思路.md §4&lt;/Text&gt;&lt;Text style={{ fontSize: 14, color: '#7A8699', fontWeight: 400, lineHeight: 1.4 }}&gt; 52 / 124 &lt;/Text&gt;&lt;/Box&gt;&lt;/Slide&gt;"/>
        <p:cNvGrpSpPr/>
        <p:nvPr/>
      </p:nvGrpSpPr>
      <p:grpSpPr>
        <a:xfrm>
          <a:off x="0" y="0"/>
          <a:ext cx="0" cy="0"/>
          <a:chOff x="0" y="0"/>
          <a:chExt cx="0" cy="0"/>
        </a:xfrm>
      </p:grpSpPr>
      <p:sp>
        <p:nvSpPr>
          <p:cNvPr id="1915" name=""/>
          <p:cNvSpPr/>
          <p:nvPr/>
        </p:nvSpPr>
        <p:spPr>
          <a:xfrm rot="0" flipH="0" flipV="0">
            <a:off x="0" y="0"/>
            <a:ext cx="12192000" cy="6858000"/>
          </a:xfrm>
          <a:prstGeom prst="rect">
            <a:avLst/>
          </a:prstGeom>
          <a:solidFill>
            <a:srgbClr val="FFFFFF"/>
          </a:solidFill>
          <a:ln/>
        </p:spPr>
        <p:txBody>
          <a:bodyPr/>
          <a:p/>
        </p:txBody>
      </p:sp>
      <p:sp>
        <p:nvSpPr>
          <p:cNvPr id="1916" name="" descr="{&quot;isTemplate&quot;:true,&quot;type&quot;:&quot;text&quot;}"/>
          <p:cNvSpPr txBox="1"/>
          <p:nvPr/>
        </p:nvSpPr>
        <p:spPr>
          <a:xfrm rot="0" flipH="0" flipV="0">
            <a:off x="666750" y="381000"/>
            <a:ext cx="54864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05 / </a:t>
            </a:r>
            <a:r>
              <a:rPr lang="zh-CN" sz="1050" spc="75">
                <a:solidFill>
                  <a:srgbClr val="7A8699"/>
                </a:solidFill>
                <a:latin typeface="Microsoft YaHei"/>
                <a:ea typeface="Microsoft YaHei"/>
              </a:rPr>
              <a:t>教师端</a:t>
            </a:r>
            <a:endParaRPr/>
          </a:p>
        </p:txBody>
      </p:sp>
      <p:sp>
        <p:nvSpPr>
          <p:cNvPr id="1917" name="" descr="{&quot;isTemplate&quot;:true,&quot;type&quot;:&quot;text&quot;}"/>
          <p:cNvSpPr txBox="1"/>
          <p:nvPr/>
        </p:nvSpPr>
        <p:spPr>
          <a:xfrm rot="0" flipH="0" flipV="0">
            <a:off x="666750" y="666750"/>
            <a:ext cx="5486400" cy="476250"/>
          </a:xfrm>
          <a:prstGeom prst="rect"/>
        </p:spPr>
        <p:txBody>
          <a:bodyPr wrap="none" lIns="0" tIns="0" rIns="0" bIns="0"/>
          <a:p>
            <a:pPr>
              <a:lnSpc>
                <a:spcPct val="130000"/>
              </a:lnSpc>
            </a:pPr>
            <a:r>
              <a:rPr lang="zh-CN" sz="2400" b="1">
                <a:solidFill>
                  <a:srgbClr val="0E2340"/>
                </a:solidFill>
                <a:latin typeface="Microsoft YaHei"/>
                <a:ea typeface="Microsoft YaHei"/>
              </a:rPr>
              <a:t>分层作业：三部分构成与四条差异化规则</a:t>
            </a:r>
            <a:endParaRPr/>
          </a:p>
        </p:txBody>
      </p:sp>
      <p:sp>
        <p:nvSpPr>
          <p:cNvPr id="1918"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919"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1920" name=""/>
          <p:cNvPicPr>
            <a:picLocks noChangeAspect="1"/>
          </p:cNvPicPr>
          <p:nvPr/>
        </p:nvPicPr>
        <p:blipFill>
          <a:blip>
            <a:extLst>
              <a:ext uri="{96DAC541-7B7A-43D3-8B79-37D633B846F1}">
                <asvg:svgBlip r:embed="rId1"/>
              </a:ext>
            </a:extLst>
          </a:blip>
          <a:stretch>
            <a:fillRect/>
          </a:stretch>
        </p:blipFill>
        <p:spPr>
          <a:xfrm rot="0" flipH="0" flipV="0">
            <a:off x="666750" y="1476375"/>
            <a:ext cx="10858500" cy="1905000"/>
          </a:xfrm>
          <a:prstGeom prst="rect">
            <a:avLst/>
          </a:prstGeom>
          <a:ln/>
        </p:spPr>
      </p:pic>
      <p:sp>
        <p:nvSpPr>
          <p:cNvPr id="1921" name=""/>
          <p:cNvSpPr/>
          <p:nvPr/>
        </p:nvSpPr>
        <p:spPr>
          <a:xfrm rot="0" flipH="0" flipV="0">
            <a:off x="666750" y="3886200"/>
            <a:ext cx="76200" cy="76200"/>
          </a:xfrm>
          <a:prstGeom prst="roundRect">
            <a:avLst>
              <a:gd name="adj" fmla="val 50000"/>
            </a:avLst>
          </a:prstGeom>
          <a:solidFill>
            <a:srgbClr val="1E7BE0"/>
          </a:solidFill>
          <a:ln/>
        </p:spPr>
        <p:txBody>
          <a:bodyPr/>
          <a:p/>
        </p:txBody>
      </p:sp>
      <p:sp>
        <p:nvSpPr>
          <p:cNvPr id="1922" name="" descr="{&quot;isTemplate&quot;:true,&quot;type&quot;:&quot;text&quot;}"/>
          <p:cNvSpPr txBox="1"/>
          <p:nvPr/>
        </p:nvSpPr>
        <p:spPr>
          <a:xfrm rot="0" flipH="0" flipV="0">
            <a:off x="857250" y="3800475"/>
            <a:ext cx="10668000" cy="276225"/>
          </a:xfrm>
          <a:prstGeom prst="rect"/>
        </p:spPr>
        <p:txBody>
          <a:bodyPr wrap="none" lIns="0" tIns="0" rIns="0" bIns="0"/>
          <a:p>
            <a:pPr>
              <a:lnSpc>
                <a:spcPct val="150000"/>
              </a:lnSpc>
            </a:pPr>
            <a:r>
              <a:rPr lang="zh-CN" sz="1200" b="1">
                <a:solidFill>
                  <a:srgbClr val="0E2340"/>
                </a:solidFill>
                <a:latin typeface="Microsoft YaHei"/>
                <a:ea typeface="Microsoft YaHei"/>
              </a:rPr>
              <a:t>规则一</a:t>
            </a:r>
            <a:endParaRPr/>
          </a:p>
        </p:txBody>
      </p:sp>
      <p:sp>
        <p:nvSpPr>
          <p:cNvPr id="1923" name="" descr="{&quot;isTemplate&quot;:true,&quot;type&quot;:&quot;text&quot;}"/>
          <p:cNvSpPr txBox="1"/>
          <p:nvPr/>
        </p:nvSpPr>
        <p:spPr>
          <a:xfrm rot="0" flipH="0" flipV="0">
            <a:off x="857250" y="4076700"/>
            <a:ext cx="10668000" cy="276225"/>
          </a:xfrm>
          <a:prstGeom prst="rect"/>
        </p:spPr>
        <p:txBody>
          <a:bodyPr wrap="none" lIns="0" tIns="0" rIns="0" bIns="0"/>
          <a:p>
            <a:pPr>
              <a:lnSpc>
                <a:spcPct val="160000"/>
              </a:lnSpc>
            </a:pPr>
            <a:r>
              <a:rPr lang="zh-CN" sz="1125">
                <a:solidFill>
                  <a:srgbClr val="333A45"/>
                </a:solidFill>
                <a:latin typeface="Microsoft YaHei"/>
                <a:ea typeface="Microsoft YaHei"/>
              </a:rPr>
              <a:t>目标相同的学生可因前置知识、步骤熟练度不同而获不同题目或提示安排。</a:t>
            </a:r>
            <a:endParaRPr/>
          </a:p>
        </p:txBody>
      </p:sp>
      <p:sp>
        <p:nvSpPr>
          <p:cNvPr id="1924" name=""/>
          <p:cNvSpPr/>
          <p:nvPr/>
        </p:nvSpPr>
        <p:spPr>
          <a:xfrm rot="0" flipH="0" flipV="0">
            <a:off x="666750" y="4505325"/>
            <a:ext cx="76200" cy="76200"/>
          </a:xfrm>
          <a:prstGeom prst="roundRect">
            <a:avLst>
              <a:gd name="adj" fmla="val 50000"/>
            </a:avLst>
          </a:prstGeom>
          <a:solidFill>
            <a:srgbClr val="1E7BE0"/>
          </a:solidFill>
          <a:ln/>
        </p:spPr>
        <p:txBody>
          <a:bodyPr/>
          <a:p/>
        </p:txBody>
      </p:sp>
      <p:sp>
        <p:nvSpPr>
          <p:cNvPr id="1925" name="" descr="{&quot;isTemplate&quot;:true,&quot;type&quot;:&quot;text&quot;}"/>
          <p:cNvSpPr txBox="1"/>
          <p:nvPr/>
        </p:nvSpPr>
        <p:spPr>
          <a:xfrm rot="0" flipH="0" flipV="0">
            <a:off x="857250" y="4419600"/>
            <a:ext cx="10668000" cy="276225"/>
          </a:xfrm>
          <a:prstGeom prst="rect"/>
        </p:spPr>
        <p:txBody>
          <a:bodyPr wrap="none" lIns="0" tIns="0" rIns="0" bIns="0"/>
          <a:p>
            <a:pPr>
              <a:lnSpc>
                <a:spcPct val="150000"/>
              </a:lnSpc>
            </a:pPr>
            <a:r>
              <a:rPr lang="zh-CN" sz="1200" b="1">
                <a:solidFill>
                  <a:srgbClr val="0E2340"/>
                </a:solidFill>
                <a:latin typeface="Microsoft YaHei"/>
                <a:ea typeface="Microsoft YaHei"/>
              </a:rPr>
              <a:t>规则二</a:t>
            </a:r>
            <a:endParaRPr/>
          </a:p>
        </p:txBody>
      </p:sp>
      <p:sp>
        <p:nvSpPr>
          <p:cNvPr id="1926" name="" descr="{&quot;isTemplate&quot;:true,&quot;type&quot;:&quot;text&quot;}"/>
          <p:cNvSpPr txBox="1"/>
          <p:nvPr/>
        </p:nvSpPr>
        <p:spPr>
          <a:xfrm rot="0" flipH="0" flipV="0">
            <a:off x="857250" y="4695825"/>
            <a:ext cx="10668000" cy="276225"/>
          </a:xfrm>
          <a:prstGeom prst="rect"/>
        </p:spPr>
        <p:txBody>
          <a:bodyPr wrap="none" lIns="0" tIns="0" rIns="0" bIns="0"/>
          <a:p>
            <a:pPr>
              <a:lnSpc>
                <a:spcPct val="160000"/>
              </a:lnSpc>
            </a:pPr>
            <a:r>
              <a:rPr lang="zh-CN" sz="1125">
                <a:solidFill>
                  <a:srgbClr val="333A45"/>
                </a:solidFill>
                <a:latin typeface="Microsoft YaHei"/>
                <a:ea typeface="Microsoft YaHei"/>
              </a:rPr>
              <a:t>前面知识点不稳定的学生加入复习题，并安排新题验证复习效果。</a:t>
            </a:r>
            <a:endParaRPr/>
          </a:p>
        </p:txBody>
      </p:sp>
      <p:sp>
        <p:nvSpPr>
          <p:cNvPr id="1927" name=""/>
          <p:cNvSpPr/>
          <p:nvPr/>
        </p:nvSpPr>
        <p:spPr>
          <a:xfrm rot="0" flipH="0" flipV="0">
            <a:off x="666750" y="5124450"/>
            <a:ext cx="76200" cy="76200"/>
          </a:xfrm>
          <a:prstGeom prst="roundRect">
            <a:avLst>
              <a:gd name="adj" fmla="val 50000"/>
            </a:avLst>
          </a:prstGeom>
          <a:solidFill>
            <a:srgbClr val="1E7BE0"/>
          </a:solidFill>
          <a:ln/>
        </p:spPr>
        <p:txBody>
          <a:bodyPr/>
          <a:p/>
        </p:txBody>
      </p:sp>
      <p:sp>
        <p:nvSpPr>
          <p:cNvPr id="1928" name="" descr="{&quot;isTemplate&quot;:true,&quot;type&quot;:&quot;text&quot;}"/>
          <p:cNvSpPr txBox="1"/>
          <p:nvPr/>
        </p:nvSpPr>
        <p:spPr>
          <a:xfrm rot="0" flipH="0" flipV="0">
            <a:off x="857250" y="5038725"/>
            <a:ext cx="10668000" cy="276225"/>
          </a:xfrm>
          <a:prstGeom prst="rect"/>
        </p:spPr>
        <p:txBody>
          <a:bodyPr wrap="none" lIns="0" tIns="0" rIns="0" bIns="0"/>
          <a:p>
            <a:pPr>
              <a:lnSpc>
                <a:spcPct val="150000"/>
              </a:lnSpc>
            </a:pPr>
            <a:r>
              <a:rPr lang="zh-CN" sz="1200" b="1">
                <a:solidFill>
                  <a:srgbClr val="0E2340"/>
                </a:solidFill>
                <a:latin typeface="Microsoft YaHei"/>
                <a:ea typeface="Microsoft YaHei"/>
              </a:rPr>
              <a:t>规则三</a:t>
            </a:r>
            <a:endParaRPr/>
          </a:p>
        </p:txBody>
      </p:sp>
      <p:sp>
        <p:nvSpPr>
          <p:cNvPr id="1929" name="" descr="{&quot;isTemplate&quot;:true,&quot;type&quot;:&quot;text&quot;}"/>
          <p:cNvSpPr txBox="1"/>
          <p:nvPr/>
        </p:nvSpPr>
        <p:spPr>
          <a:xfrm rot="0" flipH="0" flipV="0">
            <a:off x="857250" y="5314950"/>
            <a:ext cx="10668000" cy="276225"/>
          </a:xfrm>
          <a:prstGeom prst="rect"/>
        </p:spPr>
        <p:txBody>
          <a:bodyPr wrap="none" lIns="0" tIns="0" rIns="0" bIns="0"/>
          <a:p>
            <a:pPr>
              <a:lnSpc>
                <a:spcPct val="160000"/>
              </a:lnSpc>
            </a:pPr>
            <a:r>
              <a:rPr lang="zh-CN" sz="1125">
                <a:solidFill>
                  <a:srgbClr val="333A45"/>
                </a:solidFill>
                <a:latin typeface="Microsoft YaHei"/>
                <a:ea typeface="Microsoft YaHei"/>
              </a:rPr>
              <a:t>知识准备充分但迁移不足时增加变式或方法比较，避免简单增加题量。</a:t>
            </a:r>
            <a:endParaRPr/>
          </a:p>
        </p:txBody>
      </p:sp>
      <p:sp>
        <p:nvSpPr>
          <p:cNvPr id="1930" name=""/>
          <p:cNvSpPr/>
          <p:nvPr/>
        </p:nvSpPr>
        <p:spPr>
          <a:xfrm rot="0" flipH="0" flipV="0">
            <a:off x="666750" y="5743575"/>
            <a:ext cx="76200" cy="76200"/>
          </a:xfrm>
          <a:prstGeom prst="roundRect">
            <a:avLst>
              <a:gd name="adj" fmla="val 50000"/>
            </a:avLst>
          </a:prstGeom>
          <a:solidFill>
            <a:srgbClr val="1E7BE0"/>
          </a:solidFill>
          <a:ln/>
        </p:spPr>
        <p:txBody>
          <a:bodyPr/>
          <a:p/>
        </p:txBody>
      </p:sp>
      <p:sp>
        <p:nvSpPr>
          <p:cNvPr id="1931" name="" descr="{&quot;isTemplate&quot;:true,&quot;type&quot;:&quot;text&quot;}"/>
          <p:cNvSpPr txBox="1"/>
          <p:nvPr/>
        </p:nvSpPr>
        <p:spPr>
          <a:xfrm rot="0" flipH="0" flipV="0">
            <a:off x="857250" y="5657850"/>
            <a:ext cx="10668000" cy="276225"/>
          </a:xfrm>
          <a:prstGeom prst="rect"/>
        </p:spPr>
        <p:txBody>
          <a:bodyPr wrap="none" lIns="0" tIns="0" rIns="0" bIns="0"/>
          <a:p>
            <a:pPr>
              <a:lnSpc>
                <a:spcPct val="150000"/>
              </a:lnSpc>
            </a:pPr>
            <a:r>
              <a:rPr lang="zh-CN" sz="1200" b="1">
                <a:solidFill>
                  <a:srgbClr val="0E2340"/>
                </a:solidFill>
                <a:latin typeface="Microsoft YaHei"/>
                <a:ea typeface="Microsoft YaHei"/>
              </a:rPr>
              <a:t>规则四</a:t>
            </a:r>
            <a:endParaRPr/>
          </a:p>
        </p:txBody>
      </p:sp>
      <p:sp>
        <p:nvSpPr>
          <p:cNvPr id="1932" name="" descr="{&quot;isTemplate&quot;:true,&quot;type&quot;:&quot;text&quot;}"/>
          <p:cNvSpPr txBox="1"/>
          <p:nvPr/>
        </p:nvSpPr>
        <p:spPr>
          <a:xfrm rot="0" flipH="0" flipV="0">
            <a:off x="857250" y="5934075"/>
            <a:ext cx="10668000" cy="276225"/>
          </a:xfrm>
          <a:prstGeom prst="rect"/>
        </p:spPr>
        <p:txBody>
          <a:bodyPr wrap="none" lIns="0" tIns="0" rIns="0" bIns="0"/>
          <a:p>
            <a:pPr>
              <a:lnSpc>
                <a:spcPct val="160000"/>
              </a:lnSpc>
            </a:pPr>
            <a:r>
              <a:rPr lang="zh-CN" sz="1125">
                <a:solidFill>
                  <a:srgbClr val="333A45"/>
                </a:solidFill>
                <a:latin typeface="Microsoft YaHei"/>
                <a:ea typeface="Microsoft YaHei"/>
              </a:rPr>
              <a:t>历史记录不足时先安排适量诊断，不能仅凭缺少数据长期分配较低要求的作业。</a:t>
            </a:r>
            <a:endParaRPr/>
          </a:p>
        </p:txBody>
      </p:sp>
      <p:sp>
        <p:nvSpPr>
          <p:cNvPr id="1933"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934" name="" descr="{&quot;isTemplate&quot;:true,&quot;type&quot;:&quot;text&quot;}"/>
          <p:cNvSpPr txBox="1"/>
          <p:nvPr/>
        </p:nvSpPr>
        <p:spPr>
          <a:xfrm rot="0" flipH="0" flipV="0">
            <a:off x="666750" y="6381750"/>
            <a:ext cx="1619250" cy="209550"/>
          </a:xfrm>
          <a:prstGeom prst="rect"/>
        </p:spPr>
        <p:txBody>
          <a:bodyPr wrap="none" lIns="0" tIns="0" rIns="0" bIns="0"/>
          <a:p>
            <a:pPr>
              <a:lnSpc>
                <a:spcPct val="140000"/>
              </a:lnSpc>
            </a:pPr>
            <a:r>
              <a:rPr lang="zh-CN" sz="975">
                <a:solidFill>
                  <a:srgbClr val="7A8699"/>
                </a:solidFill>
                <a:latin typeface="Microsoft YaHei"/>
                <a:ea typeface="Microsoft YaHei"/>
              </a:rPr>
              <a:t>依据：教师端设计思路</a:t>
            </a:r>
            <a:r>
              <a:rPr lang="en-US" sz="975">
                <a:solidFill>
                  <a:srgbClr val="7A8699"/>
                </a:solidFill>
                <a:latin typeface="Microsoft YaHei"/>
                <a:ea typeface="Microsoft YaHei"/>
              </a:rPr>
              <a:t>.md §4</a:t>
            </a:r>
            <a:endParaRPr/>
          </a:p>
        </p:txBody>
      </p:sp>
      <p:sp>
        <p:nvSpPr>
          <p:cNvPr id="1935"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52 / 124 </a:t>
            </a:r>
            <a:endParaRPr/>
          </a:p>
        </p:txBody>
      </p:sp>
    </p:spTree>
  </p:cSld>
</p:sld>
</file>

<file path=ppt/slides/slide53.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936"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5 / 教师端&lt;/Text&gt;&lt;Text style={{ fontSize: 32, color: '#0E2340', fontWeight: 700, lineHeight: 1.3 }}&gt;统一任务预算：防止任务叠加&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row', gap: 28, flex: 1 }}&gt;&lt;Box style={{ width: 700, justifyContent: 'center' }}&gt;&lt;svg width={700} height={280} viewBox='0 0 700 280'&gt;&lt;text x='0' y='34' font-size='16' fill='#0E2340' text-anchor='start' font-weight='600'&gt;学校作业&lt;/text&gt;&lt;rect x='230' y='12' width='180' height='36' rx='4' fill='#1E7BE0'/&gt;&lt;rect x='230' y='12' width='400' height='36' rx='4' fill='#E3E8EF' opacity='0.25'/&gt;&lt;rect x='230' y='12' width='180' height='36' rx='4' fill='#1E7BE0'/&gt;&lt;text x='646' y='34' font-size='17' fill='#0E2340' text-anchor='start' font-weight='700'&gt;45%&lt;/text&gt;&lt;text x='0' y='104' font-size='16' fill='#0E2340' text-anchor='start' font-weight='600'&gt;个人助教补练&lt;/text&gt;&lt;rect x='230' y='82' width='100' height='36' rx='4' fill='#1E7BE0'/&gt;&lt;rect x='230' y='82' width='400' height='36' rx='4' fill='#E3E8EF' opacity='0.25'/&gt;&lt;rect x='230' y='82' width='100' height='36' rx='4' fill='#1E7BE0'/&gt;&lt;text x='646' y='104' font-size='17' fill='#0E2340' text-anchor='start' font-weight='700'&gt;25%&lt;/text&gt;&lt;text x='0' y='174' font-size='16' fill='#0E2340' text-anchor='start' font-weight='600'&gt;套路训练与复习&lt;/text&gt;&lt;rect x='230' y='152' width='88' height='36' rx='4' fill='#1E7BE0'/&gt;&lt;rect x='230' y='152' width='400' height='36' rx='4' fill='#E3E8EF' opacity='0.25'/&gt;&lt;rect x='230' y='152' width='88' height='36' rx='4' fill='#1E7BE0'/&gt;&lt;text x='646' y='174' font-size='17' fill='#0E2340' text-anchor='start' font-weight='700'&gt;22%&lt;/text&gt;&lt;text x='0' y='244' font-size='16' fill='#0E2340' text-anchor='start' font-weight='600'&gt;诊断任务&lt;/text&gt;&lt;rect x='230' y='222' width='32' height='36' rx='4' fill='#1E7BE0'/&gt;&lt;rect x='230' y='222' width='400' height='36' rx='4' fill='#E3E8EF' opacity='0.25'/&gt;&lt;rect x='230' y='222' width='32' height='36' rx='4' fill='#1E7BE0'/&gt;&lt;text x='646' y='244' font-size='17' fill='#0E2340' text-anchor='start' font-weight='700'&gt;8%&lt;/text&gt;&lt;/svg&gt;&lt;/Box&gt;&lt;Box style={{ flex: 1, flexDirection: 'column', gap: 11, justifyContent: 'center' }}&gt;&lt;Text style={{ fontSize: 21, color: '#0E2340', fontWeight: 700, lineHeight: 1.4 }}&gt;预算机制&lt;/Text&gt;&lt;Box style={{ flexDirection: 'column', gap: 10 }}&gt;&lt;Box style={{ flexDirection: 'row', gap: 12, alignItems: 'flex-start' }}&gt;&lt;Box style={{ width: 8, height: 8, borderRadius: 4, background: '#1E7BE0', marginTop: 9 }} /&gt;&lt;Box style={{ flex: 1 }}&gt;&lt;Text style={{ fontSize: 17, color: '#333A45', fontWeight: 400, lineHeight: 1.6 }}&gt;学校作业、个人助教补练、套路复习与诊断共用一份任务清单和时间预算。&lt;/Text&gt;&lt;/Box&gt;&lt;/Box&gt;&lt;Box style={{ flexDirection: 'row', gap: 12, alignItems: 'flex-start' }}&gt;&lt;Box style={{ width: 8, height: 8, borderRadius: 4, background: '#1E7BE0', marginTop: 9 }} /&gt;&lt;Box style={{ flex: 1 }}&gt;&lt;Text style={{ fontSize: 17, color: '#333A45', fontWeight: 400, lineHeight: 1.6 }}&gt;教师可查看重复任务、预计总量与实际用时。&lt;/Text&gt;&lt;/Box&gt;&lt;/Box&gt;&lt;Box style={{ flexDirection: 'row', gap: 12, alignItems: 'flex-start' }}&gt;&lt;Box style={{ width: 8, height: 8, borderRadius: 4, background: '#1E7BE0', marginTop: 9 }} /&gt;&lt;Box style={{ flex: 1 }}&gt;&lt;Text style={{ fontSize: 17, color: '#333A45', fontWeight: 400, lineHeight: 1.6 }}&gt;新增复习或补练时同步安排替代或延期，保留共同必做任务的调整权。&lt;/Text&gt;&lt;/Box&gt;&lt;/Box&gt;&lt;Box style={{ flexDirection: 'row', gap: 12, alignItems: 'flex-start' }}&gt;&lt;Box style={{ width: 8, height: 8, borderRadius: 4, background: '#1E7BE0', marginTop: 9 }} /&gt;&lt;Box style={{ flex: 1 }}&gt;&lt;Text style={{ fontSize: 17, color: '#333A45', fontWeight: 400, lineHeight: 1.6 }}&gt;分组随表现变化而调整，不将学生固定成某一能力等级。&lt;/Text&gt;&lt;/Box&gt;&lt;/Box&gt;&lt;Box style={{ flexDirection: 'row', gap: 12, alignItems: 'flex-start' }}&gt;&lt;Box style={{ width: 8, height: 8, borderRadius: 4, background: '#1E7BE0', marginTop: 9 }} /&gt;&lt;Box style={{ flex: 1 }}&gt;&lt;Text style={{ fontSize: 17, color: '#333A45', fontWeight: 400, lineHeight: 1.6 }}&gt;比较完成情况时考虑不同学生任务内容与难度的差异。&lt;/Text&gt;&lt;/Box&gt;&lt;/Box&gt;&lt;/Box&gt;&lt;/Box&gt;&lt;/Box&gt;&lt;/Box&gt;&lt;Box style={{ height: 40, flexDirection: 'row', justifyContent: 'space-between', alignItems: 'center', borderTop: '1px solid #E3E8EF', marginTop: 8 }}&gt;&lt;Text style={{ fontSize: 13, color: '#7A8699', fontWeight: 400, lineHeight: 1.4 }}&gt;依据：教师端设计思路.md §4；试卷与生涯维度设计思路.md §9.5&lt;/Text&gt;&lt;Text style={{ fontSize: 14, color: '#7A8699', fontWeight: 400, lineHeight: 1.4 }}&gt; 53 / 124 &lt;/Text&gt;&lt;/Box&gt;&lt;/Slide&gt;"/>
        <p:cNvGrpSpPr/>
        <p:nvPr/>
      </p:nvGrpSpPr>
      <p:grpSpPr>
        <a:xfrm>
          <a:off x="0" y="0"/>
          <a:ext cx="0" cy="0"/>
          <a:chOff x="0" y="0"/>
          <a:chExt cx="0" cy="0"/>
        </a:xfrm>
      </p:grpSpPr>
      <p:sp>
        <p:nvSpPr>
          <p:cNvPr id="1937" name=""/>
          <p:cNvSpPr/>
          <p:nvPr/>
        </p:nvSpPr>
        <p:spPr>
          <a:xfrm rot="0" flipH="0" flipV="0">
            <a:off x="0" y="0"/>
            <a:ext cx="12192000" cy="6858000"/>
          </a:xfrm>
          <a:prstGeom prst="rect">
            <a:avLst/>
          </a:prstGeom>
          <a:solidFill>
            <a:srgbClr val="FFFFFF"/>
          </a:solidFill>
          <a:ln/>
        </p:spPr>
        <p:txBody>
          <a:bodyPr/>
          <a:p/>
        </p:txBody>
      </p:sp>
      <p:sp>
        <p:nvSpPr>
          <p:cNvPr id="1938" name="" descr="{&quot;isTemplate&quot;:true,&quot;type&quot;:&quot;text&quot;}"/>
          <p:cNvSpPr txBox="1"/>
          <p:nvPr/>
        </p:nvSpPr>
        <p:spPr>
          <a:xfrm rot="0" flipH="0" flipV="0">
            <a:off x="666750" y="381000"/>
            <a:ext cx="39624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05 / </a:t>
            </a:r>
            <a:r>
              <a:rPr lang="zh-CN" sz="1050" spc="75">
                <a:solidFill>
                  <a:srgbClr val="7A8699"/>
                </a:solidFill>
                <a:latin typeface="Microsoft YaHei"/>
                <a:ea typeface="Microsoft YaHei"/>
              </a:rPr>
              <a:t>教师端</a:t>
            </a:r>
            <a:endParaRPr/>
          </a:p>
        </p:txBody>
      </p:sp>
      <p:sp>
        <p:nvSpPr>
          <p:cNvPr id="1939" name="" descr="{&quot;isTemplate&quot;:true,&quot;type&quot;:&quot;text&quot;}"/>
          <p:cNvSpPr txBox="1"/>
          <p:nvPr/>
        </p:nvSpPr>
        <p:spPr>
          <a:xfrm rot="0" flipH="0" flipV="0">
            <a:off x="666750" y="666750"/>
            <a:ext cx="3962400" cy="476250"/>
          </a:xfrm>
          <a:prstGeom prst="rect"/>
        </p:spPr>
        <p:txBody>
          <a:bodyPr wrap="none" lIns="0" tIns="0" rIns="0" bIns="0"/>
          <a:p>
            <a:pPr>
              <a:lnSpc>
                <a:spcPct val="130000"/>
              </a:lnSpc>
            </a:pPr>
            <a:r>
              <a:rPr lang="zh-CN" sz="2400" b="1">
                <a:solidFill>
                  <a:srgbClr val="0E2340"/>
                </a:solidFill>
                <a:latin typeface="Microsoft YaHei"/>
                <a:ea typeface="Microsoft YaHei"/>
              </a:rPr>
              <a:t>统一任务预算：防止任务叠加</a:t>
            </a:r>
            <a:endParaRPr/>
          </a:p>
        </p:txBody>
      </p:sp>
      <p:sp>
        <p:nvSpPr>
          <p:cNvPr id="1940"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941"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1942" name=""/>
          <p:cNvPicPr>
            <a:picLocks noChangeAspect="1"/>
          </p:cNvPicPr>
          <p:nvPr/>
        </p:nvPicPr>
        <p:blipFill>
          <a:blip>
            <a:extLst>
              <a:ext uri="{96DAC541-7B7A-43D3-8B79-37D633B846F1}">
                <asvg:svgBlip r:embed="rId1"/>
              </a:ext>
            </a:extLst>
          </a:blip>
          <a:stretch>
            <a:fillRect/>
          </a:stretch>
        </p:blipFill>
        <p:spPr>
          <a:xfrm rot="0" flipH="0" flipV="0">
            <a:off x="666750" y="2381250"/>
            <a:ext cx="6667500" cy="2667000"/>
          </a:xfrm>
          <a:prstGeom prst="rect">
            <a:avLst/>
          </a:prstGeom>
          <a:ln/>
        </p:spPr>
      </p:pic>
      <p:sp>
        <p:nvSpPr>
          <p:cNvPr id="1943" name="" descr="{&quot;isTemplate&quot;:true,&quot;type&quot;:&quot;text&quot;}"/>
          <p:cNvSpPr txBox="1"/>
          <p:nvPr/>
        </p:nvSpPr>
        <p:spPr>
          <a:xfrm rot="0" flipH="0" flipV="0">
            <a:off x="7600950" y="1885950"/>
            <a:ext cx="3924300" cy="342900"/>
          </a:xfrm>
          <a:prstGeom prst="rect"/>
        </p:spPr>
        <p:txBody>
          <a:bodyPr wrap="none" lIns="0" tIns="0" rIns="0" bIns="0"/>
          <a:p>
            <a:pPr>
              <a:lnSpc>
                <a:spcPct val="140000"/>
              </a:lnSpc>
            </a:pPr>
            <a:r>
              <a:rPr lang="zh-CN" sz="1575" b="1">
                <a:solidFill>
                  <a:srgbClr val="0E2340"/>
                </a:solidFill>
                <a:latin typeface="Microsoft YaHei"/>
                <a:ea typeface="Microsoft YaHei"/>
              </a:rPr>
              <a:t>预算机制</a:t>
            </a:r>
            <a:endParaRPr/>
          </a:p>
        </p:txBody>
      </p:sp>
      <p:sp>
        <p:nvSpPr>
          <p:cNvPr id="1944" name=""/>
          <p:cNvSpPr/>
          <p:nvPr/>
        </p:nvSpPr>
        <p:spPr>
          <a:xfrm rot="0" flipH="0" flipV="0">
            <a:off x="7600950" y="2419350"/>
            <a:ext cx="76200" cy="76200"/>
          </a:xfrm>
          <a:prstGeom prst="roundRect">
            <a:avLst>
              <a:gd name="adj" fmla="val 50000"/>
            </a:avLst>
          </a:prstGeom>
          <a:solidFill>
            <a:srgbClr val="1E7BE0"/>
          </a:solidFill>
          <a:ln/>
        </p:spPr>
        <p:txBody>
          <a:bodyPr/>
          <a:p/>
        </p:txBody>
      </p:sp>
      <p:sp>
        <p:nvSpPr>
          <p:cNvPr id="1945" name="" descr="{&quot;isTemplate&quot;:true,&quot;type&quot;:&quot;text&quot;}"/>
          <p:cNvSpPr txBox="1"/>
          <p:nvPr/>
        </p:nvSpPr>
        <p:spPr>
          <a:xfrm rot="0" flipH="0" flipV="0">
            <a:off x="7791450" y="23336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学校作业、个人助教补练、套路复习与诊断共用一份任务清单和时间预算。</a:t>
            </a:r>
            <a:endParaRPr/>
          </a:p>
        </p:txBody>
      </p:sp>
      <p:sp>
        <p:nvSpPr>
          <p:cNvPr id="1946" name=""/>
          <p:cNvSpPr/>
          <p:nvPr/>
        </p:nvSpPr>
        <p:spPr>
          <a:xfrm rot="0" flipH="0" flipV="0">
            <a:off x="7600950" y="3143250"/>
            <a:ext cx="76200" cy="76200"/>
          </a:xfrm>
          <a:prstGeom prst="roundRect">
            <a:avLst>
              <a:gd name="adj" fmla="val 50000"/>
            </a:avLst>
          </a:prstGeom>
          <a:solidFill>
            <a:srgbClr val="1E7BE0"/>
          </a:solidFill>
          <a:ln/>
        </p:spPr>
        <p:txBody>
          <a:bodyPr/>
          <a:p/>
        </p:txBody>
      </p:sp>
      <p:sp>
        <p:nvSpPr>
          <p:cNvPr id="1947" name="" descr="{&quot;isTemplate&quot;:true,&quot;type&quot;:&quot;text&quot;}"/>
          <p:cNvSpPr txBox="1"/>
          <p:nvPr/>
        </p:nvSpPr>
        <p:spPr>
          <a:xfrm rot="0" flipH="0" flipV="0">
            <a:off x="7791450" y="3057525"/>
            <a:ext cx="3733800" cy="314325"/>
          </a:xfrm>
          <a:prstGeom prst="rect"/>
        </p:spPr>
        <p:txBody>
          <a:bodyPr wrap="none" lIns="0" tIns="0" rIns="0" bIns="0"/>
          <a:p>
            <a:pPr>
              <a:lnSpc>
                <a:spcPct val="160000"/>
              </a:lnSpc>
            </a:pPr>
            <a:r>
              <a:rPr lang="zh-CN" sz="1275">
                <a:solidFill>
                  <a:srgbClr val="333A45"/>
                </a:solidFill>
                <a:latin typeface="Microsoft YaHei"/>
                <a:ea typeface="Microsoft YaHei"/>
              </a:rPr>
              <a:t>教师可查看重复任务、预计总量与实际用时。</a:t>
            </a:r>
            <a:endParaRPr/>
          </a:p>
        </p:txBody>
      </p:sp>
      <p:sp>
        <p:nvSpPr>
          <p:cNvPr id="1948" name=""/>
          <p:cNvSpPr/>
          <p:nvPr/>
        </p:nvSpPr>
        <p:spPr>
          <a:xfrm rot="0" flipH="0" flipV="0">
            <a:off x="7600950" y="3552825"/>
            <a:ext cx="76200" cy="76200"/>
          </a:xfrm>
          <a:prstGeom prst="roundRect">
            <a:avLst>
              <a:gd name="adj" fmla="val 50000"/>
            </a:avLst>
          </a:prstGeom>
          <a:solidFill>
            <a:srgbClr val="1E7BE0"/>
          </a:solidFill>
          <a:ln/>
        </p:spPr>
        <p:txBody>
          <a:bodyPr/>
          <a:p/>
        </p:txBody>
      </p:sp>
      <p:sp>
        <p:nvSpPr>
          <p:cNvPr id="1949" name="" descr="{&quot;isTemplate&quot;:true,&quot;type&quot;:&quot;text&quot;}"/>
          <p:cNvSpPr txBox="1"/>
          <p:nvPr/>
        </p:nvSpPr>
        <p:spPr>
          <a:xfrm rot="0" flipH="0" flipV="0">
            <a:off x="7791450" y="3467100"/>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新增复习或补练时同步安排替代或延期，保留共同必做任务的调整权。</a:t>
            </a:r>
            <a:endParaRPr/>
          </a:p>
        </p:txBody>
      </p:sp>
      <p:sp>
        <p:nvSpPr>
          <p:cNvPr id="1950" name=""/>
          <p:cNvSpPr/>
          <p:nvPr/>
        </p:nvSpPr>
        <p:spPr>
          <a:xfrm rot="0" flipH="0" flipV="0">
            <a:off x="7600950" y="4276725"/>
            <a:ext cx="76200" cy="76200"/>
          </a:xfrm>
          <a:prstGeom prst="roundRect">
            <a:avLst>
              <a:gd name="adj" fmla="val 50000"/>
            </a:avLst>
          </a:prstGeom>
          <a:solidFill>
            <a:srgbClr val="1E7BE0"/>
          </a:solidFill>
          <a:ln/>
        </p:spPr>
        <p:txBody>
          <a:bodyPr/>
          <a:p/>
        </p:txBody>
      </p:sp>
      <p:sp>
        <p:nvSpPr>
          <p:cNvPr id="1951" name="" descr="{&quot;isTemplate&quot;:true,&quot;type&quot;:&quot;text&quot;}"/>
          <p:cNvSpPr txBox="1"/>
          <p:nvPr/>
        </p:nvSpPr>
        <p:spPr>
          <a:xfrm rot="0" flipH="0" flipV="0">
            <a:off x="7791450" y="4191000"/>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分组随表现变化而调整，不将学生固定成某一能力等级。</a:t>
            </a:r>
            <a:endParaRPr/>
          </a:p>
        </p:txBody>
      </p:sp>
      <p:sp>
        <p:nvSpPr>
          <p:cNvPr id="1952" name=""/>
          <p:cNvSpPr/>
          <p:nvPr/>
        </p:nvSpPr>
        <p:spPr>
          <a:xfrm rot="0" flipH="0" flipV="0">
            <a:off x="7600950" y="5000625"/>
            <a:ext cx="76200" cy="76200"/>
          </a:xfrm>
          <a:prstGeom prst="roundRect">
            <a:avLst>
              <a:gd name="adj" fmla="val 50000"/>
            </a:avLst>
          </a:prstGeom>
          <a:solidFill>
            <a:srgbClr val="1E7BE0"/>
          </a:solidFill>
          <a:ln/>
        </p:spPr>
        <p:txBody>
          <a:bodyPr/>
          <a:p/>
        </p:txBody>
      </p:sp>
      <p:sp>
        <p:nvSpPr>
          <p:cNvPr id="1953" name="" descr="{&quot;isTemplate&quot;:true,&quot;type&quot;:&quot;text&quot;}"/>
          <p:cNvSpPr txBox="1"/>
          <p:nvPr/>
        </p:nvSpPr>
        <p:spPr>
          <a:xfrm rot="0" flipH="0" flipV="0">
            <a:off x="7791450" y="4914900"/>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比较完成情况时考虑不同学生任务内容与难度的差异。</a:t>
            </a:r>
            <a:endParaRPr/>
          </a:p>
        </p:txBody>
      </p:sp>
      <p:sp>
        <p:nvSpPr>
          <p:cNvPr id="1954"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955" name="" descr="{&quot;isTemplate&quot;:true,&quot;type&quot;:&quot;text&quot;}"/>
          <p:cNvSpPr txBox="1"/>
          <p:nvPr/>
        </p:nvSpPr>
        <p:spPr>
          <a:xfrm rot="0" flipH="0" flipV="0">
            <a:off x="666750" y="6381750"/>
            <a:ext cx="3590925" cy="209550"/>
          </a:xfrm>
          <a:prstGeom prst="rect"/>
        </p:spPr>
        <p:txBody>
          <a:bodyPr wrap="none" lIns="0" tIns="0" rIns="0" bIns="0"/>
          <a:p>
            <a:pPr>
              <a:lnSpc>
                <a:spcPct val="140000"/>
              </a:lnSpc>
            </a:pPr>
            <a:r>
              <a:rPr lang="zh-CN" sz="975">
                <a:solidFill>
                  <a:srgbClr val="7A8699"/>
                </a:solidFill>
                <a:latin typeface="Microsoft YaHei"/>
                <a:ea typeface="Microsoft YaHei"/>
              </a:rPr>
              <a:t>依据：教师端设计思路</a:t>
            </a:r>
            <a:r>
              <a:rPr lang="en-US" sz="975">
                <a:solidFill>
                  <a:srgbClr val="7A8699"/>
                </a:solidFill>
                <a:latin typeface="Microsoft YaHei"/>
                <a:ea typeface="Microsoft YaHei"/>
              </a:rPr>
              <a:t>.md §4</a:t>
            </a:r>
            <a:r>
              <a:rPr lang="zh-CN" sz="975">
                <a:solidFill>
                  <a:srgbClr val="7A8699"/>
                </a:solidFill>
                <a:latin typeface="Microsoft YaHei"/>
                <a:ea typeface="Microsoft YaHei"/>
              </a:rPr>
              <a:t>；试卷与生涯维度设计思路</a:t>
            </a:r>
            <a:r>
              <a:rPr lang="en-US" sz="975">
                <a:solidFill>
                  <a:srgbClr val="7A8699"/>
                </a:solidFill>
                <a:latin typeface="Microsoft YaHei"/>
                <a:ea typeface="Microsoft YaHei"/>
              </a:rPr>
              <a:t>.md §9.5</a:t>
            </a:r>
            <a:endParaRPr/>
          </a:p>
        </p:txBody>
      </p:sp>
      <p:sp>
        <p:nvSpPr>
          <p:cNvPr id="1956"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53 / 124 </a:t>
            </a:r>
            <a:endParaRPr/>
          </a:p>
        </p:txBody>
      </p:sp>
    </p:spTree>
  </p:cSld>
</p:sld>
</file>

<file path=ppt/slides/slide54.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957"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5 / 教师端&lt;/Text&gt;&lt;Text style={{ fontSize: 32, color: '#0E2340', fontWeight: 700, lineHeight: 1.3 }}&gt;AI 批改：五状态漏斗与薄弱环节三级分层&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row', gap: 28, flex: 1 }}&gt;&lt;Box style={{ width: 620, justifyContent: 'center' }}&gt;&lt;svg width={620} height={400} viewBox='0 0 620 400'&gt;&lt;rect x='0' y='0' width='620' height='400' rx='8' fill='#FFFFFF' stroke='#E3E8EF' stroke-width='1.5'/&gt;&lt;rect x='0' y='0' width='620' height='40' rx='8' fill='#0E2340'/&gt;&lt;rect x='0' y='26' width='620' height='14' fill='#0E2340'/&gt;&lt;text x='16' y='26' font-size='15' fill='#FFFFFF' text-anchor='start' font-weight='600'&gt;StudyAgent&lt;/text&gt;&lt;rect x='18' y='58' width='584' height='26' rx='4' fill='#F5F7FA'/&gt;&lt;text x='30' y='76' font-size='14' fill='#0E2340' text-anchor='start' font-weight='600'&gt;AI 批改报告 · 汇总到知识点 / 步骤 / 套路&lt;/text&gt;&lt;rect x='18' y='92' width='584' height='52' rx='6' fill='#FFFFFF' stroke='#7A8699' stroke-width='1' stroke-dasharray='4 4'/&gt;&lt;text x='30' y='124' font-size='14' fill='#333A45' text-anchor='start' font-weight='400'&gt;已布置 → 已提交 → 可识别 → 已复核 → 独立完成&lt;/text&gt;&lt;rect x='18' y='152' width='584' height='52' rx='6' fill='#FFFFFF' stroke='#7A8699' stroke-width='1' stroke-dasharray='4 4'/&gt;&lt;text x='30' y='184' font-size='14' fill='#333A45' text-anchor='start' font-weight='400'&gt;全班共性困难 / 小组问题 / 个别问题&lt;/text&gt;&lt;rect x='18' y='212' width='584' height='28' rx='14' fill='#EAF3FD'/&gt;&lt;text x='30' y='231' font-size='14' fill='#1E7BE0' text-anchor='start' font-weight='600'&gt;从统计跳转到具体作答及评分依据；可更正批改或标签&lt;/text&gt;&lt;rect x='18' y='248' width='584' height='34' rx='17' fill='#1E7BE0'/&gt;&lt;text x='310.0' y='271' font-size='15' fill='#FFFFFF' text-anchor='middle' font-weight='600'&gt;全班重讲 / 小组补充 / 个别辅导 / 短诊断&lt;/text&gt;&lt;text x='608' y='390' font-size='12' fill='#7A8699' text-anchor='end' font-weight='400'&gt;示意占位 · S18&lt;/text&gt;&lt;/svg&gt;&lt;/Box&gt;&lt;Box style={{ flex: 1, flexDirection: 'column', gap: 10, justifyContent: 'center' }}&gt;&lt;Text style={{ fontSize: 21, color: '#0E2340', fontWeight: 700, lineHeight: 1.4 }}&gt;界面要点&lt;/Text&gt;&lt;Box style={{ flexDirection: 'column', gap: 9 }}&gt;&lt;Box style={{ flexDirection: 'row', gap: 12, alignItems: 'flex-start' }}&gt;&lt;Box style={{ width: 8, height: 8, borderRadius: 4, background: '#1E7BE0', marginTop: 9 }} /&gt;&lt;Box style={{ flex: 1 }}&gt;&lt;Text style={{ fontSize: 16, color: '#333A45', fontWeight: 400, lineHeight: 1.6 }}&gt;报告须区分五种样本状态：已布置、已提交、可识别、已复核、独立完成。&lt;/Text&gt;&lt;/Box&gt;&lt;/Box&gt;&lt;Box style={{ flexDirection: 'row', gap: 12, alignItems: 'flex-start' }}&gt;&lt;Box style={{ width: 8, height: 8, borderRadius: 4, background: '#1E7BE0', marginTop: 9 }} /&gt;&lt;Box style={{ flex: 1 }}&gt;&lt;Text style={{ fontSize: 16, color: '#333A45', fontWeight: 400, lineHeight: 1.6 }}&gt;两条统计红线：没有被考查不能统计为不会；未提交也不能直接算作知识错误。&lt;/Text&gt;&lt;/Box&gt;&lt;/Box&gt;&lt;Box style={{ flexDirection: 'row', gap: 12, alignItems: 'flex-start' }}&gt;&lt;Box style={{ width: 8, height: 8, borderRadius: 4, background: '#1E7BE0', marginTop: 9 }} /&gt;&lt;Box style={{ flex: 1 }}&gt;&lt;Text style={{ fontSize: 16, color: '#333A45', fontWeight: 400, lineHeight: 1.6 }}&gt;是否重新讲授，结合问题涉及范围、关键程度、批改可信度、已有补救结果。&lt;/Text&gt;&lt;/Box&gt;&lt;/Box&gt;&lt;Box style={{ flexDirection: 'row', gap: 12, alignItems: 'flex-start' }}&gt;&lt;Box style={{ width: 8, height: 8, borderRadius: 4, background: '#1E7BE0', marginTop: 9 }} /&gt;&lt;Box style={{ flex: 1 }}&gt;&lt;Text style={{ fontSize: 16, color: '#333A45', fontWeight: 400, lineHeight: 1.6 }}&gt;四种建议动作：全班重讲 / 针对小组补充 / 个别辅导 / 再做一次短诊断，门槛与安排由教师确认。&lt;/Text&gt;&lt;/Box&gt;&lt;/Box&gt;&lt;/Box&gt;&lt;Box style={{ marginTop: 6, padding: '9px 14px', background: '#F5F7FA', borderRadius: 6, alignSelf: 'flex-start' }}&gt;&lt;Text style={{ fontSize: 14, color: '#7A8699', fontWeight: 600, lineHeight: 1.4 }}&gt;示意占位 S18 · 待替换为实际截图&lt;/Text&gt;&lt;/Box&gt;&lt;/Box&gt;&lt;/Box&gt;&lt;/Box&gt;&lt;Box style={{ height: 40, flexDirection: 'row', justifyContent: 'space-between', alignItems: 'center', borderTop: '1px solid #E3E8EF', marginTop: 8 }}&gt;&lt;Text style={{ fontSize: 13, color: '#7A8699', fontWeight: 400, lineHeight: 1.4 }}&gt;依据：教师端设计思路.md §5&lt;/Text&gt;&lt;Text style={{ fontSize: 14, color: '#7A8699', fontWeight: 400, lineHeight: 1.4 }}&gt; 54 / 124 &lt;/Text&gt;&lt;/Box&gt;&lt;/Slide&gt;"/>
        <p:cNvGrpSpPr/>
        <p:nvPr/>
      </p:nvGrpSpPr>
      <p:grpSpPr>
        <a:xfrm>
          <a:off x="0" y="0"/>
          <a:ext cx="0" cy="0"/>
          <a:chOff x="0" y="0"/>
          <a:chExt cx="0" cy="0"/>
        </a:xfrm>
      </p:grpSpPr>
      <p:sp>
        <p:nvSpPr>
          <p:cNvPr id="1958" name=""/>
          <p:cNvSpPr/>
          <p:nvPr/>
        </p:nvSpPr>
        <p:spPr>
          <a:xfrm rot="0" flipH="0" flipV="0">
            <a:off x="0" y="0"/>
            <a:ext cx="12192000" cy="6858000"/>
          </a:xfrm>
          <a:prstGeom prst="rect">
            <a:avLst/>
          </a:prstGeom>
          <a:solidFill>
            <a:srgbClr val="FFFFFF"/>
          </a:solidFill>
          <a:ln/>
        </p:spPr>
        <p:txBody>
          <a:bodyPr/>
          <a:p/>
        </p:txBody>
      </p:sp>
      <p:sp>
        <p:nvSpPr>
          <p:cNvPr id="1959" name="" descr="{&quot;isTemplate&quot;:true,&quot;type&quot;:&quot;text&quot;}"/>
          <p:cNvSpPr txBox="1"/>
          <p:nvPr/>
        </p:nvSpPr>
        <p:spPr>
          <a:xfrm rot="0" flipH="0" flipV="0">
            <a:off x="666750" y="381000"/>
            <a:ext cx="5572125"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05 / </a:t>
            </a:r>
            <a:r>
              <a:rPr lang="zh-CN" sz="1050" spc="75">
                <a:solidFill>
                  <a:srgbClr val="7A8699"/>
                </a:solidFill>
                <a:latin typeface="Microsoft YaHei"/>
                <a:ea typeface="Microsoft YaHei"/>
              </a:rPr>
              <a:t>教师端</a:t>
            </a:r>
            <a:endParaRPr/>
          </a:p>
        </p:txBody>
      </p:sp>
      <p:sp>
        <p:nvSpPr>
          <p:cNvPr id="1960" name="" descr="{&quot;isTemplate&quot;:true,&quot;type&quot;:&quot;text&quot;}"/>
          <p:cNvSpPr txBox="1"/>
          <p:nvPr/>
        </p:nvSpPr>
        <p:spPr>
          <a:xfrm rot="0" flipH="0" flipV="0">
            <a:off x="666750" y="666750"/>
            <a:ext cx="5572125" cy="476250"/>
          </a:xfrm>
          <a:prstGeom prst="rect"/>
        </p:spPr>
        <p:txBody>
          <a:bodyPr wrap="none" lIns="0" tIns="0" rIns="0" bIns="0"/>
          <a:p>
            <a:pPr>
              <a:lnSpc>
                <a:spcPct val="130000"/>
              </a:lnSpc>
            </a:pPr>
            <a:r>
              <a:rPr lang="en-US" sz="2400" b="1">
                <a:solidFill>
                  <a:srgbClr val="0E2340"/>
                </a:solidFill>
                <a:latin typeface="Microsoft YaHei"/>
                <a:ea typeface="Microsoft YaHei"/>
              </a:rPr>
              <a:t xml:space="preserve">AI </a:t>
            </a:r>
            <a:r>
              <a:rPr lang="zh-CN" sz="2400" b="1">
                <a:solidFill>
                  <a:srgbClr val="0E2340"/>
                </a:solidFill>
                <a:latin typeface="Microsoft YaHei"/>
                <a:ea typeface="Microsoft YaHei"/>
              </a:rPr>
              <a:t>批改：五状态漏斗与薄弱环节三级分层</a:t>
            </a:r>
            <a:endParaRPr/>
          </a:p>
        </p:txBody>
      </p:sp>
      <p:sp>
        <p:nvSpPr>
          <p:cNvPr id="1961"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962"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1963" name=""/>
          <p:cNvPicPr>
            <a:picLocks noChangeAspect="1"/>
          </p:cNvPicPr>
          <p:nvPr/>
        </p:nvPicPr>
        <p:blipFill>
          <a:blip>
            <a:extLst>
              <a:ext uri="{96DAC541-7B7A-43D3-8B79-37D633B846F1}">
                <asvg:svgBlip r:embed="rId1"/>
              </a:ext>
            </a:extLst>
          </a:blip>
          <a:stretch>
            <a:fillRect/>
          </a:stretch>
        </p:blipFill>
        <p:spPr>
          <a:xfrm rot="0" flipH="0" flipV="0">
            <a:off x="666750" y="1809750"/>
            <a:ext cx="5905500" cy="3810000"/>
          </a:xfrm>
          <a:prstGeom prst="rect">
            <a:avLst/>
          </a:prstGeom>
          <a:ln/>
        </p:spPr>
      </p:pic>
      <p:sp>
        <p:nvSpPr>
          <p:cNvPr id="1964" name="" descr="{&quot;isTemplate&quot;:true,&quot;type&quot;:&quot;text&quot;}"/>
          <p:cNvSpPr txBox="1"/>
          <p:nvPr/>
        </p:nvSpPr>
        <p:spPr>
          <a:xfrm rot="0" flipH="0" flipV="0">
            <a:off x="6838950" y="1914525"/>
            <a:ext cx="4686300" cy="342900"/>
          </a:xfrm>
          <a:prstGeom prst="rect"/>
        </p:spPr>
        <p:txBody>
          <a:bodyPr wrap="none" lIns="0" tIns="0" rIns="0" bIns="0"/>
          <a:p>
            <a:pPr>
              <a:lnSpc>
                <a:spcPct val="140000"/>
              </a:lnSpc>
            </a:pPr>
            <a:r>
              <a:rPr lang="zh-CN" sz="1575" b="1">
                <a:solidFill>
                  <a:srgbClr val="0E2340"/>
                </a:solidFill>
                <a:latin typeface="Microsoft YaHei"/>
                <a:ea typeface="Microsoft YaHei"/>
              </a:rPr>
              <a:t>界面要点</a:t>
            </a:r>
            <a:endParaRPr/>
          </a:p>
        </p:txBody>
      </p:sp>
      <p:sp>
        <p:nvSpPr>
          <p:cNvPr id="1965" name=""/>
          <p:cNvSpPr/>
          <p:nvPr/>
        </p:nvSpPr>
        <p:spPr>
          <a:xfrm rot="0" flipH="0" flipV="0">
            <a:off x="6838950" y="2438400"/>
            <a:ext cx="76200" cy="76200"/>
          </a:xfrm>
          <a:prstGeom prst="roundRect">
            <a:avLst>
              <a:gd name="adj" fmla="val 50000"/>
            </a:avLst>
          </a:prstGeom>
          <a:solidFill>
            <a:srgbClr val="1E7BE0"/>
          </a:solidFill>
          <a:ln/>
        </p:spPr>
        <p:txBody>
          <a:bodyPr/>
          <a:p/>
        </p:txBody>
      </p:sp>
      <p:sp>
        <p:nvSpPr>
          <p:cNvPr id="1966" name="" descr="{&quot;isTemplate&quot;:true,&quot;type&quot;:&quot;text&quot;}"/>
          <p:cNvSpPr txBox="1"/>
          <p:nvPr/>
        </p:nvSpPr>
        <p:spPr>
          <a:xfrm rot="0" flipH="0" flipV="0">
            <a:off x="7029450" y="2352675"/>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报告须区分五种样本状态：已布置、已提交、可识别、已复核、独立完成。</a:t>
            </a:r>
            <a:endParaRPr/>
          </a:p>
        </p:txBody>
      </p:sp>
      <p:sp>
        <p:nvSpPr>
          <p:cNvPr id="1967" name=""/>
          <p:cNvSpPr/>
          <p:nvPr/>
        </p:nvSpPr>
        <p:spPr>
          <a:xfrm rot="0" flipH="0" flipV="0">
            <a:off x="6838950" y="3114675"/>
            <a:ext cx="76200" cy="76200"/>
          </a:xfrm>
          <a:prstGeom prst="roundRect">
            <a:avLst>
              <a:gd name="adj" fmla="val 50000"/>
            </a:avLst>
          </a:prstGeom>
          <a:solidFill>
            <a:srgbClr val="1E7BE0"/>
          </a:solidFill>
          <a:ln/>
        </p:spPr>
        <p:txBody>
          <a:bodyPr/>
          <a:p/>
        </p:txBody>
      </p:sp>
      <p:sp>
        <p:nvSpPr>
          <p:cNvPr id="1968" name="" descr="{&quot;isTemplate&quot;:true,&quot;type&quot;:&quot;text&quot;}"/>
          <p:cNvSpPr txBox="1"/>
          <p:nvPr/>
        </p:nvSpPr>
        <p:spPr>
          <a:xfrm rot="0" flipH="0" flipV="0">
            <a:off x="7029450" y="3028950"/>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两条统计红线：没有被考查不能统计为不会；未提交也不能直接算作知识错误。</a:t>
            </a:r>
            <a:endParaRPr/>
          </a:p>
        </p:txBody>
      </p:sp>
      <p:sp>
        <p:nvSpPr>
          <p:cNvPr id="1969" name=""/>
          <p:cNvSpPr/>
          <p:nvPr/>
        </p:nvSpPr>
        <p:spPr>
          <a:xfrm rot="0" flipH="0" flipV="0">
            <a:off x="6838950" y="3790950"/>
            <a:ext cx="76200" cy="76200"/>
          </a:xfrm>
          <a:prstGeom prst="roundRect">
            <a:avLst>
              <a:gd name="adj" fmla="val 50000"/>
            </a:avLst>
          </a:prstGeom>
          <a:solidFill>
            <a:srgbClr val="1E7BE0"/>
          </a:solidFill>
          <a:ln/>
        </p:spPr>
        <p:txBody>
          <a:bodyPr/>
          <a:p/>
        </p:txBody>
      </p:sp>
      <p:sp>
        <p:nvSpPr>
          <p:cNvPr id="1970" name="" descr="{&quot;isTemplate&quot;:true,&quot;type&quot;:&quot;text&quot;}"/>
          <p:cNvSpPr txBox="1"/>
          <p:nvPr/>
        </p:nvSpPr>
        <p:spPr>
          <a:xfrm rot="0" flipH="0" flipV="0">
            <a:off x="7029450" y="3705225"/>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是否重新讲授，结合问题涉及范围、关键程度、批改可信度、已有补救结果。</a:t>
            </a:r>
            <a:endParaRPr/>
          </a:p>
        </p:txBody>
      </p:sp>
      <p:sp>
        <p:nvSpPr>
          <p:cNvPr id="1971" name=""/>
          <p:cNvSpPr/>
          <p:nvPr/>
        </p:nvSpPr>
        <p:spPr>
          <a:xfrm rot="0" flipH="0" flipV="0">
            <a:off x="6838950" y="4467225"/>
            <a:ext cx="76200" cy="76200"/>
          </a:xfrm>
          <a:prstGeom prst="roundRect">
            <a:avLst>
              <a:gd name="adj" fmla="val 50000"/>
            </a:avLst>
          </a:prstGeom>
          <a:solidFill>
            <a:srgbClr val="1E7BE0"/>
          </a:solidFill>
          <a:ln/>
        </p:spPr>
        <p:txBody>
          <a:bodyPr/>
          <a:p/>
        </p:txBody>
      </p:sp>
      <p:sp>
        <p:nvSpPr>
          <p:cNvPr id="1972" name="" descr="{&quot;isTemplate&quot;:true,&quot;type&quot;:&quot;text&quot;}"/>
          <p:cNvSpPr txBox="1"/>
          <p:nvPr/>
        </p:nvSpPr>
        <p:spPr>
          <a:xfrm rot="0" flipH="0" flipV="0">
            <a:off x="7029450" y="4381500"/>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四种建议动作：全班重讲</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针对小组补充</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个别辅导</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再做一次短诊断，门槛与安排由教师确认。</a:t>
            </a:r>
            <a:endParaRPr/>
          </a:p>
        </p:txBody>
      </p:sp>
      <p:sp>
        <p:nvSpPr>
          <p:cNvPr id="1973" name=""/>
          <p:cNvSpPr/>
          <p:nvPr/>
        </p:nvSpPr>
        <p:spPr>
          <a:xfrm rot="0" flipH="0" flipV="0">
            <a:off x="6838950" y="5124450"/>
            <a:ext cx="2266950" cy="400050"/>
          </a:xfrm>
          <a:prstGeom prst="roundRect">
            <a:avLst>
              <a:gd name="adj" fmla="val 14286"/>
            </a:avLst>
          </a:prstGeom>
          <a:solidFill>
            <a:srgbClr val="F5F7FA"/>
          </a:solidFill>
          <a:ln/>
        </p:spPr>
        <p:txBody>
          <a:bodyPr/>
          <a:p/>
        </p:txBody>
      </p:sp>
      <p:sp>
        <p:nvSpPr>
          <p:cNvPr id="1974" name="" descr="{&quot;isTemplate&quot;:true,&quot;type&quot;:&quot;text&quot;}"/>
          <p:cNvSpPr txBox="1"/>
          <p:nvPr/>
        </p:nvSpPr>
        <p:spPr>
          <a:xfrm rot="0" flipH="0" flipV="0">
            <a:off x="6972300" y="5210175"/>
            <a:ext cx="2000250" cy="228600"/>
          </a:xfrm>
          <a:prstGeom prst="rect"/>
        </p:spPr>
        <p:txBody>
          <a:bodyPr wrap="none" lIns="0" tIns="0" rIns="0" bIns="0"/>
          <a:p>
            <a:pPr>
              <a:lnSpc>
                <a:spcPct val="140000"/>
              </a:lnSpc>
            </a:pPr>
            <a:r>
              <a:rPr lang="zh-CN" sz="1050" b="1">
                <a:solidFill>
                  <a:srgbClr val="7A8699"/>
                </a:solidFill>
                <a:latin typeface="Microsoft YaHei"/>
                <a:ea typeface="Microsoft YaHei"/>
              </a:rPr>
              <a:t>示意占位</a:t>
            </a:r>
            <a:r>
              <a:rPr lang="en-US" sz="1050" b="1">
                <a:solidFill>
                  <a:srgbClr val="7A8699"/>
                </a:solidFill>
                <a:latin typeface="Microsoft YaHei"/>
                <a:ea typeface="Microsoft YaHei"/>
              </a:rPr>
              <a:t xml:space="preserve"> S18 · </a:t>
            </a:r>
            <a:r>
              <a:rPr lang="zh-CN" sz="1050" b="1">
                <a:solidFill>
                  <a:srgbClr val="7A8699"/>
                </a:solidFill>
                <a:latin typeface="Microsoft YaHei"/>
                <a:ea typeface="Microsoft YaHei"/>
              </a:rPr>
              <a:t>待替换为实际截图</a:t>
            </a:r>
            <a:endParaRPr/>
          </a:p>
        </p:txBody>
      </p:sp>
      <p:sp>
        <p:nvSpPr>
          <p:cNvPr id="1975"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976" name="" descr="{&quot;isTemplate&quot;:true,&quot;type&quot;:&quot;text&quot;}"/>
          <p:cNvSpPr txBox="1"/>
          <p:nvPr/>
        </p:nvSpPr>
        <p:spPr>
          <a:xfrm rot="0" flipH="0" flipV="0">
            <a:off x="666750" y="6381750"/>
            <a:ext cx="1619250" cy="209550"/>
          </a:xfrm>
          <a:prstGeom prst="rect"/>
        </p:spPr>
        <p:txBody>
          <a:bodyPr wrap="none" lIns="0" tIns="0" rIns="0" bIns="0"/>
          <a:p>
            <a:pPr>
              <a:lnSpc>
                <a:spcPct val="140000"/>
              </a:lnSpc>
            </a:pPr>
            <a:r>
              <a:rPr lang="zh-CN" sz="975">
                <a:solidFill>
                  <a:srgbClr val="7A8699"/>
                </a:solidFill>
                <a:latin typeface="Microsoft YaHei"/>
                <a:ea typeface="Microsoft YaHei"/>
              </a:rPr>
              <a:t>依据：教师端设计思路</a:t>
            </a:r>
            <a:r>
              <a:rPr lang="en-US" sz="975">
                <a:solidFill>
                  <a:srgbClr val="7A8699"/>
                </a:solidFill>
                <a:latin typeface="Microsoft YaHei"/>
                <a:ea typeface="Microsoft YaHei"/>
              </a:rPr>
              <a:t>.md §5</a:t>
            </a:r>
            <a:endParaRPr/>
          </a:p>
        </p:txBody>
      </p:sp>
      <p:sp>
        <p:nvSpPr>
          <p:cNvPr id="1977"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54 / 124 </a:t>
            </a:r>
            <a:endParaRPr/>
          </a:p>
        </p:txBody>
      </p:sp>
    </p:spTree>
  </p:cSld>
</p:sld>
</file>

<file path=ppt/slides/slide55.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978"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5 / 教师端&lt;/Text&gt;&lt;Text style={{ fontSize: 32, color: '#0E2340', fontWeight: 700, lineHeight: 1.3 }}&gt;出卷与改卷：双向流程与阶段报告&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8 }}&gt;&lt;Box style={{ flexDirection: 'column', gap: 16, flex: 1, justifyContent: 'center' }}&gt;&lt;svg width={1140} height={240} viewBox='0 0 1140 240'&gt;&lt;rect x='0' y='20' width='520' height='190' rx='8' fill='#F5F7FA'/&gt;&lt;text x='260' y='52' font-size='20' fill='#0E2340' text-anchor='middle' font-weight='700'&gt;正向：生成试卷&lt;/text&gt;&lt;text x='260' y='92' font-size='16' fill='#333A45' text-anchor='middle' font-weight='400'&gt;选模板、知识范围与命题要求&lt;/text&gt;&lt;text x='260' y='124' font-size='16' fill='#333A45' text-anchor='middle' font-weight='400'&gt;调用选题、生成、逐题解答和整卷检查&lt;/text&gt;&lt;text x='260' y='156' font-size='16' fill='#333A45' text-anchor='middle' font-weight='400'&gt;形成可复核的试卷，教师核对题目与评分标准&lt;/text&gt;&lt;text x='260' y='190' font-size='15' fill='#1E7BE0' text-anchor='middle' font-weight='600'&gt;产出：学生用卷 + 参考答案与解析 + 模板符合情况&lt;/text&gt;&lt;rect x='620' y='20' width='520' height='190' rx='8' fill='#EAF3FD'/&gt;&lt;text x='880' y='52' font-size='20' fill='#0E2340' text-anchor='middle' font-weight='700'&gt;反向：评价已有试卷&lt;/text&gt;&lt;text x='880' y='92' font-size='16' fill='#333A45' text-anchor='middle' font-weight='400'&gt;导入已有试卷&lt;/text&gt;&lt;text x='880' y='124' font-size='16' fill='#333A45' text-anchor='middle' font-weight='400'&gt;评价知识点与套路覆盖、步骤难度及整卷分布&lt;/text&gt;&lt;text x='880' y='156' font-size='16' fill='#333A45' text-anchor='middle' font-weight='400'&gt;不在教师端另设与试卷文档冲突的口径&lt;/text&gt;&lt;text x='880' y='190' font-size='15' fill='#1E7BE0' text-anchor='middle' font-weight='600'&gt;阶段报告：未稳定的知识点与套路 / 覆盖范围 / 阶段变化 / 后续验证目标&lt;/text&gt;&lt;path d='M520 115 L610 115' stroke='#00A9B5' stroke-width='2' stroke-dasharray='5 5'/&gt;&lt;path d='M610 115 l-10 -6 l0 12 z' fill='#00A9B5'/&gt;&lt;/svg&gt;&lt;/Box&gt;&lt;Box style={{ flexDirection: 'row', alignItems: 'center', background: '#F5F7FA', borderLeft: '4px solid #E8A33D', borderRadius: 6, padding: '14px 20px' }}&gt;&lt;Text style={{ fontSize: 17, color: '#0E2340', fontWeight: 600, lineHeight: 1.5 }}&gt;红线：不将“已经重新讲过”直接等同于学生已经掌握；两种报告（作业报告 / 阶段考试报告）共享证据，避免将同一次作答重复计入生涯评价&lt;/Text&gt;&lt;/Box&gt;&lt;/Box&gt;&lt;/Box&gt;&lt;Box style={{ height: 40, flexDirection: 'row', justifyContent: 'space-between', alignItems: 'center', borderTop: '1px solid #E3E8EF', marginTop: 8 }}&gt;&lt;Text style={{ fontSize: 13, color: '#7A8699', fontWeight: 400, lineHeight: 1.4 }}&gt;依据：教师端设计思路.md §6–§7&lt;/Text&gt;&lt;Text style={{ fontSize: 14, color: '#7A8699', fontWeight: 400, lineHeight: 1.4 }}&gt; 55 / 124 &lt;/Text&gt;&lt;/Box&gt;&lt;/Slide&gt;"/>
        <p:cNvGrpSpPr/>
        <p:nvPr/>
      </p:nvGrpSpPr>
      <p:grpSpPr>
        <a:xfrm>
          <a:off x="0" y="0"/>
          <a:ext cx="0" cy="0"/>
          <a:chOff x="0" y="0"/>
          <a:chExt cx="0" cy="0"/>
        </a:xfrm>
      </p:grpSpPr>
      <p:sp>
        <p:nvSpPr>
          <p:cNvPr id="1979" name=""/>
          <p:cNvSpPr/>
          <p:nvPr/>
        </p:nvSpPr>
        <p:spPr>
          <a:xfrm rot="0" flipH="0" flipV="0">
            <a:off x="0" y="0"/>
            <a:ext cx="12192000" cy="6858000"/>
          </a:xfrm>
          <a:prstGeom prst="rect">
            <a:avLst/>
          </a:prstGeom>
          <a:solidFill>
            <a:srgbClr val="FFFFFF"/>
          </a:solidFill>
          <a:ln/>
        </p:spPr>
        <p:txBody>
          <a:bodyPr/>
          <a:p/>
        </p:txBody>
      </p:sp>
      <p:sp>
        <p:nvSpPr>
          <p:cNvPr id="1980" name="" descr="{&quot;isTemplate&quot;:true,&quot;type&quot;:&quot;text&quot;}"/>
          <p:cNvSpPr txBox="1"/>
          <p:nvPr/>
        </p:nvSpPr>
        <p:spPr>
          <a:xfrm rot="0" flipH="0" flipV="0">
            <a:off x="666750" y="381000"/>
            <a:ext cx="45720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05 / </a:t>
            </a:r>
            <a:r>
              <a:rPr lang="zh-CN" sz="1050" spc="75">
                <a:solidFill>
                  <a:srgbClr val="7A8699"/>
                </a:solidFill>
                <a:latin typeface="Microsoft YaHei"/>
                <a:ea typeface="Microsoft YaHei"/>
              </a:rPr>
              <a:t>教师端</a:t>
            </a:r>
            <a:endParaRPr/>
          </a:p>
        </p:txBody>
      </p:sp>
      <p:sp>
        <p:nvSpPr>
          <p:cNvPr id="1981" name="" descr="{&quot;isTemplate&quot;:true,&quot;type&quot;:&quot;text&quot;}"/>
          <p:cNvSpPr txBox="1"/>
          <p:nvPr/>
        </p:nvSpPr>
        <p:spPr>
          <a:xfrm rot="0" flipH="0" flipV="0">
            <a:off x="666750" y="666750"/>
            <a:ext cx="4572000" cy="476250"/>
          </a:xfrm>
          <a:prstGeom prst="rect"/>
        </p:spPr>
        <p:txBody>
          <a:bodyPr wrap="none" lIns="0" tIns="0" rIns="0" bIns="0"/>
          <a:p>
            <a:pPr>
              <a:lnSpc>
                <a:spcPct val="130000"/>
              </a:lnSpc>
            </a:pPr>
            <a:r>
              <a:rPr lang="zh-CN" sz="2400" b="1">
                <a:solidFill>
                  <a:srgbClr val="0E2340"/>
                </a:solidFill>
                <a:latin typeface="Microsoft YaHei"/>
                <a:ea typeface="Microsoft YaHei"/>
              </a:rPr>
              <a:t>出卷与改卷：双向流程与阶段报告</a:t>
            </a:r>
            <a:endParaRPr/>
          </a:p>
        </p:txBody>
      </p:sp>
      <p:sp>
        <p:nvSpPr>
          <p:cNvPr id="1982"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983"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1984" name=""/>
          <p:cNvPicPr>
            <a:picLocks noChangeAspect="1"/>
          </p:cNvPicPr>
          <p:nvPr/>
        </p:nvPicPr>
        <p:blipFill>
          <a:blip>
            <a:extLst>
              <a:ext uri="{96DAC541-7B7A-43D3-8B79-37D633B846F1}">
                <asvg:svgBlip r:embed="rId1"/>
              </a:ext>
            </a:extLst>
          </a:blip>
          <a:stretch>
            <a:fillRect/>
          </a:stretch>
        </p:blipFill>
        <p:spPr>
          <a:xfrm rot="0" flipH="0" flipV="0">
            <a:off x="666750" y="2209800"/>
            <a:ext cx="10858500" cy="2286000"/>
          </a:xfrm>
          <a:prstGeom prst="rect">
            <a:avLst/>
          </a:prstGeom>
          <a:ln/>
        </p:spPr>
      </p:pic>
      <p:sp>
        <p:nvSpPr>
          <p:cNvPr id="1985" name=""/>
          <p:cNvSpPr/>
          <p:nvPr/>
        </p:nvSpPr>
        <p:spPr>
          <a:xfrm rot="0" flipH="0" flipV="0">
            <a:off x="704850" y="5648325"/>
            <a:ext cx="10858500" cy="561975"/>
          </a:xfrm>
          <a:prstGeom prst="roundRect">
            <a:avLst>
              <a:gd name="adj" fmla="val 10169"/>
            </a:avLst>
          </a:prstGeom>
          <a:solidFill>
            <a:srgbClr val="F5F7FA"/>
          </a:solidFill>
          <a:ln/>
        </p:spPr>
        <p:txBody>
          <a:bodyPr/>
          <a:p/>
        </p:txBody>
      </p:sp>
      <p:sp>
        <p:nvSpPr>
          <p:cNvPr id="1986" name=""/>
          <p:cNvSpPr/>
          <p:nvPr/>
        </p:nvSpPr>
        <p:spPr>
          <a:xfrm rot="0" flipH="0" flipV="0">
            <a:off x="704850" y="5648325"/>
            <a:ext cx="10858500" cy="561975"/>
          </a:xfrm>
          <a:custGeom>
            <a:pathLst>
              <a:path w="1140" h="59">
                <a:moveTo>
                  <a:pt x="6" y="0"/>
                </a:moveTo>
                <a:cubicBezTo>
                  <a:pt x="5" y="0"/>
                  <a:pt x="4" y="1"/>
                  <a:pt x="4" y="2"/>
                </a:cubicBezTo>
                <a:lnTo>
                  <a:pt x="4" y="57"/>
                </a:lnTo>
                <a:cubicBezTo>
                  <a:pt x="4" y="58"/>
                  <a:pt x="5" y="59"/>
                  <a:pt x="6" y="59"/>
                </a:cubicBezTo>
                <a:cubicBezTo>
                  <a:pt x="3" y="59"/>
                  <a:pt x="0" y="56"/>
                  <a:pt x="0" y="53"/>
                </a:cubicBezTo>
                <a:lnTo>
                  <a:pt x="0" y="6"/>
                </a:lnTo>
                <a:cubicBezTo>
                  <a:pt x="0" y="3"/>
                  <a:pt x="3" y="0"/>
                  <a:pt x="6" y="0"/>
                </a:cubicBezTo>
                <a:close/>
              </a:path>
            </a:pathLst>
          </a:custGeom>
          <a:solidFill>
            <a:srgbClr val="E8A33D"/>
          </a:solidFill>
          <a:ln/>
        </p:spPr>
        <p:txBody>
          <a:bodyPr/>
          <a:p/>
        </p:txBody>
      </p:sp>
      <p:sp>
        <p:nvSpPr>
          <p:cNvPr id="1987" name="" descr="{&quot;isTemplate&quot;:true,&quot;type&quot;:&quot;text&quot;}"/>
          <p:cNvSpPr txBox="1"/>
          <p:nvPr/>
        </p:nvSpPr>
        <p:spPr>
          <a:xfrm rot="0" flipH="0" flipV="0">
            <a:off x="895350" y="5781675"/>
            <a:ext cx="10020300" cy="295275"/>
          </a:xfrm>
          <a:prstGeom prst="rect"/>
        </p:spPr>
        <p:txBody>
          <a:bodyPr wrap="none" lIns="0" tIns="0" rIns="0" bIns="0"/>
          <a:p>
            <a:pPr>
              <a:lnSpc>
                <a:spcPct val="150000"/>
              </a:lnSpc>
            </a:pPr>
            <a:r>
              <a:rPr lang="zh-CN" sz="1275" b="1">
                <a:solidFill>
                  <a:srgbClr val="0E2340"/>
                </a:solidFill>
                <a:latin typeface="Microsoft YaHei"/>
                <a:ea typeface="Microsoft YaHei"/>
              </a:rPr>
              <a:t>红线：不将“已经重新讲过”直接等同于学生已经掌握；两种报告（作业报告</a:t>
            </a:r>
            <a:r>
              <a:rPr lang="en-US" sz="1275" b="1">
                <a:solidFill>
                  <a:srgbClr val="0E2340"/>
                </a:solidFill>
                <a:latin typeface="Microsoft YaHei"/>
                <a:ea typeface="Microsoft YaHei"/>
              </a:rPr>
              <a:t xml:space="preserve"> / </a:t>
            </a:r>
            <a:r>
              <a:rPr lang="zh-CN" sz="1275" b="1">
                <a:solidFill>
                  <a:srgbClr val="0E2340"/>
                </a:solidFill>
                <a:latin typeface="Microsoft YaHei"/>
                <a:ea typeface="Microsoft YaHei"/>
              </a:rPr>
              <a:t>阶段考试报告）共享证据，避免将同一次作答重复计入生涯评价</a:t>
            </a:r>
            <a:endParaRPr/>
          </a:p>
        </p:txBody>
      </p:sp>
      <p:sp>
        <p:nvSpPr>
          <p:cNvPr id="1988"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989" name="" descr="{&quot;isTemplate&quot;:true,&quot;type&quot;:&quot;text&quot;}"/>
          <p:cNvSpPr txBox="1"/>
          <p:nvPr/>
        </p:nvSpPr>
        <p:spPr>
          <a:xfrm rot="0" flipH="0" flipV="0">
            <a:off x="666750" y="6381750"/>
            <a:ext cx="1828800" cy="209550"/>
          </a:xfrm>
          <a:prstGeom prst="rect"/>
        </p:spPr>
        <p:txBody>
          <a:bodyPr wrap="none" lIns="0" tIns="0" rIns="0" bIns="0"/>
          <a:p>
            <a:pPr>
              <a:lnSpc>
                <a:spcPct val="140000"/>
              </a:lnSpc>
            </a:pPr>
            <a:r>
              <a:rPr lang="zh-CN" sz="975">
                <a:solidFill>
                  <a:srgbClr val="7A8699"/>
                </a:solidFill>
                <a:latin typeface="Microsoft YaHei"/>
                <a:ea typeface="Microsoft YaHei"/>
              </a:rPr>
              <a:t>依据：教师端设计思路</a:t>
            </a:r>
            <a:r>
              <a:rPr lang="en-US" sz="975">
                <a:solidFill>
                  <a:srgbClr val="7A8699"/>
                </a:solidFill>
                <a:latin typeface="Microsoft YaHei"/>
                <a:ea typeface="Microsoft YaHei"/>
              </a:rPr>
              <a:t>.md §6–§7</a:t>
            </a:r>
            <a:endParaRPr/>
          </a:p>
        </p:txBody>
      </p:sp>
      <p:sp>
        <p:nvSpPr>
          <p:cNvPr id="1990"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55 / 124 </a:t>
            </a:r>
            <a:endParaRPr/>
          </a:p>
        </p:txBody>
      </p:sp>
    </p:spTree>
  </p:cSld>
</p:sld>
</file>

<file path=ppt/slides/slide56.xml><?xml version="1.0" encoding="utf-8"?>
<p:sld xmlns:p="http://schemas.openxmlformats.org/presentationml/2006/main" xmlns:a="http://schemas.openxmlformats.org/drawingml/2006/main">
  <p:cSld>
    <p:spTree>
      <p:nvGrpSpPr>
        <p:cNvPr id="1991"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5 / 教师端&lt;/Text&gt;&lt;Text style={{ fontSize: 32, color: '#0E2340', fontWeight: 700, lineHeight: 1.3 }}&gt;综合评价进步与识别需人工关注的情况&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gt;&lt;Box style={{ marginBottom: 16 }}&gt;&lt;Box style={{ flexDirection: 'row', alignItems: 'center', background: '#F5F7FA', borderLeft: '4px solid #0E2340', borderRadius: 6, padding: '14px 20px' }}&gt;&lt;Text style={{ fontSize: 20, color: '#0E2340', fontWeight: 600, lineHeight: 1.5 }}&gt;四类触发个别沟通建议的情形；系统提出关注对象与原因，教师决定是否谈话、何时沟通及如何跟进&lt;/Text&gt;&lt;/Box&gt;&lt;/Box&gt;&lt;Box style={{ flexDirection: 'row', gap: 20, flex: 1 }}&gt;&lt;Box style={{ width: 270,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持续退步&lt;/Text&gt;&lt;Text style={{ fontSize: 18, color: '#333A45', fontWeight: 400, lineHeight: 1.6 }}&gt;长期能力多个维度同时下滑&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反复补练无改善&lt;/Text&gt;&lt;Text style={{ fontSize: 18, color: '#333A45', fontWeight: 400, lineHeight: 1.6 }}&gt;已有干预但后续证据未变化&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作业负担明显不适配&lt;/Text&gt;&lt;Text style={{ fontSize: 18, color: '#333A45', fontWeight: 400, lineHeight: 1.6 }}&gt;任务量与学生可用时间不匹配&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学生主动表达需要帮助&lt;/Text&gt;&lt;Text style={{ fontSize: 18, color: '#333A45', fontWeight: 400, lineHeight: 1.6 }}&gt;学生自述作为证据来源之一&lt;/Text&gt;&lt;/Box&gt;&lt;/Box&gt;&lt;/Box&gt;&lt;/Box&gt;&lt;/Box&gt;&lt;Box style={{ height: 40, flexDirection: 'row', justifyContent: 'space-between', alignItems: 'center', borderTop: '1px solid #E3E8EF', marginTop: 8 }}&gt;&lt;Text style={{ fontSize: 13, color: '#7A8699', fontWeight: 400, lineHeight: 1.4 }}&gt;依据：教师端设计思路.md §8–§9&lt;/Text&gt;&lt;Text style={{ fontSize: 14, color: '#7A8699', fontWeight: 400, lineHeight: 1.4 }}&gt; 56 / 124 &lt;/Text&gt;&lt;/Box&gt;&lt;/Slide&gt;"/>
        <p:cNvGrpSpPr/>
        <p:nvPr/>
      </p:nvGrpSpPr>
      <p:grpSpPr>
        <a:xfrm>
          <a:off x="0" y="0"/>
          <a:ext cx="0" cy="0"/>
          <a:chOff x="0" y="0"/>
          <a:chExt cx="0" cy="0"/>
        </a:xfrm>
      </p:grpSpPr>
      <p:sp>
        <p:nvSpPr>
          <p:cNvPr id="1992" name=""/>
          <p:cNvSpPr/>
          <p:nvPr/>
        </p:nvSpPr>
        <p:spPr>
          <a:xfrm rot="0" flipH="0" flipV="0">
            <a:off x="0" y="0"/>
            <a:ext cx="12192000" cy="6858000"/>
          </a:xfrm>
          <a:prstGeom prst="rect">
            <a:avLst/>
          </a:prstGeom>
          <a:solidFill>
            <a:srgbClr val="FFFFFF"/>
          </a:solidFill>
          <a:ln/>
        </p:spPr>
        <p:txBody>
          <a:bodyPr/>
          <a:p/>
        </p:txBody>
      </p:sp>
      <p:sp>
        <p:nvSpPr>
          <p:cNvPr id="1993" name="" descr="{&quot;isTemplate&quot;:true,&quot;type&quot;:&quot;text&quot;}"/>
          <p:cNvSpPr txBox="1"/>
          <p:nvPr/>
        </p:nvSpPr>
        <p:spPr>
          <a:xfrm rot="0" flipH="0" flipV="0">
            <a:off x="666750" y="381000"/>
            <a:ext cx="5181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05 / </a:t>
            </a:r>
            <a:r>
              <a:rPr lang="zh-CN" sz="1050" spc="75">
                <a:solidFill>
                  <a:srgbClr val="7A8699"/>
                </a:solidFill>
                <a:latin typeface="Microsoft YaHei"/>
                <a:ea typeface="Microsoft YaHei"/>
              </a:rPr>
              <a:t>教师端</a:t>
            </a:r>
            <a:endParaRPr/>
          </a:p>
        </p:txBody>
      </p:sp>
      <p:sp>
        <p:nvSpPr>
          <p:cNvPr id="1994" name="" descr="{&quot;isTemplate&quot;:true,&quot;type&quot;:&quot;text&quot;}"/>
          <p:cNvSpPr txBox="1"/>
          <p:nvPr/>
        </p:nvSpPr>
        <p:spPr>
          <a:xfrm rot="0" flipH="0" flipV="0">
            <a:off x="666750" y="666750"/>
            <a:ext cx="5181600" cy="476250"/>
          </a:xfrm>
          <a:prstGeom prst="rect"/>
        </p:spPr>
        <p:txBody>
          <a:bodyPr wrap="none" lIns="0" tIns="0" rIns="0" bIns="0"/>
          <a:p>
            <a:pPr>
              <a:lnSpc>
                <a:spcPct val="130000"/>
              </a:lnSpc>
            </a:pPr>
            <a:r>
              <a:rPr lang="zh-CN" sz="2400" b="1">
                <a:solidFill>
                  <a:srgbClr val="0E2340"/>
                </a:solidFill>
                <a:latin typeface="Microsoft YaHei"/>
                <a:ea typeface="Microsoft YaHei"/>
              </a:rPr>
              <a:t>综合评价进步与识别需人工关注的情况</a:t>
            </a:r>
            <a:endParaRPr/>
          </a:p>
        </p:txBody>
      </p:sp>
      <p:sp>
        <p:nvSpPr>
          <p:cNvPr id="1995"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1996"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1997" name=""/>
          <p:cNvSpPr/>
          <p:nvPr/>
        </p:nvSpPr>
        <p:spPr>
          <a:xfrm rot="0" flipH="0" flipV="0">
            <a:off x="704850" y="1219200"/>
            <a:ext cx="10858500" cy="609600"/>
          </a:xfrm>
          <a:prstGeom prst="roundRect">
            <a:avLst>
              <a:gd name="adj" fmla="val 9375"/>
            </a:avLst>
          </a:prstGeom>
          <a:solidFill>
            <a:srgbClr val="F5F7FA"/>
          </a:solidFill>
          <a:ln/>
        </p:spPr>
        <p:txBody>
          <a:bodyPr/>
          <a:p/>
        </p:txBody>
      </p:sp>
      <p:sp>
        <p:nvSpPr>
          <p:cNvPr id="1998" name=""/>
          <p:cNvSpPr/>
          <p:nvPr/>
        </p:nvSpPr>
        <p:spPr>
          <a:xfrm rot="0" flipH="0" flipV="0">
            <a:off x="704850" y="12192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1999" name="" descr="{&quot;isTemplate&quot;:true,&quot;type&quot;:&quot;text&quot;}"/>
          <p:cNvSpPr txBox="1"/>
          <p:nvPr/>
        </p:nvSpPr>
        <p:spPr>
          <a:xfrm rot="0" flipH="0" flipV="0">
            <a:off x="895350" y="1352550"/>
            <a:ext cx="8382000" cy="342900"/>
          </a:xfrm>
          <a:prstGeom prst="rect"/>
        </p:spPr>
        <p:txBody>
          <a:bodyPr wrap="none" lIns="0" tIns="0" rIns="0" bIns="0"/>
          <a:p>
            <a:pPr>
              <a:lnSpc>
                <a:spcPct val="150000"/>
              </a:lnSpc>
            </a:pPr>
            <a:r>
              <a:rPr lang="zh-CN" sz="1500" b="1">
                <a:solidFill>
                  <a:srgbClr val="0E2340"/>
                </a:solidFill>
                <a:latin typeface="Microsoft YaHei"/>
                <a:ea typeface="Microsoft YaHei"/>
              </a:rPr>
              <a:t>四类触发个别沟通建议的情形；系统提出关注对象与原因，教师决定是否谈话、何时沟通及如何跟进</a:t>
            </a:r>
            <a:endParaRPr/>
          </a:p>
        </p:txBody>
      </p:sp>
      <p:sp>
        <p:nvSpPr>
          <p:cNvPr id="2000" name=""/>
          <p:cNvSpPr/>
          <p:nvPr/>
        </p:nvSpPr>
        <p:spPr>
          <a:xfrm rot="0" flipH="0" flipV="0">
            <a:off x="666750" y="1981200"/>
            <a:ext cx="2571750" cy="4229100"/>
          </a:xfrm>
          <a:prstGeom prst="roundRect">
            <a:avLst>
              <a:gd name="adj" fmla="val 2963"/>
            </a:avLst>
          </a:prstGeom>
          <a:solidFill>
            <a:srgbClr val="FFFFFF"/>
          </a:solidFill>
          <a:ln w="12700">
            <a:solidFill>
              <a:srgbClr val="E3E8EF"/>
            </a:solidFill>
            <a:prstDash val="solid"/>
          </a:ln>
        </p:spPr>
        <p:txBody>
          <a:bodyPr/>
          <a:p/>
        </p:txBody>
      </p:sp>
      <p:sp>
        <p:nvSpPr>
          <p:cNvPr id="2001" name=""/>
          <p:cNvSpPr/>
          <p:nvPr/>
        </p:nvSpPr>
        <p:spPr>
          <a:xfrm rot="0" flipH="0" flipV="0">
            <a:off x="666750" y="1981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2002" name="" descr="{&quot;isTemplate&quot;:true,&quot;type&quot;:&quot;text&quot;}"/>
          <p:cNvSpPr txBox="1"/>
          <p:nvPr/>
        </p:nvSpPr>
        <p:spPr>
          <a:xfrm rot="0" flipH="0" flipV="0">
            <a:off x="857250" y="2209800"/>
            <a:ext cx="2190750" cy="390525"/>
          </a:xfrm>
          <a:prstGeom prst="rect"/>
        </p:spPr>
        <p:txBody>
          <a:bodyPr wrap="none" lIns="0" tIns="0" rIns="0" bIns="0"/>
          <a:p>
            <a:pPr>
              <a:lnSpc>
                <a:spcPct val="140000"/>
              </a:lnSpc>
            </a:pPr>
            <a:r>
              <a:rPr lang="zh-CN" sz="1800" b="1">
                <a:solidFill>
                  <a:srgbClr val="0E2340"/>
                </a:solidFill>
                <a:latin typeface="Microsoft YaHei"/>
                <a:ea typeface="Microsoft YaHei"/>
              </a:rPr>
              <a:t>持续退步</a:t>
            </a:r>
            <a:endParaRPr/>
          </a:p>
        </p:txBody>
      </p:sp>
      <p:sp>
        <p:nvSpPr>
          <p:cNvPr id="2003" name="" descr="{&quot;isTemplate&quot;:true,&quot;type&quot;:&quot;text&quot;}"/>
          <p:cNvSpPr txBox="1"/>
          <p:nvPr/>
        </p:nvSpPr>
        <p:spPr>
          <a:xfrm rot="0" flipH="0" flipV="0">
            <a:off x="857250" y="2695575"/>
            <a:ext cx="2190750" cy="333375"/>
          </a:xfrm>
          <a:prstGeom prst="rect"/>
        </p:spPr>
        <p:txBody>
          <a:bodyPr wrap="none" lIns="0" tIns="0" rIns="0" bIns="0"/>
          <a:p>
            <a:pPr>
              <a:lnSpc>
                <a:spcPct val="160000"/>
              </a:lnSpc>
            </a:pPr>
            <a:r>
              <a:rPr lang="zh-CN" sz="1350">
                <a:solidFill>
                  <a:srgbClr val="333A45"/>
                </a:solidFill>
                <a:latin typeface="Microsoft YaHei"/>
                <a:ea typeface="Microsoft YaHei"/>
              </a:rPr>
              <a:t>长期能力多个维度同时下滑</a:t>
            </a:r>
            <a:endParaRPr/>
          </a:p>
        </p:txBody>
      </p:sp>
      <p:sp>
        <p:nvSpPr>
          <p:cNvPr id="2004" name=""/>
          <p:cNvSpPr/>
          <p:nvPr/>
        </p:nvSpPr>
        <p:spPr>
          <a:xfrm rot="0" flipH="0" flipV="0">
            <a:off x="3429000" y="1981200"/>
            <a:ext cx="2571750" cy="4229100"/>
          </a:xfrm>
          <a:prstGeom prst="roundRect">
            <a:avLst>
              <a:gd name="adj" fmla="val 2963"/>
            </a:avLst>
          </a:prstGeom>
          <a:solidFill>
            <a:srgbClr val="FFFFFF"/>
          </a:solidFill>
          <a:ln w="12700">
            <a:solidFill>
              <a:srgbClr val="E3E8EF"/>
            </a:solidFill>
            <a:prstDash val="solid"/>
          </a:ln>
        </p:spPr>
        <p:txBody>
          <a:bodyPr/>
          <a:p/>
        </p:txBody>
      </p:sp>
      <p:sp>
        <p:nvSpPr>
          <p:cNvPr id="2005" name=""/>
          <p:cNvSpPr/>
          <p:nvPr/>
        </p:nvSpPr>
        <p:spPr>
          <a:xfrm rot="0" flipH="0" flipV="0">
            <a:off x="3429000" y="1981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2006" name="" descr="{&quot;isTemplate&quot;:true,&quot;type&quot;:&quot;text&quot;}"/>
          <p:cNvSpPr txBox="1"/>
          <p:nvPr/>
        </p:nvSpPr>
        <p:spPr>
          <a:xfrm rot="0" flipH="0" flipV="0">
            <a:off x="3619500" y="2209800"/>
            <a:ext cx="2190750" cy="390525"/>
          </a:xfrm>
          <a:prstGeom prst="rect"/>
        </p:spPr>
        <p:txBody>
          <a:bodyPr wrap="none" lIns="0" tIns="0" rIns="0" bIns="0"/>
          <a:p>
            <a:pPr>
              <a:lnSpc>
                <a:spcPct val="140000"/>
              </a:lnSpc>
            </a:pPr>
            <a:r>
              <a:rPr lang="zh-CN" sz="1800" b="1">
                <a:solidFill>
                  <a:srgbClr val="0E2340"/>
                </a:solidFill>
                <a:latin typeface="Microsoft YaHei"/>
                <a:ea typeface="Microsoft YaHei"/>
              </a:rPr>
              <a:t>反复补练无改善</a:t>
            </a:r>
            <a:endParaRPr/>
          </a:p>
        </p:txBody>
      </p:sp>
      <p:sp>
        <p:nvSpPr>
          <p:cNvPr id="2007" name="" descr="{&quot;isTemplate&quot;:true,&quot;type&quot;:&quot;text&quot;}"/>
          <p:cNvSpPr txBox="1"/>
          <p:nvPr/>
        </p:nvSpPr>
        <p:spPr>
          <a:xfrm rot="0" flipH="0" flipV="0">
            <a:off x="3619500" y="2695575"/>
            <a:ext cx="2190750" cy="333375"/>
          </a:xfrm>
          <a:prstGeom prst="rect"/>
        </p:spPr>
        <p:txBody>
          <a:bodyPr wrap="none" lIns="0" tIns="0" rIns="0" bIns="0"/>
          <a:p>
            <a:pPr>
              <a:lnSpc>
                <a:spcPct val="160000"/>
              </a:lnSpc>
            </a:pPr>
            <a:r>
              <a:rPr lang="zh-CN" sz="1350">
                <a:solidFill>
                  <a:srgbClr val="333A45"/>
                </a:solidFill>
                <a:latin typeface="Microsoft YaHei"/>
                <a:ea typeface="Microsoft YaHei"/>
              </a:rPr>
              <a:t>已有干预但后续证据未变化</a:t>
            </a:r>
            <a:endParaRPr/>
          </a:p>
        </p:txBody>
      </p:sp>
      <p:sp>
        <p:nvSpPr>
          <p:cNvPr id="2008" name=""/>
          <p:cNvSpPr/>
          <p:nvPr/>
        </p:nvSpPr>
        <p:spPr>
          <a:xfrm rot="0" flipH="0" flipV="0">
            <a:off x="6191250" y="1981200"/>
            <a:ext cx="2571750" cy="4229100"/>
          </a:xfrm>
          <a:prstGeom prst="roundRect">
            <a:avLst>
              <a:gd name="adj" fmla="val 2963"/>
            </a:avLst>
          </a:prstGeom>
          <a:solidFill>
            <a:srgbClr val="FFFFFF"/>
          </a:solidFill>
          <a:ln w="12700">
            <a:solidFill>
              <a:srgbClr val="E3E8EF"/>
            </a:solidFill>
            <a:prstDash val="solid"/>
          </a:ln>
        </p:spPr>
        <p:txBody>
          <a:bodyPr/>
          <a:p/>
        </p:txBody>
      </p:sp>
      <p:sp>
        <p:nvSpPr>
          <p:cNvPr id="2009" name=""/>
          <p:cNvSpPr/>
          <p:nvPr/>
        </p:nvSpPr>
        <p:spPr>
          <a:xfrm rot="0" flipH="0" flipV="0">
            <a:off x="6191250" y="1981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2010" name="" descr="{&quot;isTemplate&quot;:true,&quot;type&quot;:&quot;text&quot;}"/>
          <p:cNvSpPr txBox="1"/>
          <p:nvPr/>
        </p:nvSpPr>
        <p:spPr>
          <a:xfrm rot="0" flipH="0" flipV="0">
            <a:off x="6381750" y="2209800"/>
            <a:ext cx="2190750" cy="390525"/>
          </a:xfrm>
          <a:prstGeom prst="rect"/>
        </p:spPr>
        <p:txBody>
          <a:bodyPr wrap="none" lIns="0" tIns="0" rIns="0" bIns="0"/>
          <a:p>
            <a:pPr>
              <a:lnSpc>
                <a:spcPct val="140000"/>
              </a:lnSpc>
            </a:pPr>
            <a:r>
              <a:rPr lang="zh-CN" sz="1800" b="1">
                <a:solidFill>
                  <a:srgbClr val="0E2340"/>
                </a:solidFill>
                <a:latin typeface="Microsoft YaHei"/>
                <a:ea typeface="Microsoft YaHei"/>
              </a:rPr>
              <a:t>作业负担明显不适配</a:t>
            </a:r>
            <a:endParaRPr/>
          </a:p>
        </p:txBody>
      </p:sp>
      <p:sp>
        <p:nvSpPr>
          <p:cNvPr id="2011" name="" descr="{&quot;isTemplate&quot;:true,&quot;type&quot;:&quot;text&quot;}"/>
          <p:cNvSpPr txBox="1"/>
          <p:nvPr/>
        </p:nvSpPr>
        <p:spPr>
          <a:xfrm rot="0" flipH="0" flipV="0">
            <a:off x="6381750" y="2695575"/>
            <a:ext cx="2190750" cy="666750"/>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任务量与学生可用时间不匹配</a:t>
            </a:r>
            <a:endParaRPr/>
          </a:p>
        </p:txBody>
      </p:sp>
      <p:sp>
        <p:nvSpPr>
          <p:cNvPr id="2012" name=""/>
          <p:cNvSpPr/>
          <p:nvPr/>
        </p:nvSpPr>
        <p:spPr>
          <a:xfrm rot="0" flipH="0" flipV="0">
            <a:off x="8953500" y="1981200"/>
            <a:ext cx="2571750" cy="4229100"/>
          </a:xfrm>
          <a:prstGeom prst="roundRect">
            <a:avLst>
              <a:gd name="adj" fmla="val 2963"/>
            </a:avLst>
          </a:prstGeom>
          <a:solidFill>
            <a:srgbClr val="FFFFFF"/>
          </a:solidFill>
          <a:ln w="12700">
            <a:solidFill>
              <a:srgbClr val="E3E8EF"/>
            </a:solidFill>
            <a:prstDash val="solid"/>
          </a:ln>
        </p:spPr>
        <p:txBody>
          <a:bodyPr/>
          <a:p/>
        </p:txBody>
      </p:sp>
      <p:sp>
        <p:nvSpPr>
          <p:cNvPr id="2013" name=""/>
          <p:cNvSpPr/>
          <p:nvPr/>
        </p:nvSpPr>
        <p:spPr>
          <a:xfrm rot="0" flipH="0" flipV="0">
            <a:off x="8953500" y="1981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2014" name="" descr="{&quot;isTemplate&quot;:true,&quot;type&quot;:&quot;text&quot;}"/>
          <p:cNvSpPr txBox="1"/>
          <p:nvPr/>
        </p:nvSpPr>
        <p:spPr>
          <a:xfrm rot="0" flipH="0" flipV="0">
            <a:off x="9144000" y="2209800"/>
            <a:ext cx="2190750" cy="771525"/>
          </a:xfrm>
          <a:prstGeom prst="rect"/>
        </p:spPr>
        <p:txBody>
          <a:bodyPr wrap="square" lIns="0" tIns="0" rIns="0" bIns="0">
            <a:normAutofit/>
          </a:bodyPr>
          <a:p>
            <a:pPr>
              <a:lnSpc>
                <a:spcPct val="140000"/>
              </a:lnSpc>
            </a:pPr>
            <a:r>
              <a:rPr lang="zh-CN" sz="1800" b="1">
                <a:solidFill>
                  <a:srgbClr val="0E2340"/>
                </a:solidFill>
                <a:latin typeface="Microsoft YaHei"/>
                <a:ea typeface="Microsoft YaHei"/>
              </a:rPr>
              <a:t>学生主动表达需要帮助</a:t>
            </a:r>
            <a:endParaRPr/>
          </a:p>
        </p:txBody>
      </p:sp>
      <p:sp>
        <p:nvSpPr>
          <p:cNvPr id="2015" name="" descr="{&quot;isTemplate&quot;:true,&quot;type&quot;:&quot;text&quot;}"/>
          <p:cNvSpPr txBox="1"/>
          <p:nvPr/>
        </p:nvSpPr>
        <p:spPr>
          <a:xfrm rot="0" flipH="0" flipV="0">
            <a:off x="9144000" y="3076575"/>
            <a:ext cx="2190750" cy="333375"/>
          </a:xfrm>
          <a:prstGeom prst="rect"/>
        </p:spPr>
        <p:txBody>
          <a:bodyPr wrap="none" lIns="0" tIns="0" rIns="0" bIns="0"/>
          <a:p>
            <a:pPr>
              <a:lnSpc>
                <a:spcPct val="160000"/>
              </a:lnSpc>
            </a:pPr>
            <a:r>
              <a:rPr lang="zh-CN" sz="1350">
                <a:solidFill>
                  <a:srgbClr val="333A45"/>
                </a:solidFill>
                <a:latin typeface="Microsoft YaHei"/>
                <a:ea typeface="Microsoft YaHei"/>
              </a:rPr>
              <a:t>学生自述作为证据来源之一</a:t>
            </a:r>
            <a:endParaRPr/>
          </a:p>
        </p:txBody>
      </p:sp>
      <p:sp>
        <p:nvSpPr>
          <p:cNvPr id="2016"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017" name="" descr="{&quot;isTemplate&quot;:true,&quot;type&quot;:&quot;text&quot;}"/>
          <p:cNvSpPr txBox="1"/>
          <p:nvPr/>
        </p:nvSpPr>
        <p:spPr>
          <a:xfrm rot="0" flipH="0" flipV="0">
            <a:off x="666750" y="6381750"/>
            <a:ext cx="1828800" cy="209550"/>
          </a:xfrm>
          <a:prstGeom prst="rect"/>
        </p:spPr>
        <p:txBody>
          <a:bodyPr wrap="none" lIns="0" tIns="0" rIns="0" bIns="0"/>
          <a:p>
            <a:pPr>
              <a:lnSpc>
                <a:spcPct val="140000"/>
              </a:lnSpc>
            </a:pPr>
            <a:r>
              <a:rPr lang="zh-CN" sz="975">
                <a:solidFill>
                  <a:srgbClr val="7A8699"/>
                </a:solidFill>
                <a:latin typeface="Microsoft YaHei"/>
                <a:ea typeface="Microsoft YaHei"/>
              </a:rPr>
              <a:t>依据：教师端设计思路</a:t>
            </a:r>
            <a:r>
              <a:rPr lang="en-US" sz="975">
                <a:solidFill>
                  <a:srgbClr val="7A8699"/>
                </a:solidFill>
                <a:latin typeface="Microsoft YaHei"/>
                <a:ea typeface="Microsoft YaHei"/>
              </a:rPr>
              <a:t>.md §8–§9</a:t>
            </a:r>
            <a:endParaRPr/>
          </a:p>
        </p:txBody>
      </p:sp>
      <p:sp>
        <p:nvSpPr>
          <p:cNvPr id="2018"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56 / 124 </a:t>
            </a:r>
            <a:endParaRPr/>
          </a:p>
        </p:txBody>
      </p:sp>
    </p:spTree>
  </p:cSld>
</p:sld>
</file>

<file path=ppt/slides/slide57.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019" name="" descr="&lt;Slide style={{ width: '1280px', height: '720px', background: '#FFFFFF', padding: 0 }}&gt;&lt;Box style={{ position: 'absolute', top: 0, left: 0 }}&gt;&lt;svg width={1280} height={720} viewBox='0 0 1280 720'&gt;&lt;line x1='0' y1='0' x2='1280' y2='0' stroke='#E3E8EF' stroke-width='1' opacity='0.55'/&gt;&lt;line x1='0' y1='90' x2='1280' y2='90' stroke='#E3E8EF' stroke-width='1' opacity='0.55'/&gt;&lt;line x1='0' y1='180' x2='1280' y2='180' stroke='#E3E8EF' stroke-width='1' opacity='0.55'/&gt;&lt;line x1='0' y1='270' x2='1280' y2='270' stroke='#E3E8EF' stroke-width='1' opacity='0.55'/&gt;&lt;line x1='0' y1='360' x2='1280' y2='360' stroke='#E3E8EF' stroke-width='1' opacity='0.55'/&gt;&lt;line x1='0' y1='450' x2='1280' y2='450' stroke='#E3E8EF' stroke-width='1' opacity='0.55'/&gt;&lt;line x1='0' y1='540' x2='1280' y2='540' stroke='#E3E8EF' stroke-width='1' opacity='0.55'/&gt;&lt;line x1='0' y1='630' x2='1280' y2='630' stroke='#E3E8EF' stroke-width='1' opacity='0.55'/&gt;&lt;line x1='0' y1='720' x2='1280' y2='720' stroke='#E3E8EF' stroke-width='1' opacity='0.55'/&gt;&lt;/svg&gt;&lt;/Box&gt;&lt;Box style={{ position: 'relative', zIndex: 2, flexDirection: 'row', flex: 1, padding: '48px 80px 52px', gap: 44 }}&gt;&lt;Box style={{ width: 520, flexDirection: 'column', justifyContent: 'space-between' }}&gt;&lt;Box style={{ flexDirection: 'column' }}&gt;&lt;Text style={{ fontSize: 15, color: '#1E7BE0', fontWeight: 600, lineHeight: 1.4, letterSpacing: 2 }}&gt;STUDYAGENT · DESIGN REVIEW&lt;/Text&gt;&lt;/Box&gt;&lt;Box style={{ flexDirection: 'column' }}&gt;&lt;Text style={{ fontSize: 100, color: '#0E2340', fontWeight: 700, lineHeight: 1.0, fontFamily: 'JetBrains Mono, Inter' }}&gt;06&lt;/Text&gt;&lt;Box style={{ width: 78, height: 5, background: '#1E7BE0', marginTop: 10 }} /&gt;&lt;Text style={{ fontSize: 44, color: '#0E2340', fontWeight: 700, lineHeight: 1.2 }}&gt;学校端&lt;/Text&gt;&lt;/Box&gt;&lt;Box style={{ flexDirection: 'column', gap: 12 }}&gt;&lt;Box style={{ flexDirection: 'row', alignItems: 'center', background: '#F5F7FA', borderLeft: '4px solid #1E7BE0', borderRadius: 6, padding: '14px 20px' }}&gt;&lt;Text style={{ fontSize: 19, color: '#0E2340', fontWeight: 600, lineHeight: 1.5 }}&gt;教学改进与学校级体系管理&lt;/Text&gt;&lt;/Box&gt;&lt;Box style={{ flexDirection: 'row', alignItems: 'center', background: '#F5F7FA', borderLeft: '4px solid #1E7BE0', borderRadius: 6, padding: '14px 20px' }}&gt;&lt;Text style={{ fontSize: 19, color: '#0E2340', fontWeight: 600, lineHeight: 1.5 }}&gt;教师绩效多来源证据&lt;/Text&gt;&lt;/Box&gt;&lt;Box style={{ flexDirection: 'row', alignItems: 'center', background: '#F5F7FA', borderLeft: '4px solid #1E7BE0', borderRadius: 6, padding: '14px 20px' }}&gt;&lt;Text style={{ fontSize: 19, color: '#0E2340', fontWeight: 600, lineHeight: 1.5 }}&gt;底层体系可编辑与版本治理&lt;/Text&gt;&lt;/Box&gt;&lt;/Box&gt;&lt;Box style={{ flexDirection: 'column' }}&gt;&lt;Text style={{ fontSize: 13, color: '#7A8699', fontWeight: 400, lineHeight: 1.5 }}&gt;来源：学校端设计思路.md（更新日期 2026-10-25，学校端能力尚不作为已实现功能描述）&lt;/Text&gt;&lt;/Box&gt;&lt;/Box&gt;&lt;Box style={{ flex: 1, flexDirection: 'column', justifyContent: 'space-between', gap: 12 }}&gt;&lt;Text style={{ fontSize: 20, color: '#0E2340', fontWeight: 700, lineHeight: 1.4 }}&gt;汇报结构 · 13 章&lt;/Text&gt;&lt;Box style={{ flexDirection: 'column', gap: 10 }}&gt;&lt;Box style={{ flexDirection: 'row', gap: 10 }}&gt;&lt;Box style={{ width: 172, height: 64, borderRadius: 6, padding: '9px 12px', background: '#F5F7FA', flexDirection: 'column', justifyContent: 'center' }}&gt;&lt;Text style={{ fontSize: 18, color: '#0E2340', fontWeight: 700, lineHeight: 1.2 }}&gt;01&lt;/Text&gt;&lt;Text style={{ fontSize: 13, color: '#7A8699', fontWeight: 400, lineHeight: 1.3 }}&gt;概念地基&lt;/Text&gt;&lt;/Box&gt;&lt;Box style={{ width: 172, height: 64, borderRadius: 6, padding: '9px 12px', background: '#F5F7FA', flexDirection: 'column', justifyContent: 'center' }}&gt;&lt;Text style={{ fontSize: 18, color: '#0E2340', fontWeight: 700, lineHeight: 1.2 }}&gt;02&lt;/Text&gt;&lt;Text style={{ fontSize: 13, color: '#7A8699', fontWeight: 400, lineHeight: 1.3 }}&gt;现状盘点&lt;/Text&gt;&lt;/Box&gt;&lt;Box style={{ width: 172, height: 64, borderRadius: 6, padding: '9px 12px', background: '#F5F7FA', flexDirection: 'column', justifyContent: 'center' }}&gt;&lt;Text style={{ fontSize: 18, color: '#0E2340', fontWeight: 700, lineHeight: 1.2 }}&gt;03&lt;/Text&gt;&lt;Text style={{ fontSize: 13, color: '#7A8699', fontWeight: 400, lineHeight: 1.3 }}&gt;单题引擎&lt;/Text&gt;&lt;/Box&gt;&lt;/Box&gt;&lt;Box style={{ flexDirection: 'row', gap: 10 }}&gt;&lt;Box style={{ width: 172, height: 64, borderRadius: 6, padding: '9px 12px', background: '#F5F7FA', flexDirection: 'column', justifyContent: 'center' }}&gt;&lt;Text style={{ fontSize: 18, color: '#0E2340', fontWeight: 700, lineHeight: 1.2 }}&gt;04&lt;/Text&gt;&lt;Text style={{ fontSize: 13, color: '#7A8699', fontWeight: 400, lineHeight: 1.3 }}&gt;套路层面&lt;/Text&gt;&lt;/Box&gt;&lt;Box style={{ width: 172, height: 64, borderRadius: 6, padding: '9px 12px', background: '#F5F7FA', flexDirection: 'column', justifyContent: 'center' }}&gt;&lt;Text style={{ fontSize: 18, color: '#0E2340', fontWeight: 700, lineHeight: 1.2 }}&gt;05&lt;/Text&gt;&lt;Text style={{ fontSize: 13, color: '#7A8699', fontWeight: 400, lineHeight: 1.3 }}&gt;教师端&lt;/Text&gt;&lt;/Box&gt;&lt;Box style={{ width: 172, height: 64, borderRadius: 6, padding: '9px 12px', background: '#0E2340', flexDirection: 'column', justifyContent: 'center' }}&gt;&lt;Text style={{ fontSize: 18, color: '#FFFFFF', fontWeight: 700, lineHeight: 1.2 }}&gt;06&lt;/Text&gt;&lt;Text style={{ fontSize: 13, color: '#C8DCF2', fontWeight: 400, lineHeight: 1.3 }}&gt;学校端&lt;/Text&gt;&lt;/Box&gt;&lt;/Box&gt;&lt;Box style={{ flexDirection: 'row', gap: 10 }}&gt;&lt;Box style={{ width: 172, height: 64, borderRadius: 6, padding: '9px 12px', background: '#F5F7FA', flexDirection: 'column', justifyContent: 'center' }}&gt;&lt;Text style={{ fontSize: 18, color: '#0E2340', fontWeight: 700, lineHeight: 1.2 }}&gt;07&lt;/Text&gt;&lt;Text style={{ fontSize: 13, color: '#7A8699', fontWeight: 400, lineHeight: 1.3 }}&gt;试卷与生涯&lt;/Text&gt;&lt;/Box&gt;&lt;Box style={{ width: 172, height: 64, borderRadius: 6, padding: '9px 12px', background: '#F5F7FA', flexDirection: 'column', justifyContent: 'center' }}&gt;&lt;Text style={{ fontSize: 18, color: '#0E2340', fontWeight: 700, lineHeight: 1.2 }}&gt;08&lt;/Text&gt;&lt;Text style={{ fontSize: 13, color: '#7A8699', fontWeight: 400, lineHeight: 1.3 }}&gt;协同 Agent&lt;/Text&gt;&lt;/Box&gt;&lt;Box style={{ width: 172, height: 64, borderRadius: 6, padding: '9px 12px', background: '#F5F7FA', flexDirection: 'column', justifyContent: 'center' }}&gt;&lt;Text style={{ fontSize: 18, color: '#0E2340', fontWeight: 700, lineHeight: 1.2 }}&gt;09&lt;/Text&gt;&lt;Text style={{ fontSize: 13, color: '#7A8699', fontWeight: 400, lineHeight: 1.3 }}&gt;MCP 接入&lt;/Text&gt;&lt;/Box&gt;&lt;/Box&gt;&lt;Box style={{ flexDirection: 'row', gap: 10 }}&gt;&lt;Box style={{ width: 172, height: 64, borderRadius: 6, padding: '9px 12px', background: '#F5F7FA', flexDirection: 'column', justifyContent: 'center' }}&gt;&lt;Text style={{ fontSize: 18, color: '#0E2340', fontWeight: 700, lineHeight: 1.2 }}&gt;10&lt;/Text&gt;&lt;Text style={{ fontSize: 13, color: '#7A8699', fontWeight: 400, lineHeight: 1.3 }}&gt;待深化研究&lt;/Text&gt;&lt;/Box&gt;&lt;Box style={{ width: 172, height: 64, borderRadius: 6, padding: '9px 12px', background: '#F5F7FA', flexDirection: 'column', justifyContent: 'center' }}&gt;&lt;Text style={{ fontSize: 18, color: '#0E2340', fontWeight: 700, lineHeight: 1.2 }}&gt;11&lt;/Text&gt;&lt;Text style={{ fontSize: 13, color: '#7A8699', fontWeight: 400, lineHeight: 1.3 }}&gt;落地与边界&lt;/Text&gt;&lt;/Box&gt;&lt;Box style={{ width: 172, height: 64, borderRadius: 6, padding: '9px 12px', background: '#F5F7FA', flexDirection: 'column', justifyContent: 'center' }}&gt;&lt;Text style={{ fontSize: 18, color: '#0E2340', fontWeight: 700, lineHeight: 1.2 }}&gt;12&lt;/Text&gt;&lt;Text style={{ fontSize: 13, color: '#7A8699', fontWeight: 400, lineHeight: 1.3 }}&gt;自进化与扩展&lt;/Text&gt;&lt;/Box&gt;&lt;/Box&gt;&lt;Box style={{ flexDirection: 'row', gap: 10 }}&gt;&lt;Box style={{ width: 172, height: 64, borderRadius: 6, padding: '9px 12px', background: '#F5F7FA', flexDirection: 'column', justifyContent: 'center' }}&gt;&lt;Text style={{ fontSize: 18, color: '#0E2340', fontWeight: 700, lineHeight: 1.2 }}&gt;13&lt;/Text&gt;&lt;Text style={{ fontSize: 13, color: '#7A8699', fontWeight: 400, lineHeight: 1.3 }}&gt;收尾&lt;/Text&gt;&lt;/Box&gt;&lt;/Box&gt;&lt;/Box&gt;&lt;Box style={{ flexDirection: 'row', alignItems: 'center', gap: 10, background: '#F5F7FA', borderRadius: 6, padding: '10px 14px' }}&gt;&lt;Box style={{ width: 6, height: 22, background: '#00A9B5' }} /&gt;&lt;Text style={{ fontSize: 15, color: '#0E2340', fontWeight: 600, lineHeight: 1.4 }}&gt;当前位置：第 06 章 · 学校端&lt;/Text&gt;&lt;/Box&gt;&lt;Box style={{ flexDirection: 'row', gap: 10 }}&gt;&lt;Box style={{ flex: 1, flexDirection: 'row', alignItems: 'center', gap: 8, borderRadius: 6, padding: '9px 10px', background: '#F5F7FA' }}&gt;&lt;Box style={{ width: 10, height: 10, borderRadius: 5, background: '#1E9E62' }} /&gt;&lt;Text style={{ fontSize: 14, color: '#333A45', fontWeight: 600, lineHeight: 1.3 }}&gt;已实现&lt;/Text&gt;&lt;/Box&gt;&lt;Box style={{ flex: 1, flexDirection: 'row', alignItems: 'center', gap: 8, borderRadius: 6, padding: '9px 10px', background: '#F5F7FA' }}&gt;&lt;Box style={{ width: 10, height: 10, borderRadius: 5, background: '#E8A33D' }} /&gt;&lt;Text style={{ fontSize: 14, color: '#333A45', fontWeight: 600, lineHeight: 1.3 }}&gt;部分实现&lt;/Text&gt;&lt;/Box&gt;&lt;Box style={{ flex: 1, flexDirection: 'row', alignItems: 'center', gap: 8, borderRadius: 6, padding: '9px 10px', background: '#F5F7FA' }}&gt;&lt;Box style={{ width: 10, height: 10, borderRadius: 5, background: '#1E7BE0' }} /&gt;&lt;Text style={{ fontSize: 14, color: '#333A45', fontWeight: 600, lineHeight: 1.3 }}&gt;设计中&lt;/Text&gt;&lt;/Box&gt;&lt;Box style={{ flex: 1, flexDirection: 'row', alignItems: 'center', gap: 8, borderRadius: 6, padding: '9px 10px', background: '#F5F7FA' }}&gt;&lt;Box style={{ width: 10, height: 10, borderRadius: 5, background: '#98A2B3' }} /&gt;&lt;Text style={{ fontSize: 14, color: '#333A45', fontWeight: 600, lineHeight: 1.3 }}&gt;待研究&lt;/Text&gt;&lt;/Box&gt;&lt;/Box&gt;&lt;Box style={{ flexDirection: 'row', alignItems: 'center', gap: 12, borderTop: '1px solid #E3E8EF', paddingTop: 14 }}&gt;&lt;Box style={{ width: 46, height: 5, background: '#00A9B5' }} /&gt;&lt;Text style={{ fontSize: 15, color: '#7A8699', fontWeight: 600, lineHeight: 1.4 }}&gt;StudyAgent 项目设计汇报 · 技术评审版 · 共 124 页&lt;/Text&gt;&lt;/Box&gt;&lt;/Box&gt;&lt;/Box&gt;&lt;/Slide&gt;"/>
        <p:cNvGrpSpPr/>
        <p:nvPr/>
      </p:nvGrpSpPr>
      <p:grpSpPr>
        <a:xfrm>
          <a:off x="0" y="0"/>
          <a:ext cx="0" cy="0"/>
          <a:chOff x="0" y="0"/>
          <a:chExt cx="0" cy="0"/>
        </a:xfrm>
      </p:grpSpPr>
      <p:sp>
        <p:nvSpPr>
          <p:cNvPr id="2020" name=""/>
          <p:cNvSpPr/>
          <p:nvPr/>
        </p:nvSpPr>
        <p:spPr>
          <a:xfrm rot="0" flipH="0" flipV="0">
            <a:off x="0" y="0"/>
            <a:ext cx="12192000" cy="6858000"/>
          </a:xfrm>
          <a:prstGeom prst="rect">
            <a:avLst/>
          </a:prstGeom>
          <a:solidFill>
            <a:srgbClr val="FFFFFF"/>
          </a:solidFill>
          <a:ln/>
        </p:spPr>
        <p:txBody>
          <a:bodyPr/>
          <a:p/>
        </p:txBody>
      </p:sp>
      <p:pic>
        <p:nvPicPr>
          <p:cNvPr id="2021" name=""/>
          <p:cNvPicPr>
            <a:picLocks noChangeAspect="1"/>
          </p:cNvPicPr>
          <p:nvPr/>
        </p:nvPicPr>
        <p:blipFill>
          <a:blip>
            <a:extLst>
              <a:ext uri="{96DAC541-7B7A-43D3-8B79-37D633B846F1}">
                <asvg:svgBlip r:embed="rId1"/>
              </a:ext>
            </a:extLst>
          </a:blip>
          <a:stretch>
            <a:fillRect/>
          </a:stretch>
        </p:blipFill>
        <p:spPr>
          <a:xfrm rot="0" flipH="0" flipV="0">
            <a:off x="0" y="0"/>
            <a:ext cx="12192000" cy="6858000"/>
          </a:xfrm>
          <a:prstGeom prst="rect">
            <a:avLst/>
          </a:prstGeom>
          <a:ln/>
        </p:spPr>
      </p:pic>
      <p:sp>
        <p:nvSpPr>
          <p:cNvPr id="2022" name="" descr="{&quot;isTemplate&quot;:true,&quot;type&quot;:&quot;text&quot;}"/>
          <p:cNvSpPr txBox="1"/>
          <p:nvPr/>
        </p:nvSpPr>
        <p:spPr>
          <a:xfrm rot="0" flipH="0" flipV="0">
            <a:off x="762000" y="457200"/>
            <a:ext cx="4953000" cy="247650"/>
          </a:xfrm>
          <a:prstGeom prst="rect"/>
        </p:spPr>
        <p:txBody>
          <a:bodyPr wrap="none" lIns="0" tIns="0" rIns="0" bIns="0"/>
          <a:p>
            <a:pPr>
              <a:lnSpc>
                <a:spcPct val="140000"/>
              </a:lnSpc>
            </a:pPr>
            <a:r>
              <a:rPr lang="en-US" sz="1125" b="1" spc="150">
                <a:solidFill>
                  <a:srgbClr val="1E7BE0"/>
                </a:solidFill>
                <a:latin typeface="Microsoft YaHei"/>
                <a:ea typeface="Microsoft YaHei"/>
              </a:rPr>
              <a:t>STUDYAGENT · DESIGN REVIEW</a:t>
            </a:r>
            <a:endParaRPr/>
          </a:p>
        </p:txBody>
      </p:sp>
      <p:sp>
        <p:nvSpPr>
          <p:cNvPr id="2023" name="" descr="{&quot;isTemplate&quot;:true,&quot;type&quot;:&quot;text&quot;}"/>
          <p:cNvSpPr txBox="1"/>
          <p:nvPr/>
        </p:nvSpPr>
        <p:spPr>
          <a:xfrm rot="0" flipH="0" flipV="0">
            <a:off x="762000" y="1133475"/>
            <a:ext cx="4953000" cy="1143000"/>
          </a:xfrm>
          <a:prstGeom prst="rect"/>
        </p:spPr>
        <p:txBody>
          <a:bodyPr wrap="none" lIns="0" tIns="0" rIns="0" bIns="0"/>
          <a:p>
            <a:pPr>
              <a:lnSpc>
                <a:spcPct val="100000"/>
              </a:lnSpc>
            </a:pPr>
            <a:r>
              <a:rPr lang="en-US" sz="7500" b="1">
                <a:solidFill>
                  <a:srgbClr val="0E2340"/>
                </a:solidFill>
                <a:latin typeface="JetBrains Mono"/>
                <a:ea typeface="JetBrains Mono"/>
              </a:rPr>
              <a:t>06</a:t>
            </a:r>
            <a:endParaRPr/>
          </a:p>
        </p:txBody>
      </p:sp>
      <p:sp>
        <p:nvSpPr>
          <p:cNvPr id="2024" name=""/>
          <p:cNvSpPr/>
          <p:nvPr/>
        </p:nvSpPr>
        <p:spPr>
          <a:xfrm rot="0" flipH="0" flipV="0">
            <a:off x="762000" y="2371725"/>
            <a:ext cx="742950" cy="47625"/>
          </a:xfrm>
          <a:prstGeom prst="rect">
            <a:avLst/>
          </a:prstGeom>
          <a:solidFill>
            <a:srgbClr val="1E7BE0"/>
          </a:solidFill>
          <a:ln/>
        </p:spPr>
        <p:txBody>
          <a:bodyPr/>
          <a:p/>
        </p:txBody>
      </p:sp>
      <p:sp>
        <p:nvSpPr>
          <p:cNvPr id="2025" name="" descr="{&quot;isTemplate&quot;:true,&quot;type&quot;:&quot;text&quot;}"/>
          <p:cNvSpPr txBox="1"/>
          <p:nvPr/>
        </p:nvSpPr>
        <p:spPr>
          <a:xfrm rot="0" flipH="0" flipV="0">
            <a:off x="762000" y="2419350"/>
            <a:ext cx="4953000" cy="609600"/>
          </a:xfrm>
          <a:prstGeom prst="rect"/>
        </p:spPr>
        <p:txBody>
          <a:bodyPr wrap="none" lIns="0" tIns="0" rIns="0" bIns="0"/>
          <a:p>
            <a:pPr>
              <a:lnSpc>
                <a:spcPct val="120000"/>
              </a:lnSpc>
            </a:pPr>
            <a:r>
              <a:rPr lang="zh-CN" sz="3300" b="1">
                <a:solidFill>
                  <a:srgbClr val="0E2340"/>
                </a:solidFill>
                <a:latin typeface="Microsoft YaHei"/>
                <a:ea typeface="Microsoft YaHei"/>
              </a:rPr>
              <a:t>学校端</a:t>
            </a:r>
            <a:endParaRPr/>
          </a:p>
        </p:txBody>
      </p:sp>
      <p:sp>
        <p:nvSpPr>
          <p:cNvPr id="2026" name=""/>
          <p:cNvSpPr/>
          <p:nvPr/>
        </p:nvSpPr>
        <p:spPr>
          <a:xfrm rot="0" flipH="0" flipV="0">
            <a:off x="800100" y="3457575"/>
            <a:ext cx="4953000" cy="600075"/>
          </a:xfrm>
          <a:prstGeom prst="roundRect">
            <a:avLst>
              <a:gd name="adj" fmla="val 9524"/>
            </a:avLst>
          </a:prstGeom>
          <a:solidFill>
            <a:srgbClr val="F5F7FA"/>
          </a:solidFill>
          <a:ln/>
        </p:spPr>
        <p:txBody>
          <a:bodyPr/>
          <a:p/>
        </p:txBody>
      </p:sp>
      <p:sp>
        <p:nvSpPr>
          <p:cNvPr id="2027" name=""/>
          <p:cNvSpPr/>
          <p:nvPr/>
        </p:nvSpPr>
        <p:spPr>
          <a:xfrm rot="0" flipH="0" flipV="0">
            <a:off x="800100" y="3457575"/>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2028" name="" descr="{&quot;isTemplate&quot;:true,&quot;type&quot;:&quot;text&quot;}"/>
          <p:cNvSpPr txBox="1"/>
          <p:nvPr/>
        </p:nvSpPr>
        <p:spPr>
          <a:xfrm rot="0" flipH="0" flipV="0">
            <a:off x="990600" y="3590925"/>
            <a:ext cx="2171700" cy="333375"/>
          </a:xfrm>
          <a:prstGeom prst="rect"/>
        </p:spPr>
        <p:txBody>
          <a:bodyPr wrap="none" lIns="0" tIns="0" rIns="0" bIns="0"/>
          <a:p>
            <a:pPr>
              <a:lnSpc>
                <a:spcPct val="150000"/>
              </a:lnSpc>
            </a:pPr>
            <a:r>
              <a:rPr lang="zh-CN" sz="1425" b="1">
                <a:solidFill>
                  <a:srgbClr val="0E2340"/>
                </a:solidFill>
                <a:latin typeface="Microsoft YaHei"/>
                <a:ea typeface="Microsoft YaHei"/>
              </a:rPr>
              <a:t>教学改进与学校级体系管理</a:t>
            </a:r>
            <a:endParaRPr/>
          </a:p>
        </p:txBody>
      </p:sp>
      <p:sp>
        <p:nvSpPr>
          <p:cNvPr id="2029" name=""/>
          <p:cNvSpPr/>
          <p:nvPr/>
        </p:nvSpPr>
        <p:spPr>
          <a:xfrm rot="0" flipH="0" flipV="0">
            <a:off x="800100" y="4171950"/>
            <a:ext cx="4953000" cy="600075"/>
          </a:xfrm>
          <a:prstGeom prst="roundRect">
            <a:avLst>
              <a:gd name="adj" fmla="val 9524"/>
            </a:avLst>
          </a:prstGeom>
          <a:solidFill>
            <a:srgbClr val="F5F7FA"/>
          </a:solidFill>
          <a:ln/>
        </p:spPr>
        <p:txBody>
          <a:bodyPr/>
          <a:p/>
        </p:txBody>
      </p:sp>
      <p:sp>
        <p:nvSpPr>
          <p:cNvPr id="2030" name=""/>
          <p:cNvSpPr/>
          <p:nvPr/>
        </p:nvSpPr>
        <p:spPr>
          <a:xfrm rot="0" flipH="0" flipV="0">
            <a:off x="800100" y="417195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2031" name="" descr="{&quot;isTemplate&quot;:true,&quot;type&quot;:&quot;text&quot;}"/>
          <p:cNvSpPr txBox="1"/>
          <p:nvPr/>
        </p:nvSpPr>
        <p:spPr>
          <a:xfrm rot="0" flipH="0" flipV="0">
            <a:off x="990600" y="4305300"/>
            <a:ext cx="1628775" cy="333375"/>
          </a:xfrm>
          <a:prstGeom prst="rect"/>
        </p:spPr>
        <p:txBody>
          <a:bodyPr wrap="none" lIns="0" tIns="0" rIns="0" bIns="0"/>
          <a:p>
            <a:pPr>
              <a:lnSpc>
                <a:spcPct val="150000"/>
              </a:lnSpc>
            </a:pPr>
            <a:r>
              <a:rPr lang="zh-CN" sz="1425" b="1">
                <a:solidFill>
                  <a:srgbClr val="0E2340"/>
                </a:solidFill>
                <a:latin typeface="Microsoft YaHei"/>
                <a:ea typeface="Microsoft YaHei"/>
              </a:rPr>
              <a:t>教师绩效多来源证据</a:t>
            </a:r>
            <a:endParaRPr/>
          </a:p>
        </p:txBody>
      </p:sp>
      <p:sp>
        <p:nvSpPr>
          <p:cNvPr id="2032" name=""/>
          <p:cNvSpPr/>
          <p:nvPr/>
        </p:nvSpPr>
        <p:spPr>
          <a:xfrm rot="0" flipH="0" flipV="0">
            <a:off x="800100" y="4886325"/>
            <a:ext cx="4953000" cy="600075"/>
          </a:xfrm>
          <a:prstGeom prst="roundRect">
            <a:avLst>
              <a:gd name="adj" fmla="val 9524"/>
            </a:avLst>
          </a:prstGeom>
          <a:solidFill>
            <a:srgbClr val="F5F7FA"/>
          </a:solidFill>
          <a:ln/>
        </p:spPr>
        <p:txBody>
          <a:bodyPr/>
          <a:p/>
        </p:txBody>
      </p:sp>
      <p:sp>
        <p:nvSpPr>
          <p:cNvPr id="2033" name=""/>
          <p:cNvSpPr/>
          <p:nvPr/>
        </p:nvSpPr>
        <p:spPr>
          <a:xfrm rot="0" flipH="0" flipV="0">
            <a:off x="800100" y="4886325"/>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2034" name="" descr="{&quot;isTemplate&quot;:true,&quot;type&quot;:&quot;text&quot;}"/>
          <p:cNvSpPr txBox="1"/>
          <p:nvPr/>
        </p:nvSpPr>
        <p:spPr>
          <a:xfrm rot="0" flipH="0" flipV="0">
            <a:off x="990600" y="5019675"/>
            <a:ext cx="2171700" cy="333375"/>
          </a:xfrm>
          <a:prstGeom prst="rect"/>
        </p:spPr>
        <p:txBody>
          <a:bodyPr wrap="none" lIns="0" tIns="0" rIns="0" bIns="0"/>
          <a:p>
            <a:pPr>
              <a:lnSpc>
                <a:spcPct val="150000"/>
              </a:lnSpc>
            </a:pPr>
            <a:r>
              <a:rPr lang="zh-CN" sz="1425" b="1">
                <a:solidFill>
                  <a:srgbClr val="0E2340"/>
                </a:solidFill>
                <a:latin typeface="Microsoft YaHei"/>
                <a:ea typeface="Microsoft YaHei"/>
              </a:rPr>
              <a:t>底层体系可编辑与版本治理</a:t>
            </a:r>
            <a:endParaRPr/>
          </a:p>
        </p:txBody>
      </p:sp>
      <p:sp>
        <p:nvSpPr>
          <p:cNvPr id="2035" name="" descr="{&quot;isTemplate&quot;:true,&quot;type&quot;:&quot;text&quot;}"/>
          <p:cNvSpPr txBox="1"/>
          <p:nvPr/>
        </p:nvSpPr>
        <p:spPr>
          <a:xfrm rot="0" flipH="0" flipV="0">
            <a:off x="762000" y="5915025"/>
            <a:ext cx="4953000" cy="447675"/>
          </a:xfrm>
          <a:prstGeom prst="rect"/>
        </p:spPr>
        <p:txBody>
          <a:bodyPr wrap="square" lIns="0" tIns="0" rIns="0" bIns="0">
            <a:normAutofit/>
          </a:bodyPr>
          <a:p>
            <a:pPr>
              <a:lnSpc>
                <a:spcPct val="150000"/>
              </a:lnSpc>
            </a:pPr>
            <a:r>
              <a:rPr lang="zh-CN" sz="975">
                <a:solidFill>
                  <a:srgbClr val="7A8699"/>
                </a:solidFill>
                <a:latin typeface="Microsoft YaHei"/>
                <a:ea typeface="Microsoft YaHei"/>
              </a:rPr>
              <a:t>来源：学校端设计思路</a:t>
            </a:r>
            <a:r>
              <a:rPr lang="en-US" sz="975">
                <a:solidFill>
                  <a:srgbClr val="7A8699"/>
                </a:solidFill>
                <a:latin typeface="Microsoft YaHei"/>
                <a:ea typeface="Microsoft YaHei"/>
              </a:rPr>
              <a:t>.md</a:t>
            </a:r>
            <a:r>
              <a:rPr lang="zh-CN" sz="975">
                <a:solidFill>
                  <a:srgbClr val="7A8699"/>
                </a:solidFill>
                <a:latin typeface="Microsoft YaHei"/>
                <a:ea typeface="Microsoft YaHei"/>
              </a:rPr>
              <a:t>（更新日期</a:t>
            </a:r>
            <a:r>
              <a:rPr lang="en-US" sz="975">
                <a:solidFill>
                  <a:srgbClr val="7A8699"/>
                </a:solidFill>
                <a:latin typeface="Microsoft YaHei"/>
                <a:ea typeface="Microsoft YaHei"/>
              </a:rPr>
              <a:t xml:space="preserve"> 2026-10-25</a:t>
            </a:r>
            <a:r>
              <a:rPr lang="zh-CN" sz="975">
                <a:solidFill>
                  <a:srgbClr val="7A8699"/>
                </a:solidFill>
                <a:latin typeface="Microsoft YaHei"/>
                <a:ea typeface="Microsoft YaHei"/>
              </a:rPr>
              <a:t>，学校端能力尚不作为已实现功能描述）</a:t>
            </a:r>
            <a:endParaRPr/>
          </a:p>
        </p:txBody>
      </p:sp>
      <p:sp>
        <p:nvSpPr>
          <p:cNvPr id="2036" name="" descr="{&quot;isTemplate&quot;:true,&quot;type&quot;:&quot;text&quot;}"/>
          <p:cNvSpPr txBox="1"/>
          <p:nvPr/>
        </p:nvSpPr>
        <p:spPr>
          <a:xfrm rot="0" flipH="0" flipV="0">
            <a:off x="6134100" y="457200"/>
            <a:ext cx="5295900" cy="323850"/>
          </a:xfrm>
          <a:prstGeom prst="rect"/>
        </p:spPr>
        <p:txBody>
          <a:bodyPr wrap="none" lIns="0" tIns="0" rIns="0" bIns="0"/>
          <a:p>
            <a:pPr>
              <a:lnSpc>
                <a:spcPct val="140000"/>
              </a:lnSpc>
            </a:pPr>
            <a:r>
              <a:rPr lang="zh-CN" sz="1500" b="1">
                <a:solidFill>
                  <a:srgbClr val="0E2340"/>
                </a:solidFill>
                <a:latin typeface="Microsoft YaHei"/>
                <a:ea typeface="Microsoft YaHei"/>
              </a:rPr>
              <a:t>汇报结构</a:t>
            </a:r>
            <a:r>
              <a:rPr lang="en-US" sz="1500" b="1">
                <a:solidFill>
                  <a:srgbClr val="0E2340"/>
                </a:solidFill>
                <a:latin typeface="Microsoft YaHei"/>
                <a:ea typeface="Microsoft YaHei"/>
              </a:rPr>
              <a:t xml:space="preserve"> · 13 </a:t>
            </a:r>
            <a:r>
              <a:rPr lang="zh-CN" sz="1500" b="1">
                <a:solidFill>
                  <a:srgbClr val="0E2340"/>
                </a:solidFill>
                <a:latin typeface="Microsoft YaHei"/>
                <a:ea typeface="Microsoft YaHei"/>
              </a:rPr>
              <a:t>章</a:t>
            </a:r>
            <a:endParaRPr/>
          </a:p>
        </p:txBody>
      </p:sp>
      <p:sp>
        <p:nvSpPr>
          <p:cNvPr id="2037" name=""/>
          <p:cNvSpPr/>
          <p:nvPr/>
        </p:nvSpPr>
        <p:spPr>
          <a:xfrm rot="0" flipH="0" flipV="0">
            <a:off x="6134100" y="1019175"/>
            <a:ext cx="1638300" cy="609600"/>
          </a:xfrm>
          <a:prstGeom prst="roundRect">
            <a:avLst>
              <a:gd name="adj" fmla="val 9375"/>
            </a:avLst>
          </a:prstGeom>
          <a:solidFill>
            <a:srgbClr val="F5F7FA"/>
          </a:solidFill>
          <a:ln/>
        </p:spPr>
        <p:txBody>
          <a:bodyPr/>
          <a:p/>
        </p:txBody>
      </p:sp>
      <p:sp>
        <p:nvSpPr>
          <p:cNvPr id="2038" name="" descr="{&quot;isTemplate&quot;:true,&quot;type&quot;:&quot;text&quot;}"/>
          <p:cNvSpPr txBox="1"/>
          <p:nvPr/>
        </p:nvSpPr>
        <p:spPr>
          <a:xfrm rot="0" flipH="0" flipV="0">
            <a:off x="62484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01</a:t>
            </a:r>
            <a:endParaRPr/>
          </a:p>
        </p:txBody>
      </p:sp>
      <p:sp>
        <p:nvSpPr>
          <p:cNvPr id="2039" name="" descr="{&quot;isTemplate&quot;:true,&quot;type&quot;:&quot;text&quot;}"/>
          <p:cNvSpPr txBox="1"/>
          <p:nvPr/>
        </p:nvSpPr>
        <p:spPr>
          <a:xfrm rot="0" flipH="0" flipV="0">
            <a:off x="62484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概念地基</a:t>
            </a:r>
            <a:endParaRPr/>
          </a:p>
        </p:txBody>
      </p:sp>
      <p:sp>
        <p:nvSpPr>
          <p:cNvPr id="2040" name=""/>
          <p:cNvSpPr/>
          <p:nvPr/>
        </p:nvSpPr>
        <p:spPr>
          <a:xfrm rot="0" flipH="0" flipV="0">
            <a:off x="7867650" y="1019175"/>
            <a:ext cx="1638300" cy="609600"/>
          </a:xfrm>
          <a:prstGeom prst="roundRect">
            <a:avLst>
              <a:gd name="adj" fmla="val 9375"/>
            </a:avLst>
          </a:prstGeom>
          <a:solidFill>
            <a:srgbClr val="F5F7FA"/>
          </a:solidFill>
          <a:ln/>
        </p:spPr>
        <p:txBody>
          <a:bodyPr/>
          <a:p/>
        </p:txBody>
      </p:sp>
      <p:sp>
        <p:nvSpPr>
          <p:cNvPr id="2041" name="" descr="{&quot;isTemplate&quot;:true,&quot;type&quot;:&quot;text&quot;}"/>
          <p:cNvSpPr txBox="1"/>
          <p:nvPr/>
        </p:nvSpPr>
        <p:spPr>
          <a:xfrm rot="0" flipH="0" flipV="0">
            <a:off x="798195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02</a:t>
            </a:r>
            <a:endParaRPr/>
          </a:p>
        </p:txBody>
      </p:sp>
      <p:sp>
        <p:nvSpPr>
          <p:cNvPr id="2042" name="" descr="{&quot;isTemplate&quot;:true,&quot;type&quot;:&quot;text&quot;}"/>
          <p:cNvSpPr txBox="1"/>
          <p:nvPr/>
        </p:nvSpPr>
        <p:spPr>
          <a:xfrm rot="0" flipH="0" flipV="0">
            <a:off x="798195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现状盘点</a:t>
            </a:r>
            <a:endParaRPr/>
          </a:p>
        </p:txBody>
      </p:sp>
      <p:sp>
        <p:nvSpPr>
          <p:cNvPr id="2043" name=""/>
          <p:cNvSpPr/>
          <p:nvPr/>
        </p:nvSpPr>
        <p:spPr>
          <a:xfrm rot="0" flipH="0" flipV="0">
            <a:off x="9601200" y="1019175"/>
            <a:ext cx="1638300" cy="609600"/>
          </a:xfrm>
          <a:prstGeom prst="roundRect">
            <a:avLst>
              <a:gd name="adj" fmla="val 9375"/>
            </a:avLst>
          </a:prstGeom>
          <a:solidFill>
            <a:srgbClr val="F5F7FA"/>
          </a:solidFill>
          <a:ln/>
        </p:spPr>
        <p:txBody>
          <a:bodyPr/>
          <a:p/>
        </p:txBody>
      </p:sp>
      <p:sp>
        <p:nvSpPr>
          <p:cNvPr id="2044" name="" descr="{&quot;isTemplate&quot;:true,&quot;type&quot;:&quot;text&quot;}"/>
          <p:cNvSpPr txBox="1"/>
          <p:nvPr/>
        </p:nvSpPr>
        <p:spPr>
          <a:xfrm rot="0" flipH="0" flipV="0">
            <a:off x="97155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03</a:t>
            </a:r>
            <a:endParaRPr/>
          </a:p>
        </p:txBody>
      </p:sp>
      <p:sp>
        <p:nvSpPr>
          <p:cNvPr id="2045" name="" descr="{&quot;isTemplate&quot;:true,&quot;type&quot;:&quot;text&quot;}"/>
          <p:cNvSpPr txBox="1"/>
          <p:nvPr/>
        </p:nvSpPr>
        <p:spPr>
          <a:xfrm rot="0" flipH="0" flipV="0">
            <a:off x="97155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单题引擎</a:t>
            </a:r>
            <a:endParaRPr/>
          </a:p>
        </p:txBody>
      </p:sp>
      <p:sp>
        <p:nvSpPr>
          <p:cNvPr id="2046" name=""/>
          <p:cNvSpPr/>
          <p:nvPr/>
        </p:nvSpPr>
        <p:spPr>
          <a:xfrm rot="0" flipH="0" flipV="0">
            <a:off x="6134100" y="1724025"/>
            <a:ext cx="1638300" cy="609600"/>
          </a:xfrm>
          <a:prstGeom prst="roundRect">
            <a:avLst>
              <a:gd name="adj" fmla="val 9375"/>
            </a:avLst>
          </a:prstGeom>
          <a:solidFill>
            <a:srgbClr val="F5F7FA"/>
          </a:solidFill>
          <a:ln/>
        </p:spPr>
        <p:txBody>
          <a:bodyPr/>
          <a:p/>
        </p:txBody>
      </p:sp>
      <p:sp>
        <p:nvSpPr>
          <p:cNvPr id="2047" name="" descr="{&quot;isTemplate&quot;:true,&quot;type&quot;:&quot;text&quot;}"/>
          <p:cNvSpPr txBox="1"/>
          <p:nvPr/>
        </p:nvSpPr>
        <p:spPr>
          <a:xfrm rot="0" flipH="0" flipV="0">
            <a:off x="62484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04</a:t>
            </a:r>
            <a:endParaRPr/>
          </a:p>
        </p:txBody>
      </p:sp>
      <p:sp>
        <p:nvSpPr>
          <p:cNvPr id="2048" name="" descr="{&quot;isTemplate&quot;:true,&quot;type&quot;:&quot;text&quot;}"/>
          <p:cNvSpPr txBox="1"/>
          <p:nvPr/>
        </p:nvSpPr>
        <p:spPr>
          <a:xfrm rot="0" flipH="0" flipV="0">
            <a:off x="62484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套路层面</a:t>
            </a:r>
            <a:endParaRPr/>
          </a:p>
        </p:txBody>
      </p:sp>
      <p:sp>
        <p:nvSpPr>
          <p:cNvPr id="2049" name=""/>
          <p:cNvSpPr/>
          <p:nvPr/>
        </p:nvSpPr>
        <p:spPr>
          <a:xfrm rot="0" flipH="0" flipV="0">
            <a:off x="7867650" y="1724025"/>
            <a:ext cx="1638300" cy="609600"/>
          </a:xfrm>
          <a:prstGeom prst="roundRect">
            <a:avLst>
              <a:gd name="adj" fmla="val 9375"/>
            </a:avLst>
          </a:prstGeom>
          <a:solidFill>
            <a:srgbClr val="F5F7FA"/>
          </a:solidFill>
          <a:ln/>
        </p:spPr>
        <p:txBody>
          <a:bodyPr/>
          <a:p/>
        </p:txBody>
      </p:sp>
      <p:sp>
        <p:nvSpPr>
          <p:cNvPr id="2050" name="" descr="{&quot;isTemplate&quot;:true,&quot;type&quot;:&quot;text&quot;}"/>
          <p:cNvSpPr txBox="1"/>
          <p:nvPr/>
        </p:nvSpPr>
        <p:spPr>
          <a:xfrm rot="0" flipH="0" flipV="0">
            <a:off x="798195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05</a:t>
            </a:r>
            <a:endParaRPr/>
          </a:p>
        </p:txBody>
      </p:sp>
      <p:sp>
        <p:nvSpPr>
          <p:cNvPr id="2051" name="" descr="{&quot;isTemplate&quot;:true,&quot;type&quot;:&quot;text&quot;}"/>
          <p:cNvSpPr txBox="1"/>
          <p:nvPr/>
        </p:nvSpPr>
        <p:spPr>
          <a:xfrm rot="0" flipH="0" flipV="0">
            <a:off x="798195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教师端</a:t>
            </a:r>
            <a:endParaRPr/>
          </a:p>
        </p:txBody>
      </p:sp>
      <p:sp>
        <p:nvSpPr>
          <p:cNvPr id="2052" name=""/>
          <p:cNvSpPr/>
          <p:nvPr/>
        </p:nvSpPr>
        <p:spPr>
          <a:xfrm rot="0" flipH="0" flipV="0">
            <a:off x="9601200" y="1724025"/>
            <a:ext cx="1638300" cy="609600"/>
          </a:xfrm>
          <a:prstGeom prst="roundRect">
            <a:avLst>
              <a:gd name="adj" fmla="val 9375"/>
            </a:avLst>
          </a:prstGeom>
          <a:solidFill>
            <a:srgbClr val="0E2340"/>
          </a:solidFill>
          <a:ln/>
        </p:spPr>
        <p:txBody>
          <a:bodyPr/>
          <a:p/>
        </p:txBody>
      </p:sp>
      <p:sp>
        <p:nvSpPr>
          <p:cNvPr id="2053" name="" descr="{&quot;isTemplate&quot;:true,&quot;type&quot;:&quot;text&quot;}"/>
          <p:cNvSpPr txBox="1"/>
          <p:nvPr/>
        </p:nvSpPr>
        <p:spPr>
          <a:xfrm rot="0" flipH="0" flipV="0">
            <a:off x="9715500" y="1809750"/>
            <a:ext cx="1409700" cy="247650"/>
          </a:xfrm>
          <a:prstGeom prst="rect"/>
        </p:spPr>
        <p:txBody>
          <a:bodyPr wrap="none" lIns="0" tIns="0" rIns="0" bIns="0"/>
          <a:p>
            <a:pPr>
              <a:lnSpc>
                <a:spcPct val="120000"/>
              </a:lnSpc>
            </a:pPr>
            <a:r>
              <a:rPr lang="en-US" sz="1350" b="1">
                <a:solidFill>
                  <a:srgbClr val="FFFFFF"/>
                </a:solidFill>
                <a:latin typeface="Microsoft YaHei"/>
                <a:ea typeface="Microsoft YaHei"/>
              </a:rPr>
              <a:t>06</a:t>
            </a:r>
            <a:endParaRPr/>
          </a:p>
        </p:txBody>
      </p:sp>
      <p:sp>
        <p:nvSpPr>
          <p:cNvPr id="2054" name="" descr="{&quot;isTemplate&quot;:true,&quot;type&quot;:&quot;text&quot;}"/>
          <p:cNvSpPr txBox="1"/>
          <p:nvPr/>
        </p:nvSpPr>
        <p:spPr>
          <a:xfrm rot="0" flipH="0" flipV="0">
            <a:off x="9715500" y="2057400"/>
            <a:ext cx="1409700" cy="200025"/>
          </a:xfrm>
          <a:prstGeom prst="rect"/>
        </p:spPr>
        <p:txBody>
          <a:bodyPr wrap="none" lIns="0" tIns="0" rIns="0" bIns="0"/>
          <a:p>
            <a:pPr>
              <a:lnSpc>
                <a:spcPct val="130000"/>
              </a:lnSpc>
            </a:pPr>
            <a:r>
              <a:rPr lang="zh-CN" sz="975">
                <a:solidFill>
                  <a:srgbClr val="C8DCF2"/>
                </a:solidFill>
                <a:latin typeface="Microsoft YaHei"/>
                <a:ea typeface="Microsoft YaHei"/>
              </a:rPr>
              <a:t>学校端</a:t>
            </a:r>
            <a:endParaRPr/>
          </a:p>
        </p:txBody>
      </p:sp>
      <p:sp>
        <p:nvSpPr>
          <p:cNvPr id="2055" name=""/>
          <p:cNvSpPr/>
          <p:nvPr/>
        </p:nvSpPr>
        <p:spPr>
          <a:xfrm rot="0" flipH="0" flipV="0">
            <a:off x="6134100" y="2428875"/>
            <a:ext cx="1638300" cy="609600"/>
          </a:xfrm>
          <a:prstGeom prst="roundRect">
            <a:avLst>
              <a:gd name="adj" fmla="val 9375"/>
            </a:avLst>
          </a:prstGeom>
          <a:solidFill>
            <a:srgbClr val="F5F7FA"/>
          </a:solidFill>
          <a:ln/>
        </p:spPr>
        <p:txBody>
          <a:bodyPr/>
          <a:p/>
        </p:txBody>
      </p:sp>
      <p:sp>
        <p:nvSpPr>
          <p:cNvPr id="2056" name="" descr="{&quot;isTemplate&quot;:true,&quot;type&quot;:&quot;text&quot;}"/>
          <p:cNvSpPr txBox="1"/>
          <p:nvPr/>
        </p:nvSpPr>
        <p:spPr>
          <a:xfrm rot="0" flipH="0" flipV="0">
            <a:off x="62484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07</a:t>
            </a:r>
            <a:endParaRPr/>
          </a:p>
        </p:txBody>
      </p:sp>
      <p:sp>
        <p:nvSpPr>
          <p:cNvPr id="2057" name="" descr="{&quot;isTemplate&quot;:true,&quot;type&quot;:&quot;text&quot;}"/>
          <p:cNvSpPr txBox="1"/>
          <p:nvPr/>
        </p:nvSpPr>
        <p:spPr>
          <a:xfrm rot="0" flipH="0" flipV="0">
            <a:off x="624840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试卷与生涯</a:t>
            </a:r>
            <a:endParaRPr/>
          </a:p>
        </p:txBody>
      </p:sp>
      <p:sp>
        <p:nvSpPr>
          <p:cNvPr id="2058" name=""/>
          <p:cNvSpPr/>
          <p:nvPr/>
        </p:nvSpPr>
        <p:spPr>
          <a:xfrm rot="0" flipH="0" flipV="0">
            <a:off x="7867650" y="2428875"/>
            <a:ext cx="1638300" cy="609600"/>
          </a:xfrm>
          <a:prstGeom prst="roundRect">
            <a:avLst>
              <a:gd name="adj" fmla="val 9375"/>
            </a:avLst>
          </a:prstGeom>
          <a:solidFill>
            <a:srgbClr val="F5F7FA"/>
          </a:solidFill>
          <a:ln/>
        </p:spPr>
        <p:txBody>
          <a:bodyPr/>
          <a:p/>
        </p:txBody>
      </p:sp>
      <p:sp>
        <p:nvSpPr>
          <p:cNvPr id="2059" name="" descr="{&quot;isTemplate&quot;:true,&quot;type&quot;:&quot;text&quot;}"/>
          <p:cNvSpPr txBox="1"/>
          <p:nvPr/>
        </p:nvSpPr>
        <p:spPr>
          <a:xfrm rot="0" flipH="0" flipV="0">
            <a:off x="798195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08</a:t>
            </a:r>
            <a:endParaRPr/>
          </a:p>
        </p:txBody>
      </p:sp>
      <p:sp>
        <p:nvSpPr>
          <p:cNvPr id="2060" name="" descr="{&quot;isTemplate&quot;:true,&quot;type&quot;:&quot;text&quot;}"/>
          <p:cNvSpPr txBox="1"/>
          <p:nvPr/>
        </p:nvSpPr>
        <p:spPr>
          <a:xfrm rot="0" flipH="0" flipV="0">
            <a:off x="798195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协同</a:t>
            </a:r>
            <a:r>
              <a:rPr lang="en-US" sz="975">
                <a:solidFill>
                  <a:srgbClr val="7A8699"/>
                </a:solidFill>
                <a:latin typeface="Microsoft YaHei"/>
                <a:ea typeface="Microsoft YaHei"/>
              </a:rPr>
              <a:t xml:space="preserve"> Agent</a:t>
            </a:r>
            <a:endParaRPr/>
          </a:p>
        </p:txBody>
      </p:sp>
      <p:sp>
        <p:nvSpPr>
          <p:cNvPr id="2061" name=""/>
          <p:cNvSpPr/>
          <p:nvPr/>
        </p:nvSpPr>
        <p:spPr>
          <a:xfrm rot="0" flipH="0" flipV="0">
            <a:off x="9601200" y="2428875"/>
            <a:ext cx="1638300" cy="609600"/>
          </a:xfrm>
          <a:prstGeom prst="roundRect">
            <a:avLst>
              <a:gd name="adj" fmla="val 9375"/>
            </a:avLst>
          </a:prstGeom>
          <a:solidFill>
            <a:srgbClr val="F5F7FA"/>
          </a:solidFill>
          <a:ln/>
        </p:spPr>
        <p:txBody>
          <a:bodyPr/>
          <a:p/>
        </p:txBody>
      </p:sp>
      <p:sp>
        <p:nvSpPr>
          <p:cNvPr id="2062" name="" descr="{&quot;isTemplate&quot;:true,&quot;type&quot;:&quot;text&quot;}"/>
          <p:cNvSpPr txBox="1"/>
          <p:nvPr/>
        </p:nvSpPr>
        <p:spPr>
          <a:xfrm rot="0" flipH="0" flipV="0">
            <a:off x="97155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09</a:t>
            </a:r>
            <a:endParaRPr/>
          </a:p>
        </p:txBody>
      </p:sp>
      <p:sp>
        <p:nvSpPr>
          <p:cNvPr id="2063" name="" descr="{&quot;isTemplate&quot;:true,&quot;type&quot;:&quot;text&quot;}"/>
          <p:cNvSpPr txBox="1"/>
          <p:nvPr/>
        </p:nvSpPr>
        <p:spPr>
          <a:xfrm rot="0" flipH="0" flipV="0">
            <a:off x="9715500" y="2762250"/>
            <a:ext cx="1409700" cy="200025"/>
          </a:xfrm>
          <a:prstGeom prst="rect"/>
        </p:spPr>
        <p:txBody>
          <a:bodyPr wrap="none" lIns="0" tIns="0" rIns="0" bIns="0"/>
          <a:p>
            <a:pPr>
              <a:lnSpc>
                <a:spcPct val="130000"/>
              </a:lnSpc>
            </a:pPr>
            <a:r>
              <a:rPr lang="en-US" sz="975">
                <a:solidFill>
                  <a:srgbClr val="7A8699"/>
                </a:solidFill>
                <a:latin typeface="Microsoft YaHei"/>
                <a:ea typeface="Microsoft YaHei"/>
              </a:rPr>
              <a:t xml:space="preserve">MCP </a:t>
            </a:r>
            <a:r>
              <a:rPr lang="zh-CN" sz="975">
                <a:solidFill>
                  <a:srgbClr val="7A8699"/>
                </a:solidFill>
                <a:latin typeface="Microsoft YaHei"/>
                <a:ea typeface="Microsoft YaHei"/>
              </a:rPr>
              <a:t>接入</a:t>
            </a:r>
            <a:endParaRPr/>
          </a:p>
        </p:txBody>
      </p:sp>
      <p:sp>
        <p:nvSpPr>
          <p:cNvPr id="2064" name=""/>
          <p:cNvSpPr/>
          <p:nvPr/>
        </p:nvSpPr>
        <p:spPr>
          <a:xfrm rot="0" flipH="0" flipV="0">
            <a:off x="6134100" y="3133725"/>
            <a:ext cx="1638300" cy="609600"/>
          </a:xfrm>
          <a:prstGeom prst="roundRect">
            <a:avLst>
              <a:gd name="adj" fmla="val 9375"/>
            </a:avLst>
          </a:prstGeom>
          <a:solidFill>
            <a:srgbClr val="F5F7FA"/>
          </a:solidFill>
          <a:ln/>
        </p:spPr>
        <p:txBody>
          <a:bodyPr/>
          <a:p/>
        </p:txBody>
      </p:sp>
      <p:sp>
        <p:nvSpPr>
          <p:cNvPr id="2065" name="" descr="{&quot;isTemplate&quot;:true,&quot;type&quot;:&quot;text&quot;}"/>
          <p:cNvSpPr txBox="1"/>
          <p:nvPr/>
        </p:nvSpPr>
        <p:spPr>
          <a:xfrm rot="0" flipH="0" flipV="0">
            <a:off x="62484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10</a:t>
            </a:r>
            <a:endParaRPr/>
          </a:p>
        </p:txBody>
      </p:sp>
      <p:sp>
        <p:nvSpPr>
          <p:cNvPr id="2066" name="" descr="{&quot;isTemplate&quot;:true,&quot;type&quot;:&quot;text&quot;}"/>
          <p:cNvSpPr txBox="1"/>
          <p:nvPr/>
        </p:nvSpPr>
        <p:spPr>
          <a:xfrm rot="0" flipH="0" flipV="0">
            <a:off x="62484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待深化研究</a:t>
            </a:r>
            <a:endParaRPr/>
          </a:p>
        </p:txBody>
      </p:sp>
      <p:sp>
        <p:nvSpPr>
          <p:cNvPr id="2067" name=""/>
          <p:cNvSpPr/>
          <p:nvPr/>
        </p:nvSpPr>
        <p:spPr>
          <a:xfrm rot="0" flipH="0" flipV="0">
            <a:off x="7867650" y="3133725"/>
            <a:ext cx="1638300" cy="609600"/>
          </a:xfrm>
          <a:prstGeom prst="roundRect">
            <a:avLst>
              <a:gd name="adj" fmla="val 9375"/>
            </a:avLst>
          </a:prstGeom>
          <a:solidFill>
            <a:srgbClr val="F5F7FA"/>
          </a:solidFill>
          <a:ln/>
        </p:spPr>
        <p:txBody>
          <a:bodyPr/>
          <a:p/>
        </p:txBody>
      </p:sp>
      <p:sp>
        <p:nvSpPr>
          <p:cNvPr id="2068" name="" descr="{&quot;isTemplate&quot;:true,&quot;type&quot;:&quot;text&quot;}"/>
          <p:cNvSpPr txBox="1"/>
          <p:nvPr/>
        </p:nvSpPr>
        <p:spPr>
          <a:xfrm rot="0" flipH="0" flipV="0">
            <a:off x="798195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11</a:t>
            </a:r>
            <a:endParaRPr/>
          </a:p>
        </p:txBody>
      </p:sp>
      <p:sp>
        <p:nvSpPr>
          <p:cNvPr id="2069" name="" descr="{&quot;isTemplate&quot;:true,&quot;type&quot;:&quot;text&quot;}"/>
          <p:cNvSpPr txBox="1"/>
          <p:nvPr/>
        </p:nvSpPr>
        <p:spPr>
          <a:xfrm rot="0" flipH="0" flipV="0">
            <a:off x="798195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落地与边界</a:t>
            </a:r>
            <a:endParaRPr/>
          </a:p>
        </p:txBody>
      </p:sp>
      <p:sp>
        <p:nvSpPr>
          <p:cNvPr id="2070" name=""/>
          <p:cNvSpPr/>
          <p:nvPr/>
        </p:nvSpPr>
        <p:spPr>
          <a:xfrm rot="0" flipH="0" flipV="0">
            <a:off x="9601200" y="3133725"/>
            <a:ext cx="1638300" cy="609600"/>
          </a:xfrm>
          <a:prstGeom prst="roundRect">
            <a:avLst>
              <a:gd name="adj" fmla="val 9375"/>
            </a:avLst>
          </a:prstGeom>
          <a:solidFill>
            <a:srgbClr val="F5F7FA"/>
          </a:solidFill>
          <a:ln/>
        </p:spPr>
        <p:txBody>
          <a:bodyPr/>
          <a:p/>
        </p:txBody>
      </p:sp>
      <p:sp>
        <p:nvSpPr>
          <p:cNvPr id="2071" name="" descr="{&quot;isTemplate&quot;:true,&quot;type&quot;:&quot;text&quot;}"/>
          <p:cNvSpPr txBox="1"/>
          <p:nvPr/>
        </p:nvSpPr>
        <p:spPr>
          <a:xfrm rot="0" flipH="0" flipV="0">
            <a:off x="97155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12</a:t>
            </a:r>
            <a:endParaRPr/>
          </a:p>
        </p:txBody>
      </p:sp>
      <p:sp>
        <p:nvSpPr>
          <p:cNvPr id="2072" name="" descr="{&quot;isTemplate&quot;:true,&quot;type&quot;:&quot;text&quot;}"/>
          <p:cNvSpPr txBox="1"/>
          <p:nvPr/>
        </p:nvSpPr>
        <p:spPr>
          <a:xfrm rot="0" flipH="0" flipV="0">
            <a:off x="97155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自进化与扩展</a:t>
            </a:r>
            <a:endParaRPr/>
          </a:p>
        </p:txBody>
      </p:sp>
      <p:sp>
        <p:nvSpPr>
          <p:cNvPr id="2073" name=""/>
          <p:cNvSpPr/>
          <p:nvPr/>
        </p:nvSpPr>
        <p:spPr>
          <a:xfrm rot="0" flipH="0" flipV="0">
            <a:off x="6134100" y="3838575"/>
            <a:ext cx="1638300" cy="609600"/>
          </a:xfrm>
          <a:prstGeom prst="roundRect">
            <a:avLst>
              <a:gd name="adj" fmla="val 9375"/>
            </a:avLst>
          </a:prstGeom>
          <a:solidFill>
            <a:srgbClr val="F5F7FA"/>
          </a:solidFill>
          <a:ln/>
        </p:spPr>
        <p:txBody>
          <a:bodyPr/>
          <a:p/>
        </p:txBody>
      </p:sp>
      <p:sp>
        <p:nvSpPr>
          <p:cNvPr id="2074" name="" descr="{&quot;isTemplate&quot;:true,&quot;type&quot;:&quot;text&quot;}"/>
          <p:cNvSpPr txBox="1"/>
          <p:nvPr/>
        </p:nvSpPr>
        <p:spPr>
          <a:xfrm rot="0" flipH="0" flipV="0">
            <a:off x="6248400" y="39243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13</a:t>
            </a:r>
            <a:endParaRPr/>
          </a:p>
        </p:txBody>
      </p:sp>
      <p:sp>
        <p:nvSpPr>
          <p:cNvPr id="2075" name="" descr="{&quot;isTemplate&quot;:true,&quot;type&quot;:&quot;text&quot;}"/>
          <p:cNvSpPr txBox="1"/>
          <p:nvPr/>
        </p:nvSpPr>
        <p:spPr>
          <a:xfrm rot="0" flipH="0" flipV="0">
            <a:off x="6248400" y="41719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收尾</a:t>
            </a:r>
            <a:endParaRPr/>
          </a:p>
        </p:txBody>
      </p:sp>
      <p:sp>
        <p:nvSpPr>
          <p:cNvPr id="2076" name=""/>
          <p:cNvSpPr/>
          <p:nvPr/>
        </p:nvSpPr>
        <p:spPr>
          <a:xfrm rot="0" flipH="0" flipV="0">
            <a:off x="6134100" y="4686300"/>
            <a:ext cx="5295900" cy="438150"/>
          </a:xfrm>
          <a:prstGeom prst="roundRect">
            <a:avLst>
              <a:gd name="adj" fmla="val 13043"/>
            </a:avLst>
          </a:prstGeom>
          <a:solidFill>
            <a:srgbClr val="F5F7FA"/>
          </a:solidFill>
          <a:ln/>
        </p:spPr>
        <p:txBody>
          <a:bodyPr/>
          <a:p/>
        </p:txBody>
      </p:sp>
      <p:sp>
        <p:nvSpPr>
          <p:cNvPr id="2077" name=""/>
          <p:cNvSpPr/>
          <p:nvPr/>
        </p:nvSpPr>
        <p:spPr>
          <a:xfrm rot="0" flipH="0" flipV="0">
            <a:off x="6267450" y="4800600"/>
            <a:ext cx="57150" cy="209550"/>
          </a:xfrm>
          <a:prstGeom prst="rect">
            <a:avLst/>
          </a:prstGeom>
          <a:solidFill>
            <a:srgbClr val="00A9B5"/>
          </a:solidFill>
          <a:ln/>
        </p:spPr>
        <p:txBody>
          <a:bodyPr/>
          <a:p/>
        </p:txBody>
      </p:sp>
      <p:sp>
        <p:nvSpPr>
          <p:cNvPr id="2078" name="" descr="{&quot;isTemplate&quot;:true,&quot;type&quot;:&quot;text&quot;}"/>
          <p:cNvSpPr txBox="1"/>
          <p:nvPr/>
        </p:nvSpPr>
        <p:spPr>
          <a:xfrm rot="0" flipH="0" flipV="0">
            <a:off x="6419850" y="4781550"/>
            <a:ext cx="1800225" cy="247650"/>
          </a:xfrm>
          <a:prstGeom prst="rect"/>
        </p:spPr>
        <p:txBody>
          <a:bodyPr wrap="none" lIns="0" tIns="0" rIns="0" bIns="0"/>
          <a:p>
            <a:pPr>
              <a:lnSpc>
                <a:spcPct val="140000"/>
              </a:lnSpc>
            </a:pPr>
            <a:r>
              <a:rPr lang="zh-CN" sz="1125" b="1">
                <a:solidFill>
                  <a:srgbClr val="0E2340"/>
                </a:solidFill>
                <a:latin typeface="Microsoft YaHei"/>
                <a:ea typeface="Microsoft YaHei"/>
              </a:rPr>
              <a:t>当前位置：第</a:t>
            </a:r>
            <a:r>
              <a:rPr lang="en-US" sz="1125" b="1">
                <a:solidFill>
                  <a:srgbClr val="0E2340"/>
                </a:solidFill>
                <a:latin typeface="Microsoft YaHei"/>
                <a:ea typeface="Microsoft YaHei"/>
              </a:rPr>
              <a:t xml:space="preserve"> 06 </a:t>
            </a:r>
            <a:r>
              <a:rPr lang="zh-CN" sz="1125" b="1">
                <a:solidFill>
                  <a:srgbClr val="0E2340"/>
                </a:solidFill>
                <a:latin typeface="Microsoft YaHei"/>
                <a:ea typeface="Microsoft YaHei"/>
              </a:rPr>
              <a:t>章</a:t>
            </a:r>
            <a:r>
              <a:rPr lang="en-US" sz="1125" b="1">
                <a:solidFill>
                  <a:srgbClr val="0E2340"/>
                </a:solidFill>
                <a:latin typeface="Microsoft YaHei"/>
                <a:ea typeface="Microsoft YaHei"/>
              </a:rPr>
              <a:t xml:space="preserve"> · </a:t>
            </a:r>
            <a:r>
              <a:rPr lang="zh-CN" sz="1125" b="1">
                <a:solidFill>
                  <a:srgbClr val="0E2340"/>
                </a:solidFill>
                <a:latin typeface="Microsoft YaHei"/>
                <a:ea typeface="Microsoft YaHei"/>
              </a:rPr>
              <a:t>学校端</a:t>
            </a:r>
            <a:endParaRPr/>
          </a:p>
        </p:txBody>
      </p:sp>
      <p:sp>
        <p:nvSpPr>
          <p:cNvPr id="2079" name=""/>
          <p:cNvSpPr/>
          <p:nvPr/>
        </p:nvSpPr>
        <p:spPr>
          <a:xfrm rot="0" flipH="0" flipV="0">
            <a:off x="6134100" y="5353050"/>
            <a:ext cx="1257300" cy="381000"/>
          </a:xfrm>
          <a:prstGeom prst="roundRect">
            <a:avLst>
              <a:gd name="adj" fmla="val 15000"/>
            </a:avLst>
          </a:prstGeom>
          <a:solidFill>
            <a:srgbClr val="F5F7FA"/>
          </a:solidFill>
          <a:ln/>
        </p:spPr>
        <p:txBody>
          <a:bodyPr/>
          <a:p/>
        </p:txBody>
      </p:sp>
      <p:sp>
        <p:nvSpPr>
          <p:cNvPr id="2080" name=""/>
          <p:cNvSpPr/>
          <p:nvPr/>
        </p:nvSpPr>
        <p:spPr>
          <a:xfrm rot="0" flipH="0" flipV="0">
            <a:off x="6229350" y="5495925"/>
            <a:ext cx="95250" cy="95250"/>
          </a:xfrm>
          <a:prstGeom prst="roundRect">
            <a:avLst>
              <a:gd name="adj" fmla="val 50000"/>
            </a:avLst>
          </a:prstGeom>
          <a:solidFill>
            <a:srgbClr val="1E9E62"/>
          </a:solidFill>
          <a:ln/>
        </p:spPr>
        <p:txBody>
          <a:bodyPr/>
          <a:p/>
        </p:txBody>
      </p:sp>
      <p:sp>
        <p:nvSpPr>
          <p:cNvPr id="2081" name="" descr="{&quot;isTemplate&quot;:true,&quot;type&quot;:&quot;text&quot;}"/>
          <p:cNvSpPr txBox="1"/>
          <p:nvPr/>
        </p:nvSpPr>
        <p:spPr>
          <a:xfrm rot="0" flipH="0" flipV="0">
            <a:off x="6400800"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已实现</a:t>
            </a:r>
            <a:endParaRPr/>
          </a:p>
        </p:txBody>
      </p:sp>
      <p:sp>
        <p:nvSpPr>
          <p:cNvPr id="2082" name=""/>
          <p:cNvSpPr/>
          <p:nvPr/>
        </p:nvSpPr>
        <p:spPr>
          <a:xfrm rot="0" flipH="0" flipV="0">
            <a:off x="7486650" y="5353050"/>
            <a:ext cx="1247775" cy="381000"/>
          </a:xfrm>
          <a:prstGeom prst="roundRect">
            <a:avLst>
              <a:gd name="adj" fmla="val 15000"/>
            </a:avLst>
          </a:prstGeom>
          <a:solidFill>
            <a:srgbClr val="F5F7FA"/>
          </a:solidFill>
          <a:ln/>
        </p:spPr>
        <p:txBody>
          <a:bodyPr/>
          <a:p/>
        </p:txBody>
      </p:sp>
      <p:sp>
        <p:nvSpPr>
          <p:cNvPr id="2083" name=""/>
          <p:cNvSpPr/>
          <p:nvPr/>
        </p:nvSpPr>
        <p:spPr>
          <a:xfrm rot="0" flipH="0" flipV="0">
            <a:off x="7581900" y="5495925"/>
            <a:ext cx="95250" cy="95250"/>
          </a:xfrm>
          <a:prstGeom prst="roundRect">
            <a:avLst>
              <a:gd name="adj" fmla="val 50000"/>
            </a:avLst>
          </a:prstGeom>
          <a:solidFill>
            <a:srgbClr val="E8A33D"/>
          </a:solidFill>
          <a:ln/>
        </p:spPr>
        <p:txBody>
          <a:bodyPr/>
          <a:p/>
        </p:txBody>
      </p:sp>
      <p:sp>
        <p:nvSpPr>
          <p:cNvPr id="2084" name="" descr="{&quot;isTemplate&quot;:true,&quot;type&quot;:&quot;text&quot;}"/>
          <p:cNvSpPr txBox="1"/>
          <p:nvPr/>
        </p:nvSpPr>
        <p:spPr>
          <a:xfrm rot="0" flipH="0" flipV="0">
            <a:off x="7753350" y="5438775"/>
            <a:ext cx="533400" cy="209550"/>
          </a:xfrm>
          <a:prstGeom prst="rect"/>
        </p:spPr>
        <p:txBody>
          <a:bodyPr wrap="none" lIns="0" tIns="0" rIns="0" bIns="0"/>
          <a:p>
            <a:pPr>
              <a:lnSpc>
                <a:spcPct val="130000"/>
              </a:lnSpc>
            </a:pPr>
            <a:r>
              <a:rPr lang="zh-CN" sz="1050" b="1">
                <a:solidFill>
                  <a:srgbClr val="333A45"/>
                </a:solidFill>
                <a:latin typeface="Microsoft YaHei"/>
                <a:ea typeface="Microsoft YaHei"/>
              </a:rPr>
              <a:t>部分实现</a:t>
            </a:r>
            <a:endParaRPr/>
          </a:p>
        </p:txBody>
      </p:sp>
      <p:sp>
        <p:nvSpPr>
          <p:cNvPr id="2085" name=""/>
          <p:cNvSpPr/>
          <p:nvPr/>
        </p:nvSpPr>
        <p:spPr>
          <a:xfrm rot="0" flipH="0" flipV="0">
            <a:off x="8829675" y="5353050"/>
            <a:ext cx="1257300" cy="381000"/>
          </a:xfrm>
          <a:prstGeom prst="roundRect">
            <a:avLst>
              <a:gd name="adj" fmla="val 15000"/>
            </a:avLst>
          </a:prstGeom>
          <a:solidFill>
            <a:srgbClr val="F5F7FA"/>
          </a:solidFill>
          <a:ln/>
        </p:spPr>
        <p:txBody>
          <a:bodyPr/>
          <a:p/>
        </p:txBody>
      </p:sp>
      <p:sp>
        <p:nvSpPr>
          <p:cNvPr id="2086" name=""/>
          <p:cNvSpPr/>
          <p:nvPr/>
        </p:nvSpPr>
        <p:spPr>
          <a:xfrm rot="0" flipH="0" flipV="0">
            <a:off x="8924925" y="5495925"/>
            <a:ext cx="95250" cy="95250"/>
          </a:xfrm>
          <a:prstGeom prst="roundRect">
            <a:avLst>
              <a:gd name="adj" fmla="val 50000"/>
            </a:avLst>
          </a:prstGeom>
          <a:solidFill>
            <a:srgbClr val="1E7BE0"/>
          </a:solidFill>
          <a:ln/>
        </p:spPr>
        <p:txBody>
          <a:bodyPr/>
          <a:p/>
        </p:txBody>
      </p:sp>
      <p:sp>
        <p:nvSpPr>
          <p:cNvPr id="2087" name="" descr="{&quot;isTemplate&quot;:true,&quot;type&quot;:&quot;text&quot;}"/>
          <p:cNvSpPr txBox="1"/>
          <p:nvPr/>
        </p:nvSpPr>
        <p:spPr>
          <a:xfrm rot="0" flipH="0" flipV="0">
            <a:off x="909637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设计中</a:t>
            </a:r>
            <a:endParaRPr/>
          </a:p>
        </p:txBody>
      </p:sp>
      <p:sp>
        <p:nvSpPr>
          <p:cNvPr id="2088" name=""/>
          <p:cNvSpPr/>
          <p:nvPr/>
        </p:nvSpPr>
        <p:spPr>
          <a:xfrm rot="0" flipH="0" flipV="0">
            <a:off x="10182225" y="5353050"/>
            <a:ext cx="1247775" cy="381000"/>
          </a:xfrm>
          <a:prstGeom prst="roundRect">
            <a:avLst>
              <a:gd name="adj" fmla="val 15000"/>
            </a:avLst>
          </a:prstGeom>
          <a:solidFill>
            <a:srgbClr val="F5F7FA"/>
          </a:solidFill>
          <a:ln/>
        </p:spPr>
        <p:txBody>
          <a:bodyPr/>
          <a:p/>
        </p:txBody>
      </p:sp>
      <p:sp>
        <p:nvSpPr>
          <p:cNvPr id="2089" name=""/>
          <p:cNvSpPr/>
          <p:nvPr/>
        </p:nvSpPr>
        <p:spPr>
          <a:xfrm rot="0" flipH="0" flipV="0">
            <a:off x="10277475" y="5495925"/>
            <a:ext cx="95250" cy="95250"/>
          </a:xfrm>
          <a:prstGeom prst="roundRect">
            <a:avLst>
              <a:gd name="adj" fmla="val 50000"/>
            </a:avLst>
          </a:prstGeom>
          <a:solidFill>
            <a:srgbClr val="98A2B3"/>
          </a:solidFill>
          <a:ln/>
        </p:spPr>
        <p:txBody>
          <a:bodyPr/>
          <a:p/>
        </p:txBody>
      </p:sp>
      <p:sp>
        <p:nvSpPr>
          <p:cNvPr id="2090" name="" descr="{&quot;isTemplate&quot;:true,&quot;type&quot;:&quot;text&quot;}"/>
          <p:cNvSpPr txBox="1"/>
          <p:nvPr/>
        </p:nvSpPr>
        <p:spPr>
          <a:xfrm rot="0" flipH="0" flipV="0">
            <a:off x="1044892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待研究</a:t>
            </a:r>
            <a:endParaRPr/>
          </a:p>
        </p:txBody>
      </p:sp>
      <p:sp>
        <p:nvSpPr>
          <p:cNvPr id="2091" name=""/>
          <p:cNvSpPr/>
          <p:nvPr/>
        </p:nvSpPr>
        <p:spPr>
          <a:xfrm rot="0" flipH="0" flipV="0">
            <a:off x="6134100" y="5972175"/>
            <a:ext cx="5295900" cy="400050"/>
          </a:xfrm>
          <a:custGeom>
            <a:pathLst>
              <a:path w="556" h="42">
                <a:moveTo>
                  <a:pt x="0" y="0"/>
                </a:moveTo>
                <a:lnTo>
                  <a:pt x="556" y="0"/>
                </a:lnTo>
                <a:lnTo>
                  <a:pt x="556" y="1"/>
                </a:lnTo>
                <a:lnTo>
                  <a:pt x="0" y="1"/>
                </a:lnTo>
                <a:close/>
              </a:path>
            </a:pathLst>
          </a:custGeom>
          <a:solidFill>
            <a:srgbClr val="E3E8EF"/>
          </a:solidFill>
          <a:ln/>
        </p:spPr>
        <p:txBody>
          <a:bodyPr/>
          <a:p/>
        </p:txBody>
      </p:sp>
      <p:sp>
        <p:nvSpPr>
          <p:cNvPr id="2092" name=""/>
          <p:cNvSpPr/>
          <p:nvPr/>
        </p:nvSpPr>
        <p:spPr>
          <a:xfrm rot="0" flipH="0" flipV="0">
            <a:off x="6134100" y="6219825"/>
            <a:ext cx="438150" cy="47625"/>
          </a:xfrm>
          <a:prstGeom prst="rect">
            <a:avLst/>
          </a:prstGeom>
          <a:solidFill>
            <a:srgbClr val="00A9B5"/>
          </a:solidFill>
          <a:ln/>
        </p:spPr>
        <p:txBody>
          <a:bodyPr/>
          <a:p/>
        </p:txBody>
      </p:sp>
      <p:sp>
        <p:nvSpPr>
          <p:cNvPr id="2093" name="" descr="{&quot;isTemplate&quot;:true,&quot;type&quot;:&quot;text&quot;}"/>
          <p:cNvSpPr txBox="1"/>
          <p:nvPr/>
        </p:nvSpPr>
        <p:spPr>
          <a:xfrm rot="0" flipH="0" flipV="0">
            <a:off x="6686550" y="6115050"/>
            <a:ext cx="3276600" cy="247650"/>
          </a:xfrm>
          <a:prstGeom prst="rect"/>
        </p:spPr>
        <p:txBody>
          <a:bodyPr wrap="none" lIns="0" tIns="0" rIns="0" bIns="0"/>
          <a:p>
            <a:pPr>
              <a:lnSpc>
                <a:spcPct val="140000"/>
              </a:lnSpc>
            </a:pPr>
            <a:r>
              <a:rPr lang="en-US" sz="1125" b="1">
                <a:solidFill>
                  <a:srgbClr val="7A8699"/>
                </a:solidFill>
                <a:latin typeface="Microsoft YaHei"/>
                <a:ea typeface="Microsoft YaHei"/>
              </a:rPr>
              <a:t xml:space="preserve">StudyAgent </a:t>
            </a:r>
            <a:r>
              <a:rPr lang="zh-CN" sz="1125" b="1">
                <a:solidFill>
                  <a:srgbClr val="7A8699"/>
                </a:solidFill>
                <a:latin typeface="Microsoft YaHei"/>
                <a:ea typeface="Microsoft YaHei"/>
              </a:rPr>
              <a:t>项目设计汇报</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技术评审版</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共</a:t>
            </a:r>
            <a:r>
              <a:rPr lang="en-US" sz="1125" b="1">
                <a:solidFill>
                  <a:srgbClr val="7A8699"/>
                </a:solidFill>
                <a:latin typeface="Microsoft YaHei"/>
                <a:ea typeface="Microsoft YaHei"/>
              </a:rPr>
              <a:t xml:space="preserve"> 124 </a:t>
            </a:r>
            <a:r>
              <a:rPr lang="zh-CN" sz="1125" b="1">
                <a:solidFill>
                  <a:srgbClr val="7A8699"/>
                </a:solidFill>
                <a:latin typeface="Microsoft YaHei"/>
                <a:ea typeface="Microsoft YaHei"/>
              </a:rPr>
              <a:t>页</a:t>
            </a:r>
            <a:endParaRPr/>
          </a:p>
        </p:txBody>
      </p:sp>
    </p:spTree>
  </p:cSld>
</p:sld>
</file>

<file path=ppt/slides/slide58.xml><?xml version="1.0" encoding="utf-8"?>
<p:sld xmlns:p="http://schemas.openxmlformats.org/presentationml/2006/main" xmlns:a="http://schemas.openxmlformats.org/drawingml/2006/main">
  <p:cSld>
    <p:spTree>
      <p:nvGrpSpPr>
        <p:cNvPr id="2094"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6 / 学校端&lt;/Text&gt;&lt;Text style={{ fontSize: 32, color: '#0E2340', fontWeight: 700, lineHeight: 1.3 }}&gt;三端分工：谁负责什么&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8 }}&gt;&lt;Box style={{ flexDirection: 'row', gap: 20, flex: 1 }}&gt;&lt;Box style={{ width: 366,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学生端&lt;/Text&gt;&lt;Text style={{ fontSize: 18, color: '#333A45', fontWeight: 400, lineHeight: 1.6 }}&gt;个人学习、套路训练、错题复盘与一对一助教。&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教师端&lt;/Text&gt;&lt;Text style={{ fontSize: 18, color: '#333A45', fontWeight: 400, lineHeight: 1.6 }}&gt;组织具体班级教学：备课、演示、作业、批改、考试与教学调整。&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学校端&lt;/Text&gt;&lt;Text style={{ fontSize: 18, color: '#333A45', fontWeight: 400, lineHeight: 1.6 }}&gt;组织跨班、跨年级的教学管理和体系版本：按教材与课程定制课时、知识点、步骤、套路及评价规则。&lt;/Text&gt;&lt;/Box&gt;&lt;/Box&gt;&lt;/Box&gt;&lt;Box style={{ flexDirection: 'row', alignItems: 'center', background: '#F5F7FA', borderLeft: '4px solid #00A9B5', borderRadius: 6, padding: '14px 20px' }}&gt;&lt;Text style={{ fontSize: 17, color: '#0E2340', fontWeight: 600, lineHeight: 1.5 }}&gt;隐私边界：个人助教的完整私密对话不作为默认全校共享材料&lt;/Text&gt;&lt;/Box&gt;&lt;/Box&gt;&lt;/Box&gt;&lt;Box style={{ height: 40, flexDirection: 'row', justifyContent: 'space-between', alignItems: 'center', borderTop: '1px solid #E3E8EF', marginTop: 8 }}&gt;&lt;Text style={{ fontSize: 13, color: '#7A8699', fontWeight: 400, lineHeight: 1.4 }}&gt;依据：学校端设计思路.md §1&lt;/Text&gt;&lt;Text style={{ fontSize: 14, color: '#7A8699', fontWeight: 400, lineHeight: 1.4 }}&gt; 58 / 124 &lt;/Text&gt;&lt;/Box&gt;&lt;/Slide&gt;"/>
        <p:cNvGrpSpPr/>
        <p:nvPr/>
      </p:nvGrpSpPr>
      <p:grpSpPr>
        <a:xfrm>
          <a:off x="0" y="0"/>
          <a:ext cx="0" cy="0"/>
          <a:chOff x="0" y="0"/>
          <a:chExt cx="0" cy="0"/>
        </a:xfrm>
      </p:grpSpPr>
      <p:sp>
        <p:nvSpPr>
          <p:cNvPr id="2095" name=""/>
          <p:cNvSpPr/>
          <p:nvPr/>
        </p:nvSpPr>
        <p:spPr>
          <a:xfrm rot="0" flipH="0" flipV="0">
            <a:off x="0" y="0"/>
            <a:ext cx="12192000" cy="6858000"/>
          </a:xfrm>
          <a:prstGeom prst="rect">
            <a:avLst/>
          </a:prstGeom>
          <a:solidFill>
            <a:srgbClr val="FFFFFF"/>
          </a:solidFill>
          <a:ln/>
        </p:spPr>
        <p:txBody>
          <a:bodyPr/>
          <a:p/>
        </p:txBody>
      </p:sp>
      <p:sp>
        <p:nvSpPr>
          <p:cNvPr id="2096" name="" descr="{&quot;isTemplate&quot;:true,&quot;type&quot;:&quot;text&quot;}"/>
          <p:cNvSpPr txBox="1"/>
          <p:nvPr/>
        </p:nvSpPr>
        <p:spPr>
          <a:xfrm rot="0" flipH="0" flipV="0">
            <a:off x="666750" y="381000"/>
            <a:ext cx="30480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06 / </a:t>
            </a:r>
            <a:r>
              <a:rPr lang="zh-CN" sz="1050" spc="75">
                <a:solidFill>
                  <a:srgbClr val="7A8699"/>
                </a:solidFill>
                <a:latin typeface="Microsoft YaHei"/>
                <a:ea typeface="Microsoft YaHei"/>
              </a:rPr>
              <a:t>学校端</a:t>
            </a:r>
            <a:endParaRPr/>
          </a:p>
        </p:txBody>
      </p:sp>
      <p:sp>
        <p:nvSpPr>
          <p:cNvPr id="2097" name="" descr="{&quot;isTemplate&quot;:true,&quot;type&quot;:&quot;text&quot;}"/>
          <p:cNvSpPr txBox="1"/>
          <p:nvPr/>
        </p:nvSpPr>
        <p:spPr>
          <a:xfrm rot="0" flipH="0" flipV="0">
            <a:off x="666750" y="666750"/>
            <a:ext cx="3048000" cy="476250"/>
          </a:xfrm>
          <a:prstGeom prst="rect"/>
        </p:spPr>
        <p:txBody>
          <a:bodyPr wrap="none" lIns="0" tIns="0" rIns="0" bIns="0"/>
          <a:p>
            <a:pPr>
              <a:lnSpc>
                <a:spcPct val="130000"/>
              </a:lnSpc>
            </a:pPr>
            <a:r>
              <a:rPr lang="zh-CN" sz="2400" b="1">
                <a:solidFill>
                  <a:srgbClr val="0E2340"/>
                </a:solidFill>
                <a:latin typeface="Microsoft YaHei"/>
                <a:ea typeface="Microsoft YaHei"/>
              </a:rPr>
              <a:t>三端分工：谁负责什么</a:t>
            </a:r>
            <a:endParaRPr/>
          </a:p>
        </p:txBody>
      </p:sp>
      <p:sp>
        <p:nvSpPr>
          <p:cNvPr id="2098"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099"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2100" name=""/>
          <p:cNvSpPr/>
          <p:nvPr/>
        </p:nvSpPr>
        <p:spPr>
          <a:xfrm rot="0" flipH="0" flipV="0">
            <a:off x="666750" y="1219200"/>
            <a:ext cx="3486150" cy="4257675"/>
          </a:xfrm>
          <a:prstGeom prst="roundRect">
            <a:avLst>
              <a:gd name="adj" fmla="val 2186"/>
            </a:avLst>
          </a:prstGeom>
          <a:solidFill>
            <a:srgbClr val="FFFFFF"/>
          </a:solidFill>
          <a:ln w="12700">
            <a:solidFill>
              <a:srgbClr val="E3E8EF"/>
            </a:solidFill>
            <a:prstDash val="solid"/>
          </a:ln>
        </p:spPr>
        <p:txBody>
          <a:bodyPr/>
          <a:p/>
        </p:txBody>
      </p:sp>
      <p:sp>
        <p:nvSpPr>
          <p:cNvPr id="2101" name=""/>
          <p:cNvSpPr/>
          <p:nvPr/>
        </p:nvSpPr>
        <p:spPr>
          <a:xfrm rot="0" flipH="0" flipV="0">
            <a:off x="666750" y="12192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2102" name="" descr="{&quot;isTemplate&quot;:true,&quot;type&quot;:&quot;text&quot;}"/>
          <p:cNvSpPr txBox="1"/>
          <p:nvPr/>
        </p:nvSpPr>
        <p:spPr>
          <a:xfrm rot="0" flipH="0" flipV="0">
            <a:off x="857250" y="1447800"/>
            <a:ext cx="3105150" cy="390525"/>
          </a:xfrm>
          <a:prstGeom prst="rect"/>
        </p:spPr>
        <p:txBody>
          <a:bodyPr wrap="none" lIns="0" tIns="0" rIns="0" bIns="0"/>
          <a:p>
            <a:pPr>
              <a:lnSpc>
                <a:spcPct val="140000"/>
              </a:lnSpc>
            </a:pPr>
            <a:r>
              <a:rPr lang="zh-CN" sz="1800" b="1">
                <a:solidFill>
                  <a:srgbClr val="0E2340"/>
                </a:solidFill>
                <a:latin typeface="Microsoft YaHei"/>
                <a:ea typeface="Microsoft YaHei"/>
              </a:rPr>
              <a:t>学生端</a:t>
            </a:r>
            <a:endParaRPr/>
          </a:p>
        </p:txBody>
      </p:sp>
      <p:sp>
        <p:nvSpPr>
          <p:cNvPr id="2103" name="" descr="{&quot;isTemplate&quot;:true,&quot;type&quot;:&quot;text&quot;}"/>
          <p:cNvSpPr txBox="1"/>
          <p:nvPr/>
        </p:nvSpPr>
        <p:spPr>
          <a:xfrm rot="0" flipH="0" flipV="0">
            <a:off x="857250" y="1933575"/>
            <a:ext cx="3105150" cy="666750"/>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个人学习、套路训练、错题复盘与一对一助教。</a:t>
            </a:r>
            <a:endParaRPr/>
          </a:p>
        </p:txBody>
      </p:sp>
      <p:sp>
        <p:nvSpPr>
          <p:cNvPr id="2104" name=""/>
          <p:cNvSpPr/>
          <p:nvPr/>
        </p:nvSpPr>
        <p:spPr>
          <a:xfrm rot="0" flipH="0" flipV="0">
            <a:off x="4343400" y="1219200"/>
            <a:ext cx="3486150" cy="4257675"/>
          </a:xfrm>
          <a:prstGeom prst="roundRect">
            <a:avLst>
              <a:gd name="adj" fmla="val 2186"/>
            </a:avLst>
          </a:prstGeom>
          <a:solidFill>
            <a:srgbClr val="FFFFFF"/>
          </a:solidFill>
          <a:ln w="12700">
            <a:solidFill>
              <a:srgbClr val="E3E8EF"/>
            </a:solidFill>
            <a:prstDash val="solid"/>
          </a:ln>
        </p:spPr>
        <p:txBody>
          <a:bodyPr/>
          <a:p/>
        </p:txBody>
      </p:sp>
      <p:sp>
        <p:nvSpPr>
          <p:cNvPr id="2105" name=""/>
          <p:cNvSpPr/>
          <p:nvPr/>
        </p:nvSpPr>
        <p:spPr>
          <a:xfrm rot="0" flipH="0" flipV="0">
            <a:off x="4343400" y="12192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2106" name="" descr="{&quot;isTemplate&quot;:true,&quot;type&quot;:&quot;text&quot;}"/>
          <p:cNvSpPr txBox="1"/>
          <p:nvPr/>
        </p:nvSpPr>
        <p:spPr>
          <a:xfrm rot="0" flipH="0" flipV="0">
            <a:off x="4533900" y="1447800"/>
            <a:ext cx="3105150" cy="390525"/>
          </a:xfrm>
          <a:prstGeom prst="rect"/>
        </p:spPr>
        <p:txBody>
          <a:bodyPr wrap="none" lIns="0" tIns="0" rIns="0" bIns="0"/>
          <a:p>
            <a:pPr>
              <a:lnSpc>
                <a:spcPct val="140000"/>
              </a:lnSpc>
            </a:pPr>
            <a:r>
              <a:rPr lang="zh-CN" sz="1800" b="1">
                <a:solidFill>
                  <a:srgbClr val="0E2340"/>
                </a:solidFill>
                <a:latin typeface="Microsoft YaHei"/>
                <a:ea typeface="Microsoft YaHei"/>
              </a:rPr>
              <a:t>教师端</a:t>
            </a:r>
            <a:endParaRPr/>
          </a:p>
        </p:txBody>
      </p:sp>
      <p:sp>
        <p:nvSpPr>
          <p:cNvPr id="2107" name="" descr="{&quot;isTemplate&quot;:true,&quot;type&quot;:&quot;text&quot;}"/>
          <p:cNvSpPr txBox="1"/>
          <p:nvPr/>
        </p:nvSpPr>
        <p:spPr>
          <a:xfrm rot="0" flipH="0" flipV="0">
            <a:off x="4533900" y="1933575"/>
            <a:ext cx="3105150" cy="666750"/>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组织具体班级教学：备课、演示、作业、批改、考试与教学调整。</a:t>
            </a:r>
            <a:endParaRPr/>
          </a:p>
        </p:txBody>
      </p:sp>
      <p:sp>
        <p:nvSpPr>
          <p:cNvPr id="2108" name=""/>
          <p:cNvSpPr/>
          <p:nvPr/>
        </p:nvSpPr>
        <p:spPr>
          <a:xfrm rot="0" flipH="0" flipV="0">
            <a:off x="8020050" y="1219200"/>
            <a:ext cx="3486150" cy="4257675"/>
          </a:xfrm>
          <a:prstGeom prst="roundRect">
            <a:avLst>
              <a:gd name="adj" fmla="val 2186"/>
            </a:avLst>
          </a:prstGeom>
          <a:solidFill>
            <a:srgbClr val="FFFFFF"/>
          </a:solidFill>
          <a:ln w="12700">
            <a:solidFill>
              <a:srgbClr val="E3E8EF"/>
            </a:solidFill>
            <a:prstDash val="solid"/>
          </a:ln>
        </p:spPr>
        <p:txBody>
          <a:bodyPr/>
          <a:p/>
        </p:txBody>
      </p:sp>
      <p:sp>
        <p:nvSpPr>
          <p:cNvPr id="2109" name=""/>
          <p:cNvSpPr/>
          <p:nvPr/>
        </p:nvSpPr>
        <p:spPr>
          <a:xfrm rot="0" flipH="0" flipV="0">
            <a:off x="8020050" y="12192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2110" name="" descr="{&quot;isTemplate&quot;:true,&quot;type&quot;:&quot;text&quot;}"/>
          <p:cNvSpPr txBox="1"/>
          <p:nvPr/>
        </p:nvSpPr>
        <p:spPr>
          <a:xfrm rot="0" flipH="0" flipV="0">
            <a:off x="8210550" y="1447800"/>
            <a:ext cx="3105150" cy="390525"/>
          </a:xfrm>
          <a:prstGeom prst="rect"/>
        </p:spPr>
        <p:txBody>
          <a:bodyPr wrap="none" lIns="0" tIns="0" rIns="0" bIns="0"/>
          <a:p>
            <a:pPr>
              <a:lnSpc>
                <a:spcPct val="140000"/>
              </a:lnSpc>
            </a:pPr>
            <a:r>
              <a:rPr lang="zh-CN" sz="1800" b="1">
                <a:solidFill>
                  <a:srgbClr val="0E2340"/>
                </a:solidFill>
                <a:latin typeface="Microsoft YaHei"/>
                <a:ea typeface="Microsoft YaHei"/>
              </a:rPr>
              <a:t>学校端</a:t>
            </a:r>
            <a:endParaRPr/>
          </a:p>
        </p:txBody>
      </p:sp>
      <p:sp>
        <p:nvSpPr>
          <p:cNvPr id="2111" name="" descr="{&quot;isTemplate&quot;:true,&quot;type&quot;:&quot;text&quot;}"/>
          <p:cNvSpPr txBox="1"/>
          <p:nvPr/>
        </p:nvSpPr>
        <p:spPr>
          <a:xfrm rot="0" flipH="0" flipV="0">
            <a:off x="8210550" y="1933575"/>
            <a:ext cx="3105150" cy="990600"/>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组织跨班、跨年级的教学管理和体系版本：按教材与课程定制课时、知识点、步骤、套路及评价规则。</a:t>
            </a:r>
            <a:endParaRPr/>
          </a:p>
        </p:txBody>
      </p:sp>
      <p:sp>
        <p:nvSpPr>
          <p:cNvPr id="2112" name=""/>
          <p:cNvSpPr/>
          <p:nvPr/>
        </p:nvSpPr>
        <p:spPr>
          <a:xfrm rot="0" flipH="0" flipV="0">
            <a:off x="704850" y="5648325"/>
            <a:ext cx="10858500" cy="561975"/>
          </a:xfrm>
          <a:prstGeom prst="roundRect">
            <a:avLst>
              <a:gd name="adj" fmla="val 10169"/>
            </a:avLst>
          </a:prstGeom>
          <a:solidFill>
            <a:srgbClr val="F5F7FA"/>
          </a:solidFill>
          <a:ln/>
        </p:spPr>
        <p:txBody>
          <a:bodyPr/>
          <a:p/>
        </p:txBody>
      </p:sp>
      <p:sp>
        <p:nvSpPr>
          <p:cNvPr id="2113" name=""/>
          <p:cNvSpPr/>
          <p:nvPr/>
        </p:nvSpPr>
        <p:spPr>
          <a:xfrm rot="0" flipH="0" flipV="0">
            <a:off x="704850" y="5648325"/>
            <a:ext cx="10858500" cy="561975"/>
          </a:xfrm>
          <a:custGeom>
            <a:pathLst>
              <a:path w="1140" h="59">
                <a:moveTo>
                  <a:pt x="6" y="0"/>
                </a:moveTo>
                <a:cubicBezTo>
                  <a:pt x="5" y="0"/>
                  <a:pt x="4" y="1"/>
                  <a:pt x="4" y="2"/>
                </a:cubicBezTo>
                <a:lnTo>
                  <a:pt x="4" y="57"/>
                </a:lnTo>
                <a:cubicBezTo>
                  <a:pt x="4" y="58"/>
                  <a:pt x="5" y="59"/>
                  <a:pt x="6" y="59"/>
                </a:cubicBezTo>
                <a:cubicBezTo>
                  <a:pt x="3" y="59"/>
                  <a:pt x="0" y="56"/>
                  <a:pt x="0" y="53"/>
                </a:cubicBezTo>
                <a:lnTo>
                  <a:pt x="0" y="6"/>
                </a:lnTo>
                <a:cubicBezTo>
                  <a:pt x="0" y="3"/>
                  <a:pt x="3" y="0"/>
                  <a:pt x="6" y="0"/>
                </a:cubicBezTo>
                <a:close/>
              </a:path>
            </a:pathLst>
          </a:custGeom>
          <a:solidFill>
            <a:srgbClr val="00A9B5"/>
          </a:solidFill>
          <a:ln/>
        </p:spPr>
        <p:txBody>
          <a:bodyPr/>
          <a:p/>
        </p:txBody>
      </p:sp>
      <p:sp>
        <p:nvSpPr>
          <p:cNvPr id="2114" name="" descr="{&quot;isTemplate&quot;:true,&quot;type&quot;:&quot;text&quot;}"/>
          <p:cNvSpPr txBox="1"/>
          <p:nvPr/>
        </p:nvSpPr>
        <p:spPr>
          <a:xfrm rot="0" flipH="0" flipV="0">
            <a:off x="895350" y="5781675"/>
            <a:ext cx="4371975" cy="295275"/>
          </a:xfrm>
          <a:prstGeom prst="rect"/>
        </p:spPr>
        <p:txBody>
          <a:bodyPr wrap="none" lIns="0" tIns="0" rIns="0" bIns="0"/>
          <a:p>
            <a:pPr>
              <a:lnSpc>
                <a:spcPct val="150000"/>
              </a:lnSpc>
            </a:pPr>
            <a:r>
              <a:rPr lang="zh-CN" sz="1275" b="1">
                <a:solidFill>
                  <a:srgbClr val="0E2340"/>
                </a:solidFill>
                <a:latin typeface="Microsoft YaHei"/>
                <a:ea typeface="Microsoft YaHei"/>
              </a:rPr>
              <a:t>隐私边界：个人助教的完整私密对话不作为默认全校共享材料</a:t>
            </a:r>
            <a:endParaRPr/>
          </a:p>
        </p:txBody>
      </p:sp>
      <p:sp>
        <p:nvSpPr>
          <p:cNvPr id="2115"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116" name="" descr="{&quot;isTemplate&quot;:true,&quot;type&quot;:&quot;text&quot;}"/>
          <p:cNvSpPr txBox="1"/>
          <p:nvPr/>
        </p:nvSpPr>
        <p:spPr>
          <a:xfrm rot="0" flipH="0" flipV="0">
            <a:off x="666750" y="6381750"/>
            <a:ext cx="1619250" cy="209550"/>
          </a:xfrm>
          <a:prstGeom prst="rect"/>
        </p:spPr>
        <p:txBody>
          <a:bodyPr wrap="none" lIns="0" tIns="0" rIns="0" bIns="0"/>
          <a:p>
            <a:pPr>
              <a:lnSpc>
                <a:spcPct val="140000"/>
              </a:lnSpc>
            </a:pPr>
            <a:r>
              <a:rPr lang="zh-CN" sz="975">
                <a:solidFill>
                  <a:srgbClr val="7A8699"/>
                </a:solidFill>
                <a:latin typeface="Microsoft YaHei"/>
                <a:ea typeface="Microsoft YaHei"/>
              </a:rPr>
              <a:t>依据：学校端设计思路</a:t>
            </a:r>
            <a:r>
              <a:rPr lang="en-US" sz="975">
                <a:solidFill>
                  <a:srgbClr val="7A8699"/>
                </a:solidFill>
                <a:latin typeface="Microsoft YaHei"/>
                <a:ea typeface="Microsoft YaHei"/>
              </a:rPr>
              <a:t>.md §1</a:t>
            </a:r>
            <a:endParaRPr/>
          </a:p>
        </p:txBody>
      </p:sp>
      <p:sp>
        <p:nvSpPr>
          <p:cNvPr id="2117"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58 / 124 </a:t>
            </a:r>
            <a:endParaRPr/>
          </a:p>
        </p:txBody>
      </p:sp>
    </p:spTree>
  </p:cSld>
</p:sld>
</file>

<file path=ppt/slides/slide59.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2118"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6 / 学校端&lt;/Text&gt;&lt;Text style={{ fontSize: 32, color: '#0E2340', fontWeight: 700, lineHeight: 1.3 }}&gt;教学质量评估：六类观察对象&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paddingTop: 4 }}&gt;&lt;Box style={{ flex: 1 }}&gt;&lt;Table style={{ width: '100%', height: '100%' }} defaultTextStyle={{ fontSize: 16, textAlign: 'left', color: '#333A45' }} defaultCellStyle={{ padding: 10, border: { left: { width: 1, color: '#E3E8EF' }, right: { width: 1, color: '#E3E8EF' }, top: { width: 1, color: '#E3E8EF' }, bottom: { width: 1, color: '#E3E8EF' } } }} cells={[[{ text: '观察对象', textStyle: { color: '#FFFFFF', fontWeight: 600, fontSize: 16 }, cellStyle: { background: { color: '#0E2340' } } }, { text: '可查看的证据', textStyle: { color: '#FFFFFF', fontWeight: 600, fontSize: 16 }, cellStyle: { background: { color: '#0E2340' } } }, { text: '主要管理用途', textStyle: { color: '#FFFFFF', fontWeight: 600, fontSize: 16 }, cellStyle: { background: { color: '#0E2340' } } }],&#10;        [{ text: '课程推进', textStyle: { fontWeight: 600, fontSize: 16 } }, { text: '实际授课、前置准备、阶段目标覆盖', textStyle: { fontSize: 16 } }, { text: '识别课程安排与学生准备程度是否匹配', textStyle: { fontSize: 16 } }],&#10;        [{ text: '学习进步', textStyle: { fontWeight: 600, fontSize: 16 }, cellStyle: { background: { color: '#F5F7FA' } } }, { text: '可比较任务中的知识理解、套路迁移与延迟保持', textStyle: { fontSize: 16 }, cellStyle: { background: { color: '#F5F7FA' } } }, { text: '判断各阶段学生是否得到持续支持', textStyle: { fontSize: 16 }, cellStyle: { background: { color: '#F5F7FA' } } }],&#10;        [{ text: '作业与考试', textStyle: { fontWeight: 600, fontSize: 16 } }, { text: '覆盖、难度、负担、批改质量及教师修正', textStyle: { fontSize: 16 } }, { text: '改进题目与评价材料', textStyle: { fontSize: 16 } }],&#10;        [{ text: '教学调整', textStyle: { fontWeight: 600, fontSize: 16 }, cellStyle: { background: { color: '#F5F7FA' } } }, { text: '发现问题、教师采取行动、后续复测表现', textStyle: { fontSize: 16 }, cellStyle: { background: { color: '#F5F7FA' } } }, { text: '观察改进措施是否落实', textStyle: { fontSize: 16 }, cellStyle: { background: { color: '#F5F7FA' } } }],&#10;        [{ text: '支持的可获得性', textStyle: { fontWeight: 600, fontSize: 16 } }, { text: '不同班级和学生是否获得适当任务与必要帮助', textStyle: { fontSize: 16 } }, { text: '配置辅导、设备和教研资源', textStyle: { fontSize: 16 } }],&#10;        [{ text: '使用成本', textStyle: { fontWeight: 600, fontSize: 16 }, cellStyle: { background: { color: '#F5F7FA' } } }, { text: '教师审核用时、学生任务时长、技术运行成本', textStyle: { fontSize: 16 }, cellStyle: { background: { color: '#F5F7FA' } } }, { text: '判断投入与收益', textStyle: { fontSize: 16 }, cellStyle: { background: { color: '#F5F7FA' } } }]]} /&gt;&lt;/Box&gt;&lt;/Box&gt;&lt;/Box&gt;&lt;Box style={{ height: 40, flexDirection: 'row', justifyContent: 'space-between', alignItems: 'center', borderTop: '1px solid #E3E8EF', marginTop: 8 }}&gt;&lt;Text style={{ fontSize: 13, color: '#7A8699', fontWeight: 400, lineHeight: 1.4 }}&gt;依据：学校端设计思路.md §2&lt;/Text&gt;&lt;Text style={{ fontSize: 14, color: '#7A8699', fontWeight: 400, lineHeight: 1.4 }}&gt; 59 / 124 &lt;/Text&gt;&lt;/Box&gt;&lt;/Slide&gt;"/>
        <p:cNvGrpSpPr/>
        <p:nvPr/>
      </p:nvGrpSpPr>
      <p:grpSpPr>
        <a:xfrm>
          <a:off x="0" y="0"/>
          <a:ext cx="0" cy="0"/>
          <a:chOff x="0" y="0"/>
          <a:chExt cx="0" cy="0"/>
        </a:xfrm>
      </p:grpSpPr>
      <p:sp>
        <p:nvSpPr>
          <p:cNvPr id="2119" name=""/>
          <p:cNvSpPr/>
          <p:nvPr/>
        </p:nvSpPr>
        <p:spPr>
          <a:xfrm rot="0" flipH="0" flipV="0">
            <a:off x="0" y="0"/>
            <a:ext cx="12192000" cy="6858000"/>
          </a:xfrm>
          <a:prstGeom prst="rect">
            <a:avLst/>
          </a:prstGeom>
          <a:solidFill>
            <a:srgbClr val="FFFFFF"/>
          </a:solidFill>
          <a:ln/>
        </p:spPr>
        <p:txBody>
          <a:bodyPr/>
          <a:p/>
        </p:txBody>
      </p:sp>
      <p:sp>
        <p:nvSpPr>
          <p:cNvPr id="2120" name="" descr="{&quot;isTemplate&quot;:true,&quot;type&quot;:&quot;text&quot;}"/>
          <p:cNvSpPr txBox="1"/>
          <p:nvPr/>
        </p:nvSpPr>
        <p:spPr>
          <a:xfrm rot="0" flipH="0" flipV="0">
            <a:off x="666750" y="381000"/>
            <a:ext cx="39624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06 / </a:t>
            </a:r>
            <a:r>
              <a:rPr lang="zh-CN" sz="1050" spc="75">
                <a:solidFill>
                  <a:srgbClr val="7A8699"/>
                </a:solidFill>
                <a:latin typeface="Microsoft YaHei"/>
                <a:ea typeface="Microsoft YaHei"/>
              </a:rPr>
              <a:t>学校端</a:t>
            </a:r>
            <a:endParaRPr/>
          </a:p>
        </p:txBody>
      </p:sp>
      <p:sp>
        <p:nvSpPr>
          <p:cNvPr id="2121" name="" descr="{&quot;isTemplate&quot;:true,&quot;type&quot;:&quot;text&quot;}"/>
          <p:cNvSpPr txBox="1"/>
          <p:nvPr/>
        </p:nvSpPr>
        <p:spPr>
          <a:xfrm rot="0" flipH="0" flipV="0">
            <a:off x="666750" y="666750"/>
            <a:ext cx="3962400" cy="476250"/>
          </a:xfrm>
          <a:prstGeom prst="rect"/>
        </p:spPr>
        <p:txBody>
          <a:bodyPr wrap="none" lIns="0" tIns="0" rIns="0" bIns="0"/>
          <a:p>
            <a:pPr>
              <a:lnSpc>
                <a:spcPct val="130000"/>
              </a:lnSpc>
            </a:pPr>
            <a:r>
              <a:rPr lang="zh-CN" sz="2400" b="1">
                <a:solidFill>
                  <a:srgbClr val="0E2340"/>
                </a:solidFill>
                <a:latin typeface="Microsoft YaHei"/>
                <a:ea typeface="Microsoft YaHei"/>
              </a:rPr>
              <a:t>教学质量评估：六类观察对象</a:t>
            </a:r>
            <a:endParaRPr/>
          </a:p>
        </p:txBody>
      </p:sp>
      <p:sp>
        <p:nvSpPr>
          <p:cNvPr id="2122"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123"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graphicFrame>
        <p:nvGraphicFramePr>
          <p:cNvPr id="2124" name=""/>
          <p:cNvGraphicFramePr/>
          <p:nvPr/>
        </p:nvGraphicFramePr>
        <p:xfrm rot="0" flipH="0" flipV="0">
          <a:off x="666750" y="1257300"/>
          <a:ext cx="10858500" cy="4953000"/>
        </p:xfrm>
        <a:graphic>
          <a:graphicData uri="http://schemas.openxmlformats.org/drawingml/2006/table">
            <a:tbl>
              <a:tblGrid>
                <a:gridCol w="1763346">
                  <a:extLst>
                    <a:ext uri="{9D8B030D-6E8A-4147-A177-3AD203B41FA5}">
                      <a16:colId val="1"/>
                    </a:ext>
                  </a:extLst>
                </a:gridCol>
                <a:gridCol w="5011615">
                  <a:extLst>
                    <a:ext uri="{9D8B030D-6E8A-4147-A177-3AD203B41FA5}">
                      <a16:colId val="2"/>
                    </a:ext>
                  </a:extLst>
                </a:gridCol>
                <a:gridCol w="4083538">
                  <a:extLst>
                    <a:ext uri="{9D8B030D-6E8A-4147-A177-3AD203B41FA5}">
                      <a16:colId val="3"/>
                    </a:ext>
                  </a:extLst>
                </a:gridCol>
              </a:tblGrid>
              <a:tr h="707571">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观察对象</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可查看的证据</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主要管理用途</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707571">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课程推进</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实际授课、前置准备、阶段目标覆盖</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识别课程安排与学生准备程度是否匹配</a:t>
                      </a:r>
                      <a:endParaRPr/>
                    </a:p>
                  </a:txBody>
                  <a:tcPr marL="45720" marR="45720" marT="45720" marB="45720" anchor="ctr">
                    <a:lnL>
                      <a:noFill/>
                    </a:lnL>
                    <a:lnR>
                      <a:noFill/>
                    </a:lnR>
                    <a:lnT>
                      <a:noFill/>
                    </a:lnT>
                    <a:lnB>
                      <a:noFill/>
                    </a:lnB>
                  </a:tcPr>
                </a:tc>
                <a:extLst>
                  <a:ext uri="{0D108BD9-81ED-4DB2-BD59-A6C34878D82A}">
                    <a16:rowId val="2"/>
                  </a:ext>
                </a:extLst>
              </a:tr>
              <a:tr h="707571">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学习进步</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可比较任务中的知识理解、套路迁移与延迟保持</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判断各阶段学生是否得到持续支持</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707571">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作业与考试</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覆盖、难度、负担、批改质量及教师修正</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改进题目与评价材料</a:t>
                      </a:r>
                      <a:endParaRPr/>
                    </a:p>
                  </a:txBody>
                  <a:tcPr marL="45720" marR="45720" marT="45720" marB="45720" anchor="ctr">
                    <a:lnL>
                      <a:noFill/>
                    </a:lnL>
                    <a:lnR>
                      <a:noFill/>
                    </a:lnR>
                    <a:lnT>
                      <a:noFill/>
                    </a:lnT>
                    <a:lnB>
                      <a:noFill/>
                    </a:lnB>
                  </a:tcPr>
                </a:tc>
                <a:extLst>
                  <a:ext uri="{0D108BD9-81ED-4DB2-BD59-A6C34878D82A}">
                    <a16:rowId val="4"/>
                  </a:ext>
                </a:extLst>
              </a:tr>
              <a:tr h="707571">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教学调整</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发现问题、教师采取行动、后续复测表现</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观察改进措施是否落实</a:t>
                      </a:r>
                      <a:endParaRPr/>
                    </a:p>
                  </a:txBody>
                  <a:tcPr marL="45720" marR="45720" marT="45720" marB="45720" anchor="ctr">
                    <a:lnL>
                      <a:noFill/>
                    </a:lnL>
                    <a:lnR>
                      <a:noFill/>
                    </a:lnR>
                    <a:lnT>
                      <a:noFill/>
                    </a:lnT>
                    <a:lnB>
                      <a:noFill/>
                    </a:lnB>
                    <a:solidFill>
                      <a:srgbClr val="F5F7FA"/>
                    </a:solidFill>
                  </a:tcPr>
                </a:tc>
                <a:extLst>
                  <a:ext uri="{0D108BD9-81ED-4DB2-BD59-A6C34878D82A}">
                    <a16:rowId val="5"/>
                  </a:ext>
                </a:extLst>
              </a:tr>
              <a:tr h="707571">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支持的可获得性</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不同班级和学生是否获得适当任务与必要帮助</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配置辅导、设备和教研资源</a:t>
                      </a:r>
                      <a:endParaRPr/>
                    </a:p>
                  </a:txBody>
                  <a:tcPr marL="45720" marR="45720" marT="45720" marB="45720" anchor="ctr">
                    <a:lnL>
                      <a:noFill/>
                    </a:lnL>
                    <a:lnR>
                      <a:noFill/>
                    </a:lnR>
                    <a:lnT>
                      <a:noFill/>
                    </a:lnT>
                    <a:lnB>
                      <a:noFill/>
                    </a:lnB>
                  </a:tcPr>
                </a:tc>
                <a:extLst>
                  <a:ext uri="{0D108BD9-81ED-4DB2-BD59-A6C34878D82A}">
                    <a16:rowId val="6"/>
                  </a:ext>
                </a:extLst>
              </a:tr>
              <a:tr h="707571">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使用成本</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教师审核用时、学生任务时长、技术运行成本</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判断投入与收益</a:t>
                      </a:r>
                      <a:endParaRPr/>
                    </a:p>
                  </a:txBody>
                  <a:tcPr marL="45720" marR="45720" marT="45720" marB="45720" anchor="ctr">
                    <a:lnL>
                      <a:noFill/>
                    </a:lnL>
                    <a:lnR>
                      <a:noFill/>
                    </a:lnR>
                    <a:lnT>
                      <a:noFill/>
                    </a:lnT>
                    <a:lnB>
                      <a:noFill/>
                    </a:lnB>
                    <a:solidFill>
                      <a:srgbClr val="F5F7FA"/>
                    </a:solidFill>
                  </a:tcPr>
                </a:tc>
                <a:extLst>
                  <a:ext uri="{0D108BD9-81ED-4DB2-BD59-A6C34878D82A}">
                    <a16:rowId val="7"/>
                  </a:ext>
                </a:extLst>
              </a:tr>
            </a:tbl>
          </a:graphicData>
        </a:graphic>
      </p:graphicFrame>
      <p:sp>
        <p:nvSpPr>
          <p:cNvPr id="2125"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126" name="" descr="{&quot;isTemplate&quot;:true,&quot;type&quot;:&quot;text&quot;}"/>
          <p:cNvSpPr txBox="1"/>
          <p:nvPr/>
        </p:nvSpPr>
        <p:spPr>
          <a:xfrm rot="0" flipH="0" flipV="0">
            <a:off x="666750" y="6381750"/>
            <a:ext cx="1619250" cy="209550"/>
          </a:xfrm>
          <a:prstGeom prst="rect"/>
        </p:spPr>
        <p:txBody>
          <a:bodyPr wrap="none" lIns="0" tIns="0" rIns="0" bIns="0"/>
          <a:p>
            <a:pPr>
              <a:lnSpc>
                <a:spcPct val="140000"/>
              </a:lnSpc>
            </a:pPr>
            <a:r>
              <a:rPr lang="zh-CN" sz="975">
                <a:solidFill>
                  <a:srgbClr val="7A8699"/>
                </a:solidFill>
                <a:latin typeface="Microsoft YaHei"/>
                <a:ea typeface="Microsoft YaHei"/>
              </a:rPr>
              <a:t>依据：学校端设计思路</a:t>
            </a:r>
            <a:r>
              <a:rPr lang="en-US" sz="975">
                <a:solidFill>
                  <a:srgbClr val="7A8699"/>
                </a:solidFill>
                <a:latin typeface="Microsoft YaHei"/>
                <a:ea typeface="Microsoft YaHei"/>
              </a:rPr>
              <a:t>.md §2</a:t>
            </a:r>
            <a:endParaRPr/>
          </a:p>
        </p:txBody>
      </p:sp>
      <p:sp>
        <p:nvSpPr>
          <p:cNvPr id="2127"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59 / 124 </a:t>
            </a:r>
            <a:endParaRPr/>
          </a:p>
        </p:txBody>
      </p:sp>
    </p:spTree>
  </p:cSld>
</p:sld>
</file>

<file path=ppt/slides/slide60.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142"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6 / 学校端&lt;/Text&gt;&lt;Text style={{ fontSize: 32, color: '#0E2340', fontWeight: 700, lineHeight: 1.3 }}&gt;数据诚信三原则&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8 }}&gt;&lt;Box style={{ flexDirection: 'column', gap: 16, flex: 1, justifyContent: 'center' }}&gt;&lt;svg width={1140} height={300} viewBox='0 0 1140 300'&gt;&lt;rect x='0' y='0' width='1140' height='92' rx='8' fill='#0E2340'/&gt;&lt;text x='570.0' y='40.0' font-size='22' fill='#FFFFFF' text-anchor='middle' font-weight='600'&gt;原则一 · 显示覆盖范围&lt;/text&gt;&lt;text x='570.0' y='66.0' font-size='15' fill='#C8DCF2' text-anchor='middle' font-weight='400'&gt;质量报告须显示数据覆盖范围、评价版本与未知部分&lt;/text&gt;&lt;path d='M562 93 l8 8 l-8 8' fill='none' stroke='#00A9B5' stroke-width='2'/&gt;&lt;rect x='0' y='104' width='1140' height='92' rx='8' fill='#1E7BE0'/&gt;&lt;text x='570.0' y='144.0' font-size='22' fill='#FFFFFF' text-anchor='middle' font-weight='600'&gt;原则二 · 不因数据少判低&lt;/text&gt;&lt;text x='570.0' y='170.0' font-size='15' fill='#C8DCF2' text-anchor='middle' font-weight='400'&gt;接入不完整的班级不能只因数据少被判为质量低&lt;/text&gt;&lt;path d='M562 197 l8 8 l-8 8' fill='none' stroke='#00A9B5' stroke-width='2'/&gt;&lt;rect x='0' y='208' width='1140' height='92' rx='8' fill='#9FD0F5'/&gt;&lt;text x='570.0' y='248.0' font-size='22' fill='#FFFFFF' text-anchor='middle' font-weight='600'&gt;原则三 · 跨口径不可比&lt;/text&gt;&lt;text x='570.0' y='274.0' font-size='15' fill='#C8DCF2' text-anchor='middle' font-weight='400'&gt;不同试卷、评分规则、帮助条件的结果未经校准不能直接比较&lt;/text&gt;&lt;/svg&gt;&lt;/Box&gt;&lt;/Box&gt;&lt;/Box&gt;&lt;Box style={{ height: 40, flexDirection: 'row', justifyContent: 'space-between', alignItems: 'center', borderTop: '1px solid #E3E8EF', marginTop: 8 }}&gt;&lt;Text style={{ fontSize: 13, color: '#7A8699', fontWeight: 400, lineHeight: 1.4 }}&gt;依据：学校端设计思路.md §2&lt;/Text&gt;&lt;Text style={{ fontSize: 14, color: '#7A8699', fontWeight: 400, lineHeight: 1.4 }}&gt; 60 / 124 &lt;/Text&gt;&lt;/Box&gt;&lt;/Slide&gt;"/>
        <p:cNvGrpSpPr/>
        <p:nvPr/>
      </p:nvGrpSpPr>
      <p:grpSpPr>
        <a:xfrm>
          <a:off x="0" y="0"/>
          <a:ext cx="0" cy="0"/>
          <a:chOff x="0" y="0"/>
          <a:chExt cx="0" cy="0"/>
        </a:xfrm>
      </p:grpSpPr>
      <p:sp>
        <p:nvSpPr>
          <p:cNvPr id="2143" name=""/>
          <p:cNvSpPr/>
          <p:nvPr/>
        </p:nvSpPr>
        <p:spPr>
          <a:xfrm rot="0" flipH="0" flipV="0">
            <a:off x="0" y="0"/>
            <a:ext cx="12192000" cy="6858000"/>
          </a:xfrm>
          <a:prstGeom prst="rect">
            <a:avLst/>
          </a:prstGeom>
          <a:solidFill>
            <a:srgbClr val="FFFFFF"/>
          </a:solidFill>
          <a:ln/>
        </p:spPr>
        <p:txBody>
          <a:bodyPr/>
          <a:p/>
        </p:txBody>
      </p:sp>
      <p:sp>
        <p:nvSpPr>
          <p:cNvPr id="2144" name="" descr="{&quot;isTemplate&quot;:true,&quot;type&quot;:&quot;text&quot;}"/>
          <p:cNvSpPr txBox="1"/>
          <p:nvPr/>
        </p:nvSpPr>
        <p:spPr>
          <a:xfrm rot="0" flipH="0" flipV="0">
            <a:off x="666750" y="381000"/>
            <a:ext cx="2133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06 / </a:t>
            </a:r>
            <a:r>
              <a:rPr lang="zh-CN" sz="1050" spc="75">
                <a:solidFill>
                  <a:srgbClr val="7A8699"/>
                </a:solidFill>
                <a:latin typeface="Microsoft YaHei"/>
                <a:ea typeface="Microsoft YaHei"/>
              </a:rPr>
              <a:t>学校端</a:t>
            </a:r>
            <a:endParaRPr/>
          </a:p>
        </p:txBody>
      </p:sp>
      <p:sp>
        <p:nvSpPr>
          <p:cNvPr id="2145" name="" descr="{&quot;isTemplate&quot;:true,&quot;type&quot;:&quot;text&quot;}"/>
          <p:cNvSpPr txBox="1"/>
          <p:nvPr/>
        </p:nvSpPr>
        <p:spPr>
          <a:xfrm rot="0" flipH="0" flipV="0">
            <a:off x="666750" y="666750"/>
            <a:ext cx="2133600" cy="476250"/>
          </a:xfrm>
          <a:prstGeom prst="rect"/>
        </p:spPr>
        <p:txBody>
          <a:bodyPr wrap="none" lIns="0" tIns="0" rIns="0" bIns="0"/>
          <a:p>
            <a:pPr>
              <a:lnSpc>
                <a:spcPct val="130000"/>
              </a:lnSpc>
            </a:pPr>
            <a:r>
              <a:rPr lang="zh-CN" sz="2400" b="1">
                <a:solidFill>
                  <a:srgbClr val="0E2340"/>
                </a:solidFill>
                <a:latin typeface="Microsoft YaHei"/>
                <a:ea typeface="Microsoft YaHei"/>
              </a:rPr>
              <a:t>数据诚信三原则</a:t>
            </a:r>
            <a:endParaRPr/>
          </a:p>
        </p:txBody>
      </p:sp>
      <p:sp>
        <p:nvSpPr>
          <p:cNvPr id="2146"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147"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2148" name=""/>
          <p:cNvPicPr>
            <a:picLocks noChangeAspect="1"/>
          </p:cNvPicPr>
          <p:nvPr/>
        </p:nvPicPr>
        <p:blipFill>
          <a:blip>
            <a:extLst>
              <a:ext uri="{96DAC541-7B7A-43D3-8B79-37D633B846F1}">
                <asvg:svgBlip r:embed="rId1"/>
              </a:ext>
            </a:extLst>
          </a:blip>
          <a:stretch>
            <a:fillRect/>
          </a:stretch>
        </p:blipFill>
        <p:spPr>
          <a:xfrm rot="0" flipH="0" flipV="0">
            <a:off x="666750" y="2286000"/>
            <a:ext cx="10858500" cy="2857500"/>
          </a:xfrm>
          <a:prstGeom prst="rect">
            <a:avLst/>
          </a:prstGeom>
          <a:ln/>
        </p:spPr>
      </p:pic>
      <p:sp>
        <p:nvSpPr>
          <p:cNvPr id="2149"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150" name="" descr="{&quot;isTemplate&quot;:true,&quot;type&quot;:&quot;text&quot;}"/>
          <p:cNvSpPr txBox="1"/>
          <p:nvPr/>
        </p:nvSpPr>
        <p:spPr>
          <a:xfrm rot="0" flipH="0" flipV="0">
            <a:off x="666750" y="6381750"/>
            <a:ext cx="1619250" cy="209550"/>
          </a:xfrm>
          <a:prstGeom prst="rect"/>
        </p:spPr>
        <p:txBody>
          <a:bodyPr wrap="none" lIns="0" tIns="0" rIns="0" bIns="0"/>
          <a:p>
            <a:pPr>
              <a:lnSpc>
                <a:spcPct val="140000"/>
              </a:lnSpc>
            </a:pPr>
            <a:r>
              <a:rPr lang="zh-CN" sz="975">
                <a:solidFill>
                  <a:srgbClr val="7A8699"/>
                </a:solidFill>
                <a:latin typeface="Microsoft YaHei"/>
                <a:ea typeface="Microsoft YaHei"/>
              </a:rPr>
              <a:t>依据：学校端设计思路</a:t>
            </a:r>
            <a:r>
              <a:rPr lang="en-US" sz="975">
                <a:solidFill>
                  <a:srgbClr val="7A8699"/>
                </a:solidFill>
                <a:latin typeface="Microsoft YaHei"/>
                <a:ea typeface="Microsoft YaHei"/>
              </a:rPr>
              <a:t>.md §2</a:t>
            </a:r>
            <a:endParaRPr/>
          </a:p>
        </p:txBody>
      </p:sp>
      <p:sp>
        <p:nvSpPr>
          <p:cNvPr id="2151"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60 / 124 </a:t>
            </a:r>
            <a:endParaRPr/>
          </a:p>
        </p:txBody>
      </p:sp>
    </p:spTree>
  </p:cSld>
</p:sld>
</file>

<file path=ppt/slides/slide61.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152"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6 / 学校端&lt;/Text&gt;&lt;Text style={{ fontSize: 32, color: '#0E2340', fontWeight: 700, lineHeight: 1.3 }}&gt;教师绩效：五类证据与七项比较背景&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row', gap: 28, flex: 1 }}&gt;&lt;Box style={{ width: 700, justifyContent: 'center' }}&gt;&lt;svg width={700} height={340} viewBox='0 0 700 340'&gt;&lt;circle cx='350' cy='170' r='62' fill='#0E2340'/&gt;&lt;text x='350' y='164' font-size='18' fill='#FFFFFF' text-anchor='middle' font-weight='700'&gt;五类证据&lt;/text&gt;&lt;text x='350' y='190' font-size='13' fill='#C8DCF2' text-anchor='middle' font-weight='400'&gt;不是单一评分&lt;/text&gt;&lt;rect x='%d' y='%d' width='230' height='54' rx='8' fill='#FFFFFF' stroke='#1E7BE0' stroke-width='1.5'/&gt;&lt;rect x='%d' y='%d' width='230' height='54' rx='8' fill='#FFFFFF' stroke='#1E7BE0' stroke-width='1.5'/&gt;&lt;rect x='%d' y='%d' width='230' height='54' rx='8' fill='#FFFFFF' stroke='#1E7BE0' stroke-width='1.5'/&gt;&lt;rect x='%d' y='%d' width='230' height='54' rx='8' fill='#FFFFFF' stroke='#1E7BE0' stroke-width='1.5'/&gt;&lt;text x='135' y='100' font-size='15' fill='#333A45' text-anchor='middle' font-weight='400'&gt;学生进步、知识保持与独立迁移&lt;/text&gt;&lt;text x='135' y='122' font-size='15' fill='#333A45' text-anchor='middle' font-weight='400'&gt;课堂观察与专业判断&lt;/text&gt;&lt;text x='565' y='100' font-size='15' fill='#333A45' text-anchor='middle' font-weight='400'&gt;作业与考试设计与复核&lt;/text&gt;&lt;text x='565' y='122' font-size='15' fill='#333A45' text-anchor='middle' font-weight='400'&gt;共性困难识别与后续支持&lt;/text&gt;&lt;text x='135' y='348' font-size='15' fill='#333A45' text-anchor='middle' font-weight='400'&gt;教研贡献与经核实纠错&lt;/text&gt;&lt;text x='565' y='348' font-size='15' fill='#333A45' text-anchor='middle' font-weight='400'&gt;七项背景：起点/班额/课时/资源/难度/完整度/样本量&lt;/text&gt;&lt;/svg&gt;&lt;/Box&gt;&lt;Box style={{ flex: 1, flexDirection: 'column', gap: 11, justifyContent: 'center' }}&gt;&lt;Text style={{ fontSize: 21, color: '#0E2340', fontWeight: 700, lineHeight: 1.4 }}&gt;评价口径&lt;/Text&gt;&lt;Box style={{ flexDirection: 'column', gap: 10 }}&gt;&lt;Box style={{ flexDirection: 'row', gap: 12, alignItems: 'flex-start' }}&gt;&lt;Box style={{ width: 8, height: 8, borderRadius: 4, background: '#1E7BE0', marginTop: 9 }} /&gt;&lt;Box style={{ flex: 1 }}&gt;&lt;Text style={{ fontSize: 17, color: '#333A45', fontWeight: 400, lineHeight: 1.6 }}&gt;重点关注：教师面对学生起点和教学条件时取得的进步、作出的教学调整、提供支持的质量。&lt;/Text&gt;&lt;/Box&gt;&lt;/Box&gt;&lt;Box style={{ flexDirection: 'row', gap: 12, alignItems: 'flex-start' }}&gt;&lt;Box style={{ width: 8, height: 8, borderRadius: 4, background: '#1E7BE0', marginTop: 9 }} /&gt;&lt;Box style={{ flex: 1 }}&gt;&lt;Text style={{ fontSize: 17, color: '#333A45', fontWeight: 400, lineHeight: 1.6 }}&gt;不把一个模型评分或平均分作为全部绩效。&lt;/Text&gt;&lt;/Box&gt;&lt;/Box&gt;&lt;Box style={{ flexDirection: 'row', gap: 12, alignItems: 'flex-start' }}&gt;&lt;Box style={{ width: 8, height: 8, borderRadius: 4, background: '#1E7BE0', marginTop: 9 }} /&gt;&lt;Box style={{ flex: 1 }}&gt;&lt;Text style={{ fontSize: 17, color: '#333A45', fontWeight: 400, lineHeight: 1.6 }}&gt;即使使用统计调整，也不能把观察到的进步全部归因为某名教师。&lt;/Text&gt;&lt;/Box&gt;&lt;/Box&gt;&lt;Box style={{ flexDirection: 'row', gap: 12, alignItems: 'flex-start' }}&gt;&lt;Box style={{ width: 8, height: 8, borderRadius: 4, background: '#1E7BE0', marginTop: 9 }} /&gt;&lt;Box style={{ flex: 1 }}&gt;&lt;Text style={{ fontSize: 17, color: '#333A45', fontWeight: 400, lineHeight: 1.6 }}&gt;流程保障：展示分项依据、比较范围和不确定性；允许教师补充背景、核对数据并申请复核。&lt;/Text&gt;&lt;/Box&gt;&lt;/Box&gt;&lt;Box style={{ flexDirection: 'row', gap: 12, alignItems: 'flex-start' }}&gt;&lt;Box style={{ width: 8, height: 8, borderRadius: 4, background: '#1E7BE0', marginTop: 9 }} /&gt;&lt;Box style={{ flex: 1 }}&gt;&lt;Text style={{ fontSize: 17, color: '#333A45', fontWeight: 400, lineHeight: 1.6 }}&gt;权责边界：正式绩效决定由学校按明确规则和多来源证据作出；AI 提供分析依据，不自动作出奖惩或单一排名。&lt;/Text&gt;&lt;/Box&gt;&lt;/Box&gt;&lt;/Box&gt;&lt;/Box&gt;&lt;/Box&gt;&lt;/Box&gt;&lt;Box style={{ height: 40, flexDirection: 'row', justifyContent: 'space-between', alignItems: 'center', borderTop: '1px solid #E3E8EF', marginTop: 8 }}&gt;&lt;Text style={{ fontSize: 13, color: '#7A8699', fontWeight: 400, lineHeight: 1.4 }}&gt;依据：学校端设计思路.md §3&lt;/Text&gt;&lt;Text style={{ fontSize: 14, color: '#7A8699', fontWeight: 400, lineHeight: 1.4 }}&gt; 61 / 124 &lt;/Text&gt;&lt;/Box&gt;&lt;/Slide&gt;"/>
        <p:cNvGrpSpPr/>
        <p:nvPr/>
      </p:nvGrpSpPr>
      <p:grpSpPr>
        <a:xfrm>
          <a:off x="0" y="0"/>
          <a:ext cx="0" cy="0"/>
          <a:chOff x="0" y="0"/>
          <a:chExt cx="0" cy="0"/>
        </a:xfrm>
      </p:grpSpPr>
      <p:sp>
        <p:nvSpPr>
          <p:cNvPr id="2153" name=""/>
          <p:cNvSpPr/>
          <p:nvPr/>
        </p:nvSpPr>
        <p:spPr>
          <a:xfrm rot="0" flipH="0" flipV="0">
            <a:off x="0" y="0"/>
            <a:ext cx="12192000" cy="6858000"/>
          </a:xfrm>
          <a:prstGeom prst="rect">
            <a:avLst/>
          </a:prstGeom>
          <a:solidFill>
            <a:srgbClr val="FFFFFF"/>
          </a:solidFill>
          <a:ln/>
        </p:spPr>
        <p:txBody>
          <a:bodyPr/>
          <a:p/>
        </p:txBody>
      </p:sp>
      <p:sp>
        <p:nvSpPr>
          <p:cNvPr id="2154" name="" descr="{&quot;isTemplate&quot;:true,&quot;type&quot;:&quot;text&quot;}"/>
          <p:cNvSpPr txBox="1"/>
          <p:nvPr/>
        </p:nvSpPr>
        <p:spPr>
          <a:xfrm rot="0" flipH="0" flipV="0">
            <a:off x="666750" y="381000"/>
            <a:ext cx="4876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06 / </a:t>
            </a:r>
            <a:r>
              <a:rPr lang="zh-CN" sz="1050" spc="75">
                <a:solidFill>
                  <a:srgbClr val="7A8699"/>
                </a:solidFill>
                <a:latin typeface="Microsoft YaHei"/>
                <a:ea typeface="Microsoft YaHei"/>
              </a:rPr>
              <a:t>学校端</a:t>
            </a:r>
            <a:endParaRPr/>
          </a:p>
        </p:txBody>
      </p:sp>
      <p:sp>
        <p:nvSpPr>
          <p:cNvPr id="2155" name="" descr="{&quot;isTemplate&quot;:true,&quot;type&quot;:&quot;text&quot;}"/>
          <p:cNvSpPr txBox="1"/>
          <p:nvPr/>
        </p:nvSpPr>
        <p:spPr>
          <a:xfrm rot="0" flipH="0" flipV="0">
            <a:off x="666750" y="666750"/>
            <a:ext cx="4876800" cy="476250"/>
          </a:xfrm>
          <a:prstGeom prst="rect"/>
        </p:spPr>
        <p:txBody>
          <a:bodyPr wrap="none" lIns="0" tIns="0" rIns="0" bIns="0"/>
          <a:p>
            <a:pPr>
              <a:lnSpc>
                <a:spcPct val="130000"/>
              </a:lnSpc>
            </a:pPr>
            <a:r>
              <a:rPr lang="zh-CN" sz="2400" b="1">
                <a:solidFill>
                  <a:srgbClr val="0E2340"/>
                </a:solidFill>
                <a:latin typeface="Microsoft YaHei"/>
                <a:ea typeface="Microsoft YaHei"/>
              </a:rPr>
              <a:t>教师绩效：五类证据与七项比较背景</a:t>
            </a:r>
            <a:endParaRPr/>
          </a:p>
        </p:txBody>
      </p:sp>
      <p:sp>
        <p:nvSpPr>
          <p:cNvPr id="2156"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157"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2158" name=""/>
          <p:cNvPicPr>
            <a:picLocks noChangeAspect="1"/>
          </p:cNvPicPr>
          <p:nvPr/>
        </p:nvPicPr>
        <p:blipFill>
          <a:blip>
            <a:extLst>
              <a:ext uri="{96DAC541-7B7A-43D3-8B79-37D633B846F1}">
                <asvg:svgBlip r:embed="rId1"/>
              </a:ext>
            </a:extLst>
          </a:blip>
          <a:stretch>
            <a:fillRect/>
          </a:stretch>
        </p:blipFill>
        <p:spPr>
          <a:xfrm rot="0" flipH="0" flipV="0">
            <a:off x="666750" y="2095500"/>
            <a:ext cx="6667500" cy="3238500"/>
          </a:xfrm>
          <a:prstGeom prst="rect">
            <a:avLst/>
          </a:prstGeom>
          <a:ln/>
        </p:spPr>
      </p:pic>
      <p:sp>
        <p:nvSpPr>
          <p:cNvPr id="2159" name="" descr="{&quot;isTemplate&quot;:true,&quot;type&quot;:&quot;text&quot;}"/>
          <p:cNvSpPr txBox="1"/>
          <p:nvPr/>
        </p:nvSpPr>
        <p:spPr>
          <a:xfrm rot="0" flipH="0" flipV="0">
            <a:off x="7600950" y="1733550"/>
            <a:ext cx="3924300" cy="342900"/>
          </a:xfrm>
          <a:prstGeom prst="rect"/>
        </p:spPr>
        <p:txBody>
          <a:bodyPr wrap="none" lIns="0" tIns="0" rIns="0" bIns="0"/>
          <a:p>
            <a:pPr>
              <a:lnSpc>
                <a:spcPct val="140000"/>
              </a:lnSpc>
            </a:pPr>
            <a:r>
              <a:rPr lang="zh-CN" sz="1575" b="1">
                <a:solidFill>
                  <a:srgbClr val="0E2340"/>
                </a:solidFill>
                <a:latin typeface="Microsoft YaHei"/>
                <a:ea typeface="Microsoft YaHei"/>
              </a:rPr>
              <a:t>评价口径</a:t>
            </a:r>
            <a:endParaRPr/>
          </a:p>
        </p:txBody>
      </p:sp>
      <p:sp>
        <p:nvSpPr>
          <p:cNvPr id="2160" name=""/>
          <p:cNvSpPr/>
          <p:nvPr/>
        </p:nvSpPr>
        <p:spPr>
          <a:xfrm rot="0" flipH="0" flipV="0">
            <a:off x="7600950" y="2266950"/>
            <a:ext cx="76200" cy="76200"/>
          </a:xfrm>
          <a:prstGeom prst="roundRect">
            <a:avLst>
              <a:gd name="adj" fmla="val 50000"/>
            </a:avLst>
          </a:prstGeom>
          <a:solidFill>
            <a:srgbClr val="1E7BE0"/>
          </a:solidFill>
          <a:ln/>
        </p:spPr>
        <p:txBody>
          <a:bodyPr/>
          <a:p/>
        </p:txBody>
      </p:sp>
      <p:sp>
        <p:nvSpPr>
          <p:cNvPr id="2161" name="" descr="{&quot;isTemplate&quot;:true,&quot;type&quot;:&quot;text&quot;}"/>
          <p:cNvSpPr txBox="1"/>
          <p:nvPr/>
        </p:nvSpPr>
        <p:spPr>
          <a:xfrm rot="0" flipH="0" flipV="0">
            <a:off x="7791450" y="21812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重点关注：教师面对学生起点和教学条件时取得的进步、作出的教学调整、提供支持的质量。</a:t>
            </a:r>
            <a:endParaRPr/>
          </a:p>
        </p:txBody>
      </p:sp>
      <p:sp>
        <p:nvSpPr>
          <p:cNvPr id="2162" name=""/>
          <p:cNvSpPr/>
          <p:nvPr/>
        </p:nvSpPr>
        <p:spPr>
          <a:xfrm rot="0" flipH="0" flipV="0">
            <a:off x="7600950" y="2990850"/>
            <a:ext cx="76200" cy="76200"/>
          </a:xfrm>
          <a:prstGeom prst="roundRect">
            <a:avLst>
              <a:gd name="adj" fmla="val 50000"/>
            </a:avLst>
          </a:prstGeom>
          <a:solidFill>
            <a:srgbClr val="1E7BE0"/>
          </a:solidFill>
          <a:ln/>
        </p:spPr>
        <p:txBody>
          <a:bodyPr/>
          <a:p/>
        </p:txBody>
      </p:sp>
      <p:sp>
        <p:nvSpPr>
          <p:cNvPr id="2163" name="" descr="{&quot;isTemplate&quot;:true,&quot;type&quot;:&quot;text&quot;}"/>
          <p:cNvSpPr txBox="1"/>
          <p:nvPr/>
        </p:nvSpPr>
        <p:spPr>
          <a:xfrm rot="0" flipH="0" flipV="0">
            <a:off x="7791450" y="2905125"/>
            <a:ext cx="3733800" cy="314325"/>
          </a:xfrm>
          <a:prstGeom prst="rect"/>
        </p:spPr>
        <p:txBody>
          <a:bodyPr wrap="none" lIns="0" tIns="0" rIns="0" bIns="0"/>
          <a:p>
            <a:pPr>
              <a:lnSpc>
                <a:spcPct val="160000"/>
              </a:lnSpc>
            </a:pPr>
            <a:r>
              <a:rPr lang="zh-CN" sz="1275">
                <a:solidFill>
                  <a:srgbClr val="333A45"/>
                </a:solidFill>
                <a:latin typeface="Microsoft YaHei"/>
                <a:ea typeface="Microsoft YaHei"/>
              </a:rPr>
              <a:t>不把一个模型评分或平均分作为全部绩效。</a:t>
            </a:r>
            <a:endParaRPr/>
          </a:p>
        </p:txBody>
      </p:sp>
      <p:sp>
        <p:nvSpPr>
          <p:cNvPr id="2164" name=""/>
          <p:cNvSpPr/>
          <p:nvPr/>
        </p:nvSpPr>
        <p:spPr>
          <a:xfrm rot="0" flipH="0" flipV="0">
            <a:off x="7600950" y="3400425"/>
            <a:ext cx="76200" cy="76200"/>
          </a:xfrm>
          <a:prstGeom prst="roundRect">
            <a:avLst>
              <a:gd name="adj" fmla="val 50000"/>
            </a:avLst>
          </a:prstGeom>
          <a:solidFill>
            <a:srgbClr val="1E7BE0"/>
          </a:solidFill>
          <a:ln/>
        </p:spPr>
        <p:txBody>
          <a:bodyPr/>
          <a:p/>
        </p:txBody>
      </p:sp>
      <p:sp>
        <p:nvSpPr>
          <p:cNvPr id="2165" name="" descr="{&quot;isTemplate&quot;:true,&quot;type&quot;:&quot;text&quot;}"/>
          <p:cNvSpPr txBox="1"/>
          <p:nvPr/>
        </p:nvSpPr>
        <p:spPr>
          <a:xfrm rot="0" flipH="0" flipV="0">
            <a:off x="7791450" y="3314700"/>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即使使用统计调整，也不能把观察到的进步全部归因为某名教师。</a:t>
            </a:r>
            <a:endParaRPr/>
          </a:p>
        </p:txBody>
      </p:sp>
      <p:sp>
        <p:nvSpPr>
          <p:cNvPr id="2166" name=""/>
          <p:cNvSpPr/>
          <p:nvPr/>
        </p:nvSpPr>
        <p:spPr>
          <a:xfrm rot="0" flipH="0" flipV="0">
            <a:off x="7600950" y="4124325"/>
            <a:ext cx="76200" cy="76200"/>
          </a:xfrm>
          <a:prstGeom prst="roundRect">
            <a:avLst>
              <a:gd name="adj" fmla="val 50000"/>
            </a:avLst>
          </a:prstGeom>
          <a:solidFill>
            <a:srgbClr val="1E7BE0"/>
          </a:solidFill>
          <a:ln/>
        </p:spPr>
        <p:txBody>
          <a:bodyPr/>
          <a:p/>
        </p:txBody>
      </p:sp>
      <p:sp>
        <p:nvSpPr>
          <p:cNvPr id="2167" name="" descr="{&quot;isTemplate&quot;:true,&quot;type&quot;:&quot;text&quot;}"/>
          <p:cNvSpPr txBox="1"/>
          <p:nvPr/>
        </p:nvSpPr>
        <p:spPr>
          <a:xfrm rot="0" flipH="0" flipV="0">
            <a:off x="7791450" y="4038600"/>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流程保障：展示分项依据、比较范围和不确定性；允许教师补充背景、核对数据并申请复核。</a:t>
            </a:r>
            <a:endParaRPr/>
          </a:p>
        </p:txBody>
      </p:sp>
      <p:sp>
        <p:nvSpPr>
          <p:cNvPr id="2168" name=""/>
          <p:cNvSpPr/>
          <p:nvPr/>
        </p:nvSpPr>
        <p:spPr>
          <a:xfrm rot="0" flipH="0" flipV="0">
            <a:off x="7600950" y="4848225"/>
            <a:ext cx="76200" cy="76200"/>
          </a:xfrm>
          <a:prstGeom prst="roundRect">
            <a:avLst>
              <a:gd name="adj" fmla="val 50000"/>
            </a:avLst>
          </a:prstGeom>
          <a:solidFill>
            <a:srgbClr val="1E7BE0"/>
          </a:solidFill>
          <a:ln/>
        </p:spPr>
        <p:txBody>
          <a:bodyPr/>
          <a:p/>
        </p:txBody>
      </p:sp>
      <p:sp>
        <p:nvSpPr>
          <p:cNvPr id="2169" name="" descr="{&quot;isTemplate&quot;:true,&quot;type&quot;:&quot;text&quot;}"/>
          <p:cNvSpPr txBox="1"/>
          <p:nvPr/>
        </p:nvSpPr>
        <p:spPr>
          <a:xfrm rot="0" flipH="0" flipV="0">
            <a:off x="7791450" y="4762500"/>
            <a:ext cx="3733800" cy="9334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权责边界：正式绩效决定由学校按明确规则和多来源证据作出；</a:t>
            </a:r>
            <a:r>
              <a:rPr lang="en-US" sz="1275">
                <a:solidFill>
                  <a:srgbClr val="333A45"/>
                </a:solidFill>
                <a:latin typeface="Microsoft YaHei"/>
                <a:ea typeface="Microsoft YaHei"/>
              </a:rPr>
              <a:t xml:space="preserve">AI </a:t>
            </a:r>
            <a:r>
              <a:rPr lang="zh-CN" sz="1275">
                <a:solidFill>
                  <a:srgbClr val="333A45"/>
                </a:solidFill>
                <a:latin typeface="Microsoft YaHei"/>
                <a:ea typeface="Microsoft YaHei"/>
              </a:rPr>
              <a:t>提供分析依据，不自动作出奖惩或单一排名。</a:t>
            </a:r>
            <a:endParaRPr/>
          </a:p>
        </p:txBody>
      </p:sp>
      <p:sp>
        <p:nvSpPr>
          <p:cNvPr id="2170"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171" name="" descr="{&quot;isTemplate&quot;:true,&quot;type&quot;:&quot;text&quot;}"/>
          <p:cNvSpPr txBox="1"/>
          <p:nvPr/>
        </p:nvSpPr>
        <p:spPr>
          <a:xfrm rot="0" flipH="0" flipV="0">
            <a:off x="666750" y="6381750"/>
            <a:ext cx="1619250" cy="209550"/>
          </a:xfrm>
          <a:prstGeom prst="rect"/>
        </p:spPr>
        <p:txBody>
          <a:bodyPr wrap="none" lIns="0" tIns="0" rIns="0" bIns="0"/>
          <a:p>
            <a:pPr>
              <a:lnSpc>
                <a:spcPct val="140000"/>
              </a:lnSpc>
            </a:pPr>
            <a:r>
              <a:rPr lang="zh-CN" sz="975">
                <a:solidFill>
                  <a:srgbClr val="7A8699"/>
                </a:solidFill>
                <a:latin typeface="Microsoft YaHei"/>
                <a:ea typeface="Microsoft YaHei"/>
              </a:rPr>
              <a:t>依据：学校端设计思路</a:t>
            </a:r>
            <a:r>
              <a:rPr lang="en-US" sz="975">
                <a:solidFill>
                  <a:srgbClr val="7A8699"/>
                </a:solidFill>
                <a:latin typeface="Microsoft YaHei"/>
                <a:ea typeface="Microsoft YaHei"/>
              </a:rPr>
              <a:t>.md §3</a:t>
            </a:r>
            <a:endParaRPr/>
          </a:p>
        </p:txBody>
      </p:sp>
      <p:sp>
        <p:nvSpPr>
          <p:cNvPr id="2172"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61 / 124 </a:t>
            </a:r>
            <a:endParaRPr/>
          </a:p>
        </p:txBody>
      </p:sp>
    </p:spTree>
  </p:cSld>
</p:sld>
</file>

<file path=ppt/slides/slide62.xml><?xml version="1.0" encoding="utf-8"?>
<p:sld xmlns:p="http://schemas.openxmlformats.org/presentationml/2006/main" xmlns:a="http://schemas.openxmlformats.org/drawingml/2006/main">
  <p:cSld>
    <p:spTree>
      <p:nvGrpSpPr>
        <p:cNvPr id="2173"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6 / 学校端&lt;/Text&gt;&lt;Text style={{ fontSize: 32, color: '#0E2340', fontWeight: 700, lineHeight: 1.3 }}&gt;防扭曲教学：五条不能越过的高压线&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space-between', gap: 14 }}&gt;&lt;Box style={{ flexDirection: 'row', alignItems: 'center', background: '#F5F7FA', borderLeft: '4px solid #E8A33D', borderRadius: 6, padding: '14px 20px' }}&gt;&lt;Text style={{ fontSize: 19, color: '#0E2340', fontWeight: 600, lineHeight: 1.5 }}&gt;以下行为即使让某个指标变高，也不能被认定为优秀教学&lt;/Text&gt;&lt;/Box&gt;&lt;Box style={{ flexDirection: 'row', gap: 16 }}&gt;&lt;Box style={{ width: 216, background: '#FFFFFF', border: '1px solid #E3E8EF', borderRadius: 8, overflow: 'hidden', flexDirection: 'column' }}&gt;&lt;Box style={{ flexDirection: 'column', gap: 10, padding: 20, flex: 1 }}&gt;&lt;Text style={{ fontSize: 18, color: '#0E2340', fontWeight: 700, lineHeight: 1.3 }}&gt;增加题量&lt;/Text&gt;&lt;Text style={{ fontSize: 15, color: '#333A45', fontWeight: 400, lineHeight: 1.4 }}&gt;靠堆量提升完成指标&lt;/Text&gt;&lt;/Box&gt;&lt;/Box&gt;&lt;Box style={{ width: 216, background: '#FFFFFF', border: '1px solid #E3E8EF', borderRadius: 8, overflow: 'hidden', flexDirection: 'column' }}&gt;&lt;Box style={{ flexDirection: 'column', gap: 10, padding: 20, flex: 1 }}&gt;&lt;Text style={{ fontSize: 18, color: '#0E2340', fontWeight: 700, lineHeight: 1.3 }}&gt;反复刷同题&lt;/Text&gt;&lt;Text style={{ fontSize: 15, color: '#333A45', fontWeight: 400, lineHeight: 1.4 }}&gt;重复已会内容制造通过率&lt;/Text&gt;&lt;/Box&gt;&lt;/Box&gt;&lt;Box style={{ width: 216, background: '#FFFFFF', border: '1px solid #E3E8EF', borderRadius: 8, overflow: 'hidden', flexDirection: 'column' }}&gt;&lt;Box style={{ flexDirection: 'column', gap: 10, padding: 20, flex: 1 }}&gt;&lt;Text style={{ fontSize: 18, color: '#0E2340', fontWeight: 700, lineHeight: 1.3 }}&gt;只练易得分内容&lt;/Text&gt;&lt;Text style={{ fontSize: 15, color: '#333A45', fontWeight: 400, lineHeight: 1.4 }}&gt;回避难点以美化数据&lt;/Text&gt;&lt;/Box&gt;&lt;/Box&gt;&lt;Box style={{ width: 216, background: '#FFFFFF', border: '1px solid #E3E8EF', borderRadius: 8, overflow: 'hidden', flexDirection: 'column' }}&gt;&lt;Box style={{ flexDirection: 'column', gap: 10, padding: 20, flex: 1 }}&gt;&lt;Text style={{ fontSize: 18, color: '#0E2340', fontWeight: 700, lineHeight: 1.3 }}&gt;回避薄弱学生&lt;/Text&gt;&lt;Text style={{ fontSize: 15, color: '#333A45', fontWeight: 400, lineHeight: 1.4 }}&gt;选择性统计抬高均值&lt;/Text&gt;&lt;/Box&gt;&lt;/Box&gt;&lt;Box style={{ width: 216, background: '#FFFFFF', border: '1px solid #E3E8EF', borderRadius: 8, overflow: 'hidden', flexDirection: 'column' }}&gt;&lt;Box style={{ flexDirection: 'column', gap: 10, padding: 20, flex: 1 }}&gt;&lt;Text style={{ fontSize: 18, color: '#0E2340', fontWeight: 700, lineHeight: 1.3 }}&gt;忽视实际负担&lt;/Text&gt;&lt;Text style={{ fontSize: 15, color: '#333A45', fontWeight: 400, lineHeight: 1.4 }}&gt;不控制学生任务时长&lt;/Text&gt;&lt;/Box&gt;&lt;/Box&gt;&lt;/Box&gt;&lt;Box style={{ flexDirection: 'row', alignItems: 'center', background: '#F5F7FA', borderLeft: '4px solid #1E7BE0', borderRadius: 6, padding: '14px 20px' }}&gt;&lt;Text style={{ fontSize: 16, color: '#0E2340', fontWeight: 600, lineHeight: 1.5 }}&gt;外部参考：MET 项目（CEPR Harvard）的多来源评价与复核方式可借鉴，但不能照搬指标&lt;/Text&gt;&lt;/Box&gt;&lt;/Box&gt;&lt;/Box&gt;&lt;Box style={{ height: 40, flexDirection: 'row', justifyContent: 'space-between', alignItems: 'center', borderTop: '1px solid #E3E8EF', marginTop: 8 }}&gt;&lt;Text style={{ fontSize: 13, color: '#7A8699', fontWeight: 400, lineHeight: 1.4 }}&gt;依据：学校端设计思路.md §3&lt;/Text&gt;&lt;Text style={{ fontSize: 14, color: '#7A8699', fontWeight: 400, lineHeight: 1.4 }}&gt; 62 / 124 &lt;/Text&gt;&lt;/Box&gt;&lt;/Slide&gt;"/>
        <p:cNvGrpSpPr/>
        <p:nvPr/>
      </p:nvGrpSpPr>
      <p:grpSpPr>
        <a:xfrm>
          <a:off x="0" y="0"/>
          <a:ext cx="0" cy="0"/>
          <a:chOff x="0" y="0"/>
          <a:chExt cx="0" cy="0"/>
        </a:xfrm>
      </p:grpSpPr>
      <p:sp>
        <p:nvSpPr>
          <p:cNvPr id="2174" name=""/>
          <p:cNvSpPr/>
          <p:nvPr/>
        </p:nvSpPr>
        <p:spPr>
          <a:xfrm rot="0" flipH="0" flipV="0">
            <a:off x="0" y="0"/>
            <a:ext cx="12192000" cy="6858000"/>
          </a:xfrm>
          <a:prstGeom prst="rect">
            <a:avLst/>
          </a:prstGeom>
          <a:solidFill>
            <a:srgbClr val="FFFFFF"/>
          </a:solidFill>
          <a:ln/>
        </p:spPr>
        <p:txBody>
          <a:bodyPr/>
          <a:p/>
        </p:txBody>
      </p:sp>
      <p:sp>
        <p:nvSpPr>
          <p:cNvPr id="2175" name="" descr="{&quot;isTemplate&quot;:true,&quot;type&quot;:&quot;text&quot;}"/>
          <p:cNvSpPr txBox="1"/>
          <p:nvPr/>
        </p:nvSpPr>
        <p:spPr>
          <a:xfrm rot="0" flipH="0" flipV="0">
            <a:off x="666750" y="381000"/>
            <a:ext cx="4876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06 / </a:t>
            </a:r>
            <a:r>
              <a:rPr lang="zh-CN" sz="1050" spc="75">
                <a:solidFill>
                  <a:srgbClr val="7A8699"/>
                </a:solidFill>
                <a:latin typeface="Microsoft YaHei"/>
                <a:ea typeface="Microsoft YaHei"/>
              </a:rPr>
              <a:t>学校端</a:t>
            </a:r>
            <a:endParaRPr/>
          </a:p>
        </p:txBody>
      </p:sp>
      <p:sp>
        <p:nvSpPr>
          <p:cNvPr id="2176" name="" descr="{&quot;isTemplate&quot;:true,&quot;type&quot;:&quot;text&quot;}"/>
          <p:cNvSpPr txBox="1"/>
          <p:nvPr/>
        </p:nvSpPr>
        <p:spPr>
          <a:xfrm rot="0" flipH="0" flipV="0">
            <a:off x="666750" y="666750"/>
            <a:ext cx="4876800" cy="476250"/>
          </a:xfrm>
          <a:prstGeom prst="rect"/>
        </p:spPr>
        <p:txBody>
          <a:bodyPr wrap="none" lIns="0" tIns="0" rIns="0" bIns="0"/>
          <a:p>
            <a:pPr>
              <a:lnSpc>
                <a:spcPct val="130000"/>
              </a:lnSpc>
            </a:pPr>
            <a:r>
              <a:rPr lang="zh-CN" sz="2400" b="1">
                <a:solidFill>
                  <a:srgbClr val="0E2340"/>
                </a:solidFill>
                <a:latin typeface="Microsoft YaHei"/>
                <a:ea typeface="Microsoft YaHei"/>
              </a:rPr>
              <a:t>防扭曲教学：五条不能越过的高压线</a:t>
            </a:r>
            <a:endParaRPr/>
          </a:p>
        </p:txBody>
      </p:sp>
      <p:sp>
        <p:nvSpPr>
          <p:cNvPr id="2177"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178"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2179" name=""/>
          <p:cNvSpPr/>
          <p:nvPr/>
        </p:nvSpPr>
        <p:spPr>
          <a:xfrm rot="0" flipH="0" flipV="0">
            <a:off x="704850" y="1219200"/>
            <a:ext cx="10858500" cy="600075"/>
          </a:xfrm>
          <a:prstGeom prst="roundRect">
            <a:avLst>
              <a:gd name="adj" fmla="val 9524"/>
            </a:avLst>
          </a:prstGeom>
          <a:solidFill>
            <a:srgbClr val="F5F7FA"/>
          </a:solidFill>
          <a:ln/>
        </p:spPr>
        <p:txBody>
          <a:bodyPr/>
          <a:p/>
        </p:txBody>
      </p:sp>
      <p:sp>
        <p:nvSpPr>
          <p:cNvPr id="2180" name=""/>
          <p:cNvSpPr/>
          <p:nvPr/>
        </p:nvSpPr>
        <p:spPr>
          <a:xfrm rot="0" flipH="0" flipV="0">
            <a:off x="704850" y="1219200"/>
            <a:ext cx="10858500" cy="600075"/>
          </a:xfrm>
          <a:custGeom>
            <a:pathLst>
              <a:path w="114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E8A33D"/>
          </a:solidFill>
          <a:ln/>
        </p:spPr>
        <p:txBody>
          <a:bodyPr/>
          <a:p/>
        </p:txBody>
      </p:sp>
      <p:sp>
        <p:nvSpPr>
          <p:cNvPr id="2181" name="" descr="{&quot;isTemplate&quot;:true,&quot;type&quot;:&quot;text&quot;}"/>
          <p:cNvSpPr txBox="1"/>
          <p:nvPr/>
        </p:nvSpPr>
        <p:spPr>
          <a:xfrm rot="0" flipH="0" flipV="0">
            <a:off x="895350" y="1352550"/>
            <a:ext cx="4524375" cy="333375"/>
          </a:xfrm>
          <a:prstGeom prst="rect"/>
        </p:spPr>
        <p:txBody>
          <a:bodyPr wrap="none" lIns="0" tIns="0" rIns="0" bIns="0"/>
          <a:p>
            <a:pPr>
              <a:lnSpc>
                <a:spcPct val="150000"/>
              </a:lnSpc>
            </a:pPr>
            <a:r>
              <a:rPr lang="zh-CN" sz="1425" b="1">
                <a:solidFill>
                  <a:srgbClr val="0E2340"/>
                </a:solidFill>
                <a:latin typeface="Microsoft YaHei"/>
                <a:ea typeface="Microsoft YaHei"/>
              </a:rPr>
              <a:t>以下行为即使让某个指标变高，也不能被认定为优秀教学</a:t>
            </a:r>
            <a:endParaRPr/>
          </a:p>
        </p:txBody>
      </p:sp>
      <p:sp>
        <p:nvSpPr>
          <p:cNvPr id="2182" name=""/>
          <p:cNvSpPr/>
          <p:nvPr/>
        </p:nvSpPr>
        <p:spPr>
          <a:xfrm rot="0" flipH="0" flipV="0">
            <a:off x="666750" y="3248025"/>
            <a:ext cx="2057400" cy="1000125"/>
          </a:xfrm>
          <a:prstGeom prst="roundRect">
            <a:avLst>
              <a:gd name="adj" fmla="val 7619"/>
            </a:avLst>
          </a:prstGeom>
          <a:solidFill>
            <a:srgbClr val="FFFFFF"/>
          </a:solidFill>
          <a:ln w="12700">
            <a:solidFill>
              <a:srgbClr val="E3E8EF"/>
            </a:solidFill>
            <a:prstDash val="solid"/>
          </a:ln>
        </p:spPr>
        <p:txBody>
          <a:bodyPr/>
          <a:p/>
        </p:txBody>
      </p:sp>
      <p:sp>
        <p:nvSpPr>
          <p:cNvPr id="2183" name="" descr="{&quot;isTemplate&quot;:true,&quot;type&quot;:&quot;text&quot;}"/>
          <p:cNvSpPr txBox="1"/>
          <p:nvPr/>
        </p:nvSpPr>
        <p:spPr>
          <a:xfrm rot="0" flipH="0" flipV="0">
            <a:off x="857250" y="3438525"/>
            <a:ext cx="1676400" cy="276225"/>
          </a:xfrm>
          <a:prstGeom prst="rect"/>
        </p:spPr>
        <p:txBody>
          <a:bodyPr wrap="none" lIns="0" tIns="0" rIns="0" bIns="0"/>
          <a:p>
            <a:pPr>
              <a:lnSpc>
                <a:spcPct val="130000"/>
              </a:lnSpc>
            </a:pPr>
            <a:r>
              <a:rPr lang="zh-CN" sz="1350" b="1">
                <a:solidFill>
                  <a:srgbClr val="0E2340"/>
                </a:solidFill>
                <a:latin typeface="Microsoft YaHei"/>
                <a:ea typeface="Microsoft YaHei"/>
              </a:rPr>
              <a:t>增加题量</a:t>
            </a:r>
            <a:endParaRPr/>
          </a:p>
        </p:txBody>
      </p:sp>
      <p:sp>
        <p:nvSpPr>
          <p:cNvPr id="2184" name="" descr="{&quot;isTemplate&quot;:true,&quot;type&quot;:&quot;text&quot;}"/>
          <p:cNvSpPr txBox="1"/>
          <p:nvPr/>
        </p:nvSpPr>
        <p:spPr>
          <a:xfrm rot="0" flipH="0" flipV="0">
            <a:off x="857250" y="3810000"/>
            <a:ext cx="1676400" cy="247650"/>
          </a:xfrm>
          <a:prstGeom prst="rect"/>
        </p:spPr>
        <p:txBody>
          <a:bodyPr wrap="none" lIns="0" tIns="0" rIns="0" bIns="0"/>
          <a:p>
            <a:pPr>
              <a:lnSpc>
                <a:spcPct val="140000"/>
              </a:lnSpc>
            </a:pPr>
            <a:r>
              <a:rPr lang="zh-CN" sz="1125">
                <a:solidFill>
                  <a:srgbClr val="333A45"/>
                </a:solidFill>
                <a:latin typeface="Microsoft YaHei"/>
                <a:ea typeface="Microsoft YaHei"/>
              </a:rPr>
              <a:t>靠堆量提升完成指标</a:t>
            </a:r>
            <a:endParaRPr/>
          </a:p>
        </p:txBody>
      </p:sp>
      <p:sp>
        <p:nvSpPr>
          <p:cNvPr id="2185" name=""/>
          <p:cNvSpPr/>
          <p:nvPr/>
        </p:nvSpPr>
        <p:spPr>
          <a:xfrm rot="0" flipH="0" flipV="0">
            <a:off x="2867025" y="3248025"/>
            <a:ext cx="2057400" cy="1000125"/>
          </a:xfrm>
          <a:prstGeom prst="roundRect">
            <a:avLst>
              <a:gd name="adj" fmla="val 7619"/>
            </a:avLst>
          </a:prstGeom>
          <a:solidFill>
            <a:srgbClr val="FFFFFF"/>
          </a:solidFill>
          <a:ln w="12700">
            <a:solidFill>
              <a:srgbClr val="E3E8EF"/>
            </a:solidFill>
            <a:prstDash val="solid"/>
          </a:ln>
        </p:spPr>
        <p:txBody>
          <a:bodyPr/>
          <a:p/>
        </p:txBody>
      </p:sp>
      <p:sp>
        <p:nvSpPr>
          <p:cNvPr id="2186" name="" descr="{&quot;isTemplate&quot;:true,&quot;type&quot;:&quot;text&quot;}"/>
          <p:cNvSpPr txBox="1"/>
          <p:nvPr/>
        </p:nvSpPr>
        <p:spPr>
          <a:xfrm rot="0" flipH="0" flipV="0">
            <a:off x="3057525" y="3438525"/>
            <a:ext cx="1676400" cy="276225"/>
          </a:xfrm>
          <a:prstGeom prst="rect"/>
        </p:spPr>
        <p:txBody>
          <a:bodyPr wrap="none" lIns="0" tIns="0" rIns="0" bIns="0"/>
          <a:p>
            <a:pPr>
              <a:lnSpc>
                <a:spcPct val="130000"/>
              </a:lnSpc>
            </a:pPr>
            <a:r>
              <a:rPr lang="zh-CN" sz="1350" b="1">
                <a:solidFill>
                  <a:srgbClr val="0E2340"/>
                </a:solidFill>
                <a:latin typeface="Microsoft YaHei"/>
                <a:ea typeface="Microsoft YaHei"/>
              </a:rPr>
              <a:t>反复刷同题</a:t>
            </a:r>
            <a:endParaRPr/>
          </a:p>
        </p:txBody>
      </p:sp>
      <p:sp>
        <p:nvSpPr>
          <p:cNvPr id="2187" name="" descr="{&quot;isTemplate&quot;:true,&quot;type&quot;:&quot;text&quot;}"/>
          <p:cNvSpPr txBox="1"/>
          <p:nvPr/>
        </p:nvSpPr>
        <p:spPr>
          <a:xfrm rot="0" flipH="0" flipV="0">
            <a:off x="3057525" y="3810000"/>
            <a:ext cx="1676400" cy="247650"/>
          </a:xfrm>
          <a:prstGeom prst="rect"/>
        </p:spPr>
        <p:txBody>
          <a:bodyPr wrap="none" lIns="0" tIns="0" rIns="0" bIns="0"/>
          <a:p>
            <a:pPr>
              <a:lnSpc>
                <a:spcPct val="140000"/>
              </a:lnSpc>
            </a:pPr>
            <a:r>
              <a:rPr lang="zh-CN" sz="1125">
                <a:solidFill>
                  <a:srgbClr val="333A45"/>
                </a:solidFill>
                <a:latin typeface="Microsoft YaHei"/>
                <a:ea typeface="Microsoft YaHei"/>
              </a:rPr>
              <a:t>重复已会内容制造通过率</a:t>
            </a:r>
            <a:endParaRPr/>
          </a:p>
        </p:txBody>
      </p:sp>
      <p:sp>
        <p:nvSpPr>
          <p:cNvPr id="2188" name=""/>
          <p:cNvSpPr/>
          <p:nvPr/>
        </p:nvSpPr>
        <p:spPr>
          <a:xfrm rot="0" flipH="0" flipV="0">
            <a:off x="5067300" y="3248025"/>
            <a:ext cx="2057400" cy="1000125"/>
          </a:xfrm>
          <a:prstGeom prst="roundRect">
            <a:avLst>
              <a:gd name="adj" fmla="val 7619"/>
            </a:avLst>
          </a:prstGeom>
          <a:solidFill>
            <a:srgbClr val="FFFFFF"/>
          </a:solidFill>
          <a:ln w="12700">
            <a:solidFill>
              <a:srgbClr val="E3E8EF"/>
            </a:solidFill>
            <a:prstDash val="solid"/>
          </a:ln>
        </p:spPr>
        <p:txBody>
          <a:bodyPr/>
          <a:p/>
        </p:txBody>
      </p:sp>
      <p:sp>
        <p:nvSpPr>
          <p:cNvPr id="2189" name="" descr="{&quot;isTemplate&quot;:true,&quot;type&quot;:&quot;text&quot;}"/>
          <p:cNvSpPr txBox="1"/>
          <p:nvPr/>
        </p:nvSpPr>
        <p:spPr>
          <a:xfrm rot="0" flipH="0" flipV="0">
            <a:off x="5257800" y="3438525"/>
            <a:ext cx="1676400" cy="276225"/>
          </a:xfrm>
          <a:prstGeom prst="rect"/>
        </p:spPr>
        <p:txBody>
          <a:bodyPr wrap="none" lIns="0" tIns="0" rIns="0" bIns="0"/>
          <a:p>
            <a:pPr>
              <a:lnSpc>
                <a:spcPct val="130000"/>
              </a:lnSpc>
            </a:pPr>
            <a:r>
              <a:rPr lang="zh-CN" sz="1350" b="1">
                <a:solidFill>
                  <a:srgbClr val="0E2340"/>
                </a:solidFill>
                <a:latin typeface="Microsoft YaHei"/>
                <a:ea typeface="Microsoft YaHei"/>
              </a:rPr>
              <a:t>只练易得分内容</a:t>
            </a:r>
            <a:endParaRPr/>
          </a:p>
        </p:txBody>
      </p:sp>
      <p:sp>
        <p:nvSpPr>
          <p:cNvPr id="2190" name="" descr="{&quot;isTemplate&quot;:true,&quot;type&quot;:&quot;text&quot;}"/>
          <p:cNvSpPr txBox="1"/>
          <p:nvPr/>
        </p:nvSpPr>
        <p:spPr>
          <a:xfrm rot="0" flipH="0" flipV="0">
            <a:off x="5257800" y="3810000"/>
            <a:ext cx="1676400" cy="247650"/>
          </a:xfrm>
          <a:prstGeom prst="rect"/>
        </p:spPr>
        <p:txBody>
          <a:bodyPr wrap="none" lIns="0" tIns="0" rIns="0" bIns="0"/>
          <a:p>
            <a:pPr>
              <a:lnSpc>
                <a:spcPct val="140000"/>
              </a:lnSpc>
            </a:pPr>
            <a:r>
              <a:rPr lang="zh-CN" sz="1125">
                <a:solidFill>
                  <a:srgbClr val="333A45"/>
                </a:solidFill>
                <a:latin typeface="Microsoft YaHei"/>
                <a:ea typeface="Microsoft YaHei"/>
              </a:rPr>
              <a:t>回避难点以美化数据</a:t>
            </a:r>
            <a:endParaRPr/>
          </a:p>
        </p:txBody>
      </p:sp>
      <p:sp>
        <p:nvSpPr>
          <p:cNvPr id="2191" name=""/>
          <p:cNvSpPr/>
          <p:nvPr/>
        </p:nvSpPr>
        <p:spPr>
          <a:xfrm rot="0" flipH="0" flipV="0">
            <a:off x="7277100" y="3248025"/>
            <a:ext cx="2057400" cy="1000125"/>
          </a:xfrm>
          <a:prstGeom prst="roundRect">
            <a:avLst>
              <a:gd name="adj" fmla="val 7619"/>
            </a:avLst>
          </a:prstGeom>
          <a:solidFill>
            <a:srgbClr val="FFFFFF"/>
          </a:solidFill>
          <a:ln w="12700">
            <a:solidFill>
              <a:srgbClr val="E3E8EF"/>
            </a:solidFill>
            <a:prstDash val="solid"/>
          </a:ln>
        </p:spPr>
        <p:txBody>
          <a:bodyPr/>
          <a:p/>
        </p:txBody>
      </p:sp>
      <p:sp>
        <p:nvSpPr>
          <p:cNvPr id="2192" name="" descr="{&quot;isTemplate&quot;:true,&quot;type&quot;:&quot;text&quot;}"/>
          <p:cNvSpPr txBox="1"/>
          <p:nvPr/>
        </p:nvSpPr>
        <p:spPr>
          <a:xfrm rot="0" flipH="0" flipV="0">
            <a:off x="7467600" y="3438525"/>
            <a:ext cx="1676400" cy="276225"/>
          </a:xfrm>
          <a:prstGeom prst="rect"/>
        </p:spPr>
        <p:txBody>
          <a:bodyPr wrap="none" lIns="0" tIns="0" rIns="0" bIns="0"/>
          <a:p>
            <a:pPr>
              <a:lnSpc>
                <a:spcPct val="130000"/>
              </a:lnSpc>
            </a:pPr>
            <a:r>
              <a:rPr lang="zh-CN" sz="1350" b="1">
                <a:solidFill>
                  <a:srgbClr val="0E2340"/>
                </a:solidFill>
                <a:latin typeface="Microsoft YaHei"/>
                <a:ea typeface="Microsoft YaHei"/>
              </a:rPr>
              <a:t>回避薄弱学生</a:t>
            </a:r>
            <a:endParaRPr/>
          </a:p>
        </p:txBody>
      </p:sp>
      <p:sp>
        <p:nvSpPr>
          <p:cNvPr id="2193" name="" descr="{&quot;isTemplate&quot;:true,&quot;type&quot;:&quot;text&quot;}"/>
          <p:cNvSpPr txBox="1"/>
          <p:nvPr/>
        </p:nvSpPr>
        <p:spPr>
          <a:xfrm rot="0" flipH="0" flipV="0">
            <a:off x="7467600" y="3810000"/>
            <a:ext cx="1676400" cy="247650"/>
          </a:xfrm>
          <a:prstGeom prst="rect"/>
        </p:spPr>
        <p:txBody>
          <a:bodyPr wrap="none" lIns="0" tIns="0" rIns="0" bIns="0"/>
          <a:p>
            <a:pPr>
              <a:lnSpc>
                <a:spcPct val="140000"/>
              </a:lnSpc>
            </a:pPr>
            <a:r>
              <a:rPr lang="zh-CN" sz="1125">
                <a:solidFill>
                  <a:srgbClr val="333A45"/>
                </a:solidFill>
                <a:latin typeface="Microsoft YaHei"/>
                <a:ea typeface="Microsoft YaHei"/>
              </a:rPr>
              <a:t>选择性统计抬高均值</a:t>
            </a:r>
            <a:endParaRPr/>
          </a:p>
        </p:txBody>
      </p:sp>
      <p:sp>
        <p:nvSpPr>
          <p:cNvPr id="2194" name=""/>
          <p:cNvSpPr/>
          <p:nvPr/>
        </p:nvSpPr>
        <p:spPr>
          <a:xfrm rot="0" flipH="0" flipV="0">
            <a:off x="9477375" y="3248025"/>
            <a:ext cx="2057400" cy="1000125"/>
          </a:xfrm>
          <a:prstGeom prst="roundRect">
            <a:avLst>
              <a:gd name="adj" fmla="val 7619"/>
            </a:avLst>
          </a:prstGeom>
          <a:solidFill>
            <a:srgbClr val="FFFFFF"/>
          </a:solidFill>
          <a:ln w="12700">
            <a:solidFill>
              <a:srgbClr val="E3E8EF"/>
            </a:solidFill>
            <a:prstDash val="solid"/>
          </a:ln>
        </p:spPr>
        <p:txBody>
          <a:bodyPr/>
          <a:p/>
        </p:txBody>
      </p:sp>
      <p:sp>
        <p:nvSpPr>
          <p:cNvPr id="2195" name="" descr="{&quot;isTemplate&quot;:true,&quot;type&quot;:&quot;text&quot;}"/>
          <p:cNvSpPr txBox="1"/>
          <p:nvPr/>
        </p:nvSpPr>
        <p:spPr>
          <a:xfrm rot="0" flipH="0" flipV="0">
            <a:off x="9667875" y="3438525"/>
            <a:ext cx="1676400" cy="276225"/>
          </a:xfrm>
          <a:prstGeom prst="rect"/>
        </p:spPr>
        <p:txBody>
          <a:bodyPr wrap="none" lIns="0" tIns="0" rIns="0" bIns="0"/>
          <a:p>
            <a:pPr>
              <a:lnSpc>
                <a:spcPct val="130000"/>
              </a:lnSpc>
            </a:pPr>
            <a:r>
              <a:rPr lang="zh-CN" sz="1350" b="1">
                <a:solidFill>
                  <a:srgbClr val="0E2340"/>
                </a:solidFill>
                <a:latin typeface="Microsoft YaHei"/>
                <a:ea typeface="Microsoft YaHei"/>
              </a:rPr>
              <a:t>忽视实际负担</a:t>
            </a:r>
            <a:endParaRPr/>
          </a:p>
        </p:txBody>
      </p:sp>
      <p:sp>
        <p:nvSpPr>
          <p:cNvPr id="2196" name="" descr="{&quot;isTemplate&quot;:true,&quot;type&quot;:&quot;text&quot;}"/>
          <p:cNvSpPr txBox="1"/>
          <p:nvPr/>
        </p:nvSpPr>
        <p:spPr>
          <a:xfrm rot="0" flipH="0" flipV="0">
            <a:off x="9667875" y="3810000"/>
            <a:ext cx="1676400" cy="247650"/>
          </a:xfrm>
          <a:prstGeom prst="rect"/>
        </p:spPr>
        <p:txBody>
          <a:bodyPr wrap="none" lIns="0" tIns="0" rIns="0" bIns="0"/>
          <a:p>
            <a:pPr>
              <a:lnSpc>
                <a:spcPct val="140000"/>
              </a:lnSpc>
            </a:pPr>
            <a:r>
              <a:rPr lang="zh-CN" sz="1125">
                <a:solidFill>
                  <a:srgbClr val="333A45"/>
                </a:solidFill>
                <a:latin typeface="Microsoft YaHei"/>
                <a:ea typeface="Microsoft YaHei"/>
              </a:rPr>
              <a:t>不控制学生任务时长</a:t>
            </a:r>
            <a:endParaRPr/>
          </a:p>
        </p:txBody>
      </p:sp>
      <p:sp>
        <p:nvSpPr>
          <p:cNvPr id="2197" name=""/>
          <p:cNvSpPr/>
          <p:nvPr/>
        </p:nvSpPr>
        <p:spPr>
          <a:xfrm rot="0" flipH="0" flipV="0">
            <a:off x="704850" y="5667375"/>
            <a:ext cx="10858500" cy="542925"/>
          </a:xfrm>
          <a:prstGeom prst="roundRect">
            <a:avLst>
              <a:gd name="adj" fmla="val 10526"/>
            </a:avLst>
          </a:prstGeom>
          <a:solidFill>
            <a:srgbClr val="F5F7FA"/>
          </a:solidFill>
          <a:ln/>
        </p:spPr>
        <p:txBody>
          <a:bodyPr/>
          <a:p/>
        </p:txBody>
      </p:sp>
      <p:sp>
        <p:nvSpPr>
          <p:cNvPr id="2198" name=""/>
          <p:cNvSpPr/>
          <p:nvPr/>
        </p:nvSpPr>
        <p:spPr>
          <a:xfrm rot="0" flipH="0" flipV="0">
            <a:off x="704850" y="5667375"/>
            <a:ext cx="10858500" cy="542925"/>
          </a:xfrm>
          <a:custGeom>
            <a:pathLst>
              <a:path w="1140" h="57">
                <a:moveTo>
                  <a:pt x="6" y="0"/>
                </a:moveTo>
                <a:cubicBezTo>
                  <a:pt x="5" y="0"/>
                  <a:pt x="4" y="1"/>
                  <a:pt x="4" y="2"/>
                </a:cubicBezTo>
                <a:lnTo>
                  <a:pt x="4" y="55"/>
                </a:lnTo>
                <a:cubicBezTo>
                  <a:pt x="4" y="56"/>
                  <a:pt x="5" y="57"/>
                  <a:pt x="6" y="57"/>
                </a:cubicBezTo>
                <a:cubicBezTo>
                  <a:pt x="3" y="57"/>
                  <a:pt x="0" y="54"/>
                  <a:pt x="0" y="51"/>
                </a:cubicBezTo>
                <a:lnTo>
                  <a:pt x="0" y="6"/>
                </a:lnTo>
                <a:cubicBezTo>
                  <a:pt x="0" y="3"/>
                  <a:pt x="3" y="0"/>
                  <a:pt x="6" y="0"/>
                </a:cubicBezTo>
                <a:close/>
              </a:path>
            </a:pathLst>
          </a:custGeom>
          <a:solidFill>
            <a:srgbClr val="1E7BE0"/>
          </a:solidFill>
          <a:ln/>
        </p:spPr>
        <p:txBody>
          <a:bodyPr/>
          <a:p/>
        </p:txBody>
      </p:sp>
      <p:sp>
        <p:nvSpPr>
          <p:cNvPr id="2199" name="" descr="{&quot;isTemplate&quot;:true,&quot;type&quot;:&quot;text&quot;}"/>
          <p:cNvSpPr txBox="1"/>
          <p:nvPr/>
        </p:nvSpPr>
        <p:spPr>
          <a:xfrm rot="0" flipH="0" flipV="0">
            <a:off x="895350" y="5800725"/>
            <a:ext cx="6134100" cy="276225"/>
          </a:xfrm>
          <a:prstGeom prst="rect"/>
        </p:spPr>
        <p:txBody>
          <a:bodyPr wrap="none" lIns="0" tIns="0" rIns="0" bIns="0"/>
          <a:p>
            <a:pPr>
              <a:lnSpc>
                <a:spcPct val="150000"/>
              </a:lnSpc>
            </a:pPr>
            <a:r>
              <a:rPr lang="zh-CN" sz="1200" b="1">
                <a:solidFill>
                  <a:srgbClr val="0E2340"/>
                </a:solidFill>
                <a:latin typeface="Microsoft YaHei"/>
                <a:ea typeface="Microsoft YaHei"/>
              </a:rPr>
              <a:t>外部参考：</a:t>
            </a:r>
            <a:r>
              <a:rPr lang="en-US" sz="1200" b="1">
                <a:solidFill>
                  <a:srgbClr val="0E2340"/>
                </a:solidFill>
                <a:latin typeface="Microsoft YaHei"/>
                <a:ea typeface="Microsoft YaHei"/>
              </a:rPr>
              <a:t xml:space="preserve">MET </a:t>
            </a:r>
            <a:r>
              <a:rPr lang="zh-CN" sz="1200" b="1">
                <a:solidFill>
                  <a:srgbClr val="0E2340"/>
                </a:solidFill>
                <a:latin typeface="Microsoft YaHei"/>
                <a:ea typeface="Microsoft YaHei"/>
              </a:rPr>
              <a:t>项目（</a:t>
            </a:r>
            <a:r>
              <a:rPr lang="en-US" sz="1200" b="1">
                <a:solidFill>
                  <a:srgbClr val="0E2340"/>
                </a:solidFill>
                <a:latin typeface="Microsoft YaHei"/>
                <a:ea typeface="Microsoft YaHei"/>
              </a:rPr>
              <a:t>CEPR Harvard</a:t>
            </a:r>
            <a:r>
              <a:rPr lang="zh-CN" sz="1200" b="1">
                <a:solidFill>
                  <a:srgbClr val="0E2340"/>
                </a:solidFill>
                <a:latin typeface="Microsoft YaHei"/>
                <a:ea typeface="Microsoft YaHei"/>
              </a:rPr>
              <a:t>）的多来源评价与复核方式可借鉴，但不能照搬指标</a:t>
            </a:r>
            <a:endParaRPr/>
          </a:p>
        </p:txBody>
      </p:sp>
      <p:sp>
        <p:nvSpPr>
          <p:cNvPr id="2200"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201" name="" descr="{&quot;isTemplate&quot;:true,&quot;type&quot;:&quot;text&quot;}"/>
          <p:cNvSpPr txBox="1"/>
          <p:nvPr/>
        </p:nvSpPr>
        <p:spPr>
          <a:xfrm rot="0" flipH="0" flipV="0">
            <a:off x="666750" y="6381750"/>
            <a:ext cx="1619250" cy="209550"/>
          </a:xfrm>
          <a:prstGeom prst="rect"/>
        </p:spPr>
        <p:txBody>
          <a:bodyPr wrap="none" lIns="0" tIns="0" rIns="0" bIns="0"/>
          <a:p>
            <a:pPr>
              <a:lnSpc>
                <a:spcPct val="140000"/>
              </a:lnSpc>
            </a:pPr>
            <a:r>
              <a:rPr lang="zh-CN" sz="975">
                <a:solidFill>
                  <a:srgbClr val="7A8699"/>
                </a:solidFill>
                <a:latin typeface="Microsoft YaHei"/>
                <a:ea typeface="Microsoft YaHei"/>
              </a:rPr>
              <a:t>依据：学校端设计思路</a:t>
            </a:r>
            <a:r>
              <a:rPr lang="en-US" sz="975">
                <a:solidFill>
                  <a:srgbClr val="7A8699"/>
                </a:solidFill>
                <a:latin typeface="Microsoft YaHei"/>
                <a:ea typeface="Microsoft YaHei"/>
              </a:rPr>
              <a:t>.md §3</a:t>
            </a:r>
            <a:endParaRPr/>
          </a:p>
        </p:txBody>
      </p:sp>
      <p:sp>
        <p:nvSpPr>
          <p:cNvPr id="2202"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62 / 124 </a:t>
            </a:r>
            <a:endParaRPr/>
          </a:p>
        </p:txBody>
      </p:sp>
    </p:spTree>
  </p:cSld>
</p:sld>
</file>

<file path=ppt/slides/slide63.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2203"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6 / 学校端&lt;/Text&gt;&lt;Text style={{ fontSize: 32, color: '#0E2340', fontWeight: 700, lineHeight: 1.3 }}&gt;底层教学体系的六类定制对象&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paddingTop: 4 }}&gt;&lt;Box style={{ marginBottom: 14 }}&gt;&lt;Box style={{ flexDirection: 'row', alignItems: 'center', background: '#F5F7FA', borderLeft: '4px solid #0E2340', borderRadius: 6, padding: '14px 20px' }}&gt;&lt;Text style={{ fontSize: 20, color: '#0E2340', fontWeight: 600, lineHeight: 1.5 }}&gt;定制范围不只是显示名称，还包括教学实体、关系和规则；一所学校的修改不应无条件改变其他学校&lt;/Text&gt;&lt;/Box&gt;&lt;/Box&gt;&lt;Box style={{ flex: 1 }}&gt;&lt;Table style={{ width: '100%', height: '100%' }} defaultTextStyle={{ fontSize: 16, textAlign: 'left', color: '#333A45' }} defaultCellStyle={{ padding: 10, border: { left: { width: 1, color: '#E3E8EF' }, right: { width: 1, color: '#E3E8EF' }, top: { width: 1, color: '#E3E8EF' }, bottom: { width: 1, color: '#E3E8EF' } } }} cells={[[{ text: '定制对象', textStyle: { color: '#FFFFFF', fontWeight: 600, fontSize: 16 }, cellStyle: { background: { color: '#0E2340' } } }, { text: '支持方向', textStyle: { color: '#FFFFFF', fontWeight: 600, fontSize: 16 }, cellStyle: { background: { color: '#0E2340' } } }, { text: '需要维护的关联', textStyle: { color: '#FFFFFF', fontWeight: 600, fontSize: 16 }, cellStyle: { background: { color: '#0E2340' } } }],&#10;        [{ text: '课时', textStyle: { fontWeight: 600, fontSize: 16 } }, { text: '增删、拆分、合并、重排，形成校本课程安排', textStyle: { fontSize: 16 } }, { text: '教材目录、教学知识点、前置和作业', textStyle: { fontSize: 16 } }],&#10;        [{ text: '知识点', textStyle: { fontWeight: 600, fontSize: 16 }, cellStyle: { background: { color: '#F5F7FA' } } }, { text: '修订定义与层级，处理同义名和教材版本差异', textStyle: { fontSize: 16 }, cellStyle: { background: { color: '#F5F7FA' } } }, { text: '题目、步骤、课时及历史评价', textStyle: { fontSize: 16 }, cellStyle: { background: { color: '#F5F7FA' } } }],&#10;        [{ text: '步骤', textStyle: { fontWeight: 600, fontSize: 16 } }, { text: '调整操作定义、粒度、前置和难度基准', textStyle: { fontSize: 16 } }, { text: '套路组合、参考解析、批改与训练目标', textStyle: { fontSize: 16 } }],&#10;        [{ text: '套路', textStyle: { fontWeight: 600, fontSize: 16 }, cellStyle: { background: { color: '#F5F7FA' } } }, { text: '增删合并题类、调整适用条件和学习顺序', textStyle: { fontSize: 16 }, cellStyle: { background: { color: '#F5F7FA' } } }, { text: '步骤路径、母题、变式及掌握记录', textStyle: { fontSize: 16 }, cellStyle: { background: { color: '#F5F7FA' } } }],&#10;        [{ text: '模板与规则', textStyle: { fontWeight: 600, fontSize: 16 } }, { text: '定制试卷模板、作业结构、复查间隔和评价权重', textStyle: { fontSize: 16 } }, { text: '评分依据、推荐行为及报告口径', textStyle: { fontSize: 16 } }],&#10;        [{ text: '教学素材与工具', textStyle: { fontWeight: 600, fontSize: 16 }, cellStyle: { background: { color: '#F5F7FA' } } }, { text: '添加本校教案、演示和经授权的工具', textStyle: { fontSize: 16 }, cellStyle: { background: { color: '#F5F7FA' } } }, { text: '来源、适用课程、访问权限与工具说明', textStyle: { fontSize: 16 }, cellStyle: { background: { color: '#F5F7FA' } } }]]} /&gt;&lt;/Box&gt;&lt;/Box&gt;&lt;/Box&gt;&lt;Box style={{ height: 40, flexDirection: 'row', justifyContent: 'space-between', alignItems: 'center', borderTop: '1px solid #E3E8EF', marginTop: 8 }}&gt;&lt;Text style={{ fontSize: 13, color: '#7A8699', fontWeight: 400, lineHeight: 1.4 }}&gt;依据：学校端设计思路.md §4&lt;/Text&gt;&lt;Text style={{ fontSize: 14, color: '#7A8699', fontWeight: 400, lineHeight: 1.4 }}&gt; 63 / 124 &lt;/Text&gt;&lt;/Box&gt;&lt;/Slide&gt;"/>
        <p:cNvGrpSpPr/>
        <p:nvPr/>
      </p:nvGrpSpPr>
      <p:grpSpPr>
        <a:xfrm>
          <a:off x="0" y="0"/>
          <a:ext cx="0" cy="0"/>
          <a:chOff x="0" y="0"/>
          <a:chExt cx="0" cy="0"/>
        </a:xfrm>
      </p:grpSpPr>
      <p:sp>
        <p:nvSpPr>
          <p:cNvPr id="2204" name=""/>
          <p:cNvSpPr/>
          <p:nvPr/>
        </p:nvSpPr>
        <p:spPr>
          <a:xfrm rot="0" flipH="0" flipV="0">
            <a:off x="0" y="0"/>
            <a:ext cx="12192000" cy="6858000"/>
          </a:xfrm>
          <a:prstGeom prst="rect">
            <a:avLst/>
          </a:prstGeom>
          <a:solidFill>
            <a:srgbClr val="FFFFFF"/>
          </a:solidFill>
          <a:ln/>
        </p:spPr>
        <p:txBody>
          <a:bodyPr/>
          <a:p/>
        </p:txBody>
      </p:sp>
      <p:sp>
        <p:nvSpPr>
          <p:cNvPr id="2205" name="" descr="{&quot;isTemplate&quot;:true,&quot;type&quot;:&quot;text&quot;}"/>
          <p:cNvSpPr txBox="1"/>
          <p:nvPr/>
        </p:nvSpPr>
        <p:spPr>
          <a:xfrm rot="0" flipH="0" flipV="0">
            <a:off x="666750" y="381000"/>
            <a:ext cx="39624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06 / </a:t>
            </a:r>
            <a:r>
              <a:rPr lang="zh-CN" sz="1050" spc="75">
                <a:solidFill>
                  <a:srgbClr val="7A8699"/>
                </a:solidFill>
                <a:latin typeface="Microsoft YaHei"/>
                <a:ea typeface="Microsoft YaHei"/>
              </a:rPr>
              <a:t>学校端</a:t>
            </a:r>
            <a:endParaRPr/>
          </a:p>
        </p:txBody>
      </p:sp>
      <p:sp>
        <p:nvSpPr>
          <p:cNvPr id="2206" name="" descr="{&quot;isTemplate&quot;:true,&quot;type&quot;:&quot;text&quot;}"/>
          <p:cNvSpPr txBox="1"/>
          <p:nvPr/>
        </p:nvSpPr>
        <p:spPr>
          <a:xfrm rot="0" flipH="0" flipV="0">
            <a:off x="666750" y="666750"/>
            <a:ext cx="3962400" cy="476250"/>
          </a:xfrm>
          <a:prstGeom prst="rect"/>
        </p:spPr>
        <p:txBody>
          <a:bodyPr wrap="none" lIns="0" tIns="0" rIns="0" bIns="0"/>
          <a:p>
            <a:pPr>
              <a:lnSpc>
                <a:spcPct val="130000"/>
              </a:lnSpc>
            </a:pPr>
            <a:r>
              <a:rPr lang="zh-CN" sz="2400" b="1">
                <a:solidFill>
                  <a:srgbClr val="0E2340"/>
                </a:solidFill>
                <a:latin typeface="Microsoft YaHei"/>
                <a:ea typeface="Microsoft YaHei"/>
              </a:rPr>
              <a:t>底层教学体系的六类定制对象</a:t>
            </a:r>
            <a:endParaRPr/>
          </a:p>
        </p:txBody>
      </p:sp>
      <p:sp>
        <p:nvSpPr>
          <p:cNvPr id="2207"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208"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2209" name=""/>
          <p:cNvSpPr/>
          <p:nvPr/>
        </p:nvSpPr>
        <p:spPr>
          <a:xfrm rot="0" flipH="0" flipV="0">
            <a:off x="704850" y="1257300"/>
            <a:ext cx="10858500" cy="609600"/>
          </a:xfrm>
          <a:prstGeom prst="roundRect">
            <a:avLst>
              <a:gd name="adj" fmla="val 9375"/>
            </a:avLst>
          </a:prstGeom>
          <a:solidFill>
            <a:srgbClr val="F5F7FA"/>
          </a:solidFill>
          <a:ln/>
        </p:spPr>
        <p:txBody>
          <a:bodyPr/>
          <a:p/>
        </p:txBody>
      </p:sp>
      <p:sp>
        <p:nvSpPr>
          <p:cNvPr id="2210" name=""/>
          <p:cNvSpPr/>
          <p:nvPr/>
        </p:nvSpPr>
        <p:spPr>
          <a:xfrm rot="0" flipH="0" flipV="0">
            <a:off x="704850" y="12573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2211" name="" descr="{&quot;isTemplate&quot;:true,&quot;type&quot;:&quot;text&quot;}"/>
          <p:cNvSpPr txBox="1"/>
          <p:nvPr/>
        </p:nvSpPr>
        <p:spPr>
          <a:xfrm rot="0" flipH="0" flipV="0">
            <a:off x="895350" y="1390650"/>
            <a:ext cx="8382000" cy="342900"/>
          </a:xfrm>
          <a:prstGeom prst="rect"/>
        </p:spPr>
        <p:txBody>
          <a:bodyPr wrap="none" lIns="0" tIns="0" rIns="0" bIns="0"/>
          <a:p>
            <a:pPr>
              <a:lnSpc>
                <a:spcPct val="150000"/>
              </a:lnSpc>
            </a:pPr>
            <a:r>
              <a:rPr lang="zh-CN" sz="1500" b="1">
                <a:solidFill>
                  <a:srgbClr val="0E2340"/>
                </a:solidFill>
                <a:latin typeface="Microsoft YaHei"/>
                <a:ea typeface="Microsoft YaHei"/>
              </a:rPr>
              <a:t>定制范围不只是显示名称，还包括教学实体、关系和规则；一所学校的修改不应无条件改变其他学校</a:t>
            </a:r>
            <a:endParaRPr/>
          </a:p>
        </p:txBody>
      </p:sp>
      <p:graphicFrame>
        <p:nvGraphicFramePr>
          <p:cNvPr id="2212" name=""/>
          <p:cNvGraphicFramePr/>
          <p:nvPr/>
        </p:nvGraphicFramePr>
        <p:xfrm rot="0" flipH="0" flipV="0">
          <a:off x="666750" y="2000250"/>
          <a:ext cx="10858500" cy="4210050"/>
        </p:xfrm>
        <a:graphic>
          <a:graphicData uri="http://schemas.openxmlformats.org/drawingml/2006/table">
            <a:tbl>
              <a:tblGrid>
                <a:gridCol w="1763346">
                  <a:extLst>
                    <a:ext uri="{9D8B030D-6E8A-4147-A177-3AD203B41FA5}">
                      <a16:colId val="1"/>
                    </a:ext>
                  </a:extLst>
                </a:gridCol>
                <a:gridCol w="5011615">
                  <a:extLst>
                    <a:ext uri="{9D8B030D-6E8A-4147-A177-3AD203B41FA5}">
                      <a16:colId val="2"/>
                    </a:ext>
                  </a:extLst>
                </a:gridCol>
                <a:gridCol w="4083538">
                  <a:extLst>
                    <a:ext uri="{9D8B030D-6E8A-4147-A177-3AD203B41FA5}">
                      <a16:colId val="3"/>
                    </a:ext>
                  </a:extLst>
                </a:gridCol>
              </a:tblGrid>
              <a:tr h="601436">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定制对象</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支持方向</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需要维护的关联</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601436">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课时</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增删、拆分、合并、重排，形成校本课程安排</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教材目录、教学知识点、前置和作业</a:t>
                      </a:r>
                      <a:endParaRPr/>
                    </a:p>
                  </a:txBody>
                  <a:tcPr marL="45720" marR="45720" marT="45720" marB="45720" anchor="ctr">
                    <a:lnL>
                      <a:noFill/>
                    </a:lnL>
                    <a:lnR>
                      <a:noFill/>
                    </a:lnR>
                    <a:lnT>
                      <a:noFill/>
                    </a:lnT>
                    <a:lnB>
                      <a:noFill/>
                    </a:lnB>
                  </a:tcPr>
                </a:tc>
                <a:extLst>
                  <a:ext uri="{0D108BD9-81ED-4DB2-BD59-A6C34878D82A}">
                    <a16:rowId val="2"/>
                  </a:ext>
                </a:extLst>
              </a:tr>
              <a:tr h="601436">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知识点</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修订定义与层级，处理同义名和教材版本差异</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题目、步骤、课时及历史评价</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601436">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步骤</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调整操作定义、粒度、前置和难度基准</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套路组合、参考解析、批改与训练目标</a:t>
                      </a:r>
                      <a:endParaRPr/>
                    </a:p>
                  </a:txBody>
                  <a:tcPr marL="45720" marR="45720" marT="45720" marB="45720" anchor="ctr">
                    <a:lnL>
                      <a:noFill/>
                    </a:lnL>
                    <a:lnR>
                      <a:noFill/>
                    </a:lnR>
                    <a:lnT>
                      <a:noFill/>
                    </a:lnT>
                    <a:lnB>
                      <a:noFill/>
                    </a:lnB>
                  </a:tcPr>
                </a:tc>
                <a:extLst>
                  <a:ext uri="{0D108BD9-81ED-4DB2-BD59-A6C34878D82A}">
                    <a16:rowId val="4"/>
                  </a:ext>
                </a:extLst>
              </a:tr>
              <a:tr h="601436">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套路</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增删合并题类、调整适用条件和学习顺序</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步骤路径、母题、变式及掌握记录</a:t>
                      </a:r>
                      <a:endParaRPr/>
                    </a:p>
                  </a:txBody>
                  <a:tcPr marL="45720" marR="45720" marT="45720" marB="45720" anchor="ctr">
                    <a:lnL>
                      <a:noFill/>
                    </a:lnL>
                    <a:lnR>
                      <a:noFill/>
                    </a:lnR>
                    <a:lnT>
                      <a:noFill/>
                    </a:lnT>
                    <a:lnB>
                      <a:noFill/>
                    </a:lnB>
                    <a:solidFill>
                      <a:srgbClr val="F5F7FA"/>
                    </a:solidFill>
                  </a:tcPr>
                </a:tc>
                <a:extLst>
                  <a:ext uri="{0D108BD9-81ED-4DB2-BD59-A6C34878D82A}">
                    <a16:rowId val="5"/>
                  </a:ext>
                </a:extLst>
              </a:tr>
              <a:tr h="601436">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模板与规则</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定制试卷模板、作业结构、复查间隔和评价权重</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评分依据、推荐行为及报告口径</a:t>
                      </a:r>
                      <a:endParaRPr/>
                    </a:p>
                  </a:txBody>
                  <a:tcPr marL="45720" marR="45720" marT="45720" marB="45720" anchor="ctr">
                    <a:lnL>
                      <a:noFill/>
                    </a:lnL>
                    <a:lnR>
                      <a:noFill/>
                    </a:lnR>
                    <a:lnT>
                      <a:noFill/>
                    </a:lnT>
                    <a:lnB>
                      <a:noFill/>
                    </a:lnB>
                  </a:tcPr>
                </a:tc>
                <a:extLst>
                  <a:ext uri="{0D108BD9-81ED-4DB2-BD59-A6C34878D82A}">
                    <a16:rowId val="6"/>
                  </a:ext>
                </a:extLst>
              </a:tr>
              <a:tr h="601436">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教学素材与工具</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添加本校教案、演示和经授权的工具</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来源、适用课程、访问权限与工具说明</a:t>
                      </a:r>
                      <a:endParaRPr/>
                    </a:p>
                  </a:txBody>
                  <a:tcPr marL="45720" marR="45720" marT="45720" marB="45720" anchor="ctr">
                    <a:lnL>
                      <a:noFill/>
                    </a:lnL>
                    <a:lnR>
                      <a:noFill/>
                    </a:lnR>
                    <a:lnT>
                      <a:noFill/>
                    </a:lnT>
                    <a:lnB>
                      <a:noFill/>
                    </a:lnB>
                    <a:solidFill>
                      <a:srgbClr val="F5F7FA"/>
                    </a:solidFill>
                  </a:tcPr>
                </a:tc>
                <a:extLst>
                  <a:ext uri="{0D108BD9-81ED-4DB2-BD59-A6C34878D82A}">
                    <a16:rowId val="7"/>
                  </a:ext>
                </a:extLst>
              </a:tr>
            </a:tbl>
          </a:graphicData>
        </a:graphic>
      </p:graphicFrame>
      <p:sp>
        <p:nvSpPr>
          <p:cNvPr id="2213"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214" name="" descr="{&quot;isTemplate&quot;:true,&quot;type&quot;:&quot;text&quot;}"/>
          <p:cNvSpPr txBox="1"/>
          <p:nvPr/>
        </p:nvSpPr>
        <p:spPr>
          <a:xfrm rot="0" flipH="0" flipV="0">
            <a:off x="666750" y="6381750"/>
            <a:ext cx="1619250" cy="209550"/>
          </a:xfrm>
          <a:prstGeom prst="rect"/>
        </p:spPr>
        <p:txBody>
          <a:bodyPr wrap="none" lIns="0" tIns="0" rIns="0" bIns="0"/>
          <a:p>
            <a:pPr>
              <a:lnSpc>
                <a:spcPct val="140000"/>
              </a:lnSpc>
            </a:pPr>
            <a:r>
              <a:rPr lang="zh-CN" sz="975">
                <a:solidFill>
                  <a:srgbClr val="7A8699"/>
                </a:solidFill>
                <a:latin typeface="Microsoft YaHei"/>
                <a:ea typeface="Microsoft YaHei"/>
              </a:rPr>
              <a:t>依据：学校端设计思路</a:t>
            </a:r>
            <a:r>
              <a:rPr lang="en-US" sz="975">
                <a:solidFill>
                  <a:srgbClr val="7A8699"/>
                </a:solidFill>
                <a:latin typeface="Microsoft YaHei"/>
                <a:ea typeface="Microsoft YaHei"/>
              </a:rPr>
              <a:t>.md §4</a:t>
            </a:r>
            <a:endParaRPr/>
          </a:p>
        </p:txBody>
      </p:sp>
      <p:sp>
        <p:nvSpPr>
          <p:cNvPr id="2215"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63 / 124 </a:t>
            </a:r>
            <a:endParaRPr/>
          </a:p>
        </p:txBody>
      </p:sp>
    </p:spTree>
  </p:cSld>
</p:sld>
</file>

<file path=ppt/slides/slide64.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216"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6 / 学校端&lt;/Text&gt;&lt;Text style={{ fontSize: 32, color: '#0E2340', fontWeight: 700, lineHeight: 1.3 }}&gt;版本变更怎样影响历史学习记录&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8 }}&gt;&lt;Box style={{ flexDirection: 'column', gap: 16, flex: 1, justifyContent: 'center' }}&gt;&lt;svg width={1140} height={180} viewBox='0 0 1140 180'&gt;&lt;rect x='0' y='40' width='151' height='88' rx='8' fill='#0E2340' stroke='#1E7BE0' stroke-width='1.5'/&gt;&lt;text x='75.5' y='78.0' font-size='20' fill='#FFFFFF' text-anchor='middle' font-weight='600'&gt;编辑草稿&lt;/text&gt;&lt;text x='75.5' y='104.0' font-size='15' fill='#FFFFFF' text-anchor='middle' font-weight='400'&gt;记录原因与负责人&lt;/text&gt;&lt;line x1='157' y1='84' x2='183' y2='84' stroke='#1E7BE0' stroke-width='2'/&gt;&lt;path d='M183 78 l10 -6 l0 12 z' fill='#1E7BE0'/&gt;&lt;rect x='197' y='40' width='151' height='88' rx='8' fill='#FFFFFF' stroke='#1E7BE0' stroke-width='1.5'/&gt;&lt;text x='272.5' y='78.0' font-size='20' fill='#0E2340' text-anchor='middle' font-weight='600'&gt;检查关系与受影响记录&lt;/text&gt;&lt;text x='272.5' y='104.0' font-size='15' fill='#7A8699' text-anchor='middle' font-weight='400'&gt;列出影响面&lt;/text&gt;&lt;line x1='354' y1='84' x2='380' y2='84' stroke='#1E7BE0' stroke-width='2'/&gt;&lt;path d='M380 78 l10 -6 l0 12 z' fill='#1E7BE0'/&gt;&lt;rect x='394' y='40' width='151' height='88' rx='8' fill='#FFFFFF' stroke='#1E7BE0' stroke-width='1.5'/&gt;&lt;text x='469.5' y='78.0' font-size='20' fill='#0E2340' text-anchor='middle' font-weight='600'&gt;教研审核&lt;/text&gt;&lt;text x='469.5' y='104.0' font-size='15' fill='#7A8699' text-anchor='middle' font-weight='400'&gt;多人核对&lt;/text&gt;&lt;line x1='551' y1='84' x2='577' y2='84' stroke='#1E7BE0' stroke-width='2'/&gt;&lt;path d='M577 78 l10 -6 l0 12 z' fill='#1E7BE0'/&gt;&lt;rect x='591' y='40' width='151' height='88' rx='8' fill='#FFFFFF' stroke='#1E7BE0' stroke-width='1.5'/&gt;&lt;text x='666.5' y='78.0' font-size='20' fill='#0E2340' text-anchor='middle' font-weight='600'&gt;小范围验证&lt;/text&gt;&lt;text x='666.5' y='104.0' font-size='15' fill='#7A8699' text-anchor='middle' font-weight='400'&gt;试点&lt;/text&gt;&lt;line x1='748' y1='84' x2='774' y2='84' stroke='#1E7BE0' stroke-width='2'/&gt;&lt;path d='M774 78 l10 -6 l0 12 z' fill='#1E7BE0'/&gt;&lt;rect x='788' y='40' width='151' height='88' rx='8' fill='#FFFFFF' stroke='#1E7BE0' stroke-width='1.5'/&gt;&lt;text x='863.5' y='78.0' font-size='20' fill='#0E2340' text-anchor='middle' font-weight='600'&gt;发布新版本&lt;/text&gt;&lt;text x='863.5' y='104.0' font-size='15' fill='#7A8699' text-anchor='middle' font-weight='400'&gt;稳定标识与映射&lt;/text&gt;&lt;line x1='945' y1='84' x2='971' y2='84' stroke='#1E7BE0' stroke-width='2'/&gt;&lt;path d='M971 78 l10 -6 l0 12 z' fill='#1E7BE0'/&gt;&lt;rect x='985' y='40' width='151' height='88' rx='8' fill='#F5F7FA' stroke='#1E7BE0' stroke-width='1.5'/&gt;&lt;text x='1060.5' y='78.0' font-size='20' fill='#0E2340' text-anchor='middle' font-weight='600'&gt;维护映射与迁移记录&lt;/text&gt;&lt;text x='1060.5' y='104.0' font-size='15' fill='#7A8699' text-anchor='middle' font-weight='400'&gt;保留可追溯性&lt;/text&gt;&lt;/svg&gt;&lt;/Box&gt;&lt;Box style={{ flexDirection: 'row', alignItems: 'center', background: '#F5F7FA', borderLeft: '4px solid #E8A33D', borderRadius: 6, padding: '14px 20px' }}&gt;&lt;Text style={{ fontSize: 17, color: '#0E2340', fontWeight: 600, lineHeight: 1.5 }}&gt;历史报告保留生成时采用的知识、评分和模板版本，不静默改写过去的成绩或绩效；旧知识点拆成两个新知识点时，原有整体分数不自动变成两个新项的可靠掌握分&lt;/Text&gt;&lt;/Box&gt;&lt;/Box&gt;&lt;/Box&gt;&lt;Box style={{ height: 40, flexDirection: 'row', justifyContent: 'space-between', alignItems: 'center', borderTop: '1px solid #E3E8EF', marginTop: 8 }}&gt;&lt;Text style={{ fontSize: 13, color: '#7A8699', fontWeight: 400, lineHeight: 1.4 }}&gt;依据：学校端设计思路.md §5&lt;/Text&gt;&lt;Text style={{ fontSize: 14, color: '#7A8699', fontWeight: 400, lineHeight: 1.4 }}&gt; 64 / 124 &lt;/Text&gt;&lt;/Box&gt;&lt;/Slide&gt;"/>
        <p:cNvGrpSpPr/>
        <p:nvPr/>
      </p:nvGrpSpPr>
      <p:grpSpPr>
        <a:xfrm>
          <a:off x="0" y="0"/>
          <a:ext cx="0" cy="0"/>
          <a:chOff x="0" y="0"/>
          <a:chExt cx="0" cy="0"/>
        </a:xfrm>
      </p:grpSpPr>
      <p:sp>
        <p:nvSpPr>
          <p:cNvPr id="2217" name=""/>
          <p:cNvSpPr/>
          <p:nvPr/>
        </p:nvSpPr>
        <p:spPr>
          <a:xfrm rot="0" flipH="0" flipV="0">
            <a:off x="0" y="0"/>
            <a:ext cx="12192000" cy="6858000"/>
          </a:xfrm>
          <a:prstGeom prst="rect">
            <a:avLst/>
          </a:prstGeom>
          <a:solidFill>
            <a:srgbClr val="FFFFFF"/>
          </a:solidFill>
          <a:ln/>
        </p:spPr>
        <p:txBody>
          <a:bodyPr/>
          <a:p/>
        </p:txBody>
      </p:sp>
      <p:sp>
        <p:nvSpPr>
          <p:cNvPr id="2218" name="" descr="{&quot;isTemplate&quot;:true,&quot;type&quot;:&quot;text&quot;}"/>
          <p:cNvSpPr txBox="1"/>
          <p:nvPr/>
        </p:nvSpPr>
        <p:spPr>
          <a:xfrm rot="0" flipH="0" flipV="0">
            <a:off x="666750" y="381000"/>
            <a:ext cx="42672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06 / </a:t>
            </a:r>
            <a:r>
              <a:rPr lang="zh-CN" sz="1050" spc="75">
                <a:solidFill>
                  <a:srgbClr val="7A8699"/>
                </a:solidFill>
                <a:latin typeface="Microsoft YaHei"/>
                <a:ea typeface="Microsoft YaHei"/>
              </a:rPr>
              <a:t>学校端</a:t>
            </a:r>
            <a:endParaRPr/>
          </a:p>
        </p:txBody>
      </p:sp>
      <p:sp>
        <p:nvSpPr>
          <p:cNvPr id="2219" name="" descr="{&quot;isTemplate&quot;:true,&quot;type&quot;:&quot;text&quot;}"/>
          <p:cNvSpPr txBox="1"/>
          <p:nvPr/>
        </p:nvSpPr>
        <p:spPr>
          <a:xfrm rot="0" flipH="0" flipV="0">
            <a:off x="666750" y="666750"/>
            <a:ext cx="4267200" cy="476250"/>
          </a:xfrm>
          <a:prstGeom prst="rect"/>
        </p:spPr>
        <p:txBody>
          <a:bodyPr wrap="none" lIns="0" tIns="0" rIns="0" bIns="0"/>
          <a:p>
            <a:pPr>
              <a:lnSpc>
                <a:spcPct val="130000"/>
              </a:lnSpc>
            </a:pPr>
            <a:r>
              <a:rPr lang="zh-CN" sz="2400" b="1">
                <a:solidFill>
                  <a:srgbClr val="0E2340"/>
                </a:solidFill>
                <a:latin typeface="Microsoft YaHei"/>
                <a:ea typeface="Microsoft YaHei"/>
              </a:rPr>
              <a:t>版本变更怎样影响历史学习记录</a:t>
            </a:r>
            <a:endParaRPr/>
          </a:p>
        </p:txBody>
      </p:sp>
      <p:sp>
        <p:nvSpPr>
          <p:cNvPr id="2220"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221"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2222" name=""/>
          <p:cNvPicPr>
            <a:picLocks noChangeAspect="1"/>
          </p:cNvPicPr>
          <p:nvPr/>
        </p:nvPicPr>
        <p:blipFill>
          <a:blip>
            <a:extLst>
              <a:ext uri="{96DAC541-7B7A-43D3-8B79-37D633B846F1}">
                <asvg:svgBlip r:embed="rId1"/>
              </a:ext>
            </a:extLst>
          </a:blip>
          <a:stretch>
            <a:fillRect/>
          </a:stretch>
        </p:blipFill>
        <p:spPr>
          <a:xfrm rot="0" flipH="0" flipV="0">
            <a:off x="666750" y="2343150"/>
            <a:ext cx="10858500" cy="1714500"/>
          </a:xfrm>
          <a:prstGeom prst="rect">
            <a:avLst/>
          </a:prstGeom>
          <a:ln/>
        </p:spPr>
      </p:pic>
      <p:sp>
        <p:nvSpPr>
          <p:cNvPr id="2223" name=""/>
          <p:cNvSpPr/>
          <p:nvPr/>
        </p:nvSpPr>
        <p:spPr>
          <a:xfrm rot="0" flipH="0" flipV="0">
            <a:off x="704850" y="5353050"/>
            <a:ext cx="10858500" cy="857250"/>
          </a:xfrm>
          <a:prstGeom prst="roundRect">
            <a:avLst>
              <a:gd name="adj" fmla="val 6667"/>
            </a:avLst>
          </a:prstGeom>
          <a:solidFill>
            <a:srgbClr val="F5F7FA"/>
          </a:solidFill>
          <a:ln/>
        </p:spPr>
        <p:txBody>
          <a:bodyPr/>
          <a:p/>
        </p:txBody>
      </p:sp>
      <p:sp>
        <p:nvSpPr>
          <p:cNvPr id="2224" name=""/>
          <p:cNvSpPr/>
          <p:nvPr/>
        </p:nvSpPr>
        <p:spPr>
          <a:xfrm rot="0" flipH="0" flipV="0">
            <a:off x="704850" y="5353050"/>
            <a:ext cx="10858500" cy="857250"/>
          </a:xfrm>
          <a:custGeom>
            <a:pathLst>
              <a:path w="1140" h="90">
                <a:moveTo>
                  <a:pt x="6" y="0"/>
                </a:moveTo>
                <a:cubicBezTo>
                  <a:pt x="5" y="0"/>
                  <a:pt x="4" y="1"/>
                  <a:pt x="4" y="2"/>
                </a:cubicBezTo>
                <a:lnTo>
                  <a:pt x="4" y="88"/>
                </a:lnTo>
                <a:cubicBezTo>
                  <a:pt x="4" y="89"/>
                  <a:pt x="5" y="90"/>
                  <a:pt x="6" y="90"/>
                </a:cubicBezTo>
                <a:cubicBezTo>
                  <a:pt x="3" y="90"/>
                  <a:pt x="0" y="87"/>
                  <a:pt x="0" y="84"/>
                </a:cubicBezTo>
                <a:lnTo>
                  <a:pt x="0" y="6"/>
                </a:lnTo>
                <a:cubicBezTo>
                  <a:pt x="0" y="3"/>
                  <a:pt x="3" y="0"/>
                  <a:pt x="6" y="0"/>
                </a:cubicBezTo>
                <a:close/>
              </a:path>
            </a:pathLst>
          </a:custGeom>
          <a:solidFill>
            <a:srgbClr val="E8A33D"/>
          </a:solidFill>
          <a:ln/>
        </p:spPr>
        <p:txBody>
          <a:bodyPr/>
          <a:p/>
        </p:txBody>
      </p:sp>
      <p:sp>
        <p:nvSpPr>
          <p:cNvPr id="2225" name="" descr="{&quot;isTemplate&quot;:true,&quot;type&quot;:&quot;text&quot;}"/>
          <p:cNvSpPr txBox="1"/>
          <p:nvPr/>
        </p:nvSpPr>
        <p:spPr>
          <a:xfrm rot="0" flipH="0" flipV="0">
            <a:off x="895350" y="5486400"/>
            <a:ext cx="10439400" cy="590550"/>
          </a:xfrm>
          <a:prstGeom prst="rect"/>
        </p:spPr>
        <p:txBody>
          <a:bodyPr wrap="square" lIns="0" tIns="0" rIns="0" bIns="0">
            <a:normAutofit/>
          </a:bodyPr>
          <a:p>
            <a:pPr>
              <a:lnSpc>
                <a:spcPct val="150000"/>
              </a:lnSpc>
            </a:pPr>
            <a:r>
              <a:rPr lang="zh-CN" sz="1275" b="1">
                <a:solidFill>
                  <a:srgbClr val="0E2340"/>
                </a:solidFill>
                <a:latin typeface="Microsoft YaHei"/>
                <a:ea typeface="Microsoft YaHei"/>
              </a:rPr>
              <a:t>历史报告保留生成时采用的知识、评分和模板版本，不静默改写过去的成绩或绩效；旧知识点拆成两个新知识点时，原有整体分数不自动变成两个新项的可靠掌握分</a:t>
            </a:r>
            <a:endParaRPr/>
          </a:p>
        </p:txBody>
      </p:sp>
      <p:sp>
        <p:nvSpPr>
          <p:cNvPr id="2226"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227" name="" descr="{&quot;isTemplate&quot;:true,&quot;type&quot;:&quot;text&quot;}"/>
          <p:cNvSpPr txBox="1"/>
          <p:nvPr/>
        </p:nvSpPr>
        <p:spPr>
          <a:xfrm rot="0" flipH="0" flipV="0">
            <a:off x="666750" y="6381750"/>
            <a:ext cx="1619250" cy="209550"/>
          </a:xfrm>
          <a:prstGeom prst="rect"/>
        </p:spPr>
        <p:txBody>
          <a:bodyPr wrap="none" lIns="0" tIns="0" rIns="0" bIns="0"/>
          <a:p>
            <a:pPr>
              <a:lnSpc>
                <a:spcPct val="140000"/>
              </a:lnSpc>
            </a:pPr>
            <a:r>
              <a:rPr lang="zh-CN" sz="975">
                <a:solidFill>
                  <a:srgbClr val="7A8699"/>
                </a:solidFill>
                <a:latin typeface="Microsoft YaHei"/>
                <a:ea typeface="Microsoft YaHei"/>
              </a:rPr>
              <a:t>依据：学校端设计思路</a:t>
            </a:r>
            <a:r>
              <a:rPr lang="en-US" sz="975">
                <a:solidFill>
                  <a:srgbClr val="7A8699"/>
                </a:solidFill>
                <a:latin typeface="Microsoft YaHei"/>
                <a:ea typeface="Microsoft YaHei"/>
              </a:rPr>
              <a:t>.md §5</a:t>
            </a:r>
            <a:endParaRPr/>
          </a:p>
        </p:txBody>
      </p:sp>
      <p:sp>
        <p:nvSpPr>
          <p:cNvPr id="2228"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64 / 124 </a:t>
            </a:r>
            <a:endParaRPr/>
          </a:p>
        </p:txBody>
      </p:sp>
    </p:spTree>
  </p:cSld>
</p:sld>
</file>

<file path=ppt/slides/slide65.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229" name="" descr="&lt;Slide style={{ width: '1280px', height: '720px', background: '#FFFFFF', padding: 0 }}&gt;&lt;Box style={{ position: 'absolute', top: 0, left: 0 }}&gt;&lt;svg width={1280} height={720} viewBox='0 0 1280 720'&gt;&lt;line x1='0' y1='0' x2='1280' y2='0' stroke='#E3E8EF' stroke-width='1' opacity='0.55'/&gt;&lt;line x1='0' y1='90' x2='1280' y2='90' stroke='#E3E8EF' stroke-width='1' opacity='0.55'/&gt;&lt;line x1='0' y1='180' x2='1280' y2='180' stroke='#E3E8EF' stroke-width='1' opacity='0.55'/&gt;&lt;line x1='0' y1='270' x2='1280' y2='270' stroke='#E3E8EF' stroke-width='1' opacity='0.55'/&gt;&lt;line x1='0' y1='360' x2='1280' y2='360' stroke='#E3E8EF' stroke-width='1' opacity='0.55'/&gt;&lt;line x1='0' y1='450' x2='1280' y2='450' stroke='#E3E8EF' stroke-width='1' opacity='0.55'/&gt;&lt;line x1='0' y1='540' x2='1280' y2='540' stroke='#E3E8EF' stroke-width='1' opacity='0.55'/&gt;&lt;line x1='0' y1='630' x2='1280' y2='630' stroke='#E3E8EF' stroke-width='1' opacity='0.55'/&gt;&lt;line x1='0' y1='720' x2='1280' y2='720' stroke='#E3E8EF' stroke-width='1' opacity='0.55'/&gt;&lt;/svg&gt;&lt;/Box&gt;&lt;Box style={{ position: 'relative', zIndex: 2, flexDirection: 'row', flex: 1, padding: '48px 80px 52px', gap: 44 }}&gt;&lt;Box style={{ width: 520, flexDirection: 'column', justifyContent: 'space-between' }}&gt;&lt;Box style={{ flexDirection: 'column' }}&gt;&lt;Text style={{ fontSize: 15, color: '#1E7BE0', fontWeight: 600, lineHeight: 1.4, letterSpacing: 2 }}&gt;STUDYAGENT · DESIGN REVIEW&lt;/Text&gt;&lt;/Box&gt;&lt;Box style={{ flexDirection: 'column' }}&gt;&lt;Text style={{ fontSize: 100, color: '#0E2340', fontWeight: 700, lineHeight: 1.0, fontFamily: 'JetBrains Mono, Inter' }}&gt;07&lt;/Text&gt;&lt;Box style={{ width: 78, height: 5, background: '#1E7BE0', marginTop: 10 }} /&gt;&lt;Text style={{ fontSize: 44, color: '#0E2340', fontWeight: 700, lineHeight: 1.2 }}&gt;试卷与生涯&lt;/Text&gt;&lt;/Box&gt;&lt;Box style={{ flexDirection: 'column', gap: 12 }}&gt;&lt;Box style={{ flexDirection: 'row', alignItems: 'center', background: '#F5F7FA', borderLeft: '4px solid #1E7BE0', borderRadius: 6, padding: '14px 20px' }}&gt;&lt;Text style={{ fontSize: 19, color: '#0E2340', fontWeight: 600, lineHeight: 1.5 }}&gt;评价试卷与分析学生作答&lt;/Text&gt;&lt;/Box&gt;&lt;Box style={{ flexDirection: 'row', alignItems: 'center', background: '#F5F7FA', borderLeft: '4px solid #1E7BE0', borderRadius: 6, padding: '14px 20px' }}&gt;&lt;Text style={{ fontSize: 19, color: '#0E2340', fontWeight: 600, lineHeight: 1.5 }}&gt;两条并行的生涯建档路线&lt;/Text&gt;&lt;/Box&gt;&lt;Box style={{ flexDirection: 'row', alignItems: 'center', background: '#F5F7FA', borderLeft: '4px solid #1E7BE0', borderRadius: 6, padding: '14px 20px' }}&gt;&lt;Text style={{ fontSize: 19, color: '#0E2340', fontWeight: 600, lineHeight: 1.5 }}&gt;长期能力六维度与一对一助教&lt;/Text&gt;&lt;/Box&gt;&lt;/Box&gt;&lt;Box style={{ flexDirection: 'column' }}&gt;&lt;Text style={{ fontSize: 13, color: '#7A8699', fontWeight: 400, lineHeight: 1.5 }}&gt;来源：试卷与生涯维度设计思路.md（更新日期 2026-10-25）&lt;/Text&gt;&lt;/Box&gt;&lt;/Box&gt;&lt;Box style={{ flex: 1, flexDirection: 'column', justifyContent: 'space-between', gap: 12 }}&gt;&lt;Text style={{ fontSize: 20, color: '#0E2340', fontWeight: 700, lineHeight: 1.4 }}&gt;汇报结构 · 13 章&lt;/Text&gt;&lt;Box style={{ flexDirection: 'column', gap: 10 }}&gt;&lt;Box style={{ flexDirection: 'row', gap: 10 }}&gt;&lt;Box style={{ width: 172, height: 64, borderRadius: 6, padding: '9px 12px', background: '#F5F7FA', flexDirection: 'column', justifyContent: 'center' }}&gt;&lt;Text style={{ fontSize: 18, color: '#0E2340', fontWeight: 700, lineHeight: 1.2 }}&gt;01&lt;/Text&gt;&lt;Text style={{ fontSize: 13, color: '#7A8699', fontWeight: 400, lineHeight: 1.3 }}&gt;概念地基&lt;/Text&gt;&lt;/Box&gt;&lt;Box style={{ width: 172, height: 64, borderRadius: 6, padding: '9px 12px', background: '#F5F7FA', flexDirection: 'column', justifyContent: 'center' }}&gt;&lt;Text style={{ fontSize: 18, color: '#0E2340', fontWeight: 700, lineHeight: 1.2 }}&gt;02&lt;/Text&gt;&lt;Text style={{ fontSize: 13, color: '#7A8699', fontWeight: 400, lineHeight: 1.3 }}&gt;现状盘点&lt;/Text&gt;&lt;/Box&gt;&lt;Box style={{ width: 172, height: 64, borderRadius: 6, padding: '9px 12px', background: '#F5F7FA', flexDirection: 'column', justifyContent: 'center' }}&gt;&lt;Text style={{ fontSize: 18, color: '#0E2340', fontWeight: 700, lineHeight: 1.2 }}&gt;03&lt;/Text&gt;&lt;Text style={{ fontSize: 13, color: '#7A8699', fontWeight: 400, lineHeight: 1.3 }}&gt;单题引擎&lt;/Text&gt;&lt;/Box&gt;&lt;/Box&gt;&lt;Box style={{ flexDirection: 'row', gap: 10 }}&gt;&lt;Box style={{ width: 172, height: 64, borderRadius: 6, padding: '9px 12px', background: '#F5F7FA', flexDirection: 'column', justifyContent: 'center' }}&gt;&lt;Text style={{ fontSize: 18, color: '#0E2340', fontWeight: 700, lineHeight: 1.2 }}&gt;04&lt;/Text&gt;&lt;Text style={{ fontSize: 13, color: '#7A8699', fontWeight: 400, lineHeight: 1.3 }}&gt;套路层面&lt;/Text&gt;&lt;/Box&gt;&lt;Box style={{ width: 172, height: 64, borderRadius: 6, padding: '9px 12px', background: '#F5F7FA', flexDirection: 'column', justifyContent: 'center' }}&gt;&lt;Text style={{ fontSize: 18, color: '#0E2340', fontWeight: 700, lineHeight: 1.2 }}&gt;05&lt;/Text&gt;&lt;Text style={{ fontSize: 13, color: '#7A8699', fontWeight: 400, lineHeight: 1.3 }}&gt;教师端&lt;/Text&gt;&lt;/Box&gt;&lt;Box style={{ width: 172, height: 64, borderRadius: 6, padding: '9px 12px', background: '#F5F7FA', flexDirection: 'column', justifyContent: 'center' }}&gt;&lt;Text style={{ fontSize: 18, color: '#0E2340', fontWeight: 700, lineHeight: 1.2 }}&gt;06&lt;/Text&gt;&lt;Text style={{ fontSize: 13, color: '#7A8699', fontWeight: 400, lineHeight: 1.3 }}&gt;学校端&lt;/Text&gt;&lt;/Box&gt;&lt;/Box&gt;&lt;Box style={{ flexDirection: 'row', gap: 10 }}&gt;&lt;Box style={{ width: 172, height: 64, borderRadius: 6, padding: '9px 12px', background: '#0E2340', flexDirection: 'column', justifyContent: 'center' }}&gt;&lt;Text style={{ fontSize: 18, color: '#FFFFFF', fontWeight: 700, lineHeight: 1.2 }}&gt;07&lt;/Text&gt;&lt;Text style={{ fontSize: 13, color: '#C8DCF2', fontWeight: 400, lineHeight: 1.3 }}&gt;试卷与生涯&lt;/Text&gt;&lt;/Box&gt;&lt;Box style={{ width: 172, height: 64, borderRadius: 6, padding: '9px 12px', background: '#F5F7FA', flexDirection: 'column', justifyContent: 'center' }}&gt;&lt;Text style={{ fontSize: 18, color: '#0E2340', fontWeight: 700, lineHeight: 1.2 }}&gt;08&lt;/Text&gt;&lt;Text style={{ fontSize: 13, color: '#7A8699', fontWeight: 400, lineHeight: 1.3 }}&gt;协同 Agent&lt;/Text&gt;&lt;/Box&gt;&lt;Box style={{ width: 172, height: 64, borderRadius: 6, padding: '9px 12px', background: '#F5F7FA', flexDirection: 'column', justifyContent: 'center' }}&gt;&lt;Text style={{ fontSize: 18, color: '#0E2340', fontWeight: 700, lineHeight: 1.2 }}&gt;09&lt;/Text&gt;&lt;Text style={{ fontSize: 13, color: '#7A8699', fontWeight: 400, lineHeight: 1.3 }}&gt;MCP 接入&lt;/Text&gt;&lt;/Box&gt;&lt;/Box&gt;&lt;Box style={{ flexDirection: 'row', gap: 10 }}&gt;&lt;Box style={{ width: 172, height: 64, borderRadius: 6, padding: '9px 12px', background: '#F5F7FA', flexDirection: 'column', justifyContent: 'center' }}&gt;&lt;Text style={{ fontSize: 18, color: '#0E2340', fontWeight: 700, lineHeight: 1.2 }}&gt;10&lt;/Text&gt;&lt;Text style={{ fontSize: 13, color: '#7A8699', fontWeight: 400, lineHeight: 1.3 }}&gt;待深化研究&lt;/Text&gt;&lt;/Box&gt;&lt;Box style={{ width: 172, height: 64, borderRadius: 6, padding: '9px 12px', background: '#F5F7FA', flexDirection: 'column', justifyContent: 'center' }}&gt;&lt;Text style={{ fontSize: 18, color: '#0E2340', fontWeight: 700, lineHeight: 1.2 }}&gt;11&lt;/Text&gt;&lt;Text style={{ fontSize: 13, color: '#7A8699', fontWeight: 400, lineHeight: 1.3 }}&gt;落地与边界&lt;/Text&gt;&lt;/Box&gt;&lt;Box style={{ width: 172, height: 64, borderRadius: 6, padding: '9px 12px', background: '#F5F7FA', flexDirection: 'column', justifyContent: 'center' }}&gt;&lt;Text style={{ fontSize: 18, color: '#0E2340', fontWeight: 700, lineHeight: 1.2 }}&gt;12&lt;/Text&gt;&lt;Text style={{ fontSize: 13, color: '#7A8699', fontWeight: 400, lineHeight: 1.3 }}&gt;自进化与扩展&lt;/Text&gt;&lt;/Box&gt;&lt;/Box&gt;&lt;Box style={{ flexDirection: 'row', gap: 10 }}&gt;&lt;Box style={{ width: 172, height: 64, borderRadius: 6, padding: '9px 12px', background: '#F5F7FA', flexDirection: 'column', justifyContent: 'center' }}&gt;&lt;Text style={{ fontSize: 18, color: '#0E2340', fontWeight: 700, lineHeight: 1.2 }}&gt;13&lt;/Text&gt;&lt;Text style={{ fontSize: 13, color: '#7A8699', fontWeight: 400, lineHeight: 1.3 }}&gt;收尾&lt;/Text&gt;&lt;/Box&gt;&lt;/Box&gt;&lt;/Box&gt;&lt;Box style={{ flexDirection: 'row', alignItems: 'center', gap: 10, background: '#F5F7FA', borderRadius: 6, padding: '10px 14px' }}&gt;&lt;Box style={{ width: 6, height: 22, background: '#00A9B5' }} /&gt;&lt;Text style={{ fontSize: 15, color: '#0E2340', fontWeight: 600, lineHeight: 1.4 }}&gt;当前位置：第 07 章 · 试卷与生涯&lt;/Text&gt;&lt;/Box&gt;&lt;Box style={{ flexDirection: 'row', gap: 10 }}&gt;&lt;Box style={{ flex: 1, flexDirection: 'row', alignItems: 'center', gap: 8, borderRadius: 6, padding: '9px 10px', background: '#F5F7FA' }}&gt;&lt;Box style={{ width: 10, height: 10, borderRadius: 5, background: '#1E9E62' }} /&gt;&lt;Text style={{ fontSize: 14, color: '#333A45', fontWeight: 600, lineHeight: 1.3 }}&gt;已实现&lt;/Text&gt;&lt;/Box&gt;&lt;Box style={{ flex: 1, flexDirection: 'row', alignItems: 'center', gap: 8, borderRadius: 6, padding: '9px 10px', background: '#F5F7FA' }}&gt;&lt;Box style={{ width: 10, height: 10, borderRadius: 5, background: '#E8A33D' }} /&gt;&lt;Text style={{ fontSize: 14, color: '#333A45', fontWeight: 600, lineHeight: 1.3 }}&gt;部分实现&lt;/Text&gt;&lt;/Box&gt;&lt;Box style={{ flex: 1, flexDirection: 'row', alignItems: 'center', gap: 8, borderRadius: 6, padding: '9px 10px', background: '#F5F7FA' }}&gt;&lt;Box style={{ width: 10, height: 10, borderRadius: 5, background: '#1E7BE0' }} /&gt;&lt;Text style={{ fontSize: 14, color: '#333A45', fontWeight: 600, lineHeight: 1.3 }}&gt;设计中&lt;/Text&gt;&lt;/Box&gt;&lt;Box style={{ flex: 1, flexDirection: 'row', alignItems: 'center', gap: 8, borderRadius: 6, padding: '9px 10px', background: '#F5F7FA' }}&gt;&lt;Box style={{ width: 10, height: 10, borderRadius: 5, background: '#98A2B3' }} /&gt;&lt;Text style={{ fontSize: 14, color: '#333A45', fontWeight: 600, lineHeight: 1.3 }}&gt;待研究&lt;/Text&gt;&lt;/Box&gt;&lt;/Box&gt;&lt;Box style={{ flexDirection: 'row', alignItems: 'center', gap: 12, borderTop: '1px solid #E3E8EF', paddingTop: 14 }}&gt;&lt;Box style={{ width: 46, height: 5, background: '#00A9B5' }} /&gt;&lt;Text style={{ fontSize: 15, color: '#7A8699', fontWeight: 600, lineHeight: 1.4 }}&gt;StudyAgent 项目设计汇报 · 技术评审版 · 共 124 页&lt;/Text&gt;&lt;/Box&gt;&lt;/Box&gt;&lt;/Box&gt;&lt;/Slide&gt;"/>
        <p:cNvGrpSpPr/>
        <p:nvPr/>
      </p:nvGrpSpPr>
      <p:grpSpPr>
        <a:xfrm>
          <a:off x="0" y="0"/>
          <a:ext cx="0" cy="0"/>
          <a:chOff x="0" y="0"/>
          <a:chExt cx="0" cy="0"/>
        </a:xfrm>
      </p:grpSpPr>
      <p:sp>
        <p:nvSpPr>
          <p:cNvPr id="2230" name=""/>
          <p:cNvSpPr/>
          <p:nvPr/>
        </p:nvSpPr>
        <p:spPr>
          <a:xfrm rot="0" flipH="0" flipV="0">
            <a:off x="0" y="0"/>
            <a:ext cx="12192000" cy="6858000"/>
          </a:xfrm>
          <a:prstGeom prst="rect">
            <a:avLst/>
          </a:prstGeom>
          <a:solidFill>
            <a:srgbClr val="FFFFFF"/>
          </a:solidFill>
          <a:ln/>
        </p:spPr>
        <p:txBody>
          <a:bodyPr/>
          <a:p/>
        </p:txBody>
      </p:sp>
      <p:pic>
        <p:nvPicPr>
          <p:cNvPr id="2231" name=""/>
          <p:cNvPicPr>
            <a:picLocks noChangeAspect="1"/>
          </p:cNvPicPr>
          <p:nvPr/>
        </p:nvPicPr>
        <p:blipFill>
          <a:blip>
            <a:extLst>
              <a:ext uri="{96DAC541-7B7A-43D3-8B79-37D633B846F1}">
                <asvg:svgBlip r:embed="rId1"/>
              </a:ext>
            </a:extLst>
          </a:blip>
          <a:stretch>
            <a:fillRect/>
          </a:stretch>
        </p:blipFill>
        <p:spPr>
          <a:xfrm rot="0" flipH="0" flipV="0">
            <a:off x="0" y="0"/>
            <a:ext cx="12192000" cy="6858000"/>
          </a:xfrm>
          <a:prstGeom prst="rect">
            <a:avLst/>
          </a:prstGeom>
          <a:ln/>
        </p:spPr>
      </p:pic>
      <p:sp>
        <p:nvSpPr>
          <p:cNvPr id="2232" name="" descr="{&quot;isTemplate&quot;:true,&quot;type&quot;:&quot;text&quot;}"/>
          <p:cNvSpPr txBox="1"/>
          <p:nvPr/>
        </p:nvSpPr>
        <p:spPr>
          <a:xfrm rot="0" flipH="0" flipV="0">
            <a:off x="762000" y="457200"/>
            <a:ext cx="4953000" cy="247650"/>
          </a:xfrm>
          <a:prstGeom prst="rect"/>
        </p:spPr>
        <p:txBody>
          <a:bodyPr wrap="none" lIns="0" tIns="0" rIns="0" bIns="0"/>
          <a:p>
            <a:pPr>
              <a:lnSpc>
                <a:spcPct val="140000"/>
              </a:lnSpc>
            </a:pPr>
            <a:r>
              <a:rPr lang="en-US" sz="1125" b="1" spc="150">
                <a:solidFill>
                  <a:srgbClr val="1E7BE0"/>
                </a:solidFill>
                <a:latin typeface="Microsoft YaHei"/>
                <a:ea typeface="Microsoft YaHei"/>
              </a:rPr>
              <a:t>STUDYAGENT · DESIGN REVIEW</a:t>
            </a:r>
            <a:endParaRPr/>
          </a:p>
        </p:txBody>
      </p:sp>
      <p:sp>
        <p:nvSpPr>
          <p:cNvPr id="2233" name="" descr="{&quot;isTemplate&quot;:true,&quot;type&quot;:&quot;text&quot;}"/>
          <p:cNvSpPr txBox="1"/>
          <p:nvPr/>
        </p:nvSpPr>
        <p:spPr>
          <a:xfrm rot="0" flipH="0" flipV="0">
            <a:off x="762000" y="1209675"/>
            <a:ext cx="4953000" cy="1143000"/>
          </a:xfrm>
          <a:prstGeom prst="rect"/>
        </p:spPr>
        <p:txBody>
          <a:bodyPr wrap="none" lIns="0" tIns="0" rIns="0" bIns="0"/>
          <a:p>
            <a:pPr>
              <a:lnSpc>
                <a:spcPct val="100000"/>
              </a:lnSpc>
            </a:pPr>
            <a:r>
              <a:rPr lang="en-US" sz="7500" b="1">
                <a:solidFill>
                  <a:srgbClr val="0E2340"/>
                </a:solidFill>
                <a:latin typeface="JetBrains Mono"/>
                <a:ea typeface="JetBrains Mono"/>
              </a:rPr>
              <a:t>07</a:t>
            </a:r>
            <a:endParaRPr/>
          </a:p>
        </p:txBody>
      </p:sp>
      <p:sp>
        <p:nvSpPr>
          <p:cNvPr id="2234" name=""/>
          <p:cNvSpPr/>
          <p:nvPr/>
        </p:nvSpPr>
        <p:spPr>
          <a:xfrm rot="0" flipH="0" flipV="0">
            <a:off x="762000" y="2447925"/>
            <a:ext cx="742950" cy="47625"/>
          </a:xfrm>
          <a:prstGeom prst="rect">
            <a:avLst/>
          </a:prstGeom>
          <a:solidFill>
            <a:srgbClr val="1E7BE0"/>
          </a:solidFill>
          <a:ln/>
        </p:spPr>
        <p:txBody>
          <a:bodyPr/>
          <a:p/>
        </p:txBody>
      </p:sp>
      <p:sp>
        <p:nvSpPr>
          <p:cNvPr id="2235" name="" descr="{&quot;isTemplate&quot;:true,&quot;type&quot;:&quot;text&quot;}"/>
          <p:cNvSpPr txBox="1"/>
          <p:nvPr/>
        </p:nvSpPr>
        <p:spPr>
          <a:xfrm rot="0" flipH="0" flipV="0">
            <a:off x="762000" y="2495550"/>
            <a:ext cx="4953000" cy="609600"/>
          </a:xfrm>
          <a:prstGeom prst="rect"/>
        </p:spPr>
        <p:txBody>
          <a:bodyPr wrap="none" lIns="0" tIns="0" rIns="0" bIns="0"/>
          <a:p>
            <a:pPr>
              <a:lnSpc>
                <a:spcPct val="120000"/>
              </a:lnSpc>
            </a:pPr>
            <a:r>
              <a:rPr lang="zh-CN" sz="3300" b="1">
                <a:solidFill>
                  <a:srgbClr val="0E2340"/>
                </a:solidFill>
                <a:latin typeface="Microsoft YaHei"/>
                <a:ea typeface="Microsoft YaHei"/>
              </a:rPr>
              <a:t>试卷与生涯</a:t>
            </a:r>
            <a:endParaRPr/>
          </a:p>
        </p:txBody>
      </p:sp>
      <p:sp>
        <p:nvSpPr>
          <p:cNvPr id="2236" name=""/>
          <p:cNvSpPr/>
          <p:nvPr/>
        </p:nvSpPr>
        <p:spPr>
          <a:xfrm rot="0" flipH="0" flipV="0">
            <a:off x="800100" y="3600450"/>
            <a:ext cx="4953000" cy="600075"/>
          </a:xfrm>
          <a:prstGeom prst="roundRect">
            <a:avLst>
              <a:gd name="adj" fmla="val 9524"/>
            </a:avLst>
          </a:prstGeom>
          <a:solidFill>
            <a:srgbClr val="F5F7FA"/>
          </a:solidFill>
          <a:ln/>
        </p:spPr>
        <p:txBody>
          <a:bodyPr/>
          <a:p/>
        </p:txBody>
      </p:sp>
      <p:sp>
        <p:nvSpPr>
          <p:cNvPr id="2237" name=""/>
          <p:cNvSpPr/>
          <p:nvPr/>
        </p:nvSpPr>
        <p:spPr>
          <a:xfrm rot="0" flipH="0" flipV="0">
            <a:off x="800100" y="360045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2238" name="" descr="{&quot;isTemplate&quot;:true,&quot;type&quot;:&quot;text&quot;}"/>
          <p:cNvSpPr txBox="1"/>
          <p:nvPr/>
        </p:nvSpPr>
        <p:spPr>
          <a:xfrm rot="0" flipH="0" flipV="0">
            <a:off x="990600" y="3733800"/>
            <a:ext cx="1990725" cy="333375"/>
          </a:xfrm>
          <a:prstGeom prst="rect"/>
        </p:spPr>
        <p:txBody>
          <a:bodyPr wrap="none" lIns="0" tIns="0" rIns="0" bIns="0"/>
          <a:p>
            <a:pPr>
              <a:lnSpc>
                <a:spcPct val="150000"/>
              </a:lnSpc>
            </a:pPr>
            <a:r>
              <a:rPr lang="zh-CN" sz="1425" b="1">
                <a:solidFill>
                  <a:srgbClr val="0E2340"/>
                </a:solidFill>
                <a:latin typeface="Microsoft YaHei"/>
                <a:ea typeface="Microsoft YaHei"/>
              </a:rPr>
              <a:t>评价试卷与分析学生作答</a:t>
            </a:r>
            <a:endParaRPr/>
          </a:p>
        </p:txBody>
      </p:sp>
      <p:sp>
        <p:nvSpPr>
          <p:cNvPr id="2239" name=""/>
          <p:cNvSpPr/>
          <p:nvPr/>
        </p:nvSpPr>
        <p:spPr>
          <a:xfrm rot="0" flipH="0" flipV="0">
            <a:off x="800100" y="4314825"/>
            <a:ext cx="4953000" cy="600075"/>
          </a:xfrm>
          <a:prstGeom prst="roundRect">
            <a:avLst>
              <a:gd name="adj" fmla="val 9524"/>
            </a:avLst>
          </a:prstGeom>
          <a:solidFill>
            <a:srgbClr val="F5F7FA"/>
          </a:solidFill>
          <a:ln/>
        </p:spPr>
        <p:txBody>
          <a:bodyPr/>
          <a:p/>
        </p:txBody>
      </p:sp>
      <p:sp>
        <p:nvSpPr>
          <p:cNvPr id="2240" name=""/>
          <p:cNvSpPr/>
          <p:nvPr/>
        </p:nvSpPr>
        <p:spPr>
          <a:xfrm rot="0" flipH="0" flipV="0">
            <a:off x="800100" y="4314825"/>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2241" name="" descr="{&quot;isTemplate&quot;:true,&quot;type&quot;:&quot;text&quot;}"/>
          <p:cNvSpPr txBox="1"/>
          <p:nvPr/>
        </p:nvSpPr>
        <p:spPr>
          <a:xfrm rot="0" flipH="0" flipV="0">
            <a:off x="990600" y="4448175"/>
            <a:ext cx="1990725" cy="333375"/>
          </a:xfrm>
          <a:prstGeom prst="rect"/>
        </p:spPr>
        <p:txBody>
          <a:bodyPr wrap="none" lIns="0" tIns="0" rIns="0" bIns="0"/>
          <a:p>
            <a:pPr>
              <a:lnSpc>
                <a:spcPct val="150000"/>
              </a:lnSpc>
            </a:pPr>
            <a:r>
              <a:rPr lang="zh-CN" sz="1425" b="1">
                <a:solidFill>
                  <a:srgbClr val="0E2340"/>
                </a:solidFill>
                <a:latin typeface="Microsoft YaHei"/>
                <a:ea typeface="Microsoft YaHei"/>
              </a:rPr>
              <a:t>两条并行的生涯建档路线</a:t>
            </a:r>
            <a:endParaRPr/>
          </a:p>
        </p:txBody>
      </p:sp>
      <p:sp>
        <p:nvSpPr>
          <p:cNvPr id="2242" name=""/>
          <p:cNvSpPr/>
          <p:nvPr/>
        </p:nvSpPr>
        <p:spPr>
          <a:xfrm rot="0" flipH="0" flipV="0">
            <a:off x="800100" y="5029200"/>
            <a:ext cx="4953000" cy="600075"/>
          </a:xfrm>
          <a:prstGeom prst="roundRect">
            <a:avLst>
              <a:gd name="adj" fmla="val 9524"/>
            </a:avLst>
          </a:prstGeom>
          <a:solidFill>
            <a:srgbClr val="F5F7FA"/>
          </a:solidFill>
          <a:ln/>
        </p:spPr>
        <p:txBody>
          <a:bodyPr/>
          <a:p/>
        </p:txBody>
      </p:sp>
      <p:sp>
        <p:nvSpPr>
          <p:cNvPr id="2243" name=""/>
          <p:cNvSpPr/>
          <p:nvPr/>
        </p:nvSpPr>
        <p:spPr>
          <a:xfrm rot="0" flipH="0" flipV="0">
            <a:off x="800100" y="502920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2244" name="" descr="{&quot;isTemplate&quot;:true,&quot;type&quot;:&quot;text&quot;}"/>
          <p:cNvSpPr txBox="1"/>
          <p:nvPr/>
        </p:nvSpPr>
        <p:spPr>
          <a:xfrm rot="0" flipH="0" flipV="0">
            <a:off x="990600" y="5162550"/>
            <a:ext cx="2352675" cy="333375"/>
          </a:xfrm>
          <a:prstGeom prst="rect"/>
        </p:spPr>
        <p:txBody>
          <a:bodyPr wrap="none" lIns="0" tIns="0" rIns="0" bIns="0"/>
          <a:p>
            <a:pPr>
              <a:lnSpc>
                <a:spcPct val="150000"/>
              </a:lnSpc>
            </a:pPr>
            <a:r>
              <a:rPr lang="zh-CN" sz="1425" b="1">
                <a:solidFill>
                  <a:srgbClr val="0E2340"/>
                </a:solidFill>
                <a:latin typeface="Microsoft YaHei"/>
                <a:ea typeface="Microsoft YaHei"/>
              </a:rPr>
              <a:t>长期能力六维度与一对一助教</a:t>
            </a:r>
            <a:endParaRPr/>
          </a:p>
        </p:txBody>
      </p:sp>
      <p:sp>
        <p:nvSpPr>
          <p:cNvPr id="2245" name="" descr="{&quot;isTemplate&quot;:true,&quot;type&quot;:&quot;text&quot;}"/>
          <p:cNvSpPr txBox="1"/>
          <p:nvPr/>
        </p:nvSpPr>
        <p:spPr>
          <a:xfrm rot="0" flipH="0" flipV="0">
            <a:off x="762000" y="6134100"/>
            <a:ext cx="4953000" cy="228600"/>
          </a:xfrm>
          <a:prstGeom prst="rect"/>
        </p:spPr>
        <p:txBody>
          <a:bodyPr wrap="none" lIns="0" tIns="0" rIns="0" bIns="0"/>
          <a:p>
            <a:pPr>
              <a:lnSpc>
                <a:spcPct val="150000"/>
              </a:lnSpc>
            </a:pPr>
            <a:r>
              <a:rPr lang="zh-CN" sz="975">
                <a:solidFill>
                  <a:srgbClr val="7A8699"/>
                </a:solidFill>
                <a:latin typeface="Microsoft YaHei"/>
                <a:ea typeface="Microsoft YaHei"/>
              </a:rPr>
              <a:t>来源：试卷与生涯维度设计思路</a:t>
            </a:r>
            <a:r>
              <a:rPr lang="en-US" sz="975">
                <a:solidFill>
                  <a:srgbClr val="7A8699"/>
                </a:solidFill>
                <a:latin typeface="Microsoft YaHei"/>
                <a:ea typeface="Microsoft YaHei"/>
              </a:rPr>
              <a:t>.md</a:t>
            </a:r>
            <a:r>
              <a:rPr lang="zh-CN" sz="975">
                <a:solidFill>
                  <a:srgbClr val="7A8699"/>
                </a:solidFill>
                <a:latin typeface="Microsoft YaHei"/>
                <a:ea typeface="Microsoft YaHei"/>
              </a:rPr>
              <a:t>（更新日期</a:t>
            </a:r>
            <a:r>
              <a:rPr lang="en-US" sz="975">
                <a:solidFill>
                  <a:srgbClr val="7A8699"/>
                </a:solidFill>
                <a:latin typeface="Microsoft YaHei"/>
                <a:ea typeface="Microsoft YaHei"/>
              </a:rPr>
              <a:t xml:space="preserve"> 2026-10-25</a:t>
            </a:r>
            <a:r>
              <a:rPr lang="zh-CN" sz="975">
                <a:solidFill>
                  <a:srgbClr val="7A8699"/>
                </a:solidFill>
                <a:latin typeface="Microsoft YaHei"/>
                <a:ea typeface="Microsoft YaHei"/>
              </a:rPr>
              <a:t>）</a:t>
            </a:r>
            <a:endParaRPr/>
          </a:p>
        </p:txBody>
      </p:sp>
      <p:sp>
        <p:nvSpPr>
          <p:cNvPr id="2246" name="" descr="{&quot;isTemplate&quot;:true,&quot;type&quot;:&quot;text&quot;}"/>
          <p:cNvSpPr txBox="1"/>
          <p:nvPr/>
        </p:nvSpPr>
        <p:spPr>
          <a:xfrm rot="0" flipH="0" flipV="0">
            <a:off x="6134100" y="457200"/>
            <a:ext cx="5295900" cy="323850"/>
          </a:xfrm>
          <a:prstGeom prst="rect"/>
        </p:spPr>
        <p:txBody>
          <a:bodyPr wrap="none" lIns="0" tIns="0" rIns="0" bIns="0"/>
          <a:p>
            <a:pPr>
              <a:lnSpc>
                <a:spcPct val="140000"/>
              </a:lnSpc>
            </a:pPr>
            <a:r>
              <a:rPr lang="zh-CN" sz="1500" b="1">
                <a:solidFill>
                  <a:srgbClr val="0E2340"/>
                </a:solidFill>
                <a:latin typeface="Microsoft YaHei"/>
                <a:ea typeface="Microsoft YaHei"/>
              </a:rPr>
              <a:t>汇报结构</a:t>
            </a:r>
            <a:r>
              <a:rPr lang="en-US" sz="1500" b="1">
                <a:solidFill>
                  <a:srgbClr val="0E2340"/>
                </a:solidFill>
                <a:latin typeface="Microsoft YaHei"/>
                <a:ea typeface="Microsoft YaHei"/>
              </a:rPr>
              <a:t xml:space="preserve"> · 13 </a:t>
            </a:r>
            <a:r>
              <a:rPr lang="zh-CN" sz="1500" b="1">
                <a:solidFill>
                  <a:srgbClr val="0E2340"/>
                </a:solidFill>
                <a:latin typeface="Microsoft YaHei"/>
                <a:ea typeface="Microsoft YaHei"/>
              </a:rPr>
              <a:t>章</a:t>
            </a:r>
            <a:endParaRPr/>
          </a:p>
        </p:txBody>
      </p:sp>
      <p:sp>
        <p:nvSpPr>
          <p:cNvPr id="2247" name=""/>
          <p:cNvSpPr/>
          <p:nvPr/>
        </p:nvSpPr>
        <p:spPr>
          <a:xfrm rot="0" flipH="0" flipV="0">
            <a:off x="6134100" y="1019175"/>
            <a:ext cx="1638300" cy="609600"/>
          </a:xfrm>
          <a:prstGeom prst="roundRect">
            <a:avLst>
              <a:gd name="adj" fmla="val 9375"/>
            </a:avLst>
          </a:prstGeom>
          <a:solidFill>
            <a:srgbClr val="F5F7FA"/>
          </a:solidFill>
          <a:ln/>
        </p:spPr>
        <p:txBody>
          <a:bodyPr/>
          <a:p/>
        </p:txBody>
      </p:sp>
      <p:sp>
        <p:nvSpPr>
          <p:cNvPr id="2248" name="" descr="{&quot;isTemplate&quot;:true,&quot;type&quot;:&quot;text&quot;}"/>
          <p:cNvSpPr txBox="1"/>
          <p:nvPr/>
        </p:nvSpPr>
        <p:spPr>
          <a:xfrm rot="0" flipH="0" flipV="0">
            <a:off x="62484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01</a:t>
            </a:r>
            <a:endParaRPr/>
          </a:p>
        </p:txBody>
      </p:sp>
      <p:sp>
        <p:nvSpPr>
          <p:cNvPr id="2249" name="" descr="{&quot;isTemplate&quot;:true,&quot;type&quot;:&quot;text&quot;}"/>
          <p:cNvSpPr txBox="1"/>
          <p:nvPr/>
        </p:nvSpPr>
        <p:spPr>
          <a:xfrm rot="0" flipH="0" flipV="0">
            <a:off x="62484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概念地基</a:t>
            </a:r>
            <a:endParaRPr/>
          </a:p>
        </p:txBody>
      </p:sp>
      <p:sp>
        <p:nvSpPr>
          <p:cNvPr id="2250" name=""/>
          <p:cNvSpPr/>
          <p:nvPr/>
        </p:nvSpPr>
        <p:spPr>
          <a:xfrm rot="0" flipH="0" flipV="0">
            <a:off x="7867650" y="1019175"/>
            <a:ext cx="1638300" cy="609600"/>
          </a:xfrm>
          <a:prstGeom prst="roundRect">
            <a:avLst>
              <a:gd name="adj" fmla="val 9375"/>
            </a:avLst>
          </a:prstGeom>
          <a:solidFill>
            <a:srgbClr val="F5F7FA"/>
          </a:solidFill>
          <a:ln/>
        </p:spPr>
        <p:txBody>
          <a:bodyPr/>
          <a:p/>
        </p:txBody>
      </p:sp>
      <p:sp>
        <p:nvSpPr>
          <p:cNvPr id="2251" name="" descr="{&quot;isTemplate&quot;:true,&quot;type&quot;:&quot;text&quot;}"/>
          <p:cNvSpPr txBox="1"/>
          <p:nvPr/>
        </p:nvSpPr>
        <p:spPr>
          <a:xfrm rot="0" flipH="0" flipV="0">
            <a:off x="798195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02</a:t>
            </a:r>
            <a:endParaRPr/>
          </a:p>
        </p:txBody>
      </p:sp>
      <p:sp>
        <p:nvSpPr>
          <p:cNvPr id="2252" name="" descr="{&quot;isTemplate&quot;:true,&quot;type&quot;:&quot;text&quot;}"/>
          <p:cNvSpPr txBox="1"/>
          <p:nvPr/>
        </p:nvSpPr>
        <p:spPr>
          <a:xfrm rot="0" flipH="0" flipV="0">
            <a:off x="798195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现状盘点</a:t>
            </a:r>
            <a:endParaRPr/>
          </a:p>
        </p:txBody>
      </p:sp>
      <p:sp>
        <p:nvSpPr>
          <p:cNvPr id="2253" name=""/>
          <p:cNvSpPr/>
          <p:nvPr/>
        </p:nvSpPr>
        <p:spPr>
          <a:xfrm rot="0" flipH="0" flipV="0">
            <a:off x="9601200" y="1019175"/>
            <a:ext cx="1638300" cy="609600"/>
          </a:xfrm>
          <a:prstGeom prst="roundRect">
            <a:avLst>
              <a:gd name="adj" fmla="val 9375"/>
            </a:avLst>
          </a:prstGeom>
          <a:solidFill>
            <a:srgbClr val="F5F7FA"/>
          </a:solidFill>
          <a:ln/>
        </p:spPr>
        <p:txBody>
          <a:bodyPr/>
          <a:p/>
        </p:txBody>
      </p:sp>
      <p:sp>
        <p:nvSpPr>
          <p:cNvPr id="2254" name="" descr="{&quot;isTemplate&quot;:true,&quot;type&quot;:&quot;text&quot;}"/>
          <p:cNvSpPr txBox="1"/>
          <p:nvPr/>
        </p:nvSpPr>
        <p:spPr>
          <a:xfrm rot="0" flipH="0" flipV="0">
            <a:off x="97155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03</a:t>
            </a:r>
            <a:endParaRPr/>
          </a:p>
        </p:txBody>
      </p:sp>
      <p:sp>
        <p:nvSpPr>
          <p:cNvPr id="2255" name="" descr="{&quot;isTemplate&quot;:true,&quot;type&quot;:&quot;text&quot;}"/>
          <p:cNvSpPr txBox="1"/>
          <p:nvPr/>
        </p:nvSpPr>
        <p:spPr>
          <a:xfrm rot="0" flipH="0" flipV="0">
            <a:off x="97155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单题引擎</a:t>
            </a:r>
            <a:endParaRPr/>
          </a:p>
        </p:txBody>
      </p:sp>
      <p:sp>
        <p:nvSpPr>
          <p:cNvPr id="2256" name=""/>
          <p:cNvSpPr/>
          <p:nvPr/>
        </p:nvSpPr>
        <p:spPr>
          <a:xfrm rot="0" flipH="0" flipV="0">
            <a:off x="6134100" y="1724025"/>
            <a:ext cx="1638300" cy="609600"/>
          </a:xfrm>
          <a:prstGeom prst="roundRect">
            <a:avLst>
              <a:gd name="adj" fmla="val 9375"/>
            </a:avLst>
          </a:prstGeom>
          <a:solidFill>
            <a:srgbClr val="F5F7FA"/>
          </a:solidFill>
          <a:ln/>
        </p:spPr>
        <p:txBody>
          <a:bodyPr/>
          <a:p/>
        </p:txBody>
      </p:sp>
      <p:sp>
        <p:nvSpPr>
          <p:cNvPr id="2257" name="" descr="{&quot;isTemplate&quot;:true,&quot;type&quot;:&quot;text&quot;}"/>
          <p:cNvSpPr txBox="1"/>
          <p:nvPr/>
        </p:nvSpPr>
        <p:spPr>
          <a:xfrm rot="0" flipH="0" flipV="0">
            <a:off x="62484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04</a:t>
            </a:r>
            <a:endParaRPr/>
          </a:p>
        </p:txBody>
      </p:sp>
      <p:sp>
        <p:nvSpPr>
          <p:cNvPr id="2258" name="" descr="{&quot;isTemplate&quot;:true,&quot;type&quot;:&quot;text&quot;}"/>
          <p:cNvSpPr txBox="1"/>
          <p:nvPr/>
        </p:nvSpPr>
        <p:spPr>
          <a:xfrm rot="0" flipH="0" flipV="0">
            <a:off x="62484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套路层面</a:t>
            </a:r>
            <a:endParaRPr/>
          </a:p>
        </p:txBody>
      </p:sp>
      <p:sp>
        <p:nvSpPr>
          <p:cNvPr id="2259" name=""/>
          <p:cNvSpPr/>
          <p:nvPr/>
        </p:nvSpPr>
        <p:spPr>
          <a:xfrm rot="0" flipH="0" flipV="0">
            <a:off x="7867650" y="1724025"/>
            <a:ext cx="1638300" cy="609600"/>
          </a:xfrm>
          <a:prstGeom prst="roundRect">
            <a:avLst>
              <a:gd name="adj" fmla="val 9375"/>
            </a:avLst>
          </a:prstGeom>
          <a:solidFill>
            <a:srgbClr val="F5F7FA"/>
          </a:solidFill>
          <a:ln/>
        </p:spPr>
        <p:txBody>
          <a:bodyPr/>
          <a:p/>
        </p:txBody>
      </p:sp>
      <p:sp>
        <p:nvSpPr>
          <p:cNvPr id="2260" name="" descr="{&quot;isTemplate&quot;:true,&quot;type&quot;:&quot;text&quot;}"/>
          <p:cNvSpPr txBox="1"/>
          <p:nvPr/>
        </p:nvSpPr>
        <p:spPr>
          <a:xfrm rot="0" flipH="0" flipV="0">
            <a:off x="798195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05</a:t>
            </a:r>
            <a:endParaRPr/>
          </a:p>
        </p:txBody>
      </p:sp>
      <p:sp>
        <p:nvSpPr>
          <p:cNvPr id="2261" name="" descr="{&quot;isTemplate&quot;:true,&quot;type&quot;:&quot;text&quot;}"/>
          <p:cNvSpPr txBox="1"/>
          <p:nvPr/>
        </p:nvSpPr>
        <p:spPr>
          <a:xfrm rot="0" flipH="0" flipV="0">
            <a:off x="798195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教师端</a:t>
            </a:r>
            <a:endParaRPr/>
          </a:p>
        </p:txBody>
      </p:sp>
      <p:sp>
        <p:nvSpPr>
          <p:cNvPr id="2262" name=""/>
          <p:cNvSpPr/>
          <p:nvPr/>
        </p:nvSpPr>
        <p:spPr>
          <a:xfrm rot="0" flipH="0" flipV="0">
            <a:off x="9601200" y="1724025"/>
            <a:ext cx="1638300" cy="609600"/>
          </a:xfrm>
          <a:prstGeom prst="roundRect">
            <a:avLst>
              <a:gd name="adj" fmla="val 9375"/>
            </a:avLst>
          </a:prstGeom>
          <a:solidFill>
            <a:srgbClr val="F5F7FA"/>
          </a:solidFill>
          <a:ln/>
        </p:spPr>
        <p:txBody>
          <a:bodyPr/>
          <a:p/>
        </p:txBody>
      </p:sp>
      <p:sp>
        <p:nvSpPr>
          <p:cNvPr id="2263" name="" descr="{&quot;isTemplate&quot;:true,&quot;type&quot;:&quot;text&quot;}"/>
          <p:cNvSpPr txBox="1"/>
          <p:nvPr/>
        </p:nvSpPr>
        <p:spPr>
          <a:xfrm rot="0" flipH="0" flipV="0">
            <a:off x="97155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06</a:t>
            </a:r>
            <a:endParaRPr/>
          </a:p>
        </p:txBody>
      </p:sp>
      <p:sp>
        <p:nvSpPr>
          <p:cNvPr id="2264" name="" descr="{&quot;isTemplate&quot;:true,&quot;type&quot;:&quot;text&quot;}"/>
          <p:cNvSpPr txBox="1"/>
          <p:nvPr/>
        </p:nvSpPr>
        <p:spPr>
          <a:xfrm rot="0" flipH="0" flipV="0">
            <a:off x="97155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学校端</a:t>
            </a:r>
            <a:endParaRPr/>
          </a:p>
        </p:txBody>
      </p:sp>
      <p:sp>
        <p:nvSpPr>
          <p:cNvPr id="2265" name=""/>
          <p:cNvSpPr/>
          <p:nvPr/>
        </p:nvSpPr>
        <p:spPr>
          <a:xfrm rot="0" flipH="0" flipV="0">
            <a:off x="6134100" y="2428875"/>
            <a:ext cx="1638300" cy="609600"/>
          </a:xfrm>
          <a:prstGeom prst="roundRect">
            <a:avLst>
              <a:gd name="adj" fmla="val 9375"/>
            </a:avLst>
          </a:prstGeom>
          <a:solidFill>
            <a:srgbClr val="0E2340"/>
          </a:solidFill>
          <a:ln/>
        </p:spPr>
        <p:txBody>
          <a:bodyPr/>
          <a:p/>
        </p:txBody>
      </p:sp>
      <p:sp>
        <p:nvSpPr>
          <p:cNvPr id="2266" name="" descr="{&quot;isTemplate&quot;:true,&quot;type&quot;:&quot;text&quot;}"/>
          <p:cNvSpPr txBox="1"/>
          <p:nvPr/>
        </p:nvSpPr>
        <p:spPr>
          <a:xfrm rot="0" flipH="0" flipV="0">
            <a:off x="6248400" y="2514600"/>
            <a:ext cx="1409700" cy="247650"/>
          </a:xfrm>
          <a:prstGeom prst="rect"/>
        </p:spPr>
        <p:txBody>
          <a:bodyPr wrap="none" lIns="0" tIns="0" rIns="0" bIns="0"/>
          <a:p>
            <a:pPr>
              <a:lnSpc>
                <a:spcPct val="120000"/>
              </a:lnSpc>
            </a:pPr>
            <a:r>
              <a:rPr lang="en-US" sz="1350" b="1">
                <a:solidFill>
                  <a:srgbClr val="FFFFFF"/>
                </a:solidFill>
                <a:latin typeface="Microsoft YaHei"/>
                <a:ea typeface="Microsoft YaHei"/>
              </a:rPr>
              <a:t>07</a:t>
            </a:r>
            <a:endParaRPr/>
          </a:p>
        </p:txBody>
      </p:sp>
      <p:sp>
        <p:nvSpPr>
          <p:cNvPr id="2267" name="" descr="{&quot;isTemplate&quot;:true,&quot;type&quot;:&quot;text&quot;}"/>
          <p:cNvSpPr txBox="1"/>
          <p:nvPr/>
        </p:nvSpPr>
        <p:spPr>
          <a:xfrm rot="0" flipH="0" flipV="0">
            <a:off x="6248400" y="2762250"/>
            <a:ext cx="1409700" cy="200025"/>
          </a:xfrm>
          <a:prstGeom prst="rect"/>
        </p:spPr>
        <p:txBody>
          <a:bodyPr wrap="none" lIns="0" tIns="0" rIns="0" bIns="0"/>
          <a:p>
            <a:pPr>
              <a:lnSpc>
                <a:spcPct val="130000"/>
              </a:lnSpc>
            </a:pPr>
            <a:r>
              <a:rPr lang="zh-CN" sz="975">
                <a:solidFill>
                  <a:srgbClr val="C8DCF2"/>
                </a:solidFill>
                <a:latin typeface="Microsoft YaHei"/>
                <a:ea typeface="Microsoft YaHei"/>
              </a:rPr>
              <a:t>试卷与生涯</a:t>
            </a:r>
            <a:endParaRPr/>
          </a:p>
        </p:txBody>
      </p:sp>
      <p:sp>
        <p:nvSpPr>
          <p:cNvPr id="2268" name=""/>
          <p:cNvSpPr/>
          <p:nvPr/>
        </p:nvSpPr>
        <p:spPr>
          <a:xfrm rot="0" flipH="0" flipV="0">
            <a:off x="7867650" y="2428875"/>
            <a:ext cx="1638300" cy="609600"/>
          </a:xfrm>
          <a:prstGeom prst="roundRect">
            <a:avLst>
              <a:gd name="adj" fmla="val 9375"/>
            </a:avLst>
          </a:prstGeom>
          <a:solidFill>
            <a:srgbClr val="F5F7FA"/>
          </a:solidFill>
          <a:ln/>
        </p:spPr>
        <p:txBody>
          <a:bodyPr/>
          <a:p/>
        </p:txBody>
      </p:sp>
      <p:sp>
        <p:nvSpPr>
          <p:cNvPr id="2269" name="" descr="{&quot;isTemplate&quot;:true,&quot;type&quot;:&quot;text&quot;}"/>
          <p:cNvSpPr txBox="1"/>
          <p:nvPr/>
        </p:nvSpPr>
        <p:spPr>
          <a:xfrm rot="0" flipH="0" flipV="0">
            <a:off x="798195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08</a:t>
            </a:r>
            <a:endParaRPr/>
          </a:p>
        </p:txBody>
      </p:sp>
      <p:sp>
        <p:nvSpPr>
          <p:cNvPr id="2270" name="" descr="{&quot;isTemplate&quot;:true,&quot;type&quot;:&quot;text&quot;}"/>
          <p:cNvSpPr txBox="1"/>
          <p:nvPr/>
        </p:nvSpPr>
        <p:spPr>
          <a:xfrm rot="0" flipH="0" flipV="0">
            <a:off x="798195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协同</a:t>
            </a:r>
            <a:r>
              <a:rPr lang="en-US" sz="975">
                <a:solidFill>
                  <a:srgbClr val="7A8699"/>
                </a:solidFill>
                <a:latin typeface="Microsoft YaHei"/>
                <a:ea typeface="Microsoft YaHei"/>
              </a:rPr>
              <a:t xml:space="preserve"> Agent</a:t>
            </a:r>
            <a:endParaRPr/>
          </a:p>
        </p:txBody>
      </p:sp>
      <p:sp>
        <p:nvSpPr>
          <p:cNvPr id="2271" name=""/>
          <p:cNvSpPr/>
          <p:nvPr/>
        </p:nvSpPr>
        <p:spPr>
          <a:xfrm rot="0" flipH="0" flipV="0">
            <a:off x="9601200" y="2428875"/>
            <a:ext cx="1638300" cy="609600"/>
          </a:xfrm>
          <a:prstGeom prst="roundRect">
            <a:avLst>
              <a:gd name="adj" fmla="val 9375"/>
            </a:avLst>
          </a:prstGeom>
          <a:solidFill>
            <a:srgbClr val="F5F7FA"/>
          </a:solidFill>
          <a:ln/>
        </p:spPr>
        <p:txBody>
          <a:bodyPr/>
          <a:p/>
        </p:txBody>
      </p:sp>
      <p:sp>
        <p:nvSpPr>
          <p:cNvPr id="2272" name="" descr="{&quot;isTemplate&quot;:true,&quot;type&quot;:&quot;text&quot;}"/>
          <p:cNvSpPr txBox="1"/>
          <p:nvPr/>
        </p:nvSpPr>
        <p:spPr>
          <a:xfrm rot="0" flipH="0" flipV="0">
            <a:off x="97155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09</a:t>
            </a:r>
            <a:endParaRPr/>
          </a:p>
        </p:txBody>
      </p:sp>
      <p:sp>
        <p:nvSpPr>
          <p:cNvPr id="2273" name="" descr="{&quot;isTemplate&quot;:true,&quot;type&quot;:&quot;text&quot;}"/>
          <p:cNvSpPr txBox="1"/>
          <p:nvPr/>
        </p:nvSpPr>
        <p:spPr>
          <a:xfrm rot="0" flipH="0" flipV="0">
            <a:off x="9715500" y="2762250"/>
            <a:ext cx="1409700" cy="200025"/>
          </a:xfrm>
          <a:prstGeom prst="rect"/>
        </p:spPr>
        <p:txBody>
          <a:bodyPr wrap="none" lIns="0" tIns="0" rIns="0" bIns="0"/>
          <a:p>
            <a:pPr>
              <a:lnSpc>
                <a:spcPct val="130000"/>
              </a:lnSpc>
            </a:pPr>
            <a:r>
              <a:rPr lang="en-US" sz="975">
                <a:solidFill>
                  <a:srgbClr val="7A8699"/>
                </a:solidFill>
                <a:latin typeface="Microsoft YaHei"/>
                <a:ea typeface="Microsoft YaHei"/>
              </a:rPr>
              <a:t xml:space="preserve">MCP </a:t>
            </a:r>
            <a:r>
              <a:rPr lang="zh-CN" sz="975">
                <a:solidFill>
                  <a:srgbClr val="7A8699"/>
                </a:solidFill>
                <a:latin typeface="Microsoft YaHei"/>
                <a:ea typeface="Microsoft YaHei"/>
              </a:rPr>
              <a:t>接入</a:t>
            </a:r>
            <a:endParaRPr/>
          </a:p>
        </p:txBody>
      </p:sp>
      <p:sp>
        <p:nvSpPr>
          <p:cNvPr id="2274" name=""/>
          <p:cNvSpPr/>
          <p:nvPr/>
        </p:nvSpPr>
        <p:spPr>
          <a:xfrm rot="0" flipH="0" flipV="0">
            <a:off x="6134100" y="3133725"/>
            <a:ext cx="1638300" cy="609600"/>
          </a:xfrm>
          <a:prstGeom prst="roundRect">
            <a:avLst>
              <a:gd name="adj" fmla="val 9375"/>
            </a:avLst>
          </a:prstGeom>
          <a:solidFill>
            <a:srgbClr val="F5F7FA"/>
          </a:solidFill>
          <a:ln/>
        </p:spPr>
        <p:txBody>
          <a:bodyPr/>
          <a:p/>
        </p:txBody>
      </p:sp>
      <p:sp>
        <p:nvSpPr>
          <p:cNvPr id="2275" name="" descr="{&quot;isTemplate&quot;:true,&quot;type&quot;:&quot;text&quot;}"/>
          <p:cNvSpPr txBox="1"/>
          <p:nvPr/>
        </p:nvSpPr>
        <p:spPr>
          <a:xfrm rot="0" flipH="0" flipV="0">
            <a:off x="62484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10</a:t>
            </a:r>
            <a:endParaRPr/>
          </a:p>
        </p:txBody>
      </p:sp>
      <p:sp>
        <p:nvSpPr>
          <p:cNvPr id="2276" name="" descr="{&quot;isTemplate&quot;:true,&quot;type&quot;:&quot;text&quot;}"/>
          <p:cNvSpPr txBox="1"/>
          <p:nvPr/>
        </p:nvSpPr>
        <p:spPr>
          <a:xfrm rot="0" flipH="0" flipV="0">
            <a:off x="62484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待深化研究</a:t>
            </a:r>
            <a:endParaRPr/>
          </a:p>
        </p:txBody>
      </p:sp>
      <p:sp>
        <p:nvSpPr>
          <p:cNvPr id="2277" name=""/>
          <p:cNvSpPr/>
          <p:nvPr/>
        </p:nvSpPr>
        <p:spPr>
          <a:xfrm rot="0" flipH="0" flipV="0">
            <a:off x="7867650" y="3133725"/>
            <a:ext cx="1638300" cy="609600"/>
          </a:xfrm>
          <a:prstGeom prst="roundRect">
            <a:avLst>
              <a:gd name="adj" fmla="val 9375"/>
            </a:avLst>
          </a:prstGeom>
          <a:solidFill>
            <a:srgbClr val="F5F7FA"/>
          </a:solidFill>
          <a:ln/>
        </p:spPr>
        <p:txBody>
          <a:bodyPr/>
          <a:p/>
        </p:txBody>
      </p:sp>
      <p:sp>
        <p:nvSpPr>
          <p:cNvPr id="2278" name="" descr="{&quot;isTemplate&quot;:true,&quot;type&quot;:&quot;text&quot;}"/>
          <p:cNvSpPr txBox="1"/>
          <p:nvPr/>
        </p:nvSpPr>
        <p:spPr>
          <a:xfrm rot="0" flipH="0" flipV="0">
            <a:off x="798195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11</a:t>
            </a:r>
            <a:endParaRPr/>
          </a:p>
        </p:txBody>
      </p:sp>
      <p:sp>
        <p:nvSpPr>
          <p:cNvPr id="2279" name="" descr="{&quot;isTemplate&quot;:true,&quot;type&quot;:&quot;text&quot;}"/>
          <p:cNvSpPr txBox="1"/>
          <p:nvPr/>
        </p:nvSpPr>
        <p:spPr>
          <a:xfrm rot="0" flipH="0" flipV="0">
            <a:off x="798195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落地与边界</a:t>
            </a:r>
            <a:endParaRPr/>
          </a:p>
        </p:txBody>
      </p:sp>
      <p:sp>
        <p:nvSpPr>
          <p:cNvPr id="2280" name=""/>
          <p:cNvSpPr/>
          <p:nvPr/>
        </p:nvSpPr>
        <p:spPr>
          <a:xfrm rot="0" flipH="0" flipV="0">
            <a:off x="9601200" y="3133725"/>
            <a:ext cx="1638300" cy="609600"/>
          </a:xfrm>
          <a:prstGeom prst="roundRect">
            <a:avLst>
              <a:gd name="adj" fmla="val 9375"/>
            </a:avLst>
          </a:prstGeom>
          <a:solidFill>
            <a:srgbClr val="F5F7FA"/>
          </a:solidFill>
          <a:ln/>
        </p:spPr>
        <p:txBody>
          <a:bodyPr/>
          <a:p/>
        </p:txBody>
      </p:sp>
      <p:sp>
        <p:nvSpPr>
          <p:cNvPr id="2281" name="" descr="{&quot;isTemplate&quot;:true,&quot;type&quot;:&quot;text&quot;}"/>
          <p:cNvSpPr txBox="1"/>
          <p:nvPr/>
        </p:nvSpPr>
        <p:spPr>
          <a:xfrm rot="0" flipH="0" flipV="0">
            <a:off x="97155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12</a:t>
            </a:r>
            <a:endParaRPr/>
          </a:p>
        </p:txBody>
      </p:sp>
      <p:sp>
        <p:nvSpPr>
          <p:cNvPr id="2282" name="" descr="{&quot;isTemplate&quot;:true,&quot;type&quot;:&quot;text&quot;}"/>
          <p:cNvSpPr txBox="1"/>
          <p:nvPr/>
        </p:nvSpPr>
        <p:spPr>
          <a:xfrm rot="0" flipH="0" flipV="0">
            <a:off x="97155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自进化与扩展</a:t>
            </a:r>
            <a:endParaRPr/>
          </a:p>
        </p:txBody>
      </p:sp>
      <p:sp>
        <p:nvSpPr>
          <p:cNvPr id="2283" name=""/>
          <p:cNvSpPr/>
          <p:nvPr/>
        </p:nvSpPr>
        <p:spPr>
          <a:xfrm rot="0" flipH="0" flipV="0">
            <a:off x="6134100" y="3838575"/>
            <a:ext cx="1638300" cy="609600"/>
          </a:xfrm>
          <a:prstGeom prst="roundRect">
            <a:avLst>
              <a:gd name="adj" fmla="val 9375"/>
            </a:avLst>
          </a:prstGeom>
          <a:solidFill>
            <a:srgbClr val="F5F7FA"/>
          </a:solidFill>
          <a:ln/>
        </p:spPr>
        <p:txBody>
          <a:bodyPr/>
          <a:p/>
        </p:txBody>
      </p:sp>
      <p:sp>
        <p:nvSpPr>
          <p:cNvPr id="2284" name="" descr="{&quot;isTemplate&quot;:true,&quot;type&quot;:&quot;text&quot;}"/>
          <p:cNvSpPr txBox="1"/>
          <p:nvPr/>
        </p:nvSpPr>
        <p:spPr>
          <a:xfrm rot="0" flipH="0" flipV="0">
            <a:off x="6248400" y="39243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13</a:t>
            </a:r>
            <a:endParaRPr/>
          </a:p>
        </p:txBody>
      </p:sp>
      <p:sp>
        <p:nvSpPr>
          <p:cNvPr id="2285" name="" descr="{&quot;isTemplate&quot;:true,&quot;type&quot;:&quot;text&quot;}"/>
          <p:cNvSpPr txBox="1"/>
          <p:nvPr/>
        </p:nvSpPr>
        <p:spPr>
          <a:xfrm rot="0" flipH="0" flipV="0">
            <a:off x="6248400" y="41719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收尾</a:t>
            </a:r>
            <a:endParaRPr/>
          </a:p>
        </p:txBody>
      </p:sp>
      <p:sp>
        <p:nvSpPr>
          <p:cNvPr id="2286" name=""/>
          <p:cNvSpPr/>
          <p:nvPr/>
        </p:nvSpPr>
        <p:spPr>
          <a:xfrm rot="0" flipH="0" flipV="0">
            <a:off x="6134100" y="4686300"/>
            <a:ext cx="5295900" cy="438150"/>
          </a:xfrm>
          <a:prstGeom prst="roundRect">
            <a:avLst>
              <a:gd name="adj" fmla="val 13043"/>
            </a:avLst>
          </a:prstGeom>
          <a:solidFill>
            <a:srgbClr val="F5F7FA"/>
          </a:solidFill>
          <a:ln/>
        </p:spPr>
        <p:txBody>
          <a:bodyPr/>
          <a:p/>
        </p:txBody>
      </p:sp>
      <p:sp>
        <p:nvSpPr>
          <p:cNvPr id="2287" name=""/>
          <p:cNvSpPr/>
          <p:nvPr/>
        </p:nvSpPr>
        <p:spPr>
          <a:xfrm rot="0" flipH="0" flipV="0">
            <a:off x="6267450" y="4800600"/>
            <a:ext cx="57150" cy="209550"/>
          </a:xfrm>
          <a:prstGeom prst="rect">
            <a:avLst/>
          </a:prstGeom>
          <a:solidFill>
            <a:srgbClr val="00A9B5"/>
          </a:solidFill>
          <a:ln/>
        </p:spPr>
        <p:txBody>
          <a:bodyPr/>
          <a:p/>
        </p:txBody>
      </p:sp>
      <p:sp>
        <p:nvSpPr>
          <p:cNvPr id="2288" name="" descr="{&quot;isTemplate&quot;:true,&quot;type&quot;:&quot;text&quot;}"/>
          <p:cNvSpPr txBox="1"/>
          <p:nvPr/>
        </p:nvSpPr>
        <p:spPr>
          <a:xfrm rot="0" flipH="0" flipV="0">
            <a:off x="6419850" y="4781550"/>
            <a:ext cx="2085975" cy="247650"/>
          </a:xfrm>
          <a:prstGeom prst="rect"/>
        </p:spPr>
        <p:txBody>
          <a:bodyPr wrap="none" lIns="0" tIns="0" rIns="0" bIns="0"/>
          <a:p>
            <a:pPr>
              <a:lnSpc>
                <a:spcPct val="140000"/>
              </a:lnSpc>
            </a:pPr>
            <a:r>
              <a:rPr lang="zh-CN" sz="1125" b="1">
                <a:solidFill>
                  <a:srgbClr val="0E2340"/>
                </a:solidFill>
                <a:latin typeface="Microsoft YaHei"/>
                <a:ea typeface="Microsoft YaHei"/>
              </a:rPr>
              <a:t>当前位置：第</a:t>
            </a:r>
            <a:r>
              <a:rPr lang="en-US" sz="1125" b="1">
                <a:solidFill>
                  <a:srgbClr val="0E2340"/>
                </a:solidFill>
                <a:latin typeface="Microsoft YaHei"/>
                <a:ea typeface="Microsoft YaHei"/>
              </a:rPr>
              <a:t xml:space="preserve"> 07 </a:t>
            </a:r>
            <a:r>
              <a:rPr lang="zh-CN" sz="1125" b="1">
                <a:solidFill>
                  <a:srgbClr val="0E2340"/>
                </a:solidFill>
                <a:latin typeface="Microsoft YaHei"/>
                <a:ea typeface="Microsoft YaHei"/>
              </a:rPr>
              <a:t>章</a:t>
            </a:r>
            <a:r>
              <a:rPr lang="en-US" sz="1125" b="1">
                <a:solidFill>
                  <a:srgbClr val="0E2340"/>
                </a:solidFill>
                <a:latin typeface="Microsoft YaHei"/>
                <a:ea typeface="Microsoft YaHei"/>
              </a:rPr>
              <a:t xml:space="preserve"> · </a:t>
            </a:r>
            <a:r>
              <a:rPr lang="zh-CN" sz="1125" b="1">
                <a:solidFill>
                  <a:srgbClr val="0E2340"/>
                </a:solidFill>
                <a:latin typeface="Microsoft YaHei"/>
                <a:ea typeface="Microsoft YaHei"/>
              </a:rPr>
              <a:t>试卷与生涯</a:t>
            </a:r>
            <a:endParaRPr/>
          </a:p>
        </p:txBody>
      </p:sp>
      <p:sp>
        <p:nvSpPr>
          <p:cNvPr id="2289" name=""/>
          <p:cNvSpPr/>
          <p:nvPr/>
        </p:nvSpPr>
        <p:spPr>
          <a:xfrm rot="0" flipH="0" flipV="0">
            <a:off x="6134100" y="5353050"/>
            <a:ext cx="1257300" cy="381000"/>
          </a:xfrm>
          <a:prstGeom prst="roundRect">
            <a:avLst>
              <a:gd name="adj" fmla="val 15000"/>
            </a:avLst>
          </a:prstGeom>
          <a:solidFill>
            <a:srgbClr val="F5F7FA"/>
          </a:solidFill>
          <a:ln/>
        </p:spPr>
        <p:txBody>
          <a:bodyPr/>
          <a:p/>
        </p:txBody>
      </p:sp>
      <p:sp>
        <p:nvSpPr>
          <p:cNvPr id="2290" name=""/>
          <p:cNvSpPr/>
          <p:nvPr/>
        </p:nvSpPr>
        <p:spPr>
          <a:xfrm rot="0" flipH="0" flipV="0">
            <a:off x="6229350" y="5495925"/>
            <a:ext cx="95250" cy="95250"/>
          </a:xfrm>
          <a:prstGeom prst="roundRect">
            <a:avLst>
              <a:gd name="adj" fmla="val 50000"/>
            </a:avLst>
          </a:prstGeom>
          <a:solidFill>
            <a:srgbClr val="1E9E62"/>
          </a:solidFill>
          <a:ln/>
        </p:spPr>
        <p:txBody>
          <a:bodyPr/>
          <a:p/>
        </p:txBody>
      </p:sp>
      <p:sp>
        <p:nvSpPr>
          <p:cNvPr id="2291" name="" descr="{&quot;isTemplate&quot;:true,&quot;type&quot;:&quot;text&quot;}"/>
          <p:cNvSpPr txBox="1"/>
          <p:nvPr/>
        </p:nvSpPr>
        <p:spPr>
          <a:xfrm rot="0" flipH="0" flipV="0">
            <a:off x="6400800"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已实现</a:t>
            </a:r>
            <a:endParaRPr/>
          </a:p>
        </p:txBody>
      </p:sp>
      <p:sp>
        <p:nvSpPr>
          <p:cNvPr id="2292" name=""/>
          <p:cNvSpPr/>
          <p:nvPr/>
        </p:nvSpPr>
        <p:spPr>
          <a:xfrm rot="0" flipH="0" flipV="0">
            <a:off x="7486650" y="5353050"/>
            <a:ext cx="1247775" cy="381000"/>
          </a:xfrm>
          <a:prstGeom prst="roundRect">
            <a:avLst>
              <a:gd name="adj" fmla="val 15000"/>
            </a:avLst>
          </a:prstGeom>
          <a:solidFill>
            <a:srgbClr val="F5F7FA"/>
          </a:solidFill>
          <a:ln/>
        </p:spPr>
        <p:txBody>
          <a:bodyPr/>
          <a:p/>
        </p:txBody>
      </p:sp>
      <p:sp>
        <p:nvSpPr>
          <p:cNvPr id="2293" name=""/>
          <p:cNvSpPr/>
          <p:nvPr/>
        </p:nvSpPr>
        <p:spPr>
          <a:xfrm rot="0" flipH="0" flipV="0">
            <a:off x="7581900" y="5495925"/>
            <a:ext cx="95250" cy="95250"/>
          </a:xfrm>
          <a:prstGeom prst="roundRect">
            <a:avLst>
              <a:gd name="adj" fmla="val 50000"/>
            </a:avLst>
          </a:prstGeom>
          <a:solidFill>
            <a:srgbClr val="E8A33D"/>
          </a:solidFill>
          <a:ln/>
        </p:spPr>
        <p:txBody>
          <a:bodyPr/>
          <a:p/>
        </p:txBody>
      </p:sp>
      <p:sp>
        <p:nvSpPr>
          <p:cNvPr id="2294" name="" descr="{&quot;isTemplate&quot;:true,&quot;type&quot;:&quot;text&quot;}"/>
          <p:cNvSpPr txBox="1"/>
          <p:nvPr/>
        </p:nvSpPr>
        <p:spPr>
          <a:xfrm rot="0" flipH="0" flipV="0">
            <a:off x="7753350" y="5438775"/>
            <a:ext cx="533400" cy="209550"/>
          </a:xfrm>
          <a:prstGeom prst="rect"/>
        </p:spPr>
        <p:txBody>
          <a:bodyPr wrap="none" lIns="0" tIns="0" rIns="0" bIns="0"/>
          <a:p>
            <a:pPr>
              <a:lnSpc>
                <a:spcPct val="130000"/>
              </a:lnSpc>
            </a:pPr>
            <a:r>
              <a:rPr lang="zh-CN" sz="1050" b="1">
                <a:solidFill>
                  <a:srgbClr val="333A45"/>
                </a:solidFill>
                <a:latin typeface="Microsoft YaHei"/>
                <a:ea typeface="Microsoft YaHei"/>
              </a:rPr>
              <a:t>部分实现</a:t>
            </a:r>
            <a:endParaRPr/>
          </a:p>
        </p:txBody>
      </p:sp>
      <p:sp>
        <p:nvSpPr>
          <p:cNvPr id="2295" name=""/>
          <p:cNvSpPr/>
          <p:nvPr/>
        </p:nvSpPr>
        <p:spPr>
          <a:xfrm rot="0" flipH="0" flipV="0">
            <a:off x="8829675" y="5353050"/>
            <a:ext cx="1257300" cy="381000"/>
          </a:xfrm>
          <a:prstGeom prst="roundRect">
            <a:avLst>
              <a:gd name="adj" fmla="val 15000"/>
            </a:avLst>
          </a:prstGeom>
          <a:solidFill>
            <a:srgbClr val="F5F7FA"/>
          </a:solidFill>
          <a:ln/>
        </p:spPr>
        <p:txBody>
          <a:bodyPr/>
          <a:p/>
        </p:txBody>
      </p:sp>
      <p:sp>
        <p:nvSpPr>
          <p:cNvPr id="2296" name=""/>
          <p:cNvSpPr/>
          <p:nvPr/>
        </p:nvSpPr>
        <p:spPr>
          <a:xfrm rot="0" flipH="0" flipV="0">
            <a:off x="8924925" y="5495925"/>
            <a:ext cx="95250" cy="95250"/>
          </a:xfrm>
          <a:prstGeom prst="roundRect">
            <a:avLst>
              <a:gd name="adj" fmla="val 50000"/>
            </a:avLst>
          </a:prstGeom>
          <a:solidFill>
            <a:srgbClr val="1E7BE0"/>
          </a:solidFill>
          <a:ln/>
        </p:spPr>
        <p:txBody>
          <a:bodyPr/>
          <a:p/>
        </p:txBody>
      </p:sp>
      <p:sp>
        <p:nvSpPr>
          <p:cNvPr id="2297" name="" descr="{&quot;isTemplate&quot;:true,&quot;type&quot;:&quot;text&quot;}"/>
          <p:cNvSpPr txBox="1"/>
          <p:nvPr/>
        </p:nvSpPr>
        <p:spPr>
          <a:xfrm rot="0" flipH="0" flipV="0">
            <a:off x="909637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设计中</a:t>
            </a:r>
            <a:endParaRPr/>
          </a:p>
        </p:txBody>
      </p:sp>
      <p:sp>
        <p:nvSpPr>
          <p:cNvPr id="2298" name=""/>
          <p:cNvSpPr/>
          <p:nvPr/>
        </p:nvSpPr>
        <p:spPr>
          <a:xfrm rot="0" flipH="0" flipV="0">
            <a:off x="10182225" y="5353050"/>
            <a:ext cx="1247775" cy="381000"/>
          </a:xfrm>
          <a:prstGeom prst="roundRect">
            <a:avLst>
              <a:gd name="adj" fmla="val 15000"/>
            </a:avLst>
          </a:prstGeom>
          <a:solidFill>
            <a:srgbClr val="F5F7FA"/>
          </a:solidFill>
          <a:ln/>
        </p:spPr>
        <p:txBody>
          <a:bodyPr/>
          <a:p/>
        </p:txBody>
      </p:sp>
      <p:sp>
        <p:nvSpPr>
          <p:cNvPr id="2299" name=""/>
          <p:cNvSpPr/>
          <p:nvPr/>
        </p:nvSpPr>
        <p:spPr>
          <a:xfrm rot="0" flipH="0" flipV="0">
            <a:off x="10277475" y="5495925"/>
            <a:ext cx="95250" cy="95250"/>
          </a:xfrm>
          <a:prstGeom prst="roundRect">
            <a:avLst>
              <a:gd name="adj" fmla="val 50000"/>
            </a:avLst>
          </a:prstGeom>
          <a:solidFill>
            <a:srgbClr val="98A2B3"/>
          </a:solidFill>
          <a:ln/>
        </p:spPr>
        <p:txBody>
          <a:bodyPr/>
          <a:p/>
        </p:txBody>
      </p:sp>
      <p:sp>
        <p:nvSpPr>
          <p:cNvPr id="2300" name="" descr="{&quot;isTemplate&quot;:true,&quot;type&quot;:&quot;text&quot;}"/>
          <p:cNvSpPr txBox="1"/>
          <p:nvPr/>
        </p:nvSpPr>
        <p:spPr>
          <a:xfrm rot="0" flipH="0" flipV="0">
            <a:off x="1044892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待研究</a:t>
            </a:r>
            <a:endParaRPr/>
          </a:p>
        </p:txBody>
      </p:sp>
      <p:sp>
        <p:nvSpPr>
          <p:cNvPr id="2301" name=""/>
          <p:cNvSpPr/>
          <p:nvPr/>
        </p:nvSpPr>
        <p:spPr>
          <a:xfrm rot="0" flipH="0" flipV="0">
            <a:off x="6134100" y="5972175"/>
            <a:ext cx="5295900" cy="400050"/>
          </a:xfrm>
          <a:custGeom>
            <a:pathLst>
              <a:path w="556" h="42">
                <a:moveTo>
                  <a:pt x="0" y="0"/>
                </a:moveTo>
                <a:lnTo>
                  <a:pt x="556" y="0"/>
                </a:lnTo>
                <a:lnTo>
                  <a:pt x="556" y="1"/>
                </a:lnTo>
                <a:lnTo>
                  <a:pt x="0" y="1"/>
                </a:lnTo>
                <a:close/>
              </a:path>
            </a:pathLst>
          </a:custGeom>
          <a:solidFill>
            <a:srgbClr val="E3E8EF"/>
          </a:solidFill>
          <a:ln/>
        </p:spPr>
        <p:txBody>
          <a:bodyPr/>
          <a:p/>
        </p:txBody>
      </p:sp>
      <p:sp>
        <p:nvSpPr>
          <p:cNvPr id="2302" name=""/>
          <p:cNvSpPr/>
          <p:nvPr/>
        </p:nvSpPr>
        <p:spPr>
          <a:xfrm rot="0" flipH="0" flipV="0">
            <a:off x="6134100" y="6219825"/>
            <a:ext cx="438150" cy="47625"/>
          </a:xfrm>
          <a:prstGeom prst="rect">
            <a:avLst/>
          </a:prstGeom>
          <a:solidFill>
            <a:srgbClr val="00A9B5"/>
          </a:solidFill>
          <a:ln/>
        </p:spPr>
        <p:txBody>
          <a:bodyPr/>
          <a:p/>
        </p:txBody>
      </p:sp>
      <p:sp>
        <p:nvSpPr>
          <p:cNvPr id="2303" name="" descr="{&quot;isTemplate&quot;:true,&quot;type&quot;:&quot;text&quot;}"/>
          <p:cNvSpPr txBox="1"/>
          <p:nvPr/>
        </p:nvSpPr>
        <p:spPr>
          <a:xfrm rot="0" flipH="0" flipV="0">
            <a:off x="6686550" y="6115050"/>
            <a:ext cx="3276600" cy="247650"/>
          </a:xfrm>
          <a:prstGeom prst="rect"/>
        </p:spPr>
        <p:txBody>
          <a:bodyPr wrap="none" lIns="0" tIns="0" rIns="0" bIns="0"/>
          <a:p>
            <a:pPr>
              <a:lnSpc>
                <a:spcPct val="140000"/>
              </a:lnSpc>
            </a:pPr>
            <a:r>
              <a:rPr lang="en-US" sz="1125" b="1">
                <a:solidFill>
                  <a:srgbClr val="7A8699"/>
                </a:solidFill>
                <a:latin typeface="Microsoft YaHei"/>
                <a:ea typeface="Microsoft YaHei"/>
              </a:rPr>
              <a:t xml:space="preserve">StudyAgent </a:t>
            </a:r>
            <a:r>
              <a:rPr lang="zh-CN" sz="1125" b="1">
                <a:solidFill>
                  <a:srgbClr val="7A8699"/>
                </a:solidFill>
                <a:latin typeface="Microsoft YaHei"/>
                <a:ea typeface="Microsoft YaHei"/>
              </a:rPr>
              <a:t>项目设计汇报</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技术评审版</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共</a:t>
            </a:r>
            <a:r>
              <a:rPr lang="en-US" sz="1125" b="1">
                <a:solidFill>
                  <a:srgbClr val="7A8699"/>
                </a:solidFill>
                <a:latin typeface="Microsoft YaHei"/>
                <a:ea typeface="Microsoft YaHei"/>
              </a:rPr>
              <a:t xml:space="preserve"> 124 </a:t>
            </a:r>
            <a:r>
              <a:rPr lang="zh-CN" sz="1125" b="1">
                <a:solidFill>
                  <a:srgbClr val="7A8699"/>
                </a:solidFill>
                <a:latin typeface="Microsoft YaHei"/>
                <a:ea typeface="Microsoft YaHei"/>
              </a:rPr>
              <a:t>页</a:t>
            </a:r>
            <a:endParaRPr/>
          </a:p>
        </p:txBody>
      </p:sp>
    </p:spTree>
  </p:cSld>
</p:sld>
</file>

<file path=ppt/slides/slide66.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304"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7 / 试卷与生涯&lt;/Text&gt;&lt;Text style={{ fontSize: 32, color: '#0E2340', fontWeight: 700, lineHeight: 1.3 }}&gt;总体定位：评价试卷、分析作答、积累生涯证据&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6 }}&gt;&lt;Box style={{ flexDirection: 'column', gap: 16, flex: 1, justifyContent: 'center' }}&gt;&lt;svg width={1140} height={180} viewBox='0 0 1140 180'&gt;&lt;rect x='0' y='40' width='151' height='88' rx='8' fill='#0E2340' stroke='#1E7BE0' stroke-width='1.5'/&gt;&lt;text x='75.5' y='78.0' font-size='20' fill='#FFFFFF' text-anchor='middle' font-weight='600'&gt;预设模板&lt;/text&gt;&lt;text x='75.5' y='104.0' font-size='15' fill='#FFFFFF' text-anchor='middle' font-weight='400'&gt;明确要考什么、考到什么程度&lt;/text&gt;&lt;line x1='157' y1='84' x2='183' y2='84' stroke='#1E7BE0' stroke-width='2'/&gt;&lt;path d='M183 78 l10 -6 l0 12 z' fill='#1E7BE0'/&gt;&lt;rect x='197' y='40' width='151' height='88' rx='8' fill='#FFFFFF' stroke='#1E7BE0' stroke-width='1.5'/&gt;&lt;text x='272.5' y='78.0' font-size='20' fill='#0E2340' text-anchor='middle' font-weight='600'&gt;生成 / 评价试卷&lt;/text&gt;&lt;text x='272.5' y='104.0' font-size='15' fill='#7A8699' text-anchor='middle' font-weight='400'&gt;覆盖与难度结构&lt;/text&gt;&lt;line x1='354' y1='84' x2='380' y2='84' stroke='#1E7BE0' stroke-width='2'/&gt;&lt;path d='M380 78 l10 -6 l0 12 z' fill='#1E7BE0'/&gt;&lt;rect x='394' y='40' width='151' height='88' rx='8' fill='#FFFFFF' stroke='#1E7BE0' stroke-width='1.5'/&gt;&lt;text x='469.5' y='78.0' font-size='20' fill='#0E2340' text-anchor='middle' font-weight='600'&gt;学生整卷作答&lt;/text&gt;&lt;text x='469.5' y='104.0' font-size='15' fill='#7A8699' text-anchor='middle' font-weight='400'&gt;步骤与作答时间线&lt;/text&gt;&lt;line x1='551' y1='84' x2='577' y2='84' stroke='#1E7BE0' stroke-width='2'/&gt;&lt;path d='M577 78 l10 -6 l0 12 z' fill='#1E7BE0'/&gt;&lt;rect x='591' y='40' width='151' height='88' rx='8' fill='#FFFFFF' stroke='#1E7BE0' stroke-width='1.5'/&gt;&lt;text x='666.5' y='78.0' font-size='20' fill='#0E2340' text-anchor='middle' font-weight='600'&gt;生涯维度&lt;/text&gt;&lt;text x='666.5' y='104.0' font-size='15' fill='#7A8699' text-anchor='middle' font-weight='400'&gt;知识点与套路掌握记录&lt;/text&gt;&lt;line x1='748' y1='84' x2='774' y2='84' stroke='#1E7BE0' stroke-width='2'/&gt;&lt;path d='M774 78 l10 -6 l0 12 z' fill='#1E7BE0'/&gt;&lt;rect x='788' y='40' width='151' height='88' rx='8' fill='#FFFFFF' stroke='#1E7BE0' stroke-width='1.5'/&gt;&lt;text x='863.5' y='78.0' font-size='20' fill='#0E2340' text-anchor='middle' font-weight='600'&gt;一对一 AI 助教&lt;/text&gt;&lt;text x='863.5' y='104.0' font-size='15' fill='#7A8699' text-anchor='middle' font-weight='400'&gt;长期记忆与工具调用&lt;/text&gt;&lt;line x1='945' y1='84' x2='971' y2='84' stroke='#1E7BE0' stroke-width='2'/&gt;&lt;path d='M971 78 l10 -6 l0 12 z' fill='#1E7BE0'/&gt;&lt;rect x='985' y='40' width='151' height='88' rx='8' fill='#F5F7FA' stroke='#1E7BE0' stroke-width='1.5'/&gt;&lt;text x='1060.5' y='78.0' font-size='20' fill='#0E2340' text-anchor='middle' font-weight='600'&gt;复测验证&lt;/text&gt;&lt;text x='1060.5' y='104.0' font-size='15' fill='#7A8699' text-anchor='middle' font-weight='400'&gt;核实原因&lt;/text&gt;&lt;/svg&gt;&lt;/Box&gt;&lt;Box style={{ flexDirection: 'row', alignItems: 'center', background: '#F5F7FA', borderLeft: '4px solid #0E2340', borderRadius: 6, padding: '14px 20px' }}&gt;&lt;Text style={{ fontSize: 17, color: '#0E2340', fontWeight: 600, lineHeight: 1.5 }}&gt;用模板明确一份试卷要考什么、考到什么程度；用步骤与作答时间线分析学生这次怎样完成；用长期记录判断这次表现与以往是否一致，并通过后续训练核实原因&lt;/Text&gt;&lt;/Box&gt;&lt;/Box&gt;&lt;/Box&gt;&lt;Box style={{ height: 40, flexDirection: 'row', justifyContent: 'space-between', alignItems: 'center', borderTop: '1px solid #E3E8EF', marginTop: 8 }}&gt;&lt;Text style={{ fontSize: 13, color: '#7A8699', fontWeight: 400, lineHeight: 1.4 }}&gt;依据：试卷与生涯维度设计思路.md §1&lt;/Text&gt;&lt;Text style={{ fontSize: 14, color: '#7A8699', fontWeight: 400, lineHeight: 1.4 }}&gt; 66 / 124 &lt;/Text&gt;&lt;/Box&gt;&lt;/Slide&gt;"/>
        <p:cNvGrpSpPr/>
        <p:nvPr/>
      </p:nvGrpSpPr>
      <p:grpSpPr>
        <a:xfrm>
          <a:off x="0" y="0"/>
          <a:ext cx="0" cy="0"/>
          <a:chOff x="0" y="0"/>
          <a:chExt cx="0" cy="0"/>
        </a:xfrm>
      </p:grpSpPr>
      <p:sp>
        <p:nvSpPr>
          <p:cNvPr id="2305" name=""/>
          <p:cNvSpPr/>
          <p:nvPr/>
        </p:nvSpPr>
        <p:spPr>
          <a:xfrm rot="0" flipH="0" flipV="0">
            <a:off x="0" y="0"/>
            <a:ext cx="12192000" cy="6858000"/>
          </a:xfrm>
          <a:prstGeom prst="rect">
            <a:avLst/>
          </a:prstGeom>
          <a:solidFill>
            <a:srgbClr val="FFFFFF"/>
          </a:solidFill>
          <a:ln/>
        </p:spPr>
        <p:txBody>
          <a:bodyPr/>
          <a:p/>
        </p:txBody>
      </p:sp>
      <p:sp>
        <p:nvSpPr>
          <p:cNvPr id="2306" name="" descr="{&quot;isTemplate&quot;:true,&quot;type&quot;:&quot;text&quot;}"/>
          <p:cNvSpPr txBox="1"/>
          <p:nvPr/>
        </p:nvSpPr>
        <p:spPr>
          <a:xfrm rot="0" flipH="0" flipV="0">
            <a:off x="666750" y="381000"/>
            <a:ext cx="6400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07 / </a:t>
            </a:r>
            <a:r>
              <a:rPr lang="zh-CN" sz="1050" spc="75">
                <a:solidFill>
                  <a:srgbClr val="7A8699"/>
                </a:solidFill>
                <a:latin typeface="Microsoft YaHei"/>
                <a:ea typeface="Microsoft YaHei"/>
              </a:rPr>
              <a:t>试卷与生涯</a:t>
            </a:r>
            <a:endParaRPr/>
          </a:p>
        </p:txBody>
      </p:sp>
      <p:sp>
        <p:nvSpPr>
          <p:cNvPr id="2307" name="" descr="{&quot;isTemplate&quot;:true,&quot;type&quot;:&quot;text&quot;}"/>
          <p:cNvSpPr txBox="1"/>
          <p:nvPr/>
        </p:nvSpPr>
        <p:spPr>
          <a:xfrm rot="0" flipH="0" flipV="0">
            <a:off x="666750" y="666750"/>
            <a:ext cx="6400800" cy="476250"/>
          </a:xfrm>
          <a:prstGeom prst="rect"/>
        </p:spPr>
        <p:txBody>
          <a:bodyPr wrap="none" lIns="0" tIns="0" rIns="0" bIns="0"/>
          <a:p>
            <a:pPr>
              <a:lnSpc>
                <a:spcPct val="130000"/>
              </a:lnSpc>
            </a:pPr>
            <a:r>
              <a:rPr lang="zh-CN" sz="2400" b="1">
                <a:solidFill>
                  <a:srgbClr val="0E2340"/>
                </a:solidFill>
                <a:latin typeface="Microsoft YaHei"/>
                <a:ea typeface="Microsoft YaHei"/>
              </a:rPr>
              <a:t>总体定位：评价试卷、分析作答、积累生涯证据</a:t>
            </a:r>
            <a:endParaRPr/>
          </a:p>
        </p:txBody>
      </p:sp>
      <p:sp>
        <p:nvSpPr>
          <p:cNvPr id="2308"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309"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2310" name=""/>
          <p:cNvPicPr>
            <a:picLocks noChangeAspect="1"/>
          </p:cNvPicPr>
          <p:nvPr/>
        </p:nvPicPr>
        <p:blipFill>
          <a:blip>
            <a:extLst>
              <a:ext uri="{96DAC541-7B7A-43D3-8B79-37D633B846F1}">
                <asvg:svgBlip r:embed="rId1"/>
              </a:ext>
            </a:extLst>
          </a:blip>
          <a:stretch>
            <a:fillRect/>
          </a:stretch>
        </p:blipFill>
        <p:spPr>
          <a:xfrm rot="0" flipH="0" flipV="0">
            <a:off x="666750" y="2352675"/>
            <a:ext cx="10858500" cy="1714500"/>
          </a:xfrm>
          <a:prstGeom prst="rect">
            <a:avLst/>
          </a:prstGeom>
          <a:ln/>
        </p:spPr>
      </p:pic>
      <p:sp>
        <p:nvSpPr>
          <p:cNvPr id="2311" name=""/>
          <p:cNvSpPr/>
          <p:nvPr/>
        </p:nvSpPr>
        <p:spPr>
          <a:xfrm rot="0" flipH="0" flipV="0">
            <a:off x="704850" y="5353050"/>
            <a:ext cx="10858500" cy="857250"/>
          </a:xfrm>
          <a:prstGeom prst="roundRect">
            <a:avLst>
              <a:gd name="adj" fmla="val 6667"/>
            </a:avLst>
          </a:prstGeom>
          <a:solidFill>
            <a:srgbClr val="F5F7FA"/>
          </a:solidFill>
          <a:ln/>
        </p:spPr>
        <p:txBody>
          <a:bodyPr/>
          <a:p/>
        </p:txBody>
      </p:sp>
      <p:sp>
        <p:nvSpPr>
          <p:cNvPr id="2312" name=""/>
          <p:cNvSpPr/>
          <p:nvPr/>
        </p:nvSpPr>
        <p:spPr>
          <a:xfrm rot="0" flipH="0" flipV="0">
            <a:off x="704850" y="5353050"/>
            <a:ext cx="10858500" cy="857250"/>
          </a:xfrm>
          <a:custGeom>
            <a:pathLst>
              <a:path w="1140" h="90">
                <a:moveTo>
                  <a:pt x="6" y="0"/>
                </a:moveTo>
                <a:cubicBezTo>
                  <a:pt x="5" y="0"/>
                  <a:pt x="4" y="1"/>
                  <a:pt x="4" y="2"/>
                </a:cubicBezTo>
                <a:lnTo>
                  <a:pt x="4" y="88"/>
                </a:lnTo>
                <a:cubicBezTo>
                  <a:pt x="4" y="89"/>
                  <a:pt x="5" y="90"/>
                  <a:pt x="6" y="90"/>
                </a:cubicBezTo>
                <a:cubicBezTo>
                  <a:pt x="3" y="90"/>
                  <a:pt x="0" y="87"/>
                  <a:pt x="0" y="84"/>
                </a:cubicBezTo>
                <a:lnTo>
                  <a:pt x="0" y="6"/>
                </a:lnTo>
                <a:cubicBezTo>
                  <a:pt x="0" y="3"/>
                  <a:pt x="3" y="0"/>
                  <a:pt x="6" y="0"/>
                </a:cubicBezTo>
                <a:close/>
              </a:path>
            </a:pathLst>
          </a:custGeom>
          <a:solidFill>
            <a:srgbClr val="0E2340"/>
          </a:solidFill>
          <a:ln/>
        </p:spPr>
        <p:txBody>
          <a:bodyPr/>
          <a:p/>
        </p:txBody>
      </p:sp>
      <p:sp>
        <p:nvSpPr>
          <p:cNvPr id="2313" name="" descr="{&quot;isTemplate&quot;:true,&quot;type&quot;:&quot;text&quot;}"/>
          <p:cNvSpPr txBox="1"/>
          <p:nvPr/>
        </p:nvSpPr>
        <p:spPr>
          <a:xfrm rot="0" flipH="0" flipV="0">
            <a:off x="895350" y="5486400"/>
            <a:ext cx="10439400" cy="590550"/>
          </a:xfrm>
          <a:prstGeom prst="rect"/>
        </p:spPr>
        <p:txBody>
          <a:bodyPr wrap="square" lIns="0" tIns="0" rIns="0" bIns="0">
            <a:normAutofit/>
          </a:bodyPr>
          <a:p>
            <a:pPr>
              <a:lnSpc>
                <a:spcPct val="150000"/>
              </a:lnSpc>
            </a:pPr>
            <a:r>
              <a:rPr lang="zh-CN" sz="1275" b="1">
                <a:solidFill>
                  <a:srgbClr val="0E2340"/>
                </a:solidFill>
                <a:latin typeface="Microsoft YaHei"/>
                <a:ea typeface="Microsoft YaHei"/>
              </a:rPr>
              <a:t>用模板明确一份试卷要考什么、考到什么程度；用步骤与作答时间线分析学生这次怎样完成；用长期记录判断这次表现与以往是否一致，并通过后续训练核实原因</a:t>
            </a:r>
            <a:endParaRPr/>
          </a:p>
        </p:txBody>
      </p:sp>
      <p:sp>
        <p:nvSpPr>
          <p:cNvPr id="2314"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315"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依据：试卷与生涯维度设计思路</a:t>
            </a:r>
            <a:r>
              <a:rPr lang="en-US" sz="975">
                <a:solidFill>
                  <a:srgbClr val="7A8699"/>
                </a:solidFill>
                <a:latin typeface="Microsoft YaHei"/>
                <a:ea typeface="Microsoft YaHei"/>
              </a:rPr>
              <a:t>.md §1</a:t>
            </a:r>
            <a:endParaRPr/>
          </a:p>
        </p:txBody>
      </p:sp>
      <p:sp>
        <p:nvSpPr>
          <p:cNvPr id="2316"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66 / 124 </a:t>
            </a:r>
            <a:endParaRPr/>
          </a:p>
        </p:txBody>
      </p:sp>
    </p:spTree>
  </p:cSld>
</p:sld>
</file>

<file path=ppt/slides/slide67.xml><?xml version="1.0" encoding="utf-8"?>
<p:sld xmlns:p="http://schemas.openxmlformats.org/presentationml/2006/main" xmlns:a="http://schemas.openxmlformats.org/drawingml/2006/main">
  <p:cSld>
    <p:spTree>
      <p:nvGrpSpPr>
        <p:cNvPr id="2317"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7 / 试卷与生涯&lt;/Text&gt;&lt;Text style={{ fontSize: 32, color: '#0E2340', fontWeight: 700, lineHeight: 1.3 }}&gt;预设模板：评价与生成共用的目标依据&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gt;&lt;Box style={{ marginBottom: 16 }}&gt;&lt;Box style={{ flexDirection: 'row', alignItems: 'center', background: '#F5F7FA', borderLeft: '4px solid #0E2340', borderRadius: 6, padding: '14px 20px' }}&gt;&lt;Text style={{ fontSize: 20, color: '#0E2340', fontWeight: 600, lineHeight: 1.5 }}&gt;模板声明可检查要求，提示词补充命题风格与特殊教学意图；打分目标应显式记录&lt;/Text&gt;&lt;/Box&gt;&lt;/Box&gt;&lt;Box style={{ flexDirection: 'row', gap: 20, flex: 1 }}&gt;&lt;Box style={{ width: 212,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使用目的与适用学习范围&lt;/Text&gt;&lt;Text style={{ fontSize: 17, color: '#333A45', fontWeight: 400, lineHeight: 1.6 }}&gt;这份卷子服务哪个教学阶段与人群&lt;/Text&gt;&lt;/Box&gt;&lt;/Box&gt;&lt;Box style={{ width: 212,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题型、题数、分值与总时长&lt;/Text&gt;&lt;Text style={{ fontSize: 17, color: '#333A45', fontWeight: 400, lineHeight: 1.6 }}&gt;结构约束，避免逐题生成后整体偏离&lt;/Text&gt;&lt;/Box&gt;&lt;/Box&gt;&lt;Box style={{ width: 212,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知识点与套路覆盖目标&lt;/Text&gt;&lt;Text style={{ fontSize: 17, color: '#333A45', fontWeight: 400, lineHeight: 1.6 }}&gt;考查哪些知识点与套路，覆盖到什么程度&lt;/Text&gt;&lt;/Box&gt;&lt;/Box&gt;&lt;Box style={{ width: 212,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单题及步骤难度要求&lt;/Text&gt;&lt;Text style={{ fontSize: 17, color: '#333A45', fontWeight: 400, lineHeight: 1.6 }}&gt;难度基准与分布要求&lt;/Text&gt;&lt;/Box&gt;&lt;/Box&gt;&lt;Box style={{ width: 212,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评分维度权重与判定规则&lt;/Text&gt;&lt;Text style={{ fontSize: 17, color: '#333A45', fontWeight: 400, lineHeight: 1.6 }}&gt;使生成、检查、评价采用同一口径&lt;/Text&gt;&lt;/Box&gt;&lt;/Box&gt;&lt;/Box&gt;&lt;/Box&gt;&lt;/Box&gt;&lt;Box style={{ height: 40, flexDirection: 'row', justifyContent: 'space-between', alignItems: 'center', borderTop: '1px solid #E3E8EF', marginTop: 8 }}&gt;&lt;Text style={{ fontSize: 13, color: '#7A8699', fontWeight: 400, lineHeight: 1.4 }}&gt;依据：试卷与生涯维度设计思路.md §2&lt;/Text&gt;&lt;Text style={{ fontSize: 14, color: '#7A8699', fontWeight: 400, lineHeight: 1.4 }}&gt; 67 / 124 &lt;/Text&gt;&lt;/Box&gt;&lt;/Slide&gt;"/>
        <p:cNvGrpSpPr/>
        <p:nvPr/>
      </p:nvGrpSpPr>
      <p:grpSpPr>
        <a:xfrm>
          <a:off x="0" y="0"/>
          <a:ext cx="0" cy="0"/>
          <a:chOff x="0" y="0"/>
          <a:chExt cx="0" cy="0"/>
        </a:xfrm>
      </p:grpSpPr>
      <p:sp>
        <p:nvSpPr>
          <p:cNvPr id="2318" name=""/>
          <p:cNvSpPr/>
          <p:nvPr/>
        </p:nvSpPr>
        <p:spPr>
          <a:xfrm rot="0" flipH="0" flipV="0">
            <a:off x="0" y="0"/>
            <a:ext cx="12192000" cy="6858000"/>
          </a:xfrm>
          <a:prstGeom prst="rect">
            <a:avLst/>
          </a:prstGeom>
          <a:solidFill>
            <a:srgbClr val="FFFFFF"/>
          </a:solidFill>
          <a:ln/>
        </p:spPr>
        <p:txBody>
          <a:bodyPr/>
          <a:p/>
        </p:txBody>
      </p:sp>
      <p:sp>
        <p:nvSpPr>
          <p:cNvPr id="2319" name="" descr="{&quot;isTemplate&quot;:true,&quot;type&quot;:&quot;text&quot;}"/>
          <p:cNvSpPr txBox="1"/>
          <p:nvPr/>
        </p:nvSpPr>
        <p:spPr>
          <a:xfrm rot="0" flipH="0" flipV="0">
            <a:off x="666750" y="381000"/>
            <a:ext cx="5181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07 / </a:t>
            </a:r>
            <a:r>
              <a:rPr lang="zh-CN" sz="1050" spc="75">
                <a:solidFill>
                  <a:srgbClr val="7A8699"/>
                </a:solidFill>
                <a:latin typeface="Microsoft YaHei"/>
                <a:ea typeface="Microsoft YaHei"/>
              </a:rPr>
              <a:t>试卷与生涯</a:t>
            </a:r>
            <a:endParaRPr/>
          </a:p>
        </p:txBody>
      </p:sp>
      <p:sp>
        <p:nvSpPr>
          <p:cNvPr id="2320" name="" descr="{&quot;isTemplate&quot;:true,&quot;type&quot;:&quot;text&quot;}"/>
          <p:cNvSpPr txBox="1"/>
          <p:nvPr/>
        </p:nvSpPr>
        <p:spPr>
          <a:xfrm rot="0" flipH="0" flipV="0">
            <a:off x="666750" y="666750"/>
            <a:ext cx="5181600" cy="476250"/>
          </a:xfrm>
          <a:prstGeom prst="rect"/>
        </p:spPr>
        <p:txBody>
          <a:bodyPr wrap="none" lIns="0" tIns="0" rIns="0" bIns="0"/>
          <a:p>
            <a:pPr>
              <a:lnSpc>
                <a:spcPct val="130000"/>
              </a:lnSpc>
            </a:pPr>
            <a:r>
              <a:rPr lang="zh-CN" sz="2400" b="1">
                <a:solidFill>
                  <a:srgbClr val="0E2340"/>
                </a:solidFill>
                <a:latin typeface="Microsoft YaHei"/>
                <a:ea typeface="Microsoft YaHei"/>
              </a:rPr>
              <a:t>预设模板：评价与生成共用的目标依据</a:t>
            </a:r>
            <a:endParaRPr/>
          </a:p>
        </p:txBody>
      </p:sp>
      <p:sp>
        <p:nvSpPr>
          <p:cNvPr id="2321"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322"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2323" name=""/>
          <p:cNvSpPr/>
          <p:nvPr/>
        </p:nvSpPr>
        <p:spPr>
          <a:xfrm rot="0" flipH="0" flipV="0">
            <a:off x="704850" y="1219200"/>
            <a:ext cx="10858500" cy="609600"/>
          </a:xfrm>
          <a:prstGeom prst="roundRect">
            <a:avLst>
              <a:gd name="adj" fmla="val 9375"/>
            </a:avLst>
          </a:prstGeom>
          <a:solidFill>
            <a:srgbClr val="F5F7FA"/>
          </a:solidFill>
          <a:ln/>
        </p:spPr>
        <p:txBody>
          <a:bodyPr/>
          <a:p/>
        </p:txBody>
      </p:sp>
      <p:sp>
        <p:nvSpPr>
          <p:cNvPr id="2324" name=""/>
          <p:cNvSpPr/>
          <p:nvPr/>
        </p:nvSpPr>
        <p:spPr>
          <a:xfrm rot="0" flipH="0" flipV="0">
            <a:off x="704850" y="12192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2325" name="" descr="{&quot;isTemplate&quot;:true,&quot;type&quot;:&quot;text&quot;}"/>
          <p:cNvSpPr txBox="1"/>
          <p:nvPr/>
        </p:nvSpPr>
        <p:spPr>
          <a:xfrm rot="0" flipH="0" flipV="0">
            <a:off x="895350" y="1352550"/>
            <a:ext cx="6858000" cy="342900"/>
          </a:xfrm>
          <a:prstGeom prst="rect"/>
        </p:spPr>
        <p:txBody>
          <a:bodyPr wrap="none" lIns="0" tIns="0" rIns="0" bIns="0"/>
          <a:p>
            <a:pPr>
              <a:lnSpc>
                <a:spcPct val="150000"/>
              </a:lnSpc>
            </a:pPr>
            <a:r>
              <a:rPr lang="zh-CN" sz="1500" b="1">
                <a:solidFill>
                  <a:srgbClr val="0E2340"/>
                </a:solidFill>
                <a:latin typeface="Microsoft YaHei"/>
                <a:ea typeface="Microsoft YaHei"/>
              </a:rPr>
              <a:t>模板声明可检查要求，提示词补充命题风格与特殊教学意图；打分目标应显式记录</a:t>
            </a:r>
            <a:endParaRPr/>
          </a:p>
        </p:txBody>
      </p:sp>
      <p:sp>
        <p:nvSpPr>
          <p:cNvPr id="2326" name=""/>
          <p:cNvSpPr/>
          <p:nvPr/>
        </p:nvSpPr>
        <p:spPr>
          <a:xfrm rot="0" flipH="0" flipV="0">
            <a:off x="666750" y="1981200"/>
            <a:ext cx="2019300" cy="4229100"/>
          </a:xfrm>
          <a:prstGeom prst="roundRect">
            <a:avLst>
              <a:gd name="adj" fmla="val 3774"/>
            </a:avLst>
          </a:prstGeom>
          <a:solidFill>
            <a:srgbClr val="FFFFFF"/>
          </a:solidFill>
          <a:ln w="12700">
            <a:solidFill>
              <a:srgbClr val="E3E8EF"/>
            </a:solidFill>
            <a:prstDash val="solid"/>
          </a:ln>
        </p:spPr>
        <p:txBody>
          <a:bodyPr/>
          <a:p/>
        </p:txBody>
      </p:sp>
      <p:sp>
        <p:nvSpPr>
          <p:cNvPr id="2327" name=""/>
          <p:cNvSpPr/>
          <p:nvPr/>
        </p:nvSpPr>
        <p:spPr>
          <a:xfrm rot="0" flipH="0" flipV="0">
            <a:off x="666750" y="1981200"/>
            <a:ext cx="2019300" cy="38100"/>
          </a:xfrm>
          <a:custGeom>
            <a:pathLst>
              <a:path w="212" h="4">
                <a:moveTo>
                  <a:pt x="204" y="0"/>
                </a:moveTo>
                <a:cubicBezTo>
                  <a:pt x="207" y="0"/>
                  <a:pt x="210" y="2"/>
                  <a:pt x="211" y="4"/>
                </a:cubicBezTo>
                <a:lnTo>
                  <a:pt x="1" y="4"/>
                </a:lnTo>
                <a:cubicBezTo>
                  <a:pt x="3" y="2"/>
                  <a:pt x="5" y="0"/>
                  <a:pt x="8" y="0"/>
                </a:cubicBezTo>
                <a:lnTo>
                  <a:pt x="204" y="0"/>
                </a:lnTo>
                <a:close/>
              </a:path>
            </a:pathLst>
          </a:custGeom>
          <a:gradFill>
            <a:gsLst>
              <a:gs pos="0">
                <a:srgbClr val="1E7BE0"/>
              </a:gs>
              <a:gs pos="100000">
                <a:srgbClr val="00A9B5"/>
              </a:gs>
            </a:gsLst>
            <a:lin ang="0" scaled="1"/>
          </a:gradFill>
          <a:ln/>
        </p:spPr>
        <p:txBody>
          <a:bodyPr/>
          <a:p/>
        </p:txBody>
      </p:sp>
      <p:sp>
        <p:nvSpPr>
          <p:cNvPr id="2328" name="" descr="{&quot;isTemplate&quot;:true,&quot;type&quot;:&quot;text&quot;}"/>
          <p:cNvSpPr txBox="1"/>
          <p:nvPr/>
        </p:nvSpPr>
        <p:spPr>
          <a:xfrm rot="0" flipH="0" flipV="0">
            <a:off x="857250" y="2209800"/>
            <a:ext cx="1638300" cy="771525"/>
          </a:xfrm>
          <a:prstGeom prst="rect"/>
        </p:spPr>
        <p:txBody>
          <a:bodyPr wrap="square" lIns="0" tIns="0" rIns="0" bIns="0">
            <a:normAutofit/>
          </a:bodyPr>
          <a:p>
            <a:pPr>
              <a:lnSpc>
                <a:spcPct val="140000"/>
              </a:lnSpc>
            </a:pPr>
            <a:r>
              <a:rPr lang="zh-CN" sz="1800" b="1">
                <a:solidFill>
                  <a:srgbClr val="0E2340"/>
                </a:solidFill>
                <a:latin typeface="Microsoft YaHei"/>
                <a:ea typeface="Microsoft YaHei"/>
              </a:rPr>
              <a:t>使用目的与适用学习范围</a:t>
            </a:r>
            <a:endParaRPr/>
          </a:p>
        </p:txBody>
      </p:sp>
      <p:sp>
        <p:nvSpPr>
          <p:cNvPr id="2329" name="" descr="{&quot;isTemplate&quot;:true,&quot;type&quot;:&quot;text&quot;}"/>
          <p:cNvSpPr txBox="1"/>
          <p:nvPr/>
        </p:nvSpPr>
        <p:spPr>
          <a:xfrm rot="0" flipH="0" flipV="0">
            <a:off x="857250" y="3076575"/>
            <a:ext cx="16383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这份卷子服务哪个教学阶段与人群</a:t>
            </a:r>
            <a:endParaRPr/>
          </a:p>
        </p:txBody>
      </p:sp>
      <p:sp>
        <p:nvSpPr>
          <p:cNvPr id="2330" name=""/>
          <p:cNvSpPr/>
          <p:nvPr/>
        </p:nvSpPr>
        <p:spPr>
          <a:xfrm rot="0" flipH="0" flipV="0">
            <a:off x="2876550" y="1981200"/>
            <a:ext cx="2019300" cy="4229100"/>
          </a:xfrm>
          <a:prstGeom prst="roundRect">
            <a:avLst>
              <a:gd name="adj" fmla="val 3774"/>
            </a:avLst>
          </a:prstGeom>
          <a:solidFill>
            <a:srgbClr val="FFFFFF"/>
          </a:solidFill>
          <a:ln w="12700">
            <a:solidFill>
              <a:srgbClr val="E3E8EF"/>
            </a:solidFill>
            <a:prstDash val="solid"/>
          </a:ln>
        </p:spPr>
        <p:txBody>
          <a:bodyPr/>
          <a:p/>
        </p:txBody>
      </p:sp>
      <p:sp>
        <p:nvSpPr>
          <p:cNvPr id="2331" name=""/>
          <p:cNvSpPr/>
          <p:nvPr/>
        </p:nvSpPr>
        <p:spPr>
          <a:xfrm rot="0" flipH="0" flipV="0">
            <a:off x="2876550" y="1981200"/>
            <a:ext cx="2019300" cy="38100"/>
          </a:xfrm>
          <a:custGeom>
            <a:pathLst>
              <a:path w="212" h="4">
                <a:moveTo>
                  <a:pt x="204" y="0"/>
                </a:moveTo>
                <a:cubicBezTo>
                  <a:pt x="207" y="0"/>
                  <a:pt x="210" y="2"/>
                  <a:pt x="211" y="4"/>
                </a:cubicBezTo>
                <a:lnTo>
                  <a:pt x="1" y="4"/>
                </a:lnTo>
                <a:cubicBezTo>
                  <a:pt x="3" y="2"/>
                  <a:pt x="5" y="0"/>
                  <a:pt x="8" y="0"/>
                </a:cubicBezTo>
                <a:lnTo>
                  <a:pt x="204" y="0"/>
                </a:lnTo>
                <a:close/>
              </a:path>
            </a:pathLst>
          </a:custGeom>
          <a:gradFill>
            <a:gsLst>
              <a:gs pos="0">
                <a:srgbClr val="1E7BE0"/>
              </a:gs>
              <a:gs pos="100000">
                <a:srgbClr val="00A9B5"/>
              </a:gs>
            </a:gsLst>
            <a:lin ang="0" scaled="1"/>
          </a:gradFill>
          <a:ln/>
        </p:spPr>
        <p:txBody>
          <a:bodyPr/>
          <a:p/>
        </p:txBody>
      </p:sp>
      <p:sp>
        <p:nvSpPr>
          <p:cNvPr id="2332" name="" descr="{&quot;isTemplate&quot;:true,&quot;type&quot;:&quot;text&quot;}"/>
          <p:cNvSpPr txBox="1"/>
          <p:nvPr/>
        </p:nvSpPr>
        <p:spPr>
          <a:xfrm rot="0" flipH="0" flipV="0">
            <a:off x="3067050" y="2209800"/>
            <a:ext cx="1638300" cy="771525"/>
          </a:xfrm>
          <a:prstGeom prst="rect"/>
        </p:spPr>
        <p:txBody>
          <a:bodyPr wrap="square" lIns="0" tIns="0" rIns="0" bIns="0">
            <a:normAutofit/>
          </a:bodyPr>
          <a:p>
            <a:pPr>
              <a:lnSpc>
                <a:spcPct val="140000"/>
              </a:lnSpc>
            </a:pPr>
            <a:r>
              <a:rPr lang="zh-CN" sz="1800" b="1">
                <a:solidFill>
                  <a:srgbClr val="0E2340"/>
                </a:solidFill>
                <a:latin typeface="Microsoft YaHei"/>
                <a:ea typeface="Microsoft YaHei"/>
              </a:rPr>
              <a:t>题型、题数、分值与总时长</a:t>
            </a:r>
            <a:endParaRPr/>
          </a:p>
        </p:txBody>
      </p:sp>
      <p:sp>
        <p:nvSpPr>
          <p:cNvPr id="2333" name="" descr="{&quot;isTemplate&quot;:true,&quot;type&quot;:&quot;text&quot;}"/>
          <p:cNvSpPr txBox="1"/>
          <p:nvPr/>
        </p:nvSpPr>
        <p:spPr>
          <a:xfrm rot="0" flipH="0" flipV="0">
            <a:off x="3067050" y="3076575"/>
            <a:ext cx="16383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结构约束，避免逐题生成后整体偏离</a:t>
            </a:r>
            <a:endParaRPr/>
          </a:p>
        </p:txBody>
      </p:sp>
      <p:sp>
        <p:nvSpPr>
          <p:cNvPr id="2334" name=""/>
          <p:cNvSpPr/>
          <p:nvPr/>
        </p:nvSpPr>
        <p:spPr>
          <a:xfrm rot="0" flipH="0" flipV="0">
            <a:off x="5086350" y="1981200"/>
            <a:ext cx="2019300" cy="4229100"/>
          </a:xfrm>
          <a:prstGeom prst="roundRect">
            <a:avLst>
              <a:gd name="adj" fmla="val 3774"/>
            </a:avLst>
          </a:prstGeom>
          <a:solidFill>
            <a:srgbClr val="FFFFFF"/>
          </a:solidFill>
          <a:ln w="12700">
            <a:solidFill>
              <a:srgbClr val="E3E8EF"/>
            </a:solidFill>
            <a:prstDash val="solid"/>
          </a:ln>
        </p:spPr>
        <p:txBody>
          <a:bodyPr/>
          <a:p/>
        </p:txBody>
      </p:sp>
      <p:sp>
        <p:nvSpPr>
          <p:cNvPr id="2335" name=""/>
          <p:cNvSpPr/>
          <p:nvPr/>
        </p:nvSpPr>
        <p:spPr>
          <a:xfrm rot="0" flipH="0" flipV="0">
            <a:off x="5086350" y="1981200"/>
            <a:ext cx="2019300" cy="38100"/>
          </a:xfrm>
          <a:custGeom>
            <a:pathLst>
              <a:path w="212" h="4">
                <a:moveTo>
                  <a:pt x="204" y="0"/>
                </a:moveTo>
                <a:cubicBezTo>
                  <a:pt x="207" y="0"/>
                  <a:pt x="210" y="2"/>
                  <a:pt x="211" y="4"/>
                </a:cubicBezTo>
                <a:lnTo>
                  <a:pt x="1" y="4"/>
                </a:lnTo>
                <a:cubicBezTo>
                  <a:pt x="3" y="2"/>
                  <a:pt x="5" y="0"/>
                  <a:pt x="8" y="0"/>
                </a:cubicBezTo>
                <a:lnTo>
                  <a:pt x="204" y="0"/>
                </a:lnTo>
                <a:close/>
              </a:path>
            </a:pathLst>
          </a:custGeom>
          <a:gradFill>
            <a:gsLst>
              <a:gs pos="0">
                <a:srgbClr val="1E7BE0"/>
              </a:gs>
              <a:gs pos="100000">
                <a:srgbClr val="00A9B5"/>
              </a:gs>
            </a:gsLst>
            <a:lin ang="0" scaled="1"/>
          </a:gradFill>
          <a:ln/>
        </p:spPr>
        <p:txBody>
          <a:bodyPr/>
          <a:p/>
        </p:txBody>
      </p:sp>
      <p:sp>
        <p:nvSpPr>
          <p:cNvPr id="2336" name="" descr="{&quot;isTemplate&quot;:true,&quot;type&quot;:&quot;text&quot;}"/>
          <p:cNvSpPr txBox="1"/>
          <p:nvPr/>
        </p:nvSpPr>
        <p:spPr>
          <a:xfrm rot="0" flipH="0" flipV="0">
            <a:off x="5276850" y="2209800"/>
            <a:ext cx="1638300" cy="771525"/>
          </a:xfrm>
          <a:prstGeom prst="rect"/>
        </p:spPr>
        <p:txBody>
          <a:bodyPr wrap="square" lIns="0" tIns="0" rIns="0" bIns="0">
            <a:normAutofit/>
          </a:bodyPr>
          <a:p>
            <a:pPr>
              <a:lnSpc>
                <a:spcPct val="140000"/>
              </a:lnSpc>
            </a:pPr>
            <a:r>
              <a:rPr lang="zh-CN" sz="1800" b="1">
                <a:solidFill>
                  <a:srgbClr val="0E2340"/>
                </a:solidFill>
                <a:latin typeface="Microsoft YaHei"/>
                <a:ea typeface="Microsoft YaHei"/>
              </a:rPr>
              <a:t>知识点与套路覆盖目标</a:t>
            </a:r>
            <a:endParaRPr/>
          </a:p>
        </p:txBody>
      </p:sp>
      <p:sp>
        <p:nvSpPr>
          <p:cNvPr id="2337" name="" descr="{&quot;isTemplate&quot;:true,&quot;type&quot;:&quot;text&quot;}"/>
          <p:cNvSpPr txBox="1"/>
          <p:nvPr/>
        </p:nvSpPr>
        <p:spPr>
          <a:xfrm rot="0" flipH="0" flipV="0">
            <a:off x="5276850" y="3076575"/>
            <a:ext cx="16383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考查哪些知识点与套路，覆盖到什么程度</a:t>
            </a:r>
            <a:endParaRPr/>
          </a:p>
        </p:txBody>
      </p:sp>
      <p:sp>
        <p:nvSpPr>
          <p:cNvPr id="2338" name=""/>
          <p:cNvSpPr/>
          <p:nvPr/>
        </p:nvSpPr>
        <p:spPr>
          <a:xfrm rot="0" flipH="0" flipV="0">
            <a:off x="7296150" y="1981200"/>
            <a:ext cx="2019300" cy="4229100"/>
          </a:xfrm>
          <a:prstGeom prst="roundRect">
            <a:avLst>
              <a:gd name="adj" fmla="val 3774"/>
            </a:avLst>
          </a:prstGeom>
          <a:solidFill>
            <a:srgbClr val="FFFFFF"/>
          </a:solidFill>
          <a:ln w="12700">
            <a:solidFill>
              <a:srgbClr val="E3E8EF"/>
            </a:solidFill>
            <a:prstDash val="solid"/>
          </a:ln>
        </p:spPr>
        <p:txBody>
          <a:bodyPr/>
          <a:p/>
        </p:txBody>
      </p:sp>
      <p:sp>
        <p:nvSpPr>
          <p:cNvPr id="2339" name=""/>
          <p:cNvSpPr/>
          <p:nvPr/>
        </p:nvSpPr>
        <p:spPr>
          <a:xfrm rot="0" flipH="0" flipV="0">
            <a:off x="7296150" y="1981200"/>
            <a:ext cx="2019300" cy="38100"/>
          </a:xfrm>
          <a:custGeom>
            <a:pathLst>
              <a:path w="212" h="4">
                <a:moveTo>
                  <a:pt x="204" y="0"/>
                </a:moveTo>
                <a:cubicBezTo>
                  <a:pt x="207" y="0"/>
                  <a:pt x="210" y="2"/>
                  <a:pt x="211" y="4"/>
                </a:cubicBezTo>
                <a:lnTo>
                  <a:pt x="1" y="4"/>
                </a:lnTo>
                <a:cubicBezTo>
                  <a:pt x="3" y="2"/>
                  <a:pt x="5" y="0"/>
                  <a:pt x="8" y="0"/>
                </a:cubicBezTo>
                <a:lnTo>
                  <a:pt x="204" y="0"/>
                </a:lnTo>
                <a:close/>
              </a:path>
            </a:pathLst>
          </a:custGeom>
          <a:gradFill>
            <a:gsLst>
              <a:gs pos="0">
                <a:srgbClr val="1E7BE0"/>
              </a:gs>
              <a:gs pos="100000">
                <a:srgbClr val="00A9B5"/>
              </a:gs>
            </a:gsLst>
            <a:lin ang="0" scaled="1"/>
          </a:gradFill>
          <a:ln/>
        </p:spPr>
        <p:txBody>
          <a:bodyPr/>
          <a:p/>
        </p:txBody>
      </p:sp>
      <p:sp>
        <p:nvSpPr>
          <p:cNvPr id="2340" name="" descr="{&quot;isTemplate&quot;:true,&quot;type&quot;:&quot;text&quot;}"/>
          <p:cNvSpPr txBox="1"/>
          <p:nvPr/>
        </p:nvSpPr>
        <p:spPr>
          <a:xfrm rot="0" flipH="0" flipV="0">
            <a:off x="7486650" y="2209800"/>
            <a:ext cx="1638300" cy="771525"/>
          </a:xfrm>
          <a:prstGeom prst="rect"/>
        </p:spPr>
        <p:txBody>
          <a:bodyPr wrap="square" lIns="0" tIns="0" rIns="0" bIns="0">
            <a:normAutofit/>
          </a:bodyPr>
          <a:p>
            <a:pPr>
              <a:lnSpc>
                <a:spcPct val="140000"/>
              </a:lnSpc>
            </a:pPr>
            <a:r>
              <a:rPr lang="zh-CN" sz="1800" b="1">
                <a:solidFill>
                  <a:srgbClr val="0E2340"/>
                </a:solidFill>
                <a:latin typeface="Microsoft YaHei"/>
                <a:ea typeface="Microsoft YaHei"/>
              </a:rPr>
              <a:t>单题及步骤难度要求</a:t>
            </a:r>
            <a:endParaRPr/>
          </a:p>
        </p:txBody>
      </p:sp>
      <p:sp>
        <p:nvSpPr>
          <p:cNvPr id="2341" name="" descr="{&quot;isTemplate&quot;:true,&quot;type&quot;:&quot;text&quot;}"/>
          <p:cNvSpPr txBox="1"/>
          <p:nvPr/>
        </p:nvSpPr>
        <p:spPr>
          <a:xfrm rot="0" flipH="0" flipV="0">
            <a:off x="7486650" y="3076575"/>
            <a:ext cx="1638300" cy="314325"/>
          </a:xfrm>
          <a:prstGeom prst="rect"/>
        </p:spPr>
        <p:txBody>
          <a:bodyPr wrap="none" lIns="0" tIns="0" rIns="0" bIns="0"/>
          <a:p>
            <a:pPr>
              <a:lnSpc>
                <a:spcPct val="160000"/>
              </a:lnSpc>
            </a:pPr>
            <a:r>
              <a:rPr lang="zh-CN" sz="1275">
                <a:solidFill>
                  <a:srgbClr val="333A45"/>
                </a:solidFill>
                <a:latin typeface="Microsoft YaHei"/>
                <a:ea typeface="Microsoft YaHei"/>
              </a:rPr>
              <a:t>难度基准与分布要求</a:t>
            </a:r>
            <a:endParaRPr/>
          </a:p>
        </p:txBody>
      </p:sp>
      <p:sp>
        <p:nvSpPr>
          <p:cNvPr id="2342" name=""/>
          <p:cNvSpPr/>
          <p:nvPr/>
        </p:nvSpPr>
        <p:spPr>
          <a:xfrm rot="0" flipH="0" flipV="0">
            <a:off x="9505950" y="1981200"/>
            <a:ext cx="2019300" cy="4229100"/>
          </a:xfrm>
          <a:prstGeom prst="roundRect">
            <a:avLst>
              <a:gd name="adj" fmla="val 3774"/>
            </a:avLst>
          </a:prstGeom>
          <a:solidFill>
            <a:srgbClr val="FFFFFF"/>
          </a:solidFill>
          <a:ln w="12700">
            <a:solidFill>
              <a:srgbClr val="E3E8EF"/>
            </a:solidFill>
            <a:prstDash val="solid"/>
          </a:ln>
        </p:spPr>
        <p:txBody>
          <a:bodyPr/>
          <a:p/>
        </p:txBody>
      </p:sp>
      <p:sp>
        <p:nvSpPr>
          <p:cNvPr id="2343" name=""/>
          <p:cNvSpPr/>
          <p:nvPr/>
        </p:nvSpPr>
        <p:spPr>
          <a:xfrm rot="0" flipH="0" flipV="0">
            <a:off x="9505950" y="1981200"/>
            <a:ext cx="2019300" cy="38100"/>
          </a:xfrm>
          <a:custGeom>
            <a:pathLst>
              <a:path w="212" h="4">
                <a:moveTo>
                  <a:pt x="204" y="0"/>
                </a:moveTo>
                <a:cubicBezTo>
                  <a:pt x="207" y="0"/>
                  <a:pt x="210" y="2"/>
                  <a:pt x="211" y="4"/>
                </a:cubicBezTo>
                <a:lnTo>
                  <a:pt x="1" y="4"/>
                </a:lnTo>
                <a:cubicBezTo>
                  <a:pt x="3" y="2"/>
                  <a:pt x="5" y="0"/>
                  <a:pt x="8" y="0"/>
                </a:cubicBezTo>
                <a:lnTo>
                  <a:pt x="204" y="0"/>
                </a:lnTo>
                <a:close/>
              </a:path>
            </a:pathLst>
          </a:custGeom>
          <a:gradFill>
            <a:gsLst>
              <a:gs pos="0">
                <a:srgbClr val="1E7BE0"/>
              </a:gs>
              <a:gs pos="100000">
                <a:srgbClr val="00A9B5"/>
              </a:gs>
            </a:gsLst>
            <a:lin ang="0" scaled="1"/>
          </a:gradFill>
          <a:ln/>
        </p:spPr>
        <p:txBody>
          <a:bodyPr/>
          <a:p/>
        </p:txBody>
      </p:sp>
      <p:sp>
        <p:nvSpPr>
          <p:cNvPr id="2344" name="" descr="{&quot;isTemplate&quot;:true,&quot;type&quot;:&quot;text&quot;}"/>
          <p:cNvSpPr txBox="1"/>
          <p:nvPr/>
        </p:nvSpPr>
        <p:spPr>
          <a:xfrm rot="0" flipH="0" flipV="0">
            <a:off x="9696450" y="2209800"/>
            <a:ext cx="1638300" cy="771525"/>
          </a:xfrm>
          <a:prstGeom prst="rect"/>
        </p:spPr>
        <p:txBody>
          <a:bodyPr wrap="square" lIns="0" tIns="0" rIns="0" bIns="0">
            <a:normAutofit/>
          </a:bodyPr>
          <a:p>
            <a:pPr>
              <a:lnSpc>
                <a:spcPct val="140000"/>
              </a:lnSpc>
            </a:pPr>
            <a:r>
              <a:rPr lang="zh-CN" sz="1800" b="1">
                <a:solidFill>
                  <a:srgbClr val="0E2340"/>
                </a:solidFill>
                <a:latin typeface="Microsoft YaHei"/>
                <a:ea typeface="Microsoft YaHei"/>
              </a:rPr>
              <a:t>评分维度权重与判定规则</a:t>
            </a:r>
            <a:endParaRPr/>
          </a:p>
        </p:txBody>
      </p:sp>
      <p:sp>
        <p:nvSpPr>
          <p:cNvPr id="2345" name="" descr="{&quot;isTemplate&quot;:true,&quot;type&quot;:&quot;text&quot;}"/>
          <p:cNvSpPr txBox="1"/>
          <p:nvPr/>
        </p:nvSpPr>
        <p:spPr>
          <a:xfrm rot="0" flipH="0" flipV="0">
            <a:off x="9696450" y="3076575"/>
            <a:ext cx="16383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使生成、检查、评价采用同一口径</a:t>
            </a:r>
            <a:endParaRPr/>
          </a:p>
        </p:txBody>
      </p:sp>
      <p:sp>
        <p:nvSpPr>
          <p:cNvPr id="2346"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347"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依据：试卷与生涯维度设计思路</a:t>
            </a:r>
            <a:r>
              <a:rPr lang="en-US" sz="975">
                <a:solidFill>
                  <a:srgbClr val="7A8699"/>
                </a:solidFill>
                <a:latin typeface="Microsoft YaHei"/>
                <a:ea typeface="Microsoft YaHei"/>
              </a:rPr>
              <a:t>.md §2</a:t>
            </a:r>
            <a:endParaRPr/>
          </a:p>
        </p:txBody>
      </p:sp>
      <p:sp>
        <p:nvSpPr>
          <p:cNvPr id="2348"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67 / 124 </a:t>
            </a:r>
            <a:endParaRPr/>
          </a:p>
        </p:txBody>
      </p:sp>
    </p:spTree>
  </p:cSld>
</p:sld>
</file>

<file path=ppt/slides/slide68.xml><?xml version="1.0" encoding="utf-8"?>
<p:sld xmlns:p="http://schemas.openxmlformats.org/presentationml/2006/main" xmlns:a="http://schemas.openxmlformats.org/drawingml/2006/main">
  <p:cSld>
    <p:spTree>
      <p:nvGrpSpPr>
        <p:cNvPr id="2349"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7 / 试卷与生涯&lt;/Text&gt;&lt;Text style={{ fontSize: 32, color: '#0E2340', fontWeight: 700, lineHeight: 1.3 }}&gt;试卷质量评价的四个角度&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8 }}&gt;&lt;Box style={{ flexDirection: 'row', gap: 20, flex: 1 }}&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知识点覆盖&lt;/Text&gt;&lt;Text style={{ fontSize: 17, color: '#333A45', fontWeight: 400, lineHeight: 1.6 }}&gt;应区分主要考查内容与顺带使用的前置知识&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套路覆盖&lt;/Text&gt;&lt;Text style={{ fontSize: 17, color: '#333A45', fontWeight: 400, lineHeight: 1.6 }}&gt;参考解法出现某套路，不等于所有正确解法都必须用它&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步骤难度&lt;/Text&gt;&lt;Text style={{ fontSize: 17, color: '#333A45', fontWeight: 400, lineHeight: 1.6 }}&gt;逐题步骤难度是否符合模板要求&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整卷分布&lt;/Text&gt;&lt;Text style={{ fontSize: 17, color: '#333A45', fontWeight: 400, lineHeight: 1.6 }}&gt;覆盖与难度在整卷上的分布是否合理&lt;/Text&gt;&lt;/Box&gt;&lt;/Box&gt;&lt;/Box&gt;&lt;Box style={{ flexDirection: 'row', alignItems: 'center', background: '#F5F7FA', borderLeft: '4px solid #0E2340', borderRadius: 6, padding: '14px 20px' }}&gt;&lt;Text style={{ fontSize: 17, color: '#0E2340', fontWeight: 600, lineHeight: 1.5 }}&gt;“出得好不好”应落实为“对特定教学目的和学生范围是否合适”；覆盖越广、难度越高不自动意味着越好。标签不完整时标注评价范围或暂定状态，未识别内容不能直接算成未覆盖&lt;/Text&gt;&lt;/Box&gt;&lt;/Box&gt;&lt;/Box&gt;&lt;Box style={{ height: 40, flexDirection: 'row', justifyContent: 'space-between', alignItems: 'center', borderTop: '1px solid #E3E8EF', marginTop: 8 }}&gt;&lt;Text style={{ fontSize: 13, color: '#7A8699', fontWeight: 400, lineHeight: 1.4 }}&gt;依据：试卷与生涯维度设计思路.md §3&lt;/Text&gt;&lt;Text style={{ fontSize: 14, color: '#7A8699', fontWeight: 400, lineHeight: 1.4 }}&gt; 68 / 124 &lt;/Text&gt;&lt;/Box&gt;&lt;/Slide&gt;"/>
        <p:cNvGrpSpPr/>
        <p:nvPr/>
      </p:nvGrpSpPr>
      <p:grpSpPr>
        <a:xfrm>
          <a:off x="0" y="0"/>
          <a:ext cx="0" cy="0"/>
          <a:chOff x="0" y="0"/>
          <a:chExt cx="0" cy="0"/>
        </a:xfrm>
      </p:grpSpPr>
      <p:sp>
        <p:nvSpPr>
          <p:cNvPr id="2350" name=""/>
          <p:cNvSpPr/>
          <p:nvPr/>
        </p:nvSpPr>
        <p:spPr>
          <a:xfrm rot="0" flipH="0" flipV="0">
            <a:off x="0" y="0"/>
            <a:ext cx="12192000" cy="6858000"/>
          </a:xfrm>
          <a:prstGeom prst="rect">
            <a:avLst/>
          </a:prstGeom>
          <a:solidFill>
            <a:srgbClr val="FFFFFF"/>
          </a:solidFill>
          <a:ln/>
        </p:spPr>
        <p:txBody>
          <a:bodyPr/>
          <a:p/>
        </p:txBody>
      </p:sp>
      <p:sp>
        <p:nvSpPr>
          <p:cNvPr id="2351" name="" descr="{&quot;isTemplate&quot;:true,&quot;type&quot;:&quot;text&quot;}"/>
          <p:cNvSpPr txBox="1"/>
          <p:nvPr/>
        </p:nvSpPr>
        <p:spPr>
          <a:xfrm rot="0" flipH="0" flipV="0">
            <a:off x="666750" y="381000"/>
            <a:ext cx="3352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07 / </a:t>
            </a:r>
            <a:r>
              <a:rPr lang="zh-CN" sz="1050" spc="75">
                <a:solidFill>
                  <a:srgbClr val="7A8699"/>
                </a:solidFill>
                <a:latin typeface="Microsoft YaHei"/>
                <a:ea typeface="Microsoft YaHei"/>
              </a:rPr>
              <a:t>试卷与生涯</a:t>
            </a:r>
            <a:endParaRPr/>
          </a:p>
        </p:txBody>
      </p:sp>
      <p:sp>
        <p:nvSpPr>
          <p:cNvPr id="2352" name="" descr="{&quot;isTemplate&quot;:true,&quot;type&quot;:&quot;text&quot;}"/>
          <p:cNvSpPr txBox="1"/>
          <p:nvPr/>
        </p:nvSpPr>
        <p:spPr>
          <a:xfrm rot="0" flipH="0" flipV="0">
            <a:off x="666750" y="666750"/>
            <a:ext cx="3352800" cy="476250"/>
          </a:xfrm>
          <a:prstGeom prst="rect"/>
        </p:spPr>
        <p:txBody>
          <a:bodyPr wrap="none" lIns="0" tIns="0" rIns="0" bIns="0"/>
          <a:p>
            <a:pPr>
              <a:lnSpc>
                <a:spcPct val="130000"/>
              </a:lnSpc>
            </a:pPr>
            <a:r>
              <a:rPr lang="zh-CN" sz="2400" b="1">
                <a:solidFill>
                  <a:srgbClr val="0E2340"/>
                </a:solidFill>
                <a:latin typeface="Microsoft YaHei"/>
                <a:ea typeface="Microsoft YaHei"/>
              </a:rPr>
              <a:t>试卷质量评价的四个角度</a:t>
            </a:r>
            <a:endParaRPr/>
          </a:p>
        </p:txBody>
      </p:sp>
      <p:sp>
        <p:nvSpPr>
          <p:cNvPr id="2353"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354"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2355" name=""/>
          <p:cNvSpPr/>
          <p:nvPr/>
        </p:nvSpPr>
        <p:spPr>
          <a:xfrm rot="0" flipH="0" flipV="0">
            <a:off x="666750" y="1219200"/>
            <a:ext cx="2571750" cy="3962400"/>
          </a:xfrm>
          <a:prstGeom prst="roundRect">
            <a:avLst>
              <a:gd name="adj" fmla="val 2963"/>
            </a:avLst>
          </a:prstGeom>
          <a:solidFill>
            <a:srgbClr val="FFFFFF"/>
          </a:solidFill>
          <a:ln w="12700">
            <a:solidFill>
              <a:srgbClr val="E3E8EF"/>
            </a:solidFill>
            <a:prstDash val="solid"/>
          </a:ln>
        </p:spPr>
        <p:txBody>
          <a:bodyPr/>
          <a:p/>
        </p:txBody>
      </p:sp>
      <p:sp>
        <p:nvSpPr>
          <p:cNvPr id="2356" name=""/>
          <p:cNvSpPr/>
          <p:nvPr/>
        </p:nvSpPr>
        <p:spPr>
          <a:xfrm rot="0" flipH="0" flipV="0">
            <a:off x="66675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2357" name="" descr="{&quot;isTemplate&quot;:true,&quot;type&quot;:&quot;text&quot;}"/>
          <p:cNvSpPr txBox="1"/>
          <p:nvPr/>
        </p:nvSpPr>
        <p:spPr>
          <a:xfrm rot="0" flipH="0" flipV="0">
            <a:off x="85725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知识点覆盖</a:t>
            </a:r>
            <a:endParaRPr/>
          </a:p>
        </p:txBody>
      </p:sp>
      <p:sp>
        <p:nvSpPr>
          <p:cNvPr id="2358" name="" descr="{&quot;isTemplate&quot;:true,&quot;type&quot;:&quot;text&quot;}"/>
          <p:cNvSpPr txBox="1"/>
          <p:nvPr/>
        </p:nvSpPr>
        <p:spPr>
          <a:xfrm rot="0" flipH="0" flipV="0">
            <a:off x="857250" y="1885950"/>
            <a:ext cx="219075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应区分主要考查内容与顺带使用的前置知识</a:t>
            </a:r>
            <a:endParaRPr/>
          </a:p>
        </p:txBody>
      </p:sp>
      <p:sp>
        <p:nvSpPr>
          <p:cNvPr id="2359" name=""/>
          <p:cNvSpPr/>
          <p:nvPr/>
        </p:nvSpPr>
        <p:spPr>
          <a:xfrm rot="0" flipH="0" flipV="0">
            <a:off x="3429000" y="1219200"/>
            <a:ext cx="2571750" cy="3962400"/>
          </a:xfrm>
          <a:prstGeom prst="roundRect">
            <a:avLst>
              <a:gd name="adj" fmla="val 2963"/>
            </a:avLst>
          </a:prstGeom>
          <a:solidFill>
            <a:srgbClr val="FFFFFF"/>
          </a:solidFill>
          <a:ln w="12700">
            <a:solidFill>
              <a:srgbClr val="E3E8EF"/>
            </a:solidFill>
            <a:prstDash val="solid"/>
          </a:ln>
        </p:spPr>
        <p:txBody>
          <a:bodyPr/>
          <a:p/>
        </p:txBody>
      </p:sp>
      <p:sp>
        <p:nvSpPr>
          <p:cNvPr id="2360" name=""/>
          <p:cNvSpPr/>
          <p:nvPr/>
        </p:nvSpPr>
        <p:spPr>
          <a:xfrm rot="0" flipH="0" flipV="0">
            <a:off x="342900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2361" name="" descr="{&quot;isTemplate&quot;:true,&quot;type&quot;:&quot;text&quot;}"/>
          <p:cNvSpPr txBox="1"/>
          <p:nvPr/>
        </p:nvSpPr>
        <p:spPr>
          <a:xfrm rot="0" flipH="0" flipV="0">
            <a:off x="361950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套路覆盖</a:t>
            </a:r>
            <a:endParaRPr/>
          </a:p>
        </p:txBody>
      </p:sp>
      <p:sp>
        <p:nvSpPr>
          <p:cNvPr id="2362" name="" descr="{&quot;isTemplate&quot;:true,&quot;type&quot;:&quot;text&quot;}"/>
          <p:cNvSpPr txBox="1"/>
          <p:nvPr/>
        </p:nvSpPr>
        <p:spPr>
          <a:xfrm rot="0" flipH="0" flipV="0">
            <a:off x="3619500" y="1885950"/>
            <a:ext cx="219075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参考解法出现某套路，不等于所有正确解法都必须用它</a:t>
            </a:r>
            <a:endParaRPr/>
          </a:p>
        </p:txBody>
      </p:sp>
      <p:sp>
        <p:nvSpPr>
          <p:cNvPr id="2363" name=""/>
          <p:cNvSpPr/>
          <p:nvPr/>
        </p:nvSpPr>
        <p:spPr>
          <a:xfrm rot="0" flipH="0" flipV="0">
            <a:off x="6191250" y="1219200"/>
            <a:ext cx="2571750" cy="3962400"/>
          </a:xfrm>
          <a:prstGeom prst="roundRect">
            <a:avLst>
              <a:gd name="adj" fmla="val 2963"/>
            </a:avLst>
          </a:prstGeom>
          <a:solidFill>
            <a:srgbClr val="FFFFFF"/>
          </a:solidFill>
          <a:ln w="12700">
            <a:solidFill>
              <a:srgbClr val="E3E8EF"/>
            </a:solidFill>
            <a:prstDash val="solid"/>
          </a:ln>
        </p:spPr>
        <p:txBody>
          <a:bodyPr/>
          <a:p/>
        </p:txBody>
      </p:sp>
      <p:sp>
        <p:nvSpPr>
          <p:cNvPr id="2364" name=""/>
          <p:cNvSpPr/>
          <p:nvPr/>
        </p:nvSpPr>
        <p:spPr>
          <a:xfrm rot="0" flipH="0" flipV="0">
            <a:off x="619125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2365" name="" descr="{&quot;isTemplate&quot;:true,&quot;type&quot;:&quot;text&quot;}"/>
          <p:cNvSpPr txBox="1"/>
          <p:nvPr/>
        </p:nvSpPr>
        <p:spPr>
          <a:xfrm rot="0" flipH="0" flipV="0">
            <a:off x="638175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步骤难度</a:t>
            </a:r>
            <a:endParaRPr/>
          </a:p>
        </p:txBody>
      </p:sp>
      <p:sp>
        <p:nvSpPr>
          <p:cNvPr id="2366" name="" descr="{&quot;isTemplate&quot;:true,&quot;type&quot;:&quot;text&quot;}"/>
          <p:cNvSpPr txBox="1"/>
          <p:nvPr/>
        </p:nvSpPr>
        <p:spPr>
          <a:xfrm rot="0" flipH="0" flipV="0">
            <a:off x="6381750" y="1885950"/>
            <a:ext cx="219075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逐题步骤难度是否符合模板要求</a:t>
            </a:r>
            <a:endParaRPr/>
          </a:p>
        </p:txBody>
      </p:sp>
      <p:sp>
        <p:nvSpPr>
          <p:cNvPr id="2367" name=""/>
          <p:cNvSpPr/>
          <p:nvPr/>
        </p:nvSpPr>
        <p:spPr>
          <a:xfrm rot="0" flipH="0" flipV="0">
            <a:off x="8953500" y="1219200"/>
            <a:ext cx="2571750" cy="3962400"/>
          </a:xfrm>
          <a:prstGeom prst="roundRect">
            <a:avLst>
              <a:gd name="adj" fmla="val 2963"/>
            </a:avLst>
          </a:prstGeom>
          <a:solidFill>
            <a:srgbClr val="FFFFFF"/>
          </a:solidFill>
          <a:ln w="12700">
            <a:solidFill>
              <a:srgbClr val="E3E8EF"/>
            </a:solidFill>
            <a:prstDash val="solid"/>
          </a:ln>
        </p:spPr>
        <p:txBody>
          <a:bodyPr/>
          <a:p/>
        </p:txBody>
      </p:sp>
      <p:sp>
        <p:nvSpPr>
          <p:cNvPr id="2368" name=""/>
          <p:cNvSpPr/>
          <p:nvPr/>
        </p:nvSpPr>
        <p:spPr>
          <a:xfrm rot="0" flipH="0" flipV="0">
            <a:off x="895350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2369" name="" descr="{&quot;isTemplate&quot;:true,&quot;type&quot;:&quot;text&quot;}"/>
          <p:cNvSpPr txBox="1"/>
          <p:nvPr/>
        </p:nvSpPr>
        <p:spPr>
          <a:xfrm rot="0" flipH="0" flipV="0">
            <a:off x="914400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整卷分布</a:t>
            </a:r>
            <a:endParaRPr/>
          </a:p>
        </p:txBody>
      </p:sp>
      <p:sp>
        <p:nvSpPr>
          <p:cNvPr id="2370" name="" descr="{&quot;isTemplate&quot;:true,&quot;type&quot;:&quot;text&quot;}"/>
          <p:cNvSpPr txBox="1"/>
          <p:nvPr/>
        </p:nvSpPr>
        <p:spPr>
          <a:xfrm rot="0" flipH="0" flipV="0">
            <a:off x="9144000" y="1885950"/>
            <a:ext cx="219075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覆盖与难度在整卷上的分布是否合理</a:t>
            </a:r>
            <a:endParaRPr/>
          </a:p>
        </p:txBody>
      </p:sp>
      <p:sp>
        <p:nvSpPr>
          <p:cNvPr id="2371" name=""/>
          <p:cNvSpPr/>
          <p:nvPr/>
        </p:nvSpPr>
        <p:spPr>
          <a:xfrm rot="0" flipH="0" flipV="0">
            <a:off x="704850" y="5353050"/>
            <a:ext cx="10858500" cy="857250"/>
          </a:xfrm>
          <a:prstGeom prst="roundRect">
            <a:avLst>
              <a:gd name="adj" fmla="val 6667"/>
            </a:avLst>
          </a:prstGeom>
          <a:solidFill>
            <a:srgbClr val="F5F7FA"/>
          </a:solidFill>
          <a:ln/>
        </p:spPr>
        <p:txBody>
          <a:bodyPr/>
          <a:p/>
        </p:txBody>
      </p:sp>
      <p:sp>
        <p:nvSpPr>
          <p:cNvPr id="2372" name=""/>
          <p:cNvSpPr/>
          <p:nvPr/>
        </p:nvSpPr>
        <p:spPr>
          <a:xfrm rot="0" flipH="0" flipV="0">
            <a:off x="704850" y="5353050"/>
            <a:ext cx="10858500" cy="857250"/>
          </a:xfrm>
          <a:custGeom>
            <a:pathLst>
              <a:path w="1140" h="90">
                <a:moveTo>
                  <a:pt x="6" y="0"/>
                </a:moveTo>
                <a:cubicBezTo>
                  <a:pt x="5" y="0"/>
                  <a:pt x="4" y="1"/>
                  <a:pt x="4" y="2"/>
                </a:cubicBezTo>
                <a:lnTo>
                  <a:pt x="4" y="88"/>
                </a:lnTo>
                <a:cubicBezTo>
                  <a:pt x="4" y="89"/>
                  <a:pt x="5" y="90"/>
                  <a:pt x="6" y="90"/>
                </a:cubicBezTo>
                <a:cubicBezTo>
                  <a:pt x="3" y="90"/>
                  <a:pt x="0" y="87"/>
                  <a:pt x="0" y="84"/>
                </a:cubicBezTo>
                <a:lnTo>
                  <a:pt x="0" y="6"/>
                </a:lnTo>
                <a:cubicBezTo>
                  <a:pt x="0" y="3"/>
                  <a:pt x="3" y="0"/>
                  <a:pt x="6" y="0"/>
                </a:cubicBezTo>
                <a:close/>
              </a:path>
            </a:pathLst>
          </a:custGeom>
          <a:solidFill>
            <a:srgbClr val="0E2340"/>
          </a:solidFill>
          <a:ln/>
        </p:spPr>
        <p:txBody>
          <a:bodyPr/>
          <a:p/>
        </p:txBody>
      </p:sp>
      <p:sp>
        <p:nvSpPr>
          <p:cNvPr id="2373" name="" descr="{&quot;isTemplate&quot;:true,&quot;type&quot;:&quot;text&quot;}"/>
          <p:cNvSpPr txBox="1"/>
          <p:nvPr/>
        </p:nvSpPr>
        <p:spPr>
          <a:xfrm rot="0" flipH="0" flipV="0">
            <a:off x="895350" y="5486400"/>
            <a:ext cx="10439400" cy="590550"/>
          </a:xfrm>
          <a:prstGeom prst="rect"/>
        </p:spPr>
        <p:txBody>
          <a:bodyPr wrap="square" lIns="0" tIns="0" rIns="0" bIns="0">
            <a:normAutofit/>
          </a:bodyPr>
          <a:p>
            <a:pPr>
              <a:lnSpc>
                <a:spcPct val="150000"/>
              </a:lnSpc>
            </a:pPr>
            <a:r>
              <a:rPr lang="zh-CN" sz="1275" b="1">
                <a:solidFill>
                  <a:srgbClr val="0E2340"/>
                </a:solidFill>
                <a:latin typeface="Microsoft YaHei"/>
                <a:ea typeface="Microsoft YaHei"/>
              </a:rPr>
              <a:t>“出得好不好”应落实为“对特定教学目的和学生范围是否合适”；覆盖越广、难度越高不自动意味着越好。标签不完整时标注评价范围或暂定状态，未识别内容不能直接算成未覆盖</a:t>
            </a:r>
            <a:endParaRPr/>
          </a:p>
        </p:txBody>
      </p:sp>
      <p:sp>
        <p:nvSpPr>
          <p:cNvPr id="2374"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375"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依据：试卷与生涯维度设计思路</a:t>
            </a:r>
            <a:r>
              <a:rPr lang="en-US" sz="975">
                <a:solidFill>
                  <a:srgbClr val="7A8699"/>
                </a:solidFill>
                <a:latin typeface="Microsoft YaHei"/>
                <a:ea typeface="Microsoft YaHei"/>
              </a:rPr>
              <a:t>.md §3</a:t>
            </a:r>
            <a:endParaRPr/>
          </a:p>
        </p:txBody>
      </p:sp>
      <p:sp>
        <p:nvSpPr>
          <p:cNvPr id="2376"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68 / 124 </a:t>
            </a:r>
            <a:endParaRPr/>
          </a:p>
        </p:txBody>
      </p:sp>
    </p:spTree>
  </p:cSld>
</p:sld>
</file>

<file path=ppt/slides/slide69.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377"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7 / 试卷与生涯&lt;/Text&gt;&lt;Text style={{ fontSize: 32, color: '#0E2340', fontWeight: 700, lineHeight: 1.3 }}&gt;一键生成试卷的五步流程&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8 }}&gt;&lt;Box style={{ flexDirection: 'column', gap: 16, flex: 1, justifyContent: 'center' }}&gt;&lt;svg width={1140} height={290} viewBox='0 0 1140 290'&gt;&lt;rect x='0' y='30' width='213' height='150' rx='8' fill='#FFFFFF' stroke='#1E7BE0' stroke-width='1.5'/&gt;&lt;rect x='0' y='30' width='213' height='6' rx='3' fill='#0E2340'/&gt;&lt;circle cx='26' cy='66' r='16' fill='#1E7BE0'/&gt;&lt;text x='26' y='72' font-size='16' fill='#FFFFFF' text-anchor='middle' font-weight='700'&gt;1&lt;/text&gt;&lt;text x='106.5' y='116' font-size='18' fill='#0E2340' text-anchor='middle' font-weight='600'&gt;读模板与提示词&lt;/text&gt;&lt;text x='106.5' y='146' font-size='14' fill='#7A8699' text-anchor='middle' font-weight='400'&gt;明确目标&lt;/text&gt;&lt;path d='M214 105 l14 0' stroke='#1E7BE0' stroke-width='2'/&gt;&lt;path d='M228 105 l-7 -5 l0 10 z' fill='#1E7BE0'/&gt;&lt;rect x='231' y='30' width='213' height='150' rx='8' fill='#FFFFFF' stroke='#1E7BE0' stroke-width='1.5'/&gt;&lt;rect x='231' y='30' width='213' height='6' rx='3' fill='#0E2340'/&gt;&lt;circle cx='257' cy='66' r='16' fill='#1E7BE0'/&gt;&lt;text x='257' y='72' font-size='16' fill='#FFFFFF' text-anchor='middle' font-weight='700'&gt;2&lt;/text&gt;&lt;text x='337.5' y='116' font-size='18' fill='#0E2340' text-anchor='middle' font-weight='600'&gt;整卷目标分配到各题位&lt;/text&gt;&lt;text x='337.5' y='146' font-size='14' fill='#7A8699' text-anchor='middle' font-weight='400'&gt;避免整体偏离&lt;/text&gt;&lt;path d='M445 105 l14 0' stroke='#1E7BE0' stroke-width='2'/&gt;&lt;path d='M459 105 l-7 -5 l0 10 z' fill='#1E7BE0'/&gt;&lt;rect x='462' y='30' width='213' height='150' rx='8' fill='#FFFFFF' stroke='#1E7BE0' stroke-width='1.5'/&gt;&lt;rect x='462' y='30' width='213' height='6' rx='3' fill='#0E2340'/&gt;&lt;circle cx='488' cy='66' r='16' fill='#1E7BE0'/&gt;&lt;text x='488' y='72' font-size='16' fill='#FFFFFF' text-anchor='middle' font-weight='700'&gt;3&lt;/text&gt;&lt;text x='568.5' y='116' font-size='18' fill='#0E2340' text-anchor='middle' font-weight='600'&gt;选取 / 生成候选题&lt;/text&gt;&lt;text x='568.5' y='146' font-size='14' fill='#7A8699' text-anchor='middle' font-weight='400'&gt;复用单题校验&lt;/text&gt;&lt;path d='M676 105 l14 0' stroke='#1E7BE0' stroke-width='2'/&gt;&lt;path d='M690 105 l-7 -5 l0 10 z' fill='#1E7BE0'/&gt;&lt;rect x='693' y='30' width='213' height='150' rx='8' fill='#FFFFFF' stroke='#1E7BE0' stroke-width='1.5'/&gt;&lt;rect x='693' y='30' width='213' height='6' rx='3' fill='#0E2340'/&gt;&lt;circle cx='719' cy='66' r='16' fill='#1E7BE0'/&gt;&lt;text x='719' y='72' font-size='16' fill='#FFFFFF' text-anchor='middle' font-weight='700'&gt;4&lt;/text&gt;&lt;text x='799.5' y='116' font-size='18' fill='#0E2340' text-anchor='middle' font-weight='600'&gt;汇总整卷覆盖与难度&lt;/text&gt;&lt;text x='799.5' y='146' font-size='14' fill='#7A8699' text-anchor='middle' font-weight='400'&gt;按同一模板检查&lt;/text&gt;&lt;path d='M907 105 l14 0' stroke='#1E7BE0' stroke-width='2'/&gt;&lt;path d='M921 105 l-7 -5 l0 10 z' fill='#1E7BE0'/&gt;&lt;rect x='924' y='30' width='213' height='150' rx='8' fill='#FFFFFF' stroke='#1E7BE0' stroke-width='1.5'/&gt;&lt;rect x='924' y='30' width='213' height='6' rx='3' fill='#0E2340'/&gt;&lt;circle cx='950' cy='66' r='16' fill='#1E7BE0'/&gt;&lt;text x='950' y='72' font-size='16' fill='#FFFFFF' text-anchor='middle' font-weight='700'&gt;5&lt;/text&gt;&lt;text x='1030.5' y='116' font-size='18' fill='#0E2340' text-anchor='middle' font-weight='600'&gt;输出三类产物&lt;/text&gt;&lt;text x='1030.5' y='146' font-size='14' fill='#7A8699' text-anchor='middle' font-weight='400'&gt;用卷 / 答案解析 / 符合情况&lt;/text&gt;&lt;path d='M40 200 L1100 200' stroke='#00A9B5' stroke-width='2' stroke-dasharray='5 5'/&gt;&lt;path d='M40 200 l10 -6 l0 12 z' fill='#00A9B5'/&gt;&lt;text x='570.0' y='226' font-size='15' fill='#00A9B5' text-anchor='middle' font-weight='600'&gt;阶段之间可回退：变式暴露某步不会 → 返回该步训练&lt;/text&gt;&lt;/svg&gt;&lt;/Box&gt;&lt;Box style={{ flexDirection: 'row', alignItems: 'center', background: '#F5F7FA', borderLeft: '4px solid #00A9B5', borderRadius: 6, padding: '14px 20px' }}&gt;&lt;Text style={{ fontSize: 17, color: '#0E2340', fontWeight: 600, lineHeight: 1.5 }}&gt;单题能够解出，是整卷生成的基础条件；整张卷仍需检查覆盖、结构与难度是否符合模板&lt;/Text&gt;&lt;/Box&gt;&lt;/Box&gt;&lt;/Box&gt;&lt;Box style={{ height: 40, flexDirection: 'row', justifyContent: 'space-between', alignItems: 'center', borderTop: '1px solid #E3E8EF', marginTop: 8 }}&gt;&lt;Text style={{ fontSize: 13, color: '#7A8699', fontWeight: 400, lineHeight: 1.4 }}&gt;依据：试卷与生涯维度设计思路.md §4&lt;/Text&gt;&lt;Text style={{ fontSize: 14, color: '#7A8699', fontWeight: 400, lineHeight: 1.4 }}&gt; 69 / 124 &lt;/Text&gt;&lt;/Box&gt;&lt;/Slide&gt;"/>
        <p:cNvGrpSpPr/>
        <p:nvPr/>
      </p:nvGrpSpPr>
      <p:grpSpPr>
        <a:xfrm>
          <a:off x="0" y="0"/>
          <a:ext cx="0" cy="0"/>
          <a:chOff x="0" y="0"/>
          <a:chExt cx="0" cy="0"/>
        </a:xfrm>
      </p:grpSpPr>
      <p:sp>
        <p:nvSpPr>
          <p:cNvPr id="2378" name=""/>
          <p:cNvSpPr/>
          <p:nvPr/>
        </p:nvSpPr>
        <p:spPr>
          <a:xfrm rot="0" flipH="0" flipV="0">
            <a:off x="0" y="0"/>
            <a:ext cx="12192000" cy="6858000"/>
          </a:xfrm>
          <a:prstGeom prst="rect">
            <a:avLst/>
          </a:prstGeom>
          <a:solidFill>
            <a:srgbClr val="FFFFFF"/>
          </a:solidFill>
          <a:ln/>
        </p:spPr>
        <p:txBody>
          <a:bodyPr/>
          <a:p/>
        </p:txBody>
      </p:sp>
      <p:sp>
        <p:nvSpPr>
          <p:cNvPr id="2379" name="" descr="{&quot;isTemplate&quot;:true,&quot;type&quot;:&quot;text&quot;}"/>
          <p:cNvSpPr txBox="1"/>
          <p:nvPr/>
        </p:nvSpPr>
        <p:spPr>
          <a:xfrm rot="0" flipH="0" flipV="0">
            <a:off x="666750" y="381000"/>
            <a:ext cx="3352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07 / </a:t>
            </a:r>
            <a:r>
              <a:rPr lang="zh-CN" sz="1050" spc="75">
                <a:solidFill>
                  <a:srgbClr val="7A8699"/>
                </a:solidFill>
                <a:latin typeface="Microsoft YaHei"/>
                <a:ea typeface="Microsoft YaHei"/>
              </a:rPr>
              <a:t>试卷与生涯</a:t>
            </a:r>
            <a:endParaRPr/>
          </a:p>
        </p:txBody>
      </p:sp>
      <p:sp>
        <p:nvSpPr>
          <p:cNvPr id="2380" name="" descr="{&quot;isTemplate&quot;:true,&quot;type&quot;:&quot;text&quot;}"/>
          <p:cNvSpPr txBox="1"/>
          <p:nvPr/>
        </p:nvSpPr>
        <p:spPr>
          <a:xfrm rot="0" flipH="0" flipV="0">
            <a:off x="666750" y="666750"/>
            <a:ext cx="3352800" cy="476250"/>
          </a:xfrm>
          <a:prstGeom prst="rect"/>
        </p:spPr>
        <p:txBody>
          <a:bodyPr wrap="none" lIns="0" tIns="0" rIns="0" bIns="0"/>
          <a:p>
            <a:pPr>
              <a:lnSpc>
                <a:spcPct val="130000"/>
              </a:lnSpc>
            </a:pPr>
            <a:r>
              <a:rPr lang="zh-CN" sz="2400" b="1">
                <a:solidFill>
                  <a:srgbClr val="0E2340"/>
                </a:solidFill>
                <a:latin typeface="Microsoft YaHei"/>
                <a:ea typeface="Microsoft YaHei"/>
              </a:rPr>
              <a:t>一键生成试卷的五步流程</a:t>
            </a:r>
            <a:endParaRPr/>
          </a:p>
        </p:txBody>
      </p:sp>
      <p:sp>
        <p:nvSpPr>
          <p:cNvPr id="2381"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382"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2383" name=""/>
          <p:cNvPicPr>
            <a:picLocks noChangeAspect="1"/>
          </p:cNvPicPr>
          <p:nvPr/>
        </p:nvPicPr>
        <p:blipFill>
          <a:blip>
            <a:extLst>
              <a:ext uri="{96DAC541-7B7A-43D3-8B79-37D633B846F1}">
                <asvg:svgBlip r:embed="rId1"/>
              </a:ext>
            </a:extLst>
          </a:blip>
          <a:stretch>
            <a:fillRect/>
          </a:stretch>
        </p:blipFill>
        <p:spPr>
          <a:xfrm rot="0" flipH="0" flipV="0">
            <a:off x="666750" y="1971675"/>
            <a:ext cx="10858500" cy="2762250"/>
          </a:xfrm>
          <a:prstGeom prst="rect">
            <a:avLst/>
          </a:prstGeom>
          <a:ln/>
        </p:spPr>
      </p:pic>
      <p:sp>
        <p:nvSpPr>
          <p:cNvPr id="2384" name=""/>
          <p:cNvSpPr/>
          <p:nvPr/>
        </p:nvSpPr>
        <p:spPr>
          <a:xfrm rot="0" flipH="0" flipV="0">
            <a:off x="704850" y="5648325"/>
            <a:ext cx="10858500" cy="561975"/>
          </a:xfrm>
          <a:prstGeom prst="roundRect">
            <a:avLst>
              <a:gd name="adj" fmla="val 10169"/>
            </a:avLst>
          </a:prstGeom>
          <a:solidFill>
            <a:srgbClr val="F5F7FA"/>
          </a:solidFill>
          <a:ln/>
        </p:spPr>
        <p:txBody>
          <a:bodyPr/>
          <a:p/>
        </p:txBody>
      </p:sp>
      <p:sp>
        <p:nvSpPr>
          <p:cNvPr id="2385" name=""/>
          <p:cNvSpPr/>
          <p:nvPr/>
        </p:nvSpPr>
        <p:spPr>
          <a:xfrm rot="0" flipH="0" flipV="0">
            <a:off x="704850" y="5648325"/>
            <a:ext cx="10858500" cy="561975"/>
          </a:xfrm>
          <a:custGeom>
            <a:pathLst>
              <a:path w="1140" h="59">
                <a:moveTo>
                  <a:pt x="6" y="0"/>
                </a:moveTo>
                <a:cubicBezTo>
                  <a:pt x="5" y="0"/>
                  <a:pt x="4" y="1"/>
                  <a:pt x="4" y="2"/>
                </a:cubicBezTo>
                <a:lnTo>
                  <a:pt x="4" y="57"/>
                </a:lnTo>
                <a:cubicBezTo>
                  <a:pt x="4" y="58"/>
                  <a:pt x="5" y="59"/>
                  <a:pt x="6" y="59"/>
                </a:cubicBezTo>
                <a:cubicBezTo>
                  <a:pt x="3" y="59"/>
                  <a:pt x="0" y="56"/>
                  <a:pt x="0" y="53"/>
                </a:cubicBezTo>
                <a:lnTo>
                  <a:pt x="0" y="6"/>
                </a:lnTo>
                <a:cubicBezTo>
                  <a:pt x="0" y="3"/>
                  <a:pt x="3" y="0"/>
                  <a:pt x="6" y="0"/>
                </a:cubicBezTo>
                <a:close/>
              </a:path>
            </a:pathLst>
          </a:custGeom>
          <a:solidFill>
            <a:srgbClr val="00A9B5"/>
          </a:solidFill>
          <a:ln/>
        </p:spPr>
        <p:txBody>
          <a:bodyPr/>
          <a:p/>
        </p:txBody>
      </p:sp>
      <p:sp>
        <p:nvSpPr>
          <p:cNvPr id="2386" name="" descr="{&quot;isTemplate&quot;:true,&quot;type&quot;:&quot;text&quot;}"/>
          <p:cNvSpPr txBox="1"/>
          <p:nvPr/>
        </p:nvSpPr>
        <p:spPr>
          <a:xfrm rot="0" flipH="0" flipV="0">
            <a:off x="895350" y="5781675"/>
            <a:ext cx="6315075" cy="295275"/>
          </a:xfrm>
          <a:prstGeom prst="rect"/>
        </p:spPr>
        <p:txBody>
          <a:bodyPr wrap="none" lIns="0" tIns="0" rIns="0" bIns="0"/>
          <a:p>
            <a:pPr>
              <a:lnSpc>
                <a:spcPct val="150000"/>
              </a:lnSpc>
            </a:pPr>
            <a:r>
              <a:rPr lang="zh-CN" sz="1275" b="1">
                <a:solidFill>
                  <a:srgbClr val="0E2340"/>
                </a:solidFill>
                <a:latin typeface="Microsoft YaHei"/>
                <a:ea typeface="Microsoft YaHei"/>
              </a:rPr>
              <a:t>单题能够解出，是整卷生成的基础条件；整张卷仍需检查覆盖、结构与难度是否符合模板</a:t>
            </a:r>
            <a:endParaRPr/>
          </a:p>
        </p:txBody>
      </p:sp>
      <p:sp>
        <p:nvSpPr>
          <p:cNvPr id="2387"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388"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依据：试卷与生涯维度设计思路</a:t>
            </a:r>
            <a:r>
              <a:rPr lang="en-US" sz="975">
                <a:solidFill>
                  <a:srgbClr val="7A8699"/>
                </a:solidFill>
                <a:latin typeface="Microsoft YaHei"/>
                <a:ea typeface="Microsoft YaHei"/>
              </a:rPr>
              <a:t>.md §4</a:t>
            </a:r>
            <a:endParaRPr/>
          </a:p>
        </p:txBody>
      </p:sp>
      <p:sp>
        <p:nvSpPr>
          <p:cNvPr id="2389"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69 / 124 </a:t>
            </a:r>
            <a:endParaRPr/>
          </a:p>
        </p:txBody>
      </p:sp>
    </p:spTree>
  </p:cSld>
</p:sld>
</file>

<file path=ppt/slides/slide70.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403"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7 / 试卷与生涯&lt;/Text&gt;&lt;Text style={{ fontSize: 32, color: '#0E2340', fontWeight: 700, lineHeight: 1.3 }}&gt;整卷作答分析：用时间线还原失分过程&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row', gap: 28, flex: 1 }}&gt;&lt;Box style={{ width: 620, justifyContent: 'center' }}&gt;&lt;svg width={620} height={400} viewBox='0 0 620 400'&gt;&lt;rect x='0' y='0' width='620' height='400' rx='8' fill='#FFFFFF' stroke='#E3E8EF' stroke-width='1.5'/&gt;&lt;rect x='0' y='0' width='620' height='40' rx='8' fill='#0E2340'/&gt;&lt;rect x='0' y='26' width='620' height='14' fill='#0E2340'/&gt;&lt;text x='16' y='26' font-size='15' fill='#FFFFFF' text-anchor='start' font-weight='600'&gt;StudyAgent&lt;/text&gt;&lt;rect x='18' y='58' width='584' height='26' rx='4' fill='#F5F7FA'/&gt;&lt;text x='30' y='76' font-size='14' fill='#0E2340' text-anchor='start' font-weight='600'&gt;整卷作答分析 · 用时分布与回放&lt;/text&gt;&lt;rect x='18' y='92' width='584' height='160' rx='6' fill='#F5F7FA' stroke='#7A8699' stroke-width='1' stroke-dasharray='5 4'/&gt;&lt;text x='310.0' y='177.0' font-size='15' fill='#7A8699' text-anchor='middle' font-weight='600'&gt;各题时间块：首次作答 / 返回修改 / 检查 / 跨题停顿&lt;/text&gt;&lt;rect x='18' y='264' width='584' height='52' rx='6' fill='#FFFFFF' stroke='#7A8699' stroke-width='1' stroke-dasharray='4 4'/&gt;&lt;text x='30' y='296' font-size='14' fill='#333A45' text-anchor='start' font-weight='400'&gt;四类失分方向：掌握问题 / 时间策略 / 执行熟练度 / 临场状态&lt;/text&gt;&lt;rect x='18' y='324' width='584' height='28' rx='14' fill='#EAF3FD'/&gt;&lt;text x='30' y='343' font-size='14' fill='#1E7BE0' text-anchor='start' font-weight='600'&gt;可核对依据 + 后续验证方式&lt;/text&gt;&lt;rect x='18' y='360' width='584' height='34' rx='17' fill='#1E7BE0'/&gt;&lt;text x='310.0' y='383' font-size='15' fill='#FFFFFF' text-anchor='middle' font-weight='600'&gt;生成下一步训练或复测建议&lt;/text&gt;&lt;text x='608' y='390' font-size='12' fill='#7A8699' text-anchor='end' font-weight='400'&gt;示意占位 · S26&lt;/text&gt;&lt;/svg&gt;&lt;/Box&gt;&lt;Box style={{ flex: 1, flexDirection: 'column', gap: 10, justifyContent: 'center' }}&gt;&lt;Text style={{ fontSize: 21, color: '#0E2340', fontWeight: 700, lineHeight: 1.4 }}&gt;界面要点&lt;/Text&gt;&lt;Box style={{ flexDirection: 'column', gap: 9 }}&gt;&lt;Box style={{ flexDirection: 'row', gap: 12, alignItems: 'flex-start' }}&gt;&lt;Box style={{ width: 8, height: 8, borderRadius: 4, background: '#1E7BE0', marginTop: 9 }} /&gt;&lt;Box style={{ flex: 1 }}&gt;&lt;Text style={{ fontSize: 16, color: '#333A45', fontWeight: 400, lineHeight: 1.6 }}&gt;逐题用时汇总多个作答时段，区分首次作答、返回修改与检查；跨题停顿单独保留。&lt;/Text&gt;&lt;/Box&gt;&lt;/Box&gt;&lt;Box style={{ flexDirection: 'row', gap: 12, alignItems: 'flex-start' }}&gt;&lt;Box style={{ width: 8, height: 8, borderRadius: 4, background: '#1E7BE0', marginTop: 9 }} /&gt;&lt;Box style={{ flex: 1 }}&gt;&lt;Text style={{ fontSize: 16, color: '#333A45', fontWeight: 400, lineHeight: 1.6 }}&gt;只有首末笔时间，不能准确代表一道题的全部思考时间；没有落笔也不代表没有读题、心算或规划。&lt;/Text&gt;&lt;/Box&gt;&lt;/Box&gt;&lt;Box style={{ flexDirection: 'row', gap: 12, alignItems: 'flex-start' }}&gt;&lt;Box style={{ width: 8, height: 8, borderRadius: 4, background: '#1E7BE0', marginTop: 9 }} /&gt;&lt;Box style={{ flex: 1 }}&gt;&lt;Text style={{ fontSize: 16, color: '#333A45', fontWeight: 400, lineHeight: 1.6 }}&gt;“这次确实在某题停留很久”与“为什么停留很久”需要分开记录。&lt;/Text&gt;&lt;/Box&gt;&lt;/Box&gt;&lt;Box style={{ flexDirection: 'row', gap: 12, alignItems: 'flex-start' }}&gt;&lt;Box style={{ width: 8, height: 8, borderRadius: 4, background: '#1E7BE0', marginTop: 9 }} /&gt;&lt;Box style={{ flex: 1 }}&gt;&lt;Text style={{ fontSize: 16, color: '#333A45', fontWeight: 400, lineHeight: 1.6 }}&gt;建议须对应具体行为，如“下一次先完成可独立解决的题目，再返回卡住的题”，而非笼统的“提高效率”。&lt;/Text&gt;&lt;/Box&gt;&lt;/Box&gt;&lt;Box style={{ flexDirection: 'row', gap: 12, alignItems: 'flex-start' }}&gt;&lt;Box style={{ width: 8, height: 8, borderRadius: 4, background: '#1E7BE0', marginTop: 9 }} /&gt;&lt;Box style={{ flex: 1 }}&gt;&lt;Text style={{ fontSize: 16, color: '#333A45', fontWeight: 400, lineHeight: 1.6 }}&gt;可观察事实、模型可能原因、教师或学生确认信息分别保留，不能把 AI 归因直接当训练真值。&lt;/Text&gt;&lt;/Box&gt;&lt;/Box&gt;&lt;/Box&gt;&lt;Box style={{ marginTop: 6, padding: '9px 14px', background: '#F5F7FA', borderRadius: 6, alignSelf: 'flex-start' }}&gt;&lt;Text style={{ fontSize: 14, color: '#7A8699', fontWeight: 600, lineHeight: 1.4 }}&gt;示意占位 S26 · 待替换为实际截图&lt;/Text&gt;&lt;/Box&gt;&lt;/Box&gt;&lt;/Box&gt;&lt;/Box&gt;&lt;Box style={{ height: 40, flexDirection: 'row', justifyContent: 'space-between', alignItems: 'center', borderTop: '1px solid #E3E8EF', marginTop: 8 }}&gt;&lt;Text style={{ fontSize: 13, color: '#7A8699', fontWeight: 400, lineHeight: 1.4 }}&gt;依据：试卷与生涯维度设计思路.md §5&lt;/Text&gt;&lt;Text style={{ fontSize: 14, color: '#7A8699', fontWeight: 400, lineHeight: 1.4 }}&gt; 70 / 124 &lt;/Text&gt;&lt;/Box&gt;&lt;/Slide&gt;"/>
        <p:cNvGrpSpPr/>
        <p:nvPr/>
      </p:nvGrpSpPr>
      <p:grpSpPr>
        <a:xfrm>
          <a:off x="0" y="0"/>
          <a:ext cx="0" cy="0"/>
          <a:chOff x="0" y="0"/>
          <a:chExt cx="0" cy="0"/>
        </a:xfrm>
      </p:grpSpPr>
      <p:sp>
        <p:nvSpPr>
          <p:cNvPr id="2404" name=""/>
          <p:cNvSpPr/>
          <p:nvPr/>
        </p:nvSpPr>
        <p:spPr>
          <a:xfrm rot="0" flipH="0" flipV="0">
            <a:off x="0" y="0"/>
            <a:ext cx="12192000" cy="6858000"/>
          </a:xfrm>
          <a:prstGeom prst="rect">
            <a:avLst/>
          </a:prstGeom>
          <a:solidFill>
            <a:srgbClr val="FFFFFF"/>
          </a:solidFill>
          <a:ln/>
        </p:spPr>
        <p:txBody>
          <a:bodyPr/>
          <a:p/>
        </p:txBody>
      </p:sp>
      <p:sp>
        <p:nvSpPr>
          <p:cNvPr id="2405" name="" descr="{&quot;isTemplate&quot;:true,&quot;type&quot;:&quot;text&quot;}"/>
          <p:cNvSpPr txBox="1"/>
          <p:nvPr/>
        </p:nvSpPr>
        <p:spPr>
          <a:xfrm rot="0" flipH="0" flipV="0">
            <a:off x="666750" y="381000"/>
            <a:ext cx="5181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07 / </a:t>
            </a:r>
            <a:r>
              <a:rPr lang="zh-CN" sz="1050" spc="75">
                <a:solidFill>
                  <a:srgbClr val="7A8699"/>
                </a:solidFill>
                <a:latin typeface="Microsoft YaHei"/>
                <a:ea typeface="Microsoft YaHei"/>
              </a:rPr>
              <a:t>试卷与生涯</a:t>
            </a:r>
            <a:endParaRPr/>
          </a:p>
        </p:txBody>
      </p:sp>
      <p:sp>
        <p:nvSpPr>
          <p:cNvPr id="2406" name="" descr="{&quot;isTemplate&quot;:true,&quot;type&quot;:&quot;text&quot;}"/>
          <p:cNvSpPr txBox="1"/>
          <p:nvPr/>
        </p:nvSpPr>
        <p:spPr>
          <a:xfrm rot="0" flipH="0" flipV="0">
            <a:off x="666750" y="666750"/>
            <a:ext cx="5181600" cy="476250"/>
          </a:xfrm>
          <a:prstGeom prst="rect"/>
        </p:spPr>
        <p:txBody>
          <a:bodyPr wrap="none" lIns="0" tIns="0" rIns="0" bIns="0"/>
          <a:p>
            <a:pPr>
              <a:lnSpc>
                <a:spcPct val="130000"/>
              </a:lnSpc>
            </a:pPr>
            <a:r>
              <a:rPr lang="zh-CN" sz="2400" b="1">
                <a:solidFill>
                  <a:srgbClr val="0E2340"/>
                </a:solidFill>
                <a:latin typeface="Microsoft YaHei"/>
                <a:ea typeface="Microsoft YaHei"/>
              </a:rPr>
              <a:t>整卷作答分析：用时间线还原失分过程</a:t>
            </a:r>
            <a:endParaRPr/>
          </a:p>
        </p:txBody>
      </p:sp>
      <p:sp>
        <p:nvSpPr>
          <p:cNvPr id="2407"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408"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2409" name=""/>
          <p:cNvPicPr>
            <a:picLocks noChangeAspect="1"/>
          </p:cNvPicPr>
          <p:nvPr/>
        </p:nvPicPr>
        <p:blipFill>
          <a:blip>
            <a:extLst>
              <a:ext uri="{96DAC541-7B7A-43D3-8B79-37D633B846F1}">
                <asvg:svgBlip r:embed="rId1"/>
              </a:ext>
            </a:extLst>
          </a:blip>
          <a:stretch>
            <a:fillRect/>
          </a:stretch>
        </p:blipFill>
        <p:spPr>
          <a:xfrm rot="0" flipH="0" flipV="0">
            <a:off x="666750" y="1809750"/>
            <a:ext cx="5905500" cy="3810000"/>
          </a:xfrm>
          <a:prstGeom prst="rect">
            <a:avLst/>
          </a:prstGeom>
          <a:ln/>
        </p:spPr>
      </p:pic>
      <p:sp>
        <p:nvSpPr>
          <p:cNvPr id="2410" name="" descr="{&quot;isTemplate&quot;:true,&quot;type&quot;:&quot;text&quot;}"/>
          <p:cNvSpPr txBox="1"/>
          <p:nvPr/>
        </p:nvSpPr>
        <p:spPr>
          <a:xfrm rot="0" flipH="0" flipV="0">
            <a:off x="6838950" y="1724025"/>
            <a:ext cx="4686300" cy="342900"/>
          </a:xfrm>
          <a:prstGeom prst="rect"/>
        </p:spPr>
        <p:txBody>
          <a:bodyPr wrap="none" lIns="0" tIns="0" rIns="0" bIns="0"/>
          <a:p>
            <a:pPr>
              <a:lnSpc>
                <a:spcPct val="140000"/>
              </a:lnSpc>
            </a:pPr>
            <a:r>
              <a:rPr lang="zh-CN" sz="1575" b="1">
                <a:solidFill>
                  <a:srgbClr val="0E2340"/>
                </a:solidFill>
                <a:latin typeface="Microsoft YaHei"/>
                <a:ea typeface="Microsoft YaHei"/>
              </a:rPr>
              <a:t>界面要点</a:t>
            </a:r>
            <a:endParaRPr/>
          </a:p>
        </p:txBody>
      </p:sp>
      <p:sp>
        <p:nvSpPr>
          <p:cNvPr id="2411" name=""/>
          <p:cNvSpPr/>
          <p:nvPr/>
        </p:nvSpPr>
        <p:spPr>
          <a:xfrm rot="0" flipH="0" flipV="0">
            <a:off x="6838950" y="2247900"/>
            <a:ext cx="76200" cy="76200"/>
          </a:xfrm>
          <a:prstGeom prst="roundRect">
            <a:avLst>
              <a:gd name="adj" fmla="val 50000"/>
            </a:avLst>
          </a:prstGeom>
          <a:solidFill>
            <a:srgbClr val="1E7BE0"/>
          </a:solidFill>
          <a:ln/>
        </p:spPr>
        <p:txBody>
          <a:bodyPr/>
          <a:p/>
        </p:txBody>
      </p:sp>
      <p:sp>
        <p:nvSpPr>
          <p:cNvPr id="2412" name="" descr="{&quot;isTemplate&quot;:true,&quot;type&quot;:&quot;text&quot;}"/>
          <p:cNvSpPr txBox="1"/>
          <p:nvPr/>
        </p:nvSpPr>
        <p:spPr>
          <a:xfrm rot="0" flipH="0" flipV="0">
            <a:off x="7029450" y="2162175"/>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逐题用时汇总多个作答时段，区分首次作答、返回修改与检查；跨题停顿单独保留。</a:t>
            </a:r>
            <a:endParaRPr/>
          </a:p>
        </p:txBody>
      </p:sp>
      <p:sp>
        <p:nvSpPr>
          <p:cNvPr id="2413" name=""/>
          <p:cNvSpPr/>
          <p:nvPr/>
        </p:nvSpPr>
        <p:spPr>
          <a:xfrm rot="0" flipH="0" flipV="0">
            <a:off x="6838950" y="2924175"/>
            <a:ext cx="76200" cy="76200"/>
          </a:xfrm>
          <a:prstGeom prst="roundRect">
            <a:avLst>
              <a:gd name="adj" fmla="val 50000"/>
            </a:avLst>
          </a:prstGeom>
          <a:solidFill>
            <a:srgbClr val="1E7BE0"/>
          </a:solidFill>
          <a:ln/>
        </p:spPr>
        <p:txBody>
          <a:bodyPr/>
          <a:p/>
        </p:txBody>
      </p:sp>
      <p:sp>
        <p:nvSpPr>
          <p:cNvPr id="2414" name="" descr="{&quot;isTemplate&quot;:true,&quot;type&quot;:&quot;text&quot;}"/>
          <p:cNvSpPr txBox="1"/>
          <p:nvPr/>
        </p:nvSpPr>
        <p:spPr>
          <a:xfrm rot="0" flipH="0" flipV="0">
            <a:off x="7029450" y="2838450"/>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只有首末笔时间，不能准确代表一道题的全部思考时间；没有落笔也不代表没有读题、心算或规划。</a:t>
            </a:r>
            <a:endParaRPr/>
          </a:p>
        </p:txBody>
      </p:sp>
      <p:sp>
        <p:nvSpPr>
          <p:cNvPr id="2415" name=""/>
          <p:cNvSpPr/>
          <p:nvPr/>
        </p:nvSpPr>
        <p:spPr>
          <a:xfrm rot="0" flipH="0" flipV="0">
            <a:off x="6838950" y="3600450"/>
            <a:ext cx="76200" cy="76200"/>
          </a:xfrm>
          <a:prstGeom prst="roundRect">
            <a:avLst>
              <a:gd name="adj" fmla="val 50000"/>
            </a:avLst>
          </a:prstGeom>
          <a:solidFill>
            <a:srgbClr val="1E7BE0"/>
          </a:solidFill>
          <a:ln/>
        </p:spPr>
        <p:txBody>
          <a:bodyPr/>
          <a:p/>
        </p:txBody>
      </p:sp>
      <p:sp>
        <p:nvSpPr>
          <p:cNvPr id="2416" name="" descr="{&quot;isTemplate&quot;:true,&quot;type&quot;:&quot;text&quot;}"/>
          <p:cNvSpPr txBox="1"/>
          <p:nvPr/>
        </p:nvSpPr>
        <p:spPr>
          <a:xfrm rot="0" flipH="0" flipV="0">
            <a:off x="7029450" y="3514725"/>
            <a:ext cx="4495800" cy="295275"/>
          </a:xfrm>
          <a:prstGeom prst="rect"/>
        </p:spPr>
        <p:txBody>
          <a:bodyPr wrap="none" lIns="0" tIns="0" rIns="0" bIns="0"/>
          <a:p>
            <a:pPr>
              <a:lnSpc>
                <a:spcPct val="160000"/>
              </a:lnSpc>
            </a:pPr>
            <a:r>
              <a:rPr lang="zh-CN" sz="1200">
                <a:solidFill>
                  <a:srgbClr val="333A45"/>
                </a:solidFill>
                <a:latin typeface="Microsoft YaHei"/>
                <a:ea typeface="Microsoft YaHei"/>
              </a:rPr>
              <a:t>“这次确实在某题停留很久”与“为什么停留很久”需要分开记录。</a:t>
            </a:r>
            <a:endParaRPr/>
          </a:p>
        </p:txBody>
      </p:sp>
      <p:sp>
        <p:nvSpPr>
          <p:cNvPr id="2417" name=""/>
          <p:cNvSpPr/>
          <p:nvPr/>
        </p:nvSpPr>
        <p:spPr>
          <a:xfrm rot="0" flipH="0" flipV="0">
            <a:off x="6838950" y="3981450"/>
            <a:ext cx="76200" cy="76200"/>
          </a:xfrm>
          <a:prstGeom prst="roundRect">
            <a:avLst>
              <a:gd name="adj" fmla="val 50000"/>
            </a:avLst>
          </a:prstGeom>
          <a:solidFill>
            <a:srgbClr val="1E7BE0"/>
          </a:solidFill>
          <a:ln/>
        </p:spPr>
        <p:txBody>
          <a:bodyPr/>
          <a:p/>
        </p:txBody>
      </p:sp>
      <p:sp>
        <p:nvSpPr>
          <p:cNvPr id="2418" name="" descr="{&quot;isTemplate&quot;:true,&quot;type&quot;:&quot;text&quot;}"/>
          <p:cNvSpPr txBox="1"/>
          <p:nvPr/>
        </p:nvSpPr>
        <p:spPr>
          <a:xfrm rot="0" flipH="0" flipV="0">
            <a:off x="7029450" y="3895725"/>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建议须对应具体行为，如“下一次先完成可独立解决的题目，再返回卡住的题”，而非笼统的“提高效率”。</a:t>
            </a:r>
            <a:endParaRPr/>
          </a:p>
        </p:txBody>
      </p:sp>
      <p:sp>
        <p:nvSpPr>
          <p:cNvPr id="2419" name=""/>
          <p:cNvSpPr/>
          <p:nvPr/>
        </p:nvSpPr>
        <p:spPr>
          <a:xfrm rot="0" flipH="0" flipV="0">
            <a:off x="6838950" y="4657725"/>
            <a:ext cx="76200" cy="76200"/>
          </a:xfrm>
          <a:prstGeom prst="roundRect">
            <a:avLst>
              <a:gd name="adj" fmla="val 50000"/>
            </a:avLst>
          </a:prstGeom>
          <a:solidFill>
            <a:srgbClr val="1E7BE0"/>
          </a:solidFill>
          <a:ln/>
        </p:spPr>
        <p:txBody>
          <a:bodyPr/>
          <a:p/>
        </p:txBody>
      </p:sp>
      <p:sp>
        <p:nvSpPr>
          <p:cNvPr id="2420" name="" descr="{&quot;isTemplate&quot;:true,&quot;type&quot;:&quot;text&quot;}"/>
          <p:cNvSpPr txBox="1"/>
          <p:nvPr/>
        </p:nvSpPr>
        <p:spPr>
          <a:xfrm rot="0" flipH="0" flipV="0">
            <a:off x="7029450" y="4572000"/>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可观察事实、模型可能原因、教师或学生确认信息分别保留，不能把</a:t>
            </a:r>
            <a:r>
              <a:rPr lang="en-US" sz="1200">
                <a:solidFill>
                  <a:srgbClr val="333A45"/>
                </a:solidFill>
                <a:latin typeface="Microsoft YaHei"/>
                <a:ea typeface="Microsoft YaHei"/>
              </a:rPr>
              <a:t xml:space="preserve"> AI </a:t>
            </a:r>
            <a:r>
              <a:rPr lang="zh-CN" sz="1200">
                <a:solidFill>
                  <a:srgbClr val="333A45"/>
                </a:solidFill>
                <a:latin typeface="Microsoft YaHei"/>
                <a:ea typeface="Microsoft YaHei"/>
              </a:rPr>
              <a:t>归因直接当训练真值。</a:t>
            </a:r>
            <a:endParaRPr/>
          </a:p>
        </p:txBody>
      </p:sp>
      <p:sp>
        <p:nvSpPr>
          <p:cNvPr id="2421" name=""/>
          <p:cNvSpPr/>
          <p:nvPr/>
        </p:nvSpPr>
        <p:spPr>
          <a:xfrm rot="0" flipH="0" flipV="0">
            <a:off x="6838950" y="5314950"/>
            <a:ext cx="2266950" cy="400050"/>
          </a:xfrm>
          <a:prstGeom prst="roundRect">
            <a:avLst>
              <a:gd name="adj" fmla="val 14286"/>
            </a:avLst>
          </a:prstGeom>
          <a:solidFill>
            <a:srgbClr val="F5F7FA"/>
          </a:solidFill>
          <a:ln/>
        </p:spPr>
        <p:txBody>
          <a:bodyPr/>
          <a:p/>
        </p:txBody>
      </p:sp>
      <p:sp>
        <p:nvSpPr>
          <p:cNvPr id="2422" name="" descr="{&quot;isTemplate&quot;:true,&quot;type&quot;:&quot;text&quot;}"/>
          <p:cNvSpPr txBox="1"/>
          <p:nvPr/>
        </p:nvSpPr>
        <p:spPr>
          <a:xfrm rot="0" flipH="0" flipV="0">
            <a:off x="6972300" y="5400675"/>
            <a:ext cx="2000250" cy="228600"/>
          </a:xfrm>
          <a:prstGeom prst="rect"/>
        </p:spPr>
        <p:txBody>
          <a:bodyPr wrap="none" lIns="0" tIns="0" rIns="0" bIns="0"/>
          <a:p>
            <a:pPr>
              <a:lnSpc>
                <a:spcPct val="140000"/>
              </a:lnSpc>
            </a:pPr>
            <a:r>
              <a:rPr lang="zh-CN" sz="1050" b="1">
                <a:solidFill>
                  <a:srgbClr val="7A8699"/>
                </a:solidFill>
                <a:latin typeface="Microsoft YaHei"/>
                <a:ea typeface="Microsoft YaHei"/>
              </a:rPr>
              <a:t>示意占位</a:t>
            </a:r>
            <a:r>
              <a:rPr lang="en-US" sz="1050" b="1">
                <a:solidFill>
                  <a:srgbClr val="7A8699"/>
                </a:solidFill>
                <a:latin typeface="Microsoft YaHei"/>
                <a:ea typeface="Microsoft YaHei"/>
              </a:rPr>
              <a:t xml:space="preserve"> S26 · </a:t>
            </a:r>
            <a:r>
              <a:rPr lang="zh-CN" sz="1050" b="1">
                <a:solidFill>
                  <a:srgbClr val="7A8699"/>
                </a:solidFill>
                <a:latin typeface="Microsoft YaHei"/>
                <a:ea typeface="Microsoft YaHei"/>
              </a:rPr>
              <a:t>待替换为实际截图</a:t>
            </a:r>
            <a:endParaRPr/>
          </a:p>
        </p:txBody>
      </p:sp>
      <p:sp>
        <p:nvSpPr>
          <p:cNvPr id="2423"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424"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依据：试卷与生涯维度设计思路</a:t>
            </a:r>
            <a:r>
              <a:rPr lang="en-US" sz="975">
                <a:solidFill>
                  <a:srgbClr val="7A8699"/>
                </a:solidFill>
                <a:latin typeface="Microsoft YaHei"/>
                <a:ea typeface="Microsoft YaHei"/>
              </a:rPr>
              <a:t>.md §5</a:t>
            </a:r>
            <a:endParaRPr/>
          </a:p>
        </p:txBody>
      </p:sp>
      <p:sp>
        <p:nvSpPr>
          <p:cNvPr id="2425"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70 / 124 </a:t>
            </a:r>
            <a:endParaRPr/>
          </a:p>
        </p:txBody>
      </p:sp>
    </p:spTree>
  </p:cSld>
</p:sld>
</file>

<file path=ppt/slides/slide71.xml><?xml version="1.0" encoding="utf-8"?>
<p:sld xmlns:p="http://schemas.openxmlformats.org/presentationml/2006/main" xmlns:a="http://schemas.openxmlformats.org/drawingml/2006/main">
  <p:cSld>
    <p:spTree>
      <p:nvGrpSpPr>
        <p:cNvPr id="2426"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7 / 试卷与生涯&lt;/Text&gt;&lt;Text style={{ fontSize: 32, color: '#0E2340', fontWeight: 700, lineHeight: 1.3 }}&gt;生涯维度：两条可以并行的长期建档路线&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8 }}&gt;&lt;Box style={{ flexDirection: 'row', gap: 20 }}&gt;&lt;Box style={{ width: 560, background: '#FFFFFF', border: '1px solid #E3E8EF', borderRadius: 8, overflow: 'hidden', flexDirection: 'column' }}&gt;&lt;Box style={{ height: 4, background: 'linear-gradient(90deg, #1E7BE0 0%, #00A9B5 100%)' }} /&gt;&lt;Box style={{ flexDirection: 'column', gap: 10, padding: 20, flex: 1 }}&gt;&lt;Text style={{ fontSize: 22, color: '#0E2340', fontWeight: 700, lineHeight: 1.4 }}&gt;路线一 · 课时作业路线&lt;/Text&gt;&lt;Text style={{ fontSize: 17, color: '#333A45', fontWeight: 400, lineHeight: 1.6 }}&gt;跟随每一天、每个课时的作业，更新知识点掌握评价。适合从较早阶段开始使用，对学校教师配合要求高。&lt;/Text&gt;&lt;/Box&gt;&lt;/Box&gt;&lt;Box style={{ width: 560, background: '#FFFFFF', border: '1px solid #E3E8EF', borderRadius: 8, overflow: 'hidden', flexDirection: 'column' }}&gt;&lt;Box style={{ height: 4, background: 'linear-gradient(90deg, #1E7BE0 0%, #00A9B5 100%)' }} /&gt;&lt;Box style={{ flexDirection: 'column', gap: 10, padding: 20, flex: 1 }}&gt;&lt;Text style={{ fontSize: 22, color: '#1E7BE0', fontWeight: 700, lineHeight: 1.4 }}&gt;路线二 · 考试与错题路线&lt;/Text&gt;&lt;Text style={{ fontSize: 17, color: '#333A45', fontWeight: 400, lineHeight: 1.6 }}&gt;通过考试、错题输入及复测，更新套路与相关步骤的掌握评价。不要求补齐全部课时作业，适合中途加入。&lt;/Text&gt;&lt;/Box&gt;&lt;/Box&gt;&lt;/Box&gt;&lt;Box style={{ flexDirection: 'row', alignItems: 'center', background: '#F5F7FA', borderLeft: '4px solid #00A9B5', borderRadius: 6, padding: '14px 20px' }}&gt;&lt;Text style={{ fontSize: 16, color: '#0E2340', fontWeight: 600, lineHeight: 1.5 }}&gt;合并时保留证据来源、作答时间、题目与步骤、是否独立完成、是否得到帮助、评价是否经确认；同一次作答被两条路线记录时合并引用。掌握相关知识点，不等于已经熟练掌握组合这些知识的套路&lt;/Text&gt;&lt;/Box&gt;&lt;Box style={{ flexDirection: 'row', alignItems: 'center', background: '#F5F7FA', borderLeft: '4px solid #0E2340', borderRadius: 6, padding: '14px 20px' }}&gt;&lt;Text style={{ fontSize: 16, color: '#0E2340', fontWeight: 600, lineHeight: 1.5 }}&gt;新学生可安排覆盖面广、用时较长的先导测试建立初始能力基线；没有被考查的套路保留未知，不能算作不会&lt;/Text&gt;&lt;/Box&gt;&lt;/Box&gt;&lt;/Box&gt;&lt;Box style={{ height: 40, flexDirection: 'row', justifyContent: 'space-between', alignItems: 'center', borderTop: '1px solid #E3E8EF', marginTop: 8 }}&gt;&lt;Text style={{ fontSize: 13, color: '#7A8699', fontWeight: 400, lineHeight: 1.4 }}&gt;依据：试卷与生涯维度设计思路.md §6&lt;/Text&gt;&lt;Text style={{ fontSize: 14, color: '#7A8699', fontWeight: 400, lineHeight: 1.4 }}&gt; 71 / 124 &lt;/Text&gt;&lt;/Box&gt;&lt;/Slide&gt;"/>
        <p:cNvGrpSpPr/>
        <p:nvPr/>
      </p:nvGrpSpPr>
      <p:grpSpPr>
        <a:xfrm>
          <a:off x="0" y="0"/>
          <a:ext cx="0" cy="0"/>
          <a:chOff x="0" y="0"/>
          <a:chExt cx="0" cy="0"/>
        </a:xfrm>
      </p:grpSpPr>
      <p:sp>
        <p:nvSpPr>
          <p:cNvPr id="2427" name=""/>
          <p:cNvSpPr/>
          <p:nvPr/>
        </p:nvSpPr>
        <p:spPr>
          <a:xfrm rot="0" flipH="0" flipV="0">
            <a:off x="0" y="0"/>
            <a:ext cx="12192000" cy="6858000"/>
          </a:xfrm>
          <a:prstGeom prst="rect">
            <a:avLst/>
          </a:prstGeom>
          <a:solidFill>
            <a:srgbClr val="FFFFFF"/>
          </a:solidFill>
          <a:ln/>
        </p:spPr>
        <p:txBody>
          <a:bodyPr/>
          <a:p/>
        </p:txBody>
      </p:sp>
      <p:sp>
        <p:nvSpPr>
          <p:cNvPr id="2428" name="" descr="{&quot;isTemplate&quot;:true,&quot;type&quot;:&quot;text&quot;}"/>
          <p:cNvSpPr txBox="1"/>
          <p:nvPr/>
        </p:nvSpPr>
        <p:spPr>
          <a:xfrm rot="0" flipH="0" flipV="0">
            <a:off x="666750" y="381000"/>
            <a:ext cx="54864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07 / </a:t>
            </a:r>
            <a:r>
              <a:rPr lang="zh-CN" sz="1050" spc="75">
                <a:solidFill>
                  <a:srgbClr val="7A8699"/>
                </a:solidFill>
                <a:latin typeface="Microsoft YaHei"/>
                <a:ea typeface="Microsoft YaHei"/>
              </a:rPr>
              <a:t>试卷与生涯</a:t>
            </a:r>
            <a:endParaRPr/>
          </a:p>
        </p:txBody>
      </p:sp>
      <p:sp>
        <p:nvSpPr>
          <p:cNvPr id="2429" name="" descr="{&quot;isTemplate&quot;:true,&quot;type&quot;:&quot;text&quot;}"/>
          <p:cNvSpPr txBox="1"/>
          <p:nvPr/>
        </p:nvSpPr>
        <p:spPr>
          <a:xfrm rot="0" flipH="0" flipV="0">
            <a:off x="666750" y="666750"/>
            <a:ext cx="5486400" cy="476250"/>
          </a:xfrm>
          <a:prstGeom prst="rect"/>
        </p:spPr>
        <p:txBody>
          <a:bodyPr wrap="none" lIns="0" tIns="0" rIns="0" bIns="0"/>
          <a:p>
            <a:pPr>
              <a:lnSpc>
                <a:spcPct val="130000"/>
              </a:lnSpc>
            </a:pPr>
            <a:r>
              <a:rPr lang="zh-CN" sz="2400" b="1">
                <a:solidFill>
                  <a:srgbClr val="0E2340"/>
                </a:solidFill>
                <a:latin typeface="Microsoft YaHei"/>
                <a:ea typeface="Microsoft YaHei"/>
              </a:rPr>
              <a:t>生涯维度：两条可以并行的长期建档路线</a:t>
            </a:r>
            <a:endParaRPr/>
          </a:p>
        </p:txBody>
      </p:sp>
      <p:sp>
        <p:nvSpPr>
          <p:cNvPr id="2430"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431"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2432" name=""/>
          <p:cNvSpPr/>
          <p:nvPr/>
        </p:nvSpPr>
        <p:spPr>
          <a:xfrm rot="0" flipH="0" flipV="0">
            <a:off x="666750" y="2114550"/>
            <a:ext cx="5334000" cy="1495425"/>
          </a:xfrm>
          <a:prstGeom prst="roundRect">
            <a:avLst>
              <a:gd name="adj" fmla="val 5096"/>
            </a:avLst>
          </a:prstGeom>
          <a:solidFill>
            <a:srgbClr val="FFFFFF"/>
          </a:solidFill>
          <a:ln w="12700">
            <a:solidFill>
              <a:srgbClr val="E3E8EF"/>
            </a:solidFill>
            <a:prstDash val="solid"/>
          </a:ln>
        </p:spPr>
        <p:txBody>
          <a:bodyPr/>
          <a:p/>
        </p:txBody>
      </p:sp>
      <p:sp>
        <p:nvSpPr>
          <p:cNvPr id="2433" name=""/>
          <p:cNvSpPr/>
          <p:nvPr/>
        </p:nvSpPr>
        <p:spPr>
          <a:xfrm rot="0" flipH="0" flipV="0">
            <a:off x="666750" y="2114550"/>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2434" name="" descr="{&quot;isTemplate&quot;:true,&quot;type&quot;:&quot;text&quot;}"/>
          <p:cNvSpPr txBox="1"/>
          <p:nvPr/>
        </p:nvSpPr>
        <p:spPr>
          <a:xfrm rot="0" flipH="0" flipV="0">
            <a:off x="857250" y="2343150"/>
            <a:ext cx="4953000" cy="352425"/>
          </a:xfrm>
          <a:prstGeom prst="rect"/>
        </p:spPr>
        <p:txBody>
          <a:bodyPr wrap="none" lIns="0" tIns="0" rIns="0" bIns="0"/>
          <a:p>
            <a:pPr>
              <a:lnSpc>
                <a:spcPct val="140000"/>
              </a:lnSpc>
            </a:pPr>
            <a:r>
              <a:rPr lang="zh-CN" sz="1650" b="1">
                <a:solidFill>
                  <a:srgbClr val="0E2340"/>
                </a:solidFill>
                <a:latin typeface="Microsoft YaHei"/>
                <a:ea typeface="Microsoft YaHei"/>
              </a:rPr>
              <a:t>路线一</a:t>
            </a:r>
            <a:r>
              <a:rPr lang="en-US" sz="1650" b="1">
                <a:solidFill>
                  <a:srgbClr val="0E2340"/>
                </a:solidFill>
                <a:latin typeface="Microsoft YaHei"/>
                <a:ea typeface="Microsoft YaHei"/>
              </a:rPr>
              <a:t xml:space="preserve"> · </a:t>
            </a:r>
            <a:r>
              <a:rPr lang="zh-CN" sz="1650" b="1">
                <a:solidFill>
                  <a:srgbClr val="0E2340"/>
                </a:solidFill>
                <a:latin typeface="Microsoft YaHei"/>
                <a:ea typeface="Microsoft YaHei"/>
              </a:rPr>
              <a:t>课时作业路线</a:t>
            </a:r>
            <a:endParaRPr/>
          </a:p>
        </p:txBody>
      </p:sp>
      <p:sp>
        <p:nvSpPr>
          <p:cNvPr id="2435" name="" descr="{&quot;isTemplate&quot;:true,&quot;type&quot;:&quot;text&quot;}"/>
          <p:cNvSpPr txBox="1"/>
          <p:nvPr/>
        </p:nvSpPr>
        <p:spPr>
          <a:xfrm rot="0" flipH="0" flipV="0">
            <a:off x="857250" y="2790825"/>
            <a:ext cx="49530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跟随每一天、每个课时的作业，更新知识点掌握评价。适合从较早阶段开始使用，对学校教师配合要求高。</a:t>
            </a:r>
            <a:endParaRPr/>
          </a:p>
        </p:txBody>
      </p:sp>
      <p:sp>
        <p:nvSpPr>
          <p:cNvPr id="2436" name=""/>
          <p:cNvSpPr/>
          <p:nvPr/>
        </p:nvSpPr>
        <p:spPr>
          <a:xfrm rot="0" flipH="0" flipV="0">
            <a:off x="6191250" y="2114550"/>
            <a:ext cx="5334000" cy="1495425"/>
          </a:xfrm>
          <a:prstGeom prst="roundRect">
            <a:avLst>
              <a:gd name="adj" fmla="val 5096"/>
            </a:avLst>
          </a:prstGeom>
          <a:solidFill>
            <a:srgbClr val="FFFFFF"/>
          </a:solidFill>
          <a:ln w="12700">
            <a:solidFill>
              <a:srgbClr val="E3E8EF"/>
            </a:solidFill>
            <a:prstDash val="solid"/>
          </a:ln>
        </p:spPr>
        <p:txBody>
          <a:bodyPr/>
          <a:p/>
        </p:txBody>
      </p:sp>
      <p:sp>
        <p:nvSpPr>
          <p:cNvPr id="2437" name=""/>
          <p:cNvSpPr/>
          <p:nvPr/>
        </p:nvSpPr>
        <p:spPr>
          <a:xfrm rot="0" flipH="0" flipV="0">
            <a:off x="6191250" y="2114550"/>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2438" name="" descr="{&quot;isTemplate&quot;:true,&quot;type&quot;:&quot;text&quot;}"/>
          <p:cNvSpPr txBox="1"/>
          <p:nvPr/>
        </p:nvSpPr>
        <p:spPr>
          <a:xfrm rot="0" flipH="0" flipV="0">
            <a:off x="6381750" y="2343150"/>
            <a:ext cx="4953000" cy="352425"/>
          </a:xfrm>
          <a:prstGeom prst="rect"/>
        </p:spPr>
        <p:txBody>
          <a:bodyPr wrap="none" lIns="0" tIns="0" rIns="0" bIns="0"/>
          <a:p>
            <a:pPr>
              <a:lnSpc>
                <a:spcPct val="140000"/>
              </a:lnSpc>
            </a:pPr>
            <a:r>
              <a:rPr lang="zh-CN" sz="1650" b="1">
                <a:solidFill>
                  <a:srgbClr val="1E7BE0"/>
                </a:solidFill>
                <a:latin typeface="Microsoft YaHei"/>
                <a:ea typeface="Microsoft YaHei"/>
              </a:rPr>
              <a:t>路线二</a:t>
            </a:r>
            <a:r>
              <a:rPr lang="en-US" sz="1650" b="1">
                <a:solidFill>
                  <a:srgbClr val="1E7BE0"/>
                </a:solidFill>
                <a:latin typeface="Microsoft YaHei"/>
                <a:ea typeface="Microsoft YaHei"/>
              </a:rPr>
              <a:t xml:space="preserve"> · </a:t>
            </a:r>
            <a:r>
              <a:rPr lang="zh-CN" sz="1650" b="1">
                <a:solidFill>
                  <a:srgbClr val="1E7BE0"/>
                </a:solidFill>
                <a:latin typeface="Microsoft YaHei"/>
                <a:ea typeface="Microsoft YaHei"/>
              </a:rPr>
              <a:t>考试与错题路线</a:t>
            </a:r>
            <a:endParaRPr/>
          </a:p>
        </p:txBody>
      </p:sp>
      <p:sp>
        <p:nvSpPr>
          <p:cNvPr id="2439" name="" descr="{&quot;isTemplate&quot;:true,&quot;type&quot;:&quot;text&quot;}"/>
          <p:cNvSpPr txBox="1"/>
          <p:nvPr/>
        </p:nvSpPr>
        <p:spPr>
          <a:xfrm rot="0" flipH="0" flipV="0">
            <a:off x="6381750" y="2790825"/>
            <a:ext cx="49530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通过考试、错题输入及复测，更新套路与相关步骤的掌握评价。不要求补齐全部课时作业，适合中途加入。</a:t>
            </a:r>
            <a:endParaRPr/>
          </a:p>
        </p:txBody>
      </p:sp>
      <p:sp>
        <p:nvSpPr>
          <p:cNvPr id="2440" name=""/>
          <p:cNvSpPr/>
          <p:nvPr/>
        </p:nvSpPr>
        <p:spPr>
          <a:xfrm rot="0" flipH="0" flipV="0">
            <a:off x="704850" y="3781425"/>
            <a:ext cx="10858500" cy="819150"/>
          </a:xfrm>
          <a:prstGeom prst="roundRect">
            <a:avLst>
              <a:gd name="adj" fmla="val 6977"/>
            </a:avLst>
          </a:prstGeom>
          <a:solidFill>
            <a:srgbClr val="F5F7FA"/>
          </a:solidFill>
          <a:ln/>
        </p:spPr>
        <p:txBody>
          <a:bodyPr/>
          <a:p/>
        </p:txBody>
      </p:sp>
      <p:sp>
        <p:nvSpPr>
          <p:cNvPr id="2441" name=""/>
          <p:cNvSpPr/>
          <p:nvPr/>
        </p:nvSpPr>
        <p:spPr>
          <a:xfrm rot="0" flipH="0" flipV="0">
            <a:off x="704850" y="3781425"/>
            <a:ext cx="10858500" cy="819150"/>
          </a:xfrm>
          <a:custGeom>
            <a:pathLst>
              <a:path w="1140" h="86">
                <a:moveTo>
                  <a:pt x="6" y="0"/>
                </a:moveTo>
                <a:cubicBezTo>
                  <a:pt x="5" y="0"/>
                  <a:pt x="4" y="1"/>
                  <a:pt x="4" y="2"/>
                </a:cubicBezTo>
                <a:lnTo>
                  <a:pt x="4" y="84"/>
                </a:lnTo>
                <a:cubicBezTo>
                  <a:pt x="4" y="85"/>
                  <a:pt x="5" y="86"/>
                  <a:pt x="6" y="86"/>
                </a:cubicBezTo>
                <a:cubicBezTo>
                  <a:pt x="3" y="86"/>
                  <a:pt x="0" y="83"/>
                  <a:pt x="0" y="80"/>
                </a:cubicBezTo>
                <a:lnTo>
                  <a:pt x="0" y="6"/>
                </a:lnTo>
                <a:cubicBezTo>
                  <a:pt x="0" y="3"/>
                  <a:pt x="3" y="0"/>
                  <a:pt x="6" y="0"/>
                </a:cubicBezTo>
                <a:close/>
              </a:path>
            </a:pathLst>
          </a:custGeom>
          <a:solidFill>
            <a:srgbClr val="00A9B5"/>
          </a:solidFill>
          <a:ln/>
        </p:spPr>
        <p:txBody>
          <a:bodyPr/>
          <a:p/>
        </p:txBody>
      </p:sp>
      <p:sp>
        <p:nvSpPr>
          <p:cNvPr id="2442" name="" descr="{&quot;isTemplate&quot;:true,&quot;type&quot;:&quot;text&quot;}"/>
          <p:cNvSpPr txBox="1"/>
          <p:nvPr/>
        </p:nvSpPr>
        <p:spPr>
          <a:xfrm rot="0" flipH="0" flipV="0">
            <a:off x="895350" y="3914775"/>
            <a:ext cx="10439400" cy="552450"/>
          </a:xfrm>
          <a:prstGeom prst="rect"/>
        </p:spPr>
        <p:txBody>
          <a:bodyPr wrap="square" lIns="0" tIns="0" rIns="0" bIns="0">
            <a:normAutofit/>
          </a:bodyPr>
          <a:p>
            <a:pPr>
              <a:lnSpc>
                <a:spcPct val="150000"/>
              </a:lnSpc>
            </a:pPr>
            <a:r>
              <a:rPr lang="zh-CN" sz="1200" b="1">
                <a:solidFill>
                  <a:srgbClr val="0E2340"/>
                </a:solidFill>
                <a:latin typeface="Microsoft YaHei"/>
                <a:ea typeface="Microsoft YaHei"/>
              </a:rPr>
              <a:t>合并时保留证据来源、作答时间、题目与步骤、是否独立完成、是否得到帮助、评价是否经确认；同一次作答被两条路线记录时合并引用。掌握相关知识点，不等于已经熟练掌握组合这些知识的套路</a:t>
            </a:r>
            <a:endParaRPr/>
          </a:p>
        </p:txBody>
      </p:sp>
      <p:sp>
        <p:nvSpPr>
          <p:cNvPr id="2443" name=""/>
          <p:cNvSpPr/>
          <p:nvPr/>
        </p:nvSpPr>
        <p:spPr>
          <a:xfrm rot="0" flipH="0" flipV="0">
            <a:off x="704850" y="4772025"/>
            <a:ext cx="10858500" cy="542925"/>
          </a:xfrm>
          <a:prstGeom prst="roundRect">
            <a:avLst>
              <a:gd name="adj" fmla="val 10526"/>
            </a:avLst>
          </a:prstGeom>
          <a:solidFill>
            <a:srgbClr val="F5F7FA"/>
          </a:solidFill>
          <a:ln/>
        </p:spPr>
        <p:txBody>
          <a:bodyPr/>
          <a:p/>
        </p:txBody>
      </p:sp>
      <p:sp>
        <p:nvSpPr>
          <p:cNvPr id="2444" name=""/>
          <p:cNvSpPr/>
          <p:nvPr/>
        </p:nvSpPr>
        <p:spPr>
          <a:xfrm rot="0" flipH="0" flipV="0">
            <a:off x="704850" y="4772025"/>
            <a:ext cx="10858500" cy="542925"/>
          </a:xfrm>
          <a:custGeom>
            <a:pathLst>
              <a:path w="1140" h="57">
                <a:moveTo>
                  <a:pt x="6" y="0"/>
                </a:moveTo>
                <a:cubicBezTo>
                  <a:pt x="5" y="0"/>
                  <a:pt x="4" y="1"/>
                  <a:pt x="4" y="2"/>
                </a:cubicBezTo>
                <a:lnTo>
                  <a:pt x="4" y="55"/>
                </a:lnTo>
                <a:cubicBezTo>
                  <a:pt x="4" y="56"/>
                  <a:pt x="5" y="57"/>
                  <a:pt x="6" y="57"/>
                </a:cubicBezTo>
                <a:cubicBezTo>
                  <a:pt x="3" y="57"/>
                  <a:pt x="0" y="54"/>
                  <a:pt x="0" y="51"/>
                </a:cubicBezTo>
                <a:lnTo>
                  <a:pt x="0" y="6"/>
                </a:lnTo>
                <a:cubicBezTo>
                  <a:pt x="0" y="3"/>
                  <a:pt x="3" y="0"/>
                  <a:pt x="6" y="0"/>
                </a:cubicBezTo>
                <a:close/>
              </a:path>
            </a:pathLst>
          </a:custGeom>
          <a:solidFill>
            <a:srgbClr val="0E2340"/>
          </a:solidFill>
          <a:ln/>
        </p:spPr>
        <p:txBody>
          <a:bodyPr/>
          <a:p/>
        </p:txBody>
      </p:sp>
      <p:sp>
        <p:nvSpPr>
          <p:cNvPr id="2445" name="" descr="{&quot;isTemplate&quot;:true,&quot;type&quot;:&quot;text&quot;}"/>
          <p:cNvSpPr txBox="1"/>
          <p:nvPr/>
        </p:nvSpPr>
        <p:spPr>
          <a:xfrm rot="0" flipH="0" flipV="0">
            <a:off x="895350" y="4905375"/>
            <a:ext cx="7315200" cy="276225"/>
          </a:xfrm>
          <a:prstGeom prst="rect"/>
        </p:spPr>
        <p:txBody>
          <a:bodyPr wrap="none" lIns="0" tIns="0" rIns="0" bIns="0"/>
          <a:p>
            <a:pPr>
              <a:lnSpc>
                <a:spcPct val="150000"/>
              </a:lnSpc>
            </a:pPr>
            <a:r>
              <a:rPr lang="zh-CN" sz="1200" b="1">
                <a:solidFill>
                  <a:srgbClr val="0E2340"/>
                </a:solidFill>
                <a:latin typeface="Microsoft YaHei"/>
                <a:ea typeface="Microsoft YaHei"/>
              </a:rPr>
              <a:t>新学生可安排覆盖面广、用时较长的先导测试建立初始能力基线；没有被考查的套路保留未知，不能算作不会</a:t>
            </a:r>
            <a:endParaRPr/>
          </a:p>
        </p:txBody>
      </p:sp>
      <p:sp>
        <p:nvSpPr>
          <p:cNvPr id="2446"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447"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依据：试卷与生涯维度设计思路</a:t>
            </a:r>
            <a:r>
              <a:rPr lang="en-US" sz="975">
                <a:solidFill>
                  <a:srgbClr val="7A8699"/>
                </a:solidFill>
                <a:latin typeface="Microsoft YaHei"/>
                <a:ea typeface="Microsoft YaHei"/>
              </a:rPr>
              <a:t>.md §6</a:t>
            </a:r>
            <a:endParaRPr/>
          </a:p>
        </p:txBody>
      </p:sp>
      <p:sp>
        <p:nvSpPr>
          <p:cNvPr id="2448"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71 / 124 </a:t>
            </a:r>
            <a:endParaRPr/>
          </a:p>
        </p:txBody>
      </p:sp>
    </p:spTree>
  </p:cSld>
</p:sld>
</file>

<file path=ppt/slides/slide72.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2449"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7 / 试卷与生涯&lt;/Text&gt;&lt;Text style={{ fontSize: 32, color: '#0E2340', fontWeight: 700, lineHeight: 1.3 }}&gt;生涯数据怎样反哺试卷分析&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paddingTop: 4 }}&gt;&lt;Box style={{ marginBottom: 14 }}&gt;&lt;Box style={{ flexDirection: 'row', alignItems: 'center', background: '#F5F7FA', borderLeft: '4px solid #0E2340', borderRadius: 6, padding: '14px 20px' }}&gt;&lt;Text style={{ fontSize: 20, color: '#0E2340', fontWeight: 600, lineHeight: 1.5 }}&gt;综合报告须回答五问：失分发生在哪里 / 有哪些可核对依据 / 与过去相比有什么变化 / 哪些原因仍待确认 / 下一步用什么训练或复测来验证&lt;/Text&gt;&lt;/Box&gt;&lt;/Box&gt;&lt;Box style={{ flex: 1 }}&gt;&lt;Table style={{ width: '100%', height: '100%' }} defaultTextStyle={{ fontSize: 16, textAlign: 'left', color: '#333A45' }} defaultCellStyle={{ padding: 10, border: { left: { width: 1, color: '#E3E8EF' }, right: { width: 1, color: '#E3E8EF' }, top: { width: 1, color: '#E3E8EF' }, bottom: { width: 1, color: '#E3E8EF' } } }} cells={[[{ text: '情形', textStyle: { color: '#FFFFFF', fontWeight: 600, fontSize: 16 }, cellStyle: { background: { color: '#0E2340' } } }, { text: '判断倾向', textStyle: { color: '#FFFFFF', fontWeight: 600, fontSize: 16 }, cellStyle: { background: { color: '#0E2340' } } }, { text: '处理方式', textStyle: { color: '#FFFFFF', fontWeight: 600, fontSize: 16 }, cellStyle: { background: { color: '#0E2340' } } }],&#10;        [{ text: '历史同步骤反复出错，本次仍错', textStyle: { fontWeight: 600, fontSize: 16 } }, { text: '优先提示能力不稳定', textStyle: { fontSize: 16 } }, { text: '安排该步骤专项训练并复测', textStyle: { fontSize: 16 } }],&#10;        [{ text: '历史能独立完成，本次因前题耗时未作答', textStyle: { fontWeight: 600, fontSize: 16 }, cellStyle: { background: { color: '#F5F7FA' } } }, { text: '核实策略与时间安排', textStyle: { fontSize: 16 }, cellStyle: { background: { color: '#F5F7FA' } } }, { text: '比较限时与不限时表现', textStyle: { fontSize: 16 }, cellStyle: { background: { color: '#F5F7FA' } } }],&#10;        [{ text: '仅一次错误，或出现在更高难度变式', textStyle: { fontWeight: 600, fontSize: 16 } }, { text: '保留未知', textStyle: { fontSize: 16 } }, { text: '不直接归因，等待更多证据', textStyle: { fontSize: 16 } }]]} /&gt;&lt;/Box&gt;&lt;/Box&gt;&lt;/Box&gt;&lt;Box style={{ height: 40, flexDirection: 'row', justifyContent: 'space-between', alignItems: 'center', borderTop: '1px solid #E3E8EF', marginTop: 8 }}&gt;&lt;Text style={{ fontSize: 13, color: '#7A8699', fontWeight: 400, lineHeight: 1.4 }}&gt;依据：试卷与生涯维度设计思路.md §7&lt;/Text&gt;&lt;Text style={{ fontSize: 14, color: '#7A8699', fontWeight: 400, lineHeight: 1.4 }}&gt; 72 / 124 &lt;/Text&gt;&lt;/Box&gt;&lt;/Slide&gt;"/>
        <p:cNvGrpSpPr/>
        <p:nvPr/>
      </p:nvGrpSpPr>
      <p:grpSpPr>
        <a:xfrm>
          <a:off x="0" y="0"/>
          <a:ext cx="0" cy="0"/>
          <a:chOff x="0" y="0"/>
          <a:chExt cx="0" cy="0"/>
        </a:xfrm>
      </p:grpSpPr>
      <p:sp>
        <p:nvSpPr>
          <p:cNvPr id="2450" name=""/>
          <p:cNvSpPr/>
          <p:nvPr/>
        </p:nvSpPr>
        <p:spPr>
          <a:xfrm rot="0" flipH="0" flipV="0">
            <a:off x="0" y="0"/>
            <a:ext cx="12192000" cy="6858000"/>
          </a:xfrm>
          <a:prstGeom prst="rect">
            <a:avLst/>
          </a:prstGeom>
          <a:solidFill>
            <a:srgbClr val="FFFFFF"/>
          </a:solidFill>
          <a:ln/>
        </p:spPr>
        <p:txBody>
          <a:bodyPr/>
          <a:p/>
        </p:txBody>
      </p:sp>
      <p:sp>
        <p:nvSpPr>
          <p:cNvPr id="2451" name="" descr="{&quot;isTemplate&quot;:true,&quot;type&quot;:&quot;text&quot;}"/>
          <p:cNvSpPr txBox="1"/>
          <p:nvPr/>
        </p:nvSpPr>
        <p:spPr>
          <a:xfrm rot="0" flipH="0" flipV="0">
            <a:off x="666750" y="381000"/>
            <a:ext cx="3657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07 / </a:t>
            </a:r>
            <a:r>
              <a:rPr lang="zh-CN" sz="1050" spc="75">
                <a:solidFill>
                  <a:srgbClr val="7A8699"/>
                </a:solidFill>
                <a:latin typeface="Microsoft YaHei"/>
                <a:ea typeface="Microsoft YaHei"/>
              </a:rPr>
              <a:t>试卷与生涯</a:t>
            </a:r>
            <a:endParaRPr/>
          </a:p>
        </p:txBody>
      </p:sp>
      <p:sp>
        <p:nvSpPr>
          <p:cNvPr id="2452" name="" descr="{&quot;isTemplate&quot;:true,&quot;type&quot;:&quot;text&quot;}"/>
          <p:cNvSpPr txBox="1"/>
          <p:nvPr/>
        </p:nvSpPr>
        <p:spPr>
          <a:xfrm rot="0" flipH="0" flipV="0">
            <a:off x="666750" y="666750"/>
            <a:ext cx="3657600" cy="476250"/>
          </a:xfrm>
          <a:prstGeom prst="rect"/>
        </p:spPr>
        <p:txBody>
          <a:bodyPr wrap="none" lIns="0" tIns="0" rIns="0" bIns="0"/>
          <a:p>
            <a:pPr>
              <a:lnSpc>
                <a:spcPct val="130000"/>
              </a:lnSpc>
            </a:pPr>
            <a:r>
              <a:rPr lang="zh-CN" sz="2400" b="1">
                <a:solidFill>
                  <a:srgbClr val="0E2340"/>
                </a:solidFill>
                <a:latin typeface="Microsoft YaHei"/>
                <a:ea typeface="Microsoft YaHei"/>
              </a:rPr>
              <a:t>生涯数据怎样反哺试卷分析</a:t>
            </a:r>
            <a:endParaRPr/>
          </a:p>
        </p:txBody>
      </p:sp>
      <p:sp>
        <p:nvSpPr>
          <p:cNvPr id="2453"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454"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2455" name=""/>
          <p:cNvSpPr/>
          <p:nvPr/>
        </p:nvSpPr>
        <p:spPr>
          <a:xfrm rot="0" flipH="0" flipV="0">
            <a:off x="704850" y="1257300"/>
            <a:ext cx="10858500" cy="952500"/>
          </a:xfrm>
          <a:prstGeom prst="roundRect">
            <a:avLst>
              <a:gd name="adj" fmla="val 6000"/>
            </a:avLst>
          </a:prstGeom>
          <a:solidFill>
            <a:srgbClr val="F5F7FA"/>
          </a:solidFill>
          <a:ln/>
        </p:spPr>
        <p:txBody>
          <a:bodyPr/>
          <a:p/>
        </p:txBody>
      </p:sp>
      <p:sp>
        <p:nvSpPr>
          <p:cNvPr id="2456" name=""/>
          <p:cNvSpPr/>
          <p:nvPr/>
        </p:nvSpPr>
        <p:spPr>
          <a:xfrm rot="0" flipH="0" flipV="0">
            <a:off x="704850" y="1257300"/>
            <a:ext cx="10858500" cy="952500"/>
          </a:xfrm>
          <a:custGeom>
            <a:pathLst>
              <a:path w="1140" h="100">
                <a:moveTo>
                  <a:pt x="6" y="0"/>
                </a:moveTo>
                <a:cubicBezTo>
                  <a:pt x="5" y="0"/>
                  <a:pt x="4" y="1"/>
                  <a:pt x="4" y="2"/>
                </a:cubicBezTo>
                <a:lnTo>
                  <a:pt x="4" y="98"/>
                </a:lnTo>
                <a:cubicBezTo>
                  <a:pt x="4" y="99"/>
                  <a:pt x="5" y="100"/>
                  <a:pt x="6" y="100"/>
                </a:cubicBezTo>
                <a:cubicBezTo>
                  <a:pt x="3" y="100"/>
                  <a:pt x="0" y="97"/>
                  <a:pt x="0" y="94"/>
                </a:cubicBezTo>
                <a:lnTo>
                  <a:pt x="0" y="6"/>
                </a:lnTo>
                <a:cubicBezTo>
                  <a:pt x="0" y="3"/>
                  <a:pt x="3" y="0"/>
                  <a:pt x="6" y="0"/>
                </a:cubicBezTo>
                <a:close/>
              </a:path>
            </a:pathLst>
          </a:custGeom>
          <a:solidFill>
            <a:srgbClr val="0E2340"/>
          </a:solidFill>
          <a:ln/>
        </p:spPr>
        <p:txBody>
          <a:bodyPr/>
          <a:p/>
        </p:txBody>
      </p:sp>
      <p:sp>
        <p:nvSpPr>
          <p:cNvPr id="2457" name="" descr="{&quot;isTemplate&quot;:true,&quot;type&quot;:&quot;text&quot;}"/>
          <p:cNvSpPr txBox="1"/>
          <p:nvPr/>
        </p:nvSpPr>
        <p:spPr>
          <a:xfrm rot="0" flipH="0" flipV="0">
            <a:off x="895350" y="1390650"/>
            <a:ext cx="10439400" cy="685800"/>
          </a:xfrm>
          <a:prstGeom prst="rect"/>
        </p:spPr>
        <p:txBody>
          <a:bodyPr wrap="square" lIns="0" tIns="0" rIns="0" bIns="0">
            <a:normAutofit/>
          </a:bodyPr>
          <a:p>
            <a:pPr>
              <a:lnSpc>
                <a:spcPct val="150000"/>
              </a:lnSpc>
            </a:pPr>
            <a:r>
              <a:rPr lang="zh-CN" sz="1500" b="1">
                <a:solidFill>
                  <a:srgbClr val="0E2340"/>
                </a:solidFill>
                <a:latin typeface="Microsoft YaHei"/>
                <a:ea typeface="Microsoft YaHei"/>
              </a:rPr>
              <a:t>综合报告须回答五问：失分发生在哪里</a:t>
            </a:r>
            <a:r>
              <a:rPr lang="en-US" sz="1500" b="1">
                <a:solidFill>
                  <a:srgbClr val="0E2340"/>
                </a:solidFill>
                <a:latin typeface="Microsoft YaHei"/>
                <a:ea typeface="Microsoft YaHei"/>
              </a:rPr>
              <a:t xml:space="preserve"> / </a:t>
            </a:r>
            <a:r>
              <a:rPr lang="zh-CN" sz="1500" b="1">
                <a:solidFill>
                  <a:srgbClr val="0E2340"/>
                </a:solidFill>
                <a:latin typeface="Microsoft YaHei"/>
                <a:ea typeface="Microsoft YaHei"/>
              </a:rPr>
              <a:t>有哪些可核对依据</a:t>
            </a:r>
            <a:r>
              <a:rPr lang="en-US" sz="1500" b="1">
                <a:solidFill>
                  <a:srgbClr val="0E2340"/>
                </a:solidFill>
                <a:latin typeface="Microsoft YaHei"/>
                <a:ea typeface="Microsoft YaHei"/>
              </a:rPr>
              <a:t xml:space="preserve"> / </a:t>
            </a:r>
            <a:r>
              <a:rPr lang="zh-CN" sz="1500" b="1">
                <a:solidFill>
                  <a:srgbClr val="0E2340"/>
                </a:solidFill>
                <a:latin typeface="Microsoft YaHei"/>
                <a:ea typeface="Microsoft YaHei"/>
              </a:rPr>
              <a:t>与过去相比有什么变化</a:t>
            </a:r>
            <a:r>
              <a:rPr lang="en-US" sz="1500" b="1">
                <a:solidFill>
                  <a:srgbClr val="0E2340"/>
                </a:solidFill>
                <a:latin typeface="Microsoft YaHei"/>
                <a:ea typeface="Microsoft YaHei"/>
              </a:rPr>
              <a:t xml:space="preserve"> / </a:t>
            </a:r>
            <a:r>
              <a:rPr lang="zh-CN" sz="1500" b="1">
                <a:solidFill>
                  <a:srgbClr val="0E2340"/>
                </a:solidFill>
                <a:latin typeface="Microsoft YaHei"/>
                <a:ea typeface="Microsoft YaHei"/>
              </a:rPr>
              <a:t>哪些原因仍待确认</a:t>
            </a:r>
            <a:r>
              <a:rPr lang="en-US" sz="1500" b="1">
                <a:solidFill>
                  <a:srgbClr val="0E2340"/>
                </a:solidFill>
                <a:latin typeface="Microsoft YaHei"/>
                <a:ea typeface="Microsoft YaHei"/>
              </a:rPr>
              <a:t xml:space="preserve"> / </a:t>
            </a:r>
            <a:r>
              <a:rPr lang="zh-CN" sz="1500" b="1">
                <a:solidFill>
                  <a:srgbClr val="0E2340"/>
                </a:solidFill>
                <a:latin typeface="Microsoft YaHei"/>
                <a:ea typeface="Microsoft YaHei"/>
              </a:rPr>
              <a:t>下一步用什么训练或复测来验证</a:t>
            </a:r>
            <a:endParaRPr/>
          </a:p>
        </p:txBody>
      </p:sp>
      <p:graphicFrame>
        <p:nvGraphicFramePr>
          <p:cNvPr id="2458" name=""/>
          <p:cNvGraphicFramePr/>
          <p:nvPr/>
        </p:nvGraphicFramePr>
        <p:xfrm rot="0" flipH="0" flipV="0">
          <a:off x="666750" y="2343150"/>
          <a:ext cx="10858500" cy="3867150"/>
        </p:xfrm>
        <a:graphic>
          <a:graphicData uri="http://schemas.openxmlformats.org/drawingml/2006/table">
            <a:tbl>
              <a:tblGrid>
                <a:gridCol w="4950199">
                  <a:extLst>
                    <a:ext uri="{9D8B030D-6E8A-4147-A177-3AD203B41FA5}">
                      <a16:colId val="1"/>
                    </a:ext>
                  </a:extLst>
                </a:gridCol>
                <a:gridCol w="2554941">
                  <a:extLst>
                    <a:ext uri="{9D8B030D-6E8A-4147-A177-3AD203B41FA5}">
                      <a16:colId val="2"/>
                    </a:ext>
                  </a:extLst>
                </a:gridCol>
                <a:gridCol w="3353360">
                  <a:extLst>
                    <a:ext uri="{9D8B030D-6E8A-4147-A177-3AD203B41FA5}">
                      <a16:colId val="3"/>
                    </a:ext>
                  </a:extLst>
                </a:gridCol>
              </a:tblGrid>
              <a:tr h="966788">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情形</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判断倾向</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处理方式</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966788">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历史同步骤反复出错，本次仍错</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优先提示能力不稳定</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安排该步骤专项训练并复测</a:t>
                      </a:r>
                      <a:endParaRPr/>
                    </a:p>
                  </a:txBody>
                  <a:tcPr marL="45720" marR="45720" marT="45720" marB="45720" anchor="ctr">
                    <a:lnL>
                      <a:noFill/>
                    </a:lnL>
                    <a:lnR>
                      <a:noFill/>
                    </a:lnR>
                    <a:lnT>
                      <a:noFill/>
                    </a:lnT>
                    <a:lnB>
                      <a:noFill/>
                    </a:lnB>
                  </a:tcPr>
                </a:tc>
                <a:extLst>
                  <a:ext uri="{0D108BD9-81ED-4DB2-BD59-A6C34878D82A}">
                    <a16:rowId val="2"/>
                  </a:ext>
                </a:extLst>
              </a:tr>
              <a:tr h="966788">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历史能独立完成，本次因前题耗时未作答</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核实策略与时间安排</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比较限时与不限时表现</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966788">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仅一次错误，或出现在更高难度变式</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保留未知</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不直接归因，等待更多证据</a:t>
                      </a:r>
                      <a:endParaRPr/>
                    </a:p>
                  </a:txBody>
                  <a:tcPr marL="45720" marR="45720" marT="45720" marB="45720" anchor="ctr">
                    <a:lnL>
                      <a:noFill/>
                    </a:lnL>
                    <a:lnR>
                      <a:noFill/>
                    </a:lnR>
                    <a:lnT>
                      <a:noFill/>
                    </a:lnT>
                    <a:lnB>
                      <a:noFill/>
                    </a:lnB>
                  </a:tcPr>
                </a:tc>
                <a:extLst>
                  <a:ext uri="{0D108BD9-81ED-4DB2-BD59-A6C34878D82A}">
                    <a16:rowId val="4"/>
                  </a:ext>
                </a:extLst>
              </a:tr>
            </a:tbl>
          </a:graphicData>
        </a:graphic>
      </p:graphicFrame>
      <p:sp>
        <p:nvSpPr>
          <p:cNvPr id="2459"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460"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依据：试卷与生涯维度设计思路</a:t>
            </a:r>
            <a:r>
              <a:rPr lang="en-US" sz="975">
                <a:solidFill>
                  <a:srgbClr val="7A8699"/>
                </a:solidFill>
                <a:latin typeface="Microsoft YaHei"/>
                <a:ea typeface="Microsoft YaHei"/>
              </a:rPr>
              <a:t>.md §7</a:t>
            </a:r>
            <a:endParaRPr/>
          </a:p>
        </p:txBody>
      </p:sp>
      <p:sp>
        <p:nvSpPr>
          <p:cNvPr id="2461"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72 / 124 </a:t>
            </a:r>
            <a:endParaRPr/>
          </a:p>
        </p:txBody>
      </p:sp>
    </p:spTree>
  </p:cSld>
</p:sld>
</file>

<file path=ppt/slides/slide73.xml><?xml version="1.0" encoding="utf-8"?>
<p:sld xmlns:p="http://schemas.openxmlformats.org/presentationml/2006/main" xmlns:a="http://schemas.openxmlformats.org/drawingml/2006/main">
  <p:cSld>
    <p:spTree>
      <p:nvGrpSpPr>
        <p:cNvPr id="2462"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7 / 试卷与生涯&lt;/Text&gt;&lt;Text style={{ fontSize: 32, color: '#0E2340', fontWeight: 700, lineHeight: 1.3 }}&gt;长期能力评估的六个维度&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gt;&lt;Box style={{ marginBottom: 16 }}&gt;&lt;Box style={{ flexDirection: 'row', alignItems: 'center', background: '#F5F7FA', borderLeft: '4px solid #0E2340', borderRadius: 6, padding: '14px 20px' }}&gt;&lt;Text style={{ fontSize: 20, color: '#0E2340', fontWeight: 600, lineHeight: 1.5 }}&gt;报告结构：维度表现、时间变化、支持证据、不同表现、待验证事项、下一阶段目标；“综合水平和素质”需要拆成具体维度&lt;/Text&gt;&lt;/Box&gt;&lt;/Box&gt;&lt;Box style={{ flexDirection: 'row', gap: 20, flex: 1 }}&gt;&lt;Box style={{ width: 173,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知识理解与应用&lt;/Text&gt;&lt;Text style={{ fontSize: 17, color: '#333A45', fontWeight: 400, lineHeight: 1.6 }}&gt;概念含义、适用条件与不同情境下的使用&lt;/Text&gt;&lt;/Box&gt;&lt;/Box&gt;&lt;Box style={{ width: 173,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方法识别与迁移&lt;/Text&gt;&lt;Text style={{ fontSize: 17, color: '#333A45', fontWeight: 400, lineHeight: 1.6 }}&gt;能否识别结构并用于合理变式&lt;/Text&gt;&lt;/Box&gt;&lt;/Box&gt;&lt;Box style={{ width: 173,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推理与表达&lt;/Text&gt;&lt;Text style={{ fontSize: 17, color: '#333A45', fontWeight: 400, lineHeight: 1.6 }}&gt;推导链条的完整性与书写规范&lt;/Text&gt;&lt;/Box&gt;&lt;/Box&gt;&lt;Box style={{ width: 173,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计算与执行&lt;/Text&gt;&lt;Text style={{ fontSize: 17, color: '#333A45', fontWeight: 400, lineHeight: 1.6 }}&gt;运算准确性与执行熟练度&lt;/Text&gt;&lt;/Box&gt;&lt;/Box&gt;&lt;Box style={{ width: 173,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复盘与自我调节&lt;/Text&gt;&lt;Text style={{ fontSize: 17, color: '#333A45', fontWeight: 400, lineHeight: 1.6 }}&gt;能否发现并解释自己的问题&lt;/Text&gt;&lt;/Box&gt;&lt;/Box&gt;&lt;Box style={{ width: 173,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进步与保持&lt;/Text&gt;&lt;Text style={{ fontSize: 17, color: '#333A45', fontWeight: 400, lineHeight: 1.6 }}&gt;延迟复测中的表现是否稳定&lt;/Text&gt;&lt;/Box&gt;&lt;/Box&gt;&lt;/Box&gt;&lt;/Box&gt;&lt;/Box&gt;&lt;Box style={{ height: 40, flexDirection: 'row', justifyContent: 'space-between', alignItems: 'center', borderTop: '1px solid #E3E8EF', marginTop: 8 }}&gt;&lt;Text style={{ fontSize: 13, color: '#7A8699', fontWeight: 400, lineHeight: 1.4 }}&gt;依据：试卷与生涯维度设计思路.md §8&lt;/Text&gt;&lt;Text style={{ fontSize: 14, color: '#7A8699', fontWeight: 400, lineHeight: 1.4 }}&gt; 73 / 124 &lt;/Text&gt;&lt;/Box&gt;&lt;/Slide&gt;"/>
        <p:cNvGrpSpPr/>
        <p:nvPr/>
      </p:nvGrpSpPr>
      <p:grpSpPr>
        <a:xfrm>
          <a:off x="0" y="0"/>
          <a:ext cx="0" cy="0"/>
          <a:chOff x="0" y="0"/>
          <a:chExt cx="0" cy="0"/>
        </a:xfrm>
      </p:grpSpPr>
      <p:sp>
        <p:nvSpPr>
          <p:cNvPr id="2463" name=""/>
          <p:cNvSpPr/>
          <p:nvPr/>
        </p:nvSpPr>
        <p:spPr>
          <a:xfrm rot="0" flipH="0" flipV="0">
            <a:off x="0" y="0"/>
            <a:ext cx="12192000" cy="6858000"/>
          </a:xfrm>
          <a:prstGeom prst="rect">
            <a:avLst/>
          </a:prstGeom>
          <a:solidFill>
            <a:srgbClr val="FFFFFF"/>
          </a:solidFill>
          <a:ln/>
        </p:spPr>
        <p:txBody>
          <a:bodyPr/>
          <a:p/>
        </p:txBody>
      </p:sp>
      <p:sp>
        <p:nvSpPr>
          <p:cNvPr id="2464" name="" descr="{&quot;isTemplate&quot;:true,&quot;type&quot;:&quot;text&quot;}"/>
          <p:cNvSpPr txBox="1"/>
          <p:nvPr/>
        </p:nvSpPr>
        <p:spPr>
          <a:xfrm rot="0" flipH="0" flipV="0">
            <a:off x="666750" y="381000"/>
            <a:ext cx="3352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07 / </a:t>
            </a:r>
            <a:r>
              <a:rPr lang="zh-CN" sz="1050" spc="75">
                <a:solidFill>
                  <a:srgbClr val="7A8699"/>
                </a:solidFill>
                <a:latin typeface="Microsoft YaHei"/>
                <a:ea typeface="Microsoft YaHei"/>
              </a:rPr>
              <a:t>试卷与生涯</a:t>
            </a:r>
            <a:endParaRPr/>
          </a:p>
        </p:txBody>
      </p:sp>
      <p:sp>
        <p:nvSpPr>
          <p:cNvPr id="2465" name="" descr="{&quot;isTemplate&quot;:true,&quot;type&quot;:&quot;text&quot;}"/>
          <p:cNvSpPr txBox="1"/>
          <p:nvPr/>
        </p:nvSpPr>
        <p:spPr>
          <a:xfrm rot="0" flipH="0" flipV="0">
            <a:off x="666750" y="666750"/>
            <a:ext cx="3352800" cy="476250"/>
          </a:xfrm>
          <a:prstGeom prst="rect"/>
        </p:spPr>
        <p:txBody>
          <a:bodyPr wrap="none" lIns="0" tIns="0" rIns="0" bIns="0"/>
          <a:p>
            <a:pPr>
              <a:lnSpc>
                <a:spcPct val="130000"/>
              </a:lnSpc>
            </a:pPr>
            <a:r>
              <a:rPr lang="zh-CN" sz="2400" b="1">
                <a:solidFill>
                  <a:srgbClr val="0E2340"/>
                </a:solidFill>
                <a:latin typeface="Microsoft YaHei"/>
                <a:ea typeface="Microsoft YaHei"/>
              </a:rPr>
              <a:t>长期能力评估的六个维度</a:t>
            </a:r>
            <a:endParaRPr/>
          </a:p>
        </p:txBody>
      </p:sp>
      <p:sp>
        <p:nvSpPr>
          <p:cNvPr id="2466"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467"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2468" name=""/>
          <p:cNvSpPr/>
          <p:nvPr/>
        </p:nvSpPr>
        <p:spPr>
          <a:xfrm rot="0" flipH="0" flipV="0">
            <a:off x="704850" y="1219200"/>
            <a:ext cx="10858500" cy="609600"/>
          </a:xfrm>
          <a:prstGeom prst="roundRect">
            <a:avLst>
              <a:gd name="adj" fmla="val 9375"/>
            </a:avLst>
          </a:prstGeom>
          <a:solidFill>
            <a:srgbClr val="F5F7FA"/>
          </a:solidFill>
          <a:ln/>
        </p:spPr>
        <p:txBody>
          <a:bodyPr/>
          <a:p/>
        </p:txBody>
      </p:sp>
      <p:sp>
        <p:nvSpPr>
          <p:cNvPr id="2469" name=""/>
          <p:cNvSpPr/>
          <p:nvPr/>
        </p:nvSpPr>
        <p:spPr>
          <a:xfrm rot="0" flipH="0" flipV="0">
            <a:off x="704850" y="12192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2470" name="" descr="{&quot;isTemplate&quot;:true,&quot;type&quot;:&quot;text&quot;}"/>
          <p:cNvSpPr txBox="1"/>
          <p:nvPr/>
        </p:nvSpPr>
        <p:spPr>
          <a:xfrm rot="0" flipH="0" flipV="0">
            <a:off x="895350" y="1352550"/>
            <a:ext cx="10287000" cy="342900"/>
          </a:xfrm>
          <a:prstGeom prst="rect"/>
        </p:spPr>
        <p:txBody>
          <a:bodyPr wrap="none" lIns="0" tIns="0" rIns="0" bIns="0"/>
          <a:p>
            <a:pPr>
              <a:lnSpc>
                <a:spcPct val="150000"/>
              </a:lnSpc>
            </a:pPr>
            <a:r>
              <a:rPr lang="zh-CN" sz="1500" b="1">
                <a:solidFill>
                  <a:srgbClr val="0E2340"/>
                </a:solidFill>
                <a:latin typeface="Microsoft YaHei"/>
                <a:ea typeface="Microsoft YaHei"/>
              </a:rPr>
              <a:t>报告结构：维度表现、时间变化、支持证据、不同表现、待验证事项、下一阶段目标；“综合水平和素质”需要拆成具体维度</a:t>
            </a:r>
            <a:endParaRPr/>
          </a:p>
        </p:txBody>
      </p:sp>
      <p:sp>
        <p:nvSpPr>
          <p:cNvPr id="2471" name=""/>
          <p:cNvSpPr/>
          <p:nvPr/>
        </p:nvSpPr>
        <p:spPr>
          <a:xfrm rot="0" flipH="0" flipV="0">
            <a:off x="666750" y="1981200"/>
            <a:ext cx="1647825" cy="4229100"/>
          </a:xfrm>
          <a:prstGeom prst="roundRect">
            <a:avLst>
              <a:gd name="adj" fmla="val 4624"/>
            </a:avLst>
          </a:prstGeom>
          <a:solidFill>
            <a:srgbClr val="FFFFFF"/>
          </a:solidFill>
          <a:ln w="12700">
            <a:solidFill>
              <a:srgbClr val="E3E8EF"/>
            </a:solidFill>
            <a:prstDash val="solid"/>
          </a:ln>
        </p:spPr>
        <p:txBody>
          <a:bodyPr/>
          <a:p/>
        </p:txBody>
      </p:sp>
      <p:sp>
        <p:nvSpPr>
          <p:cNvPr id="2472" name=""/>
          <p:cNvSpPr/>
          <p:nvPr/>
        </p:nvSpPr>
        <p:spPr>
          <a:xfrm rot="0" flipH="0" flipV="0">
            <a:off x="666750" y="1981200"/>
            <a:ext cx="1647825" cy="38100"/>
          </a:xfrm>
          <a:custGeom>
            <a:pathLst>
              <a:path w="173" h="4">
                <a:moveTo>
                  <a:pt x="165" y="0"/>
                </a:moveTo>
                <a:cubicBezTo>
                  <a:pt x="168" y="0"/>
                  <a:pt x="171" y="2"/>
                  <a:pt x="172" y="4"/>
                </a:cubicBezTo>
                <a:lnTo>
                  <a:pt x="1" y="4"/>
                </a:lnTo>
                <a:cubicBezTo>
                  <a:pt x="3" y="2"/>
                  <a:pt x="5" y="0"/>
                  <a:pt x="8" y="0"/>
                </a:cubicBezTo>
                <a:lnTo>
                  <a:pt x="165" y="0"/>
                </a:lnTo>
                <a:close/>
              </a:path>
            </a:pathLst>
          </a:custGeom>
          <a:gradFill>
            <a:gsLst>
              <a:gs pos="0">
                <a:srgbClr val="1E7BE0"/>
              </a:gs>
              <a:gs pos="100000">
                <a:srgbClr val="00A9B5"/>
              </a:gs>
            </a:gsLst>
            <a:lin ang="0" scaled="1"/>
          </a:gradFill>
          <a:ln/>
        </p:spPr>
        <p:txBody>
          <a:bodyPr/>
          <a:p/>
        </p:txBody>
      </p:sp>
      <p:sp>
        <p:nvSpPr>
          <p:cNvPr id="2473" name="" descr="{&quot;isTemplate&quot;:true,&quot;type&quot;:&quot;text&quot;}"/>
          <p:cNvSpPr txBox="1"/>
          <p:nvPr/>
        </p:nvSpPr>
        <p:spPr>
          <a:xfrm rot="0" flipH="0" flipV="0">
            <a:off x="857250" y="2209800"/>
            <a:ext cx="1266825" cy="771525"/>
          </a:xfrm>
          <a:prstGeom prst="rect"/>
        </p:spPr>
        <p:txBody>
          <a:bodyPr wrap="square" lIns="0" tIns="0" rIns="0" bIns="0">
            <a:normAutofit/>
          </a:bodyPr>
          <a:p>
            <a:pPr>
              <a:lnSpc>
                <a:spcPct val="140000"/>
              </a:lnSpc>
            </a:pPr>
            <a:r>
              <a:rPr lang="zh-CN" sz="1800" b="1">
                <a:solidFill>
                  <a:srgbClr val="0E2340"/>
                </a:solidFill>
                <a:latin typeface="Microsoft YaHei"/>
                <a:ea typeface="Microsoft YaHei"/>
              </a:rPr>
              <a:t>知识理解与应用</a:t>
            </a:r>
            <a:endParaRPr/>
          </a:p>
        </p:txBody>
      </p:sp>
      <p:sp>
        <p:nvSpPr>
          <p:cNvPr id="2474" name="" descr="{&quot;isTemplate&quot;:true,&quot;type&quot;:&quot;text&quot;}"/>
          <p:cNvSpPr txBox="1"/>
          <p:nvPr/>
        </p:nvSpPr>
        <p:spPr>
          <a:xfrm rot="0" flipH="0" flipV="0">
            <a:off x="857250" y="3076575"/>
            <a:ext cx="1266825" cy="9334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概念含义、适用条件与不同情境下的使用</a:t>
            </a:r>
            <a:endParaRPr/>
          </a:p>
        </p:txBody>
      </p:sp>
      <p:sp>
        <p:nvSpPr>
          <p:cNvPr id="2475" name=""/>
          <p:cNvSpPr/>
          <p:nvPr/>
        </p:nvSpPr>
        <p:spPr>
          <a:xfrm rot="0" flipH="0" flipV="0">
            <a:off x="2505075" y="1981200"/>
            <a:ext cx="1647825" cy="4229100"/>
          </a:xfrm>
          <a:prstGeom prst="roundRect">
            <a:avLst>
              <a:gd name="adj" fmla="val 4624"/>
            </a:avLst>
          </a:prstGeom>
          <a:solidFill>
            <a:srgbClr val="FFFFFF"/>
          </a:solidFill>
          <a:ln w="12700">
            <a:solidFill>
              <a:srgbClr val="E3E8EF"/>
            </a:solidFill>
            <a:prstDash val="solid"/>
          </a:ln>
        </p:spPr>
        <p:txBody>
          <a:bodyPr/>
          <a:p/>
        </p:txBody>
      </p:sp>
      <p:sp>
        <p:nvSpPr>
          <p:cNvPr id="2476" name=""/>
          <p:cNvSpPr/>
          <p:nvPr/>
        </p:nvSpPr>
        <p:spPr>
          <a:xfrm rot="0" flipH="0" flipV="0">
            <a:off x="2505075" y="1981200"/>
            <a:ext cx="1647825" cy="38100"/>
          </a:xfrm>
          <a:custGeom>
            <a:pathLst>
              <a:path w="173" h="4">
                <a:moveTo>
                  <a:pt x="165" y="0"/>
                </a:moveTo>
                <a:cubicBezTo>
                  <a:pt x="168" y="0"/>
                  <a:pt x="171" y="2"/>
                  <a:pt x="172" y="4"/>
                </a:cubicBezTo>
                <a:lnTo>
                  <a:pt x="1" y="4"/>
                </a:lnTo>
                <a:cubicBezTo>
                  <a:pt x="3" y="2"/>
                  <a:pt x="5" y="0"/>
                  <a:pt x="8" y="0"/>
                </a:cubicBezTo>
                <a:lnTo>
                  <a:pt x="165" y="0"/>
                </a:lnTo>
                <a:close/>
              </a:path>
            </a:pathLst>
          </a:custGeom>
          <a:gradFill>
            <a:gsLst>
              <a:gs pos="0">
                <a:srgbClr val="1E7BE0"/>
              </a:gs>
              <a:gs pos="100000">
                <a:srgbClr val="00A9B5"/>
              </a:gs>
            </a:gsLst>
            <a:lin ang="0" scaled="1"/>
          </a:gradFill>
          <a:ln/>
        </p:spPr>
        <p:txBody>
          <a:bodyPr/>
          <a:p/>
        </p:txBody>
      </p:sp>
      <p:sp>
        <p:nvSpPr>
          <p:cNvPr id="2477" name="" descr="{&quot;isTemplate&quot;:true,&quot;type&quot;:&quot;text&quot;}"/>
          <p:cNvSpPr txBox="1"/>
          <p:nvPr/>
        </p:nvSpPr>
        <p:spPr>
          <a:xfrm rot="0" flipH="0" flipV="0">
            <a:off x="2695575" y="2209800"/>
            <a:ext cx="1266825" cy="771525"/>
          </a:xfrm>
          <a:prstGeom prst="rect"/>
        </p:spPr>
        <p:txBody>
          <a:bodyPr wrap="square" lIns="0" tIns="0" rIns="0" bIns="0">
            <a:normAutofit/>
          </a:bodyPr>
          <a:p>
            <a:pPr>
              <a:lnSpc>
                <a:spcPct val="140000"/>
              </a:lnSpc>
            </a:pPr>
            <a:r>
              <a:rPr lang="zh-CN" sz="1800" b="1">
                <a:solidFill>
                  <a:srgbClr val="0E2340"/>
                </a:solidFill>
                <a:latin typeface="Microsoft YaHei"/>
                <a:ea typeface="Microsoft YaHei"/>
              </a:rPr>
              <a:t>方法识别与迁移</a:t>
            </a:r>
            <a:endParaRPr/>
          </a:p>
        </p:txBody>
      </p:sp>
      <p:sp>
        <p:nvSpPr>
          <p:cNvPr id="2478" name="" descr="{&quot;isTemplate&quot;:true,&quot;type&quot;:&quot;text&quot;}"/>
          <p:cNvSpPr txBox="1"/>
          <p:nvPr/>
        </p:nvSpPr>
        <p:spPr>
          <a:xfrm rot="0" flipH="0" flipV="0">
            <a:off x="2695575" y="3076575"/>
            <a:ext cx="1266825"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能否识别结构并用于合理变式</a:t>
            </a:r>
            <a:endParaRPr/>
          </a:p>
        </p:txBody>
      </p:sp>
      <p:sp>
        <p:nvSpPr>
          <p:cNvPr id="2479" name=""/>
          <p:cNvSpPr/>
          <p:nvPr/>
        </p:nvSpPr>
        <p:spPr>
          <a:xfrm rot="0" flipH="0" flipV="0">
            <a:off x="4343400" y="1981200"/>
            <a:ext cx="1647825" cy="4229100"/>
          </a:xfrm>
          <a:prstGeom prst="roundRect">
            <a:avLst>
              <a:gd name="adj" fmla="val 4624"/>
            </a:avLst>
          </a:prstGeom>
          <a:solidFill>
            <a:srgbClr val="FFFFFF"/>
          </a:solidFill>
          <a:ln w="12700">
            <a:solidFill>
              <a:srgbClr val="E3E8EF"/>
            </a:solidFill>
            <a:prstDash val="solid"/>
          </a:ln>
        </p:spPr>
        <p:txBody>
          <a:bodyPr/>
          <a:p/>
        </p:txBody>
      </p:sp>
      <p:sp>
        <p:nvSpPr>
          <p:cNvPr id="2480" name=""/>
          <p:cNvSpPr/>
          <p:nvPr/>
        </p:nvSpPr>
        <p:spPr>
          <a:xfrm rot="0" flipH="0" flipV="0">
            <a:off x="4343400" y="1981200"/>
            <a:ext cx="1647825" cy="38100"/>
          </a:xfrm>
          <a:custGeom>
            <a:pathLst>
              <a:path w="173" h="4">
                <a:moveTo>
                  <a:pt x="165" y="0"/>
                </a:moveTo>
                <a:cubicBezTo>
                  <a:pt x="168" y="0"/>
                  <a:pt x="171" y="2"/>
                  <a:pt x="172" y="4"/>
                </a:cubicBezTo>
                <a:lnTo>
                  <a:pt x="1" y="4"/>
                </a:lnTo>
                <a:cubicBezTo>
                  <a:pt x="3" y="2"/>
                  <a:pt x="5" y="0"/>
                  <a:pt x="8" y="0"/>
                </a:cubicBezTo>
                <a:lnTo>
                  <a:pt x="165" y="0"/>
                </a:lnTo>
                <a:close/>
              </a:path>
            </a:pathLst>
          </a:custGeom>
          <a:gradFill>
            <a:gsLst>
              <a:gs pos="0">
                <a:srgbClr val="1E7BE0"/>
              </a:gs>
              <a:gs pos="100000">
                <a:srgbClr val="00A9B5"/>
              </a:gs>
            </a:gsLst>
            <a:lin ang="0" scaled="1"/>
          </a:gradFill>
          <a:ln/>
        </p:spPr>
        <p:txBody>
          <a:bodyPr/>
          <a:p/>
        </p:txBody>
      </p:sp>
      <p:sp>
        <p:nvSpPr>
          <p:cNvPr id="2481" name="" descr="{&quot;isTemplate&quot;:true,&quot;type&quot;:&quot;text&quot;}"/>
          <p:cNvSpPr txBox="1"/>
          <p:nvPr/>
        </p:nvSpPr>
        <p:spPr>
          <a:xfrm rot="0" flipH="0" flipV="0">
            <a:off x="4533900" y="2209800"/>
            <a:ext cx="1266825" cy="390525"/>
          </a:xfrm>
          <a:prstGeom prst="rect"/>
        </p:spPr>
        <p:txBody>
          <a:bodyPr wrap="none" lIns="0" tIns="0" rIns="0" bIns="0"/>
          <a:p>
            <a:pPr>
              <a:lnSpc>
                <a:spcPct val="140000"/>
              </a:lnSpc>
            </a:pPr>
            <a:r>
              <a:rPr lang="zh-CN" sz="1800" b="1">
                <a:solidFill>
                  <a:srgbClr val="0E2340"/>
                </a:solidFill>
                <a:latin typeface="Microsoft YaHei"/>
                <a:ea typeface="Microsoft YaHei"/>
              </a:rPr>
              <a:t>推理与表达</a:t>
            </a:r>
            <a:endParaRPr/>
          </a:p>
        </p:txBody>
      </p:sp>
      <p:sp>
        <p:nvSpPr>
          <p:cNvPr id="2482" name="" descr="{&quot;isTemplate&quot;:true,&quot;type&quot;:&quot;text&quot;}"/>
          <p:cNvSpPr txBox="1"/>
          <p:nvPr/>
        </p:nvSpPr>
        <p:spPr>
          <a:xfrm rot="0" flipH="0" flipV="0">
            <a:off x="4533900" y="2695575"/>
            <a:ext cx="1266825"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推导链条的完整性与书写规范</a:t>
            </a:r>
            <a:endParaRPr/>
          </a:p>
        </p:txBody>
      </p:sp>
      <p:sp>
        <p:nvSpPr>
          <p:cNvPr id="2483" name=""/>
          <p:cNvSpPr/>
          <p:nvPr/>
        </p:nvSpPr>
        <p:spPr>
          <a:xfrm rot="0" flipH="0" flipV="0">
            <a:off x="6181725" y="1981200"/>
            <a:ext cx="1647825" cy="4229100"/>
          </a:xfrm>
          <a:prstGeom prst="roundRect">
            <a:avLst>
              <a:gd name="adj" fmla="val 4624"/>
            </a:avLst>
          </a:prstGeom>
          <a:solidFill>
            <a:srgbClr val="FFFFFF"/>
          </a:solidFill>
          <a:ln w="12700">
            <a:solidFill>
              <a:srgbClr val="E3E8EF"/>
            </a:solidFill>
            <a:prstDash val="solid"/>
          </a:ln>
        </p:spPr>
        <p:txBody>
          <a:bodyPr/>
          <a:p/>
        </p:txBody>
      </p:sp>
      <p:sp>
        <p:nvSpPr>
          <p:cNvPr id="2484" name=""/>
          <p:cNvSpPr/>
          <p:nvPr/>
        </p:nvSpPr>
        <p:spPr>
          <a:xfrm rot="0" flipH="0" flipV="0">
            <a:off x="6181725" y="1981200"/>
            <a:ext cx="1647825" cy="38100"/>
          </a:xfrm>
          <a:custGeom>
            <a:pathLst>
              <a:path w="173" h="4">
                <a:moveTo>
                  <a:pt x="165" y="0"/>
                </a:moveTo>
                <a:cubicBezTo>
                  <a:pt x="168" y="0"/>
                  <a:pt x="171" y="2"/>
                  <a:pt x="172" y="4"/>
                </a:cubicBezTo>
                <a:lnTo>
                  <a:pt x="1" y="4"/>
                </a:lnTo>
                <a:cubicBezTo>
                  <a:pt x="3" y="2"/>
                  <a:pt x="5" y="0"/>
                  <a:pt x="8" y="0"/>
                </a:cubicBezTo>
                <a:lnTo>
                  <a:pt x="165" y="0"/>
                </a:lnTo>
                <a:close/>
              </a:path>
            </a:pathLst>
          </a:custGeom>
          <a:gradFill>
            <a:gsLst>
              <a:gs pos="0">
                <a:srgbClr val="1E7BE0"/>
              </a:gs>
              <a:gs pos="100000">
                <a:srgbClr val="00A9B5"/>
              </a:gs>
            </a:gsLst>
            <a:lin ang="0" scaled="1"/>
          </a:gradFill>
          <a:ln/>
        </p:spPr>
        <p:txBody>
          <a:bodyPr/>
          <a:p/>
        </p:txBody>
      </p:sp>
      <p:sp>
        <p:nvSpPr>
          <p:cNvPr id="2485" name="" descr="{&quot;isTemplate&quot;:true,&quot;type&quot;:&quot;text&quot;}"/>
          <p:cNvSpPr txBox="1"/>
          <p:nvPr/>
        </p:nvSpPr>
        <p:spPr>
          <a:xfrm rot="0" flipH="0" flipV="0">
            <a:off x="6372225" y="2209800"/>
            <a:ext cx="1266825" cy="390525"/>
          </a:xfrm>
          <a:prstGeom prst="rect"/>
        </p:spPr>
        <p:txBody>
          <a:bodyPr wrap="none" lIns="0" tIns="0" rIns="0" bIns="0"/>
          <a:p>
            <a:pPr>
              <a:lnSpc>
                <a:spcPct val="140000"/>
              </a:lnSpc>
            </a:pPr>
            <a:r>
              <a:rPr lang="zh-CN" sz="1800" b="1">
                <a:solidFill>
                  <a:srgbClr val="0E2340"/>
                </a:solidFill>
                <a:latin typeface="Microsoft YaHei"/>
                <a:ea typeface="Microsoft YaHei"/>
              </a:rPr>
              <a:t>计算与执行</a:t>
            </a:r>
            <a:endParaRPr/>
          </a:p>
        </p:txBody>
      </p:sp>
      <p:sp>
        <p:nvSpPr>
          <p:cNvPr id="2486" name="" descr="{&quot;isTemplate&quot;:true,&quot;type&quot;:&quot;text&quot;}"/>
          <p:cNvSpPr txBox="1"/>
          <p:nvPr/>
        </p:nvSpPr>
        <p:spPr>
          <a:xfrm rot="0" flipH="0" flipV="0">
            <a:off x="6372225" y="2695575"/>
            <a:ext cx="1266825"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运算准确性与执行熟练度</a:t>
            </a:r>
            <a:endParaRPr/>
          </a:p>
        </p:txBody>
      </p:sp>
      <p:sp>
        <p:nvSpPr>
          <p:cNvPr id="2487" name=""/>
          <p:cNvSpPr/>
          <p:nvPr/>
        </p:nvSpPr>
        <p:spPr>
          <a:xfrm rot="0" flipH="0" flipV="0">
            <a:off x="8020050" y="1981200"/>
            <a:ext cx="1647825" cy="4229100"/>
          </a:xfrm>
          <a:prstGeom prst="roundRect">
            <a:avLst>
              <a:gd name="adj" fmla="val 4624"/>
            </a:avLst>
          </a:prstGeom>
          <a:solidFill>
            <a:srgbClr val="FFFFFF"/>
          </a:solidFill>
          <a:ln w="12700">
            <a:solidFill>
              <a:srgbClr val="E3E8EF"/>
            </a:solidFill>
            <a:prstDash val="solid"/>
          </a:ln>
        </p:spPr>
        <p:txBody>
          <a:bodyPr/>
          <a:p/>
        </p:txBody>
      </p:sp>
      <p:sp>
        <p:nvSpPr>
          <p:cNvPr id="2488" name=""/>
          <p:cNvSpPr/>
          <p:nvPr/>
        </p:nvSpPr>
        <p:spPr>
          <a:xfrm rot="0" flipH="0" flipV="0">
            <a:off x="8020050" y="1981200"/>
            <a:ext cx="1647825" cy="38100"/>
          </a:xfrm>
          <a:custGeom>
            <a:pathLst>
              <a:path w="173" h="4">
                <a:moveTo>
                  <a:pt x="165" y="0"/>
                </a:moveTo>
                <a:cubicBezTo>
                  <a:pt x="168" y="0"/>
                  <a:pt x="171" y="2"/>
                  <a:pt x="172" y="4"/>
                </a:cubicBezTo>
                <a:lnTo>
                  <a:pt x="1" y="4"/>
                </a:lnTo>
                <a:cubicBezTo>
                  <a:pt x="3" y="2"/>
                  <a:pt x="5" y="0"/>
                  <a:pt x="8" y="0"/>
                </a:cubicBezTo>
                <a:lnTo>
                  <a:pt x="165" y="0"/>
                </a:lnTo>
                <a:close/>
              </a:path>
            </a:pathLst>
          </a:custGeom>
          <a:gradFill>
            <a:gsLst>
              <a:gs pos="0">
                <a:srgbClr val="1E7BE0"/>
              </a:gs>
              <a:gs pos="100000">
                <a:srgbClr val="00A9B5"/>
              </a:gs>
            </a:gsLst>
            <a:lin ang="0" scaled="1"/>
          </a:gradFill>
          <a:ln/>
        </p:spPr>
        <p:txBody>
          <a:bodyPr/>
          <a:p/>
        </p:txBody>
      </p:sp>
      <p:sp>
        <p:nvSpPr>
          <p:cNvPr id="2489" name="" descr="{&quot;isTemplate&quot;:true,&quot;type&quot;:&quot;text&quot;}"/>
          <p:cNvSpPr txBox="1"/>
          <p:nvPr/>
        </p:nvSpPr>
        <p:spPr>
          <a:xfrm rot="0" flipH="0" flipV="0">
            <a:off x="8210550" y="2209800"/>
            <a:ext cx="1266825" cy="771525"/>
          </a:xfrm>
          <a:prstGeom prst="rect"/>
        </p:spPr>
        <p:txBody>
          <a:bodyPr wrap="square" lIns="0" tIns="0" rIns="0" bIns="0">
            <a:normAutofit/>
          </a:bodyPr>
          <a:p>
            <a:pPr>
              <a:lnSpc>
                <a:spcPct val="140000"/>
              </a:lnSpc>
            </a:pPr>
            <a:r>
              <a:rPr lang="zh-CN" sz="1800" b="1">
                <a:solidFill>
                  <a:srgbClr val="0E2340"/>
                </a:solidFill>
                <a:latin typeface="Microsoft YaHei"/>
                <a:ea typeface="Microsoft YaHei"/>
              </a:rPr>
              <a:t>复盘与自我调节</a:t>
            </a:r>
            <a:endParaRPr/>
          </a:p>
        </p:txBody>
      </p:sp>
      <p:sp>
        <p:nvSpPr>
          <p:cNvPr id="2490" name="" descr="{&quot;isTemplate&quot;:true,&quot;type&quot;:&quot;text&quot;}"/>
          <p:cNvSpPr txBox="1"/>
          <p:nvPr/>
        </p:nvSpPr>
        <p:spPr>
          <a:xfrm rot="0" flipH="0" flipV="0">
            <a:off x="8210550" y="3076575"/>
            <a:ext cx="1266825"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能否发现并解释自己的问题</a:t>
            </a:r>
            <a:endParaRPr/>
          </a:p>
        </p:txBody>
      </p:sp>
      <p:sp>
        <p:nvSpPr>
          <p:cNvPr id="2491" name=""/>
          <p:cNvSpPr/>
          <p:nvPr/>
        </p:nvSpPr>
        <p:spPr>
          <a:xfrm rot="0" flipH="0" flipV="0">
            <a:off x="9858375" y="1981200"/>
            <a:ext cx="1647825" cy="4229100"/>
          </a:xfrm>
          <a:prstGeom prst="roundRect">
            <a:avLst>
              <a:gd name="adj" fmla="val 4624"/>
            </a:avLst>
          </a:prstGeom>
          <a:solidFill>
            <a:srgbClr val="FFFFFF"/>
          </a:solidFill>
          <a:ln w="12700">
            <a:solidFill>
              <a:srgbClr val="E3E8EF"/>
            </a:solidFill>
            <a:prstDash val="solid"/>
          </a:ln>
        </p:spPr>
        <p:txBody>
          <a:bodyPr/>
          <a:p/>
        </p:txBody>
      </p:sp>
      <p:sp>
        <p:nvSpPr>
          <p:cNvPr id="2492" name=""/>
          <p:cNvSpPr/>
          <p:nvPr/>
        </p:nvSpPr>
        <p:spPr>
          <a:xfrm rot="0" flipH="0" flipV="0">
            <a:off x="9858375" y="1981200"/>
            <a:ext cx="1647825" cy="38100"/>
          </a:xfrm>
          <a:custGeom>
            <a:pathLst>
              <a:path w="173" h="4">
                <a:moveTo>
                  <a:pt x="165" y="0"/>
                </a:moveTo>
                <a:cubicBezTo>
                  <a:pt x="168" y="0"/>
                  <a:pt x="171" y="2"/>
                  <a:pt x="172" y="4"/>
                </a:cubicBezTo>
                <a:lnTo>
                  <a:pt x="1" y="4"/>
                </a:lnTo>
                <a:cubicBezTo>
                  <a:pt x="3" y="2"/>
                  <a:pt x="5" y="0"/>
                  <a:pt x="8" y="0"/>
                </a:cubicBezTo>
                <a:lnTo>
                  <a:pt x="165" y="0"/>
                </a:lnTo>
                <a:close/>
              </a:path>
            </a:pathLst>
          </a:custGeom>
          <a:gradFill>
            <a:gsLst>
              <a:gs pos="0">
                <a:srgbClr val="1E7BE0"/>
              </a:gs>
              <a:gs pos="100000">
                <a:srgbClr val="00A9B5"/>
              </a:gs>
            </a:gsLst>
            <a:lin ang="0" scaled="1"/>
          </a:gradFill>
          <a:ln/>
        </p:spPr>
        <p:txBody>
          <a:bodyPr/>
          <a:p/>
        </p:txBody>
      </p:sp>
      <p:sp>
        <p:nvSpPr>
          <p:cNvPr id="2493" name="" descr="{&quot;isTemplate&quot;:true,&quot;type&quot;:&quot;text&quot;}"/>
          <p:cNvSpPr txBox="1"/>
          <p:nvPr/>
        </p:nvSpPr>
        <p:spPr>
          <a:xfrm rot="0" flipH="0" flipV="0">
            <a:off x="10048875" y="2209800"/>
            <a:ext cx="1266825" cy="390525"/>
          </a:xfrm>
          <a:prstGeom prst="rect"/>
        </p:spPr>
        <p:txBody>
          <a:bodyPr wrap="none" lIns="0" tIns="0" rIns="0" bIns="0"/>
          <a:p>
            <a:pPr>
              <a:lnSpc>
                <a:spcPct val="140000"/>
              </a:lnSpc>
            </a:pPr>
            <a:r>
              <a:rPr lang="zh-CN" sz="1800" b="1">
                <a:solidFill>
                  <a:srgbClr val="0E2340"/>
                </a:solidFill>
                <a:latin typeface="Microsoft YaHei"/>
                <a:ea typeface="Microsoft YaHei"/>
              </a:rPr>
              <a:t>进步与保持</a:t>
            </a:r>
            <a:endParaRPr/>
          </a:p>
        </p:txBody>
      </p:sp>
      <p:sp>
        <p:nvSpPr>
          <p:cNvPr id="2494" name="" descr="{&quot;isTemplate&quot;:true,&quot;type&quot;:&quot;text&quot;}"/>
          <p:cNvSpPr txBox="1"/>
          <p:nvPr/>
        </p:nvSpPr>
        <p:spPr>
          <a:xfrm rot="0" flipH="0" flipV="0">
            <a:off x="10048875" y="2695575"/>
            <a:ext cx="1266825"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延迟复测中的表现是否稳定</a:t>
            </a:r>
            <a:endParaRPr/>
          </a:p>
        </p:txBody>
      </p:sp>
      <p:sp>
        <p:nvSpPr>
          <p:cNvPr id="2495"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496"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依据：试卷与生涯维度设计思路</a:t>
            </a:r>
            <a:r>
              <a:rPr lang="en-US" sz="975">
                <a:solidFill>
                  <a:srgbClr val="7A8699"/>
                </a:solidFill>
                <a:latin typeface="Microsoft YaHei"/>
                <a:ea typeface="Microsoft YaHei"/>
              </a:rPr>
              <a:t>.md §8</a:t>
            </a:r>
            <a:endParaRPr/>
          </a:p>
        </p:txBody>
      </p:sp>
      <p:sp>
        <p:nvSpPr>
          <p:cNvPr id="2497"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73 / 124 </a:t>
            </a:r>
            <a:endParaRPr/>
          </a:p>
        </p:txBody>
      </p:sp>
    </p:spTree>
  </p:cSld>
</p:sld>
</file>

<file path=ppt/slides/slide74.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498"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7 / 试卷与生涯&lt;/Text&gt;&lt;Text style={{ fontSize: 32, color: '#0E2340', fontWeight: 700, lineHeight: 1.3 }}&gt;知识理解专项测评：独立于套路通过率&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row', gap: 28, flex: 1 }}&gt;&lt;Box style={{ width: 700, justifyContent: 'center' }}&gt;&lt;svg width={700} height={330} viewBox='0 0 700 330'&gt;&lt;rect x='0' y='0' width='345' height='36' fill='#0E2340'/&gt;&lt;text x='172.5' y='24' font-size='16' fill='#FFFFFF' text-anchor='middle' font-weight='600'&gt;任务类型&lt;/text&gt;&lt;rect x='345' y='0' width='345' height='36' fill='#0E2340'/&gt;&lt;text x='517.5' y='24' font-size='16' fill='#FFFFFF' text-anchor='middle' font-weight='600'&gt;考查什么&lt;/text&gt;&lt;rect x='0' y='36' width='345' height='58' fill='#FFFFFF' stroke='#E3E8EF' stroke-width='1'/&gt;&lt;text x='172.5' y='70.0' font-size='17' fill='#0E2340' text-anchor='middle' font-weight='600'&gt;解释概念含义&lt;/text&gt;&lt;rect x='345' y='36' width='345' height='58' fill='#FFFFFF' stroke='#E3E8EF' stroke-width='1'/&gt;&lt;text x='517.5' y='70.0' font-size='17' fill='#333A45' text-anchor='middle' font-weight='400'&gt;用自己的话说出定义与意义&lt;/text&gt;&lt;rect x='0' y='94' width='345' height='58' fill='#F5F7FA' stroke='#E3E8EF' stroke-width='1'/&gt;&lt;text x='172.5' y='128.0' font-size='17' fill='#0E2340' text-anchor='middle' font-weight='600'&gt;判断公式 / 定理适用条件&lt;/text&gt;&lt;rect x='345' y='94' width='345' height='58' fill='#F5F7FA' stroke='#E3E8EF' stroke-width='1'/&gt;&lt;text x='517.5' y='128.0' font-size='17' fill='#333A45' text-anchor='middle' font-weight='400'&gt;识别何时可以用、何时不能用&lt;/text&gt;&lt;rect x='0' y='152' width='345' height='58' fill='#FFFFFF' stroke='#E3E8EF' stroke-width='1'/&gt;&lt;text x='172.5' y='186.0' font-size='17' fill='#0E2340' text-anchor='middle' font-weight='600'&gt;区分相近概念&lt;/text&gt;&lt;rect x='345' y='152' width='345' height='58' fill='#FFFFFF' stroke='#E3E8EF' stroke-width='1'/&gt;&lt;text x='517.5' y='186.0' font-size='17' fill='#333A45' text-anchor='middle' font-weight='400'&gt;辨析易混淆的边界&lt;/text&gt;&lt;rect x='0' y='210' width='345' height='58' fill='#F5F7FA' stroke='#E3E8EF' stroke-width='1'/&gt;&lt;text x='172.5' y='244.0' font-size='17' fill='#0E2340' text-anchor='middle' font-weight='600'&gt;寻找反例&lt;/text&gt;&lt;rect x='345' y='210' width='345' height='58' fill='#F5F7FA' stroke='#E3E8EF' stroke-width='1'/&gt;&lt;text x='517.5' y='244.0' font-size='17' fill='#333A45' text-anchor='middle' font-weight='400'&gt;构造使结论不成立的情形&lt;/text&gt;&lt;rect x='0' y='268' width='345' height='58' fill='#FFFFFF' stroke='#E3E8EF' stroke-width='1'/&gt;&lt;text x='172.5' y='302.0' font-size='17' fill='#0E2340' text-anchor='middle' font-weight='600'&gt;构造满足条件的例子&lt;/text&gt;&lt;rect x='345' y='268' width='345' height='58' fill='#FFFFFF' stroke='#E3E8EF' stroke-width='1'/&gt;&lt;text x='517.5' y='302.0' font-size='17' fill='#333A45' text-anchor='middle' font-weight='400'&gt;从条件反向生成对象&lt;/text&gt;&lt;/svg&gt;&lt;/Box&gt;&lt;Box style={{ flex: 1, flexDirection: 'column', gap: 11, justifyContent: 'center' }}&gt;&lt;Text style={{ fontSize: 21, color: '#0E2340', fontWeight: 700, lineHeight: 1.4 }}&gt;测评设计&lt;/Text&gt;&lt;Box style={{ flexDirection: 'column', gap: 10 }}&gt;&lt;Box style={{ flexDirection: 'row', gap: 12, alignItems: 'flex-start' }}&gt;&lt;Box style={{ width: 8, height: 8, borderRadius: 4, background: '#1E7BE0', marginTop: 9 }} /&gt;&lt;Box style={{ flex: 1 }}&gt;&lt;Text style={{ fontSize: 17, color: '#333A45', fontWeight: 400, lineHeight: 1.6 }}&gt;独立于套路通过率，避免把“会做某类题”直接等同于“理解了概念”。&lt;/Text&gt;&lt;/Box&gt;&lt;/Box&gt;&lt;Box style={{ flexDirection: 'row', gap: 12, alignItems: 'flex-start' }}&gt;&lt;Box style={{ width: 8, height: 8, borderRadius: 4, background: '#1E7BE0', marginTop: 9 }} /&gt;&lt;Box style={{ flex: 1 }}&gt;&lt;Text style={{ fontSize: 17, color: '#333A45', fontWeight: 400, lineHeight: 1.6 }}&gt;关联知识点、可观察目标与可接受的不同回答。&lt;/Text&gt;&lt;/Box&gt;&lt;/Box&gt;&lt;Box style={{ flexDirection: 'row', gap: 12, alignItems: 'flex-start' }}&gt;&lt;Box style={{ width: 8, height: 8, borderRadius: 4, background: '#1E7BE0', marginTop: 9 }} /&gt;&lt;Box style={{ flex: 1 }}&gt;&lt;Text style={{ fontSize: 17, color: '#333A45', fontWeight: 400, lineHeight: 1.6 }}&gt;开放回答保留教师复核入口。&lt;/Text&gt;&lt;/Box&gt;&lt;/Box&gt;&lt;Box style={{ flexDirection: 'row', gap: 12, alignItems: 'flex-start' }}&gt;&lt;Box style={{ width: 8, height: 8, borderRadius: 4, background: '#1E7BE0', marginTop: 9 }} /&gt;&lt;Box style={{ flex: 1 }}&gt;&lt;Text style={{ fontSize: 17, color: '#333A45', fontWeight: 400, lineHeight: 1.6 }}&gt;试卷变容易或 AI 帮助增加导致的分数提高，不应直接解释为能力提高。&lt;/Text&gt;&lt;/Box&gt;&lt;/Box&gt;&lt;/Box&gt;&lt;/Box&gt;&lt;/Box&gt;&lt;/Box&gt;&lt;Box style={{ height: 40, flexDirection: 'row', justifyContent: 'space-between', alignItems: 'center', borderTop: '1px solid #E3E8EF', marginTop: 8 }}&gt;&lt;Text style={{ fontSize: 13, color: '#7A8699', fontWeight: 400, lineHeight: 1.4 }}&gt;依据：试卷与生涯维度设计思路.md §8.1&lt;/Text&gt;&lt;Text style={{ fontSize: 14, color: '#7A8699', fontWeight: 400, lineHeight: 1.4 }}&gt; 74 / 124 &lt;/Text&gt;&lt;/Box&gt;&lt;/Slide&gt;"/>
        <p:cNvGrpSpPr/>
        <p:nvPr/>
      </p:nvGrpSpPr>
      <p:grpSpPr>
        <a:xfrm>
          <a:off x="0" y="0"/>
          <a:ext cx="0" cy="0"/>
          <a:chOff x="0" y="0"/>
          <a:chExt cx="0" cy="0"/>
        </a:xfrm>
      </p:grpSpPr>
      <p:sp>
        <p:nvSpPr>
          <p:cNvPr id="2499" name=""/>
          <p:cNvSpPr/>
          <p:nvPr/>
        </p:nvSpPr>
        <p:spPr>
          <a:xfrm rot="0" flipH="0" flipV="0">
            <a:off x="0" y="0"/>
            <a:ext cx="12192000" cy="6858000"/>
          </a:xfrm>
          <a:prstGeom prst="rect">
            <a:avLst/>
          </a:prstGeom>
          <a:solidFill>
            <a:srgbClr val="FFFFFF"/>
          </a:solidFill>
          <a:ln/>
        </p:spPr>
        <p:txBody>
          <a:bodyPr/>
          <a:p/>
        </p:txBody>
      </p:sp>
      <p:sp>
        <p:nvSpPr>
          <p:cNvPr id="2500" name="" descr="{&quot;isTemplate&quot;:true,&quot;type&quot;:&quot;text&quot;}"/>
          <p:cNvSpPr txBox="1"/>
          <p:nvPr/>
        </p:nvSpPr>
        <p:spPr>
          <a:xfrm rot="0" flipH="0" flipV="0">
            <a:off x="666750" y="381000"/>
            <a:ext cx="5181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07 / </a:t>
            </a:r>
            <a:r>
              <a:rPr lang="zh-CN" sz="1050" spc="75">
                <a:solidFill>
                  <a:srgbClr val="7A8699"/>
                </a:solidFill>
                <a:latin typeface="Microsoft YaHei"/>
                <a:ea typeface="Microsoft YaHei"/>
              </a:rPr>
              <a:t>试卷与生涯</a:t>
            </a:r>
            <a:endParaRPr/>
          </a:p>
        </p:txBody>
      </p:sp>
      <p:sp>
        <p:nvSpPr>
          <p:cNvPr id="2501" name="" descr="{&quot;isTemplate&quot;:true,&quot;type&quot;:&quot;text&quot;}"/>
          <p:cNvSpPr txBox="1"/>
          <p:nvPr/>
        </p:nvSpPr>
        <p:spPr>
          <a:xfrm rot="0" flipH="0" flipV="0">
            <a:off x="666750" y="666750"/>
            <a:ext cx="5181600" cy="476250"/>
          </a:xfrm>
          <a:prstGeom prst="rect"/>
        </p:spPr>
        <p:txBody>
          <a:bodyPr wrap="none" lIns="0" tIns="0" rIns="0" bIns="0"/>
          <a:p>
            <a:pPr>
              <a:lnSpc>
                <a:spcPct val="130000"/>
              </a:lnSpc>
            </a:pPr>
            <a:r>
              <a:rPr lang="zh-CN" sz="2400" b="1">
                <a:solidFill>
                  <a:srgbClr val="0E2340"/>
                </a:solidFill>
                <a:latin typeface="Microsoft YaHei"/>
                <a:ea typeface="Microsoft YaHei"/>
              </a:rPr>
              <a:t>知识理解专项测评：独立于套路通过率</a:t>
            </a:r>
            <a:endParaRPr/>
          </a:p>
        </p:txBody>
      </p:sp>
      <p:sp>
        <p:nvSpPr>
          <p:cNvPr id="2502"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503"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2504" name=""/>
          <p:cNvPicPr>
            <a:picLocks noChangeAspect="1"/>
          </p:cNvPicPr>
          <p:nvPr/>
        </p:nvPicPr>
        <p:blipFill>
          <a:blip>
            <a:extLst>
              <a:ext uri="{96DAC541-7B7A-43D3-8B79-37D633B846F1}">
                <asvg:svgBlip r:embed="rId1"/>
              </a:ext>
            </a:extLst>
          </a:blip>
          <a:stretch>
            <a:fillRect/>
          </a:stretch>
        </p:blipFill>
        <p:spPr>
          <a:xfrm rot="0" flipH="0" flipV="0">
            <a:off x="666750" y="2143125"/>
            <a:ext cx="6667500" cy="3143250"/>
          </a:xfrm>
          <a:prstGeom prst="rect">
            <a:avLst/>
          </a:prstGeom>
          <a:ln/>
        </p:spPr>
      </p:pic>
      <p:sp>
        <p:nvSpPr>
          <p:cNvPr id="2505" name="" descr="{&quot;isTemplate&quot;:true,&quot;type&quot;:&quot;text&quot;}"/>
          <p:cNvSpPr txBox="1"/>
          <p:nvPr/>
        </p:nvSpPr>
        <p:spPr>
          <a:xfrm rot="0" flipH="0" flipV="0">
            <a:off x="7600950" y="2409825"/>
            <a:ext cx="3924300" cy="342900"/>
          </a:xfrm>
          <a:prstGeom prst="rect"/>
        </p:spPr>
        <p:txBody>
          <a:bodyPr wrap="none" lIns="0" tIns="0" rIns="0" bIns="0"/>
          <a:p>
            <a:pPr>
              <a:lnSpc>
                <a:spcPct val="140000"/>
              </a:lnSpc>
            </a:pPr>
            <a:r>
              <a:rPr lang="zh-CN" sz="1575" b="1">
                <a:solidFill>
                  <a:srgbClr val="0E2340"/>
                </a:solidFill>
                <a:latin typeface="Microsoft YaHei"/>
                <a:ea typeface="Microsoft YaHei"/>
              </a:rPr>
              <a:t>测评设计</a:t>
            </a:r>
            <a:endParaRPr/>
          </a:p>
        </p:txBody>
      </p:sp>
      <p:sp>
        <p:nvSpPr>
          <p:cNvPr id="2506" name=""/>
          <p:cNvSpPr/>
          <p:nvPr/>
        </p:nvSpPr>
        <p:spPr>
          <a:xfrm rot="0" flipH="0" flipV="0">
            <a:off x="7600950" y="2943225"/>
            <a:ext cx="76200" cy="76200"/>
          </a:xfrm>
          <a:prstGeom prst="roundRect">
            <a:avLst>
              <a:gd name="adj" fmla="val 50000"/>
            </a:avLst>
          </a:prstGeom>
          <a:solidFill>
            <a:srgbClr val="1E7BE0"/>
          </a:solidFill>
          <a:ln/>
        </p:spPr>
        <p:txBody>
          <a:bodyPr/>
          <a:p/>
        </p:txBody>
      </p:sp>
      <p:sp>
        <p:nvSpPr>
          <p:cNvPr id="2507" name="" descr="{&quot;isTemplate&quot;:true,&quot;type&quot;:&quot;text&quot;}"/>
          <p:cNvSpPr txBox="1"/>
          <p:nvPr/>
        </p:nvSpPr>
        <p:spPr>
          <a:xfrm rot="0" flipH="0" flipV="0">
            <a:off x="7791450" y="2857500"/>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独立于套路通过率，避免把“会做某类题”直接等同于“理解了概念”。</a:t>
            </a:r>
            <a:endParaRPr/>
          </a:p>
        </p:txBody>
      </p:sp>
      <p:sp>
        <p:nvSpPr>
          <p:cNvPr id="2508" name=""/>
          <p:cNvSpPr/>
          <p:nvPr/>
        </p:nvSpPr>
        <p:spPr>
          <a:xfrm rot="0" flipH="0" flipV="0">
            <a:off x="7600950" y="3667125"/>
            <a:ext cx="76200" cy="76200"/>
          </a:xfrm>
          <a:prstGeom prst="roundRect">
            <a:avLst>
              <a:gd name="adj" fmla="val 50000"/>
            </a:avLst>
          </a:prstGeom>
          <a:solidFill>
            <a:srgbClr val="1E7BE0"/>
          </a:solidFill>
          <a:ln/>
        </p:spPr>
        <p:txBody>
          <a:bodyPr/>
          <a:p/>
        </p:txBody>
      </p:sp>
      <p:sp>
        <p:nvSpPr>
          <p:cNvPr id="2509" name="" descr="{&quot;isTemplate&quot;:true,&quot;type&quot;:&quot;text&quot;}"/>
          <p:cNvSpPr txBox="1"/>
          <p:nvPr/>
        </p:nvSpPr>
        <p:spPr>
          <a:xfrm rot="0" flipH="0" flipV="0">
            <a:off x="7791450" y="3581400"/>
            <a:ext cx="3733800" cy="314325"/>
          </a:xfrm>
          <a:prstGeom prst="rect"/>
        </p:spPr>
        <p:txBody>
          <a:bodyPr wrap="none" lIns="0" tIns="0" rIns="0" bIns="0"/>
          <a:p>
            <a:pPr>
              <a:lnSpc>
                <a:spcPct val="160000"/>
              </a:lnSpc>
            </a:pPr>
            <a:r>
              <a:rPr lang="zh-CN" sz="1275">
                <a:solidFill>
                  <a:srgbClr val="333A45"/>
                </a:solidFill>
                <a:latin typeface="Microsoft YaHei"/>
                <a:ea typeface="Microsoft YaHei"/>
              </a:rPr>
              <a:t>关联知识点、可观察目标与可接受的不同回答。</a:t>
            </a:r>
            <a:endParaRPr/>
          </a:p>
        </p:txBody>
      </p:sp>
      <p:sp>
        <p:nvSpPr>
          <p:cNvPr id="2510" name=""/>
          <p:cNvSpPr/>
          <p:nvPr/>
        </p:nvSpPr>
        <p:spPr>
          <a:xfrm rot="0" flipH="0" flipV="0">
            <a:off x="7600950" y="4076700"/>
            <a:ext cx="76200" cy="76200"/>
          </a:xfrm>
          <a:prstGeom prst="roundRect">
            <a:avLst>
              <a:gd name="adj" fmla="val 50000"/>
            </a:avLst>
          </a:prstGeom>
          <a:solidFill>
            <a:srgbClr val="1E7BE0"/>
          </a:solidFill>
          <a:ln/>
        </p:spPr>
        <p:txBody>
          <a:bodyPr/>
          <a:p/>
        </p:txBody>
      </p:sp>
      <p:sp>
        <p:nvSpPr>
          <p:cNvPr id="2511" name="" descr="{&quot;isTemplate&quot;:true,&quot;type&quot;:&quot;text&quot;}"/>
          <p:cNvSpPr txBox="1"/>
          <p:nvPr/>
        </p:nvSpPr>
        <p:spPr>
          <a:xfrm rot="0" flipH="0" flipV="0">
            <a:off x="7791450" y="3990975"/>
            <a:ext cx="3733800" cy="314325"/>
          </a:xfrm>
          <a:prstGeom prst="rect"/>
        </p:spPr>
        <p:txBody>
          <a:bodyPr wrap="none" lIns="0" tIns="0" rIns="0" bIns="0"/>
          <a:p>
            <a:pPr>
              <a:lnSpc>
                <a:spcPct val="160000"/>
              </a:lnSpc>
            </a:pPr>
            <a:r>
              <a:rPr lang="zh-CN" sz="1275">
                <a:solidFill>
                  <a:srgbClr val="333A45"/>
                </a:solidFill>
                <a:latin typeface="Microsoft YaHei"/>
                <a:ea typeface="Microsoft YaHei"/>
              </a:rPr>
              <a:t>开放回答保留教师复核入口。</a:t>
            </a:r>
            <a:endParaRPr/>
          </a:p>
        </p:txBody>
      </p:sp>
      <p:sp>
        <p:nvSpPr>
          <p:cNvPr id="2512" name=""/>
          <p:cNvSpPr/>
          <p:nvPr/>
        </p:nvSpPr>
        <p:spPr>
          <a:xfrm rot="0" flipH="0" flipV="0">
            <a:off x="7600950" y="4486275"/>
            <a:ext cx="76200" cy="76200"/>
          </a:xfrm>
          <a:prstGeom prst="roundRect">
            <a:avLst>
              <a:gd name="adj" fmla="val 50000"/>
            </a:avLst>
          </a:prstGeom>
          <a:solidFill>
            <a:srgbClr val="1E7BE0"/>
          </a:solidFill>
          <a:ln/>
        </p:spPr>
        <p:txBody>
          <a:bodyPr/>
          <a:p/>
        </p:txBody>
      </p:sp>
      <p:sp>
        <p:nvSpPr>
          <p:cNvPr id="2513" name="" descr="{&quot;isTemplate&quot;:true,&quot;type&quot;:&quot;text&quot;}"/>
          <p:cNvSpPr txBox="1"/>
          <p:nvPr/>
        </p:nvSpPr>
        <p:spPr>
          <a:xfrm rot="0" flipH="0" flipV="0">
            <a:off x="7791450" y="4400550"/>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试卷变容易或</a:t>
            </a:r>
            <a:r>
              <a:rPr lang="en-US" sz="1275">
                <a:solidFill>
                  <a:srgbClr val="333A45"/>
                </a:solidFill>
                <a:latin typeface="Microsoft YaHei"/>
                <a:ea typeface="Microsoft YaHei"/>
              </a:rPr>
              <a:t xml:space="preserve"> AI </a:t>
            </a:r>
            <a:r>
              <a:rPr lang="zh-CN" sz="1275">
                <a:solidFill>
                  <a:srgbClr val="333A45"/>
                </a:solidFill>
                <a:latin typeface="Microsoft YaHei"/>
                <a:ea typeface="Microsoft YaHei"/>
              </a:rPr>
              <a:t>帮助增加导致的分数提高，不应直接解释为能力提高。</a:t>
            </a:r>
            <a:endParaRPr/>
          </a:p>
        </p:txBody>
      </p:sp>
      <p:sp>
        <p:nvSpPr>
          <p:cNvPr id="2514"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515" name="" descr="{&quot;isTemplate&quot;:true,&quot;type&quot;:&quot;text&quot;}"/>
          <p:cNvSpPr txBox="1"/>
          <p:nvPr/>
        </p:nvSpPr>
        <p:spPr>
          <a:xfrm rot="0" flipH="0" flipV="0">
            <a:off x="666750" y="6381750"/>
            <a:ext cx="2219325" cy="209550"/>
          </a:xfrm>
          <a:prstGeom prst="rect"/>
        </p:spPr>
        <p:txBody>
          <a:bodyPr wrap="none" lIns="0" tIns="0" rIns="0" bIns="0"/>
          <a:p>
            <a:pPr>
              <a:lnSpc>
                <a:spcPct val="140000"/>
              </a:lnSpc>
            </a:pPr>
            <a:r>
              <a:rPr lang="zh-CN" sz="975">
                <a:solidFill>
                  <a:srgbClr val="7A8699"/>
                </a:solidFill>
                <a:latin typeface="Microsoft YaHei"/>
                <a:ea typeface="Microsoft YaHei"/>
              </a:rPr>
              <a:t>依据：试卷与生涯维度设计思路</a:t>
            </a:r>
            <a:r>
              <a:rPr lang="en-US" sz="975">
                <a:solidFill>
                  <a:srgbClr val="7A8699"/>
                </a:solidFill>
                <a:latin typeface="Microsoft YaHei"/>
                <a:ea typeface="Microsoft YaHei"/>
              </a:rPr>
              <a:t>.md §8.1</a:t>
            </a:r>
            <a:endParaRPr/>
          </a:p>
        </p:txBody>
      </p:sp>
      <p:sp>
        <p:nvSpPr>
          <p:cNvPr id="2516"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74 / 124 </a:t>
            </a:r>
            <a:endParaRPr/>
          </a:p>
        </p:txBody>
      </p:sp>
    </p:spTree>
  </p:cSld>
</p:sld>
</file>

<file path=ppt/slides/slide75.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517"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7 / 试卷与生涯&lt;/Text&gt;&lt;Text style={{ fontSize: 32, color: '#0E2340', fontWeight: 700, lineHeight: 1.3 }}&gt;一对一 AI 助教：分层记忆与工具边界&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row', gap: 28, flex: 1 }}&gt;&lt;Box style={{ width: 620, justifyContent: 'center' }}&gt;&lt;svg width={620} height={400} viewBox='0 0 620 400'&gt;&lt;rect x='0' y='0' width='620' height='400' rx='8' fill='#FFFFFF' stroke='#E3E8EF' stroke-width='1.5'/&gt;&lt;rect x='0' y='0' width='620' height='40' rx='8' fill='#0E2340'/&gt;&lt;rect x='0' y='26' width='620' height='14' fill='#0E2340'/&gt;&lt;text x='16' y='26' font-size='15' fill='#FFFFFF' text-anchor='start' font-weight='600'&gt;StudyAgent&lt;/text&gt;&lt;rect x='18' y='58' width='584' height='26' rx='4' fill='#F5F7FA'/&gt;&lt;text x='30' y='76' font-size='14' fill='#0E2340' text-anchor='start' font-weight='600'&gt;个人助教 · “今天应该复习什么？”&lt;/text&gt;&lt;rect x='18' y='92' width='584' height='52' rx='6' fill='#FFFFFF' stroke='#7A8699' stroke-width='1' stroke-dasharray='4 4'/&gt;&lt;text x='30' y='124' font-size='14' fill='#333A45' text-anchor='start' font-weight='400'&gt;结合明天课时 / 到期复查 / 近期错误推荐任务&lt;/text&gt;&lt;rect x='18' y='152' width='584' height='52' rx='6' fill='#FFFFFF' stroke='#7A8699' stroke-width='1' stroke-dasharray='4 4'/&gt;&lt;text x='30' y='184' font-size='14' fill='#333A45' text-anchor='start' font-weight='400'&gt;记忆分层：原始记录 / 结构化状态 / 确认信息 / 待验证事项&lt;/text&gt;&lt;rect x='18' y='212' width='584' height='28' rx='14' fill='#EAF3FD'/&gt;&lt;text x='30' y='231' font-size='14' fill='#1E7BE0' text-anchor='start' font-weight='600'&gt;权限：不读其他学生记忆；考试模式限制提示与答案工具&lt;/text&gt;&lt;rect x='18' y='248' width='584' height='34' rx='17' fill='#1E7BE0'/&gt;&lt;text x='310.0' y='271' font-size='15' fill='#FFFFFF' text-anchor='middle' font-weight='600'&gt;安排训练 · 生成变式 · 保存复测计划&lt;/text&gt;&lt;text x='608' y='390' font-size='12' fill='#7A8699' text-anchor='end' font-weight='400'&gt;示意占位 · S29&lt;/text&gt;&lt;/svg&gt;&lt;/Box&gt;&lt;Box style={{ flex: 1, flexDirection: 'column', gap: 10, justifyContent: 'center' }}&gt;&lt;Text style={{ fontSize: 21, color: '#0E2340', fontWeight: 700, lineHeight: 1.4 }}&gt;界面要点&lt;/Text&gt;&lt;Box style={{ flexDirection: 'column', gap: 9 }}&gt;&lt;Box style={{ flexDirection: 'row', gap: 12, alignItems: 'flex-start' }}&gt;&lt;Box style={{ width: 8, height: 8, borderRadius: 4, background: '#1E7BE0', marginTop: 9 }} /&gt;&lt;Box style={{ flex: 1 }}&gt;&lt;Text style={{ fontSize: 16, color: '#333A45', fontWeight: 400, lineHeight: 1.6 }}&gt;为每名学生提供持续陪伴的助教，能查生涯记录、记住已确认目标、训练安排、常见困难与有效帮助方式。&lt;/Text&gt;&lt;/Box&gt;&lt;/Box&gt;&lt;Box style={{ flexDirection: 'row', gap: 12, alignItems: 'flex-start' }}&gt;&lt;Box style={{ width: 8, height: 8, borderRadius: 4, background: '#1E7BE0', marginTop: 9 }} /&gt;&lt;Box style={{ flex: 1 }}&gt;&lt;Text style={{ fontSize: 16, color: '#333A45', fontWeight: 400, lineHeight: 1.6 }}&gt;MCP 工具能力五类：查询课程关系 / 查询本人学习记录 / 解题教学与步骤批改 / 查找错题与生成变式组卷 / 保存计划与复测安排。&lt;/Text&gt;&lt;/Box&gt;&lt;/Box&gt;&lt;Box style={{ flexDirection: 'row', gap: 12, alignItems: 'flex-start' }}&gt;&lt;Box style={{ width: 8, height: 8, borderRadius: 4, background: '#1E7BE0', marginTop: 9 }} /&gt;&lt;Box style={{ flex: 1 }}&gt;&lt;Text style={{ fontSize: 16, color: '#333A45', fontWeight: 400, lineHeight: 1.6 }}&gt;长期记忆不是把所有聊天永久塞入提示词，也不是把学生个人信息写进模型权重。&lt;/Text&gt;&lt;/Box&gt;&lt;/Box&gt;&lt;Box style={{ flexDirection: 'row', gap: 12, alignItems: 'flex-start' }}&gt;&lt;Box style={{ width: 8, height: 8, borderRadius: 4, background: '#1E7BE0', marginTop: 9 }} /&gt;&lt;Box style={{ flex: 1 }}&gt;&lt;Text style={{ fontSize: 16, color: '#333A45', fontWeight: 400, lineHeight: 1.6 }}&gt;事实、学生自述、教师判断、模型推测分别记录。&lt;/Text&gt;&lt;/Box&gt;&lt;/Box&gt;&lt;Box style={{ flexDirection: 'row', gap: 12, alignItems: 'flex-start' }}&gt;&lt;Box style={{ width: 8, height: 8, borderRadius: 4, background: '#1E7BE0', marginTop: 9 }} /&gt;&lt;Box style={{ flex: 1 }}&gt;&lt;Text style={{ fontSize: 16, color: '#333A45', fontWeight: 400, lineHeight: 1.6 }}&gt;统一任务预算与停止条件：达到目标、用完约定时间、继续练习无新增证据、需教师确认；未知或未完成不因任务关闭自动记为掌握。&lt;/Text&gt;&lt;/Box&gt;&lt;/Box&gt;&lt;/Box&gt;&lt;Box style={{ marginTop: 6, padding: '9px 14px', background: '#F5F7FA', borderRadius: 6, alignSelf: 'flex-start' }}&gt;&lt;Text style={{ fontSize: 14, color: '#7A8699', fontWeight: 600, lineHeight: 1.4 }}&gt;示意占位 S29 · 待替换为实际截图&lt;/Text&gt;&lt;/Box&gt;&lt;/Box&gt;&lt;/Box&gt;&lt;/Box&gt;&lt;Box style={{ height: 40, flexDirection: 'row', justifyContent: 'space-between', alignItems: 'center', borderTop: '1px solid #E3E8EF', marginTop: 8 }}&gt;&lt;Text style={{ fontSize: 13, color: '#7A8699', fontWeight: 400, lineHeight: 1.4 }}&gt;依据：试卷与生涯维度设计思路.md §9&lt;/Text&gt;&lt;Text style={{ fontSize: 14, color: '#7A8699', fontWeight: 400, lineHeight: 1.4 }}&gt; 75 / 124 &lt;/Text&gt;&lt;/Box&gt;&lt;/Slide&gt;"/>
        <p:cNvGrpSpPr/>
        <p:nvPr/>
      </p:nvGrpSpPr>
      <p:grpSpPr>
        <a:xfrm>
          <a:off x="0" y="0"/>
          <a:ext cx="0" cy="0"/>
          <a:chOff x="0" y="0"/>
          <a:chExt cx="0" cy="0"/>
        </a:xfrm>
      </p:grpSpPr>
      <p:sp>
        <p:nvSpPr>
          <p:cNvPr id="2518" name=""/>
          <p:cNvSpPr/>
          <p:nvPr/>
        </p:nvSpPr>
        <p:spPr>
          <a:xfrm rot="0" flipH="0" flipV="0">
            <a:off x="0" y="0"/>
            <a:ext cx="12192000" cy="6858000"/>
          </a:xfrm>
          <a:prstGeom prst="rect">
            <a:avLst/>
          </a:prstGeom>
          <a:solidFill>
            <a:srgbClr val="FFFFFF"/>
          </a:solidFill>
          <a:ln/>
        </p:spPr>
        <p:txBody>
          <a:bodyPr/>
          <a:p/>
        </p:txBody>
      </p:sp>
      <p:sp>
        <p:nvSpPr>
          <p:cNvPr id="2519" name="" descr="{&quot;isTemplate&quot;:true,&quot;type&quot;:&quot;text&quot;}"/>
          <p:cNvSpPr txBox="1"/>
          <p:nvPr/>
        </p:nvSpPr>
        <p:spPr>
          <a:xfrm rot="0" flipH="0" flipV="0">
            <a:off x="666750" y="381000"/>
            <a:ext cx="504825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07 / </a:t>
            </a:r>
            <a:r>
              <a:rPr lang="zh-CN" sz="1050" spc="75">
                <a:solidFill>
                  <a:srgbClr val="7A8699"/>
                </a:solidFill>
                <a:latin typeface="Microsoft YaHei"/>
                <a:ea typeface="Microsoft YaHei"/>
              </a:rPr>
              <a:t>试卷与生涯</a:t>
            </a:r>
            <a:endParaRPr/>
          </a:p>
        </p:txBody>
      </p:sp>
      <p:sp>
        <p:nvSpPr>
          <p:cNvPr id="2520" name="" descr="{&quot;isTemplate&quot;:true,&quot;type&quot;:&quot;text&quot;}"/>
          <p:cNvSpPr txBox="1"/>
          <p:nvPr/>
        </p:nvSpPr>
        <p:spPr>
          <a:xfrm rot="0" flipH="0" flipV="0">
            <a:off x="666750" y="666750"/>
            <a:ext cx="5048250" cy="476250"/>
          </a:xfrm>
          <a:prstGeom prst="rect"/>
        </p:spPr>
        <p:txBody>
          <a:bodyPr wrap="none" lIns="0" tIns="0" rIns="0" bIns="0"/>
          <a:p>
            <a:pPr>
              <a:lnSpc>
                <a:spcPct val="130000"/>
              </a:lnSpc>
            </a:pPr>
            <a:r>
              <a:rPr lang="zh-CN" sz="2400" b="1">
                <a:solidFill>
                  <a:srgbClr val="0E2340"/>
                </a:solidFill>
                <a:latin typeface="Microsoft YaHei"/>
                <a:ea typeface="Microsoft YaHei"/>
              </a:rPr>
              <a:t>一对一</a:t>
            </a:r>
            <a:r>
              <a:rPr lang="en-US" sz="2400" b="1">
                <a:solidFill>
                  <a:srgbClr val="0E2340"/>
                </a:solidFill>
                <a:latin typeface="Microsoft YaHei"/>
                <a:ea typeface="Microsoft YaHei"/>
              </a:rPr>
              <a:t xml:space="preserve"> AI </a:t>
            </a:r>
            <a:r>
              <a:rPr lang="zh-CN" sz="2400" b="1">
                <a:solidFill>
                  <a:srgbClr val="0E2340"/>
                </a:solidFill>
                <a:latin typeface="Microsoft YaHei"/>
                <a:ea typeface="Microsoft YaHei"/>
              </a:rPr>
              <a:t>助教：分层记忆与工具边界</a:t>
            </a:r>
            <a:endParaRPr/>
          </a:p>
        </p:txBody>
      </p:sp>
      <p:sp>
        <p:nvSpPr>
          <p:cNvPr id="2521"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522"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2523" name=""/>
          <p:cNvPicPr>
            <a:picLocks noChangeAspect="1"/>
          </p:cNvPicPr>
          <p:nvPr/>
        </p:nvPicPr>
        <p:blipFill>
          <a:blip>
            <a:extLst>
              <a:ext uri="{96DAC541-7B7A-43D3-8B79-37D633B846F1}">
                <asvg:svgBlip r:embed="rId1"/>
              </a:ext>
            </a:extLst>
          </a:blip>
          <a:stretch>
            <a:fillRect/>
          </a:stretch>
        </p:blipFill>
        <p:spPr>
          <a:xfrm rot="0" flipH="0" flipV="0">
            <a:off x="666750" y="1809750"/>
            <a:ext cx="5905500" cy="3810000"/>
          </a:xfrm>
          <a:prstGeom prst="rect">
            <a:avLst/>
          </a:prstGeom>
          <a:ln/>
        </p:spPr>
      </p:pic>
      <p:sp>
        <p:nvSpPr>
          <p:cNvPr id="2524" name="" descr="{&quot;isTemplate&quot;:true,&quot;type&quot;:&quot;text&quot;}"/>
          <p:cNvSpPr txBox="1"/>
          <p:nvPr/>
        </p:nvSpPr>
        <p:spPr>
          <a:xfrm rot="0" flipH="0" flipV="0">
            <a:off x="6838950" y="1571625"/>
            <a:ext cx="4686300" cy="342900"/>
          </a:xfrm>
          <a:prstGeom prst="rect"/>
        </p:spPr>
        <p:txBody>
          <a:bodyPr wrap="none" lIns="0" tIns="0" rIns="0" bIns="0"/>
          <a:p>
            <a:pPr>
              <a:lnSpc>
                <a:spcPct val="140000"/>
              </a:lnSpc>
            </a:pPr>
            <a:r>
              <a:rPr lang="zh-CN" sz="1575" b="1">
                <a:solidFill>
                  <a:srgbClr val="0E2340"/>
                </a:solidFill>
                <a:latin typeface="Microsoft YaHei"/>
                <a:ea typeface="Microsoft YaHei"/>
              </a:rPr>
              <a:t>界面要点</a:t>
            </a:r>
            <a:endParaRPr/>
          </a:p>
        </p:txBody>
      </p:sp>
      <p:sp>
        <p:nvSpPr>
          <p:cNvPr id="2525" name=""/>
          <p:cNvSpPr/>
          <p:nvPr/>
        </p:nvSpPr>
        <p:spPr>
          <a:xfrm rot="0" flipH="0" flipV="0">
            <a:off x="6838950" y="2095500"/>
            <a:ext cx="76200" cy="76200"/>
          </a:xfrm>
          <a:prstGeom prst="roundRect">
            <a:avLst>
              <a:gd name="adj" fmla="val 50000"/>
            </a:avLst>
          </a:prstGeom>
          <a:solidFill>
            <a:srgbClr val="1E7BE0"/>
          </a:solidFill>
          <a:ln/>
        </p:spPr>
        <p:txBody>
          <a:bodyPr/>
          <a:p/>
        </p:txBody>
      </p:sp>
      <p:sp>
        <p:nvSpPr>
          <p:cNvPr id="2526" name="" descr="{&quot;isTemplate&quot;:true,&quot;type&quot;:&quot;text&quot;}"/>
          <p:cNvSpPr txBox="1"/>
          <p:nvPr/>
        </p:nvSpPr>
        <p:spPr>
          <a:xfrm rot="0" flipH="0" flipV="0">
            <a:off x="7029450" y="2009775"/>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为每名学生提供持续陪伴的助教，能查生涯记录、记住已确认目标、训练安排、常见困难与有效帮助方式。</a:t>
            </a:r>
            <a:endParaRPr/>
          </a:p>
        </p:txBody>
      </p:sp>
      <p:sp>
        <p:nvSpPr>
          <p:cNvPr id="2527" name=""/>
          <p:cNvSpPr/>
          <p:nvPr/>
        </p:nvSpPr>
        <p:spPr>
          <a:xfrm rot="0" flipH="0" flipV="0">
            <a:off x="6838950" y="2771775"/>
            <a:ext cx="76200" cy="76200"/>
          </a:xfrm>
          <a:prstGeom prst="roundRect">
            <a:avLst>
              <a:gd name="adj" fmla="val 50000"/>
            </a:avLst>
          </a:prstGeom>
          <a:solidFill>
            <a:srgbClr val="1E7BE0"/>
          </a:solidFill>
          <a:ln/>
        </p:spPr>
        <p:txBody>
          <a:bodyPr/>
          <a:p/>
        </p:txBody>
      </p:sp>
      <p:sp>
        <p:nvSpPr>
          <p:cNvPr id="2528" name="" descr="{&quot;isTemplate&quot;:true,&quot;type&quot;:&quot;text&quot;}"/>
          <p:cNvSpPr txBox="1"/>
          <p:nvPr/>
        </p:nvSpPr>
        <p:spPr>
          <a:xfrm rot="0" flipH="0" flipV="0">
            <a:off x="7029450" y="2686050"/>
            <a:ext cx="4495800" cy="590550"/>
          </a:xfrm>
          <a:prstGeom prst="rect"/>
        </p:spPr>
        <p:txBody>
          <a:bodyPr wrap="square" lIns="0" tIns="0" rIns="0" bIns="0">
            <a:normAutofit/>
          </a:bodyPr>
          <a:p>
            <a:pPr>
              <a:lnSpc>
                <a:spcPct val="160000"/>
              </a:lnSpc>
            </a:pPr>
            <a:r>
              <a:rPr lang="en-US" sz="1200">
                <a:solidFill>
                  <a:srgbClr val="333A45"/>
                </a:solidFill>
                <a:latin typeface="Microsoft YaHei"/>
                <a:ea typeface="Microsoft YaHei"/>
              </a:rPr>
              <a:t xml:space="preserve">MCP </a:t>
            </a:r>
            <a:r>
              <a:rPr lang="zh-CN" sz="1200">
                <a:solidFill>
                  <a:srgbClr val="333A45"/>
                </a:solidFill>
                <a:latin typeface="Microsoft YaHei"/>
                <a:ea typeface="Microsoft YaHei"/>
              </a:rPr>
              <a:t>工具能力五类：查询课程关系</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查询本人学习记录</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解题教学与步骤批改</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查找错题与生成变式组卷</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保存计划与复测安排。</a:t>
            </a:r>
            <a:endParaRPr/>
          </a:p>
        </p:txBody>
      </p:sp>
      <p:sp>
        <p:nvSpPr>
          <p:cNvPr id="2529" name=""/>
          <p:cNvSpPr/>
          <p:nvPr/>
        </p:nvSpPr>
        <p:spPr>
          <a:xfrm rot="0" flipH="0" flipV="0">
            <a:off x="6838950" y="3448050"/>
            <a:ext cx="76200" cy="76200"/>
          </a:xfrm>
          <a:prstGeom prst="roundRect">
            <a:avLst>
              <a:gd name="adj" fmla="val 50000"/>
            </a:avLst>
          </a:prstGeom>
          <a:solidFill>
            <a:srgbClr val="1E7BE0"/>
          </a:solidFill>
          <a:ln/>
        </p:spPr>
        <p:txBody>
          <a:bodyPr/>
          <a:p/>
        </p:txBody>
      </p:sp>
      <p:sp>
        <p:nvSpPr>
          <p:cNvPr id="2530" name="" descr="{&quot;isTemplate&quot;:true,&quot;type&quot;:&quot;text&quot;}"/>
          <p:cNvSpPr txBox="1"/>
          <p:nvPr/>
        </p:nvSpPr>
        <p:spPr>
          <a:xfrm rot="0" flipH="0" flipV="0">
            <a:off x="7029450" y="3362325"/>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长期记忆不是把所有聊天永久塞入提示词，也不是把学生个人信息写进模型权重。</a:t>
            </a:r>
            <a:endParaRPr/>
          </a:p>
        </p:txBody>
      </p:sp>
      <p:sp>
        <p:nvSpPr>
          <p:cNvPr id="2531" name=""/>
          <p:cNvSpPr/>
          <p:nvPr/>
        </p:nvSpPr>
        <p:spPr>
          <a:xfrm rot="0" flipH="0" flipV="0">
            <a:off x="6838950" y="4124325"/>
            <a:ext cx="76200" cy="76200"/>
          </a:xfrm>
          <a:prstGeom prst="roundRect">
            <a:avLst>
              <a:gd name="adj" fmla="val 50000"/>
            </a:avLst>
          </a:prstGeom>
          <a:solidFill>
            <a:srgbClr val="1E7BE0"/>
          </a:solidFill>
          <a:ln/>
        </p:spPr>
        <p:txBody>
          <a:bodyPr/>
          <a:p/>
        </p:txBody>
      </p:sp>
      <p:sp>
        <p:nvSpPr>
          <p:cNvPr id="2532" name="" descr="{&quot;isTemplate&quot;:true,&quot;type&quot;:&quot;text&quot;}"/>
          <p:cNvSpPr txBox="1"/>
          <p:nvPr/>
        </p:nvSpPr>
        <p:spPr>
          <a:xfrm rot="0" flipH="0" flipV="0">
            <a:off x="7029450" y="4038600"/>
            <a:ext cx="4495800" cy="295275"/>
          </a:xfrm>
          <a:prstGeom prst="rect"/>
        </p:spPr>
        <p:txBody>
          <a:bodyPr wrap="none" lIns="0" tIns="0" rIns="0" bIns="0"/>
          <a:p>
            <a:pPr>
              <a:lnSpc>
                <a:spcPct val="160000"/>
              </a:lnSpc>
            </a:pPr>
            <a:r>
              <a:rPr lang="zh-CN" sz="1200">
                <a:solidFill>
                  <a:srgbClr val="333A45"/>
                </a:solidFill>
                <a:latin typeface="Microsoft YaHei"/>
                <a:ea typeface="Microsoft YaHei"/>
              </a:rPr>
              <a:t>事实、学生自述、教师判断、模型推测分别记录。</a:t>
            </a:r>
            <a:endParaRPr/>
          </a:p>
        </p:txBody>
      </p:sp>
      <p:sp>
        <p:nvSpPr>
          <p:cNvPr id="2533" name=""/>
          <p:cNvSpPr/>
          <p:nvPr/>
        </p:nvSpPr>
        <p:spPr>
          <a:xfrm rot="0" flipH="0" flipV="0">
            <a:off x="6838950" y="4505325"/>
            <a:ext cx="76200" cy="76200"/>
          </a:xfrm>
          <a:prstGeom prst="roundRect">
            <a:avLst>
              <a:gd name="adj" fmla="val 50000"/>
            </a:avLst>
          </a:prstGeom>
          <a:solidFill>
            <a:srgbClr val="1E7BE0"/>
          </a:solidFill>
          <a:ln/>
        </p:spPr>
        <p:txBody>
          <a:bodyPr/>
          <a:p/>
        </p:txBody>
      </p:sp>
      <p:sp>
        <p:nvSpPr>
          <p:cNvPr id="2534" name="" descr="{&quot;isTemplate&quot;:true,&quot;type&quot;:&quot;text&quot;}"/>
          <p:cNvSpPr txBox="1"/>
          <p:nvPr/>
        </p:nvSpPr>
        <p:spPr>
          <a:xfrm rot="0" flipH="0" flipV="0">
            <a:off x="7029450" y="4419600"/>
            <a:ext cx="4495800" cy="88582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统一任务预算与停止条件：达到目标、用完约定时间、继续练习无新增证据、需教师确认；未知或未完成不因任务关闭自动记为掌握。</a:t>
            </a:r>
            <a:endParaRPr/>
          </a:p>
        </p:txBody>
      </p:sp>
      <p:sp>
        <p:nvSpPr>
          <p:cNvPr id="2535" name=""/>
          <p:cNvSpPr/>
          <p:nvPr/>
        </p:nvSpPr>
        <p:spPr>
          <a:xfrm rot="0" flipH="0" flipV="0">
            <a:off x="6838950" y="5457825"/>
            <a:ext cx="2266950" cy="400050"/>
          </a:xfrm>
          <a:prstGeom prst="roundRect">
            <a:avLst>
              <a:gd name="adj" fmla="val 14286"/>
            </a:avLst>
          </a:prstGeom>
          <a:solidFill>
            <a:srgbClr val="F5F7FA"/>
          </a:solidFill>
          <a:ln/>
        </p:spPr>
        <p:txBody>
          <a:bodyPr/>
          <a:p/>
        </p:txBody>
      </p:sp>
      <p:sp>
        <p:nvSpPr>
          <p:cNvPr id="2536" name="" descr="{&quot;isTemplate&quot;:true,&quot;type&quot;:&quot;text&quot;}"/>
          <p:cNvSpPr txBox="1"/>
          <p:nvPr/>
        </p:nvSpPr>
        <p:spPr>
          <a:xfrm rot="0" flipH="0" flipV="0">
            <a:off x="6972300" y="5543550"/>
            <a:ext cx="2000250" cy="228600"/>
          </a:xfrm>
          <a:prstGeom prst="rect"/>
        </p:spPr>
        <p:txBody>
          <a:bodyPr wrap="none" lIns="0" tIns="0" rIns="0" bIns="0"/>
          <a:p>
            <a:pPr>
              <a:lnSpc>
                <a:spcPct val="140000"/>
              </a:lnSpc>
            </a:pPr>
            <a:r>
              <a:rPr lang="zh-CN" sz="1050" b="1">
                <a:solidFill>
                  <a:srgbClr val="7A8699"/>
                </a:solidFill>
                <a:latin typeface="Microsoft YaHei"/>
                <a:ea typeface="Microsoft YaHei"/>
              </a:rPr>
              <a:t>示意占位</a:t>
            </a:r>
            <a:r>
              <a:rPr lang="en-US" sz="1050" b="1">
                <a:solidFill>
                  <a:srgbClr val="7A8699"/>
                </a:solidFill>
                <a:latin typeface="Microsoft YaHei"/>
                <a:ea typeface="Microsoft YaHei"/>
              </a:rPr>
              <a:t xml:space="preserve"> S29 · </a:t>
            </a:r>
            <a:r>
              <a:rPr lang="zh-CN" sz="1050" b="1">
                <a:solidFill>
                  <a:srgbClr val="7A8699"/>
                </a:solidFill>
                <a:latin typeface="Microsoft YaHei"/>
                <a:ea typeface="Microsoft YaHei"/>
              </a:rPr>
              <a:t>待替换为实际截图</a:t>
            </a:r>
            <a:endParaRPr/>
          </a:p>
        </p:txBody>
      </p:sp>
      <p:sp>
        <p:nvSpPr>
          <p:cNvPr id="2537"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538"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依据：试卷与生涯维度设计思路</a:t>
            </a:r>
            <a:r>
              <a:rPr lang="en-US" sz="975">
                <a:solidFill>
                  <a:srgbClr val="7A8699"/>
                </a:solidFill>
                <a:latin typeface="Microsoft YaHei"/>
                <a:ea typeface="Microsoft YaHei"/>
              </a:rPr>
              <a:t>.md §9</a:t>
            </a:r>
            <a:endParaRPr/>
          </a:p>
        </p:txBody>
      </p:sp>
      <p:sp>
        <p:nvSpPr>
          <p:cNvPr id="2539"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75 / 124 </a:t>
            </a:r>
            <a:endParaRPr/>
          </a:p>
        </p:txBody>
      </p:sp>
    </p:spTree>
  </p:cSld>
</p:sld>
</file>

<file path=ppt/slides/slide76.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540" name="" descr="&lt;Slide style={{ width: '1280px', height: '720px', background: '#FFFFFF', padding: 0 }}&gt;&lt;Box style={{ position: 'absolute', top: 0, left: 0 }}&gt;&lt;svg width={1280} height={720} viewBox='0 0 1280 720'&gt;&lt;line x1='0' y1='0' x2='1280' y2='0' stroke='#E3E8EF' stroke-width='1' opacity='0.55'/&gt;&lt;line x1='0' y1='90' x2='1280' y2='90' stroke='#E3E8EF' stroke-width='1' opacity='0.55'/&gt;&lt;line x1='0' y1='180' x2='1280' y2='180' stroke='#E3E8EF' stroke-width='1' opacity='0.55'/&gt;&lt;line x1='0' y1='270' x2='1280' y2='270' stroke='#E3E8EF' stroke-width='1' opacity='0.55'/&gt;&lt;line x1='0' y1='360' x2='1280' y2='360' stroke='#E3E8EF' stroke-width='1' opacity='0.55'/&gt;&lt;line x1='0' y1='450' x2='1280' y2='450' stroke='#E3E8EF' stroke-width='1' opacity='0.55'/&gt;&lt;line x1='0' y1='540' x2='1280' y2='540' stroke='#E3E8EF' stroke-width='1' opacity='0.55'/&gt;&lt;line x1='0' y1='630' x2='1280' y2='630' stroke='#E3E8EF' stroke-width='1' opacity='0.55'/&gt;&lt;line x1='0' y1='720' x2='1280' y2='720' stroke='#E3E8EF' stroke-width='1' opacity='0.55'/&gt;&lt;/svg&gt;&lt;/Box&gt;&lt;Box style={{ position: 'relative', zIndex: 2, flexDirection: 'row', flex: 1, padding: '48px 80px 52px', gap: 44 }}&gt;&lt;Box style={{ width: 520, flexDirection: 'column', justifyContent: 'space-between' }}&gt;&lt;Box style={{ flexDirection: 'column' }}&gt;&lt;Text style={{ fontSize: 15, color: '#1E7BE0', fontWeight: 600, lineHeight: 1.4, letterSpacing: 2 }}&gt;STUDYAGENT · DESIGN REVIEW&lt;/Text&gt;&lt;/Box&gt;&lt;Box style={{ flexDirection: 'column' }}&gt;&lt;Text style={{ fontSize: 100, color: '#0E2340', fontWeight: 700, lineHeight: 1.0, fontFamily: 'JetBrains Mono, Inter' }}&gt;08&lt;/Text&gt;&lt;Box style={{ width: 78, height: 5, background: '#1E7BE0', marginTop: 10 }} /&gt;&lt;Text style={{ fontSize: 44, color: '#0E2340', fontWeight: 700, lineHeight: 1.2 }}&gt;教学协同 Agent&lt;/Text&gt;&lt;/Box&gt;&lt;Box style={{ flexDirection: 'column', gap: 12 }}&gt;&lt;Box style={{ flexDirection: 'row', alignItems: 'center', background: '#F5F7FA', borderLeft: '4px solid #1E7BE0', borderRadius: 6, padding: '14px 20px' }}&gt;&lt;Text style={{ fontSize: 19, color: '#0E2340', fontWeight: 600, lineHeight: 1.5 }}&gt;一个 Agent、三种角色视角&lt;/Text&gt;&lt;/Box&gt;&lt;Box style={{ flexDirection: 'row', alignItems: 'center', background: '#F5F7FA', borderLeft: '4px solid #1E7BE0', borderRadius: 6, padding: '14px 20px' }}&gt;&lt;Text style={{ fontSize: 19, color: '#0E2340', fontWeight: 600, lineHeight: 1.5 }}&gt;七步基本工作循环&lt;/Text&gt;&lt;/Box&gt;&lt;Box style={{ flexDirection: 'row', alignItems: 'center', background: '#F5F7FA', borderLeft: '4px solid #1E7BE0', borderRadius: 6, padding: '14px 20px' }}&gt;&lt;Text style={{ fontSize: 19, color: '#0E2340', fontWeight: 600, lineHeight: 1.5 }}&gt;身份来自服务端授权&lt;/Text&gt;&lt;/Box&gt;&lt;/Box&gt;&lt;Box style={{ flexDirection: 'column' }}&gt;&lt;Text style={{ fontSize: 13, color: '#7A8699', fontWeight: 400, lineHeight: 1.5 }}&gt;来源：教学协同Agent设计.md（设计日期 2026-10-25，不表示该产品能力已经实施）&lt;/Text&gt;&lt;/Box&gt;&lt;/Box&gt;&lt;Box style={{ flex: 1, flexDirection: 'column', justifyContent: 'space-between', gap: 12 }}&gt;&lt;Text style={{ fontSize: 20, color: '#0E2340', fontWeight: 700, lineHeight: 1.4 }}&gt;汇报结构 · 13 章&lt;/Text&gt;&lt;Box style={{ flexDirection: 'column', gap: 10 }}&gt;&lt;Box style={{ flexDirection: 'row', gap: 10 }}&gt;&lt;Box style={{ width: 172, height: 64, borderRadius: 6, padding: '9px 12px', background: '#F5F7FA', flexDirection: 'column', justifyContent: 'center' }}&gt;&lt;Text style={{ fontSize: 18, color: '#0E2340', fontWeight: 700, lineHeight: 1.2 }}&gt;01&lt;/Text&gt;&lt;Text style={{ fontSize: 13, color: '#7A8699', fontWeight: 400, lineHeight: 1.3 }}&gt;概念地基&lt;/Text&gt;&lt;/Box&gt;&lt;Box style={{ width: 172, height: 64, borderRadius: 6, padding: '9px 12px', background: '#F5F7FA', flexDirection: 'column', justifyContent: 'center' }}&gt;&lt;Text style={{ fontSize: 18, color: '#0E2340', fontWeight: 700, lineHeight: 1.2 }}&gt;02&lt;/Text&gt;&lt;Text style={{ fontSize: 13, color: '#7A8699', fontWeight: 400, lineHeight: 1.3 }}&gt;现状盘点&lt;/Text&gt;&lt;/Box&gt;&lt;Box style={{ width: 172, height: 64, borderRadius: 6, padding: '9px 12px', background: '#F5F7FA', flexDirection: 'column', justifyContent: 'center' }}&gt;&lt;Text style={{ fontSize: 18, color: '#0E2340', fontWeight: 700, lineHeight: 1.2 }}&gt;03&lt;/Text&gt;&lt;Text style={{ fontSize: 13, color: '#7A8699', fontWeight: 400, lineHeight: 1.3 }}&gt;单题引擎&lt;/Text&gt;&lt;/Box&gt;&lt;/Box&gt;&lt;Box style={{ flexDirection: 'row', gap: 10 }}&gt;&lt;Box style={{ width: 172, height: 64, borderRadius: 6, padding: '9px 12px', background: '#F5F7FA', flexDirection: 'column', justifyContent: 'center' }}&gt;&lt;Text style={{ fontSize: 18, color: '#0E2340', fontWeight: 700, lineHeight: 1.2 }}&gt;04&lt;/Text&gt;&lt;Text style={{ fontSize: 13, color: '#7A8699', fontWeight: 400, lineHeight: 1.3 }}&gt;套路层面&lt;/Text&gt;&lt;/Box&gt;&lt;Box style={{ width: 172, height: 64, borderRadius: 6, padding: '9px 12px', background: '#F5F7FA', flexDirection: 'column', justifyContent: 'center' }}&gt;&lt;Text style={{ fontSize: 18, color: '#0E2340', fontWeight: 700, lineHeight: 1.2 }}&gt;05&lt;/Text&gt;&lt;Text style={{ fontSize: 13, color: '#7A8699', fontWeight: 400, lineHeight: 1.3 }}&gt;教师端&lt;/Text&gt;&lt;/Box&gt;&lt;Box style={{ width: 172, height: 64, borderRadius: 6, padding: '9px 12px', background: '#F5F7FA', flexDirection: 'column', justifyContent: 'center' }}&gt;&lt;Text style={{ fontSize: 18, color: '#0E2340', fontWeight: 700, lineHeight: 1.2 }}&gt;06&lt;/Text&gt;&lt;Text style={{ fontSize: 13, color: '#7A8699', fontWeight: 400, lineHeight: 1.3 }}&gt;学校端&lt;/Text&gt;&lt;/Box&gt;&lt;/Box&gt;&lt;Box style={{ flexDirection: 'row', gap: 10 }}&gt;&lt;Box style={{ width: 172, height: 64, borderRadius: 6, padding: '9px 12px', background: '#F5F7FA', flexDirection: 'column', justifyContent: 'center' }}&gt;&lt;Text style={{ fontSize: 18, color: '#0E2340', fontWeight: 700, lineHeight: 1.2 }}&gt;07&lt;/Text&gt;&lt;Text style={{ fontSize: 13, color: '#7A8699', fontWeight: 400, lineHeight: 1.3 }}&gt;试卷与生涯&lt;/Text&gt;&lt;/Box&gt;&lt;Box style={{ width: 172, height: 64, borderRadius: 6, padding: '9px 12px', background: '#0E2340', flexDirection: 'column', justifyContent: 'center' }}&gt;&lt;Text style={{ fontSize: 18, color: '#FFFFFF', fontWeight: 700, lineHeight: 1.2 }}&gt;08&lt;/Text&gt;&lt;Text style={{ fontSize: 13, color: '#C8DCF2', fontWeight: 400, lineHeight: 1.3 }}&gt;协同 Agent&lt;/Text&gt;&lt;/Box&gt;&lt;Box style={{ width: 172, height: 64, borderRadius: 6, padding: '9px 12px', background: '#F5F7FA', flexDirection: 'column', justifyContent: 'center' }}&gt;&lt;Text style={{ fontSize: 18, color: '#0E2340', fontWeight: 700, lineHeight: 1.2 }}&gt;09&lt;/Text&gt;&lt;Text style={{ fontSize: 13, color: '#7A8699', fontWeight: 400, lineHeight: 1.3 }}&gt;MCP 接入&lt;/Text&gt;&lt;/Box&gt;&lt;/Box&gt;&lt;Box style={{ flexDirection: 'row', gap: 10 }}&gt;&lt;Box style={{ width: 172, height: 64, borderRadius: 6, padding: '9px 12px', background: '#F5F7FA', flexDirection: 'column', justifyContent: 'center' }}&gt;&lt;Text style={{ fontSize: 18, color: '#0E2340', fontWeight: 700, lineHeight: 1.2 }}&gt;10&lt;/Text&gt;&lt;Text style={{ fontSize: 13, color: '#7A8699', fontWeight: 400, lineHeight: 1.3 }}&gt;待深化研究&lt;/Text&gt;&lt;/Box&gt;&lt;Box style={{ width: 172, height: 64, borderRadius: 6, padding: '9px 12px', background: '#F5F7FA', flexDirection: 'column', justifyContent: 'center' }}&gt;&lt;Text style={{ fontSize: 18, color: '#0E2340', fontWeight: 700, lineHeight: 1.2 }}&gt;11&lt;/Text&gt;&lt;Text style={{ fontSize: 13, color: '#7A8699', fontWeight: 400, lineHeight: 1.3 }}&gt;落地与边界&lt;/Text&gt;&lt;/Box&gt;&lt;Box style={{ width: 172, height: 64, borderRadius: 6, padding: '9px 12px', background: '#F5F7FA', flexDirection: 'column', justifyContent: 'center' }}&gt;&lt;Text style={{ fontSize: 18, color: '#0E2340', fontWeight: 700, lineHeight: 1.2 }}&gt;12&lt;/Text&gt;&lt;Text style={{ fontSize: 13, color: '#7A8699', fontWeight: 400, lineHeight: 1.3 }}&gt;自进化与扩展&lt;/Text&gt;&lt;/Box&gt;&lt;/Box&gt;&lt;Box style={{ flexDirection: 'row', gap: 10 }}&gt;&lt;Box style={{ width: 172, height: 64, borderRadius: 6, padding: '9px 12px', background: '#F5F7FA', flexDirection: 'column', justifyContent: 'center' }}&gt;&lt;Text style={{ fontSize: 18, color: '#0E2340', fontWeight: 700, lineHeight: 1.2 }}&gt;13&lt;/Text&gt;&lt;Text style={{ fontSize: 13, color: '#7A8699', fontWeight: 400, lineHeight: 1.3 }}&gt;收尾&lt;/Text&gt;&lt;/Box&gt;&lt;/Box&gt;&lt;/Box&gt;&lt;Box style={{ flexDirection: 'row', alignItems: 'center', gap: 10, background: '#F5F7FA', borderRadius: 6, padding: '10px 14px' }}&gt;&lt;Box style={{ width: 6, height: 22, background: '#00A9B5' }} /&gt;&lt;Text style={{ fontSize: 15, color: '#0E2340', fontWeight: 600, lineHeight: 1.4 }}&gt;当前位置：第 08 章 · 教学协同 Agent&lt;/Text&gt;&lt;/Box&gt;&lt;Box style={{ flexDirection: 'row', gap: 10 }}&gt;&lt;Box style={{ flex: 1, flexDirection: 'row', alignItems: 'center', gap: 8, borderRadius: 6, padding: '9px 10px', background: '#F5F7FA' }}&gt;&lt;Box style={{ width: 10, height: 10, borderRadius: 5, background: '#1E9E62' }} /&gt;&lt;Text style={{ fontSize: 14, color: '#333A45', fontWeight: 600, lineHeight: 1.3 }}&gt;已实现&lt;/Text&gt;&lt;/Box&gt;&lt;Box style={{ flex: 1, flexDirection: 'row', alignItems: 'center', gap: 8, borderRadius: 6, padding: '9px 10px', background: '#F5F7FA' }}&gt;&lt;Box style={{ width: 10, height: 10, borderRadius: 5, background: '#E8A33D' }} /&gt;&lt;Text style={{ fontSize: 14, color: '#333A45', fontWeight: 600, lineHeight: 1.3 }}&gt;部分实现&lt;/Text&gt;&lt;/Box&gt;&lt;Box style={{ flex: 1, flexDirection: 'row', alignItems: 'center', gap: 8, borderRadius: 6, padding: '9px 10px', background: '#F5F7FA' }}&gt;&lt;Box style={{ width: 10, height: 10, borderRadius: 5, background: '#1E7BE0' }} /&gt;&lt;Text style={{ fontSize: 14, color: '#333A45', fontWeight: 600, lineHeight: 1.3 }}&gt;设计中&lt;/Text&gt;&lt;/Box&gt;&lt;Box style={{ flex: 1, flexDirection: 'row', alignItems: 'center', gap: 8, borderRadius: 6, padding: '9px 10px', background: '#F5F7FA' }}&gt;&lt;Box style={{ width: 10, height: 10, borderRadius: 5, background: '#98A2B3' }} /&gt;&lt;Text style={{ fontSize: 14, color: '#333A45', fontWeight: 600, lineHeight: 1.3 }}&gt;待研究&lt;/Text&gt;&lt;/Box&gt;&lt;/Box&gt;&lt;Box style={{ flexDirection: 'row', alignItems: 'center', gap: 12, borderTop: '1px solid #E3E8EF', paddingTop: 14 }}&gt;&lt;Box style={{ width: 46, height: 5, background: '#00A9B5' }} /&gt;&lt;Text style={{ fontSize: 15, color: '#7A8699', fontWeight: 600, lineHeight: 1.4 }}&gt;StudyAgent 项目设计汇报 · 技术评审版 · 共 124 页&lt;/Text&gt;&lt;/Box&gt;&lt;/Box&gt;&lt;/Box&gt;&lt;/Slide&gt;"/>
        <p:cNvGrpSpPr/>
        <p:nvPr/>
      </p:nvGrpSpPr>
      <p:grpSpPr>
        <a:xfrm>
          <a:off x="0" y="0"/>
          <a:ext cx="0" cy="0"/>
          <a:chOff x="0" y="0"/>
          <a:chExt cx="0" cy="0"/>
        </a:xfrm>
      </p:grpSpPr>
      <p:sp>
        <p:nvSpPr>
          <p:cNvPr id="2541" name=""/>
          <p:cNvSpPr/>
          <p:nvPr/>
        </p:nvSpPr>
        <p:spPr>
          <a:xfrm rot="0" flipH="0" flipV="0">
            <a:off x="0" y="0"/>
            <a:ext cx="12192000" cy="6858000"/>
          </a:xfrm>
          <a:prstGeom prst="rect">
            <a:avLst/>
          </a:prstGeom>
          <a:solidFill>
            <a:srgbClr val="FFFFFF"/>
          </a:solidFill>
          <a:ln/>
        </p:spPr>
        <p:txBody>
          <a:bodyPr/>
          <a:p/>
        </p:txBody>
      </p:sp>
      <p:pic>
        <p:nvPicPr>
          <p:cNvPr id="2542" name=""/>
          <p:cNvPicPr>
            <a:picLocks noChangeAspect="1"/>
          </p:cNvPicPr>
          <p:nvPr/>
        </p:nvPicPr>
        <p:blipFill>
          <a:blip>
            <a:extLst>
              <a:ext uri="{96DAC541-7B7A-43D3-8B79-37D633B846F1}">
                <asvg:svgBlip r:embed="rId1"/>
              </a:ext>
            </a:extLst>
          </a:blip>
          <a:stretch>
            <a:fillRect/>
          </a:stretch>
        </p:blipFill>
        <p:spPr>
          <a:xfrm rot="0" flipH="0" flipV="0">
            <a:off x="0" y="0"/>
            <a:ext cx="12192000" cy="6858000"/>
          </a:xfrm>
          <a:prstGeom prst="rect">
            <a:avLst/>
          </a:prstGeom>
          <a:ln/>
        </p:spPr>
      </p:pic>
      <p:sp>
        <p:nvSpPr>
          <p:cNvPr id="2543" name="" descr="{&quot;isTemplate&quot;:true,&quot;type&quot;:&quot;text&quot;}"/>
          <p:cNvSpPr txBox="1"/>
          <p:nvPr/>
        </p:nvSpPr>
        <p:spPr>
          <a:xfrm rot="0" flipH="0" flipV="0">
            <a:off x="762000" y="457200"/>
            <a:ext cx="4953000" cy="247650"/>
          </a:xfrm>
          <a:prstGeom prst="rect"/>
        </p:spPr>
        <p:txBody>
          <a:bodyPr wrap="none" lIns="0" tIns="0" rIns="0" bIns="0"/>
          <a:p>
            <a:pPr>
              <a:lnSpc>
                <a:spcPct val="140000"/>
              </a:lnSpc>
            </a:pPr>
            <a:r>
              <a:rPr lang="en-US" sz="1125" b="1" spc="150">
                <a:solidFill>
                  <a:srgbClr val="1E7BE0"/>
                </a:solidFill>
                <a:latin typeface="Microsoft YaHei"/>
                <a:ea typeface="Microsoft YaHei"/>
              </a:rPr>
              <a:t>STUDYAGENT · DESIGN REVIEW</a:t>
            </a:r>
            <a:endParaRPr/>
          </a:p>
        </p:txBody>
      </p:sp>
      <p:sp>
        <p:nvSpPr>
          <p:cNvPr id="2544" name="" descr="{&quot;isTemplate&quot;:true,&quot;type&quot;:&quot;text&quot;}"/>
          <p:cNvSpPr txBox="1"/>
          <p:nvPr/>
        </p:nvSpPr>
        <p:spPr>
          <a:xfrm rot="0" flipH="0" flipV="0">
            <a:off x="762000" y="1209675"/>
            <a:ext cx="4953000" cy="1143000"/>
          </a:xfrm>
          <a:prstGeom prst="rect"/>
        </p:spPr>
        <p:txBody>
          <a:bodyPr wrap="none" lIns="0" tIns="0" rIns="0" bIns="0"/>
          <a:p>
            <a:pPr>
              <a:lnSpc>
                <a:spcPct val="100000"/>
              </a:lnSpc>
            </a:pPr>
            <a:r>
              <a:rPr lang="en-US" sz="7500" b="1">
                <a:solidFill>
                  <a:srgbClr val="0E2340"/>
                </a:solidFill>
                <a:latin typeface="JetBrains Mono"/>
                <a:ea typeface="JetBrains Mono"/>
              </a:rPr>
              <a:t>08</a:t>
            </a:r>
            <a:endParaRPr/>
          </a:p>
        </p:txBody>
      </p:sp>
      <p:sp>
        <p:nvSpPr>
          <p:cNvPr id="2545" name=""/>
          <p:cNvSpPr/>
          <p:nvPr/>
        </p:nvSpPr>
        <p:spPr>
          <a:xfrm rot="0" flipH="0" flipV="0">
            <a:off x="762000" y="2447925"/>
            <a:ext cx="742950" cy="47625"/>
          </a:xfrm>
          <a:prstGeom prst="rect">
            <a:avLst/>
          </a:prstGeom>
          <a:solidFill>
            <a:srgbClr val="1E7BE0"/>
          </a:solidFill>
          <a:ln/>
        </p:spPr>
        <p:txBody>
          <a:bodyPr/>
          <a:p/>
        </p:txBody>
      </p:sp>
      <p:sp>
        <p:nvSpPr>
          <p:cNvPr id="2546" name="" descr="{&quot;isTemplate&quot;:true,&quot;type&quot;:&quot;text&quot;}"/>
          <p:cNvSpPr txBox="1"/>
          <p:nvPr/>
        </p:nvSpPr>
        <p:spPr>
          <a:xfrm rot="0" flipH="0" flipV="0">
            <a:off x="762000" y="2495550"/>
            <a:ext cx="4953000" cy="609600"/>
          </a:xfrm>
          <a:prstGeom prst="rect"/>
        </p:spPr>
        <p:txBody>
          <a:bodyPr wrap="none" lIns="0" tIns="0" rIns="0" bIns="0"/>
          <a:p>
            <a:pPr>
              <a:lnSpc>
                <a:spcPct val="120000"/>
              </a:lnSpc>
            </a:pPr>
            <a:r>
              <a:rPr lang="zh-CN" sz="3300" b="1">
                <a:solidFill>
                  <a:srgbClr val="0E2340"/>
                </a:solidFill>
                <a:latin typeface="Microsoft YaHei"/>
                <a:ea typeface="Microsoft YaHei"/>
              </a:rPr>
              <a:t>教学协同</a:t>
            </a:r>
            <a:r>
              <a:rPr lang="en-US" sz="3300" b="1">
                <a:solidFill>
                  <a:srgbClr val="0E2340"/>
                </a:solidFill>
                <a:latin typeface="Microsoft YaHei"/>
                <a:ea typeface="Microsoft YaHei"/>
              </a:rPr>
              <a:t xml:space="preserve"> Agent</a:t>
            </a:r>
            <a:endParaRPr/>
          </a:p>
        </p:txBody>
      </p:sp>
      <p:sp>
        <p:nvSpPr>
          <p:cNvPr id="2547" name=""/>
          <p:cNvSpPr/>
          <p:nvPr/>
        </p:nvSpPr>
        <p:spPr>
          <a:xfrm rot="0" flipH="0" flipV="0">
            <a:off x="800100" y="3600450"/>
            <a:ext cx="4953000" cy="600075"/>
          </a:xfrm>
          <a:prstGeom prst="roundRect">
            <a:avLst>
              <a:gd name="adj" fmla="val 9524"/>
            </a:avLst>
          </a:prstGeom>
          <a:solidFill>
            <a:srgbClr val="F5F7FA"/>
          </a:solidFill>
          <a:ln/>
        </p:spPr>
        <p:txBody>
          <a:bodyPr/>
          <a:p/>
        </p:txBody>
      </p:sp>
      <p:sp>
        <p:nvSpPr>
          <p:cNvPr id="2548" name=""/>
          <p:cNvSpPr/>
          <p:nvPr/>
        </p:nvSpPr>
        <p:spPr>
          <a:xfrm rot="0" flipH="0" flipV="0">
            <a:off x="800100" y="360045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2549" name="" descr="{&quot;isTemplate&quot;:true,&quot;type&quot;:&quot;text&quot;}"/>
          <p:cNvSpPr txBox="1"/>
          <p:nvPr/>
        </p:nvSpPr>
        <p:spPr>
          <a:xfrm rot="0" flipH="0" flipV="0">
            <a:off x="990600" y="3733800"/>
            <a:ext cx="2200275" cy="333375"/>
          </a:xfrm>
          <a:prstGeom prst="rect"/>
        </p:spPr>
        <p:txBody>
          <a:bodyPr wrap="none" lIns="0" tIns="0" rIns="0" bIns="0"/>
          <a:p>
            <a:pPr>
              <a:lnSpc>
                <a:spcPct val="150000"/>
              </a:lnSpc>
            </a:pPr>
            <a:r>
              <a:rPr lang="zh-CN" sz="1425" b="1">
                <a:solidFill>
                  <a:srgbClr val="0E2340"/>
                </a:solidFill>
                <a:latin typeface="Microsoft YaHei"/>
                <a:ea typeface="Microsoft YaHei"/>
              </a:rPr>
              <a:t>一个</a:t>
            </a:r>
            <a:r>
              <a:rPr lang="en-US" sz="1425" b="1">
                <a:solidFill>
                  <a:srgbClr val="0E2340"/>
                </a:solidFill>
                <a:latin typeface="Microsoft YaHei"/>
                <a:ea typeface="Microsoft YaHei"/>
              </a:rPr>
              <a:t xml:space="preserve"> Agent</a:t>
            </a:r>
            <a:r>
              <a:rPr lang="zh-CN" sz="1425" b="1">
                <a:solidFill>
                  <a:srgbClr val="0E2340"/>
                </a:solidFill>
                <a:latin typeface="Microsoft YaHei"/>
                <a:ea typeface="Microsoft YaHei"/>
              </a:rPr>
              <a:t>、三种角色视角</a:t>
            </a:r>
            <a:endParaRPr/>
          </a:p>
        </p:txBody>
      </p:sp>
      <p:sp>
        <p:nvSpPr>
          <p:cNvPr id="2550" name=""/>
          <p:cNvSpPr/>
          <p:nvPr/>
        </p:nvSpPr>
        <p:spPr>
          <a:xfrm rot="0" flipH="0" flipV="0">
            <a:off x="800100" y="4314825"/>
            <a:ext cx="4953000" cy="600075"/>
          </a:xfrm>
          <a:prstGeom prst="roundRect">
            <a:avLst>
              <a:gd name="adj" fmla="val 9524"/>
            </a:avLst>
          </a:prstGeom>
          <a:solidFill>
            <a:srgbClr val="F5F7FA"/>
          </a:solidFill>
          <a:ln/>
        </p:spPr>
        <p:txBody>
          <a:bodyPr/>
          <a:p/>
        </p:txBody>
      </p:sp>
      <p:sp>
        <p:nvSpPr>
          <p:cNvPr id="2551" name=""/>
          <p:cNvSpPr/>
          <p:nvPr/>
        </p:nvSpPr>
        <p:spPr>
          <a:xfrm rot="0" flipH="0" flipV="0">
            <a:off x="800100" y="4314825"/>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2552" name="" descr="{&quot;isTemplate&quot;:true,&quot;type&quot;:&quot;text&quot;}"/>
          <p:cNvSpPr txBox="1"/>
          <p:nvPr/>
        </p:nvSpPr>
        <p:spPr>
          <a:xfrm rot="0" flipH="0" flipV="0">
            <a:off x="990600" y="4448175"/>
            <a:ext cx="1447800" cy="333375"/>
          </a:xfrm>
          <a:prstGeom prst="rect"/>
        </p:spPr>
        <p:txBody>
          <a:bodyPr wrap="none" lIns="0" tIns="0" rIns="0" bIns="0"/>
          <a:p>
            <a:pPr>
              <a:lnSpc>
                <a:spcPct val="150000"/>
              </a:lnSpc>
            </a:pPr>
            <a:r>
              <a:rPr lang="zh-CN" sz="1425" b="1">
                <a:solidFill>
                  <a:srgbClr val="0E2340"/>
                </a:solidFill>
                <a:latin typeface="Microsoft YaHei"/>
                <a:ea typeface="Microsoft YaHei"/>
              </a:rPr>
              <a:t>七步基本工作循环</a:t>
            </a:r>
            <a:endParaRPr/>
          </a:p>
        </p:txBody>
      </p:sp>
      <p:sp>
        <p:nvSpPr>
          <p:cNvPr id="2553" name=""/>
          <p:cNvSpPr/>
          <p:nvPr/>
        </p:nvSpPr>
        <p:spPr>
          <a:xfrm rot="0" flipH="0" flipV="0">
            <a:off x="800100" y="5029200"/>
            <a:ext cx="4953000" cy="600075"/>
          </a:xfrm>
          <a:prstGeom prst="roundRect">
            <a:avLst>
              <a:gd name="adj" fmla="val 9524"/>
            </a:avLst>
          </a:prstGeom>
          <a:solidFill>
            <a:srgbClr val="F5F7FA"/>
          </a:solidFill>
          <a:ln/>
        </p:spPr>
        <p:txBody>
          <a:bodyPr/>
          <a:p/>
        </p:txBody>
      </p:sp>
      <p:sp>
        <p:nvSpPr>
          <p:cNvPr id="2554" name=""/>
          <p:cNvSpPr/>
          <p:nvPr/>
        </p:nvSpPr>
        <p:spPr>
          <a:xfrm rot="0" flipH="0" flipV="0">
            <a:off x="800100" y="502920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2555" name="" descr="{&quot;isTemplate&quot;:true,&quot;type&quot;:&quot;text&quot;}"/>
          <p:cNvSpPr txBox="1"/>
          <p:nvPr/>
        </p:nvSpPr>
        <p:spPr>
          <a:xfrm rot="0" flipH="0" flipV="0">
            <a:off x="990600" y="5162550"/>
            <a:ext cx="1628775" cy="333375"/>
          </a:xfrm>
          <a:prstGeom prst="rect"/>
        </p:spPr>
        <p:txBody>
          <a:bodyPr wrap="none" lIns="0" tIns="0" rIns="0" bIns="0"/>
          <a:p>
            <a:pPr>
              <a:lnSpc>
                <a:spcPct val="150000"/>
              </a:lnSpc>
            </a:pPr>
            <a:r>
              <a:rPr lang="zh-CN" sz="1425" b="1">
                <a:solidFill>
                  <a:srgbClr val="0E2340"/>
                </a:solidFill>
                <a:latin typeface="Microsoft YaHei"/>
                <a:ea typeface="Microsoft YaHei"/>
              </a:rPr>
              <a:t>身份来自服务端授权</a:t>
            </a:r>
            <a:endParaRPr/>
          </a:p>
        </p:txBody>
      </p:sp>
      <p:sp>
        <p:nvSpPr>
          <p:cNvPr id="2556" name="" descr="{&quot;isTemplate&quot;:true,&quot;type&quot;:&quot;text&quot;}"/>
          <p:cNvSpPr txBox="1"/>
          <p:nvPr/>
        </p:nvSpPr>
        <p:spPr>
          <a:xfrm rot="0" flipH="0" flipV="0">
            <a:off x="762000" y="6134100"/>
            <a:ext cx="4953000" cy="228600"/>
          </a:xfrm>
          <a:prstGeom prst="rect"/>
        </p:spPr>
        <p:txBody>
          <a:bodyPr wrap="none" lIns="0" tIns="0" rIns="0" bIns="0"/>
          <a:p>
            <a:pPr>
              <a:lnSpc>
                <a:spcPct val="150000"/>
              </a:lnSpc>
            </a:pPr>
            <a:r>
              <a:rPr lang="zh-CN" sz="975">
                <a:solidFill>
                  <a:srgbClr val="7A8699"/>
                </a:solidFill>
                <a:latin typeface="Microsoft YaHei"/>
                <a:ea typeface="Microsoft YaHei"/>
              </a:rPr>
              <a:t>来源：教学协同</a:t>
            </a:r>
            <a:r>
              <a:rPr lang="en-US" sz="975">
                <a:solidFill>
                  <a:srgbClr val="7A8699"/>
                </a:solidFill>
                <a:latin typeface="Microsoft YaHei"/>
                <a:ea typeface="Microsoft YaHei"/>
              </a:rPr>
              <a:t>Agent</a:t>
            </a:r>
            <a:r>
              <a:rPr lang="zh-CN" sz="975">
                <a:solidFill>
                  <a:srgbClr val="7A8699"/>
                </a:solidFill>
                <a:latin typeface="Microsoft YaHei"/>
                <a:ea typeface="Microsoft YaHei"/>
              </a:rPr>
              <a:t>设计</a:t>
            </a:r>
            <a:r>
              <a:rPr lang="en-US" sz="975">
                <a:solidFill>
                  <a:srgbClr val="7A8699"/>
                </a:solidFill>
                <a:latin typeface="Microsoft YaHei"/>
                <a:ea typeface="Microsoft YaHei"/>
              </a:rPr>
              <a:t>.md</a:t>
            </a:r>
            <a:r>
              <a:rPr lang="zh-CN" sz="975">
                <a:solidFill>
                  <a:srgbClr val="7A8699"/>
                </a:solidFill>
                <a:latin typeface="Microsoft YaHei"/>
                <a:ea typeface="Microsoft YaHei"/>
              </a:rPr>
              <a:t>（设计日期</a:t>
            </a:r>
            <a:r>
              <a:rPr lang="en-US" sz="975">
                <a:solidFill>
                  <a:srgbClr val="7A8699"/>
                </a:solidFill>
                <a:latin typeface="Microsoft YaHei"/>
                <a:ea typeface="Microsoft YaHei"/>
              </a:rPr>
              <a:t xml:space="preserve"> 2026-10-25</a:t>
            </a:r>
            <a:r>
              <a:rPr lang="zh-CN" sz="975">
                <a:solidFill>
                  <a:srgbClr val="7A8699"/>
                </a:solidFill>
                <a:latin typeface="Microsoft YaHei"/>
                <a:ea typeface="Microsoft YaHei"/>
              </a:rPr>
              <a:t>，不表示该产品能力已经实施）</a:t>
            </a:r>
            <a:endParaRPr/>
          </a:p>
        </p:txBody>
      </p:sp>
      <p:sp>
        <p:nvSpPr>
          <p:cNvPr id="2557" name="" descr="{&quot;isTemplate&quot;:true,&quot;type&quot;:&quot;text&quot;}"/>
          <p:cNvSpPr txBox="1"/>
          <p:nvPr/>
        </p:nvSpPr>
        <p:spPr>
          <a:xfrm rot="0" flipH="0" flipV="0">
            <a:off x="6134100" y="457200"/>
            <a:ext cx="5295900" cy="323850"/>
          </a:xfrm>
          <a:prstGeom prst="rect"/>
        </p:spPr>
        <p:txBody>
          <a:bodyPr wrap="none" lIns="0" tIns="0" rIns="0" bIns="0"/>
          <a:p>
            <a:pPr>
              <a:lnSpc>
                <a:spcPct val="140000"/>
              </a:lnSpc>
            </a:pPr>
            <a:r>
              <a:rPr lang="zh-CN" sz="1500" b="1">
                <a:solidFill>
                  <a:srgbClr val="0E2340"/>
                </a:solidFill>
                <a:latin typeface="Microsoft YaHei"/>
                <a:ea typeface="Microsoft YaHei"/>
              </a:rPr>
              <a:t>汇报结构</a:t>
            </a:r>
            <a:r>
              <a:rPr lang="en-US" sz="1500" b="1">
                <a:solidFill>
                  <a:srgbClr val="0E2340"/>
                </a:solidFill>
                <a:latin typeface="Microsoft YaHei"/>
                <a:ea typeface="Microsoft YaHei"/>
              </a:rPr>
              <a:t xml:space="preserve"> · 13 </a:t>
            </a:r>
            <a:r>
              <a:rPr lang="zh-CN" sz="1500" b="1">
                <a:solidFill>
                  <a:srgbClr val="0E2340"/>
                </a:solidFill>
                <a:latin typeface="Microsoft YaHei"/>
                <a:ea typeface="Microsoft YaHei"/>
              </a:rPr>
              <a:t>章</a:t>
            </a:r>
            <a:endParaRPr/>
          </a:p>
        </p:txBody>
      </p:sp>
      <p:sp>
        <p:nvSpPr>
          <p:cNvPr id="2558" name=""/>
          <p:cNvSpPr/>
          <p:nvPr/>
        </p:nvSpPr>
        <p:spPr>
          <a:xfrm rot="0" flipH="0" flipV="0">
            <a:off x="6134100" y="1019175"/>
            <a:ext cx="1638300" cy="609600"/>
          </a:xfrm>
          <a:prstGeom prst="roundRect">
            <a:avLst>
              <a:gd name="adj" fmla="val 9375"/>
            </a:avLst>
          </a:prstGeom>
          <a:solidFill>
            <a:srgbClr val="F5F7FA"/>
          </a:solidFill>
          <a:ln/>
        </p:spPr>
        <p:txBody>
          <a:bodyPr/>
          <a:p/>
        </p:txBody>
      </p:sp>
      <p:sp>
        <p:nvSpPr>
          <p:cNvPr id="2559" name="" descr="{&quot;isTemplate&quot;:true,&quot;type&quot;:&quot;text&quot;}"/>
          <p:cNvSpPr txBox="1"/>
          <p:nvPr/>
        </p:nvSpPr>
        <p:spPr>
          <a:xfrm rot="0" flipH="0" flipV="0">
            <a:off x="62484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01</a:t>
            </a:r>
            <a:endParaRPr/>
          </a:p>
        </p:txBody>
      </p:sp>
      <p:sp>
        <p:nvSpPr>
          <p:cNvPr id="2560" name="" descr="{&quot;isTemplate&quot;:true,&quot;type&quot;:&quot;text&quot;}"/>
          <p:cNvSpPr txBox="1"/>
          <p:nvPr/>
        </p:nvSpPr>
        <p:spPr>
          <a:xfrm rot="0" flipH="0" flipV="0">
            <a:off x="62484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概念地基</a:t>
            </a:r>
            <a:endParaRPr/>
          </a:p>
        </p:txBody>
      </p:sp>
      <p:sp>
        <p:nvSpPr>
          <p:cNvPr id="2561" name=""/>
          <p:cNvSpPr/>
          <p:nvPr/>
        </p:nvSpPr>
        <p:spPr>
          <a:xfrm rot="0" flipH="0" flipV="0">
            <a:off x="7867650" y="1019175"/>
            <a:ext cx="1638300" cy="609600"/>
          </a:xfrm>
          <a:prstGeom prst="roundRect">
            <a:avLst>
              <a:gd name="adj" fmla="val 9375"/>
            </a:avLst>
          </a:prstGeom>
          <a:solidFill>
            <a:srgbClr val="F5F7FA"/>
          </a:solidFill>
          <a:ln/>
        </p:spPr>
        <p:txBody>
          <a:bodyPr/>
          <a:p/>
        </p:txBody>
      </p:sp>
      <p:sp>
        <p:nvSpPr>
          <p:cNvPr id="2562" name="" descr="{&quot;isTemplate&quot;:true,&quot;type&quot;:&quot;text&quot;}"/>
          <p:cNvSpPr txBox="1"/>
          <p:nvPr/>
        </p:nvSpPr>
        <p:spPr>
          <a:xfrm rot="0" flipH="0" flipV="0">
            <a:off x="798195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02</a:t>
            </a:r>
            <a:endParaRPr/>
          </a:p>
        </p:txBody>
      </p:sp>
      <p:sp>
        <p:nvSpPr>
          <p:cNvPr id="2563" name="" descr="{&quot;isTemplate&quot;:true,&quot;type&quot;:&quot;text&quot;}"/>
          <p:cNvSpPr txBox="1"/>
          <p:nvPr/>
        </p:nvSpPr>
        <p:spPr>
          <a:xfrm rot="0" flipH="0" flipV="0">
            <a:off x="798195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现状盘点</a:t>
            </a:r>
            <a:endParaRPr/>
          </a:p>
        </p:txBody>
      </p:sp>
      <p:sp>
        <p:nvSpPr>
          <p:cNvPr id="2564" name=""/>
          <p:cNvSpPr/>
          <p:nvPr/>
        </p:nvSpPr>
        <p:spPr>
          <a:xfrm rot="0" flipH="0" flipV="0">
            <a:off x="9601200" y="1019175"/>
            <a:ext cx="1638300" cy="609600"/>
          </a:xfrm>
          <a:prstGeom prst="roundRect">
            <a:avLst>
              <a:gd name="adj" fmla="val 9375"/>
            </a:avLst>
          </a:prstGeom>
          <a:solidFill>
            <a:srgbClr val="F5F7FA"/>
          </a:solidFill>
          <a:ln/>
        </p:spPr>
        <p:txBody>
          <a:bodyPr/>
          <a:p/>
        </p:txBody>
      </p:sp>
      <p:sp>
        <p:nvSpPr>
          <p:cNvPr id="2565" name="" descr="{&quot;isTemplate&quot;:true,&quot;type&quot;:&quot;text&quot;}"/>
          <p:cNvSpPr txBox="1"/>
          <p:nvPr/>
        </p:nvSpPr>
        <p:spPr>
          <a:xfrm rot="0" flipH="0" flipV="0">
            <a:off x="97155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03</a:t>
            </a:r>
            <a:endParaRPr/>
          </a:p>
        </p:txBody>
      </p:sp>
      <p:sp>
        <p:nvSpPr>
          <p:cNvPr id="2566" name="" descr="{&quot;isTemplate&quot;:true,&quot;type&quot;:&quot;text&quot;}"/>
          <p:cNvSpPr txBox="1"/>
          <p:nvPr/>
        </p:nvSpPr>
        <p:spPr>
          <a:xfrm rot="0" flipH="0" flipV="0">
            <a:off x="97155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单题引擎</a:t>
            </a:r>
            <a:endParaRPr/>
          </a:p>
        </p:txBody>
      </p:sp>
      <p:sp>
        <p:nvSpPr>
          <p:cNvPr id="2567" name=""/>
          <p:cNvSpPr/>
          <p:nvPr/>
        </p:nvSpPr>
        <p:spPr>
          <a:xfrm rot="0" flipH="0" flipV="0">
            <a:off x="6134100" y="1724025"/>
            <a:ext cx="1638300" cy="609600"/>
          </a:xfrm>
          <a:prstGeom prst="roundRect">
            <a:avLst>
              <a:gd name="adj" fmla="val 9375"/>
            </a:avLst>
          </a:prstGeom>
          <a:solidFill>
            <a:srgbClr val="F5F7FA"/>
          </a:solidFill>
          <a:ln/>
        </p:spPr>
        <p:txBody>
          <a:bodyPr/>
          <a:p/>
        </p:txBody>
      </p:sp>
      <p:sp>
        <p:nvSpPr>
          <p:cNvPr id="2568" name="" descr="{&quot;isTemplate&quot;:true,&quot;type&quot;:&quot;text&quot;}"/>
          <p:cNvSpPr txBox="1"/>
          <p:nvPr/>
        </p:nvSpPr>
        <p:spPr>
          <a:xfrm rot="0" flipH="0" flipV="0">
            <a:off x="62484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04</a:t>
            </a:r>
            <a:endParaRPr/>
          </a:p>
        </p:txBody>
      </p:sp>
      <p:sp>
        <p:nvSpPr>
          <p:cNvPr id="2569" name="" descr="{&quot;isTemplate&quot;:true,&quot;type&quot;:&quot;text&quot;}"/>
          <p:cNvSpPr txBox="1"/>
          <p:nvPr/>
        </p:nvSpPr>
        <p:spPr>
          <a:xfrm rot="0" flipH="0" flipV="0">
            <a:off x="62484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套路层面</a:t>
            </a:r>
            <a:endParaRPr/>
          </a:p>
        </p:txBody>
      </p:sp>
      <p:sp>
        <p:nvSpPr>
          <p:cNvPr id="2570" name=""/>
          <p:cNvSpPr/>
          <p:nvPr/>
        </p:nvSpPr>
        <p:spPr>
          <a:xfrm rot="0" flipH="0" flipV="0">
            <a:off x="7867650" y="1724025"/>
            <a:ext cx="1638300" cy="609600"/>
          </a:xfrm>
          <a:prstGeom prst="roundRect">
            <a:avLst>
              <a:gd name="adj" fmla="val 9375"/>
            </a:avLst>
          </a:prstGeom>
          <a:solidFill>
            <a:srgbClr val="F5F7FA"/>
          </a:solidFill>
          <a:ln/>
        </p:spPr>
        <p:txBody>
          <a:bodyPr/>
          <a:p/>
        </p:txBody>
      </p:sp>
      <p:sp>
        <p:nvSpPr>
          <p:cNvPr id="2571" name="" descr="{&quot;isTemplate&quot;:true,&quot;type&quot;:&quot;text&quot;}"/>
          <p:cNvSpPr txBox="1"/>
          <p:nvPr/>
        </p:nvSpPr>
        <p:spPr>
          <a:xfrm rot="0" flipH="0" flipV="0">
            <a:off x="798195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05</a:t>
            </a:r>
            <a:endParaRPr/>
          </a:p>
        </p:txBody>
      </p:sp>
      <p:sp>
        <p:nvSpPr>
          <p:cNvPr id="2572" name="" descr="{&quot;isTemplate&quot;:true,&quot;type&quot;:&quot;text&quot;}"/>
          <p:cNvSpPr txBox="1"/>
          <p:nvPr/>
        </p:nvSpPr>
        <p:spPr>
          <a:xfrm rot="0" flipH="0" flipV="0">
            <a:off x="798195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教师端</a:t>
            </a:r>
            <a:endParaRPr/>
          </a:p>
        </p:txBody>
      </p:sp>
      <p:sp>
        <p:nvSpPr>
          <p:cNvPr id="2573" name=""/>
          <p:cNvSpPr/>
          <p:nvPr/>
        </p:nvSpPr>
        <p:spPr>
          <a:xfrm rot="0" flipH="0" flipV="0">
            <a:off x="9601200" y="1724025"/>
            <a:ext cx="1638300" cy="609600"/>
          </a:xfrm>
          <a:prstGeom prst="roundRect">
            <a:avLst>
              <a:gd name="adj" fmla="val 9375"/>
            </a:avLst>
          </a:prstGeom>
          <a:solidFill>
            <a:srgbClr val="F5F7FA"/>
          </a:solidFill>
          <a:ln/>
        </p:spPr>
        <p:txBody>
          <a:bodyPr/>
          <a:p/>
        </p:txBody>
      </p:sp>
      <p:sp>
        <p:nvSpPr>
          <p:cNvPr id="2574" name="" descr="{&quot;isTemplate&quot;:true,&quot;type&quot;:&quot;text&quot;}"/>
          <p:cNvSpPr txBox="1"/>
          <p:nvPr/>
        </p:nvSpPr>
        <p:spPr>
          <a:xfrm rot="0" flipH="0" flipV="0">
            <a:off x="97155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06</a:t>
            </a:r>
            <a:endParaRPr/>
          </a:p>
        </p:txBody>
      </p:sp>
      <p:sp>
        <p:nvSpPr>
          <p:cNvPr id="2575" name="" descr="{&quot;isTemplate&quot;:true,&quot;type&quot;:&quot;text&quot;}"/>
          <p:cNvSpPr txBox="1"/>
          <p:nvPr/>
        </p:nvSpPr>
        <p:spPr>
          <a:xfrm rot="0" flipH="0" flipV="0">
            <a:off x="97155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学校端</a:t>
            </a:r>
            <a:endParaRPr/>
          </a:p>
        </p:txBody>
      </p:sp>
      <p:sp>
        <p:nvSpPr>
          <p:cNvPr id="2576" name=""/>
          <p:cNvSpPr/>
          <p:nvPr/>
        </p:nvSpPr>
        <p:spPr>
          <a:xfrm rot="0" flipH="0" flipV="0">
            <a:off x="6134100" y="2428875"/>
            <a:ext cx="1638300" cy="609600"/>
          </a:xfrm>
          <a:prstGeom prst="roundRect">
            <a:avLst>
              <a:gd name="adj" fmla="val 9375"/>
            </a:avLst>
          </a:prstGeom>
          <a:solidFill>
            <a:srgbClr val="F5F7FA"/>
          </a:solidFill>
          <a:ln/>
        </p:spPr>
        <p:txBody>
          <a:bodyPr/>
          <a:p/>
        </p:txBody>
      </p:sp>
      <p:sp>
        <p:nvSpPr>
          <p:cNvPr id="2577" name="" descr="{&quot;isTemplate&quot;:true,&quot;type&quot;:&quot;text&quot;}"/>
          <p:cNvSpPr txBox="1"/>
          <p:nvPr/>
        </p:nvSpPr>
        <p:spPr>
          <a:xfrm rot="0" flipH="0" flipV="0">
            <a:off x="62484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07</a:t>
            </a:r>
            <a:endParaRPr/>
          </a:p>
        </p:txBody>
      </p:sp>
      <p:sp>
        <p:nvSpPr>
          <p:cNvPr id="2578" name="" descr="{&quot;isTemplate&quot;:true,&quot;type&quot;:&quot;text&quot;}"/>
          <p:cNvSpPr txBox="1"/>
          <p:nvPr/>
        </p:nvSpPr>
        <p:spPr>
          <a:xfrm rot="0" flipH="0" flipV="0">
            <a:off x="624840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试卷与生涯</a:t>
            </a:r>
            <a:endParaRPr/>
          </a:p>
        </p:txBody>
      </p:sp>
      <p:sp>
        <p:nvSpPr>
          <p:cNvPr id="2579" name=""/>
          <p:cNvSpPr/>
          <p:nvPr/>
        </p:nvSpPr>
        <p:spPr>
          <a:xfrm rot="0" flipH="0" flipV="0">
            <a:off x="7867650" y="2428875"/>
            <a:ext cx="1638300" cy="609600"/>
          </a:xfrm>
          <a:prstGeom prst="roundRect">
            <a:avLst>
              <a:gd name="adj" fmla="val 9375"/>
            </a:avLst>
          </a:prstGeom>
          <a:solidFill>
            <a:srgbClr val="0E2340"/>
          </a:solidFill>
          <a:ln/>
        </p:spPr>
        <p:txBody>
          <a:bodyPr/>
          <a:p/>
        </p:txBody>
      </p:sp>
      <p:sp>
        <p:nvSpPr>
          <p:cNvPr id="2580" name="" descr="{&quot;isTemplate&quot;:true,&quot;type&quot;:&quot;text&quot;}"/>
          <p:cNvSpPr txBox="1"/>
          <p:nvPr/>
        </p:nvSpPr>
        <p:spPr>
          <a:xfrm rot="0" flipH="0" flipV="0">
            <a:off x="7981950" y="2514600"/>
            <a:ext cx="1409700" cy="247650"/>
          </a:xfrm>
          <a:prstGeom prst="rect"/>
        </p:spPr>
        <p:txBody>
          <a:bodyPr wrap="none" lIns="0" tIns="0" rIns="0" bIns="0"/>
          <a:p>
            <a:pPr>
              <a:lnSpc>
                <a:spcPct val="120000"/>
              </a:lnSpc>
            </a:pPr>
            <a:r>
              <a:rPr lang="en-US" sz="1350" b="1">
                <a:solidFill>
                  <a:srgbClr val="FFFFFF"/>
                </a:solidFill>
                <a:latin typeface="Microsoft YaHei"/>
                <a:ea typeface="Microsoft YaHei"/>
              </a:rPr>
              <a:t>08</a:t>
            </a:r>
            <a:endParaRPr/>
          </a:p>
        </p:txBody>
      </p:sp>
      <p:sp>
        <p:nvSpPr>
          <p:cNvPr id="2581" name="" descr="{&quot;isTemplate&quot;:true,&quot;type&quot;:&quot;text&quot;}"/>
          <p:cNvSpPr txBox="1"/>
          <p:nvPr/>
        </p:nvSpPr>
        <p:spPr>
          <a:xfrm rot="0" flipH="0" flipV="0">
            <a:off x="7981950" y="2762250"/>
            <a:ext cx="1409700" cy="200025"/>
          </a:xfrm>
          <a:prstGeom prst="rect"/>
        </p:spPr>
        <p:txBody>
          <a:bodyPr wrap="none" lIns="0" tIns="0" rIns="0" bIns="0"/>
          <a:p>
            <a:pPr>
              <a:lnSpc>
                <a:spcPct val="130000"/>
              </a:lnSpc>
            </a:pPr>
            <a:r>
              <a:rPr lang="zh-CN" sz="975">
                <a:solidFill>
                  <a:srgbClr val="C8DCF2"/>
                </a:solidFill>
                <a:latin typeface="Microsoft YaHei"/>
                <a:ea typeface="Microsoft YaHei"/>
              </a:rPr>
              <a:t>协同</a:t>
            </a:r>
            <a:r>
              <a:rPr lang="en-US" sz="975">
                <a:solidFill>
                  <a:srgbClr val="C8DCF2"/>
                </a:solidFill>
                <a:latin typeface="Microsoft YaHei"/>
                <a:ea typeface="Microsoft YaHei"/>
              </a:rPr>
              <a:t xml:space="preserve"> Agent</a:t>
            </a:r>
            <a:endParaRPr/>
          </a:p>
        </p:txBody>
      </p:sp>
      <p:sp>
        <p:nvSpPr>
          <p:cNvPr id="2582" name=""/>
          <p:cNvSpPr/>
          <p:nvPr/>
        </p:nvSpPr>
        <p:spPr>
          <a:xfrm rot="0" flipH="0" flipV="0">
            <a:off x="9601200" y="2428875"/>
            <a:ext cx="1638300" cy="609600"/>
          </a:xfrm>
          <a:prstGeom prst="roundRect">
            <a:avLst>
              <a:gd name="adj" fmla="val 9375"/>
            </a:avLst>
          </a:prstGeom>
          <a:solidFill>
            <a:srgbClr val="F5F7FA"/>
          </a:solidFill>
          <a:ln/>
        </p:spPr>
        <p:txBody>
          <a:bodyPr/>
          <a:p/>
        </p:txBody>
      </p:sp>
      <p:sp>
        <p:nvSpPr>
          <p:cNvPr id="2583" name="" descr="{&quot;isTemplate&quot;:true,&quot;type&quot;:&quot;text&quot;}"/>
          <p:cNvSpPr txBox="1"/>
          <p:nvPr/>
        </p:nvSpPr>
        <p:spPr>
          <a:xfrm rot="0" flipH="0" flipV="0">
            <a:off x="97155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09</a:t>
            </a:r>
            <a:endParaRPr/>
          </a:p>
        </p:txBody>
      </p:sp>
      <p:sp>
        <p:nvSpPr>
          <p:cNvPr id="2584" name="" descr="{&quot;isTemplate&quot;:true,&quot;type&quot;:&quot;text&quot;}"/>
          <p:cNvSpPr txBox="1"/>
          <p:nvPr/>
        </p:nvSpPr>
        <p:spPr>
          <a:xfrm rot="0" flipH="0" flipV="0">
            <a:off x="9715500" y="2762250"/>
            <a:ext cx="1409700" cy="200025"/>
          </a:xfrm>
          <a:prstGeom prst="rect"/>
        </p:spPr>
        <p:txBody>
          <a:bodyPr wrap="none" lIns="0" tIns="0" rIns="0" bIns="0"/>
          <a:p>
            <a:pPr>
              <a:lnSpc>
                <a:spcPct val="130000"/>
              </a:lnSpc>
            </a:pPr>
            <a:r>
              <a:rPr lang="en-US" sz="975">
                <a:solidFill>
                  <a:srgbClr val="7A8699"/>
                </a:solidFill>
                <a:latin typeface="Microsoft YaHei"/>
                <a:ea typeface="Microsoft YaHei"/>
              </a:rPr>
              <a:t xml:space="preserve">MCP </a:t>
            </a:r>
            <a:r>
              <a:rPr lang="zh-CN" sz="975">
                <a:solidFill>
                  <a:srgbClr val="7A8699"/>
                </a:solidFill>
                <a:latin typeface="Microsoft YaHei"/>
                <a:ea typeface="Microsoft YaHei"/>
              </a:rPr>
              <a:t>接入</a:t>
            </a:r>
            <a:endParaRPr/>
          </a:p>
        </p:txBody>
      </p:sp>
      <p:sp>
        <p:nvSpPr>
          <p:cNvPr id="2585" name=""/>
          <p:cNvSpPr/>
          <p:nvPr/>
        </p:nvSpPr>
        <p:spPr>
          <a:xfrm rot="0" flipH="0" flipV="0">
            <a:off x="6134100" y="3133725"/>
            <a:ext cx="1638300" cy="609600"/>
          </a:xfrm>
          <a:prstGeom prst="roundRect">
            <a:avLst>
              <a:gd name="adj" fmla="val 9375"/>
            </a:avLst>
          </a:prstGeom>
          <a:solidFill>
            <a:srgbClr val="F5F7FA"/>
          </a:solidFill>
          <a:ln/>
        </p:spPr>
        <p:txBody>
          <a:bodyPr/>
          <a:p/>
        </p:txBody>
      </p:sp>
      <p:sp>
        <p:nvSpPr>
          <p:cNvPr id="2586" name="" descr="{&quot;isTemplate&quot;:true,&quot;type&quot;:&quot;text&quot;}"/>
          <p:cNvSpPr txBox="1"/>
          <p:nvPr/>
        </p:nvSpPr>
        <p:spPr>
          <a:xfrm rot="0" flipH="0" flipV="0">
            <a:off x="62484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10</a:t>
            </a:r>
            <a:endParaRPr/>
          </a:p>
        </p:txBody>
      </p:sp>
      <p:sp>
        <p:nvSpPr>
          <p:cNvPr id="2587" name="" descr="{&quot;isTemplate&quot;:true,&quot;type&quot;:&quot;text&quot;}"/>
          <p:cNvSpPr txBox="1"/>
          <p:nvPr/>
        </p:nvSpPr>
        <p:spPr>
          <a:xfrm rot="0" flipH="0" flipV="0">
            <a:off x="62484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待深化研究</a:t>
            </a:r>
            <a:endParaRPr/>
          </a:p>
        </p:txBody>
      </p:sp>
      <p:sp>
        <p:nvSpPr>
          <p:cNvPr id="2588" name=""/>
          <p:cNvSpPr/>
          <p:nvPr/>
        </p:nvSpPr>
        <p:spPr>
          <a:xfrm rot="0" flipH="0" flipV="0">
            <a:off x="7867650" y="3133725"/>
            <a:ext cx="1638300" cy="609600"/>
          </a:xfrm>
          <a:prstGeom prst="roundRect">
            <a:avLst>
              <a:gd name="adj" fmla="val 9375"/>
            </a:avLst>
          </a:prstGeom>
          <a:solidFill>
            <a:srgbClr val="F5F7FA"/>
          </a:solidFill>
          <a:ln/>
        </p:spPr>
        <p:txBody>
          <a:bodyPr/>
          <a:p/>
        </p:txBody>
      </p:sp>
      <p:sp>
        <p:nvSpPr>
          <p:cNvPr id="2589" name="" descr="{&quot;isTemplate&quot;:true,&quot;type&quot;:&quot;text&quot;}"/>
          <p:cNvSpPr txBox="1"/>
          <p:nvPr/>
        </p:nvSpPr>
        <p:spPr>
          <a:xfrm rot="0" flipH="0" flipV="0">
            <a:off x="798195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11</a:t>
            </a:r>
            <a:endParaRPr/>
          </a:p>
        </p:txBody>
      </p:sp>
      <p:sp>
        <p:nvSpPr>
          <p:cNvPr id="2590" name="" descr="{&quot;isTemplate&quot;:true,&quot;type&quot;:&quot;text&quot;}"/>
          <p:cNvSpPr txBox="1"/>
          <p:nvPr/>
        </p:nvSpPr>
        <p:spPr>
          <a:xfrm rot="0" flipH="0" flipV="0">
            <a:off x="798195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落地与边界</a:t>
            </a:r>
            <a:endParaRPr/>
          </a:p>
        </p:txBody>
      </p:sp>
      <p:sp>
        <p:nvSpPr>
          <p:cNvPr id="2591" name=""/>
          <p:cNvSpPr/>
          <p:nvPr/>
        </p:nvSpPr>
        <p:spPr>
          <a:xfrm rot="0" flipH="0" flipV="0">
            <a:off x="9601200" y="3133725"/>
            <a:ext cx="1638300" cy="609600"/>
          </a:xfrm>
          <a:prstGeom prst="roundRect">
            <a:avLst>
              <a:gd name="adj" fmla="val 9375"/>
            </a:avLst>
          </a:prstGeom>
          <a:solidFill>
            <a:srgbClr val="F5F7FA"/>
          </a:solidFill>
          <a:ln/>
        </p:spPr>
        <p:txBody>
          <a:bodyPr/>
          <a:p/>
        </p:txBody>
      </p:sp>
      <p:sp>
        <p:nvSpPr>
          <p:cNvPr id="2592" name="" descr="{&quot;isTemplate&quot;:true,&quot;type&quot;:&quot;text&quot;}"/>
          <p:cNvSpPr txBox="1"/>
          <p:nvPr/>
        </p:nvSpPr>
        <p:spPr>
          <a:xfrm rot="0" flipH="0" flipV="0">
            <a:off x="97155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12</a:t>
            </a:r>
            <a:endParaRPr/>
          </a:p>
        </p:txBody>
      </p:sp>
      <p:sp>
        <p:nvSpPr>
          <p:cNvPr id="2593" name="" descr="{&quot;isTemplate&quot;:true,&quot;type&quot;:&quot;text&quot;}"/>
          <p:cNvSpPr txBox="1"/>
          <p:nvPr/>
        </p:nvSpPr>
        <p:spPr>
          <a:xfrm rot="0" flipH="0" flipV="0">
            <a:off x="97155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自进化与扩展</a:t>
            </a:r>
            <a:endParaRPr/>
          </a:p>
        </p:txBody>
      </p:sp>
      <p:sp>
        <p:nvSpPr>
          <p:cNvPr id="2594" name=""/>
          <p:cNvSpPr/>
          <p:nvPr/>
        </p:nvSpPr>
        <p:spPr>
          <a:xfrm rot="0" flipH="0" flipV="0">
            <a:off x="6134100" y="3838575"/>
            <a:ext cx="1638300" cy="609600"/>
          </a:xfrm>
          <a:prstGeom prst="roundRect">
            <a:avLst>
              <a:gd name="adj" fmla="val 9375"/>
            </a:avLst>
          </a:prstGeom>
          <a:solidFill>
            <a:srgbClr val="F5F7FA"/>
          </a:solidFill>
          <a:ln/>
        </p:spPr>
        <p:txBody>
          <a:bodyPr/>
          <a:p/>
        </p:txBody>
      </p:sp>
      <p:sp>
        <p:nvSpPr>
          <p:cNvPr id="2595" name="" descr="{&quot;isTemplate&quot;:true,&quot;type&quot;:&quot;text&quot;}"/>
          <p:cNvSpPr txBox="1"/>
          <p:nvPr/>
        </p:nvSpPr>
        <p:spPr>
          <a:xfrm rot="0" flipH="0" flipV="0">
            <a:off x="6248400" y="39243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13</a:t>
            </a:r>
            <a:endParaRPr/>
          </a:p>
        </p:txBody>
      </p:sp>
      <p:sp>
        <p:nvSpPr>
          <p:cNvPr id="2596" name="" descr="{&quot;isTemplate&quot;:true,&quot;type&quot;:&quot;text&quot;}"/>
          <p:cNvSpPr txBox="1"/>
          <p:nvPr/>
        </p:nvSpPr>
        <p:spPr>
          <a:xfrm rot="0" flipH="0" flipV="0">
            <a:off x="6248400" y="41719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收尾</a:t>
            </a:r>
            <a:endParaRPr/>
          </a:p>
        </p:txBody>
      </p:sp>
      <p:sp>
        <p:nvSpPr>
          <p:cNvPr id="2597" name=""/>
          <p:cNvSpPr/>
          <p:nvPr/>
        </p:nvSpPr>
        <p:spPr>
          <a:xfrm rot="0" flipH="0" flipV="0">
            <a:off x="6134100" y="4686300"/>
            <a:ext cx="5295900" cy="438150"/>
          </a:xfrm>
          <a:prstGeom prst="roundRect">
            <a:avLst>
              <a:gd name="adj" fmla="val 13043"/>
            </a:avLst>
          </a:prstGeom>
          <a:solidFill>
            <a:srgbClr val="F5F7FA"/>
          </a:solidFill>
          <a:ln/>
        </p:spPr>
        <p:txBody>
          <a:bodyPr/>
          <a:p/>
        </p:txBody>
      </p:sp>
      <p:sp>
        <p:nvSpPr>
          <p:cNvPr id="2598" name=""/>
          <p:cNvSpPr/>
          <p:nvPr/>
        </p:nvSpPr>
        <p:spPr>
          <a:xfrm rot="0" flipH="0" flipV="0">
            <a:off x="6267450" y="4800600"/>
            <a:ext cx="57150" cy="209550"/>
          </a:xfrm>
          <a:prstGeom prst="rect">
            <a:avLst/>
          </a:prstGeom>
          <a:solidFill>
            <a:srgbClr val="00A9B5"/>
          </a:solidFill>
          <a:ln/>
        </p:spPr>
        <p:txBody>
          <a:bodyPr/>
          <a:p/>
        </p:txBody>
      </p:sp>
      <p:sp>
        <p:nvSpPr>
          <p:cNvPr id="2599" name="" descr="{&quot;isTemplate&quot;:true,&quot;type&quot;:&quot;text&quot;}"/>
          <p:cNvSpPr txBox="1"/>
          <p:nvPr/>
        </p:nvSpPr>
        <p:spPr>
          <a:xfrm rot="0" flipH="0" flipV="0">
            <a:off x="6419850" y="4781550"/>
            <a:ext cx="2390775" cy="247650"/>
          </a:xfrm>
          <a:prstGeom prst="rect"/>
        </p:spPr>
        <p:txBody>
          <a:bodyPr wrap="none" lIns="0" tIns="0" rIns="0" bIns="0"/>
          <a:p>
            <a:pPr>
              <a:lnSpc>
                <a:spcPct val="140000"/>
              </a:lnSpc>
            </a:pPr>
            <a:r>
              <a:rPr lang="zh-CN" sz="1125" b="1">
                <a:solidFill>
                  <a:srgbClr val="0E2340"/>
                </a:solidFill>
                <a:latin typeface="Microsoft YaHei"/>
                <a:ea typeface="Microsoft YaHei"/>
              </a:rPr>
              <a:t>当前位置：第</a:t>
            </a:r>
            <a:r>
              <a:rPr lang="en-US" sz="1125" b="1">
                <a:solidFill>
                  <a:srgbClr val="0E2340"/>
                </a:solidFill>
                <a:latin typeface="Microsoft YaHei"/>
                <a:ea typeface="Microsoft YaHei"/>
              </a:rPr>
              <a:t xml:space="preserve"> 08 </a:t>
            </a:r>
            <a:r>
              <a:rPr lang="zh-CN" sz="1125" b="1">
                <a:solidFill>
                  <a:srgbClr val="0E2340"/>
                </a:solidFill>
                <a:latin typeface="Microsoft YaHei"/>
                <a:ea typeface="Microsoft YaHei"/>
              </a:rPr>
              <a:t>章</a:t>
            </a:r>
            <a:r>
              <a:rPr lang="en-US" sz="1125" b="1">
                <a:solidFill>
                  <a:srgbClr val="0E2340"/>
                </a:solidFill>
                <a:latin typeface="Microsoft YaHei"/>
                <a:ea typeface="Microsoft YaHei"/>
              </a:rPr>
              <a:t xml:space="preserve"> · </a:t>
            </a:r>
            <a:r>
              <a:rPr lang="zh-CN" sz="1125" b="1">
                <a:solidFill>
                  <a:srgbClr val="0E2340"/>
                </a:solidFill>
                <a:latin typeface="Microsoft YaHei"/>
                <a:ea typeface="Microsoft YaHei"/>
              </a:rPr>
              <a:t>教学协同</a:t>
            </a:r>
            <a:r>
              <a:rPr lang="en-US" sz="1125" b="1">
                <a:solidFill>
                  <a:srgbClr val="0E2340"/>
                </a:solidFill>
                <a:latin typeface="Microsoft YaHei"/>
                <a:ea typeface="Microsoft YaHei"/>
              </a:rPr>
              <a:t xml:space="preserve"> Agent</a:t>
            </a:r>
            <a:endParaRPr/>
          </a:p>
        </p:txBody>
      </p:sp>
      <p:sp>
        <p:nvSpPr>
          <p:cNvPr id="2600" name=""/>
          <p:cNvSpPr/>
          <p:nvPr/>
        </p:nvSpPr>
        <p:spPr>
          <a:xfrm rot="0" flipH="0" flipV="0">
            <a:off x="6134100" y="5353050"/>
            <a:ext cx="1257300" cy="381000"/>
          </a:xfrm>
          <a:prstGeom prst="roundRect">
            <a:avLst>
              <a:gd name="adj" fmla="val 15000"/>
            </a:avLst>
          </a:prstGeom>
          <a:solidFill>
            <a:srgbClr val="F5F7FA"/>
          </a:solidFill>
          <a:ln/>
        </p:spPr>
        <p:txBody>
          <a:bodyPr/>
          <a:p/>
        </p:txBody>
      </p:sp>
      <p:sp>
        <p:nvSpPr>
          <p:cNvPr id="2601" name=""/>
          <p:cNvSpPr/>
          <p:nvPr/>
        </p:nvSpPr>
        <p:spPr>
          <a:xfrm rot="0" flipH="0" flipV="0">
            <a:off x="6229350" y="5495925"/>
            <a:ext cx="95250" cy="95250"/>
          </a:xfrm>
          <a:prstGeom prst="roundRect">
            <a:avLst>
              <a:gd name="adj" fmla="val 50000"/>
            </a:avLst>
          </a:prstGeom>
          <a:solidFill>
            <a:srgbClr val="1E9E62"/>
          </a:solidFill>
          <a:ln/>
        </p:spPr>
        <p:txBody>
          <a:bodyPr/>
          <a:p/>
        </p:txBody>
      </p:sp>
      <p:sp>
        <p:nvSpPr>
          <p:cNvPr id="2602" name="" descr="{&quot;isTemplate&quot;:true,&quot;type&quot;:&quot;text&quot;}"/>
          <p:cNvSpPr txBox="1"/>
          <p:nvPr/>
        </p:nvSpPr>
        <p:spPr>
          <a:xfrm rot="0" flipH="0" flipV="0">
            <a:off x="6400800"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已实现</a:t>
            </a:r>
            <a:endParaRPr/>
          </a:p>
        </p:txBody>
      </p:sp>
      <p:sp>
        <p:nvSpPr>
          <p:cNvPr id="2603" name=""/>
          <p:cNvSpPr/>
          <p:nvPr/>
        </p:nvSpPr>
        <p:spPr>
          <a:xfrm rot="0" flipH="0" flipV="0">
            <a:off x="7486650" y="5353050"/>
            <a:ext cx="1247775" cy="381000"/>
          </a:xfrm>
          <a:prstGeom prst="roundRect">
            <a:avLst>
              <a:gd name="adj" fmla="val 15000"/>
            </a:avLst>
          </a:prstGeom>
          <a:solidFill>
            <a:srgbClr val="F5F7FA"/>
          </a:solidFill>
          <a:ln/>
        </p:spPr>
        <p:txBody>
          <a:bodyPr/>
          <a:p/>
        </p:txBody>
      </p:sp>
      <p:sp>
        <p:nvSpPr>
          <p:cNvPr id="2604" name=""/>
          <p:cNvSpPr/>
          <p:nvPr/>
        </p:nvSpPr>
        <p:spPr>
          <a:xfrm rot="0" flipH="0" flipV="0">
            <a:off x="7581900" y="5495925"/>
            <a:ext cx="95250" cy="95250"/>
          </a:xfrm>
          <a:prstGeom prst="roundRect">
            <a:avLst>
              <a:gd name="adj" fmla="val 50000"/>
            </a:avLst>
          </a:prstGeom>
          <a:solidFill>
            <a:srgbClr val="E8A33D"/>
          </a:solidFill>
          <a:ln/>
        </p:spPr>
        <p:txBody>
          <a:bodyPr/>
          <a:p/>
        </p:txBody>
      </p:sp>
      <p:sp>
        <p:nvSpPr>
          <p:cNvPr id="2605" name="" descr="{&quot;isTemplate&quot;:true,&quot;type&quot;:&quot;text&quot;}"/>
          <p:cNvSpPr txBox="1"/>
          <p:nvPr/>
        </p:nvSpPr>
        <p:spPr>
          <a:xfrm rot="0" flipH="0" flipV="0">
            <a:off x="7753350" y="5438775"/>
            <a:ext cx="533400" cy="209550"/>
          </a:xfrm>
          <a:prstGeom prst="rect"/>
        </p:spPr>
        <p:txBody>
          <a:bodyPr wrap="none" lIns="0" tIns="0" rIns="0" bIns="0"/>
          <a:p>
            <a:pPr>
              <a:lnSpc>
                <a:spcPct val="130000"/>
              </a:lnSpc>
            </a:pPr>
            <a:r>
              <a:rPr lang="zh-CN" sz="1050" b="1">
                <a:solidFill>
                  <a:srgbClr val="333A45"/>
                </a:solidFill>
                <a:latin typeface="Microsoft YaHei"/>
                <a:ea typeface="Microsoft YaHei"/>
              </a:rPr>
              <a:t>部分实现</a:t>
            </a:r>
            <a:endParaRPr/>
          </a:p>
        </p:txBody>
      </p:sp>
      <p:sp>
        <p:nvSpPr>
          <p:cNvPr id="2606" name=""/>
          <p:cNvSpPr/>
          <p:nvPr/>
        </p:nvSpPr>
        <p:spPr>
          <a:xfrm rot="0" flipH="0" flipV="0">
            <a:off x="8829675" y="5353050"/>
            <a:ext cx="1257300" cy="381000"/>
          </a:xfrm>
          <a:prstGeom prst="roundRect">
            <a:avLst>
              <a:gd name="adj" fmla="val 15000"/>
            </a:avLst>
          </a:prstGeom>
          <a:solidFill>
            <a:srgbClr val="F5F7FA"/>
          </a:solidFill>
          <a:ln/>
        </p:spPr>
        <p:txBody>
          <a:bodyPr/>
          <a:p/>
        </p:txBody>
      </p:sp>
      <p:sp>
        <p:nvSpPr>
          <p:cNvPr id="2607" name=""/>
          <p:cNvSpPr/>
          <p:nvPr/>
        </p:nvSpPr>
        <p:spPr>
          <a:xfrm rot="0" flipH="0" flipV="0">
            <a:off x="8924925" y="5495925"/>
            <a:ext cx="95250" cy="95250"/>
          </a:xfrm>
          <a:prstGeom prst="roundRect">
            <a:avLst>
              <a:gd name="adj" fmla="val 50000"/>
            </a:avLst>
          </a:prstGeom>
          <a:solidFill>
            <a:srgbClr val="1E7BE0"/>
          </a:solidFill>
          <a:ln/>
        </p:spPr>
        <p:txBody>
          <a:bodyPr/>
          <a:p/>
        </p:txBody>
      </p:sp>
      <p:sp>
        <p:nvSpPr>
          <p:cNvPr id="2608" name="" descr="{&quot;isTemplate&quot;:true,&quot;type&quot;:&quot;text&quot;}"/>
          <p:cNvSpPr txBox="1"/>
          <p:nvPr/>
        </p:nvSpPr>
        <p:spPr>
          <a:xfrm rot="0" flipH="0" flipV="0">
            <a:off x="909637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设计中</a:t>
            </a:r>
            <a:endParaRPr/>
          </a:p>
        </p:txBody>
      </p:sp>
      <p:sp>
        <p:nvSpPr>
          <p:cNvPr id="2609" name=""/>
          <p:cNvSpPr/>
          <p:nvPr/>
        </p:nvSpPr>
        <p:spPr>
          <a:xfrm rot="0" flipH="0" flipV="0">
            <a:off x="10182225" y="5353050"/>
            <a:ext cx="1247775" cy="381000"/>
          </a:xfrm>
          <a:prstGeom prst="roundRect">
            <a:avLst>
              <a:gd name="adj" fmla="val 15000"/>
            </a:avLst>
          </a:prstGeom>
          <a:solidFill>
            <a:srgbClr val="F5F7FA"/>
          </a:solidFill>
          <a:ln/>
        </p:spPr>
        <p:txBody>
          <a:bodyPr/>
          <a:p/>
        </p:txBody>
      </p:sp>
      <p:sp>
        <p:nvSpPr>
          <p:cNvPr id="2610" name=""/>
          <p:cNvSpPr/>
          <p:nvPr/>
        </p:nvSpPr>
        <p:spPr>
          <a:xfrm rot="0" flipH="0" flipV="0">
            <a:off x="10277475" y="5495925"/>
            <a:ext cx="95250" cy="95250"/>
          </a:xfrm>
          <a:prstGeom prst="roundRect">
            <a:avLst>
              <a:gd name="adj" fmla="val 50000"/>
            </a:avLst>
          </a:prstGeom>
          <a:solidFill>
            <a:srgbClr val="98A2B3"/>
          </a:solidFill>
          <a:ln/>
        </p:spPr>
        <p:txBody>
          <a:bodyPr/>
          <a:p/>
        </p:txBody>
      </p:sp>
      <p:sp>
        <p:nvSpPr>
          <p:cNvPr id="2611" name="" descr="{&quot;isTemplate&quot;:true,&quot;type&quot;:&quot;text&quot;}"/>
          <p:cNvSpPr txBox="1"/>
          <p:nvPr/>
        </p:nvSpPr>
        <p:spPr>
          <a:xfrm rot="0" flipH="0" flipV="0">
            <a:off x="1044892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待研究</a:t>
            </a:r>
            <a:endParaRPr/>
          </a:p>
        </p:txBody>
      </p:sp>
      <p:sp>
        <p:nvSpPr>
          <p:cNvPr id="2612" name=""/>
          <p:cNvSpPr/>
          <p:nvPr/>
        </p:nvSpPr>
        <p:spPr>
          <a:xfrm rot="0" flipH="0" flipV="0">
            <a:off x="6134100" y="5972175"/>
            <a:ext cx="5295900" cy="400050"/>
          </a:xfrm>
          <a:custGeom>
            <a:pathLst>
              <a:path w="556" h="42">
                <a:moveTo>
                  <a:pt x="0" y="0"/>
                </a:moveTo>
                <a:lnTo>
                  <a:pt x="556" y="0"/>
                </a:lnTo>
                <a:lnTo>
                  <a:pt x="556" y="1"/>
                </a:lnTo>
                <a:lnTo>
                  <a:pt x="0" y="1"/>
                </a:lnTo>
                <a:close/>
              </a:path>
            </a:pathLst>
          </a:custGeom>
          <a:solidFill>
            <a:srgbClr val="E3E8EF"/>
          </a:solidFill>
          <a:ln/>
        </p:spPr>
        <p:txBody>
          <a:bodyPr/>
          <a:p/>
        </p:txBody>
      </p:sp>
      <p:sp>
        <p:nvSpPr>
          <p:cNvPr id="2613" name=""/>
          <p:cNvSpPr/>
          <p:nvPr/>
        </p:nvSpPr>
        <p:spPr>
          <a:xfrm rot="0" flipH="0" flipV="0">
            <a:off x="6134100" y="6219825"/>
            <a:ext cx="438150" cy="47625"/>
          </a:xfrm>
          <a:prstGeom prst="rect">
            <a:avLst/>
          </a:prstGeom>
          <a:solidFill>
            <a:srgbClr val="00A9B5"/>
          </a:solidFill>
          <a:ln/>
        </p:spPr>
        <p:txBody>
          <a:bodyPr/>
          <a:p/>
        </p:txBody>
      </p:sp>
      <p:sp>
        <p:nvSpPr>
          <p:cNvPr id="2614" name="" descr="{&quot;isTemplate&quot;:true,&quot;type&quot;:&quot;text&quot;}"/>
          <p:cNvSpPr txBox="1"/>
          <p:nvPr/>
        </p:nvSpPr>
        <p:spPr>
          <a:xfrm rot="0" flipH="0" flipV="0">
            <a:off x="6686550" y="6115050"/>
            <a:ext cx="3276600" cy="247650"/>
          </a:xfrm>
          <a:prstGeom prst="rect"/>
        </p:spPr>
        <p:txBody>
          <a:bodyPr wrap="none" lIns="0" tIns="0" rIns="0" bIns="0"/>
          <a:p>
            <a:pPr>
              <a:lnSpc>
                <a:spcPct val="140000"/>
              </a:lnSpc>
            </a:pPr>
            <a:r>
              <a:rPr lang="en-US" sz="1125" b="1">
                <a:solidFill>
                  <a:srgbClr val="7A8699"/>
                </a:solidFill>
                <a:latin typeface="Microsoft YaHei"/>
                <a:ea typeface="Microsoft YaHei"/>
              </a:rPr>
              <a:t xml:space="preserve">StudyAgent </a:t>
            </a:r>
            <a:r>
              <a:rPr lang="zh-CN" sz="1125" b="1">
                <a:solidFill>
                  <a:srgbClr val="7A8699"/>
                </a:solidFill>
                <a:latin typeface="Microsoft YaHei"/>
                <a:ea typeface="Microsoft YaHei"/>
              </a:rPr>
              <a:t>项目设计汇报</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技术评审版</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共</a:t>
            </a:r>
            <a:r>
              <a:rPr lang="en-US" sz="1125" b="1">
                <a:solidFill>
                  <a:srgbClr val="7A8699"/>
                </a:solidFill>
                <a:latin typeface="Microsoft YaHei"/>
                <a:ea typeface="Microsoft YaHei"/>
              </a:rPr>
              <a:t xml:space="preserve"> 124 </a:t>
            </a:r>
            <a:r>
              <a:rPr lang="zh-CN" sz="1125" b="1">
                <a:solidFill>
                  <a:srgbClr val="7A8699"/>
                </a:solidFill>
                <a:latin typeface="Microsoft YaHei"/>
                <a:ea typeface="Microsoft YaHei"/>
              </a:rPr>
              <a:t>页</a:t>
            </a:r>
            <a:endParaRPr/>
          </a:p>
        </p:txBody>
      </p:sp>
    </p:spTree>
  </p:cSld>
</p:sld>
</file>

<file path=ppt/slides/slide77.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615"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8 / 教学协同 Agent&lt;/Text&gt;&lt;Text style={{ fontSize: 32, color: '#0E2340', fontWeight: 700, lineHeight: 1.3 }}&gt;一个 Agent，三种角色视角&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row', gap: 28, flex: 1 }}&gt;&lt;Box style={{ width: 700, justifyContent: 'center' }}&gt;&lt;svg width={700} height={340} viewBox='0 0 700 340'&gt;&lt;circle cx='350' cy='170' r='70' fill='#0E2340'/&gt;&lt;text x='350' y='162' font-size='17' fill='#FFFFFF' text-anchor='middle' font-weight='700'&gt;教学协同 Agent&lt;/text&gt;&lt;text x='350' y='190' font-size='13' fill='#C8DCF2' text-anchor='middle' font-weight='400'&gt;同一套业务逻辑&lt;/text&gt;&lt;rect x='20' y='30' width='250' height='60' rx='8' fill='#FFFFFF' stroke='#1E7BE0' stroke-width='1.5'/&gt;&lt;text x='145' y='68' font-size='17' fill='#0E2340' text-anchor='middle' font-weight='600'&gt;学生个人助教&lt;/text&gt;&lt;rect x='430' y='30' width='250' height='60' rx='8' fill='#FFFFFF' stroke='#1E7BE0' stroke-width='1.5'/&gt;&lt;text x='555' y='68' font-size='17' fill='#0E2340' text-anchor='middle' font-weight='600'&gt;教师教学助理&lt;/text&gt;&lt;rect x='225' y='250' width='250' height='60' rx='8' fill='#FFFFFF' stroke='#1E7BE0' stroke-width='1.5'/&gt;&lt;text x='350' y='288' font-size='17' fill='#0E2340' text-anchor='middle' font-weight='600'&gt;学校教研助理&lt;/text&gt;&lt;line x1='270' y1='90' x2='305' y2='128' stroke='#1E7BE0' stroke-width='2'/&gt;&lt;line x1='430' y1='90' x2='395' y2='128' stroke='#1E7BE0' stroke-width='2'/&gt;&lt;line x1='350' y1='240' x2='350' y2='250' stroke='#1E7BE0' stroke-width='2'/&gt;&lt;rect x='20' y='110' width='250' height='44' rx='8' fill='#F5F7FA'/&gt;&lt;text x='145' y='138' font-size='15' fill='#333A45' text-anchor='middle' font-weight='400'&gt;按已认证身份切换&lt;/text&gt;&lt;rect x='430' y='110' width='250' height='44' rx='8' fill='#F5F7FA'/&gt;&lt;text x='555' y='138' font-size='15' fill='#333A45' text-anchor='middle' font-weight='400'&gt;独立对话与权限上下文&lt;/text&gt;&lt;/svg&gt;&lt;/Box&gt;&lt;Box style={{ flex: 1, flexDirection: 'column', gap: 11, justifyContent: 'center' }}&gt;&lt;Text style={{ fontSize: 21, color: '#0E2340', fontWeight: 700, lineHeight: 1.4 }}&gt;设计要点&lt;/Text&gt;&lt;Box style={{ flexDirection: 'column', gap: 10 }}&gt;&lt;Box style={{ flexDirection: 'row', gap: 12, alignItems: 'flex-start' }}&gt;&lt;Box style={{ width: 8, height: 8, borderRadius: 4, background: '#1E7BE0', marginTop: 9 }} /&gt;&lt;Box style={{ flex: 1 }}&gt;&lt;Text style={{ fontSize: 17, color: '#333A45', fontWeight: 400, lineHeight: 1.6 }}&gt;推荐首先实现同一套业务逻辑、按已认证身份进入不同角色视角，使用独立的对话与权限上下文。&lt;/Text&gt;&lt;/Box&gt;&lt;/Box&gt;&lt;Box style={{ flexDirection: 'row', gap: 12, alignItems: 'flex-start' }}&gt;&lt;Box style={{ width: 8, height: 8, borderRadius: 4, background: '#1E7BE0', marginTop: 9 }} /&gt;&lt;Box style={{ flex: 1 }}&gt;&lt;Text style={{ fontSize: 17, color: '#333A45', fontWeight: 400, lineHeight: 1.6 }}&gt;暂不要求每个角色由不同模型或多个自治 Agent 承担。&lt;/Text&gt;&lt;/Box&gt;&lt;/Box&gt;&lt;Box style={{ flexDirection: 'row', gap: 12, alignItems: 'flex-start' }}&gt;&lt;Box style={{ width: 8, height: 8, borderRadius: 4, background: '#1E7BE0', marginTop: 9 }} /&gt;&lt;Box style={{ flex: 1 }}&gt;&lt;Text style={{ fontSize: 17, color: '#333A45', fontWeight: 400, lineHeight: 1.6 }}&gt;项目已有 backend/agent.py 全局教练与内部工具层，可作为查询、解题、教学和规划的实现基础。&lt;/Text&gt;&lt;/Box&gt;&lt;/Box&gt;&lt;Box style={{ flexDirection: 'row', gap: 12, alignItems: 'flex-start' }}&gt;&lt;Box style={{ width: 8, height: 8, borderRadius: 4, background: '#1E7BE0', marginTop: 9 }} /&gt;&lt;Box style={{ flex: 1 }}&gt;&lt;Text style={{ fontSize: 17, color: '#333A45', fontWeight: 400, lineHeight: 1.6 }}&gt;边界：不能将现有全局教练直接等同于已经完成三端协同 Agent——还缺长期状态、角色沟通与教师 / 学校流程。&lt;/Text&gt;&lt;/Box&gt;&lt;/Box&gt;&lt;Box style={{ flexDirection: 'row', gap: 12, alignItems: 'flex-start' }}&gt;&lt;Box style={{ width: 8, height: 8, borderRadius: 4, background: '#1E7BE0', marginTop: 9 }} /&gt;&lt;Box style={{ flex: 1 }}&gt;&lt;Text style={{ fontSize: 17, color: '#333A45', fontWeight: 400, lineHeight: 1.6 }}&gt;身份原则：角色来自服务器身份与职责授权，不从用户一句“我是老师”推断。&lt;/Text&gt;&lt;/Box&gt;&lt;/Box&gt;&lt;/Box&gt;&lt;/Box&gt;&lt;/Box&gt;&lt;/Box&gt;&lt;Box style={{ height: 40, flexDirection: 'row', justifyContent: 'space-between', alignItems: 'center', borderTop: '1px solid #E3E8EF', marginTop: 8 }}&gt;&lt;Text style={{ fontSize: 13, color: '#7A8699', fontWeight: 400, lineHeight: 1.4 }}&gt;依据：教学协同Agent设计.md §1–§2&lt;/Text&gt;&lt;Text style={{ fontSize: 14, color: '#7A8699', fontWeight: 400, lineHeight: 1.4 }}&gt; 77 / 124 &lt;/Text&gt;&lt;/Box&gt;&lt;/Slide&gt;"/>
        <p:cNvGrpSpPr/>
        <p:nvPr/>
      </p:nvGrpSpPr>
      <p:grpSpPr>
        <a:xfrm>
          <a:off x="0" y="0"/>
          <a:ext cx="0" cy="0"/>
          <a:chOff x="0" y="0"/>
          <a:chExt cx="0" cy="0"/>
        </a:xfrm>
      </p:grpSpPr>
      <p:sp>
        <p:nvSpPr>
          <p:cNvPr id="2616" name=""/>
          <p:cNvSpPr/>
          <p:nvPr/>
        </p:nvSpPr>
        <p:spPr>
          <a:xfrm rot="0" flipH="0" flipV="0">
            <a:off x="0" y="0"/>
            <a:ext cx="12192000" cy="6858000"/>
          </a:xfrm>
          <a:prstGeom prst="rect">
            <a:avLst/>
          </a:prstGeom>
          <a:solidFill>
            <a:srgbClr val="FFFFFF"/>
          </a:solidFill>
          <a:ln/>
        </p:spPr>
        <p:txBody>
          <a:bodyPr/>
          <a:p/>
        </p:txBody>
      </p:sp>
      <p:sp>
        <p:nvSpPr>
          <p:cNvPr id="2617" name="" descr="{&quot;isTemplate&quot;:true,&quot;type&quot;:&quot;text&quot;}"/>
          <p:cNvSpPr txBox="1"/>
          <p:nvPr/>
        </p:nvSpPr>
        <p:spPr>
          <a:xfrm rot="0" flipH="0" flipV="0">
            <a:off x="666750" y="381000"/>
            <a:ext cx="36957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08 / </a:t>
            </a:r>
            <a:r>
              <a:rPr lang="zh-CN" sz="1050" spc="75">
                <a:solidFill>
                  <a:srgbClr val="7A8699"/>
                </a:solidFill>
                <a:latin typeface="Microsoft YaHei"/>
                <a:ea typeface="Microsoft YaHei"/>
              </a:rPr>
              <a:t>教学协同</a:t>
            </a:r>
            <a:r>
              <a:rPr lang="en-US" sz="1050" spc="75">
                <a:solidFill>
                  <a:srgbClr val="7A8699"/>
                </a:solidFill>
                <a:latin typeface="Microsoft YaHei"/>
                <a:ea typeface="Microsoft YaHei"/>
              </a:rPr>
              <a:t xml:space="preserve"> Agent</a:t>
            </a:r>
            <a:endParaRPr/>
          </a:p>
        </p:txBody>
      </p:sp>
      <p:sp>
        <p:nvSpPr>
          <p:cNvPr id="2618" name="" descr="{&quot;isTemplate&quot;:true,&quot;type&quot;:&quot;text&quot;}"/>
          <p:cNvSpPr txBox="1"/>
          <p:nvPr/>
        </p:nvSpPr>
        <p:spPr>
          <a:xfrm rot="0" flipH="0" flipV="0">
            <a:off x="666750" y="666750"/>
            <a:ext cx="3695700" cy="476250"/>
          </a:xfrm>
          <a:prstGeom prst="rect"/>
        </p:spPr>
        <p:txBody>
          <a:bodyPr wrap="none" lIns="0" tIns="0" rIns="0" bIns="0"/>
          <a:p>
            <a:pPr>
              <a:lnSpc>
                <a:spcPct val="130000"/>
              </a:lnSpc>
            </a:pPr>
            <a:r>
              <a:rPr lang="zh-CN" sz="2400" b="1">
                <a:solidFill>
                  <a:srgbClr val="0E2340"/>
                </a:solidFill>
                <a:latin typeface="Microsoft YaHei"/>
                <a:ea typeface="Microsoft YaHei"/>
              </a:rPr>
              <a:t>一个</a:t>
            </a:r>
            <a:r>
              <a:rPr lang="en-US" sz="2400" b="1">
                <a:solidFill>
                  <a:srgbClr val="0E2340"/>
                </a:solidFill>
                <a:latin typeface="Microsoft YaHei"/>
                <a:ea typeface="Microsoft YaHei"/>
              </a:rPr>
              <a:t xml:space="preserve"> Agent</a:t>
            </a:r>
            <a:r>
              <a:rPr lang="zh-CN" sz="2400" b="1">
                <a:solidFill>
                  <a:srgbClr val="0E2340"/>
                </a:solidFill>
                <a:latin typeface="Microsoft YaHei"/>
                <a:ea typeface="Microsoft YaHei"/>
              </a:rPr>
              <a:t>，三种角色视角</a:t>
            </a:r>
            <a:endParaRPr/>
          </a:p>
        </p:txBody>
      </p:sp>
      <p:sp>
        <p:nvSpPr>
          <p:cNvPr id="2619"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620"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2621" name=""/>
          <p:cNvPicPr>
            <a:picLocks noChangeAspect="1"/>
          </p:cNvPicPr>
          <p:nvPr/>
        </p:nvPicPr>
        <p:blipFill>
          <a:blip>
            <a:extLst>
              <a:ext uri="{96DAC541-7B7A-43D3-8B79-37D633B846F1}">
                <asvg:svgBlip r:embed="rId1"/>
              </a:ext>
            </a:extLst>
          </a:blip>
          <a:stretch>
            <a:fillRect/>
          </a:stretch>
        </p:blipFill>
        <p:spPr>
          <a:xfrm rot="0" flipH="0" flipV="0">
            <a:off x="666750" y="2095500"/>
            <a:ext cx="6667500" cy="3238500"/>
          </a:xfrm>
          <a:prstGeom prst="rect">
            <a:avLst/>
          </a:prstGeom>
          <a:ln/>
        </p:spPr>
      </p:pic>
      <p:sp>
        <p:nvSpPr>
          <p:cNvPr id="2622" name="" descr="{&quot;isTemplate&quot;:true,&quot;type&quot;:&quot;text&quot;}"/>
          <p:cNvSpPr txBox="1"/>
          <p:nvPr/>
        </p:nvSpPr>
        <p:spPr>
          <a:xfrm rot="0" flipH="0" flipV="0">
            <a:off x="7600950" y="1581150"/>
            <a:ext cx="3924300" cy="342900"/>
          </a:xfrm>
          <a:prstGeom prst="rect"/>
        </p:spPr>
        <p:txBody>
          <a:bodyPr wrap="none" lIns="0" tIns="0" rIns="0" bIns="0"/>
          <a:p>
            <a:pPr>
              <a:lnSpc>
                <a:spcPct val="140000"/>
              </a:lnSpc>
            </a:pPr>
            <a:r>
              <a:rPr lang="zh-CN" sz="1575" b="1">
                <a:solidFill>
                  <a:srgbClr val="0E2340"/>
                </a:solidFill>
                <a:latin typeface="Microsoft YaHei"/>
                <a:ea typeface="Microsoft YaHei"/>
              </a:rPr>
              <a:t>设计要点</a:t>
            </a:r>
            <a:endParaRPr/>
          </a:p>
        </p:txBody>
      </p:sp>
      <p:sp>
        <p:nvSpPr>
          <p:cNvPr id="2623" name=""/>
          <p:cNvSpPr/>
          <p:nvPr/>
        </p:nvSpPr>
        <p:spPr>
          <a:xfrm rot="0" flipH="0" flipV="0">
            <a:off x="7600950" y="2114550"/>
            <a:ext cx="76200" cy="76200"/>
          </a:xfrm>
          <a:prstGeom prst="roundRect">
            <a:avLst>
              <a:gd name="adj" fmla="val 50000"/>
            </a:avLst>
          </a:prstGeom>
          <a:solidFill>
            <a:srgbClr val="1E7BE0"/>
          </a:solidFill>
          <a:ln/>
        </p:spPr>
        <p:txBody>
          <a:bodyPr/>
          <a:p/>
        </p:txBody>
      </p:sp>
      <p:sp>
        <p:nvSpPr>
          <p:cNvPr id="2624" name="" descr="{&quot;isTemplate&quot;:true,&quot;type&quot;:&quot;text&quot;}"/>
          <p:cNvSpPr txBox="1"/>
          <p:nvPr/>
        </p:nvSpPr>
        <p:spPr>
          <a:xfrm rot="0" flipH="0" flipV="0">
            <a:off x="7791450" y="20288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推荐首先实现同一套业务逻辑、按已认证身份进入不同角色视角，使用独立的对话与权限上下文。</a:t>
            </a:r>
            <a:endParaRPr/>
          </a:p>
        </p:txBody>
      </p:sp>
      <p:sp>
        <p:nvSpPr>
          <p:cNvPr id="2625" name=""/>
          <p:cNvSpPr/>
          <p:nvPr/>
        </p:nvSpPr>
        <p:spPr>
          <a:xfrm rot="0" flipH="0" flipV="0">
            <a:off x="7600950" y="2838450"/>
            <a:ext cx="76200" cy="76200"/>
          </a:xfrm>
          <a:prstGeom prst="roundRect">
            <a:avLst>
              <a:gd name="adj" fmla="val 50000"/>
            </a:avLst>
          </a:prstGeom>
          <a:solidFill>
            <a:srgbClr val="1E7BE0"/>
          </a:solidFill>
          <a:ln/>
        </p:spPr>
        <p:txBody>
          <a:bodyPr/>
          <a:p/>
        </p:txBody>
      </p:sp>
      <p:sp>
        <p:nvSpPr>
          <p:cNvPr id="2626" name="" descr="{&quot;isTemplate&quot;:true,&quot;type&quot;:&quot;text&quot;}"/>
          <p:cNvSpPr txBox="1"/>
          <p:nvPr/>
        </p:nvSpPr>
        <p:spPr>
          <a:xfrm rot="0" flipH="0" flipV="0">
            <a:off x="7791450" y="27527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暂不要求每个角色由不同模型或多个自治</a:t>
            </a:r>
            <a:r>
              <a:rPr lang="en-US" sz="1275">
                <a:solidFill>
                  <a:srgbClr val="333A45"/>
                </a:solidFill>
                <a:latin typeface="Microsoft YaHei"/>
                <a:ea typeface="Microsoft YaHei"/>
              </a:rPr>
              <a:t xml:space="preserve"> Agent </a:t>
            </a:r>
            <a:r>
              <a:rPr lang="zh-CN" sz="1275">
                <a:solidFill>
                  <a:srgbClr val="333A45"/>
                </a:solidFill>
                <a:latin typeface="Microsoft YaHei"/>
                <a:ea typeface="Microsoft YaHei"/>
              </a:rPr>
              <a:t>承担。</a:t>
            </a:r>
            <a:endParaRPr/>
          </a:p>
        </p:txBody>
      </p:sp>
      <p:sp>
        <p:nvSpPr>
          <p:cNvPr id="2627" name=""/>
          <p:cNvSpPr/>
          <p:nvPr/>
        </p:nvSpPr>
        <p:spPr>
          <a:xfrm rot="0" flipH="0" flipV="0">
            <a:off x="7600950" y="3562350"/>
            <a:ext cx="76200" cy="76200"/>
          </a:xfrm>
          <a:prstGeom prst="roundRect">
            <a:avLst>
              <a:gd name="adj" fmla="val 50000"/>
            </a:avLst>
          </a:prstGeom>
          <a:solidFill>
            <a:srgbClr val="1E7BE0"/>
          </a:solidFill>
          <a:ln/>
        </p:spPr>
        <p:txBody>
          <a:bodyPr/>
          <a:p/>
        </p:txBody>
      </p:sp>
      <p:sp>
        <p:nvSpPr>
          <p:cNvPr id="2628" name="" descr="{&quot;isTemplate&quot;:true,&quot;type&quot;:&quot;text&quot;}"/>
          <p:cNvSpPr txBox="1"/>
          <p:nvPr/>
        </p:nvSpPr>
        <p:spPr>
          <a:xfrm rot="0" flipH="0" flipV="0">
            <a:off x="7791450" y="34766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项目已有</a:t>
            </a:r>
            <a:r>
              <a:rPr lang="en-US" sz="1275">
                <a:solidFill>
                  <a:srgbClr val="333A45"/>
                </a:solidFill>
                <a:latin typeface="Microsoft YaHei"/>
                <a:ea typeface="Microsoft YaHei"/>
              </a:rPr>
              <a:t xml:space="preserve"> backend/agent.py </a:t>
            </a:r>
            <a:r>
              <a:rPr lang="zh-CN" sz="1275">
                <a:solidFill>
                  <a:srgbClr val="333A45"/>
                </a:solidFill>
                <a:latin typeface="Microsoft YaHei"/>
                <a:ea typeface="Microsoft YaHei"/>
              </a:rPr>
              <a:t>全局教练与内部工具层，可作为查询、解题、教学和规划的实现基础。</a:t>
            </a:r>
            <a:endParaRPr/>
          </a:p>
        </p:txBody>
      </p:sp>
      <p:sp>
        <p:nvSpPr>
          <p:cNvPr id="2629" name=""/>
          <p:cNvSpPr/>
          <p:nvPr/>
        </p:nvSpPr>
        <p:spPr>
          <a:xfrm rot="0" flipH="0" flipV="0">
            <a:off x="7600950" y="4286250"/>
            <a:ext cx="76200" cy="76200"/>
          </a:xfrm>
          <a:prstGeom prst="roundRect">
            <a:avLst>
              <a:gd name="adj" fmla="val 50000"/>
            </a:avLst>
          </a:prstGeom>
          <a:solidFill>
            <a:srgbClr val="1E7BE0"/>
          </a:solidFill>
          <a:ln/>
        </p:spPr>
        <p:txBody>
          <a:bodyPr/>
          <a:p/>
        </p:txBody>
      </p:sp>
      <p:sp>
        <p:nvSpPr>
          <p:cNvPr id="2630" name="" descr="{&quot;isTemplate&quot;:true,&quot;type&quot;:&quot;text&quot;}"/>
          <p:cNvSpPr txBox="1"/>
          <p:nvPr/>
        </p:nvSpPr>
        <p:spPr>
          <a:xfrm rot="0" flipH="0" flipV="0">
            <a:off x="7791450" y="4200525"/>
            <a:ext cx="3733800" cy="9334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边界：不能将现有全局教练直接等同于已经完成三端协同</a:t>
            </a:r>
            <a:r>
              <a:rPr lang="en-US" sz="1275">
                <a:solidFill>
                  <a:srgbClr val="333A45"/>
                </a:solidFill>
                <a:latin typeface="Microsoft YaHei"/>
                <a:ea typeface="Microsoft YaHei"/>
              </a:rPr>
              <a:t xml:space="preserve"> Agent——</a:t>
            </a:r>
            <a:r>
              <a:rPr lang="zh-CN" sz="1275">
                <a:solidFill>
                  <a:srgbClr val="333A45"/>
                </a:solidFill>
                <a:latin typeface="Microsoft YaHei"/>
                <a:ea typeface="Microsoft YaHei"/>
              </a:rPr>
              <a:t>还缺长期状态、角色沟通与教师</a:t>
            </a:r>
            <a:r>
              <a:rPr lang="en-US" sz="1275">
                <a:solidFill>
                  <a:srgbClr val="333A45"/>
                </a:solidFill>
                <a:latin typeface="Microsoft YaHei"/>
                <a:ea typeface="Microsoft YaHei"/>
              </a:rPr>
              <a:t xml:space="preserve"> / </a:t>
            </a:r>
            <a:r>
              <a:rPr lang="zh-CN" sz="1275">
                <a:solidFill>
                  <a:srgbClr val="333A45"/>
                </a:solidFill>
                <a:latin typeface="Microsoft YaHei"/>
                <a:ea typeface="Microsoft YaHei"/>
              </a:rPr>
              <a:t>学校流程。</a:t>
            </a:r>
            <a:endParaRPr/>
          </a:p>
        </p:txBody>
      </p:sp>
      <p:sp>
        <p:nvSpPr>
          <p:cNvPr id="2631" name=""/>
          <p:cNvSpPr/>
          <p:nvPr/>
        </p:nvSpPr>
        <p:spPr>
          <a:xfrm rot="0" flipH="0" flipV="0">
            <a:off x="7600950" y="5314950"/>
            <a:ext cx="76200" cy="76200"/>
          </a:xfrm>
          <a:prstGeom prst="roundRect">
            <a:avLst>
              <a:gd name="adj" fmla="val 50000"/>
            </a:avLst>
          </a:prstGeom>
          <a:solidFill>
            <a:srgbClr val="1E7BE0"/>
          </a:solidFill>
          <a:ln/>
        </p:spPr>
        <p:txBody>
          <a:bodyPr/>
          <a:p/>
        </p:txBody>
      </p:sp>
      <p:sp>
        <p:nvSpPr>
          <p:cNvPr id="2632" name="" descr="{&quot;isTemplate&quot;:true,&quot;type&quot;:&quot;text&quot;}"/>
          <p:cNvSpPr txBox="1"/>
          <p:nvPr/>
        </p:nvSpPr>
        <p:spPr>
          <a:xfrm rot="0" flipH="0" flipV="0">
            <a:off x="7791450" y="5229225"/>
            <a:ext cx="373380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身份原则：角色来自服务器身份与职责授权，不从用户一句“我是老师”推断。</a:t>
            </a:r>
            <a:endParaRPr/>
          </a:p>
        </p:txBody>
      </p:sp>
      <p:sp>
        <p:nvSpPr>
          <p:cNvPr id="2633"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634" name="" descr="{&quot;isTemplate&quot;:true,&quot;type&quot;:&quot;text&quot;}"/>
          <p:cNvSpPr txBox="1"/>
          <p:nvPr/>
        </p:nvSpPr>
        <p:spPr>
          <a:xfrm rot="0" flipH="0" flipV="0">
            <a:off x="666750" y="6381750"/>
            <a:ext cx="2028825" cy="209550"/>
          </a:xfrm>
          <a:prstGeom prst="rect"/>
        </p:spPr>
        <p:txBody>
          <a:bodyPr wrap="none" lIns="0" tIns="0" rIns="0" bIns="0"/>
          <a:p>
            <a:pPr>
              <a:lnSpc>
                <a:spcPct val="140000"/>
              </a:lnSpc>
            </a:pPr>
            <a:r>
              <a:rPr lang="zh-CN" sz="975">
                <a:solidFill>
                  <a:srgbClr val="7A8699"/>
                </a:solidFill>
                <a:latin typeface="Microsoft YaHei"/>
                <a:ea typeface="Microsoft YaHei"/>
              </a:rPr>
              <a:t>依据：教学协同</a:t>
            </a:r>
            <a:r>
              <a:rPr lang="en-US" sz="975">
                <a:solidFill>
                  <a:srgbClr val="7A8699"/>
                </a:solidFill>
                <a:latin typeface="Microsoft YaHei"/>
                <a:ea typeface="Microsoft YaHei"/>
              </a:rPr>
              <a:t>Agent</a:t>
            </a:r>
            <a:r>
              <a:rPr lang="zh-CN" sz="975">
                <a:solidFill>
                  <a:srgbClr val="7A8699"/>
                </a:solidFill>
                <a:latin typeface="Microsoft YaHei"/>
                <a:ea typeface="Microsoft YaHei"/>
              </a:rPr>
              <a:t>设计</a:t>
            </a:r>
            <a:r>
              <a:rPr lang="en-US" sz="975">
                <a:solidFill>
                  <a:srgbClr val="7A8699"/>
                </a:solidFill>
                <a:latin typeface="Microsoft YaHei"/>
                <a:ea typeface="Microsoft YaHei"/>
              </a:rPr>
              <a:t>.md §1–§2</a:t>
            </a:r>
            <a:endParaRPr/>
          </a:p>
        </p:txBody>
      </p:sp>
      <p:sp>
        <p:nvSpPr>
          <p:cNvPr id="2635"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77 / 124 </a:t>
            </a:r>
            <a:endParaRPr/>
          </a:p>
        </p:txBody>
      </p:sp>
    </p:spTree>
  </p:cSld>
</p:sld>
</file>

<file path=ppt/slides/slide78.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2636"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8 / 教学协同 Agent&lt;/Text&gt;&lt;Text style={{ fontSize: 32, color: '#0E2340', fontWeight: 700, lineHeight: 1.3 }}&gt;三类角色如何沟通与行动&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paddingTop: 4 }}&gt;&lt;Box style={{ marginBottom: 14 }}&gt;&lt;Box style={{ flexDirection: 'row', alignItems: 'center', background: '#F5F7FA', borderLeft: '4px solid #0E2340', borderRadius: 6, padding: '14px 20px' }}&gt;&lt;Text style={{ fontSize: 20, color: '#0E2340', fontWeight: 600, lineHeight: 1.5 }}&gt;教师兼任学校管理者时须明确当前任务范围；向全班解释的方法与个人关注信息分别组织&lt;/Text&gt;&lt;/Box&gt;&lt;/Box&gt;&lt;Box style={{ flex: 1 }}&gt;&lt;Table style={{ width: '100%', height: '100%' }} defaultTextStyle={{ fontSize: 16, textAlign: 'left', color: '#333A45' }} defaultCellStyle={{ padding: 10, border: { left: { width: 1, color: '#E3E8EF' }, right: { width: 1, color: '#E3E8EF' }, top: { width: 1, color: '#E3E8EF' }, bottom: { width: 1, color: '#E3E8EF' } } }} cells={[[{ text: '角色视角', textStyle: { color: '#FFFFFF', fontWeight: 600, fontSize: 16 }, cellStyle: { background: { color: '#0E2340' } } }, { text: '常见请求', textStyle: { color: '#FFFFFF', fontWeight: 600, fontSize: 16 }, cellStyle: { background: { color: '#0E2340' } } }, { text: 'Agent 应完成什么', textStyle: { color: '#FFFFFF', fontWeight: 600, fontSize: 16 }, cellStyle: { background: { color: '#0E2340' } } }, { text: '主要输出', textStyle: { color: '#FFFFFF', fontWeight: 600, fontSize: 16 }, cellStyle: { background: { color: '#0E2340' } } }],&#10;        [{ text: '学生个人助教', textStyle: { fontWeight: 600, fontSize: 16 } }, { text: '“为什么总在这一步错”“今天该练什么”', textStyle: { fontSize: 16 } }, { text: '查询本人证据、澄清困难、安排诊断 / 教学 / 练习 / 复查', textStyle: { fontSize: 16 } }, { text: '具体解释、适量任务、可继续的学习计划', textStyle: { fontSize: 16 } }],&#10;        [{ text: '教师教学助理', textStyle: { fontWeight: 600, fontSize: 16 }, cellStyle: { background: { color: '#F5F7FA' } } }, { text: '“明天这节课怎么讲”“谁需要补练”', textStyle: { fontSize: 16 }, cellStyle: { background: { color: '#F5F7FA' } } }, { text: '查询授权班级与课时、准备教案、分析共性问题并形成任务草稿', textStyle: { fontSize: 16 }, cellStyle: { background: { color: '#F5F7FA' } } }, { text: '教案、课件素材、作业草案与干预建议', textStyle: { fontSize: 16 }, cellStyle: { background: { color: '#F5F7FA' } } }],&#10;        [{ text: '学校教研助理', textStyle: { fontWeight: 600, fontSize: 16 } }, { text: '“这一阶段哪里需要改进”“改教材顺序影响什么”', textStyle: { fontSize: 16 } }, { text: '按管理范围汇总可比较证据、追踪教学调整、评估版本影响', textStyle: { fontSize: 16 } }, { text: '质量分析、资源建议与课程变更草稿', textStyle: { fontSize: 16 } }]]} /&gt;&lt;/Box&gt;&lt;/Box&gt;&lt;/Box&gt;&lt;Box style={{ height: 40, flexDirection: 'row', justifyContent: 'space-between', alignItems: 'center', borderTop: '1px solid #E3E8EF', marginTop: 8 }}&gt;&lt;Text style={{ fontSize: 13, color: '#7A8699', fontWeight: 400, lineHeight: 1.4 }}&gt;依据：教学协同Agent设计.md §2&lt;/Text&gt;&lt;Text style={{ fontSize: 14, color: '#7A8699', fontWeight: 400, lineHeight: 1.4 }}&gt; 78 / 124 &lt;/Text&gt;&lt;/Box&gt;&lt;/Slide&gt;"/>
        <p:cNvGrpSpPr/>
        <p:nvPr/>
      </p:nvGrpSpPr>
      <p:grpSpPr>
        <a:xfrm>
          <a:off x="0" y="0"/>
          <a:ext cx="0" cy="0"/>
          <a:chOff x="0" y="0"/>
          <a:chExt cx="0" cy="0"/>
        </a:xfrm>
      </p:grpSpPr>
      <p:sp>
        <p:nvSpPr>
          <p:cNvPr id="2637" name=""/>
          <p:cNvSpPr/>
          <p:nvPr/>
        </p:nvSpPr>
        <p:spPr>
          <a:xfrm rot="0" flipH="0" flipV="0">
            <a:off x="0" y="0"/>
            <a:ext cx="12192000" cy="6858000"/>
          </a:xfrm>
          <a:prstGeom prst="rect">
            <a:avLst/>
          </a:prstGeom>
          <a:solidFill>
            <a:srgbClr val="FFFFFF"/>
          </a:solidFill>
          <a:ln/>
        </p:spPr>
        <p:txBody>
          <a:bodyPr/>
          <a:p/>
        </p:txBody>
      </p:sp>
      <p:sp>
        <p:nvSpPr>
          <p:cNvPr id="2638" name="" descr="{&quot;isTemplate&quot;:true,&quot;type&quot;:&quot;text&quot;}"/>
          <p:cNvSpPr txBox="1"/>
          <p:nvPr/>
        </p:nvSpPr>
        <p:spPr>
          <a:xfrm rot="0" flipH="0" flipV="0">
            <a:off x="666750" y="381000"/>
            <a:ext cx="3352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08 / </a:t>
            </a:r>
            <a:r>
              <a:rPr lang="zh-CN" sz="1050" spc="75">
                <a:solidFill>
                  <a:srgbClr val="7A8699"/>
                </a:solidFill>
                <a:latin typeface="Microsoft YaHei"/>
                <a:ea typeface="Microsoft YaHei"/>
              </a:rPr>
              <a:t>教学协同</a:t>
            </a:r>
            <a:r>
              <a:rPr lang="en-US" sz="1050" spc="75">
                <a:solidFill>
                  <a:srgbClr val="7A8699"/>
                </a:solidFill>
                <a:latin typeface="Microsoft YaHei"/>
                <a:ea typeface="Microsoft YaHei"/>
              </a:rPr>
              <a:t xml:space="preserve"> Agent</a:t>
            </a:r>
            <a:endParaRPr/>
          </a:p>
        </p:txBody>
      </p:sp>
      <p:sp>
        <p:nvSpPr>
          <p:cNvPr id="2639" name="" descr="{&quot;isTemplate&quot;:true,&quot;type&quot;:&quot;text&quot;}"/>
          <p:cNvSpPr txBox="1"/>
          <p:nvPr/>
        </p:nvSpPr>
        <p:spPr>
          <a:xfrm rot="0" flipH="0" flipV="0">
            <a:off x="666750" y="666750"/>
            <a:ext cx="3352800" cy="476250"/>
          </a:xfrm>
          <a:prstGeom prst="rect"/>
        </p:spPr>
        <p:txBody>
          <a:bodyPr wrap="none" lIns="0" tIns="0" rIns="0" bIns="0"/>
          <a:p>
            <a:pPr>
              <a:lnSpc>
                <a:spcPct val="130000"/>
              </a:lnSpc>
            </a:pPr>
            <a:r>
              <a:rPr lang="zh-CN" sz="2400" b="1">
                <a:solidFill>
                  <a:srgbClr val="0E2340"/>
                </a:solidFill>
                <a:latin typeface="Microsoft YaHei"/>
                <a:ea typeface="Microsoft YaHei"/>
              </a:rPr>
              <a:t>三类角色如何沟通与行动</a:t>
            </a:r>
            <a:endParaRPr/>
          </a:p>
        </p:txBody>
      </p:sp>
      <p:sp>
        <p:nvSpPr>
          <p:cNvPr id="2640"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641"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2642" name=""/>
          <p:cNvSpPr/>
          <p:nvPr/>
        </p:nvSpPr>
        <p:spPr>
          <a:xfrm rot="0" flipH="0" flipV="0">
            <a:off x="704850" y="1257300"/>
            <a:ext cx="10858500" cy="609600"/>
          </a:xfrm>
          <a:prstGeom prst="roundRect">
            <a:avLst>
              <a:gd name="adj" fmla="val 9375"/>
            </a:avLst>
          </a:prstGeom>
          <a:solidFill>
            <a:srgbClr val="F5F7FA"/>
          </a:solidFill>
          <a:ln/>
        </p:spPr>
        <p:txBody>
          <a:bodyPr/>
          <a:p/>
        </p:txBody>
      </p:sp>
      <p:sp>
        <p:nvSpPr>
          <p:cNvPr id="2643" name=""/>
          <p:cNvSpPr/>
          <p:nvPr/>
        </p:nvSpPr>
        <p:spPr>
          <a:xfrm rot="0" flipH="0" flipV="0">
            <a:off x="704850" y="12573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2644" name="" descr="{&quot;isTemplate&quot;:true,&quot;type&quot;:&quot;text&quot;}"/>
          <p:cNvSpPr txBox="1"/>
          <p:nvPr/>
        </p:nvSpPr>
        <p:spPr>
          <a:xfrm rot="0" flipH="0" flipV="0">
            <a:off x="895350" y="1390650"/>
            <a:ext cx="7429500" cy="342900"/>
          </a:xfrm>
          <a:prstGeom prst="rect"/>
        </p:spPr>
        <p:txBody>
          <a:bodyPr wrap="none" lIns="0" tIns="0" rIns="0" bIns="0"/>
          <a:p>
            <a:pPr>
              <a:lnSpc>
                <a:spcPct val="150000"/>
              </a:lnSpc>
            </a:pPr>
            <a:r>
              <a:rPr lang="zh-CN" sz="1500" b="1">
                <a:solidFill>
                  <a:srgbClr val="0E2340"/>
                </a:solidFill>
                <a:latin typeface="Microsoft YaHei"/>
                <a:ea typeface="Microsoft YaHei"/>
              </a:rPr>
              <a:t>教师兼任学校管理者时须明确当前任务范围；向全班解释的方法与个人关注信息分别组织</a:t>
            </a:r>
            <a:endParaRPr/>
          </a:p>
        </p:txBody>
      </p:sp>
      <p:graphicFrame>
        <p:nvGraphicFramePr>
          <p:cNvPr id="2645" name=""/>
          <p:cNvGraphicFramePr/>
          <p:nvPr/>
        </p:nvGraphicFramePr>
        <p:xfrm rot="0" flipH="0" flipV="0">
          <a:off x="666750" y="2000250"/>
          <a:ext cx="10858500" cy="4210050"/>
        </p:xfrm>
        <a:graphic>
          <a:graphicData uri="http://schemas.openxmlformats.org/drawingml/2006/table">
            <a:tbl>
              <a:tblGrid>
                <a:gridCol w="958423">
                  <a:extLst>
                    <a:ext uri="{9D8B030D-6E8A-4147-A177-3AD203B41FA5}">
                      <a16:colId val="1"/>
                    </a:ext>
                  </a:extLst>
                </a:gridCol>
                <a:gridCol w="3045898">
                  <a:extLst>
                    <a:ext uri="{9D8B030D-6E8A-4147-A177-3AD203B41FA5}">
                      <a16:colId val="2"/>
                    </a:ext>
                  </a:extLst>
                </a:gridCol>
                <a:gridCol w="4153168">
                  <a:extLst>
                    <a:ext uri="{9D8B030D-6E8A-4147-A177-3AD203B41FA5}">
                      <a16:colId val="3"/>
                    </a:ext>
                  </a:extLst>
                </a:gridCol>
                <a:gridCol w="2701011">
                  <a:extLst>
                    <a:ext uri="{9D8B030D-6E8A-4147-A177-3AD203B41FA5}">
                      <a16:colId val="4"/>
                    </a:ext>
                  </a:extLst>
                </a:gridCol>
              </a:tblGrid>
              <a:tr h="695465">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角色视角</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常见请求</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Agent 应完成什么</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主要输出</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1171528">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学生个人助教</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“为什么总在这一步错”“今天该练什么”</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查询本人证据、澄清困难、安排诊断 / 教学 / 练习 / 复查</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具体解释、适量任务、可继续的学习计划</a:t>
                      </a:r>
                      <a:endParaRPr/>
                    </a:p>
                  </a:txBody>
                  <a:tcPr marL="45720" marR="45720" marT="45720" marB="45720" anchor="ctr">
                    <a:lnL>
                      <a:noFill/>
                    </a:lnL>
                    <a:lnR>
                      <a:noFill/>
                    </a:lnR>
                    <a:lnT>
                      <a:noFill/>
                    </a:lnT>
                    <a:lnB>
                      <a:noFill/>
                    </a:lnB>
                  </a:tcPr>
                </a:tc>
                <a:extLst>
                  <a:ext uri="{0D108BD9-81ED-4DB2-BD59-A6C34878D82A}">
                    <a16:rowId val="2"/>
                  </a:ext>
                </a:extLst>
              </a:tr>
              <a:tr h="1171528">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教师教学助理</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“明天这节课怎么讲”“谁需要补练”</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查询授权班级与课时、准备教案、分析共性问题并形成任务草稿</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教案、课件素材、作业草案与干预建议</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1171528">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学校教研助理</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“这一阶段哪里需要改进”“改教材顺序影响什么”</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按管理范围汇总可比较证据、追踪教学调整、评估版本影响</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质量分析、资源建议与课程变更草稿</a:t>
                      </a:r>
                      <a:endParaRPr/>
                    </a:p>
                  </a:txBody>
                  <a:tcPr marL="45720" marR="45720" marT="45720" marB="45720" anchor="ctr">
                    <a:lnL>
                      <a:noFill/>
                    </a:lnL>
                    <a:lnR>
                      <a:noFill/>
                    </a:lnR>
                    <a:lnT>
                      <a:noFill/>
                    </a:lnT>
                    <a:lnB>
                      <a:noFill/>
                    </a:lnB>
                  </a:tcPr>
                </a:tc>
                <a:extLst>
                  <a:ext uri="{0D108BD9-81ED-4DB2-BD59-A6C34878D82A}">
                    <a16:rowId val="4"/>
                  </a:ext>
                </a:extLst>
              </a:tr>
            </a:tbl>
          </a:graphicData>
        </a:graphic>
      </p:graphicFrame>
      <p:sp>
        <p:nvSpPr>
          <p:cNvPr id="2646"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647" name="" descr="{&quot;isTemplate&quot;:true,&quot;type&quot;:&quot;text&quot;}"/>
          <p:cNvSpPr txBox="1"/>
          <p:nvPr/>
        </p:nvSpPr>
        <p:spPr>
          <a:xfrm rot="0" flipH="0" flipV="0">
            <a:off x="666750" y="6381750"/>
            <a:ext cx="1819275" cy="209550"/>
          </a:xfrm>
          <a:prstGeom prst="rect"/>
        </p:spPr>
        <p:txBody>
          <a:bodyPr wrap="none" lIns="0" tIns="0" rIns="0" bIns="0"/>
          <a:p>
            <a:pPr>
              <a:lnSpc>
                <a:spcPct val="140000"/>
              </a:lnSpc>
            </a:pPr>
            <a:r>
              <a:rPr lang="zh-CN" sz="975">
                <a:solidFill>
                  <a:srgbClr val="7A8699"/>
                </a:solidFill>
                <a:latin typeface="Microsoft YaHei"/>
                <a:ea typeface="Microsoft YaHei"/>
              </a:rPr>
              <a:t>依据：教学协同</a:t>
            </a:r>
            <a:r>
              <a:rPr lang="en-US" sz="975">
                <a:solidFill>
                  <a:srgbClr val="7A8699"/>
                </a:solidFill>
                <a:latin typeface="Microsoft YaHei"/>
                <a:ea typeface="Microsoft YaHei"/>
              </a:rPr>
              <a:t>Agent</a:t>
            </a:r>
            <a:r>
              <a:rPr lang="zh-CN" sz="975">
                <a:solidFill>
                  <a:srgbClr val="7A8699"/>
                </a:solidFill>
                <a:latin typeface="Microsoft YaHei"/>
                <a:ea typeface="Microsoft YaHei"/>
              </a:rPr>
              <a:t>设计</a:t>
            </a:r>
            <a:r>
              <a:rPr lang="en-US" sz="975">
                <a:solidFill>
                  <a:srgbClr val="7A8699"/>
                </a:solidFill>
                <a:latin typeface="Microsoft YaHei"/>
                <a:ea typeface="Microsoft YaHei"/>
              </a:rPr>
              <a:t>.md §2</a:t>
            </a:r>
            <a:endParaRPr/>
          </a:p>
        </p:txBody>
      </p:sp>
      <p:sp>
        <p:nvSpPr>
          <p:cNvPr id="2648"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78 / 124 </a:t>
            </a:r>
            <a:endParaRPr/>
          </a:p>
        </p:txBody>
      </p:sp>
    </p:spTree>
  </p:cSld>
</p:sld>
</file>

<file path=ppt/slides/slide79.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649"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8 / 教学协同 Agent&lt;/Text&gt;&lt;Text style={{ fontSize: 32, color: '#0E2340', fontWeight: 700, lineHeight: 1.3 }}&gt;七步基本工作循环&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t;&lt;svg width={1140} height={230} viewBox='0 0 1140 230'&gt;&lt;rect x='0' y='40' width='123' height='96' rx='8' fill='#0E2340' stroke='#1E7BE0' stroke-width='1.5'/&gt;&lt;text x='61.5' y='88.0' font-size='20' fill='#FFFFFF' text-anchor='middle' font-weight='600'&gt;理解请求&lt;/text&gt;&lt;line x1='129' y1='88' x2='155' y2='88' stroke='#1E7BE0' stroke-width='2'/&gt;&lt;path d='M155 82 l10 -6 l0 12 z' fill='#1E7BE0'/&gt;&lt;rect x='169' y='40' width='123' height='96' rx='8' fill='#FFFFFF' stroke='#1E7BE0' stroke-width='1.5'/&gt;&lt;text x='230.5' y='88.0' font-size='20' fill='#0E2340' text-anchor='middle' font-weight='600'&gt;确认身份与对象&lt;/text&gt;&lt;line x1='298' y1='88' x2='324' y2='88' stroke='#1E7BE0' stroke-width='2'/&gt;&lt;path d='M324 82 l10 -6 l0 12 z' fill='#1E7BE0'/&gt;&lt;rect x='338' y='40' width='123' height='96' rx='8' fill='#FFFFFF' stroke='#1E7BE0' stroke-width='1.5'/&gt;&lt;text x='399.5' y='88.0' font-size='20' fill='#0E2340' text-anchor='middle' font-weight='600'&gt;检索历史与证据&lt;/text&gt;&lt;line x1='467' y1='88' x2='493' y2='88' stroke='#1E7BE0' stroke-width='2'/&gt;&lt;path d='M493 82 l10 -6 l0 12 z' fill='#1E7BE0'/&gt;&lt;rect x='507' y='40' width='123' height='96' rx='8' fill='#FFFFFF' stroke='#1E7BE0' stroke-width='1.5'/&gt;&lt;text x='568.5' y='88.0' font-size='20' fill='#0E2340' text-anchor='middle' font-weight='600'&gt;选择业务工作流&lt;/text&gt;&lt;line x1='636' y1='88' x2='662' y2='88' stroke='#1E7BE0' stroke-width='2'/&gt;&lt;path d='M662 82 l10 -6 l0 12 z' fill='#1E7BE0'/&gt;&lt;rect x='676' y='40' width='123' height='96' rx='8' fill='#FFFFFF' stroke='#1E7BE0' stroke-width='1.5'/&gt;&lt;text x='737.5' y='88.0' font-size='20' fill='#0E2340' text-anchor='middle' font-weight='600'&gt;调用 / 恢复工具&lt;/text&gt;&lt;line x1='805' y1='88' x2='831' y2='88' stroke='#1E7BE0' stroke-width='2'/&gt;&lt;path d='M831 82 l10 -6 l0 12 z' fill='#1E7BE0'/&gt;&lt;rect x='845' y='40' width='123' height='96' rx='8' fill='#FFFFFF' stroke='#1E7BE0' stroke-width='1.5'/&gt;&lt;text x='906.5' y='88.0' font-size='20' fill='#0E2340' text-anchor='middle' font-weight='600'&gt;检查返回与版本&lt;/text&gt;&lt;line x1='974' y1='88' x2='1000' y2='88' stroke='#1E7BE0' stroke-width='2'/&gt;&lt;path d='M1000 82 l10 -6 l0 12 z' fill='#1E7BE0'/&gt;&lt;rect x='1014' y='40' width='123' height='96' rx='8' fill='#F5F7FA' stroke='#1E7BE0' stroke-width='1.5'/&gt;&lt;text x='1075.5' y='88.0' font-size='20' fill='#0E2340' text-anchor='middle' font-weight='600'&gt;解释并保存记忆&lt;/text&gt;&lt;/svg&gt;&lt;Box style={{ marginTop: 10 }}&gt;&lt;Box style={{ flexDirection: 'row', alignItems: 'center', background: '#F5F7FA', borderLeft: '4px solid #0E2340', borderRadius: 6, padding: '14px 20px' }}&gt;&lt;Text style={{ fontSize: 17, color: '#0E2340', fontWeight: 600, lineHeight: 1.5 }}&gt;完成判定：任务完成以业务结果为依据；工具调用失败 / 生成中 / 保存未成功时明确当前状态并保留恢复入口，不将已写出的自然语言承诺视为已经执行&lt;/Text&gt;&lt;/Box&gt;&lt;/Box&gt;&lt;/Box&gt;&lt;/Box&gt;&lt;Box style={{ height: 40, flexDirection: 'row', justifyContent: 'space-between', alignItems: 'center', borderTop: '1px solid #E3E8EF', marginTop: 8 }}&gt;&lt;Text style={{ fontSize: 13, color: '#7A8699', fontWeight: 400, lineHeight: 1.4 }}&gt;依据：教学协同Agent设计.md §3&lt;/Text&gt;&lt;Text style={{ fontSize: 14, color: '#7A8699', fontWeight: 400, lineHeight: 1.4 }}&gt; 79 / 124 &lt;/Text&gt;&lt;/Box&gt;&lt;/Slide&gt;"/>
        <p:cNvGrpSpPr/>
        <p:nvPr/>
      </p:nvGrpSpPr>
      <p:grpSpPr>
        <a:xfrm>
          <a:off x="0" y="0"/>
          <a:ext cx="0" cy="0"/>
          <a:chOff x="0" y="0"/>
          <a:chExt cx="0" cy="0"/>
        </a:xfrm>
      </p:grpSpPr>
      <p:sp>
        <p:nvSpPr>
          <p:cNvPr id="2650" name=""/>
          <p:cNvSpPr/>
          <p:nvPr/>
        </p:nvSpPr>
        <p:spPr>
          <a:xfrm rot="0" flipH="0" flipV="0">
            <a:off x="0" y="0"/>
            <a:ext cx="12192000" cy="6858000"/>
          </a:xfrm>
          <a:prstGeom prst="rect">
            <a:avLst/>
          </a:prstGeom>
          <a:solidFill>
            <a:srgbClr val="FFFFFF"/>
          </a:solidFill>
          <a:ln/>
        </p:spPr>
        <p:txBody>
          <a:bodyPr/>
          <a:p/>
        </p:txBody>
      </p:sp>
      <p:sp>
        <p:nvSpPr>
          <p:cNvPr id="2651" name="" descr="{&quot;isTemplate&quot;:true,&quot;type&quot;:&quot;text&quot;}"/>
          <p:cNvSpPr txBox="1"/>
          <p:nvPr/>
        </p:nvSpPr>
        <p:spPr>
          <a:xfrm rot="0" flipH="0" flipV="0">
            <a:off x="666750" y="381000"/>
            <a:ext cx="24384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08 / </a:t>
            </a:r>
            <a:r>
              <a:rPr lang="zh-CN" sz="1050" spc="75">
                <a:solidFill>
                  <a:srgbClr val="7A8699"/>
                </a:solidFill>
                <a:latin typeface="Microsoft YaHei"/>
                <a:ea typeface="Microsoft YaHei"/>
              </a:rPr>
              <a:t>教学协同</a:t>
            </a:r>
            <a:r>
              <a:rPr lang="en-US" sz="1050" spc="75">
                <a:solidFill>
                  <a:srgbClr val="7A8699"/>
                </a:solidFill>
                <a:latin typeface="Microsoft YaHei"/>
                <a:ea typeface="Microsoft YaHei"/>
              </a:rPr>
              <a:t xml:space="preserve"> Agent</a:t>
            </a:r>
            <a:endParaRPr/>
          </a:p>
        </p:txBody>
      </p:sp>
      <p:sp>
        <p:nvSpPr>
          <p:cNvPr id="2652" name="" descr="{&quot;isTemplate&quot;:true,&quot;type&quot;:&quot;text&quot;}"/>
          <p:cNvSpPr txBox="1"/>
          <p:nvPr/>
        </p:nvSpPr>
        <p:spPr>
          <a:xfrm rot="0" flipH="0" flipV="0">
            <a:off x="666750" y="666750"/>
            <a:ext cx="2438400" cy="476250"/>
          </a:xfrm>
          <a:prstGeom prst="rect"/>
        </p:spPr>
        <p:txBody>
          <a:bodyPr wrap="none" lIns="0" tIns="0" rIns="0" bIns="0"/>
          <a:p>
            <a:pPr>
              <a:lnSpc>
                <a:spcPct val="130000"/>
              </a:lnSpc>
            </a:pPr>
            <a:r>
              <a:rPr lang="zh-CN" sz="2400" b="1">
                <a:solidFill>
                  <a:srgbClr val="0E2340"/>
                </a:solidFill>
                <a:latin typeface="Microsoft YaHei"/>
                <a:ea typeface="Microsoft YaHei"/>
              </a:rPr>
              <a:t>七步基本工作循环</a:t>
            </a:r>
            <a:endParaRPr/>
          </a:p>
        </p:txBody>
      </p:sp>
      <p:sp>
        <p:nvSpPr>
          <p:cNvPr id="2653"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654"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2655" name=""/>
          <p:cNvPicPr>
            <a:picLocks noChangeAspect="1"/>
          </p:cNvPicPr>
          <p:nvPr/>
        </p:nvPicPr>
        <p:blipFill>
          <a:blip>
            <a:extLst>
              <a:ext uri="{96DAC541-7B7A-43D3-8B79-37D633B846F1}">
                <asvg:svgBlip r:embed="rId1"/>
              </a:ext>
            </a:extLst>
          </a:blip>
          <a:stretch>
            <a:fillRect/>
          </a:stretch>
        </p:blipFill>
        <p:spPr>
          <a:xfrm rot="0" flipH="0" flipV="0">
            <a:off x="666750" y="2143125"/>
            <a:ext cx="10858500" cy="2190750"/>
          </a:xfrm>
          <a:prstGeom prst="rect">
            <a:avLst/>
          </a:prstGeom>
          <a:ln/>
        </p:spPr>
      </p:pic>
      <p:sp>
        <p:nvSpPr>
          <p:cNvPr id="2656" name=""/>
          <p:cNvSpPr/>
          <p:nvPr/>
        </p:nvSpPr>
        <p:spPr>
          <a:xfrm rot="0" flipH="0" flipV="0">
            <a:off x="704850" y="4429125"/>
            <a:ext cx="10858500" cy="857250"/>
          </a:xfrm>
          <a:prstGeom prst="roundRect">
            <a:avLst>
              <a:gd name="adj" fmla="val 6667"/>
            </a:avLst>
          </a:prstGeom>
          <a:solidFill>
            <a:srgbClr val="F5F7FA"/>
          </a:solidFill>
          <a:ln/>
        </p:spPr>
        <p:txBody>
          <a:bodyPr/>
          <a:p/>
        </p:txBody>
      </p:sp>
      <p:sp>
        <p:nvSpPr>
          <p:cNvPr id="2657" name=""/>
          <p:cNvSpPr/>
          <p:nvPr/>
        </p:nvSpPr>
        <p:spPr>
          <a:xfrm rot="0" flipH="0" flipV="0">
            <a:off x="704850" y="4429125"/>
            <a:ext cx="10858500" cy="857250"/>
          </a:xfrm>
          <a:custGeom>
            <a:pathLst>
              <a:path w="1140" h="90">
                <a:moveTo>
                  <a:pt x="6" y="0"/>
                </a:moveTo>
                <a:cubicBezTo>
                  <a:pt x="5" y="0"/>
                  <a:pt x="4" y="1"/>
                  <a:pt x="4" y="2"/>
                </a:cubicBezTo>
                <a:lnTo>
                  <a:pt x="4" y="88"/>
                </a:lnTo>
                <a:cubicBezTo>
                  <a:pt x="4" y="89"/>
                  <a:pt x="5" y="90"/>
                  <a:pt x="6" y="90"/>
                </a:cubicBezTo>
                <a:cubicBezTo>
                  <a:pt x="3" y="90"/>
                  <a:pt x="0" y="87"/>
                  <a:pt x="0" y="84"/>
                </a:cubicBezTo>
                <a:lnTo>
                  <a:pt x="0" y="6"/>
                </a:lnTo>
                <a:cubicBezTo>
                  <a:pt x="0" y="3"/>
                  <a:pt x="3" y="0"/>
                  <a:pt x="6" y="0"/>
                </a:cubicBezTo>
                <a:close/>
              </a:path>
            </a:pathLst>
          </a:custGeom>
          <a:solidFill>
            <a:srgbClr val="0E2340"/>
          </a:solidFill>
          <a:ln/>
        </p:spPr>
        <p:txBody>
          <a:bodyPr/>
          <a:p/>
        </p:txBody>
      </p:sp>
      <p:sp>
        <p:nvSpPr>
          <p:cNvPr id="2658" name="" descr="{&quot;isTemplate&quot;:true,&quot;type&quot;:&quot;text&quot;}"/>
          <p:cNvSpPr txBox="1"/>
          <p:nvPr/>
        </p:nvSpPr>
        <p:spPr>
          <a:xfrm rot="0" flipH="0" flipV="0">
            <a:off x="895350" y="4562475"/>
            <a:ext cx="10439400" cy="590550"/>
          </a:xfrm>
          <a:prstGeom prst="rect"/>
        </p:spPr>
        <p:txBody>
          <a:bodyPr wrap="square" lIns="0" tIns="0" rIns="0" bIns="0">
            <a:normAutofit/>
          </a:bodyPr>
          <a:p>
            <a:pPr>
              <a:lnSpc>
                <a:spcPct val="150000"/>
              </a:lnSpc>
            </a:pPr>
            <a:r>
              <a:rPr lang="zh-CN" sz="1275" b="1">
                <a:solidFill>
                  <a:srgbClr val="0E2340"/>
                </a:solidFill>
                <a:latin typeface="Microsoft YaHei"/>
                <a:ea typeface="Microsoft YaHei"/>
              </a:rPr>
              <a:t>完成判定：任务完成以业务结果为依据；工具调用失败</a:t>
            </a:r>
            <a:r>
              <a:rPr lang="en-US" sz="1275" b="1">
                <a:solidFill>
                  <a:srgbClr val="0E2340"/>
                </a:solidFill>
                <a:latin typeface="Microsoft YaHei"/>
                <a:ea typeface="Microsoft YaHei"/>
              </a:rPr>
              <a:t xml:space="preserve"> / </a:t>
            </a:r>
            <a:r>
              <a:rPr lang="zh-CN" sz="1275" b="1">
                <a:solidFill>
                  <a:srgbClr val="0E2340"/>
                </a:solidFill>
                <a:latin typeface="Microsoft YaHei"/>
                <a:ea typeface="Microsoft YaHei"/>
              </a:rPr>
              <a:t>生成中</a:t>
            </a:r>
            <a:r>
              <a:rPr lang="en-US" sz="1275" b="1">
                <a:solidFill>
                  <a:srgbClr val="0E2340"/>
                </a:solidFill>
                <a:latin typeface="Microsoft YaHei"/>
                <a:ea typeface="Microsoft YaHei"/>
              </a:rPr>
              <a:t xml:space="preserve"> / </a:t>
            </a:r>
            <a:r>
              <a:rPr lang="zh-CN" sz="1275" b="1">
                <a:solidFill>
                  <a:srgbClr val="0E2340"/>
                </a:solidFill>
                <a:latin typeface="Microsoft YaHei"/>
                <a:ea typeface="Microsoft YaHei"/>
              </a:rPr>
              <a:t>保存未成功时明确当前状态并保留恢复入口，不将已写出的自然语言承诺视为已经执行</a:t>
            </a:r>
            <a:endParaRPr/>
          </a:p>
        </p:txBody>
      </p:sp>
      <p:sp>
        <p:nvSpPr>
          <p:cNvPr id="2659"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660" name="" descr="{&quot;isTemplate&quot;:true,&quot;type&quot;:&quot;text&quot;}"/>
          <p:cNvSpPr txBox="1"/>
          <p:nvPr/>
        </p:nvSpPr>
        <p:spPr>
          <a:xfrm rot="0" flipH="0" flipV="0">
            <a:off x="666750" y="6381750"/>
            <a:ext cx="1819275" cy="209550"/>
          </a:xfrm>
          <a:prstGeom prst="rect"/>
        </p:spPr>
        <p:txBody>
          <a:bodyPr wrap="none" lIns="0" tIns="0" rIns="0" bIns="0"/>
          <a:p>
            <a:pPr>
              <a:lnSpc>
                <a:spcPct val="140000"/>
              </a:lnSpc>
            </a:pPr>
            <a:r>
              <a:rPr lang="zh-CN" sz="975">
                <a:solidFill>
                  <a:srgbClr val="7A8699"/>
                </a:solidFill>
                <a:latin typeface="Microsoft YaHei"/>
                <a:ea typeface="Microsoft YaHei"/>
              </a:rPr>
              <a:t>依据：教学协同</a:t>
            </a:r>
            <a:r>
              <a:rPr lang="en-US" sz="975">
                <a:solidFill>
                  <a:srgbClr val="7A8699"/>
                </a:solidFill>
                <a:latin typeface="Microsoft YaHei"/>
                <a:ea typeface="Microsoft YaHei"/>
              </a:rPr>
              <a:t>Agent</a:t>
            </a:r>
            <a:r>
              <a:rPr lang="zh-CN" sz="975">
                <a:solidFill>
                  <a:srgbClr val="7A8699"/>
                </a:solidFill>
                <a:latin typeface="Microsoft YaHei"/>
                <a:ea typeface="Microsoft YaHei"/>
              </a:rPr>
              <a:t>设计</a:t>
            </a:r>
            <a:r>
              <a:rPr lang="en-US" sz="975">
                <a:solidFill>
                  <a:srgbClr val="7A8699"/>
                </a:solidFill>
                <a:latin typeface="Microsoft YaHei"/>
                <a:ea typeface="Microsoft YaHei"/>
              </a:rPr>
              <a:t>.md §3</a:t>
            </a:r>
            <a:endParaRPr/>
          </a:p>
        </p:txBody>
      </p:sp>
      <p:sp>
        <p:nvSpPr>
          <p:cNvPr id="2661"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79 / 124 </a:t>
            </a:r>
            <a:endParaRPr/>
          </a:p>
        </p:txBody>
      </p:sp>
    </p:spTree>
  </p:cSld>
</p:sld>
</file>

<file path=ppt/slides/slide80.xml><?xml version="1.0" encoding="utf-8"?>
<p:sld xmlns:p="http://schemas.openxmlformats.org/presentationml/2006/main" xmlns:a="http://schemas.openxmlformats.org/drawingml/2006/main">
  <p:cSld>
    <p:spTree>
      <p:nvGrpSpPr>
        <p:cNvPr id="2681"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8 / 教学协同 Agent&lt;/Text&gt;&lt;Text style={{ fontSize: 32, color: '#0E2340', fontWeight: 700, lineHeight: 1.3 }}&gt;可靠性三原则&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8 }}&gt;&lt;Box style={{ flexDirection: 'row', gap: 20, flex: 1 }}&gt;&lt;Box style={{ width: 366,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先查系统&lt;/Text&gt;&lt;Text style={{ fontSize: 18, color: '#333A45', fontWeight: 400, lineHeight: 1.6 }}&gt;能从授权系统查询时先查系统；资料不足时只询问影响任务的必要信息。&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不臆断错因&lt;/Text&gt;&lt;Text style={{ fontSize: 18, color: '#333A45', fontWeight: 400, lineHeight: 1.6 }}&gt;用户询问原因时先给出可核对观察；原因有多种解释时安排诊断或保留未知，不能为完成回答而确定一个未经证实的错因。&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4, color: '#0E2340', fontWeight: 600, lineHeight: 1.4 }}&gt;以业务结果为准&lt;/Text&gt;&lt;Text style={{ fontSize: 18, color: '#333A45', fontWeight: 400, lineHeight: 1.6 }}&gt;任务完成以实际执行结果为依据，不用聊天流畅度或工具调用次数代替教学效果。&lt;/Text&gt;&lt;/Box&gt;&lt;/Box&gt;&lt;/Box&gt;&lt;Box style={{ flexDirection: 'row', alignItems: 'center', background: '#F5F7FA', borderLeft: '4px solid #00A9B5', borderRadius: 6, padding: '14px 20px' }}&gt;&lt;Text style={{ fontSize: 17, color: '#0E2340', fontWeight: 600, lineHeight: 1.5 }}&gt;信息获取、归因纪律与完成判定，是协同 Agent 区别于普通聊天助手的三条底线&lt;/Text&gt;&lt;/Box&gt;&lt;/Box&gt;&lt;/Box&gt;&lt;Box style={{ height: 40, flexDirection: 'row', justifyContent: 'space-between', alignItems: 'center', borderTop: '1px solid #E3E8EF', marginTop: 8 }}&gt;&lt;Text style={{ fontSize: 13, color: '#7A8699', fontWeight: 400, lineHeight: 1.4 }}&gt;依据：教学协同Agent设计.md §3&lt;/Text&gt;&lt;Text style={{ fontSize: 14, color: '#7A8699', fontWeight: 400, lineHeight: 1.4 }}&gt; 80 / 124 &lt;/Text&gt;&lt;/Box&gt;&lt;/Slide&gt;"/>
        <p:cNvGrpSpPr/>
        <p:nvPr/>
      </p:nvGrpSpPr>
      <p:grpSpPr>
        <a:xfrm>
          <a:off x="0" y="0"/>
          <a:ext cx="0" cy="0"/>
          <a:chOff x="0" y="0"/>
          <a:chExt cx="0" cy="0"/>
        </a:xfrm>
      </p:grpSpPr>
      <p:sp>
        <p:nvSpPr>
          <p:cNvPr id="2682" name=""/>
          <p:cNvSpPr/>
          <p:nvPr/>
        </p:nvSpPr>
        <p:spPr>
          <a:xfrm rot="0" flipH="0" flipV="0">
            <a:off x="0" y="0"/>
            <a:ext cx="12192000" cy="6858000"/>
          </a:xfrm>
          <a:prstGeom prst="rect">
            <a:avLst/>
          </a:prstGeom>
          <a:solidFill>
            <a:srgbClr val="FFFFFF"/>
          </a:solidFill>
          <a:ln/>
        </p:spPr>
        <p:txBody>
          <a:bodyPr/>
          <a:p/>
        </p:txBody>
      </p:sp>
      <p:sp>
        <p:nvSpPr>
          <p:cNvPr id="2683" name="" descr="{&quot;isTemplate&quot;:true,&quot;type&quot;:&quot;text&quot;}"/>
          <p:cNvSpPr txBox="1"/>
          <p:nvPr/>
        </p:nvSpPr>
        <p:spPr>
          <a:xfrm rot="0" flipH="0" flipV="0">
            <a:off x="666750" y="381000"/>
            <a:ext cx="1828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08 / </a:t>
            </a:r>
            <a:r>
              <a:rPr lang="zh-CN" sz="1050" spc="75">
                <a:solidFill>
                  <a:srgbClr val="7A8699"/>
                </a:solidFill>
                <a:latin typeface="Microsoft YaHei"/>
                <a:ea typeface="Microsoft YaHei"/>
              </a:rPr>
              <a:t>教学协同</a:t>
            </a:r>
            <a:r>
              <a:rPr lang="en-US" sz="1050" spc="75">
                <a:solidFill>
                  <a:srgbClr val="7A8699"/>
                </a:solidFill>
                <a:latin typeface="Microsoft YaHei"/>
                <a:ea typeface="Microsoft YaHei"/>
              </a:rPr>
              <a:t xml:space="preserve"> Agent</a:t>
            </a:r>
            <a:endParaRPr/>
          </a:p>
        </p:txBody>
      </p:sp>
      <p:sp>
        <p:nvSpPr>
          <p:cNvPr id="2684" name="" descr="{&quot;isTemplate&quot;:true,&quot;type&quot;:&quot;text&quot;}"/>
          <p:cNvSpPr txBox="1"/>
          <p:nvPr/>
        </p:nvSpPr>
        <p:spPr>
          <a:xfrm rot="0" flipH="0" flipV="0">
            <a:off x="666750" y="666750"/>
            <a:ext cx="1828800" cy="476250"/>
          </a:xfrm>
          <a:prstGeom prst="rect"/>
        </p:spPr>
        <p:txBody>
          <a:bodyPr wrap="none" lIns="0" tIns="0" rIns="0" bIns="0"/>
          <a:p>
            <a:pPr>
              <a:lnSpc>
                <a:spcPct val="130000"/>
              </a:lnSpc>
            </a:pPr>
            <a:r>
              <a:rPr lang="zh-CN" sz="2400" b="1">
                <a:solidFill>
                  <a:srgbClr val="0E2340"/>
                </a:solidFill>
                <a:latin typeface="Microsoft YaHei"/>
                <a:ea typeface="Microsoft YaHei"/>
              </a:rPr>
              <a:t>可靠性三原则</a:t>
            </a:r>
            <a:endParaRPr/>
          </a:p>
        </p:txBody>
      </p:sp>
      <p:sp>
        <p:nvSpPr>
          <p:cNvPr id="2685"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686"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2687" name=""/>
          <p:cNvSpPr/>
          <p:nvPr/>
        </p:nvSpPr>
        <p:spPr>
          <a:xfrm rot="0" flipH="0" flipV="0">
            <a:off x="666750" y="1219200"/>
            <a:ext cx="3486150" cy="4257675"/>
          </a:xfrm>
          <a:prstGeom prst="roundRect">
            <a:avLst>
              <a:gd name="adj" fmla="val 2186"/>
            </a:avLst>
          </a:prstGeom>
          <a:solidFill>
            <a:srgbClr val="FFFFFF"/>
          </a:solidFill>
          <a:ln w="12700">
            <a:solidFill>
              <a:srgbClr val="E3E8EF"/>
            </a:solidFill>
            <a:prstDash val="solid"/>
          </a:ln>
        </p:spPr>
        <p:txBody>
          <a:bodyPr/>
          <a:p/>
        </p:txBody>
      </p:sp>
      <p:sp>
        <p:nvSpPr>
          <p:cNvPr id="2688" name=""/>
          <p:cNvSpPr/>
          <p:nvPr/>
        </p:nvSpPr>
        <p:spPr>
          <a:xfrm rot="0" flipH="0" flipV="0">
            <a:off x="666750" y="12192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2689" name="" descr="{&quot;isTemplate&quot;:true,&quot;type&quot;:&quot;text&quot;}"/>
          <p:cNvSpPr txBox="1"/>
          <p:nvPr/>
        </p:nvSpPr>
        <p:spPr>
          <a:xfrm rot="0" flipH="0" flipV="0">
            <a:off x="857250" y="1447800"/>
            <a:ext cx="3105150" cy="390525"/>
          </a:xfrm>
          <a:prstGeom prst="rect"/>
        </p:spPr>
        <p:txBody>
          <a:bodyPr wrap="none" lIns="0" tIns="0" rIns="0" bIns="0"/>
          <a:p>
            <a:pPr>
              <a:lnSpc>
                <a:spcPct val="140000"/>
              </a:lnSpc>
            </a:pPr>
            <a:r>
              <a:rPr lang="zh-CN" sz="1800" b="1">
                <a:solidFill>
                  <a:srgbClr val="0E2340"/>
                </a:solidFill>
                <a:latin typeface="Microsoft YaHei"/>
                <a:ea typeface="Microsoft YaHei"/>
              </a:rPr>
              <a:t>先查系统</a:t>
            </a:r>
            <a:endParaRPr/>
          </a:p>
        </p:txBody>
      </p:sp>
      <p:sp>
        <p:nvSpPr>
          <p:cNvPr id="2690" name="" descr="{&quot;isTemplate&quot;:true,&quot;type&quot;:&quot;text&quot;}"/>
          <p:cNvSpPr txBox="1"/>
          <p:nvPr/>
        </p:nvSpPr>
        <p:spPr>
          <a:xfrm rot="0" flipH="0" flipV="0">
            <a:off x="857250" y="1933575"/>
            <a:ext cx="3105150" cy="666750"/>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能从授权系统查询时先查系统；资料不足时只询问影响任务的必要信息。</a:t>
            </a:r>
            <a:endParaRPr/>
          </a:p>
        </p:txBody>
      </p:sp>
      <p:sp>
        <p:nvSpPr>
          <p:cNvPr id="2691" name=""/>
          <p:cNvSpPr/>
          <p:nvPr/>
        </p:nvSpPr>
        <p:spPr>
          <a:xfrm rot="0" flipH="0" flipV="0">
            <a:off x="4343400" y="1219200"/>
            <a:ext cx="3486150" cy="4257675"/>
          </a:xfrm>
          <a:prstGeom prst="roundRect">
            <a:avLst>
              <a:gd name="adj" fmla="val 2186"/>
            </a:avLst>
          </a:prstGeom>
          <a:solidFill>
            <a:srgbClr val="FFFFFF"/>
          </a:solidFill>
          <a:ln w="12700">
            <a:solidFill>
              <a:srgbClr val="E3E8EF"/>
            </a:solidFill>
            <a:prstDash val="solid"/>
          </a:ln>
        </p:spPr>
        <p:txBody>
          <a:bodyPr/>
          <a:p/>
        </p:txBody>
      </p:sp>
      <p:sp>
        <p:nvSpPr>
          <p:cNvPr id="2692" name=""/>
          <p:cNvSpPr/>
          <p:nvPr/>
        </p:nvSpPr>
        <p:spPr>
          <a:xfrm rot="0" flipH="0" flipV="0">
            <a:off x="4343400" y="12192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2693" name="" descr="{&quot;isTemplate&quot;:true,&quot;type&quot;:&quot;text&quot;}"/>
          <p:cNvSpPr txBox="1"/>
          <p:nvPr/>
        </p:nvSpPr>
        <p:spPr>
          <a:xfrm rot="0" flipH="0" flipV="0">
            <a:off x="4533900" y="1447800"/>
            <a:ext cx="3105150" cy="390525"/>
          </a:xfrm>
          <a:prstGeom prst="rect"/>
        </p:spPr>
        <p:txBody>
          <a:bodyPr wrap="none" lIns="0" tIns="0" rIns="0" bIns="0"/>
          <a:p>
            <a:pPr>
              <a:lnSpc>
                <a:spcPct val="140000"/>
              </a:lnSpc>
            </a:pPr>
            <a:r>
              <a:rPr lang="zh-CN" sz="1800" b="1">
                <a:solidFill>
                  <a:srgbClr val="0E2340"/>
                </a:solidFill>
                <a:latin typeface="Microsoft YaHei"/>
                <a:ea typeface="Microsoft YaHei"/>
              </a:rPr>
              <a:t>不臆断错因</a:t>
            </a:r>
            <a:endParaRPr/>
          </a:p>
        </p:txBody>
      </p:sp>
      <p:sp>
        <p:nvSpPr>
          <p:cNvPr id="2694" name="" descr="{&quot;isTemplate&quot;:true,&quot;type&quot;:&quot;text&quot;}"/>
          <p:cNvSpPr txBox="1"/>
          <p:nvPr/>
        </p:nvSpPr>
        <p:spPr>
          <a:xfrm rot="0" flipH="0" flipV="0">
            <a:off x="4533900" y="1933575"/>
            <a:ext cx="3105150" cy="990600"/>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用户询问原因时先给出可核对观察；原因有多种解释时安排诊断或保留未知，不能为完成回答而确定一个未经证实的错因。</a:t>
            </a:r>
            <a:endParaRPr/>
          </a:p>
        </p:txBody>
      </p:sp>
      <p:sp>
        <p:nvSpPr>
          <p:cNvPr id="2695" name=""/>
          <p:cNvSpPr/>
          <p:nvPr/>
        </p:nvSpPr>
        <p:spPr>
          <a:xfrm rot="0" flipH="0" flipV="0">
            <a:off x="8020050" y="1219200"/>
            <a:ext cx="3486150" cy="4257675"/>
          </a:xfrm>
          <a:prstGeom prst="roundRect">
            <a:avLst>
              <a:gd name="adj" fmla="val 2186"/>
            </a:avLst>
          </a:prstGeom>
          <a:solidFill>
            <a:srgbClr val="FFFFFF"/>
          </a:solidFill>
          <a:ln w="12700">
            <a:solidFill>
              <a:srgbClr val="E3E8EF"/>
            </a:solidFill>
            <a:prstDash val="solid"/>
          </a:ln>
        </p:spPr>
        <p:txBody>
          <a:bodyPr/>
          <a:p/>
        </p:txBody>
      </p:sp>
      <p:sp>
        <p:nvSpPr>
          <p:cNvPr id="2696" name=""/>
          <p:cNvSpPr/>
          <p:nvPr/>
        </p:nvSpPr>
        <p:spPr>
          <a:xfrm rot="0" flipH="0" flipV="0">
            <a:off x="8020050" y="12192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2697" name="" descr="{&quot;isTemplate&quot;:true,&quot;type&quot;:&quot;text&quot;}"/>
          <p:cNvSpPr txBox="1"/>
          <p:nvPr/>
        </p:nvSpPr>
        <p:spPr>
          <a:xfrm rot="0" flipH="0" flipV="0">
            <a:off x="8210550" y="1447800"/>
            <a:ext cx="3105150" cy="390525"/>
          </a:xfrm>
          <a:prstGeom prst="rect"/>
        </p:spPr>
        <p:txBody>
          <a:bodyPr wrap="none" lIns="0" tIns="0" rIns="0" bIns="0"/>
          <a:p>
            <a:pPr>
              <a:lnSpc>
                <a:spcPct val="140000"/>
              </a:lnSpc>
            </a:pPr>
            <a:r>
              <a:rPr lang="zh-CN" sz="1800" b="1">
                <a:solidFill>
                  <a:srgbClr val="0E2340"/>
                </a:solidFill>
                <a:latin typeface="Microsoft YaHei"/>
                <a:ea typeface="Microsoft YaHei"/>
              </a:rPr>
              <a:t>以业务结果为准</a:t>
            </a:r>
            <a:endParaRPr/>
          </a:p>
        </p:txBody>
      </p:sp>
      <p:sp>
        <p:nvSpPr>
          <p:cNvPr id="2698" name="" descr="{&quot;isTemplate&quot;:true,&quot;type&quot;:&quot;text&quot;}"/>
          <p:cNvSpPr txBox="1"/>
          <p:nvPr/>
        </p:nvSpPr>
        <p:spPr>
          <a:xfrm rot="0" flipH="0" flipV="0">
            <a:off x="8210550" y="1933575"/>
            <a:ext cx="3105150" cy="666750"/>
          </a:xfrm>
          <a:prstGeom prst="rect"/>
        </p:spPr>
        <p:txBody>
          <a:bodyPr wrap="square" lIns="0" tIns="0" rIns="0" bIns="0">
            <a:normAutofit/>
          </a:bodyPr>
          <a:p>
            <a:pPr>
              <a:lnSpc>
                <a:spcPct val="160000"/>
              </a:lnSpc>
            </a:pPr>
            <a:r>
              <a:rPr lang="zh-CN" sz="1350">
                <a:solidFill>
                  <a:srgbClr val="333A45"/>
                </a:solidFill>
                <a:latin typeface="Microsoft YaHei"/>
                <a:ea typeface="Microsoft YaHei"/>
              </a:rPr>
              <a:t>任务完成以实际执行结果为依据，不用聊天流畅度或工具调用次数代替教学效果。</a:t>
            </a:r>
            <a:endParaRPr/>
          </a:p>
        </p:txBody>
      </p:sp>
      <p:sp>
        <p:nvSpPr>
          <p:cNvPr id="2699" name=""/>
          <p:cNvSpPr/>
          <p:nvPr/>
        </p:nvSpPr>
        <p:spPr>
          <a:xfrm rot="0" flipH="0" flipV="0">
            <a:off x="704850" y="5648325"/>
            <a:ext cx="10858500" cy="561975"/>
          </a:xfrm>
          <a:prstGeom prst="roundRect">
            <a:avLst>
              <a:gd name="adj" fmla="val 10169"/>
            </a:avLst>
          </a:prstGeom>
          <a:solidFill>
            <a:srgbClr val="F5F7FA"/>
          </a:solidFill>
          <a:ln/>
        </p:spPr>
        <p:txBody>
          <a:bodyPr/>
          <a:p/>
        </p:txBody>
      </p:sp>
      <p:sp>
        <p:nvSpPr>
          <p:cNvPr id="2700" name=""/>
          <p:cNvSpPr/>
          <p:nvPr/>
        </p:nvSpPr>
        <p:spPr>
          <a:xfrm rot="0" flipH="0" flipV="0">
            <a:off x="704850" y="5648325"/>
            <a:ext cx="10858500" cy="561975"/>
          </a:xfrm>
          <a:custGeom>
            <a:pathLst>
              <a:path w="1140" h="59">
                <a:moveTo>
                  <a:pt x="6" y="0"/>
                </a:moveTo>
                <a:cubicBezTo>
                  <a:pt x="5" y="0"/>
                  <a:pt x="4" y="1"/>
                  <a:pt x="4" y="2"/>
                </a:cubicBezTo>
                <a:lnTo>
                  <a:pt x="4" y="57"/>
                </a:lnTo>
                <a:cubicBezTo>
                  <a:pt x="4" y="58"/>
                  <a:pt x="5" y="59"/>
                  <a:pt x="6" y="59"/>
                </a:cubicBezTo>
                <a:cubicBezTo>
                  <a:pt x="3" y="59"/>
                  <a:pt x="0" y="56"/>
                  <a:pt x="0" y="53"/>
                </a:cubicBezTo>
                <a:lnTo>
                  <a:pt x="0" y="6"/>
                </a:lnTo>
                <a:cubicBezTo>
                  <a:pt x="0" y="3"/>
                  <a:pt x="3" y="0"/>
                  <a:pt x="6" y="0"/>
                </a:cubicBezTo>
                <a:close/>
              </a:path>
            </a:pathLst>
          </a:custGeom>
          <a:solidFill>
            <a:srgbClr val="00A9B5"/>
          </a:solidFill>
          <a:ln/>
        </p:spPr>
        <p:txBody>
          <a:bodyPr/>
          <a:p/>
        </p:txBody>
      </p:sp>
      <p:sp>
        <p:nvSpPr>
          <p:cNvPr id="2701" name="" descr="{&quot;isTemplate&quot;:true,&quot;type&quot;:&quot;text&quot;}"/>
          <p:cNvSpPr txBox="1"/>
          <p:nvPr/>
        </p:nvSpPr>
        <p:spPr>
          <a:xfrm rot="0" flipH="0" flipV="0">
            <a:off x="895350" y="5781675"/>
            <a:ext cx="5734050" cy="295275"/>
          </a:xfrm>
          <a:prstGeom prst="rect"/>
        </p:spPr>
        <p:txBody>
          <a:bodyPr wrap="none" lIns="0" tIns="0" rIns="0" bIns="0"/>
          <a:p>
            <a:pPr>
              <a:lnSpc>
                <a:spcPct val="150000"/>
              </a:lnSpc>
            </a:pPr>
            <a:r>
              <a:rPr lang="zh-CN" sz="1275" b="1">
                <a:solidFill>
                  <a:srgbClr val="0E2340"/>
                </a:solidFill>
                <a:latin typeface="Microsoft YaHei"/>
                <a:ea typeface="Microsoft YaHei"/>
              </a:rPr>
              <a:t>信息获取、归因纪律与完成判定，是协同</a:t>
            </a:r>
            <a:r>
              <a:rPr lang="en-US" sz="1275" b="1">
                <a:solidFill>
                  <a:srgbClr val="0E2340"/>
                </a:solidFill>
                <a:latin typeface="Microsoft YaHei"/>
                <a:ea typeface="Microsoft YaHei"/>
              </a:rPr>
              <a:t xml:space="preserve"> Agent </a:t>
            </a:r>
            <a:r>
              <a:rPr lang="zh-CN" sz="1275" b="1">
                <a:solidFill>
                  <a:srgbClr val="0E2340"/>
                </a:solidFill>
                <a:latin typeface="Microsoft YaHei"/>
                <a:ea typeface="Microsoft YaHei"/>
              </a:rPr>
              <a:t>区别于普通聊天助手的三条底线</a:t>
            </a:r>
            <a:endParaRPr/>
          </a:p>
        </p:txBody>
      </p:sp>
      <p:sp>
        <p:nvSpPr>
          <p:cNvPr id="2702"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703" name="" descr="{&quot;isTemplate&quot;:true,&quot;type&quot;:&quot;text&quot;}"/>
          <p:cNvSpPr txBox="1"/>
          <p:nvPr/>
        </p:nvSpPr>
        <p:spPr>
          <a:xfrm rot="0" flipH="0" flipV="0">
            <a:off x="666750" y="6381750"/>
            <a:ext cx="1819275" cy="209550"/>
          </a:xfrm>
          <a:prstGeom prst="rect"/>
        </p:spPr>
        <p:txBody>
          <a:bodyPr wrap="none" lIns="0" tIns="0" rIns="0" bIns="0"/>
          <a:p>
            <a:pPr>
              <a:lnSpc>
                <a:spcPct val="140000"/>
              </a:lnSpc>
            </a:pPr>
            <a:r>
              <a:rPr lang="zh-CN" sz="975">
                <a:solidFill>
                  <a:srgbClr val="7A8699"/>
                </a:solidFill>
                <a:latin typeface="Microsoft YaHei"/>
                <a:ea typeface="Microsoft YaHei"/>
              </a:rPr>
              <a:t>依据：教学协同</a:t>
            </a:r>
            <a:r>
              <a:rPr lang="en-US" sz="975">
                <a:solidFill>
                  <a:srgbClr val="7A8699"/>
                </a:solidFill>
                <a:latin typeface="Microsoft YaHei"/>
                <a:ea typeface="Microsoft YaHei"/>
              </a:rPr>
              <a:t>Agent</a:t>
            </a:r>
            <a:r>
              <a:rPr lang="zh-CN" sz="975">
                <a:solidFill>
                  <a:srgbClr val="7A8699"/>
                </a:solidFill>
                <a:latin typeface="Microsoft YaHei"/>
                <a:ea typeface="Microsoft YaHei"/>
              </a:rPr>
              <a:t>设计</a:t>
            </a:r>
            <a:r>
              <a:rPr lang="en-US" sz="975">
                <a:solidFill>
                  <a:srgbClr val="7A8699"/>
                </a:solidFill>
                <a:latin typeface="Microsoft YaHei"/>
                <a:ea typeface="Microsoft YaHei"/>
              </a:rPr>
              <a:t>.md §3</a:t>
            </a:r>
            <a:endParaRPr/>
          </a:p>
        </p:txBody>
      </p:sp>
      <p:sp>
        <p:nvSpPr>
          <p:cNvPr id="2704"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80 / 124 </a:t>
            </a:r>
            <a:endParaRPr/>
          </a:p>
        </p:txBody>
      </p:sp>
    </p:spTree>
  </p:cSld>
</p:sld>
</file>

<file path=ppt/slides/slide81.xml><?xml version="1.0" encoding="utf-8"?>
<p:sld xmlns:p="http://schemas.openxmlformats.org/presentationml/2006/main" xmlns:a="http://schemas.openxmlformats.org/drawingml/2006/main">
  <p:cSld>
    <p:spTree>
      <p:nvGrpSpPr>
        <p:cNvPr id="2705"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8 / 教学协同 Agent&lt;/Text&gt;&lt;Text style={{ fontSize: 32, color: '#0E2340', fontWeight: 700, lineHeight: 1.3 }}&gt;学生工作流：诊断解释与任务安排&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6 }}&gt;&lt;Box style={{ flexDirection: 'row', gap: 20, flex: 1 }}&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方法识别&lt;/Text&gt;&lt;Text style={{ fontSize: 17, color: '#333A45', fontWeight: 400, lineHeight: 1.6 }}&gt;不知道该用哪个套路&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知识条件&lt;/Text&gt;&lt;Text style={{ fontSize: 17, color: '#333A45', fontWeight: 400, lineHeight: 1.6 }}&gt;概念或适用条件不清楚&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局部步骤&lt;/Text&gt;&lt;Text style={{ fontSize: 17, color: '#333A45', fontWeight: 400, lineHeight: 1.6 }}&gt;某一步反复做错&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执行问题&lt;/Text&gt;&lt;Text style={{ fontSize: 17, color: '#333A45', fontWeight: 400, lineHeight: 1.6 }}&gt;方法对但运算出错&lt;/Text&gt;&lt;/Box&gt;&lt;/Box&gt;&lt;/Box&gt;&lt;Box style={{ flexDirection: 'row', alignItems: 'center', background: '#F5F7FA', borderLeft: '4px solid #1E7BE0', borderRadius: 6, padding: '14px 20px' }}&gt;&lt;Text style={{ fontSize: 16, color: '#0E2340', fontWeight: 600, lineHeight: 1.5 }}&gt;回答“今天学什么”时综合：课时、必做作业、套路顺序、知识准备、到期复查、个人时间预算——避免各模块分别追加任务。任务结束后区分五种完成状态：独立完成 / 提示后完成 / 看过答案 / 跳过 / 仍待核实&lt;/Text&gt;&lt;/Box&gt;&lt;Box style={{ flexDirection: 'row', alignItems: 'center', background: '#F5F7FA', borderLeft: '4px solid #98A2B3', borderRadius: 6, padding: '14px 20px' }}&gt;&lt;Text style={{ fontSize: 16, color: '#0E2340', fontWeight: 600, lineHeight: 1.5 }}&gt;提示渐退和探究任务在研究完成前不作为稳定能力承诺；不把教学过程中的顺利完成直接写成长期掌握&lt;/Text&gt;&lt;/Box&gt;&lt;/Box&gt;&lt;/Box&gt;&lt;Box style={{ height: 40, flexDirection: 'row', justifyContent: 'space-between', alignItems: 'center', borderTop: '1px solid #E3E8EF', marginTop: 8 }}&gt;&lt;Text style={{ fontSize: 13, color: '#7A8699', fontWeight: 400, lineHeight: 1.4 }}&gt;依据：教学协同Agent设计.md §4&lt;/Text&gt;&lt;Text style={{ fontSize: 14, color: '#7A8699', fontWeight: 400, lineHeight: 1.4 }}&gt; 81 / 124 &lt;/Text&gt;&lt;/Box&gt;&lt;/Slide&gt;"/>
        <p:cNvGrpSpPr/>
        <p:nvPr/>
      </p:nvGrpSpPr>
      <p:grpSpPr>
        <a:xfrm>
          <a:off x="0" y="0"/>
          <a:ext cx="0" cy="0"/>
          <a:chOff x="0" y="0"/>
          <a:chExt cx="0" cy="0"/>
        </a:xfrm>
      </p:grpSpPr>
      <p:sp>
        <p:nvSpPr>
          <p:cNvPr id="2706" name=""/>
          <p:cNvSpPr/>
          <p:nvPr/>
        </p:nvSpPr>
        <p:spPr>
          <a:xfrm rot="0" flipH="0" flipV="0">
            <a:off x="0" y="0"/>
            <a:ext cx="12192000" cy="6858000"/>
          </a:xfrm>
          <a:prstGeom prst="rect">
            <a:avLst/>
          </a:prstGeom>
          <a:solidFill>
            <a:srgbClr val="FFFFFF"/>
          </a:solidFill>
          <a:ln/>
        </p:spPr>
        <p:txBody>
          <a:bodyPr/>
          <a:p/>
        </p:txBody>
      </p:sp>
      <p:sp>
        <p:nvSpPr>
          <p:cNvPr id="2707" name="" descr="{&quot;isTemplate&quot;:true,&quot;type&quot;:&quot;text&quot;}"/>
          <p:cNvSpPr txBox="1"/>
          <p:nvPr/>
        </p:nvSpPr>
        <p:spPr>
          <a:xfrm rot="0" flipH="0" flipV="0">
            <a:off x="666750" y="381000"/>
            <a:ext cx="45720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08 / </a:t>
            </a:r>
            <a:r>
              <a:rPr lang="zh-CN" sz="1050" spc="75">
                <a:solidFill>
                  <a:srgbClr val="7A8699"/>
                </a:solidFill>
                <a:latin typeface="Microsoft YaHei"/>
                <a:ea typeface="Microsoft YaHei"/>
              </a:rPr>
              <a:t>教学协同</a:t>
            </a:r>
            <a:r>
              <a:rPr lang="en-US" sz="1050" spc="75">
                <a:solidFill>
                  <a:srgbClr val="7A8699"/>
                </a:solidFill>
                <a:latin typeface="Microsoft YaHei"/>
                <a:ea typeface="Microsoft YaHei"/>
              </a:rPr>
              <a:t xml:space="preserve"> Agent</a:t>
            </a:r>
            <a:endParaRPr/>
          </a:p>
        </p:txBody>
      </p:sp>
      <p:sp>
        <p:nvSpPr>
          <p:cNvPr id="2708" name="" descr="{&quot;isTemplate&quot;:true,&quot;type&quot;:&quot;text&quot;}"/>
          <p:cNvSpPr txBox="1"/>
          <p:nvPr/>
        </p:nvSpPr>
        <p:spPr>
          <a:xfrm rot="0" flipH="0" flipV="0">
            <a:off x="666750" y="666750"/>
            <a:ext cx="4572000" cy="476250"/>
          </a:xfrm>
          <a:prstGeom prst="rect"/>
        </p:spPr>
        <p:txBody>
          <a:bodyPr wrap="none" lIns="0" tIns="0" rIns="0" bIns="0"/>
          <a:p>
            <a:pPr>
              <a:lnSpc>
                <a:spcPct val="130000"/>
              </a:lnSpc>
            </a:pPr>
            <a:r>
              <a:rPr lang="zh-CN" sz="2400" b="1">
                <a:solidFill>
                  <a:srgbClr val="0E2340"/>
                </a:solidFill>
                <a:latin typeface="Microsoft YaHei"/>
                <a:ea typeface="Microsoft YaHei"/>
              </a:rPr>
              <a:t>学生工作流：诊断解释与任务安排</a:t>
            </a:r>
            <a:endParaRPr/>
          </a:p>
        </p:txBody>
      </p:sp>
      <p:sp>
        <p:nvSpPr>
          <p:cNvPr id="2709"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710"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2711" name=""/>
          <p:cNvSpPr/>
          <p:nvPr/>
        </p:nvSpPr>
        <p:spPr>
          <a:xfrm rot="0" flipH="0" flipV="0">
            <a:off x="666750" y="1219200"/>
            <a:ext cx="2571750" cy="3324225"/>
          </a:xfrm>
          <a:prstGeom prst="roundRect">
            <a:avLst>
              <a:gd name="adj" fmla="val 2963"/>
            </a:avLst>
          </a:prstGeom>
          <a:solidFill>
            <a:srgbClr val="FFFFFF"/>
          </a:solidFill>
          <a:ln w="12700">
            <a:solidFill>
              <a:srgbClr val="E3E8EF"/>
            </a:solidFill>
            <a:prstDash val="solid"/>
          </a:ln>
        </p:spPr>
        <p:txBody>
          <a:bodyPr/>
          <a:p/>
        </p:txBody>
      </p:sp>
      <p:sp>
        <p:nvSpPr>
          <p:cNvPr id="2712" name=""/>
          <p:cNvSpPr/>
          <p:nvPr/>
        </p:nvSpPr>
        <p:spPr>
          <a:xfrm rot="0" flipH="0" flipV="0">
            <a:off x="66675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2713" name="" descr="{&quot;isTemplate&quot;:true,&quot;type&quot;:&quot;text&quot;}"/>
          <p:cNvSpPr txBox="1"/>
          <p:nvPr/>
        </p:nvSpPr>
        <p:spPr>
          <a:xfrm rot="0" flipH="0" flipV="0">
            <a:off x="85725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方法识别</a:t>
            </a:r>
            <a:endParaRPr/>
          </a:p>
        </p:txBody>
      </p:sp>
      <p:sp>
        <p:nvSpPr>
          <p:cNvPr id="2714" name="" descr="{&quot;isTemplate&quot;:true,&quot;type&quot;:&quot;text&quot;}"/>
          <p:cNvSpPr txBox="1"/>
          <p:nvPr/>
        </p:nvSpPr>
        <p:spPr>
          <a:xfrm rot="0" flipH="0" flipV="0">
            <a:off x="857250" y="1885950"/>
            <a:ext cx="2190750" cy="314325"/>
          </a:xfrm>
          <a:prstGeom prst="rect"/>
        </p:spPr>
        <p:txBody>
          <a:bodyPr wrap="none" lIns="0" tIns="0" rIns="0" bIns="0"/>
          <a:p>
            <a:pPr>
              <a:lnSpc>
                <a:spcPct val="160000"/>
              </a:lnSpc>
            </a:pPr>
            <a:r>
              <a:rPr lang="zh-CN" sz="1275">
                <a:solidFill>
                  <a:srgbClr val="333A45"/>
                </a:solidFill>
                <a:latin typeface="Microsoft YaHei"/>
                <a:ea typeface="Microsoft YaHei"/>
              </a:rPr>
              <a:t>不知道该用哪个套路</a:t>
            </a:r>
            <a:endParaRPr/>
          </a:p>
        </p:txBody>
      </p:sp>
      <p:sp>
        <p:nvSpPr>
          <p:cNvPr id="2715" name=""/>
          <p:cNvSpPr/>
          <p:nvPr/>
        </p:nvSpPr>
        <p:spPr>
          <a:xfrm rot="0" flipH="0" flipV="0">
            <a:off x="3429000" y="1219200"/>
            <a:ext cx="2571750" cy="3324225"/>
          </a:xfrm>
          <a:prstGeom prst="roundRect">
            <a:avLst>
              <a:gd name="adj" fmla="val 2963"/>
            </a:avLst>
          </a:prstGeom>
          <a:solidFill>
            <a:srgbClr val="FFFFFF"/>
          </a:solidFill>
          <a:ln w="12700">
            <a:solidFill>
              <a:srgbClr val="E3E8EF"/>
            </a:solidFill>
            <a:prstDash val="solid"/>
          </a:ln>
        </p:spPr>
        <p:txBody>
          <a:bodyPr/>
          <a:p/>
        </p:txBody>
      </p:sp>
      <p:sp>
        <p:nvSpPr>
          <p:cNvPr id="2716" name=""/>
          <p:cNvSpPr/>
          <p:nvPr/>
        </p:nvSpPr>
        <p:spPr>
          <a:xfrm rot="0" flipH="0" flipV="0">
            <a:off x="342900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2717" name="" descr="{&quot;isTemplate&quot;:true,&quot;type&quot;:&quot;text&quot;}"/>
          <p:cNvSpPr txBox="1"/>
          <p:nvPr/>
        </p:nvSpPr>
        <p:spPr>
          <a:xfrm rot="0" flipH="0" flipV="0">
            <a:off x="361950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知识条件</a:t>
            </a:r>
            <a:endParaRPr/>
          </a:p>
        </p:txBody>
      </p:sp>
      <p:sp>
        <p:nvSpPr>
          <p:cNvPr id="2718" name="" descr="{&quot;isTemplate&quot;:true,&quot;type&quot;:&quot;text&quot;}"/>
          <p:cNvSpPr txBox="1"/>
          <p:nvPr/>
        </p:nvSpPr>
        <p:spPr>
          <a:xfrm rot="0" flipH="0" flipV="0">
            <a:off x="3619500" y="1885950"/>
            <a:ext cx="2190750" cy="314325"/>
          </a:xfrm>
          <a:prstGeom prst="rect"/>
        </p:spPr>
        <p:txBody>
          <a:bodyPr wrap="none" lIns="0" tIns="0" rIns="0" bIns="0"/>
          <a:p>
            <a:pPr>
              <a:lnSpc>
                <a:spcPct val="160000"/>
              </a:lnSpc>
            </a:pPr>
            <a:r>
              <a:rPr lang="zh-CN" sz="1275">
                <a:solidFill>
                  <a:srgbClr val="333A45"/>
                </a:solidFill>
                <a:latin typeface="Microsoft YaHei"/>
                <a:ea typeface="Microsoft YaHei"/>
              </a:rPr>
              <a:t>概念或适用条件不清楚</a:t>
            </a:r>
            <a:endParaRPr/>
          </a:p>
        </p:txBody>
      </p:sp>
      <p:sp>
        <p:nvSpPr>
          <p:cNvPr id="2719" name=""/>
          <p:cNvSpPr/>
          <p:nvPr/>
        </p:nvSpPr>
        <p:spPr>
          <a:xfrm rot="0" flipH="0" flipV="0">
            <a:off x="6191250" y="1219200"/>
            <a:ext cx="2571750" cy="3324225"/>
          </a:xfrm>
          <a:prstGeom prst="roundRect">
            <a:avLst>
              <a:gd name="adj" fmla="val 2963"/>
            </a:avLst>
          </a:prstGeom>
          <a:solidFill>
            <a:srgbClr val="FFFFFF"/>
          </a:solidFill>
          <a:ln w="12700">
            <a:solidFill>
              <a:srgbClr val="E3E8EF"/>
            </a:solidFill>
            <a:prstDash val="solid"/>
          </a:ln>
        </p:spPr>
        <p:txBody>
          <a:bodyPr/>
          <a:p/>
        </p:txBody>
      </p:sp>
      <p:sp>
        <p:nvSpPr>
          <p:cNvPr id="2720" name=""/>
          <p:cNvSpPr/>
          <p:nvPr/>
        </p:nvSpPr>
        <p:spPr>
          <a:xfrm rot="0" flipH="0" flipV="0">
            <a:off x="619125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2721" name="" descr="{&quot;isTemplate&quot;:true,&quot;type&quot;:&quot;text&quot;}"/>
          <p:cNvSpPr txBox="1"/>
          <p:nvPr/>
        </p:nvSpPr>
        <p:spPr>
          <a:xfrm rot="0" flipH="0" flipV="0">
            <a:off x="638175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局部步骤</a:t>
            </a:r>
            <a:endParaRPr/>
          </a:p>
        </p:txBody>
      </p:sp>
      <p:sp>
        <p:nvSpPr>
          <p:cNvPr id="2722" name="" descr="{&quot;isTemplate&quot;:true,&quot;type&quot;:&quot;text&quot;}"/>
          <p:cNvSpPr txBox="1"/>
          <p:nvPr/>
        </p:nvSpPr>
        <p:spPr>
          <a:xfrm rot="0" flipH="0" flipV="0">
            <a:off x="6381750" y="1885950"/>
            <a:ext cx="2190750" cy="314325"/>
          </a:xfrm>
          <a:prstGeom prst="rect"/>
        </p:spPr>
        <p:txBody>
          <a:bodyPr wrap="none" lIns="0" tIns="0" rIns="0" bIns="0"/>
          <a:p>
            <a:pPr>
              <a:lnSpc>
                <a:spcPct val="160000"/>
              </a:lnSpc>
            </a:pPr>
            <a:r>
              <a:rPr lang="zh-CN" sz="1275">
                <a:solidFill>
                  <a:srgbClr val="333A45"/>
                </a:solidFill>
                <a:latin typeface="Microsoft YaHei"/>
                <a:ea typeface="Microsoft YaHei"/>
              </a:rPr>
              <a:t>某一步反复做错</a:t>
            </a:r>
            <a:endParaRPr/>
          </a:p>
        </p:txBody>
      </p:sp>
      <p:sp>
        <p:nvSpPr>
          <p:cNvPr id="2723" name=""/>
          <p:cNvSpPr/>
          <p:nvPr/>
        </p:nvSpPr>
        <p:spPr>
          <a:xfrm rot="0" flipH="0" flipV="0">
            <a:off x="8953500" y="1219200"/>
            <a:ext cx="2571750" cy="3324225"/>
          </a:xfrm>
          <a:prstGeom prst="roundRect">
            <a:avLst>
              <a:gd name="adj" fmla="val 2963"/>
            </a:avLst>
          </a:prstGeom>
          <a:solidFill>
            <a:srgbClr val="FFFFFF"/>
          </a:solidFill>
          <a:ln w="12700">
            <a:solidFill>
              <a:srgbClr val="E3E8EF"/>
            </a:solidFill>
            <a:prstDash val="solid"/>
          </a:ln>
        </p:spPr>
        <p:txBody>
          <a:bodyPr/>
          <a:p/>
        </p:txBody>
      </p:sp>
      <p:sp>
        <p:nvSpPr>
          <p:cNvPr id="2724" name=""/>
          <p:cNvSpPr/>
          <p:nvPr/>
        </p:nvSpPr>
        <p:spPr>
          <a:xfrm rot="0" flipH="0" flipV="0">
            <a:off x="895350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2725" name="" descr="{&quot;isTemplate&quot;:true,&quot;type&quot;:&quot;text&quot;}"/>
          <p:cNvSpPr txBox="1"/>
          <p:nvPr/>
        </p:nvSpPr>
        <p:spPr>
          <a:xfrm rot="0" flipH="0" flipV="0">
            <a:off x="914400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执行问题</a:t>
            </a:r>
            <a:endParaRPr/>
          </a:p>
        </p:txBody>
      </p:sp>
      <p:sp>
        <p:nvSpPr>
          <p:cNvPr id="2726" name="" descr="{&quot;isTemplate&quot;:true,&quot;type&quot;:&quot;text&quot;}"/>
          <p:cNvSpPr txBox="1"/>
          <p:nvPr/>
        </p:nvSpPr>
        <p:spPr>
          <a:xfrm rot="0" flipH="0" flipV="0">
            <a:off x="9144000" y="1885950"/>
            <a:ext cx="2190750" cy="314325"/>
          </a:xfrm>
          <a:prstGeom prst="rect"/>
        </p:spPr>
        <p:txBody>
          <a:bodyPr wrap="none" lIns="0" tIns="0" rIns="0" bIns="0"/>
          <a:p>
            <a:pPr>
              <a:lnSpc>
                <a:spcPct val="160000"/>
              </a:lnSpc>
            </a:pPr>
            <a:r>
              <a:rPr lang="zh-CN" sz="1275">
                <a:solidFill>
                  <a:srgbClr val="333A45"/>
                </a:solidFill>
                <a:latin typeface="Microsoft YaHei"/>
                <a:ea typeface="Microsoft YaHei"/>
              </a:rPr>
              <a:t>方法对但运算出错</a:t>
            </a:r>
            <a:endParaRPr/>
          </a:p>
        </p:txBody>
      </p:sp>
      <p:sp>
        <p:nvSpPr>
          <p:cNvPr id="2727" name=""/>
          <p:cNvSpPr/>
          <p:nvPr/>
        </p:nvSpPr>
        <p:spPr>
          <a:xfrm rot="0" flipH="0" flipV="0">
            <a:off x="704850" y="4695825"/>
            <a:ext cx="10858500" cy="819150"/>
          </a:xfrm>
          <a:prstGeom prst="roundRect">
            <a:avLst>
              <a:gd name="adj" fmla="val 6977"/>
            </a:avLst>
          </a:prstGeom>
          <a:solidFill>
            <a:srgbClr val="F5F7FA"/>
          </a:solidFill>
          <a:ln/>
        </p:spPr>
        <p:txBody>
          <a:bodyPr/>
          <a:p/>
        </p:txBody>
      </p:sp>
      <p:sp>
        <p:nvSpPr>
          <p:cNvPr id="2728" name=""/>
          <p:cNvSpPr/>
          <p:nvPr/>
        </p:nvSpPr>
        <p:spPr>
          <a:xfrm rot="0" flipH="0" flipV="0">
            <a:off x="704850" y="4695825"/>
            <a:ext cx="10858500" cy="819150"/>
          </a:xfrm>
          <a:custGeom>
            <a:pathLst>
              <a:path w="1140" h="86">
                <a:moveTo>
                  <a:pt x="6" y="0"/>
                </a:moveTo>
                <a:cubicBezTo>
                  <a:pt x="5" y="0"/>
                  <a:pt x="4" y="1"/>
                  <a:pt x="4" y="2"/>
                </a:cubicBezTo>
                <a:lnTo>
                  <a:pt x="4" y="84"/>
                </a:lnTo>
                <a:cubicBezTo>
                  <a:pt x="4" y="85"/>
                  <a:pt x="5" y="86"/>
                  <a:pt x="6" y="86"/>
                </a:cubicBezTo>
                <a:cubicBezTo>
                  <a:pt x="3" y="86"/>
                  <a:pt x="0" y="83"/>
                  <a:pt x="0" y="80"/>
                </a:cubicBezTo>
                <a:lnTo>
                  <a:pt x="0" y="6"/>
                </a:lnTo>
                <a:cubicBezTo>
                  <a:pt x="0" y="3"/>
                  <a:pt x="3" y="0"/>
                  <a:pt x="6" y="0"/>
                </a:cubicBezTo>
                <a:close/>
              </a:path>
            </a:pathLst>
          </a:custGeom>
          <a:solidFill>
            <a:srgbClr val="1E7BE0"/>
          </a:solidFill>
          <a:ln/>
        </p:spPr>
        <p:txBody>
          <a:bodyPr/>
          <a:p/>
        </p:txBody>
      </p:sp>
      <p:sp>
        <p:nvSpPr>
          <p:cNvPr id="2729" name="" descr="{&quot;isTemplate&quot;:true,&quot;type&quot;:&quot;text&quot;}"/>
          <p:cNvSpPr txBox="1"/>
          <p:nvPr/>
        </p:nvSpPr>
        <p:spPr>
          <a:xfrm rot="0" flipH="0" flipV="0">
            <a:off x="895350" y="4829175"/>
            <a:ext cx="10439400" cy="552450"/>
          </a:xfrm>
          <a:prstGeom prst="rect"/>
        </p:spPr>
        <p:txBody>
          <a:bodyPr wrap="square" lIns="0" tIns="0" rIns="0" bIns="0">
            <a:normAutofit/>
          </a:bodyPr>
          <a:p>
            <a:pPr>
              <a:lnSpc>
                <a:spcPct val="150000"/>
              </a:lnSpc>
            </a:pPr>
            <a:r>
              <a:rPr lang="zh-CN" sz="1200" b="1">
                <a:solidFill>
                  <a:srgbClr val="0E2340"/>
                </a:solidFill>
                <a:latin typeface="Microsoft YaHei"/>
                <a:ea typeface="Microsoft YaHei"/>
              </a:rPr>
              <a:t>回答“今天学什么”时综合：课时、必做作业、套路顺序、知识准备、到期复查、个人时间预算——避免各模块分别追加任务。任务结束后区分五种完成状态：独立完成</a:t>
            </a:r>
            <a:r>
              <a:rPr lang="en-US" sz="1200" b="1">
                <a:solidFill>
                  <a:srgbClr val="0E2340"/>
                </a:solidFill>
                <a:latin typeface="Microsoft YaHei"/>
                <a:ea typeface="Microsoft YaHei"/>
              </a:rPr>
              <a:t xml:space="preserve"> / </a:t>
            </a:r>
            <a:r>
              <a:rPr lang="zh-CN" sz="1200" b="1">
                <a:solidFill>
                  <a:srgbClr val="0E2340"/>
                </a:solidFill>
                <a:latin typeface="Microsoft YaHei"/>
                <a:ea typeface="Microsoft YaHei"/>
              </a:rPr>
              <a:t>提示后完成</a:t>
            </a:r>
            <a:r>
              <a:rPr lang="en-US" sz="1200" b="1">
                <a:solidFill>
                  <a:srgbClr val="0E2340"/>
                </a:solidFill>
                <a:latin typeface="Microsoft YaHei"/>
                <a:ea typeface="Microsoft YaHei"/>
              </a:rPr>
              <a:t xml:space="preserve"> / </a:t>
            </a:r>
            <a:r>
              <a:rPr lang="zh-CN" sz="1200" b="1">
                <a:solidFill>
                  <a:srgbClr val="0E2340"/>
                </a:solidFill>
                <a:latin typeface="Microsoft YaHei"/>
                <a:ea typeface="Microsoft YaHei"/>
              </a:rPr>
              <a:t>看过答案</a:t>
            </a:r>
            <a:r>
              <a:rPr lang="en-US" sz="1200" b="1">
                <a:solidFill>
                  <a:srgbClr val="0E2340"/>
                </a:solidFill>
                <a:latin typeface="Microsoft YaHei"/>
                <a:ea typeface="Microsoft YaHei"/>
              </a:rPr>
              <a:t xml:space="preserve"> / </a:t>
            </a:r>
            <a:r>
              <a:rPr lang="zh-CN" sz="1200" b="1">
                <a:solidFill>
                  <a:srgbClr val="0E2340"/>
                </a:solidFill>
                <a:latin typeface="Microsoft YaHei"/>
                <a:ea typeface="Microsoft YaHei"/>
              </a:rPr>
              <a:t>跳过</a:t>
            </a:r>
            <a:r>
              <a:rPr lang="en-US" sz="1200" b="1">
                <a:solidFill>
                  <a:srgbClr val="0E2340"/>
                </a:solidFill>
                <a:latin typeface="Microsoft YaHei"/>
                <a:ea typeface="Microsoft YaHei"/>
              </a:rPr>
              <a:t xml:space="preserve"> / </a:t>
            </a:r>
            <a:r>
              <a:rPr lang="zh-CN" sz="1200" b="1">
                <a:solidFill>
                  <a:srgbClr val="0E2340"/>
                </a:solidFill>
                <a:latin typeface="Microsoft YaHei"/>
                <a:ea typeface="Microsoft YaHei"/>
              </a:rPr>
              <a:t>仍待核实</a:t>
            </a:r>
            <a:endParaRPr/>
          </a:p>
        </p:txBody>
      </p:sp>
      <p:sp>
        <p:nvSpPr>
          <p:cNvPr id="2730" name=""/>
          <p:cNvSpPr/>
          <p:nvPr/>
        </p:nvSpPr>
        <p:spPr>
          <a:xfrm rot="0" flipH="0" flipV="0">
            <a:off x="704850" y="5667375"/>
            <a:ext cx="10858500" cy="542925"/>
          </a:xfrm>
          <a:prstGeom prst="roundRect">
            <a:avLst>
              <a:gd name="adj" fmla="val 10526"/>
            </a:avLst>
          </a:prstGeom>
          <a:solidFill>
            <a:srgbClr val="F5F7FA"/>
          </a:solidFill>
          <a:ln/>
        </p:spPr>
        <p:txBody>
          <a:bodyPr/>
          <a:p/>
        </p:txBody>
      </p:sp>
      <p:sp>
        <p:nvSpPr>
          <p:cNvPr id="2731" name=""/>
          <p:cNvSpPr/>
          <p:nvPr/>
        </p:nvSpPr>
        <p:spPr>
          <a:xfrm rot="0" flipH="0" flipV="0">
            <a:off x="704850" y="5667375"/>
            <a:ext cx="10858500" cy="542925"/>
          </a:xfrm>
          <a:custGeom>
            <a:pathLst>
              <a:path w="1140" h="57">
                <a:moveTo>
                  <a:pt x="6" y="0"/>
                </a:moveTo>
                <a:cubicBezTo>
                  <a:pt x="5" y="0"/>
                  <a:pt x="4" y="1"/>
                  <a:pt x="4" y="2"/>
                </a:cubicBezTo>
                <a:lnTo>
                  <a:pt x="4" y="55"/>
                </a:lnTo>
                <a:cubicBezTo>
                  <a:pt x="4" y="56"/>
                  <a:pt x="5" y="57"/>
                  <a:pt x="6" y="57"/>
                </a:cubicBezTo>
                <a:cubicBezTo>
                  <a:pt x="3" y="57"/>
                  <a:pt x="0" y="54"/>
                  <a:pt x="0" y="51"/>
                </a:cubicBezTo>
                <a:lnTo>
                  <a:pt x="0" y="6"/>
                </a:lnTo>
                <a:cubicBezTo>
                  <a:pt x="0" y="3"/>
                  <a:pt x="3" y="0"/>
                  <a:pt x="6" y="0"/>
                </a:cubicBezTo>
                <a:close/>
              </a:path>
            </a:pathLst>
          </a:custGeom>
          <a:solidFill>
            <a:srgbClr val="98A2B3"/>
          </a:solidFill>
          <a:ln/>
        </p:spPr>
        <p:txBody>
          <a:bodyPr/>
          <a:p/>
        </p:txBody>
      </p:sp>
      <p:sp>
        <p:nvSpPr>
          <p:cNvPr id="2732" name="" descr="{&quot;isTemplate&quot;:true,&quot;type&quot;:&quot;text&quot;}"/>
          <p:cNvSpPr txBox="1"/>
          <p:nvPr/>
        </p:nvSpPr>
        <p:spPr>
          <a:xfrm rot="0" flipH="0" flipV="0">
            <a:off x="895350" y="5800725"/>
            <a:ext cx="6858000" cy="276225"/>
          </a:xfrm>
          <a:prstGeom prst="rect"/>
        </p:spPr>
        <p:txBody>
          <a:bodyPr wrap="none" lIns="0" tIns="0" rIns="0" bIns="0"/>
          <a:p>
            <a:pPr>
              <a:lnSpc>
                <a:spcPct val="150000"/>
              </a:lnSpc>
            </a:pPr>
            <a:r>
              <a:rPr lang="zh-CN" sz="1200" b="1">
                <a:solidFill>
                  <a:srgbClr val="0E2340"/>
                </a:solidFill>
                <a:latin typeface="Microsoft YaHei"/>
                <a:ea typeface="Microsoft YaHei"/>
              </a:rPr>
              <a:t>提示渐退和探究任务在研究完成前不作为稳定能力承诺；不把教学过程中的顺利完成直接写成长期掌握</a:t>
            </a:r>
            <a:endParaRPr/>
          </a:p>
        </p:txBody>
      </p:sp>
      <p:sp>
        <p:nvSpPr>
          <p:cNvPr id="2733"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734" name="" descr="{&quot;isTemplate&quot;:true,&quot;type&quot;:&quot;text&quot;}"/>
          <p:cNvSpPr txBox="1"/>
          <p:nvPr/>
        </p:nvSpPr>
        <p:spPr>
          <a:xfrm rot="0" flipH="0" flipV="0">
            <a:off x="666750" y="6381750"/>
            <a:ext cx="1819275" cy="209550"/>
          </a:xfrm>
          <a:prstGeom prst="rect"/>
        </p:spPr>
        <p:txBody>
          <a:bodyPr wrap="none" lIns="0" tIns="0" rIns="0" bIns="0"/>
          <a:p>
            <a:pPr>
              <a:lnSpc>
                <a:spcPct val="140000"/>
              </a:lnSpc>
            </a:pPr>
            <a:r>
              <a:rPr lang="zh-CN" sz="975">
                <a:solidFill>
                  <a:srgbClr val="7A8699"/>
                </a:solidFill>
                <a:latin typeface="Microsoft YaHei"/>
                <a:ea typeface="Microsoft YaHei"/>
              </a:rPr>
              <a:t>依据：教学协同</a:t>
            </a:r>
            <a:r>
              <a:rPr lang="en-US" sz="975">
                <a:solidFill>
                  <a:srgbClr val="7A8699"/>
                </a:solidFill>
                <a:latin typeface="Microsoft YaHei"/>
                <a:ea typeface="Microsoft YaHei"/>
              </a:rPr>
              <a:t>Agent</a:t>
            </a:r>
            <a:r>
              <a:rPr lang="zh-CN" sz="975">
                <a:solidFill>
                  <a:srgbClr val="7A8699"/>
                </a:solidFill>
                <a:latin typeface="Microsoft YaHei"/>
                <a:ea typeface="Microsoft YaHei"/>
              </a:rPr>
              <a:t>设计</a:t>
            </a:r>
            <a:r>
              <a:rPr lang="en-US" sz="975">
                <a:solidFill>
                  <a:srgbClr val="7A8699"/>
                </a:solidFill>
                <a:latin typeface="Microsoft YaHei"/>
                <a:ea typeface="Microsoft YaHei"/>
              </a:rPr>
              <a:t>.md §4</a:t>
            </a:r>
            <a:endParaRPr/>
          </a:p>
        </p:txBody>
      </p:sp>
      <p:sp>
        <p:nvSpPr>
          <p:cNvPr id="2735"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81 / 124 </a:t>
            </a:r>
            <a:endParaRPr/>
          </a:p>
        </p:txBody>
      </p:sp>
    </p:spTree>
  </p:cSld>
</p:sld>
</file>

<file path=ppt/slides/slide82.xml><?xml version="1.0" encoding="utf-8"?>
<p:sld xmlns:p="http://schemas.openxmlformats.org/presentationml/2006/main" xmlns:a="http://schemas.openxmlformats.org/drawingml/2006/main">
  <p:cSld>
    <p:spTree>
      <p:nvGrpSpPr>
        <p:cNvPr id="2736"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8 / 教学协同 Agent&lt;/Text&gt;&lt;Text style={{ fontSize: 32, color: '#0E2340', fontWeight: 700, lineHeight: 1.3 }}&gt;教师工作流与学校工作流&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gap: 16 }}&gt;&lt;Box style={{ flexDirection: 'row', gap: 20, flex: 1 }}&gt;&lt;Box style={{ width: 560, background: '#FFFFFF', border: '1px solid #E3E8EF', borderRadius: 8, overflow: 'hidden', flexDirection: 'column' }}&gt;&lt;Box style={{ height: 4, background: 'linear-gradient(90deg, #1E7BE0 0%, #00A9B5 100%)' }} /&gt;&lt;Box style={{ flexDirection: 'column', gap: 10, padding: 20, flex: 1 }}&gt;&lt;Text style={{ fontSize: 22, color: '#0E2340', fontWeight: 700, lineHeight: 1.4 }}&gt;教师工作流&lt;/Text&gt;&lt;Box style={{ flexDirection: 'column', gap: 10 }}&gt;&lt;Box style={{ flexDirection: 'row', gap: 12, alignItems: 'flex-start' }}&gt;&lt;Box style={{ width: 8, height: 8, borderRadius: 4, background: '#1E7BE0', marginTop: 9 }} /&gt;&lt;Box style={{ flex: 1 }}&gt;&lt;Text style={{ fontSize: 16, color: '#0E2340', fontWeight: 600, lineHeight: 1.5 }}&gt;备课或讲评&lt;/Text&gt;&lt;Text style={{ fontSize: 15, color: '#333A45', fontWeight: 400, lineHeight: 1.6 }}&gt;先查询课时范围和授权班级证据，生成可编辑材料，区分全班目标 / 小组需求 / 个别情况。&lt;/Text&gt;&lt;/Box&gt;&lt;/Box&gt;&lt;Box style={{ flexDirection: 'row', gap: 12, alignItems: 'flex-start' }}&gt;&lt;Box style={{ width: 8, height: 8, borderRadius: 4, background: '#1E7BE0', marginTop: 9 }} /&gt;&lt;Box style={{ flex: 1 }}&gt;&lt;Text style={{ fontSize: 16, color: '#0E2340', fontWeight: 600, lineHeight: 1.5 }}&gt;制作课件&lt;/Text&gt;&lt;Text style={{ fontSize: 15, color: '#333A45', fontWeight: 400, lineHeight: 1.6 }}&gt;查询系统素材并调用宿主文档能力，核对文件是否实际生成；没有相应工具时先交付内容与素材结构，不虚构已导出的文件。&lt;/Text&gt;&lt;/Box&gt;&lt;/Box&gt;&lt;Box style={{ flexDirection: 'row', gap: 12, alignItems: 'flex-start' }}&gt;&lt;Box style={{ width: 8, height: 8, borderRadius: 4, background: '#1E7BE0', marginTop: 9 }} /&gt;&lt;Box style={{ flex: 1 }}&gt;&lt;Text style={{ fontSize: 16, color: '#0E2340', fontWeight: 600, lineHeight: 1.5 }}&gt;敏感边界&lt;/Text&gt;&lt;Text style={{ fontSize: 15, color: '#333A45', fontWeight: 400, lineHeight: 1.6 }}&gt;教师问“这个学生需不需要谈谈”时，呈现持续变化、已提供帮助、学生自述与仍不清楚的问题，不以模型推测给学生确定人格或心理标签。&lt;/Text&gt;&lt;/Box&gt;&lt;/Box&gt;&lt;/Box&gt;&lt;/Box&gt;&lt;/Box&gt;&lt;Box style={{ width: 560, background: '#FFFFFF', border: '1px solid #E3E8EF', borderRadius: 8, overflow: 'hidden', flexDirection: 'column' }}&gt;&lt;Box style={{ height: 4, background: 'linear-gradient(90deg, #1E7BE0 0%, #00A9B5 100%)' }} /&gt;&lt;Box style={{ flexDirection: 'column', gap: 10, padding: 20, flex: 1 }}&gt;&lt;Text style={{ fontSize: 22, color: '#0E2340', fontWeight: 700, lineHeight: 1.4 }}&gt;学校工作流&lt;/Text&gt;&lt;Box style={{ flexDirection: 'column', gap: 10 }}&gt;&lt;Box style={{ flexDirection: 'row', gap: 12, alignItems: 'flex-start' }}&gt;&lt;Box style={{ width: 8, height: 8, borderRadius: 4, background: '#1E7BE0', marginTop: 9 }} /&gt;&lt;Box style={{ flex: 1 }}&gt;&lt;Text style={{ fontSize: 16, color: '#0E2340', fontWeight: 600, lineHeight: 1.5 }}&gt;质量分析&lt;/Text&gt;&lt;Text style={{ fontSize: 15, color: '#333A45', fontWeight: 400, lineHeight: 1.6 }}&gt;先核对数据覆盖、学生起点、任务难度和评价口径，再说明变化、可能解释及应补充的证据。&lt;/Text&gt;&lt;/Box&gt;&lt;/Box&gt;&lt;Box style={{ flexDirection: 'row', gap: 12, alignItems: 'flex-start' }}&gt;&lt;Box style={{ width: 8, height: 8, borderRadius: 4, background: '#1E7BE0', marginTop: 9 }} /&gt;&lt;Box style={{ flex: 1 }}&gt;&lt;Text style={{ fontSize: 16, color: '#0E2340', fontWeight: 600, lineHeight: 1.5 }}&gt;绩效相关&lt;/Text&gt;&lt;Text style={{ fontSize: 15, color: '#333A45', fontWeight: 400, lineHeight: 1.6 }}&gt;提供多来源证据及比较条件，最终评价由明确管理规则与人工复核形成；不能以使用系统次数或未经核实的单一模型分数直接判断教师优劣。&lt;/Text&gt;&lt;/Box&gt;&lt;/Box&gt;&lt;Box style={{ flexDirection: 'row', gap: 12, alignItems: 'flex-start' }}&gt;&lt;Box style={{ width: 8, height: 8, borderRadius: 4, background: '#1E7BE0', marginTop: 9 }} /&gt;&lt;Box style={{ flex: 1 }}&gt;&lt;Text style={{ fontSize: 16, color: '#0E2340', fontWeight: 600, lineHeight: 1.5 }}&gt;体系修改&lt;/Text&gt;&lt;Text style={{ fontSize: 15, color: '#333A45', fontWeight: 400, lineHeight: 1.6 }}&gt;修改课时、知识点、步骤或套路时，先生成变更草稿与影响范围，再通过学校版本流程发布；Agent 不因“优化一下”就静默改写历史记录或所有学校的公共体系。&lt;/Text&gt;&lt;/Box&gt;&lt;/Box&gt;&lt;/Box&gt;&lt;/Box&gt;&lt;/Box&gt;&lt;/Box&gt;&lt;/Box&gt;&lt;/Box&gt;&lt;Box style={{ height: 40, flexDirection: 'row', justifyContent: 'space-between', alignItems: 'center', borderTop: '1px solid #E3E8EF', marginTop: 8 }}&gt;&lt;Text style={{ fontSize: 13, color: '#7A8699', fontWeight: 400, lineHeight: 1.4 }}&gt;依据：教学协同Agent设计.md §5–§6&lt;/Text&gt;&lt;Text style={{ fontSize: 14, color: '#7A8699', fontWeight: 400, lineHeight: 1.4 }}&gt; 82 / 124 &lt;/Text&gt;&lt;/Box&gt;&lt;/Slide&gt;"/>
        <p:cNvGrpSpPr/>
        <p:nvPr/>
      </p:nvGrpSpPr>
      <p:grpSpPr>
        <a:xfrm>
          <a:off x="0" y="0"/>
          <a:ext cx="0" cy="0"/>
          <a:chOff x="0" y="0"/>
          <a:chExt cx="0" cy="0"/>
        </a:xfrm>
      </p:grpSpPr>
      <p:sp>
        <p:nvSpPr>
          <p:cNvPr id="2737" name=""/>
          <p:cNvSpPr/>
          <p:nvPr/>
        </p:nvSpPr>
        <p:spPr>
          <a:xfrm rot="0" flipH="0" flipV="0">
            <a:off x="0" y="0"/>
            <a:ext cx="12192000" cy="6858000"/>
          </a:xfrm>
          <a:prstGeom prst="rect">
            <a:avLst/>
          </a:prstGeom>
          <a:solidFill>
            <a:srgbClr val="FFFFFF"/>
          </a:solidFill>
          <a:ln/>
        </p:spPr>
        <p:txBody>
          <a:bodyPr/>
          <a:p/>
        </p:txBody>
      </p:sp>
      <p:sp>
        <p:nvSpPr>
          <p:cNvPr id="2738" name="" descr="{&quot;isTemplate&quot;:true,&quot;type&quot;:&quot;text&quot;}"/>
          <p:cNvSpPr txBox="1"/>
          <p:nvPr/>
        </p:nvSpPr>
        <p:spPr>
          <a:xfrm rot="0" flipH="0" flipV="0">
            <a:off x="666750" y="381000"/>
            <a:ext cx="3352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08 / </a:t>
            </a:r>
            <a:r>
              <a:rPr lang="zh-CN" sz="1050" spc="75">
                <a:solidFill>
                  <a:srgbClr val="7A8699"/>
                </a:solidFill>
                <a:latin typeface="Microsoft YaHei"/>
                <a:ea typeface="Microsoft YaHei"/>
              </a:rPr>
              <a:t>教学协同</a:t>
            </a:r>
            <a:r>
              <a:rPr lang="en-US" sz="1050" spc="75">
                <a:solidFill>
                  <a:srgbClr val="7A8699"/>
                </a:solidFill>
                <a:latin typeface="Microsoft YaHei"/>
                <a:ea typeface="Microsoft YaHei"/>
              </a:rPr>
              <a:t xml:space="preserve"> Agent</a:t>
            </a:r>
            <a:endParaRPr/>
          </a:p>
        </p:txBody>
      </p:sp>
      <p:sp>
        <p:nvSpPr>
          <p:cNvPr id="2739" name="" descr="{&quot;isTemplate&quot;:true,&quot;type&quot;:&quot;text&quot;}"/>
          <p:cNvSpPr txBox="1"/>
          <p:nvPr/>
        </p:nvSpPr>
        <p:spPr>
          <a:xfrm rot="0" flipH="0" flipV="0">
            <a:off x="666750" y="666750"/>
            <a:ext cx="3352800" cy="476250"/>
          </a:xfrm>
          <a:prstGeom prst="rect"/>
        </p:spPr>
        <p:txBody>
          <a:bodyPr wrap="none" lIns="0" tIns="0" rIns="0" bIns="0"/>
          <a:p>
            <a:pPr>
              <a:lnSpc>
                <a:spcPct val="130000"/>
              </a:lnSpc>
            </a:pPr>
            <a:r>
              <a:rPr lang="zh-CN" sz="2400" b="1">
                <a:solidFill>
                  <a:srgbClr val="0E2340"/>
                </a:solidFill>
                <a:latin typeface="Microsoft YaHei"/>
                <a:ea typeface="Microsoft YaHei"/>
              </a:rPr>
              <a:t>教师工作流与学校工作流</a:t>
            </a:r>
            <a:endParaRPr/>
          </a:p>
        </p:txBody>
      </p:sp>
      <p:sp>
        <p:nvSpPr>
          <p:cNvPr id="2740"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741"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2742" name=""/>
          <p:cNvSpPr/>
          <p:nvPr/>
        </p:nvSpPr>
        <p:spPr>
          <a:xfrm rot="0" flipH="0" flipV="0">
            <a:off x="666750" y="1219200"/>
            <a:ext cx="5334000" cy="4991100"/>
          </a:xfrm>
          <a:prstGeom prst="roundRect">
            <a:avLst>
              <a:gd name="adj" fmla="val 1527"/>
            </a:avLst>
          </a:prstGeom>
          <a:solidFill>
            <a:srgbClr val="FFFFFF"/>
          </a:solidFill>
          <a:ln w="12700">
            <a:solidFill>
              <a:srgbClr val="E3E8EF"/>
            </a:solidFill>
            <a:prstDash val="solid"/>
          </a:ln>
        </p:spPr>
        <p:txBody>
          <a:bodyPr/>
          <a:p/>
        </p:txBody>
      </p:sp>
      <p:sp>
        <p:nvSpPr>
          <p:cNvPr id="2743" name=""/>
          <p:cNvSpPr/>
          <p:nvPr/>
        </p:nvSpPr>
        <p:spPr>
          <a:xfrm rot="0" flipH="0" flipV="0">
            <a:off x="666750" y="1219200"/>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2744" name="" descr="{&quot;isTemplate&quot;:true,&quot;type&quot;:&quot;text&quot;}"/>
          <p:cNvSpPr txBox="1"/>
          <p:nvPr/>
        </p:nvSpPr>
        <p:spPr>
          <a:xfrm rot="0" flipH="0" flipV="0">
            <a:off x="857250" y="1447800"/>
            <a:ext cx="4953000" cy="352425"/>
          </a:xfrm>
          <a:prstGeom prst="rect"/>
        </p:spPr>
        <p:txBody>
          <a:bodyPr wrap="none" lIns="0" tIns="0" rIns="0" bIns="0"/>
          <a:p>
            <a:pPr>
              <a:lnSpc>
                <a:spcPct val="140000"/>
              </a:lnSpc>
            </a:pPr>
            <a:r>
              <a:rPr lang="zh-CN" sz="1650" b="1">
                <a:solidFill>
                  <a:srgbClr val="0E2340"/>
                </a:solidFill>
                <a:latin typeface="Microsoft YaHei"/>
                <a:ea typeface="Microsoft YaHei"/>
              </a:rPr>
              <a:t>教师工作流</a:t>
            </a:r>
            <a:endParaRPr/>
          </a:p>
        </p:txBody>
      </p:sp>
      <p:sp>
        <p:nvSpPr>
          <p:cNvPr id="2745" name=""/>
          <p:cNvSpPr/>
          <p:nvPr/>
        </p:nvSpPr>
        <p:spPr>
          <a:xfrm rot="0" flipH="0" flipV="0">
            <a:off x="857250" y="1981200"/>
            <a:ext cx="76200" cy="76200"/>
          </a:xfrm>
          <a:prstGeom prst="roundRect">
            <a:avLst>
              <a:gd name="adj" fmla="val 50000"/>
            </a:avLst>
          </a:prstGeom>
          <a:solidFill>
            <a:srgbClr val="1E7BE0"/>
          </a:solidFill>
          <a:ln/>
        </p:spPr>
        <p:txBody>
          <a:bodyPr/>
          <a:p/>
        </p:txBody>
      </p:sp>
      <p:sp>
        <p:nvSpPr>
          <p:cNvPr id="2746" name="" descr="{&quot;isTemplate&quot;:true,&quot;type&quot;:&quot;text&quot;}"/>
          <p:cNvSpPr txBox="1"/>
          <p:nvPr/>
        </p:nvSpPr>
        <p:spPr>
          <a:xfrm rot="0" flipH="0" flipV="0">
            <a:off x="1047750" y="1895475"/>
            <a:ext cx="4762500" cy="276225"/>
          </a:xfrm>
          <a:prstGeom prst="rect"/>
        </p:spPr>
        <p:txBody>
          <a:bodyPr wrap="none" lIns="0" tIns="0" rIns="0" bIns="0"/>
          <a:p>
            <a:pPr>
              <a:lnSpc>
                <a:spcPct val="150000"/>
              </a:lnSpc>
            </a:pPr>
            <a:r>
              <a:rPr lang="zh-CN" sz="1200" b="1">
                <a:solidFill>
                  <a:srgbClr val="0E2340"/>
                </a:solidFill>
                <a:latin typeface="Microsoft YaHei"/>
                <a:ea typeface="Microsoft YaHei"/>
              </a:rPr>
              <a:t>备课或讲评</a:t>
            </a:r>
            <a:endParaRPr/>
          </a:p>
        </p:txBody>
      </p:sp>
      <p:sp>
        <p:nvSpPr>
          <p:cNvPr id="2747" name="" descr="{&quot;isTemplate&quot;:true,&quot;type&quot;:&quot;text&quot;}"/>
          <p:cNvSpPr txBox="1"/>
          <p:nvPr/>
        </p:nvSpPr>
        <p:spPr>
          <a:xfrm rot="0" flipH="0" flipV="0">
            <a:off x="1047750" y="2171700"/>
            <a:ext cx="4762500" cy="552450"/>
          </a:xfrm>
          <a:prstGeom prst="rect"/>
        </p:spPr>
        <p:txBody>
          <a:bodyPr wrap="square" lIns="0" tIns="0" rIns="0" bIns="0">
            <a:normAutofit/>
          </a:bodyPr>
          <a:p>
            <a:pPr>
              <a:lnSpc>
                <a:spcPct val="160000"/>
              </a:lnSpc>
            </a:pPr>
            <a:r>
              <a:rPr lang="zh-CN" sz="1125">
                <a:solidFill>
                  <a:srgbClr val="333A45"/>
                </a:solidFill>
                <a:latin typeface="Microsoft YaHei"/>
                <a:ea typeface="Microsoft YaHei"/>
              </a:rPr>
              <a:t>先查询课时范围和授权班级证据，生成可编辑材料，区分全班目标</a:t>
            </a:r>
            <a:r>
              <a:rPr lang="en-US" sz="1125">
                <a:solidFill>
                  <a:srgbClr val="333A45"/>
                </a:solidFill>
                <a:latin typeface="Microsoft YaHei"/>
                <a:ea typeface="Microsoft YaHei"/>
              </a:rPr>
              <a:t xml:space="preserve"> / </a:t>
            </a:r>
            <a:r>
              <a:rPr lang="zh-CN" sz="1125">
                <a:solidFill>
                  <a:srgbClr val="333A45"/>
                </a:solidFill>
                <a:latin typeface="Microsoft YaHei"/>
                <a:ea typeface="Microsoft YaHei"/>
              </a:rPr>
              <a:t>小组需求</a:t>
            </a:r>
            <a:r>
              <a:rPr lang="en-US" sz="1125">
                <a:solidFill>
                  <a:srgbClr val="333A45"/>
                </a:solidFill>
                <a:latin typeface="Microsoft YaHei"/>
                <a:ea typeface="Microsoft YaHei"/>
              </a:rPr>
              <a:t xml:space="preserve"> / </a:t>
            </a:r>
            <a:r>
              <a:rPr lang="zh-CN" sz="1125">
                <a:solidFill>
                  <a:srgbClr val="333A45"/>
                </a:solidFill>
                <a:latin typeface="Microsoft YaHei"/>
                <a:ea typeface="Microsoft YaHei"/>
              </a:rPr>
              <a:t>个别情况。</a:t>
            </a:r>
            <a:endParaRPr/>
          </a:p>
        </p:txBody>
      </p:sp>
      <p:sp>
        <p:nvSpPr>
          <p:cNvPr id="2748" name=""/>
          <p:cNvSpPr/>
          <p:nvPr/>
        </p:nvSpPr>
        <p:spPr>
          <a:xfrm rot="0" flipH="0" flipV="0">
            <a:off x="857250" y="2905125"/>
            <a:ext cx="76200" cy="76200"/>
          </a:xfrm>
          <a:prstGeom prst="roundRect">
            <a:avLst>
              <a:gd name="adj" fmla="val 50000"/>
            </a:avLst>
          </a:prstGeom>
          <a:solidFill>
            <a:srgbClr val="1E7BE0"/>
          </a:solidFill>
          <a:ln/>
        </p:spPr>
        <p:txBody>
          <a:bodyPr/>
          <a:p/>
        </p:txBody>
      </p:sp>
      <p:sp>
        <p:nvSpPr>
          <p:cNvPr id="2749" name="" descr="{&quot;isTemplate&quot;:true,&quot;type&quot;:&quot;text&quot;}"/>
          <p:cNvSpPr txBox="1"/>
          <p:nvPr/>
        </p:nvSpPr>
        <p:spPr>
          <a:xfrm rot="0" flipH="0" flipV="0">
            <a:off x="1047750" y="2819400"/>
            <a:ext cx="4762500" cy="276225"/>
          </a:xfrm>
          <a:prstGeom prst="rect"/>
        </p:spPr>
        <p:txBody>
          <a:bodyPr wrap="none" lIns="0" tIns="0" rIns="0" bIns="0"/>
          <a:p>
            <a:pPr>
              <a:lnSpc>
                <a:spcPct val="150000"/>
              </a:lnSpc>
            </a:pPr>
            <a:r>
              <a:rPr lang="zh-CN" sz="1200" b="1">
                <a:solidFill>
                  <a:srgbClr val="0E2340"/>
                </a:solidFill>
                <a:latin typeface="Microsoft YaHei"/>
                <a:ea typeface="Microsoft YaHei"/>
              </a:rPr>
              <a:t>制作课件</a:t>
            </a:r>
            <a:endParaRPr/>
          </a:p>
        </p:txBody>
      </p:sp>
      <p:sp>
        <p:nvSpPr>
          <p:cNvPr id="2750" name="" descr="{&quot;isTemplate&quot;:true,&quot;type&quot;:&quot;text&quot;}"/>
          <p:cNvSpPr txBox="1"/>
          <p:nvPr/>
        </p:nvSpPr>
        <p:spPr>
          <a:xfrm rot="0" flipH="0" flipV="0">
            <a:off x="1047750" y="3095625"/>
            <a:ext cx="4762500" cy="552450"/>
          </a:xfrm>
          <a:prstGeom prst="rect"/>
        </p:spPr>
        <p:txBody>
          <a:bodyPr wrap="square" lIns="0" tIns="0" rIns="0" bIns="0">
            <a:normAutofit/>
          </a:bodyPr>
          <a:p>
            <a:pPr>
              <a:lnSpc>
                <a:spcPct val="160000"/>
              </a:lnSpc>
            </a:pPr>
            <a:r>
              <a:rPr lang="zh-CN" sz="1125">
                <a:solidFill>
                  <a:srgbClr val="333A45"/>
                </a:solidFill>
                <a:latin typeface="Microsoft YaHei"/>
                <a:ea typeface="Microsoft YaHei"/>
              </a:rPr>
              <a:t>查询系统素材并调用宿主文档能力，核对文件是否实际生成；没有相应工具时先交付内容与素材结构，不虚构已导出的文件。</a:t>
            </a:r>
            <a:endParaRPr/>
          </a:p>
        </p:txBody>
      </p:sp>
      <p:sp>
        <p:nvSpPr>
          <p:cNvPr id="2751" name=""/>
          <p:cNvSpPr/>
          <p:nvPr/>
        </p:nvSpPr>
        <p:spPr>
          <a:xfrm rot="0" flipH="0" flipV="0">
            <a:off x="857250" y="3829050"/>
            <a:ext cx="76200" cy="76200"/>
          </a:xfrm>
          <a:prstGeom prst="roundRect">
            <a:avLst>
              <a:gd name="adj" fmla="val 50000"/>
            </a:avLst>
          </a:prstGeom>
          <a:solidFill>
            <a:srgbClr val="1E7BE0"/>
          </a:solidFill>
          <a:ln/>
        </p:spPr>
        <p:txBody>
          <a:bodyPr/>
          <a:p/>
        </p:txBody>
      </p:sp>
      <p:sp>
        <p:nvSpPr>
          <p:cNvPr id="2752" name="" descr="{&quot;isTemplate&quot;:true,&quot;type&quot;:&quot;text&quot;}"/>
          <p:cNvSpPr txBox="1"/>
          <p:nvPr/>
        </p:nvSpPr>
        <p:spPr>
          <a:xfrm rot="0" flipH="0" flipV="0">
            <a:off x="1047750" y="3743325"/>
            <a:ext cx="4762500" cy="276225"/>
          </a:xfrm>
          <a:prstGeom prst="rect"/>
        </p:spPr>
        <p:txBody>
          <a:bodyPr wrap="none" lIns="0" tIns="0" rIns="0" bIns="0"/>
          <a:p>
            <a:pPr>
              <a:lnSpc>
                <a:spcPct val="150000"/>
              </a:lnSpc>
            </a:pPr>
            <a:r>
              <a:rPr lang="zh-CN" sz="1200" b="1">
                <a:solidFill>
                  <a:srgbClr val="0E2340"/>
                </a:solidFill>
                <a:latin typeface="Microsoft YaHei"/>
                <a:ea typeface="Microsoft YaHei"/>
              </a:rPr>
              <a:t>敏感边界</a:t>
            </a:r>
            <a:endParaRPr/>
          </a:p>
        </p:txBody>
      </p:sp>
      <p:sp>
        <p:nvSpPr>
          <p:cNvPr id="2753" name="" descr="{&quot;isTemplate&quot;:true,&quot;type&quot;:&quot;text&quot;}"/>
          <p:cNvSpPr txBox="1"/>
          <p:nvPr/>
        </p:nvSpPr>
        <p:spPr>
          <a:xfrm rot="0" flipH="0" flipV="0">
            <a:off x="1047750" y="4019550"/>
            <a:ext cx="4762500" cy="552450"/>
          </a:xfrm>
          <a:prstGeom prst="rect"/>
        </p:spPr>
        <p:txBody>
          <a:bodyPr wrap="square" lIns="0" tIns="0" rIns="0" bIns="0">
            <a:normAutofit/>
          </a:bodyPr>
          <a:p>
            <a:pPr>
              <a:lnSpc>
                <a:spcPct val="160000"/>
              </a:lnSpc>
            </a:pPr>
            <a:r>
              <a:rPr lang="zh-CN" sz="1125">
                <a:solidFill>
                  <a:srgbClr val="333A45"/>
                </a:solidFill>
                <a:latin typeface="Microsoft YaHei"/>
                <a:ea typeface="Microsoft YaHei"/>
              </a:rPr>
              <a:t>教师问“这个学生需不需要谈谈”时，呈现持续变化、已提供帮助、学生自述与仍不清楚的问题，不以模型推测给学生确定人格或心理标签。</a:t>
            </a:r>
            <a:endParaRPr/>
          </a:p>
        </p:txBody>
      </p:sp>
      <p:sp>
        <p:nvSpPr>
          <p:cNvPr id="2754" name=""/>
          <p:cNvSpPr/>
          <p:nvPr/>
        </p:nvSpPr>
        <p:spPr>
          <a:xfrm rot="0" flipH="0" flipV="0">
            <a:off x="6191250" y="1219200"/>
            <a:ext cx="5334000" cy="4991100"/>
          </a:xfrm>
          <a:prstGeom prst="roundRect">
            <a:avLst>
              <a:gd name="adj" fmla="val 1527"/>
            </a:avLst>
          </a:prstGeom>
          <a:solidFill>
            <a:srgbClr val="FFFFFF"/>
          </a:solidFill>
          <a:ln w="12700">
            <a:solidFill>
              <a:srgbClr val="E3E8EF"/>
            </a:solidFill>
            <a:prstDash val="solid"/>
          </a:ln>
        </p:spPr>
        <p:txBody>
          <a:bodyPr/>
          <a:p/>
        </p:txBody>
      </p:sp>
      <p:sp>
        <p:nvSpPr>
          <p:cNvPr id="2755" name=""/>
          <p:cNvSpPr/>
          <p:nvPr/>
        </p:nvSpPr>
        <p:spPr>
          <a:xfrm rot="0" flipH="0" flipV="0">
            <a:off x="6191250" y="1219200"/>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2756" name="" descr="{&quot;isTemplate&quot;:true,&quot;type&quot;:&quot;text&quot;}"/>
          <p:cNvSpPr txBox="1"/>
          <p:nvPr/>
        </p:nvSpPr>
        <p:spPr>
          <a:xfrm rot="0" flipH="0" flipV="0">
            <a:off x="6381750" y="1447800"/>
            <a:ext cx="4953000" cy="352425"/>
          </a:xfrm>
          <a:prstGeom prst="rect"/>
        </p:spPr>
        <p:txBody>
          <a:bodyPr wrap="none" lIns="0" tIns="0" rIns="0" bIns="0"/>
          <a:p>
            <a:pPr>
              <a:lnSpc>
                <a:spcPct val="140000"/>
              </a:lnSpc>
            </a:pPr>
            <a:r>
              <a:rPr lang="zh-CN" sz="1650" b="1">
                <a:solidFill>
                  <a:srgbClr val="0E2340"/>
                </a:solidFill>
                <a:latin typeface="Microsoft YaHei"/>
                <a:ea typeface="Microsoft YaHei"/>
              </a:rPr>
              <a:t>学校工作流</a:t>
            </a:r>
            <a:endParaRPr/>
          </a:p>
        </p:txBody>
      </p:sp>
      <p:sp>
        <p:nvSpPr>
          <p:cNvPr id="2757" name=""/>
          <p:cNvSpPr/>
          <p:nvPr/>
        </p:nvSpPr>
        <p:spPr>
          <a:xfrm rot="0" flipH="0" flipV="0">
            <a:off x="6381750" y="1981200"/>
            <a:ext cx="76200" cy="76200"/>
          </a:xfrm>
          <a:prstGeom prst="roundRect">
            <a:avLst>
              <a:gd name="adj" fmla="val 50000"/>
            </a:avLst>
          </a:prstGeom>
          <a:solidFill>
            <a:srgbClr val="1E7BE0"/>
          </a:solidFill>
          <a:ln/>
        </p:spPr>
        <p:txBody>
          <a:bodyPr/>
          <a:p/>
        </p:txBody>
      </p:sp>
      <p:sp>
        <p:nvSpPr>
          <p:cNvPr id="2758" name="" descr="{&quot;isTemplate&quot;:true,&quot;type&quot;:&quot;text&quot;}"/>
          <p:cNvSpPr txBox="1"/>
          <p:nvPr/>
        </p:nvSpPr>
        <p:spPr>
          <a:xfrm rot="0" flipH="0" flipV="0">
            <a:off x="6572250" y="1895475"/>
            <a:ext cx="4762500" cy="276225"/>
          </a:xfrm>
          <a:prstGeom prst="rect"/>
        </p:spPr>
        <p:txBody>
          <a:bodyPr wrap="none" lIns="0" tIns="0" rIns="0" bIns="0"/>
          <a:p>
            <a:pPr>
              <a:lnSpc>
                <a:spcPct val="150000"/>
              </a:lnSpc>
            </a:pPr>
            <a:r>
              <a:rPr lang="zh-CN" sz="1200" b="1">
                <a:solidFill>
                  <a:srgbClr val="0E2340"/>
                </a:solidFill>
                <a:latin typeface="Microsoft YaHei"/>
                <a:ea typeface="Microsoft YaHei"/>
              </a:rPr>
              <a:t>质量分析</a:t>
            </a:r>
            <a:endParaRPr/>
          </a:p>
        </p:txBody>
      </p:sp>
      <p:sp>
        <p:nvSpPr>
          <p:cNvPr id="2759" name="" descr="{&quot;isTemplate&quot;:true,&quot;type&quot;:&quot;text&quot;}"/>
          <p:cNvSpPr txBox="1"/>
          <p:nvPr/>
        </p:nvSpPr>
        <p:spPr>
          <a:xfrm rot="0" flipH="0" flipV="0">
            <a:off x="6572250" y="2171700"/>
            <a:ext cx="4762500" cy="552450"/>
          </a:xfrm>
          <a:prstGeom prst="rect"/>
        </p:spPr>
        <p:txBody>
          <a:bodyPr wrap="square" lIns="0" tIns="0" rIns="0" bIns="0">
            <a:normAutofit/>
          </a:bodyPr>
          <a:p>
            <a:pPr>
              <a:lnSpc>
                <a:spcPct val="160000"/>
              </a:lnSpc>
            </a:pPr>
            <a:r>
              <a:rPr lang="zh-CN" sz="1125">
                <a:solidFill>
                  <a:srgbClr val="333A45"/>
                </a:solidFill>
                <a:latin typeface="Microsoft YaHei"/>
                <a:ea typeface="Microsoft YaHei"/>
              </a:rPr>
              <a:t>先核对数据覆盖、学生起点、任务难度和评价口径，再说明变化、可能解释及应补充的证据。</a:t>
            </a:r>
            <a:endParaRPr/>
          </a:p>
        </p:txBody>
      </p:sp>
      <p:sp>
        <p:nvSpPr>
          <p:cNvPr id="2760" name=""/>
          <p:cNvSpPr/>
          <p:nvPr/>
        </p:nvSpPr>
        <p:spPr>
          <a:xfrm rot="0" flipH="0" flipV="0">
            <a:off x="6381750" y="2905125"/>
            <a:ext cx="76200" cy="76200"/>
          </a:xfrm>
          <a:prstGeom prst="roundRect">
            <a:avLst>
              <a:gd name="adj" fmla="val 50000"/>
            </a:avLst>
          </a:prstGeom>
          <a:solidFill>
            <a:srgbClr val="1E7BE0"/>
          </a:solidFill>
          <a:ln/>
        </p:spPr>
        <p:txBody>
          <a:bodyPr/>
          <a:p/>
        </p:txBody>
      </p:sp>
      <p:sp>
        <p:nvSpPr>
          <p:cNvPr id="2761" name="" descr="{&quot;isTemplate&quot;:true,&quot;type&quot;:&quot;text&quot;}"/>
          <p:cNvSpPr txBox="1"/>
          <p:nvPr/>
        </p:nvSpPr>
        <p:spPr>
          <a:xfrm rot="0" flipH="0" flipV="0">
            <a:off x="6572250" y="2819400"/>
            <a:ext cx="4762500" cy="276225"/>
          </a:xfrm>
          <a:prstGeom prst="rect"/>
        </p:spPr>
        <p:txBody>
          <a:bodyPr wrap="none" lIns="0" tIns="0" rIns="0" bIns="0"/>
          <a:p>
            <a:pPr>
              <a:lnSpc>
                <a:spcPct val="150000"/>
              </a:lnSpc>
            </a:pPr>
            <a:r>
              <a:rPr lang="zh-CN" sz="1200" b="1">
                <a:solidFill>
                  <a:srgbClr val="0E2340"/>
                </a:solidFill>
                <a:latin typeface="Microsoft YaHei"/>
                <a:ea typeface="Microsoft YaHei"/>
              </a:rPr>
              <a:t>绩效相关</a:t>
            </a:r>
            <a:endParaRPr/>
          </a:p>
        </p:txBody>
      </p:sp>
      <p:sp>
        <p:nvSpPr>
          <p:cNvPr id="2762" name="" descr="{&quot;isTemplate&quot;:true,&quot;type&quot;:&quot;text&quot;}"/>
          <p:cNvSpPr txBox="1"/>
          <p:nvPr/>
        </p:nvSpPr>
        <p:spPr>
          <a:xfrm rot="0" flipH="0" flipV="0">
            <a:off x="6572250" y="3095625"/>
            <a:ext cx="4762500" cy="552450"/>
          </a:xfrm>
          <a:prstGeom prst="rect"/>
        </p:spPr>
        <p:txBody>
          <a:bodyPr wrap="square" lIns="0" tIns="0" rIns="0" bIns="0">
            <a:normAutofit/>
          </a:bodyPr>
          <a:p>
            <a:pPr>
              <a:lnSpc>
                <a:spcPct val="160000"/>
              </a:lnSpc>
            </a:pPr>
            <a:r>
              <a:rPr lang="zh-CN" sz="1125">
                <a:solidFill>
                  <a:srgbClr val="333A45"/>
                </a:solidFill>
                <a:latin typeface="Microsoft YaHei"/>
                <a:ea typeface="Microsoft YaHei"/>
              </a:rPr>
              <a:t>提供多来源证据及比较条件，最终评价由明确管理规则与人工复核形成；不能以使用系统次数或未经核实的单一模型分数直接判断教师优劣。</a:t>
            </a:r>
            <a:endParaRPr/>
          </a:p>
        </p:txBody>
      </p:sp>
      <p:sp>
        <p:nvSpPr>
          <p:cNvPr id="2763" name=""/>
          <p:cNvSpPr/>
          <p:nvPr/>
        </p:nvSpPr>
        <p:spPr>
          <a:xfrm rot="0" flipH="0" flipV="0">
            <a:off x="6381750" y="3829050"/>
            <a:ext cx="76200" cy="76200"/>
          </a:xfrm>
          <a:prstGeom prst="roundRect">
            <a:avLst>
              <a:gd name="adj" fmla="val 50000"/>
            </a:avLst>
          </a:prstGeom>
          <a:solidFill>
            <a:srgbClr val="1E7BE0"/>
          </a:solidFill>
          <a:ln/>
        </p:spPr>
        <p:txBody>
          <a:bodyPr/>
          <a:p/>
        </p:txBody>
      </p:sp>
      <p:sp>
        <p:nvSpPr>
          <p:cNvPr id="2764" name="" descr="{&quot;isTemplate&quot;:true,&quot;type&quot;:&quot;text&quot;}"/>
          <p:cNvSpPr txBox="1"/>
          <p:nvPr/>
        </p:nvSpPr>
        <p:spPr>
          <a:xfrm rot="0" flipH="0" flipV="0">
            <a:off x="6572250" y="3743325"/>
            <a:ext cx="4762500" cy="276225"/>
          </a:xfrm>
          <a:prstGeom prst="rect"/>
        </p:spPr>
        <p:txBody>
          <a:bodyPr wrap="none" lIns="0" tIns="0" rIns="0" bIns="0"/>
          <a:p>
            <a:pPr>
              <a:lnSpc>
                <a:spcPct val="150000"/>
              </a:lnSpc>
            </a:pPr>
            <a:r>
              <a:rPr lang="zh-CN" sz="1200" b="1">
                <a:solidFill>
                  <a:srgbClr val="0E2340"/>
                </a:solidFill>
                <a:latin typeface="Microsoft YaHei"/>
                <a:ea typeface="Microsoft YaHei"/>
              </a:rPr>
              <a:t>体系修改</a:t>
            </a:r>
            <a:endParaRPr/>
          </a:p>
        </p:txBody>
      </p:sp>
      <p:sp>
        <p:nvSpPr>
          <p:cNvPr id="2765" name="" descr="{&quot;isTemplate&quot;:true,&quot;type&quot;:&quot;text&quot;}"/>
          <p:cNvSpPr txBox="1"/>
          <p:nvPr/>
        </p:nvSpPr>
        <p:spPr>
          <a:xfrm rot="0" flipH="0" flipV="0">
            <a:off x="6572250" y="4019550"/>
            <a:ext cx="4762500" cy="828675"/>
          </a:xfrm>
          <a:prstGeom prst="rect"/>
        </p:spPr>
        <p:txBody>
          <a:bodyPr wrap="square" lIns="0" tIns="0" rIns="0" bIns="0">
            <a:normAutofit/>
          </a:bodyPr>
          <a:p>
            <a:pPr>
              <a:lnSpc>
                <a:spcPct val="160000"/>
              </a:lnSpc>
            </a:pPr>
            <a:r>
              <a:rPr lang="zh-CN" sz="1125">
                <a:solidFill>
                  <a:srgbClr val="333A45"/>
                </a:solidFill>
                <a:latin typeface="Microsoft YaHei"/>
                <a:ea typeface="Microsoft YaHei"/>
              </a:rPr>
              <a:t>修改课时、知识点、步骤或套路时，先生成变更草稿与影响范围，再通过学校版本流程发布；</a:t>
            </a:r>
            <a:r>
              <a:rPr lang="en-US" sz="1125">
                <a:solidFill>
                  <a:srgbClr val="333A45"/>
                </a:solidFill>
                <a:latin typeface="Microsoft YaHei"/>
                <a:ea typeface="Microsoft YaHei"/>
              </a:rPr>
              <a:t xml:space="preserve">Agent </a:t>
            </a:r>
            <a:r>
              <a:rPr lang="zh-CN" sz="1125">
                <a:solidFill>
                  <a:srgbClr val="333A45"/>
                </a:solidFill>
                <a:latin typeface="Microsoft YaHei"/>
                <a:ea typeface="Microsoft YaHei"/>
              </a:rPr>
              <a:t>不因“优化一下”就静默改写历史记录或所有学校的公共体系。</a:t>
            </a:r>
            <a:endParaRPr/>
          </a:p>
        </p:txBody>
      </p:sp>
      <p:sp>
        <p:nvSpPr>
          <p:cNvPr id="2766"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767" name="" descr="{&quot;isTemplate&quot;:true,&quot;type&quot;:&quot;text&quot;}"/>
          <p:cNvSpPr txBox="1"/>
          <p:nvPr/>
        </p:nvSpPr>
        <p:spPr>
          <a:xfrm rot="0" flipH="0" flipV="0">
            <a:off x="666750" y="6381750"/>
            <a:ext cx="2028825" cy="209550"/>
          </a:xfrm>
          <a:prstGeom prst="rect"/>
        </p:spPr>
        <p:txBody>
          <a:bodyPr wrap="none" lIns="0" tIns="0" rIns="0" bIns="0"/>
          <a:p>
            <a:pPr>
              <a:lnSpc>
                <a:spcPct val="140000"/>
              </a:lnSpc>
            </a:pPr>
            <a:r>
              <a:rPr lang="zh-CN" sz="975">
                <a:solidFill>
                  <a:srgbClr val="7A8699"/>
                </a:solidFill>
                <a:latin typeface="Microsoft YaHei"/>
                <a:ea typeface="Microsoft YaHei"/>
              </a:rPr>
              <a:t>依据：教学协同</a:t>
            </a:r>
            <a:r>
              <a:rPr lang="en-US" sz="975">
                <a:solidFill>
                  <a:srgbClr val="7A8699"/>
                </a:solidFill>
                <a:latin typeface="Microsoft YaHei"/>
                <a:ea typeface="Microsoft YaHei"/>
              </a:rPr>
              <a:t>Agent</a:t>
            </a:r>
            <a:r>
              <a:rPr lang="zh-CN" sz="975">
                <a:solidFill>
                  <a:srgbClr val="7A8699"/>
                </a:solidFill>
                <a:latin typeface="Microsoft YaHei"/>
                <a:ea typeface="Microsoft YaHei"/>
              </a:rPr>
              <a:t>设计</a:t>
            </a:r>
            <a:r>
              <a:rPr lang="en-US" sz="975">
                <a:solidFill>
                  <a:srgbClr val="7A8699"/>
                </a:solidFill>
                <a:latin typeface="Microsoft YaHei"/>
                <a:ea typeface="Microsoft YaHei"/>
              </a:rPr>
              <a:t>.md §5–§6</a:t>
            </a:r>
            <a:endParaRPr/>
          </a:p>
        </p:txBody>
      </p:sp>
      <p:sp>
        <p:nvSpPr>
          <p:cNvPr id="2768"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82 / 124 </a:t>
            </a:r>
            <a:endParaRPr/>
          </a:p>
        </p:txBody>
      </p:sp>
    </p:spTree>
  </p:cSld>
</p:sld>
</file>

<file path=ppt/slides/slide83.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769"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8 / 教学协同 Agent&lt;/Text&gt;&lt;Text style={{ fontSize: 32, color: '#0E2340', fontWeight: 700, lineHeight: 1.3 }}&gt;跨角色协同链路与隐私边界&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8 }}&gt;&lt;Box style={{ flexDirection: 'column', gap: 16, flex: 1, justifyContent: 'center' }}&gt;&lt;svg width={1140} height={180} viewBox='0 0 1140 180'&gt;&lt;rect x='0' y='40' width='191' height='88' rx='8' fill='#0E2340' stroke='#1E7BE0' stroke-width='1.5'/&gt;&lt;text x='95.5' y='78.0' font-size='20' fill='#FFFFFF' text-anchor='middle' font-weight='600'&gt;学生练习反复受阻&lt;/text&gt;&lt;text x='95.5' y='104.0' font-size='15' fill='#FFFFFF' text-anchor='middle' font-weight='400'&gt;形成目标步骤与作答证据&lt;/text&gt;&lt;line x1='197' y1='84' x2='223' y2='84' stroke='#1E7BE0' stroke-width='2'/&gt;&lt;path d='M223 78 l10 -6 l0 12 z' fill='#1E7BE0'/&gt;&lt;rect x='237' y='40' width='191' height='88' rx='8' fill='#FFFFFF' stroke='#1E7BE0' stroke-width='1.5'/&gt;&lt;text x='332.5' y='78.0' font-size='20' fill='#0E2340' text-anchor='middle' font-weight='600'&gt;生成供教师查看的摘要&lt;/text&gt;&lt;text x='332.5' y='104.0' font-size='15' fill='#7A8699' text-anchor='middle' font-weight='400'&gt;含已尝试支持与待核实问题&lt;/text&gt;&lt;line x1='434' y1='84' x2='460' y2='84' stroke='#1E7BE0' stroke-width='2'/&gt;&lt;path d='M460 78 l10 -6 l0 12 z' fill='#1E7BE0'/&gt;&lt;rect x='474' y='40' width='191' height='88' rx='8' fill='#FFFFFF' stroke='#1E7BE0' stroke-width='1.5'/&gt;&lt;text x='569.5' y='78.0' font-size='20' fill='#0E2340' text-anchor='middle' font-weight='600'&gt;教师安排补练&lt;/text&gt;&lt;text x='569.5' y='104.0' font-size='15' fill='#7A8699' text-anchor='middle' font-weight='400'&gt;落实为具体任务&lt;/text&gt;&lt;line x1='671' y1='84' x2='697' y2='84' stroke='#1E7BE0' stroke-width='2'/&gt;&lt;path d='M697 78 l10 -6 l0 12 z' fill='#1E7BE0'/&gt;&lt;rect x='711' y='40' width='191' height='88' rx='8' fill='#FFFFFF' stroke='#1E7BE0' stroke-width='1.5'/&gt;&lt;text x='806.5' y='78.0' font-size='20' fill='#0E2340' text-anchor='middle' font-weight='600'&gt;学生助教在预算内跟进&lt;/text&gt;&lt;text x='806.5' y='104.0' font-size='15' fill='#7A8699' text-anchor='middle' font-weight='400'&gt;读取任务并复测&lt;/text&gt;&lt;line x1='908' y1='84' x2='934' y2='84' stroke='#1E7BE0' stroke-width='2'/&gt;&lt;path d='M934 78 l10 -6 l0 12 z' fill='#1E7BE0'/&gt;&lt;rect x='948' y='40' width='191' height='88' rx='8' fill='#F5F7FA' stroke='#1E7BE0' stroke-width='1.5'/&gt;&lt;text x='1043.5' y='78.0' font-size='20' fill='#0E2340' text-anchor='middle' font-weight='600'&gt;学校查看经允许的汇总&lt;/text&gt;&lt;text x='1043.5' y='104.0' font-size='15' fill='#7A8699' text-anchor='middle' font-weight='400'&gt;不展开个人对话&lt;/text&gt;&lt;/svg&gt;&lt;/Box&gt;&lt;Box style={{ flexDirection: 'row', alignItems: 'center', background: '#F5F7FA', borderLeft: '4px solid #00A9B5', borderRadius: 6, padding: '14px 20px' }}&gt;&lt;Text style={{ fontSize: 16, color: '#0E2340', fontWeight: 600, lineHeight: 1.5 }}&gt;隐私：个人对话内容不因角色协同就全部共享；对教师保留教学所需证据，对学校按职责提供汇总或必要明细。首期仅使用系统内任务与教师可见摘要，外部通知需单独接入与配置授权&lt;/Text&gt;&lt;/Box&gt;&lt;/Box&gt;&lt;/Box&gt;&lt;Box style={{ height: 40, flexDirection: 'row', justifyContent: 'space-between', alignItems: 'center', borderTop: '1px solid #E3E8EF', marginTop: 8 }}&gt;&lt;Text style={{ fontSize: 13, color: '#7A8699', fontWeight: 400, lineHeight: 1.4 }}&gt;依据：教学协同Agent设计.md §7–§8&lt;/Text&gt;&lt;Text style={{ fontSize: 14, color: '#7A8699', fontWeight: 400, lineHeight: 1.4 }}&gt; 83 / 124 &lt;/Text&gt;&lt;/Box&gt;&lt;/Slide&gt;"/>
        <p:cNvGrpSpPr/>
        <p:nvPr/>
      </p:nvGrpSpPr>
      <p:grpSpPr>
        <a:xfrm>
          <a:off x="0" y="0"/>
          <a:ext cx="0" cy="0"/>
          <a:chOff x="0" y="0"/>
          <a:chExt cx="0" cy="0"/>
        </a:xfrm>
      </p:grpSpPr>
      <p:sp>
        <p:nvSpPr>
          <p:cNvPr id="2770" name=""/>
          <p:cNvSpPr/>
          <p:nvPr/>
        </p:nvSpPr>
        <p:spPr>
          <a:xfrm rot="0" flipH="0" flipV="0">
            <a:off x="0" y="0"/>
            <a:ext cx="12192000" cy="6858000"/>
          </a:xfrm>
          <a:prstGeom prst="rect">
            <a:avLst/>
          </a:prstGeom>
          <a:solidFill>
            <a:srgbClr val="FFFFFF"/>
          </a:solidFill>
          <a:ln/>
        </p:spPr>
        <p:txBody>
          <a:bodyPr/>
          <a:p/>
        </p:txBody>
      </p:sp>
      <p:sp>
        <p:nvSpPr>
          <p:cNvPr id="2771" name="" descr="{&quot;isTemplate&quot;:true,&quot;type&quot;:&quot;text&quot;}"/>
          <p:cNvSpPr txBox="1"/>
          <p:nvPr/>
        </p:nvSpPr>
        <p:spPr>
          <a:xfrm rot="0" flipH="0" flipV="0">
            <a:off x="666750" y="381000"/>
            <a:ext cx="3657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08 / </a:t>
            </a:r>
            <a:r>
              <a:rPr lang="zh-CN" sz="1050" spc="75">
                <a:solidFill>
                  <a:srgbClr val="7A8699"/>
                </a:solidFill>
                <a:latin typeface="Microsoft YaHei"/>
                <a:ea typeface="Microsoft YaHei"/>
              </a:rPr>
              <a:t>教学协同</a:t>
            </a:r>
            <a:r>
              <a:rPr lang="en-US" sz="1050" spc="75">
                <a:solidFill>
                  <a:srgbClr val="7A8699"/>
                </a:solidFill>
                <a:latin typeface="Microsoft YaHei"/>
                <a:ea typeface="Microsoft YaHei"/>
              </a:rPr>
              <a:t xml:space="preserve"> Agent</a:t>
            </a:r>
            <a:endParaRPr/>
          </a:p>
        </p:txBody>
      </p:sp>
      <p:sp>
        <p:nvSpPr>
          <p:cNvPr id="2772" name="" descr="{&quot;isTemplate&quot;:true,&quot;type&quot;:&quot;text&quot;}"/>
          <p:cNvSpPr txBox="1"/>
          <p:nvPr/>
        </p:nvSpPr>
        <p:spPr>
          <a:xfrm rot="0" flipH="0" flipV="0">
            <a:off x="666750" y="666750"/>
            <a:ext cx="3657600" cy="476250"/>
          </a:xfrm>
          <a:prstGeom prst="rect"/>
        </p:spPr>
        <p:txBody>
          <a:bodyPr wrap="none" lIns="0" tIns="0" rIns="0" bIns="0"/>
          <a:p>
            <a:pPr>
              <a:lnSpc>
                <a:spcPct val="130000"/>
              </a:lnSpc>
            </a:pPr>
            <a:r>
              <a:rPr lang="zh-CN" sz="2400" b="1">
                <a:solidFill>
                  <a:srgbClr val="0E2340"/>
                </a:solidFill>
                <a:latin typeface="Microsoft YaHei"/>
                <a:ea typeface="Microsoft YaHei"/>
              </a:rPr>
              <a:t>跨角色协同链路与隐私边界</a:t>
            </a:r>
            <a:endParaRPr/>
          </a:p>
        </p:txBody>
      </p:sp>
      <p:sp>
        <p:nvSpPr>
          <p:cNvPr id="2773"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774"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2775" name=""/>
          <p:cNvPicPr>
            <a:picLocks noChangeAspect="1"/>
          </p:cNvPicPr>
          <p:nvPr/>
        </p:nvPicPr>
        <p:blipFill>
          <a:blip>
            <a:extLst>
              <a:ext uri="{96DAC541-7B7A-43D3-8B79-37D633B846F1}">
                <asvg:svgBlip r:embed="rId1"/>
              </a:ext>
            </a:extLst>
          </a:blip>
          <a:stretch>
            <a:fillRect/>
          </a:stretch>
        </p:blipFill>
        <p:spPr>
          <a:xfrm rot="0" flipH="0" flipV="0">
            <a:off x="666750" y="2362200"/>
            <a:ext cx="10858500" cy="1714500"/>
          </a:xfrm>
          <a:prstGeom prst="rect">
            <a:avLst/>
          </a:prstGeom>
          <a:ln/>
        </p:spPr>
      </p:pic>
      <p:sp>
        <p:nvSpPr>
          <p:cNvPr id="2776" name=""/>
          <p:cNvSpPr/>
          <p:nvPr/>
        </p:nvSpPr>
        <p:spPr>
          <a:xfrm rot="0" flipH="0" flipV="0">
            <a:off x="704850" y="5391150"/>
            <a:ext cx="10858500" cy="819150"/>
          </a:xfrm>
          <a:prstGeom prst="roundRect">
            <a:avLst>
              <a:gd name="adj" fmla="val 6977"/>
            </a:avLst>
          </a:prstGeom>
          <a:solidFill>
            <a:srgbClr val="F5F7FA"/>
          </a:solidFill>
          <a:ln/>
        </p:spPr>
        <p:txBody>
          <a:bodyPr/>
          <a:p/>
        </p:txBody>
      </p:sp>
      <p:sp>
        <p:nvSpPr>
          <p:cNvPr id="2777" name=""/>
          <p:cNvSpPr/>
          <p:nvPr/>
        </p:nvSpPr>
        <p:spPr>
          <a:xfrm rot="0" flipH="0" flipV="0">
            <a:off x="704850" y="5391150"/>
            <a:ext cx="10858500" cy="819150"/>
          </a:xfrm>
          <a:custGeom>
            <a:pathLst>
              <a:path w="1140" h="86">
                <a:moveTo>
                  <a:pt x="6" y="0"/>
                </a:moveTo>
                <a:cubicBezTo>
                  <a:pt x="5" y="0"/>
                  <a:pt x="4" y="1"/>
                  <a:pt x="4" y="2"/>
                </a:cubicBezTo>
                <a:lnTo>
                  <a:pt x="4" y="84"/>
                </a:lnTo>
                <a:cubicBezTo>
                  <a:pt x="4" y="85"/>
                  <a:pt x="5" y="86"/>
                  <a:pt x="6" y="86"/>
                </a:cubicBezTo>
                <a:cubicBezTo>
                  <a:pt x="3" y="86"/>
                  <a:pt x="0" y="83"/>
                  <a:pt x="0" y="80"/>
                </a:cubicBezTo>
                <a:lnTo>
                  <a:pt x="0" y="6"/>
                </a:lnTo>
                <a:cubicBezTo>
                  <a:pt x="0" y="3"/>
                  <a:pt x="3" y="0"/>
                  <a:pt x="6" y="0"/>
                </a:cubicBezTo>
                <a:close/>
              </a:path>
            </a:pathLst>
          </a:custGeom>
          <a:solidFill>
            <a:srgbClr val="00A9B5"/>
          </a:solidFill>
          <a:ln/>
        </p:spPr>
        <p:txBody>
          <a:bodyPr/>
          <a:p/>
        </p:txBody>
      </p:sp>
      <p:sp>
        <p:nvSpPr>
          <p:cNvPr id="2778" name="" descr="{&quot;isTemplate&quot;:true,&quot;type&quot;:&quot;text&quot;}"/>
          <p:cNvSpPr txBox="1"/>
          <p:nvPr/>
        </p:nvSpPr>
        <p:spPr>
          <a:xfrm rot="0" flipH="0" flipV="0">
            <a:off x="895350" y="5524500"/>
            <a:ext cx="10439400" cy="552450"/>
          </a:xfrm>
          <a:prstGeom prst="rect"/>
        </p:spPr>
        <p:txBody>
          <a:bodyPr wrap="square" lIns="0" tIns="0" rIns="0" bIns="0">
            <a:normAutofit/>
          </a:bodyPr>
          <a:p>
            <a:pPr>
              <a:lnSpc>
                <a:spcPct val="150000"/>
              </a:lnSpc>
            </a:pPr>
            <a:r>
              <a:rPr lang="zh-CN" sz="1200" b="1">
                <a:solidFill>
                  <a:srgbClr val="0E2340"/>
                </a:solidFill>
                <a:latin typeface="Microsoft YaHei"/>
                <a:ea typeface="Microsoft YaHei"/>
              </a:rPr>
              <a:t>隐私：个人对话内容不因角色协同就全部共享；对教师保留教学所需证据，对学校按职责提供汇总或必要明细。首期仅使用系统内任务与教师可见摘要，外部通知需单独接入与配置授权</a:t>
            </a:r>
            <a:endParaRPr/>
          </a:p>
        </p:txBody>
      </p:sp>
      <p:sp>
        <p:nvSpPr>
          <p:cNvPr id="2779"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780" name="" descr="{&quot;isTemplate&quot;:true,&quot;type&quot;:&quot;text&quot;}"/>
          <p:cNvSpPr txBox="1"/>
          <p:nvPr/>
        </p:nvSpPr>
        <p:spPr>
          <a:xfrm rot="0" flipH="0" flipV="0">
            <a:off x="666750" y="6381750"/>
            <a:ext cx="2028825" cy="209550"/>
          </a:xfrm>
          <a:prstGeom prst="rect"/>
        </p:spPr>
        <p:txBody>
          <a:bodyPr wrap="none" lIns="0" tIns="0" rIns="0" bIns="0"/>
          <a:p>
            <a:pPr>
              <a:lnSpc>
                <a:spcPct val="140000"/>
              </a:lnSpc>
            </a:pPr>
            <a:r>
              <a:rPr lang="zh-CN" sz="975">
                <a:solidFill>
                  <a:srgbClr val="7A8699"/>
                </a:solidFill>
                <a:latin typeface="Microsoft YaHei"/>
                <a:ea typeface="Microsoft YaHei"/>
              </a:rPr>
              <a:t>依据：教学协同</a:t>
            </a:r>
            <a:r>
              <a:rPr lang="en-US" sz="975">
                <a:solidFill>
                  <a:srgbClr val="7A8699"/>
                </a:solidFill>
                <a:latin typeface="Microsoft YaHei"/>
                <a:ea typeface="Microsoft YaHei"/>
              </a:rPr>
              <a:t>Agent</a:t>
            </a:r>
            <a:r>
              <a:rPr lang="zh-CN" sz="975">
                <a:solidFill>
                  <a:srgbClr val="7A8699"/>
                </a:solidFill>
                <a:latin typeface="Microsoft YaHei"/>
                <a:ea typeface="Microsoft YaHei"/>
              </a:rPr>
              <a:t>设计</a:t>
            </a:r>
            <a:r>
              <a:rPr lang="en-US" sz="975">
                <a:solidFill>
                  <a:srgbClr val="7A8699"/>
                </a:solidFill>
                <a:latin typeface="Microsoft YaHei"/>
                <a:ea typeface="Microsoft YaHei"/>
              </a:rPr>
              <a:t>.md §7–§8</a:t>
            </a:r>
            <a:endParaRPr/>
          </a:p>
        </p:txBody>
      </p:sp>
      <p:sp>
        <p:nvSpPr>
          <p:cNvPr id="2781"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83 / 124 </a:t>
            </a:r>
            <a:endParaRPr/>
          </a:p>
        </p:txBody>
      </p:sp>
    </p:spTree>
  </p:cSld>
</p:sld>
</file>

<file path=ppt/slides/slide84.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782"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8 / 教学协同 Agent&lt;/Text&gt;&lt;Text style={{ fontSize: 32, color: '#0E2340', fontWeight: 700, lineHeight: 1.3 }}&gt;长期记忆分层与工具编排规则&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row', gap: 24, flex: 1 }}&gt;&lt;Box style={{ width: 520 }}&gt;&lt;svg width={520} height={420} viewBox='0 0 520 420'&gt;&lt;rect x='0' y='0' width='520' height='96' rx='8' fill='#0E2340'/&gt;&lt;text x='260.0' y='42.0' font-size='22' fill='#FFFFFF' text-anchor='middle' font-weight='600'&gt;原始记录&lt;/text&gt;&lt;text x='260.0' y='68.0' font-size='15' fill='#C8DCF2' text-anchor='middle' font-weight='400'&gt;作答、笔迹、事件&lt;/text&gt;&lt;path d='M252 97 l8 8 l-8 8' fill='none' stroke='#00A9B5' stroke-width='2'/&gt;&lt;rect x='0' y='108' width='520' height='96' rx='8' fill='#1B4E8C'/&gt;&lt;text x='260.0' y='150.0' font-size='22' fill='#FFFFFF' text-anchor='middle' font-weight='600'&gt;结构化能力状态&lt;/text&gt;&lt;text x='260.0' y='176.0' font-size='15' fill='#C8DCF2' text-anchor='middle' font-weight='400'&gt;知识点 / 步骤 / 套路掌握&lt;/text&gt;&lt;path d='M252 205 l8 8 l-8 8' fill='none' stroke='#00A9B5' stroke-width='2'/&gt;&lt;rect x='0' y='216' width='520' height='96' rx='8' fill='#1E7BE0'/&gt;&lt;text x='260.0' y='258.0' font-size='22' fill='#FFFFFF' text-anchor='middle' font-weight='600'&gt;经确认个人信息&lt;/text&gt;&lt;text x='260.0' y='284.0' font-size='15' fill='#C8DCF2' text-anchor='middle' font-weight='400'&gt;目标、偏好、已核实事项&lt;/text&gt;&lt;path d='M252 313 l8 8 l-8 8' fill='none' stroke='#00A9B5' stroke-width='2'/&gt;&lt;rect x='0' y='324' width='520' height='96' rx='8' fill='#9FD0F5'/&gt;&lt;text x='260.0' y='366.0' font-size='22' fill='#0E2340' text-anchor='middle' font-weight='600'&gt;待验证事项&lt;/text&gt;&lt;text x='260.0' y='392.0' font-size='15' fill='#333A45' text-anchor='middle' font-weight='400'&gt;近期上下文与未确认判断&lt;/text&gt;&lt;/svg&gt;&lt;/Box&gt;&lt;Box style={{ flex: 1, flexDirection: 'column', gap: 10, justifyContent: 'center' }}&gt;&lt;Text style={{ fontSize: 22, color: '#0E2340', fontWeight: 700, lineHeight: 1.4 }}&gt;六组能力编排&lt;/Text&gt;&lt;Box style={{ flexDirection: 'column', gap: 9 }}&gt;&lt;Box style={{ flexDirection: 'row', gap: 12, alignItems: 'flex-start' }}&gt;&lt;Box style={{ width: 8, height: 8, borderRadius: 4, background: '#1E7BE0', marginTop: 9 }} /&gt;&lt;Box style={{ flex: 1 }}&gt;&lt;Text style={{ fontSize: 16, color: '#0E2340', fontWeight: 600, lineHeight: 1.5 }}&gt;查询&lt;/Text&gt;&lt;Text style={{ fontSize: 15, color: '#333A45', fontWeight: 400, lineHeight: 1.6 }}&gt;先查授权范围，按需取详情；保留来源和未核实项。&lt;/Text&gt;&lt;/Box&gt;&lt;/Box&gt;&lt;Box style={{ flexDirection: 'row', gap: 12, alignItems: 'flex-start' }}&gt;&lt;Box style={{ width: 8, height: 8, borderRadius: 4, background: '#1E7BE0', marginTop: 9 }} /&gt;&lt;Box style={{ flex: 1 }}&gt;&lt;Text style={{ fontSize: 16, color: '#0E2340', fontWeight: 600, lineHeight: 1.5 }}&gt;解题 / 批改 / 出题&lt;/Text&gt;&lt;Text style={{ fontSize: 15, color: '#333A45', fontWeight: 400, lineHeight: 1.6 }}&gt;使用共用流水线和评分依据，避免在闲聊中另起互相冲突的标准。&lt;/Text&gt;&lt;/Box&gt;&lt;/Box&gt;&lt;Box style={{ flexDirection: 'row', gap: 12, alignItems: 'flex-start' }}&gt;&lt;Box style={{ width: 8, height: 8, borderRadius: 4, background: '#1E7BE0', marginTop: 9 }} /&gt;&lt;Box style={{ flex: 1 }}&gt;&lt;Text style={{ fontSize: 16, color: '#0E2340', fontWeight: 600, lineHeight: 1.5 }}&gt;教学与诊断&lt;/Text&gt;&lt;Text style={{ fontSize: 15, color: '#333A45', fontWeight: 400, lineHeight: 1.6 }}&gt;继续正确任务，记录帮助条件和待验证目标。&lt;/Text&gt;&lt;/Box&gt;&lt;/Box&gt;&lt;Box style={{ flexDirection: 'row', gap: 12, alignItems: 'flex-start' }}&gt;&lt;Box style={{ width: 8, height: 8, borderRadius: 4, background: '#1E7BE0', marginTop: 9 }} /&gt;&lt;Box style={{ flex: 1 }}&gt;&lt;Text style={{ fontSize: 16, color: '#0E2340', fontWeight: 600, lineHeight: 1.5 }}&gt;计划与干预&lt;/Text&gt;&lt;Text style={{ fontSize: 15, color: '#333A45', fontWeight: 400, lineHeight: 1.6 }}&gt;复用统一预算，区分建议、已安排、已实施和改善证据。&lt;/Text&gt;&lt;/Box&gt;&lt;/Box&gt;&lt;Box style={{ flexDirection: 'row', gap: 12, alignItems: 'flex-start' }}&gt;&lt;Box style={{ width: 8, height: 8, borderRadius: 4, background: '#1E7BE0', marginTop: 9 }} /&gt;&lt;Box style={{ flex: 1 }}&gt;&lt;Text style={{ fontSize: 16, color: '#0E2340', fontWeight: 600, lineHeight: 1.5 }}&gt;发布与更改&lt;/Text&gt;&lt;Text style={{ fontSize: 15, color: '#333A45', fontWeight: 400, lineHeight: 1.6 }}&gt;按业务角色、明确授权和预期版本执行，保留对象及结果。&lt;/Text&gt;&lt;/Box&gt;&lt;/Box&gt;&lt;Box style={{ flexDirection: 'row', gap: 12, alignItems: 'flex-start' }}&gt;&lt;Box style={{ width: 8, height: 8, borderRadius: 4, background: '#1E7BE0', marginTop: 9 }} /&gt;&lt;Box style={{ flex: 1 }}&gt;&lt;Text style={{ fontSize: 16, color: '#0E2340', fontWeight: 600, lineHeight: 1.5 }}&gt;长任务与产物&lt;/Text&gt;&lt;Text style={{ fontSize: 15, color: '#333A45', fontWeight: 400, lineHeight: 1.6 }}&gt;保存业务任务编号，先恢复后重试，验证结果和文件实际可访问。&lt;/Text&gt;&lt;/Box&gt;&lt;/Box&gt;&lt;/Box&gt;&lt;/Box&gt;&lt;/Box&gt;&lt;/Box&gt;&lt;Box style={{ height: 40, flexDirection: 'row', justifyContent: 'space-between', alignItems: 'center', borderTop: '1px solid #E3E8EF', marginTop: 8 }}&gt;&lt;Text style={{ fontSize: 13, color: '#7A8699', fontWeight: 400, lineHeight: 1.4 }}&gt;依据：教学协同Agent设计.md §8–§9&lt;/Text&gt;&lt;Text style={{ fontSize: 14, color: '#7A8699', fontWeight: 400, lineHeight: 1.4 }}&gt; 84 / 124 &lt;/Text&gt;&lt;/Box&gt;&lt;/Slide&gt;"/>
        <p:cNvGrpSpPr/>
        <p:nvPr/>
      </p:nvGrpSpPr>
      <p:grpSpPr>
        <a:xfrm>
          <a:off x="0" y="0"/>
          <a:ext cx="0" cy="0"/>
          <a:chOff x="0" y="0"/>
          <a:chExt cx="0" cy="0"/>
        </a:xfrm>
      </p:grpSpPr>
      <p:sp>
        <p:nvSpPr>
          <p:cNvPr id="2783" name=""/>
          <p:cNvSpPr/>
          <p:nvPr/>
        </p:nvSpPr>
        <p:spPr>
          <a:xfrm rot="0" flipH="0" flipV="0">
            <a:off x="0" y="0"/>
            <a:ext cx="12192000" cy="6858000"/>
          </a:xfrm>
          <a:prstGeom prst="rect">
            <a:avLst/>
          </a:prstGeom>
          <a:solidFill>
            <a:srgbClr val="FFFFFF"/>
          </a:solidFill>
          <a:ln/>
        </p:spPr>
        <p:txBody>
          <a:bodyPr/>
          <a:p/>
        </p:txBody>
      </p:sp>
      <p:sp>
        <p:nvSpPr>
          <p:cNvPr id="2784" name="" descr="{&quot;isTemplate&quot;:true,&quot;type&quot;:&quot;text&quot;}"/>
          <p:cNvSpPr txBox="1"/>
          <p:nvPr/>
        </p:nvSpPr>
        <p:spPr>
          <a:xfrm rot="0" flipH="0" flipV="0">
            <a:off x="666750" y="381000"/>
            <a:ext cx="39624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08 / </a:t>
            </a:r>
            <a:r>
              <a:rPr lang="zh-CN" sz="1050" spc="75">
                <a:solidFill>
                  <a:srgbClr val="7A8699"/>
                </a:solidFill>
                <a:latin typeface="Microsoft YaHei"/>
                <a:ea typeface="Microsoft YaHei"/>
              </a:rPr>
              <a:t>教学协同</a:t>
            </a:r>
            <a:r>
              <a:rPr lang="en-US" sz="1050" spc="75">
                <a:solidFill>
                  <a:srgbClr val="7A8699"/>
                </a:solidFill>
                <a:latin typeface="Microsoft YaHei"/>
                <a:ea typeface="Microsoft YaHei"/>
              </a:rPr>
              <a:t xml:space="preserve"> Agent</a:t>
            </a:r>
            <a:endParaRPr/>
          </a:p>
        </p:txBody>
      </p:sp>
      <p:sp>
        <p:nvSpPr>
          <p:cNvPr id="2785" name="" descr="{&quot;isTemplate&quot;:true,&quot;type&quot;:&quot;text&quot;}"/>
          <p:cNvSpPr txBox="1"/>
          <p:nvPr/>
        </p:nvSpPr>
        <p:spPr>
          <a:xfrm rot="0" flipH="0" flipV="0">
            <a:off x="666750" y="666750"/>
            <a:ext cx="3962400" cy="476250"/>
          </a:xfrm>
          <a:prstGeom prst="rect"/>
        </p:spPr>
        <p:txBody>
          <a:bodyPr wrap="none" lIns="0" tIns="0" rIns="0" bIns="0"/>
          <a:p>
            <a:pPr>
              <a:lnSpc>
                <a:spcPct val="130000"/>
              </a:lnSpc>
            </a:pPr>
            <a:r>
              <a:rPr lang="zh-CN" sz="2400" b="1">
                <a:solidFill>
                  <a:srgbClr val="0E2340"/>
                </a:solidFill>
                <a:latin typeface="Microsoft YaHei"/>
                <a:ea typeface="Microsoft YaHei"/>
              </a:rPr>
              <a:t>长期记忆分层与工具编排规则</a:t>
            </a:r>
            <a:endParaRPr/>
          </a:p>
        </p:txBody>
      </p:sp>
      <p:sp>
        <p:nvSpPr>
          <p:cNvPr id="2786"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787"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2788" name=""/>
          <p:cNvPicPr>
            <a:picLocks noChangeAspect="1"/>
          </p:cNvPicPr>
          <p:nvPr/>
        </p:nvPicPr>
        <p:blipFill>
          <a:blip>
            <a:extLst>
              <a:ext uri="{96DAC541-7B7A-43D3-8B79-37D633B846F1}">
                <asvg:svgBlip r:embed="rId1"/>
              </a:ext>
            </a:extLst>
          </a:blip>
          <a:stretch>
            <a:fillRect/>
          </a:stretch>
        </p:blipFill>
        <p:spPr>
          <a:xfrm rot="0" flipH="0" flipV="0">
            <a:off x="666750" y="1219200"/>
            <a:ext cx="4953000" cy="4000500"/>
          </a:xfrm>
          <a:prstGeom prst="rect">
            <a:avLst/>
          </a:prstGeom>
          <a:ln/>
        </p:spPr>
      </p:pic>
      <p:sp>
        <p:nvSpPr>
          <p:cNvPr id="2789" name="" descr="{&quot;isTemplate&quot;:true,&quot;type&quot;:&quot;text&quot;}"/>
          <p:cNvSpPr txBox="1"/>
          <p:nvPr/>
        </p:nvSpPr>
        <p:spPr>
          <a:xfrm rot="0" flipH="0" flipV="0">
            <a:off x="5848350" y="1619250"/>
            <a:ext cx="5676900" cy="352425"/>
          </a:xfrm>
          <a:prstGeom prst="rect"/>
        </p:spPr>
        <p:txBody>
          <a:bodyPr wrap="none" lIns="0" tIns="0" rIns="0" bIns="0"/>
          <a:p>
            <a:pPr>
              <a:lnSpc>
                <a:spcPct val="140000"/>
              </a:lnSpc>
            </a:pPr>
            <a:r>
              <a:rPr lang="zh-CN" sz="1650" b="1">
                <a:solidFill>
                  <a:srgbClr val="0E2340"/>
                </a:solidFill>
                <a:latin typeface="Microsoft YaHei"/>
                <a:ea typeface="Microsoft YaHei"/>
              </a:rPr>
              <a:t>六组能力编排</a:t>
            </a:r>
            <a:endParaRPr/>
          </a:p>
        </p:txBody>
      </p:sp>
      <p:sp>
        <p:nvSpPr>
          <p:cNvPr id="2790" name=""/>
          <p:cNvSpPr/>
          <p:nvPr/>
        </p:nvSpPr>
        <p:spPr>
          <a:xfrm rot="0" flipH="0" flipV="0">
            <a:off x="5848350" y="2152650"/>
            <a:ext cx="76200" cy="76200"/>
          </a:xfrm>
          <a:prstGeom prst="roundRect">
            <a:avLst>
              <a:gd name="adj" fmla="val 50000"/>
            </a:avLst>
          </a:prstGeom>
          <a:solidFill>
            <a:srgbClr val="1E7BE0"/>
          </a:solidFill>
          <a:ln/>
        </p:spPr>
        <p:txBody>
          <a:bodyPr/>
          <a:p/>
        </p:txBody>
      </p:sp>
      <p:sp>
        <p:nvSpPr>
          <p:cNvPr id="2791" name="" descr="{&quot;isTemplate&quot;:true,&quot;type&quot;:&quot;text&quot;}"/>
          <p:cNvSpPr txBox="1"/>
          <p:nvPr/>
        </p:nvSpPr>
        <p:spPr>
          <a:xfrm rot="0" flipH="0" flipV="0">
            <a:off x="6038850" y="2066925"/>
            <a:ext cx="5486400" cy="276225"/>
          </a:xfrm>
          <a:prstGeom prst="rect"/>
        </p:spPr>
        <p:txBody>
          <a:bodyPr wrap="none" lIns="0" tIns="0" rIns="0" bIns="0"/>
          <a:p>
            <a:pPr>
              <a:lnSpc>
                <a:spcPct val="150000"/>
              </a:lnSpc>
            </a:pPr>
            <a:r>
              <a:rPr lang="zh-CN" sz="1200" b="1">
                <a:solidFill>
                  <a:srgbClr val="0E2340"/>
                </a:solidFill>
                <a:latin typeface="Microsoft YaHei"/>
                <a:ea typeface="Microsoft YaHei"/>
              </a:rPr>
              <a:t>查询</a:t>
            </a:r>
            <a:endParaRPr/>
          </a:p>
        </p:txBody>
      </p:sp>
      <p:sp>
        <p:nvSpPr>
          <p:cNvPr id="2792" name="" descr="{&quot;isTemplate&quot;:true,&quot;type&quot;:&quot;text&quot;}"/>
          <p:cNvSpPr txBox="1"/>
          <p:nvPr/>
        </p:nvSpPr>
        <p:spPr>
          <a:xfrm rot="0" flipH="0" flipV="0">
            <a:off x="6038850" y="2343150"/>
            <a:ext cx="5486400" cy="276225"/>
          </a:xfrm>
          <a:prstGeom prst="rect"/>
        </p:spPr>
        <p:txBody>
          <a:bodyPr wrap="none" lIns="0" tIns="0" rIns="0" bIns="0"/>
          <a:p>
            <a:pPr>
              <a:lnSpc>
                <a:spcPct val="160000"/>
              </a:lnSpc>
            </a:pPr>
            <a:r>
              <a:rPr lang="zh-CN" sz="1125">
                <a:solidFill>
                  <a:srgbClr val="333A45"/>
                </a:solidFill>
                <a:latin typeface="Microsoft YaHei"/>
                <a:ea typeface="Microsoft YaHei"/>
              </a:rPr>
              <a:t>先查授权范围，按需取详情；保留来源和未核实项。</a:t>
            </a:r>
            <a:endParaRPr/>
          </a:p>
        </p:txBody>
      </p:sp>
      <p:sp>
        <p:nvSpPr>
          <p:cNvPr id="2793" name=""/>
          <p:cNvSpPr/>
          <p:nvPr/>
        </p:nvSpPr>
        <p:spPr>
          <a:xfrm rot="0" flipH="0" flipV="0">
            <a:off x="5848350" y="2790825"/>
            <a:ext cx="76200" cy="76200"/>
          </a:xfrm>
          <a:prstGeom prst="roundRect">
            <a:avLst>
              <a:gd name="adj" fmla="val 50000"/>
            </a:avLst>
          </a:prstGeom>
          <a:solidFill>
            <a:srgbClr val="1E7BE0"/>
          </a:solidFill>
          <a:ln/>
        </p:spPr>
        <p:txBody>
          <a:bodyPr/>
          <a:p/>
        </p:txBody>
      </p:sp>
      <p:sp>
        <p:nvSpPr>
          <p:cNvPr id="2794" name="" descr="{&quot;isTemplate&quot;:true,&quot;type&quot;:&quot;text&quot;}"/>
          <p:cNvSpPr txBox="1"/>
          <p:nvPr/>
        </p:nvSpPr>
        <p:spPr>
          <a:xfrm rot="0" flipH="0" flipV="0">
            <a:off x="6038850" y="2705100"/>
            <a:ext cx="5486400" cy="276225"/>
          </a:xfrm>
          <a:prstGeom prst="rect"/>
        </p:spPr>
        <p:txBody>
          <a:bodyPr wrap="none" lIns="0" tIns="0" rIns="0" bIns="0"/>
          <a:p>
            <a:pPr>
              <a:lnSpc>
                <a:spcPct val="150000"/>
              </a:lnSpc>
            </a:pPr>
            <a:r>
              <a:rPr lang="zh-CN" sz="1200" b="1">
                <a:solidFill>
                  <a:srgbClr val="0E2340"/>
                </a:solidFill>
                <a:latin typeface="Microsoft YaHei"/>
                <a:ea typeface="Microsoft YaHei"/>
              </a:rPr>
              <a:t>解题</a:t>
            </a:r>
            <a:r>
              <a:rPr lang="en-US" sz="1200" b="1">
                <a:solidFill>
                  <a:srgbClr val="0E2340"/>
                </a:solidFill>
                <a:latin typeface="Microsoft YaHei"/>
                <a:ea typeface="Microsoft YaHei"/>
              </a:rPr>
              <a:t xml:space="preserve"> / </a:t>
            </a:r>
            <a:r>
              <a:rPr lang="zh-CN" sz="1200" b="1">
                <a:solidFill>
                  <a:srgbClr val="0E2340"/>
                </a:solidFill>
                <a:latin typeface="Microsoft YaHei"/>
                <a:ea typeface="Microsoft YaHei"/>
              </a:rPr>
              <a:t>批改</a:t>
            </a:r>
            <a:r>
              <a:rPr lang="en-US" sz="1200" b="1">
                <a:solidFill>
                  <a:srgbClr val="0E2340"/>
                </a:solidFill>
                <a:latin typeface="Microsoft YaHei"/>
                <a:ea typeface="Microsoft YaHei"/>
              </a:rPr>
              <a:t xml:space="preserve"> / </a:t>
            </a:r>
            <a:r>
              <a:rPr lang="zh-CN" sz="1200" b="1">
                <a:solidFill>
                  <a:srgbClr val="0E2340"/>
                </a:solidFill>
                <a:latin typeface="Microsoft YaHei"/>
                <a:ea typeface="Microsoft YaHei"/>
              </a:rPr>
              <a:t>出题</a:t>
            </a:r>
            <a:endParaRPr/>
          </a:p>
        </p:txBody>
      </p:sp>
      <p:sp>
        <p:nvSpPr>
          <p:cNvPr id="2795" name="" descr="{&quot;isTemplate&quot;:true,&quot;type&quot;:&quot;text&quot;}"/>
          <p:cNvSpPr txBox="1"/>
          <p:nvPr/>
        </p:nvSpPr>
        <p:spPr>
          <a:xfrm rot="0" flipH="0" flipV="0">
            <a:off x="6038850" y="2981325"/>
            <a:ext cx="5486400" cy="276225"/>
          </a:xfrm>
          <a:prstGeom prst="rect"/>
        </p:spPr>
        <p:txBody>
          <a:bodyPr wrap="none" lIns="0" tIns="0" rIns="0" bIns="0"/>
          <a:p>
            <a:pPr>
              <a:lnSpc>
                <a:spcPct val="160000"/>
              </a:lnSpc>
            </a:pPr>
            <a:r>
              <a:rPr lang="zh-CN" sz="1125">
                <a:solidFill>
                  <a:srgbClr val="333A45"/>
                </a:solidFill>
                <a:latin typeface="Microsoft YaHei"/>
                <a:ea typeface="Microsoft YaHei"/>
              </a:rPr>
              <a:t>使用共用流水线和评分依据，避免在闲聊中另起互相冲突的标准。</a:t>
            </a:r>
            <a:endParaRPr/>
          </a:p>
        </p:txBody>
      </p:sp>
      <p:sp>
        <p:nvSpPr>
          <p:cNvPr id="2796" name=""/>
          <p:cNvSpPr/>
          <p:nvPr/>
        </p:nvSpPr>
        <p:spPr>
          <a:xfrm rot="0" flipH="0" flipV="0">
            <a:off x="5848350" y="3429000"/>
            <a:ext cx="76200" cy="76200"/>
          </a:xfrm>
          <a:prstGeom prst="roundRect">
            <a:avLst>
              <a:gd name="adj" fmla="val 50000"/>
            </a:avLst>
          </a:prstGeom>
          <a:solidFill>
            <a:srgbClr val="1E7BE0"/>
          </a:solidFill>
          <a:ln/>
        </p:spPr>
        <p:txBody>
          <a:bodyPr/>
          <a:p/>
        </p:txBody>
      </p:sp>
      <p:sp>
        <p:nvSpPr>
          <p:cNvPr id="2797" name="" descr="{&quot;isTemplate&quot;:true,&quot;type&quot;:&quot;text&quot;}"/>
          <p:cNvSpPr txBox="1"/>
          <p:nvPr/>
        </p:nvSpPr>
        <p:spPr>
          <a:xfrm rot="0" flipH="0" flipV="0">
            <a:off x="6038850" y="3343275"/>
            <a:ext cx="5486400" cy="276225"/>
          </a:xfrm>
          <a:prstGeom prst="rect"/>
        </p:spPr>
        <p:txBody>
          <a:bodyPr wrap="none" lIns="0" tIns="0" rIns="0" bIns="0"/>
          <a:p>
            <a:pPr>
              <a:lnSpc>
                <a:spcPct val="150000"/>
              </a:lnSpc>
            </a:pPr>
            <a:r>
              <a:rPr lang="zh-CN" sz="1200" b="1">
                <a:solidFill>
                  <a:srgbClr val="0E2340"/>
                </a:solidFill>
                <a:latin typeface="Microsoft YaHei"/>
                <a:ea typeface="Microsoft YaHei"/>
              </a:rPr>
              <a:t>教学与诊断</a:t>
            </a:r>
            <a:endParaRPr/>
          </a:p>
        </p:txBody>
      </p:sp>
      <p:sp>
        <p:nvSpPr>
          <p:cNvPr id="2798" name="" descr="{&quot;isTemplate&quot;:true,&quot;type&quot;:&quot;text&quot;}"/>
          <p:cNvSpPr txBox="1"/>
          <p:nvPr/>
        </p:nvSpPr>
        <p:spPr>
          <a:xfrm rot="0" flipH="0" flipV="0">
            <a:off x="6038850" y="3619500"/>
            <a:ext cx="5486400" cy="276225"/>
          </a:xfrm>
          <a:prstGeom prst="rect"/>
        </p:spPr>
        <p:txBody>
          <a:bodyPr wrap="none" lIns="0" tIns="0" rIns="0" bIns="0"/>
          <a:p>
            <a:pPr>
              <a:lnSpc>
                <a:spcPct val="160000"/>
              </a:lnSpc>
            </a:pPr>
            <a:r>
              <a:rPr lang="zh-CN" sz="1125">
                <a:solidFill>
                  <a:srgbClr val="333A45"/>
                </a:solidFill>
                <a:latin typeface="Microsoft YaHei"/>
                <a:ea typeface="Microsoft YaHei"/>
              </a:rPr>
              <a:t>继续正确任务，记录帮助条件和待验证目标。</a:t>
            </a:r>
            <a:endParaRPr/>
          </a:p>
        </p:txBody>
      </p:sp>
      <p:sp>
        <p:nvSpPr>
          <p:cNvPr id="2799" name=""/>
          <p:cNvSpPr/>
          <p:nvPr/>
        </p:nvSpPr>
        <p:spPr>
          <a:xfrm rot="0" flipH="0" flipV="0">
            <a:off x="5848350" y="4067175"/>
            <a:ext cx="76200" cy="76200"/>
          </a:xfrm>
          <a:prstGeom prst="roundRect">
            <a:avLst>
              <a:gd name="adj" fmla="val 50000"/>
            </a:avLst>
          </a:prstGeom>
          <a:solidFill>
            <a:srgbClr val="1E7BE0"/>
          </a:solidFill>
          <a:ln/>
        </p:spPr>
        <p:txBody>
          <a:bodyPr/>
          <a:p/>
        </p:txBody>
      </p:sp>
      <p:sp>
        <p:nvSpPr>
          <p:cNvPr id="2800" name="" descr="{&quot;isTemplate&quot;:true,&quot;type&quot;:&quot;text&quot;}"/>
          <p:cNvSpPr txBox="1"/>
          <p:nvPr/>
        </p:nvSpPr>
        <p:spPr>
          <a:xfrm rot="0" flipH="0" flipV="0">
            <a:off x="6038850" y="3981450"/>
            <a:ext cx="5486400" cy="276225"/>
          </a:xfrm>
          <a:prstGeom prst="rect"/>
        </p:spPr>
        <p:txBody>
          <a:bodyPr wrap="none" lIns="0" tIns="0" rIns="0" bIns="0"/>
          <a:p>
            <a:pPr>
              <a:lnSpc>
                <a:spcPct val="150000"/>
              </a:lnSpc>
            </a:pPr>
            <a:r>
              <a:rPr lang="zh-CN" sz="1200" b="1">
                <a:solidFill>
                  <a:srgbClr val="0E2340"/>
                </a:solidFill>
                <a:latin typeface="Microsoft YaHei"/>
                <a:ea typeface="Microsoft YaHei"/>
              </a:rPr>
              <a:t>计划与干预</a:t>
            </a:r>
            <a:endParaRPr/>
          </a:p>
        </p:txBody>
      </p:sp>
      <p:sp>
        <p:nvSpPr>
          <p:cNvPr id="2801" name="" descr="{&quot;isTemplate&quot;:true,&quot;type&quot;:&quot;text&quot;}"/>
          <p:cNvSpPr txBox="1"/>
          <p:nvPr/>
        </p:nvSpPr>
        <p:spPr>
          <a:xfrm rot="0" flipH="0" flipV="0">
            <a:off x="6038850" y="4257675"/>
            <a:ext cx="5486400" cy="276225"/>
          </a:xfrm>
          <a:prstGeom prst="rect"/>
        </p:spPr>
        <p:txBody>
          <a:bodyPr wrap="none" lIns="0" tIns="0" rIns="0" bIns="0"/>
          <a:p>
            <a:pPr>
              <a:lnSpc>
                <a:spcPct val="160000"/>
              </a:lnSpc>
            </a:pPr>
            <a:r>
              <a:rPr lang="zh-CN" sz="1125">
                <a:solidFill>
                  <a:srgbClr val="333A45"/>
                </a:solidFill>
                <a:latin typeface="Microsoft YaHei"/>
                <a:ea typeface="Microsoft YaHei"/>
              </a:rPr>
              <a:t>复用统一预算，区分建议、已安排、已实施和改善证据。</a:t>
            </a:r>
            <a:endParaRPr/>
          </a:p>
        </p:txBody>
      </p:sp>
      <p:sp>
        <p:nvSpPr>
          <p:cNvPr id="2802" name=""/>
          <p:cNvSpPr/>
          <p:nvPr/>
        </p:nvSpPr>
        <p:spPr>
          <a:xfrm rot="0" flipH="0" flipV="0">
            <a:off x="5848350" y="4705350"/>
            <a:ext cx="76200" cy="76200"/>
          </a:xfrm>
          <a:prstGeom prst="roundRect">
            <a:avLst>
              <a:gd name="adj" fmla="val 50000"/>
            </a:avLst>
          </a:prstGeom>
          <a:solidFill>
            <a:srgbClr val="1E7BE0"/>
          </a:solidFill>
          <a:ln/>
        </p:spPr>
        <p:txBody>
          <a:bodyPr/>
          <a:p/>
        </p:txBody>
      </p:sp>
      <p:sp>
        <p:nvSpPr>
          <p:cNvPr id="2803" name="" descr="{&quot;isTemplate&quot;:true,&quot;type&quot;:&quot;text&quot;}"/>
          <p:cNvSpPr txBox="1"/>
          <p:nvPr/>
        </p:nvSpPr>
        <p:spPr>
          <a:xfrm rot="0" flipH="0" flipV="0">
            <a:off x="6038850" y="4619625"/>
            <a:ext cx="5486400" cy="276225"/>
          </a:xfrm>
          <a:prstGeom prst="rect"/>
        </p:spPr>
        <p:txBody>
          <a:bodyPr wrap="none" lIns="0" tIns="0" rIns="0" bIns="0"/>
          <a:p>
            <a:pPr>
              <a:lnSpc>
                <a:spcPct val="150000"/>
              </a:lnSpc>
            </a:pPr>
            <a:r>
              <a:rPr lang="zh-CN" sz="1200" b="1">
                <a:solidFill>
                  <a:srgbClr val="0E2340"/>
                </a:solidFill>
                <a:latin typeface="Microsoft YaHei"/>
                <a:ea typeface="Microsoft YaHei"/>
              </a:rPr>
              <a:t>发布与更改</a:t>
            </a:r>
            <a:endParaRPr/>
          </a:p>
        </p:txBody>
      </p:sp>
      <p:sp>
        <p:nvSpPr>
          <p:cNvPr id="2804" name="" descr="{&quot;isTemplate&quot;:true,&quot;type&quot;:&quot;text&quot;}"/>
          <p:cNvSpPr txBox="1"/>
          <p:nvPr/>
        </p:nvSpPr>
        <p:spPr>
          <a:xfrm rot="0" flipH="0" flipV="0">
            <a:off x="6038850" y="4895850"/>
            <a:ext cx="5486400" cy="276225"/>
          </a:xfrm>
          <a:prstGeom prst="rect"/>
        </p:spPr>
        <p:txBody>
          <a:bodyPr wrap="none" lIns="0" tIns="0" rIns="0" bIns="0"/>
          <a:p>
            <a:pPr>
              <a:lnSpc>
                <a:spcPct val="160000"/>
              </a:lnSpc>
            </a:pPr>
            <a:r>
              <a:rPr lang="zh-CN" sz="1125">
                <a:solidFill>
                  <a:srgbClr val="333A45"/>
                </a:solidFill>
                <a:latin typeface="Microsoft YaHei"/>
                <a:ea typeface="Microsoft YaHei"/>
              </a:rPr>
              <a:t>按业务角色、明确授权和预期版本执行，保留对象及结果。</a:t>
            </a:r>
            <a:endParaRPr/>
          </a:p>
        </p:txBody>
      </p:sp>
      <p:sp>
        <p:nvSpPr>
          <p:cNvPr id="2805" name=""/>
          <p:cNvSpPr/>
          <p:nvPr/>
        </p:nvSpPr>
        <p:spPr>
          <a:xfrm rot="0" flipH="0" flipV="0">
            <a:off x="5848350" y="5343525"/>
            <a:ext cx="76200" cy="76200"/>
          </a:xfrm>
          <a:prstGeom prst="roundRect">
            <a:avLst>
              <a:gd name="adj" fmla="val 50000"/>
            </a:avLst>
          </a:prstGeom>
          <a:solidFill>
            <a:srgbClr val="1E7BE0"/>
          </a:solidFill>
          <a:ln/>
        </p:spPr>
        <p:txBody>
          <a:bodyPr/>
          <a:p/>
        </p:txBody>
      </p:sp>
      <p:sp>
        <p:nvSpPr>
          <p:cNvPr id="2806" name="" descr="{&quot;isTemplate&quot;:true,&quot;type&quot;:&quot;text&quot;}"/>
          <p:cNvSpPr txBox="1"/>
          <p:nvPr/>
        </p:nvSpPr>
        <p:spPr>
          <a:xfrm rot="0" flipH="0" flipV="0">
            <a:off x="6038850" y="5257800"/>
            <a:ext cx="5486400" cy="276225"/>
          </a:xfrm>
          <a:prstGeom prst="rect"/>
        </p:spPr>
        <p:txBody>
          <a:bodyPr wrap="none" lIns="0" tIns="0" rIns="0" bIns="0"/>
          <a:p>
            <a:pPr>
              <a:lnSpc>
                <a:spcPct val="150000"/>
              </a:lnSpc>
            </a:pPr>
            <a:r>
              <a:rPr lang="zh-CN" sz="1200" b="1">
                <a:solidFill>
                  <a:srgbClr val="0E2340"/>
                </a:solidFill>
                <a:latin typeface="Microsoft YaHei"/>
                <a:ea typeface="Microsoft YaHei"/>
              </a:rPr>
              <a:t>长任务与产物</a:t>
            </a:r>
            <a:endParaRPr/>
          </a:p>
        </p:txBody>
      </p:sp>
      <p:sp>
        <p:nvSpPr>
          <p:cNvPr id="2807" name="" descr="{&quot;isTemplate&quot;:true,&quot;type&quot;:&quot;text&quot;}"/>
          <p:cNvSpPr txBox="1"/>
          <p:nvPr/>
        </p:nvSpPr>
        <p:spPr>
          <a:xfrm rot="0" flipH="0" flipV="0">
            <a:off x="6038850" y="5534025"/>
            <a:ext cx="5486400" cy="276225"/>
          </a:xfrm>
          <a:prstGeom prst="rect"/>
        </p:spPr>
        <p:txBody>
          <a:bodyPr wrap="none" lIns="0" tIns="0" rIns="0" bIns="0"/>
          <a:p>
            <a:pPr>
              <a:lnSpc>
                <a:spcPct val="160000"/>
              </a:lnSpc>
            </a:pPr>
            <a:r>
              <a:rPr lang="zh-CN" sz="1125">
                <a:solidFill>
                  <a:srgbClr val="333A45"/>
                </a:solidFill>
                <a:latin typeface="Microsoft YaHei"/>
                <a:ea typeface="Microsoft YaHei"/>
              </a:rPr>
              <a:t>保存业务任务编号，先恢复后重试，验证结果和文件实际可访问。</a:t>
            </a:r>
            <a:endParaRPr/>
          </a:p>
        </p:txBody>
      </p:sp>
      <p:sp>
        <p:nvSpPr>
          <p:cNvPr id="2808"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809" name="" descr="{&quot;isTemplate&quot;:true,&quot;type&quot;:&quot;text&quot;}"/>
          <p:cNvSpPr txBox="1"/>
          <p:nvPr/>
        </p:nvSpPr>
        <p:spPr>
          <a:xfrm rot="0" flipH="0" flipV="0">
            <a:off x="666750" y="6381750"/>
            <a:ext cx="2028825" cy="209550"/>
          </a:xfrm>
          <a:prstGeom prst="rect"/>
        </p:spPr>
        <p:txBody>
          <a:bodyPr wrap="none" lIns="0" tIns="0" rIns="0" bIns="0"/>
          <a:p>
            <a:pPr>
              <a:lnSpc>
                <a:spcPct val="140000"/>
              </a:lnSpc>
            </a:pPr>
            <a:r>
              <a:rPr lang="zh-CN" sz="975">
                <a:solidFill>
                  <a:srgbClr val="7A8699"/>
                </a:solidFill>
                <a:latin typeface="Microsoft YaHei"/>
                <a:ea typeface="Microsoft YaHei"/>
              </a:rPr>
              <a:t>依据：教学协同</a:t>
            </a:r>
            <a:r>
              <a:rPr lang="en-US" sz="975">
                <a:solidFill>
                  <a:srgbClr val="7A8699"/>
                </a:solidFill>
                <a:latin typeface="Microsoft YaHei"/>
                <a:ea typeface="Microsoft YaHei"/>
              </a:rPr>
              <a:t>Agent</a:t>
            </a:r>
            <a:r>
              <a:rPr lang="zh-CN" sz="975">
                <a:solidFill>
                  <a:srgbClr val="7A8699"/>
                </a:solidFill>
                <a:latin typeface="Microsoft YaHei"/>
                <a:ea typeface="Microsoft YaHei"/>
              </a:rPr>
              <a:t>设计</a:t>
            </a:r>
            <a:r>
              <a:rPr lang="en-US" sz="975">
                <a:solidFill>
                  <a:srgbClr val="7A8699"/>
                </a:solidFill>
                <a:latin typeface="Microsoft YaHei"/>
                <a:ea typeface="Microsoft YaHei"/>
              </a:rPr>
              <a:t>.md §8–§9</a:t>
            </a:r>
            <a:endParaRPr/>
          </a:p>
        </p:txBody>
      </p:sp>
      <p:sp>
        <p:nvSpPr>
          <p:cNvPr id="2810"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84 / 124 </a:t>
            </a:r>
            <a:endParaRPr/>
          </a:p>
        </p:txBody>
      </p:sp>
    </p:spTree>
  </p:cSld>
</p:sld>
</file>

<file path=ppt/slides/slide85.xml><?xml version="1.0" encoding="utf-8"?>
<p:sld xmlns:p="http://schemas.openxmlformats.org/presentationml/2006/main" xmlns:a="http://schemas.openxmlformats.org/drawingml/2006/main">
  <p:cSld>
    <p:spTree>
      <p:nvGrpSpPr>
        <p:cNvPr id="2811"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8 / 教学协同 Agent&lt;/Text&gt;&lt;Text style={{ fontSize: 32, color: '#0E2340', fontWeight: 700, lineHeight: 1.3 }}&gt;两种运行方式与首期验收范围&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8 }}&gt;&lt;Box style={{ flexDirection: 'row', gap: 20 }}&gt;&lt;Box style={{ width: 560, background: '#FFFFFF', border: '1px solid #E3E8EF', borderRadius: 8, overflow: 'hidden', flexDirection: 'column' }}&gt;&lt;Box style={{ height: 4, background: 'linear-gradient(90deg, #1E7BE0 0%, #00A9B5 100%)' }} /&gt;&lt;Box style={{ flexDirection: 'column', gap: 10, padding: 20, flex: 1 }}&gt;&lt;Text style={{ fontSize: 22, color: '#0E2340', fontWeight: 700, lineHeight: 1.4 }}&gt;产品内置&lt;/Text&gt;&lt;Text style={{ fontSize: 17, color: '#333A45', fontWeight: 400, lineHeight: 1.6 }}&gt;Agent 与学校和学生工作流直接集成，使用统一身份与工具服务，适合长期任务和通知。&lt;/Text&gt;&lt;/Box&gt;&lt;/Box&gt;&lt;Box style={{ width: 560, background: '#FFFFFF', border: '1px solid #E3E8EF', borderRadius: 8, overflow: 'hidden', flexDirection: 'column' }}&gt;&lt;Box style={{ height: 4, background: 'linear-gradient(90deg, #1E7BE0 0%, #00A9B5 100%)' }} /&gt;&lt;Box style={{ flexDirection: 'column', gap: 10, padding: 20, flex: 1 }}&gt;&lt;Text style={{ fontSize: 22, color: '#1E7BE0', fontWeight: 700, lineHeight: 1.4 }}&gt;宿主适配&lt;/Text&gt;&lt;Text style={{ fontSize: 17, color: '#333A45', fontWeight: 400, lineHeight: 1.6 }}&gt;DSH 或 WorkBuddy 提供对话环境、模型和通用工具，教育角色规则与 MCP 服务共同完成任务。需明确区分调用独立教育工具与进入命名的教学协同流程，避免双重无限递归编排。&lt;/Text&gt;&lt;/Box&gt;&lt;/Box&gt;&lt;/Box&gt;&lt;Box style={{ flexDirection: 'row', alignItems: 'center', background: '#F5F7FA', borderLeft: '4px solid #00A9B5', borderRadius: 6, padding: '14px 20px' }}&gt;&lt;Text style={{ fontSize: 16, color: '#0E2340', fontWeight: 600, lineHeight: 1.5 }}&gt;首期先做学生个人助教的四步：查询近期问题 → 解释依据 → 选择已有教学或复测任务 → 恢复结果；学校分析跟随学校端建设，不先建立只有提示词、没有真实数据服务的完整管理承诺&lt;/Text&gt;&lt;/Box&gt;&lt;Box style={{ flexDirection: 'row', alignItems: 'center', background: '#F5F7FA', borderLeft: '4px solid #0E2340', borderRadius: 6, padding: '14px 20px' }}&gt;&lt;Text style={{ fontSize: 16, color: '#0E2340', fontWeight: 600, lineHeight: 1.5 }}&gt;验收：每个角色至少验证一个端到端场景，检查身份范围、证据引用、工具实际执行、错误恢复与后续记录；教学能力另观察新题独立表现、教师核对成本及任务负担&lt;/Text&gt;&lt;/Box&gt;&lt;/Box&gt;&lt;/Box&gt;&lt;Box style={{ height: 40, flexDirection: 'row', justifyContent: 'space-between', alignItems: 'center', borderTop: '1px solid #E3E8EF', marginTop: 8 }}&gt;&lt;Text style={{ fontSize: 13, color: '#7A8699', fontWeight: 400, lineHeight: 1.4 }}&gt;依据：教学协同Agent设计.md §10–§11&lt;/Text&gt;&lt;Text style={{ fontSize: 14, color: '#7A8699', fontWeight: 400, lineHeight: 1.4 }}&gt; 85 / 124 &lt;/Text&gt;&lt;/Box&gt;&lt;/Slide&gt;"/>
        <p:cNvGrpSpPr/>
        <p:nvPr/>
      </p:nvGrpSpPr>
      <p:grpSpPr>
        <a:xfrm>
          <a:off x="0" y="0"/>
          <a:ext cx="0" cy="0"/>
          <a:chOff x="0" y="0"/>
          <a:chExt cx="0" cy="0"/>
        </a:xfrm>
      </p:grpSpPr>
      <p:sp>
        <p:nvSpPr>
          <p:cNvPr id="2812" name=""/>
          <p:cNvSpPr/>
          <p:nvPr/>
        </p:nvSpPr>
        <p:spPr>
          <a:xfrm rot="0" flipH="0" flipV="0">
            <a:off x="0" y="0"/>
            <a:ext cx="12192000" cy="6858000"/>
          </a:xfrm>
          <a:prstGeom prst="rect">
            <a:avLst/>
          </a:prstGeom>
          <a:solidFill>
            <a:srgbClr val="FFFFFF"/>
          </a:solidFill>
          <a:ln/>
        </p:spPr>
        <p:txBody>
          <a:bodyPr/>
          <a:p/>
        </p:txBody>
      </p:sp>
      <p:sp>
        <p:nvSpPr>
          <p:cNvPr id="2813" name="" descr="{&quot;isTemplate&quot;:true,&quot;type&quot;:&quot;text&quot;}"/>
          <p:cNvSpPr txBox="1"/>
          <p:nvPr/>
        </p:nvSpPr>
        <p:spPr>
          <a:xfrm rot="0" flipH="0" flipV="0">
            <a:off x="666750" y="381000"/>
            <a:ext cx="39624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08 / </a:t>
            </a:r>
            <a:r>
              <a:rPr lang="zh-CN" sz="1050" spc="75">
                <a:solidFill>
                  <a:srgbClr val="7A8699"/>
                </a:solidFill>
                <a:latin typeface="Microsoft YaHei"/>
                <a:ea typeface="Microsoft YaHei"/>
              </a:rPr>
              <a:t>教学协同</a:t>
            </a:r>
            <a:r>
              <a:rPr lang="en-US" sz="1050" spc="75">
                <a:solidFill>
                  <a:srgbClr val="7A8699"/>
                </a:solidFill>
                <a:latin typeface="Microsoft YaHei"/>
                <a:ea typeface="Microsoft YaHei"/>
              </a:rPr>
              <a:t xml:space="preserve"> Agent</a:t>
            </a:r>
            <a:endParaRPr/>
          </a:p>
        </p:txBody>
      </p:sp>
      <p:sp>
        <p:nvSpPr>
          <p:cNvPr id="2814" name="" descr="{&quot;isTemplate&quot;:true,&quot;type&quot;:&quot;text&quot;}"/>
          <p:cNvSpPr txBox="1"/>
          <p:nvPr/>
        </p:nvSpPr>
        <p:spPr>
          <a:xfrm rot="0" flipH="0" flipV="0">
            <a:off x="666750" y="666750"/>
            <a:ext cx="3962400" cy="476250"/>
          </a:xfrm>
          <a:prstGeom prst="rect"/>
        </p:spPr>
        <p:txBody>
          <a:bodyPr wrap="none" lIns="0" tIns="0" rIns="0" bIns="0"/>
          <a:p>
            <a:pPr>
              <a:lnSpc>
                <a:spcPct val="130000"/>
              </a:lnSpc>
            </a:pPr>
            <a:r>
              <a:rPr lang="zh-CN" sz="2400" b="1">
                <a:solidFill>
                  <a:srgbClr val="0E2340"/>
                </a:solidFill>
                <a:latin typeface="Microsoft YaHei"/>
                <a:ea typeface="Microsoft YaHei"/>
              </a:rPr>
              <a:t>两种运行方式与首期验收范围</a:t>
            </a:r>
            <a:endParaRPr/>
          </a:p>
        </p:txBody>
      </p:sp>
      <p:sp>
        <p:nvSpPr>
          <p:cNvPr id="2815"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816"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2817" name=""/>
          <p:cNvSpPr/>
          <p:nvPr/>
        </p:nvSpPr>
        <p:spPr>
          <a:xfrm rot="0" flipH="0" flipV="0">
            <a:off x="666750" y="1828800"/>
            <a:ext cx="5334000" cy="1800225"/>
          </a:xfrm>
          <a:prstGeom prst="roundRect">
            <a:avLst>
              <a:gd name="adj" fmla="val 4233"/>
            </a:avLst>
          </a:prstGeom>
          <a:solidFill>
            <a:srgbClr val="FFFFFF"/>
          </a:solidFill>
          <a:ln w="12700">
            <a:solidFill>
              <a:srgbClr val="E3E8EF"/>
            </a:solidFill>
            <a:prstDash val="solid"/>
          </a:ln>
        </p:spPr>
        <p:txBody>
          <a:bodyPr/>
          <a:p/>
        </p:txBody>
      </p:sp>
      <p:sp>
        <p:nvSpPr>
          <p:cNvPr id="2818" name=""/>
          <p:cNvSpPr/>
          <p:nvPr/>
        </p:nvSpPr>
        <p:spPr>
          <a:xfrm rot="0" flipH="0" flipV="0">
            <a:off x="666750" y="1828800"/>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2819" name="" descr="{&quot;isTemplate&quot;:true,&quot;type&quot;:&quot;text&quot;}"/>
          <p:cNvSpPr txBox="1"/>
          <p:nvPr/>
        </p:nvSpPr>
        <p:spPr>
          <a:xfrm rot="0" flipH="0" flipV="0">
            <a:off x="857250" y="2057400"/>
            <a:ext cx="4953000" cy="352425"/>
          </a:xfrm>
          <a:prstGeom prst="rect"/>
        </p:spPr>
        <p:txBody>
          <a:bodyPr wrap="none" lIns="0" tIns="0" rIns="0" bIns="0"/>
          <a:p>
            <a:pPr>
              <a:lnSpc>
                <a:spcPct val="140000"/>
              </a:lnSpc>
            </a:pPr>
            <a:r>
              <a:rPr lang="zh-CN" sz="1650" b="1">
                <a:solidFill>
                  <a:srgbClr val="0E2340"/>
                </a:solidFill>
                <a:latin typeface="Microsoft YaHei"/>
                <a:ea typeface="Microsoft YaHei"/>
              </a:rPr>
              <a:t>产品内置</a:t>
            </a:r>
            <a:endParaRPr/>
          </a:p>
        </p:txBody>
      </p:sp>
      <p:sp>
        <p:nvSpPr>
          <p:cNvPr id="2820" name="" descr="{&quot;isTemplate&quot;:true,&quot;type&quot;:&quot;text&quot;}"/>
          <p:cNvSpPr txBox="1"/>
          <p:nvPr/>
        </p:nvSpPr>
        <p:spPr>
          <a:xfrm rot="0" flipH="0" flipV="0">
            <a:off x="857250" y="2505075"/>
            <a:ext cx="4953000" cy="628650"/>
          </a:xfrm>
          <a:prstGeom prst="rect"/>
        </p:spPr>
        <p:txBody>
          <a:bodyPr wrap="square" lIns="0" tIns="0" rIns="0" bIns="0">
            <a:normAutofit/>
          </a:bodyPr>
          <a:p>
            <a:pPr>
              <a:lnSpc>
                <a:spcPct val="160000"/>
              </a:lnSpc>
            </a:pPr>
            <a:r>
              <a:rPr lang="en-US" sz="1275">
                <a:solidFill>
                  <a:srgbClr val="333A45"/>
                </a:solidFill>
                <a:latin typeface="Microsoft YaHei"/>
                <a:ea typeface="Microsoft YaHei"/>
              </a:rPr>
              <a:t xml:space="preserve">Agent </a:t>
            </a:r>
            <a:r>
              <a:rPr lang="zh-CN" sz="1275">
                <a:solidFill>
                  <a:srgbClr val="333A45"/>
                </a:solidFill>
                <a:latin typeface="Microsoft YaHei"/>
                <a:ea typeface="Microsoft YaHei"/>
              </a:rPr>
              <a:t>与学校和学生工作流直接集成，使用统一身份与工具服务，适合长期任务和通知。</a:t>
            </a:r>
            <a:endParaRPr/>
          </a:p>
        </p:txBody>
      </p:sp>
      <p:sp>
        <p:nvSpPr>
          <p:cNvPr id="2821" name=""/>
          <p:cNvSpPr/>
          <p:nvPr/>
        </p:nvSpPr>
        <p:spPr>
          <a:xfrm rot="0" flipH="0" flipV="0">
            <a:off x="6191250" y="1828800"/>
            <a:ext cx="5334000" cy="1800225"/>
          </a:xfrm>
          <a:prstGeom prst="roundRect">
            <a:avLst>
              <a:gd name="adj" fmla="val 4233"/>
            </a:avLst>
          </a:prstGeom>
          <a:solidFill>
            <a:srgbClr val="FFFFFF"/>
          </a:solidFill>
          <a:ln w="12700">
            <a:solidFill>
              <a:srgbClr val="E3E8EF"/>
            </a:solidFill>
            <a:prstDash val="solid"/>
          </a:ln>
        </p:spPr>
        <p:txBody>
          <a:bodyPr/>
          <a:p/>
        </p:txBody>
      </p:sp>
      <p:sp>
        <p:nvSpPr>
          <p:cNvPr id="2822" name=""/>
          <p:cNvSpPr/>
          <p:nvPr/>
        </p:nvSpPr>
        <p:spPr>
          <a:xfrm rot="0" flipH="0" flipV="0">
            <a:off x="6191250" y="1828800"/>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2823" name="" descr="{&quot;isTemplate&quot;:true,&quot;type&quot;:&quot;text&quot;}"/>
          <p:cNvSpPr txBox="1"/>
          <p:nvPr/>
        </p:nvSpPr>
        <p:spPr>
          <a:xfrm rot="0" flipH="0" flipV="0">
            <a:off x="6381750" y="2057400"/>
            <a:ext cx="4953000" cy="352425"/>
          </a:xfrm>
          <a:prstGeom prst="rect"/>
        </p:spPr>
        <p:txBody>
          <a:bodyPr wrap="none" lIns="0" tIns="0" rIns="0" bIns="0"/>
          <a:p>
            <a:pPr>
              <a:lnSpc>
                <a:spcPct val="140000"/>
              </a:lnSpc>
            </a:pPr>
            <a:r>
              <a:rPr lang="zh-CN" sz="1650" b="1">
                <a:solidFill>
                  <a:srgbClr val="1E7BE0"/>
                </a:solidFill>
                <a:latin typeface="Microsoft YaHei"/>
                <a:ea typeface="Microsoft YaHei"/>
              </a:rPr>
              <a:t>宿主适配</a:t>
            </a:r>
            <a:endParaRPr/>
          </a:p>
        </p:txBody>
      </p:sp>
      <p:sp>
        <p:nvSpPr>
          <p:cNvPr id="2824" name="" descr="{&quot;isTemplate&quot;:true,&quot;type&quot;:&quot;text&quot;}"/>
          <p:cNvSpPr txBox="1"/>
          <p:nvPr/>
        </p:nvSpPr>
        <p:spPr>
          <a:xfrm rot="0" flipH="0" flipV="0">
            <a:off x="6381750" y="2505075"/>
            <a:ext cx="4953000" cy="933450"/>
          </a:xfrm>
          <a:prstGeom prst="rect"/>
        </p:spPr>
        <p:txBody>
          <a:bodyPr wrap="square" lIns="0" tIns="0" rIns="0" bIns="0">
            <a:normAutofit/>
          </a:bodyPr>
          <a:p>
            <a:pPr>
              <a:lnSpc>
                <a:spcPct val="160000"/>
              </a:lnSpc>
            </a:pPr>
            <a:r>
              <a:rPr lang="en-US" sz="1275">
                <a:solidFill>
                  <a:srgbClr val="333A45"/>
                </a:solidFill>
                <a:latin typeface="Microsoft YaHei"/>
                <a:ea typeface="Microsoft YaHei"/>
              </a:rPr>
              <a:t xml:space="preserve">DSH </a:t>
            </a:r>
            <a:r>
              <a:rPr lang="zh-CN" sz="1275">
                <a:solidFill>
                  <a:srgbClr val="333A45"/>
                </a:solidFill>
                <a:latin typeface="Microsoft YaHei"/>
                <a:ea typeface="Microsoft YaHei"/>
              </a:rPr>
              <a:t>或</a:t>
            </a:r>
            <a:r>
              <a:rPr lang="en-US" sz="1275">
                <a:solidFill>
                  <a:srgbClr val="333A45"/>
                </a:solidFill>
                <a:latin typeface="Microsoft YaHei"/>
                <a:ea typeface="Microsoft YaHei"/>
              </a:rPr>
              <a:t xml:space="preserve"> WorkBuddy </a:t>
            </a:r>
            <a:r>
              <a:rPr lang="zh-CN" sz="1275">
                <a:solidFill>
                  <a:srgbClr val="333A45"/>
                </a:solidFill>
                <a:latin typeface="Microsoft YaHei"/>
                <a:ea typeface="Microsoft YaHei"/>
              </a:rPr>
              <a:t>提供对话环境、模型和通用工具，教育角色规则与</a:t>
            </a:r>
            <a:r>
              <a:rPr lang="en-US" sz="1275">
                <a:solidFill>
                  <a:srgbClr val="333A45"/>
                </a:solidFill>
                <a:latin typeface="Microsoft YaHei"/>
                <a:ea typeface="Microsoft YaHei"/>
              </a:rPr>
              <a:t xml:space="preserve"> MCP </a:t>
            </a:r>
            <a:r>
              <a:rPr lang="zh-CN" sz="1275">
                <a:solidFill>
                  <a:srgbClr val="333A45"/>
                </a:solidFill>
                <a:latin typeface="Microsoft YaHei"/>
                <a:ea typeface="Microsoft YaHei"/>
              </a:rPr>
              <a:t>服务共同完成任务。需明确区分调用独立教育工具与进入命名的教学协同流程，避免双重无限递归编排。</a:t>
            </a:r>
            <a:endParaRPr/>
          </a:p>
        </p:txBody>
      </p:sp>
      <p:sp>
        <p:nvSpPr>
          <p:cNvPr id="2825" name=""/>
          <p:cNvSpPr/>
          <p:nvPr/>
        </p:nvSpPr>
        <p:spPr>
          <a:xfrm rot="0" flipH="0" flipV="0">
            <a:off x="704850" y="3800475"/>
            <a:ext cx="10858500" cy="819150"/>
          </a:xfrm>
          <a:prstGeom prst="roundRect">
            <a:avLst>
              <a:gd name="adj" fmla="val 6977"/>
            </a:avLst>
          </a:prstGeom>
          <a:solidFill>
            <a:srgbClr val="F5F7FA"/>
          </a:solidFill>
          <a:ln/>
        </p:spPr>
        <p:txBody>
          <a:bodyPr/>
          <a:p/>
        </p:txBody>
      </p:sp>
      <p:sp>
        <p:nvSpPr>
          <p:cNvPr id="2826" name=""/>
          <p:cNvSpPr/>
          <p:nvPr/>
        </p:nvSpPr>
        <p:spPr>
          <a:xfrm rot="0" flipH="0" flipV="0">
            <a:off x="704850" y="3800475"/>
            <a:ext cx="10858500" cy="819150"/>
          </a:xfrm>
          <a:custGeom>
            <a:pathLst>
              <a:path w="1140" h="86">
                <a:moveTo>
                  <a:pt x="6" y="0"/>
                </a:moveTo>
                <a:cubicBezTo>
                  <a:pt x="5" y="0"/>
                  <a:pt x="4" y="1"/>
                  <a:pt x="4" y="2"/>
                </a:cubicBezTo>
                <a:lnTo>
                  <a:pt x="4" y="84"/>
                </a:lnTo>
                <a:cubicBezTo>
                  <a:pt x="4" y="85"/>
                  <a:pt x="5" y="86"/>
                  <a:pt x="6" y="86"/>
                </a:cubicBezTo>
                <a:cubicBezTo>
                  <a:pt x="3" y="86"/>
                  <a:pt x="0" y="83"/>
                  <a:pt x="0" y="80"/>
                </a:cubicBezTo>
                <a:lnTo>
                  <a:pt x="0" y="6"/>
                </a:lnTo>
                <a:cubicBezTo>
                  <a:pt x="0" y="3"/>
                  <a:pt x="3" y="0"/>
                  <a:pt x="6" y="0"/>
                </a:cubicBezTo>
                <a:close/>
              </a:path>
            </a:pathLst>
          </a:custGeom>
          <a:solidFill>
            <a:srgbClr val="00A9B5"/>
          </a:solidFill>
          <a:ln/>
        </p:spPr>
        <p:txBody>
          <a:bodyPr/>
          <a:p/>
        </p:txBody>
      </p:sp>
      <p:sp>
        <p:nvSpPr>
          <p:cNvPr id="2827" name="" descr="{&quot;isTemplate&quot;:true,&quot;type&quot;:&quot;text&quot;}"/>
          <p:cNvSpPr txBox="1"/>
          <p:nvPr/>
        </p:nvSpPr>
        <p:spPr>
          <a:xfrm rot="0" flipH="0" flipV="0">
            <a:off x="895350" y="3933825"/>
            <a:ext cx="10439400" cy="552450"/>
          </a:xfrm>
          <a:prstGeom prst="rect"/>
        </p:spPr>
        <p:txBody>
          <a:bodyPr wrap="square" lIns="0" tIns="0" rIns="0" bIns="0">
            <a:normAutofit/>
          </a:bodyPr>
          <a:p>
            <a:pPr>
              <a:lnSpc>
                <a:spcPct val="150000"/>
              </a:lnSpc>
            </a:pPr>
            <a:r>
              <a:rPr lang="zh-CN" sz="1200" b="1">
                <a:solidFill>
                  <a:srgbClr val="0E2340"/>
                </a:solidFill>
                <a:latin typeface="Microsoft YaHei"/>
                <a:ea typeface="Microsoft YaHei"/>
              </a:rPr>
              <a:t>首期先做学生个人助教的四步：查询近期问题</a:t>
            </a:r>
            <a:r>
              <a:rPr lang="en-US" sz="1200" b="1">
                <a:solidFill>
                  <a:srgbClr val="0E2340"/>
                </a:solidFill>
                <a:latin typeface="Microsoft YaHei"/>
                <a:ea typeface="Microsoft YaHei"/>
              </a:rPr>
              <a:t xml:space="preserve"> → </a:t>
            </a:r>
            <a:r>
              <a:rPr lang="zh-CN" sz="1200" b="1">
                <a:solidFill>
                  <a:srgbClr val="0E2340"/>
                </a:solidFill>
                <a:latin typeface="Microsoft YaHei"/>
                <a:ea typeface="Microsoft YaHei"/>
              </a:rPr>
              <a:t>解释依据</a:t>
            </a:r>
            <a:r>
              <a:rPr lang="en-US" sz="1200" b="1">
                <a:solidFill>
                  <a:srgbClr val="0E2340"/>
                </a:solidFill>
                <a:latin typeface="Microsoft YaHei"/>
                <a:ea typeface="Microsoft YaHei"/>
              </a:rPr>
              <a:t xml:space="preserve"> → </a:t>
            </a:r>
            <a:r>
              <a:rPr lang="zh-CN" sz="1200" b="1">
                <a:solidFill>
                  <a:srgbClr val="0E2340"/>
                </a:solidFill>
                <a:latin typeface="Microsoft YaHei"/>
                <a:ea typeface="Microsoft YaHei"/>
              </a:rPr>
              <a:t>选择已有教学或复测任务</a:t>
            </a:r>
            <a:r>
              <a:rPr lang="en-US" sz="1200" b="1">
                <a:solidFill>
                  <a:srgbClr val="0E2340"/>
                </a:solidFill>
                <a:latin typeface="Microsoft YaHei"/>
                <a:ea typeface="Microsoft YaHei"/>
              </a:rPr>
              <a:t xml:space="preserve"> → </a:t>
            </a:r>
            <a:r>
              <a:rPr lang="zh-CN" sz="1200" b="1">
                <a:solidFill>
                  <a:srgbClr val="0E2340"/>
                </a:solidFill>
                <a:latin typeface="Microsoft YaHei"/>
                <a:ea typeface="Microsoft YaHei"/>
              </a:rPr>
              <a:t>恢复结果；学校分析跟随学校端建设，不先建立只有提示词、没有真实数据服务的完整管理承诺</a:t>
            </a:r>
            <a:endParaRPr/>
          </a:p>
        </p:txBody>
      </p:sp>
      <p:sp>
        <p:nvSpPr>
          <p:cNvPr id="2828" name=""/>
          <p:cNvSpPr/>
          <p:nvPr/>
        </p:nvSpPr>
        <p:spPr>
          <a:xfrm rot="0" flipH="0" flipV="0">
            <a:off x="704850" y="4791075"/>
            <a:ext cx="10858500" cy="819150"/>
          </a:xfrm>
          <a:prstGeom prst="roundRect">
            <a:avLst>
              <a:gd name="adj" fmla="val 6977"/>
            </a:avLst>
          </a:prstGeom>
          <a:solidFill>
            <a:srgbClr val="F5F7FA"/>
          </a:solidFill>
          <a:ln/>
        </p:spPr>
        <p:txBody>
          <a:bodyPr/>
          <a:p/>
        </p:txBody>
      </p:sp>
      <p:sp>
        <p:nvSpPr>
          <p:cNvPr id="2829" name=""/>
          <p:cNvSpPr/>
          <p:nvPr/>
        </p:nvSpPr>
        <p:spPr>
          <a:xfrm rot="0" flipH="0" flipV="0">
            <a:off x="704850" y="4791075"/>
            <a:ext cx="10858500" cy="819150"/>
          </a:xfrm>
          <a:custGeom>
            <a:pathLst>
              <a:path w="1140" h="86">
                <a:moveTo>
                  <a:pt x="6" y="0"/>
                </a:moveTo>
                <a:cubicBezTo>
                  <a:pt x="5" y="0"/>
                  <a:pt x="4" y="1"/>
                  <a:pt x="4" y="2"/>
                </a:cubicBezTo>
                <a:lnTo>
                  <a:pt x="4" y="84"/>
                </a:lnTo>
                <a:cubicBezTo>
                  <a:pt x="4" y="85"/>
                  <a:pt x="5" y="86"/>
                  <a:pt x="6" y="86"/>
                </a:cubicBezTo>
                <a:cubicBezTo>
                  <a:pt x="3" y="86"/>
                  <a:pt x="0" y="83"/>
                  <a:pt x="0" y="80"/>
                </a:cubicBezTo>
                <a:lnTo>
                  <a:pt x="0" y="6"/>
                </a:lnTo>
                <a:cubicBezTo>
                  <a:pt x="0" y="3"/>
                  <a:pt x="3" y="0"/>
                  <a:pt x="6" y="0"/>
                </a:cubicBezTo>
                <a:close/>
              </a:path>
            </a:pathLst>
          </a:custGeom>
          <a:solidFill>
            <a:srgbClr val="0E2340"/>
          </a:solidFill>
          <a:ln/>
        </p:spPr>
        <p:txBody>
          <a:bodyPr/>
          <a:p/>
        </p:txBody>
      </p:sp>
      <p:sp>
        <p:nvSpPr>
          <p:cNvPr id="2830" name="" descr="{&quot;isTemplate&quot;:true,&quot;type&quot;:&quot;text&quot;}"/>
          <p:cNvSpPr txBox="1"/>
          <p:nvPr/>
        </p:nvSpPr>
        <p:spPr>
          <a:xfrm rot="0" flipH="0" flipV="0">
            <a:off x="895350" y="4924425"/>
            <a:ext cx="10439400" cy="552450"/>
          </a:xfrm>
          <a:prstGeom prst="rect"/>
        </p:spPr>
        <p:txBody>
          <a:bodyPr wrap="square" lIns="0" tIns="0" rIns="0" bIns="0">
            <a:normAutofit/>
          </a:bodyPr>
          <a:p>
            <a:pPr>
              <a:lnSpc>
                <a:spcPct val="150000"/>
              </a:lnSpc>
            </a:pPr>
            <a:r>
              <a:rPr lang="zh-CN" sz="1200" b="1">
                <a:solidFill>
                  <a:srgbClr val="0E2340"/>
                </a:solidFill>
                <a:latin typeface="Microsoft YaHei"/>
                <a:ea typeface="Microsoft YaHei"/>
              </a:rPr>
              <a:t>验收：每个角色至少验证一个端到端场景，检查身份范围、证据引用、工具实际执行、错误恢复与后续记录；教学能力另观察新题独立表现、教师核对成本及任务负担</a:t>
            </a:r>
            <a:endParaRPr/>
          </a:p>
        </p:txBody>
      </p:sp>
      <p:sp>
        <p:nvSpPr>
          <p:cNvPr id="2831"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832" name="" descr="{&quot;isTemplate&quot;:true,&quot;type&quot;:&quot;text&quot;}"/>
          <p:cNvSpPr txBox="1"/>
          <p:nvPr/>
        </p:nvSpPr>
        <p:spPr>
          <a:xfrm rot="0" flipH="0" flipV="0">
            <a:off x="666750" y="6381750"/>
            <a:ext cx="2152650" cy="209550"/>
          </a:xfrm>
          <a:prstGeom prst="rect"/>
        </p:spPr>
        <p:txBody>
          <a:bodyPr wrap="none" lIns="0" tIns="0" rIns="0" bIns="0"/>
          <a:p>
            <a:pPr>
              <a:lnSpc>
                <a:spcPct val="140000"/>
              </a:lnSpc>
            </a:pPr>
            <a:r>
              <a:rPr lang="zh-CN" sz="975">
                <a:solidFill>
                  <a:srgbClr val="7A8699"/>
                </a:solidFill>
                <a:latin typeface="Microsoft YaHei"/>
                <a:ea typeface="Microsoft YaHei"/>
              </a:rPr>
              <a:t>依据：教学协同</a:t>
            </a:r>
            <a:r>
              <a:rPr lang="en-US" sz="975">
                <a:solidFill>
                  <a:srgbClr val="7A8699"/>
                </a:solidFill>
                <a:latin typeface="Microsoft YaHei"/>
                <a:ea typeface="Microsoft YaHei"/>
              </a:rPr>
              <a:t>Agent</a:t>
            </a:r>
            <a:r>
              <a:rPr lang="zh-CN" sz="975">
                <a:solidFill>
                  <a:srgbClr val="7A8699"/>
                </a:solidFill>
                <a:latin typeface="Microsoft YaHei"/>
                <a:ea typeface="Microsoft YaHei"/>
              </a:rPr>
              <a:t>设计</a:t>
            </a:r>
            <a:r>
              <a:rPr lang="en-US" sz="975">
                <a:solidFill>
                  <a:srgbClr val="7A8699"/>
                </a:solidFill>
                <a:latin typeface="Microsoft YaHei"/>
                <a:ea typeface="Microsoft YaHei"/>
              </a:rPr>
              <a:t>.md §10–§11</a:t>
            </a:r>
            <a:endParaRPr/>
          </a:p>
        </p:txBody>
      </p:sp>
      <p:sp>
        <p:nvSpPr>
          <p:cNvPr id="2833"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85 / 124 </a:t>
            </a:r>
            <a:endParaRPr/>
          </a:p>
        </p:txBody>
      </p:sp>
    </p:spTree>
  </p:cSld>
</p:sld>
</file>

<file path=ppt/slides/slide86.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834" name="" descr="&lt;Slide style={{ width: '1280px', height: '720px', background: '#FFFFFF', padding: 0 }}&gt;&lt;Box style={{ position: 'absolute', top: 0, left: 0 }}&gt;&lt;svg width={1280} height={720} viewBox='0 0 1280 720'&gt;&lt;line x1='0' y1='0' x2='1280' y2='0' stroke='#E3E8EF' stroke-width='1' opacity='0.55'/&gt;&lt;line x1='0' y1='90' x2='1280' y2='90' stroke='#E3E8EF' stroke-width='1' opacity='0.55'/&gt;&lt;line x1='0' y1='180' x2='1280' y2='180' stroke='#E3E8EF' stroke-width='1' opacity='0.55'/&gt;&lt;line x1='0' y1='270' x2='1280' y2='270' stroke='#E3E8EF' stroke-width='1' opacity='0.55'/&gt;&lt;line x1='0' y1='360' x2='1280' y2='360' stroke='#E3E8EF' stroke-width='1' opacity='0.55'/&gt;&lt;line x1='0' y1='450' x2='1280' y2='450' stroke='#E3E8EF' stroke-width='1' opacity='0.55'/&gt;&lt;line x1='0' y1='540' x2='1280' y2='540' stroke='#E3E8EF' stroke-width='1' opacity='0.55'/&gt;&lt;line x1='0' y1='630' x2='1280' y2='630' stroke='#E3E8EF' stroke-width='1' opacity='0.55'/&gt;&lt;line x1='0' y1='720' x2='1280' y2='720' stroke='#E3E8EF' stroke-width='1' opacity='0.55'/&gt;&lt;/svg&gt;&lt;/Box&gt;&lt;Box style={{ position: 'relative', zIndex: 2, flexDirection: 'row', flex: 1, padding: '48px 80px 52px', gap: 44 }}&gt;&lt;Box style={{ width: 520, flexDirection: 'column', justifyContent: 'space-between' }}&gt;&lt;Box style={{ flexDirection: 'column' }}&gt;&lt;Text style={{ fontSize: 15, color: '#1E7BE0', fontWeight: 600, lineHeight: 1.4, letterSpacing: 2 }}&gt;STUDYAGENT · DESIGN REVIEW&lt;/Text&gt;&lt;/Box&gt;&lt;Box style={{ flexDirection: 'column' }}&gt;&lt;Text style={{ fontSize: 100, color: '#0E2340', fontWeight: 700, lineHeight: 1.0, fontFamily: 'JetBrains Mono, Inter' }}&gt;09&lt;/Text&gt;&lt;Box style={{ width: 78, height: 5, background: '#1E7BE0', marginTop: 10 }} /&gt;&lt;Text style={{ fontSize: 44, color: '#0E2340', fontWeight: 700, lineHeight: 1.2 }}&gt;MCP 接入&lt;/Text&gt;&lt;/Box&gt;&lt;Box style={{ flexDirection: 'column', gap: 12 }}&gt;&lt;Box style={{ flexDirection: 'row', alignItems: 'center', background: '#F5F7FA', borderLeft: '4px solid #1E7BE0', borderRadius: 6, padding: '14px 20px' }}&gt;&lt;Text style={{ fontSize: 19, color: '#0E2340', fontWeight: 600, lineHeight: 1.5 }}&gt;教育能力服务对外提供&lt;/Text&gt;&lt;/Box&gt;&lt;Box style={{ flexDirection: 'row', alignItems: 'center', background: '#F5F7FA', borderLeft: '4px solid #1E7BE0', borderRadius: 6, padding: '14px 20px' }}&gt;&lt;Text style={{ fontSize: 19, color: '#0E2340', fontWeight: 600, lineHeight: 1.5 }}&gt;11 个领域 / 29 个拟议工具&lt;/Text&gt;&lt;/Box&gt;&lt;Box style={{ flexDirection: 'row', alignItems: 'center', background: '#F5F7FA', borderLeft: '4px solid #1E7BE0', borderRadius: 6, padding: '14px 20px' }}&gt;&lt;Text style={{ fontSize: 19, color: '#0E2340', fontWeight: 600, lineHeight: 1.5 }}&gt;权限边界与防提示注入&lt;/Text&gt;&lt;/Box&gt;&lt;/Box&gt;&lt;Box style={{ flexDirection: 'column' }}&gt;&lt;Text style={{ fontSize: 13, color: '#7A8699', fontWeight: 400, lineHeight: 1.5 }}&gt;来源：系统Agent适配与MCP插件接入设计.md（研究日期 2026-10-25，MCP 规范 2026-07-28）&lt;/Text&gt;&lt;/Box&gt;&lt;/Box&gt;&lt;Box style={{ flex: 1, flexDirection: 'column', justifyContent: 'space-between', gap: 12 }}&gt;&lt;Text style={{ fontSize: 20, color: '#0E2340', fontWeight: 700, lineHeight: 1.4 }}&gt;汇报结构 · 13 章&lt;/Text&gt;&lt;Box style={{ flexDirection: 'column', gap: 10 }}&gt;&lt;Box style={{ flexDirection: 'row', gap: 10 }}&gt;&lt;Box style={{ width: 172, height: 64, borderRadius: 6, padding: '9px 12px', background: '#F5F7FA', flexDirection: 'column', justifyContent: 'center' }}&gt;&lt;Text style={{ fontSize: 18, color: '#0E2340', fontWeight: 700, lineHeight: 1.2 }}&gt;01&lt;/Text&gt;&lt;Text style={{ fontSize: 13, color: '#7A8699', fontWeight: 400, lineHeight: 1.3 }}&gt;概念地基&lt;/Text&gt;&lt;/Box&gt;&lt;Box style={{ width: 172, height: 64, borderRadius: 6, padding: '9px 12px', background: '#F5F7FA', flexDirection: 'column', justifyContent: 'center' }}&gt;&lt;Text style={{ fontSize: 18, color: '#0E2340', fontWeight: 700, lineHeight: 1.2 }}&gt;02&lt;/Text&gt;&lt;Text style={{ fontSize: 13, color: '#7A8699', fontWeight: 400, lineHeight: 1.3 }}&gt;现状盘点&lt;/Text&gt;&lt;/Box&gt;&lt;Box style={{ width: 172, height: 64, borderRadius: 6, padding: '9px 12px', background: '#F5F7FA', flexDirection: 'column', justifyContent: 'center' }}&gt;&lt;Text style={{ fontSize: 18, color: '#0E2340', fontWeight: 700, lineHeight: 1.2 }}&gt;03&lt;/Text&gt;&lt;Text style={{ fontSize: 13, color: '#7A8699', fontWeight: 400, lineHeight: 1.3 }}&gt;单题引擎&lt;/Text&gt;&lt;/Box&gt;&lt;/Box&gt;&lt;Box style={{ flexDirection: 'row', gap: 10 }}&gt;&lt;Box style={{ width: 172, height: 64, borderRadius: 6, padding: '9px 12px', background: '#F5F7FA', flexDirection: 'column', justifyContent: 'center' }}&gt;&lt;Text style={{ fontSize: 18, color: '#0E2340', fontWeight: 700, lineHeight: 1.2 }}&gt;04&lt;/Text&gt;&lt;Text style={{ fontSize: 13, color: '#7A8699', fontWeight: 400, lineHeight: 1.3 }}&gt;套路层面&lt;/Text&gt;&lt;/Box&gt;&lt;Box style={{ width: 172, height: 64, borderRadius: 6, padding: '9px 12px', background: '#F5F7FA', flexDirection: 'column', justifyContent: 'center' }}&gt;&lt;Text style={{ fontSize: 18, color: '#0E2340', fontWeight: 700, lineHeight: 1.2 }}&gt;05&lt;/Text&gt;&lt;Text style={{ fontSize: 13, color: '#7A8699', fontWeight: 400, lineHeight: 1.3 }}&gt;教师端&lt;/Text&gt;&lt;/Box&gt;&lt;Box style={{ width: 172, height: 64, borderRadius: 6, padding: '9px 12px', background: '#F5F7FA', flexDirection: 'column', justifyContent: 'center' }}&gt;&lt;Text style={{ fontSize: 18, color: '#0E2340', fontWeight: 700, lineHeight: 1.2 }}&gt;06&lt;/Text&gt;&lt;Text style={{ fontSize: 13, color: '#7A8699', fontWeight: 400, lineHeight: 1.3 }}&gt;学校端&lt;/Text&gt;&lt;/Box&gt;&lt;/Box&gt;&lt;Box style={{ flexDirection: 'row', gap: 10 }}&gt;&lt;Box style={{ width: 172, height: 64, borderRadius: 6, padding: '9px 12px', background: '#F5F7FA', flexDirection: 'column', justifyContent: 'center' }}&gt;&lt;Text style={{ fontSize: 18, color: '#0E2340', fontWeight: 700, lineHeight: 1.2 }}&gt;07&lt;/Text&gt;&lt;Text style={{ fontSize: 13, color: '#7A8699', fontWeight: 400, lineHeight: 1.3 }}&gt;试卷与生涯&lt;/Text&gt;&lt;/Box&gt;&lt;Box style={{ width: 172, height: 64, borderRadius: 6, padding: '9px 12px', background: '#F5F7FA', flexDirection: 'column', justifyContent: 'center' }}&gt;&lt;Text style={{ fontSize: 18, color: '#0E2340', fontWeight: 700, lineHeight: 1.2 }}&gt;08&lt;/Text&gt;&lt;Text style={{ fontSize: 13, color: '#7A8699', fontWeight: 400, lineHeight: 1.3 }}&gt;协同 Agent&lt;/Text&gt;&lt;/Box&gt;&lt;Box style={{ width: 172, height: 64, borderRadius: 6, padding: '9px 12px', background: '#0E2340', flexDirection: 'column', justifyContent: 'center' }}&gt;&lt;Text style={{ fontSize: 18, color: '#FFFFFF', fontWeight: 700, lineHeight: 1.2 }}&gt;09&lt;/Text&gt;&lt;Text style={{ fontSize: 13, color: '#C8DCF2', fontWeight: 400, lineHeight: 1.3 }}&gt;MCP 接入&lt;/Text&gt;&lt;/Box&gt;&lt;/Box&gt;&lt;Box style={{ flexDirection: 'row', gap: 10 }}&gt;&lt;Box style={{ width: 172, height: 64, borderRadius: 6, padding: '9px 12px', background: '#F5F7FA', flexDirection: 'column', justifyContent: 'center' }}&gt;&lt;Text style={{ fontSize: 18, color: '#0E2340', fontWeight: 700, lineHeight: 1.2 }}&gt;10&lt;/Text&gt;&lt;Text style={{ fontSize: 13, color: '#7A8699', fontWeight: 400, lineHeight: 1.3 }}&gt;待深化研究&lt;/Text&gt;&lt;/Box&gt;&lt;Box style={{ width: 172, height: 64, borderRadius: 6, padding: '9px 12px', background: '#F5F7FA', flexDirection: 'column', justifyContent: 'center' }}&gt;&lt;Text style={{ fontSize: 18, color: '#0E2340', fontWeight: 700, lineHeight: 1.2 }}&gt;11&lt;/Text&gt;&lt;Text style={{ fontSize: 13, color: '#7A8699', fontWeight: 400, lineHeight: 1.3 }}&gt;落地与边界&lt;/Text&gt;&lt;/Box&gt;&lt;Box style={{ width: 172, height: 64, borderRadius: 6, padding: '9px 12px', background: '#F5F7FA', flexDirection: 'column', justifyContent: 'center' }}&gt;&lt;Text style={{ fontSize: 18, color: '#0E2340', fontWeight: 700, lineHeight: 1.2 }}&gt;12&lt;/Text&gt;&lt;Text style={{ fontSize: 13, color: '#7A8699', fontWeight: 400, lineHeight: 1.3 }}&gt;自进化与扩展&lt;/Text&gt;&lt;/Box&gt;&lt;/Box&gt;&lt;Box style={{ flexDirection: 'row', gap: 10 }}&gt;&lt;Box style={{ width: 172, height: 64, borderRadius: 6, padding: '9px 12px', background: '#F5F7FA', flexDirection: 'column', justifyContent: 'center' }}&gt;&lt;Text style={{ fontSize: 18, color: '#0E2340', fontWeight: 700, lineHeight: 1.2 }}&gt;13&lt;/Text&gt;&lt;Text style={{ fontSize: 13, color: '#7A8699', fontWeight: 400, lineHeight: 1.3 }}&gt;收尾&lt;/Text&gt;&lt;/Box&gt;&lt;/Box&gt;&lt;/Box&gt;&lt;Box style={{ flexDirection: 'row', alignItems: 'center', gap: 10, background: '#F5F7FA', borderRadius: 6, padding: '10px 14px' }}&gt;&lt;Box style={{ width: 6, height: 22, background: '#00A9B5' }} /&gt;&lt;Text style={{ fontSize: 15, color: '#0E2340', fontWeight: 600, lineHeight: 1.4 }}&gt;当前位置：第 09 章 · MCP 接入&lt;/Text&gt;&lt;/Box&gt;&lt;Box style={{ flexDirection: 'row', gap: 10 }}&gt;&lt;Box style={{ flex: 1, flexDirection: 'row', alignItems: 'center', gap: 8, borderRadius: 6, padding: '9px 10px', background: '#F5F7FA' }}&gt;&lt;Box style={{ width: 10, height: 10, borderRadius: 5, background: '#1E9E62' }} /&gt;&lt;Text style={{ fontSize: 14, color: '#333A45', fontWeight: 600, lineHeight: 1.3 }}&gt;已实现&lt;/Text&gt;&lt;/Box&gt;&lt;Box style={{ flex: 1, flexDirection: 'row', alignItems: 'center', gap: 8, borderRadius: 6, padding: '9px 10px', background: '#F5F7FA' }}&gt;&lt;Box style={{ width: 10, height: 10, borderRadius: 5, background: '#E8A33D' }} /&gt;&lt;Text style={{ fontSize: 14, color: '#333A45', fontWeight: 600, lineHeight: 1.3 }}&gt;部分实现&lt;/Text&gt;&lt;/Box&gt;&lt;Box style={{ flex: 1, flexDirection: 'row', alignItems: 'center', gap: 8, borderRadius: 6, padding: '9px 10px', background: '#F5F7FA' }}&gt;&lt;Box style={{ width: 10, height: 10, borderRadius: 5, background: '#1E7BE0' }} /&gt;&lt;Text style={{ fontSize: 14, color: '#333A45', fontWeight: 600, lineHeight: 1.3 }}&gt;设计中&lt;/Text&gt;&lt;/Box&gt;&lt;Box style={{ flex: 1, flexDirection: 'row', alignItems: 'center', gap: 8, borderRadius: 6, padding: '9px 10px', background: '#F5F7FA' }}&gt;&lt;Box style={{ width: 10, height: 10, borderRadius: 5, background: '#98A2B3' }} /&gt;&lt;Text style={{ fontSize: 14, color: '#333A45', fontWeight: 600, lineHeight: 1.3 }}&gt;待研究&lt;/Text&gt;&lt;/Box&gt;&lt;/Box&gt;&lt;Box style={{ flexDirection: 'row', alignItems: 'center', gap: 12, borderTop: '1px solid #E3E8EF', paddingTop: 14 }}&gt;&lt;Box style={{ width: 46, height: 5, background: '#00A9B5' }} /&gt;&lt;Text style={{ fontSize: 15, color: '#7A8699', fontWeight: 600, lineHeight: 1.4 }}&gt;StudyAgent 项目设计汇报 · 技术评审版 · 共 124 页&lt;/Text&gt;&lt;/Box&gt;&lt;/Box&gt;&lt;/Box&gt;&lt;/Slide&gt;"/>
        <p:cNvGrpSpPr/>
        <p:nvPr/>
      </p:nvGrpSpPr>
      <p:grpSpPr>
        <a:xfrm>
          <a:off x="0" y="0"/>
          <a:ext cx="0" cy="0"/>
          <a:chOff x="0" y="0"/>
          <a:chExt cx="0" cy="0"/>
        </a:xfrm>
      </p:grpSpPr>
      <p:sp>
        <p:nvSpPr>
          <p:cNvPr id="2835" name=""/>
          <p:cNvSpPr/>
          <p:nvPr/>
        </p:nvSpPr>
        <p:spPr>
          <a:xfrm rot="0" flipH="0" flipV="0">
            <a:off x="0" y="0"/>
            <a:ext cx="12192000" cy="6858000"/>
          </a:xfrm>
          <a:prstGeom prst="rect">
            <a:avLst/>
          </a:prstGeom>
          <a:solidFill>
            <a:srgbClr val="FFFFFF"/>
          </a:solidFill>
          <a:ln/>
        </p:spPr>
        <p:txBody>
          <a:bodyPr/>
          <a:p/>
        </p:txBody>
      </p:sp>
      <p:pic>
        <p:nvPicPr>
          <p:cNvPr id="2836" name=""/>
          <p:cNvPicPr>
            <a:picLocks noChangeAspect="1"/>
          </p:cNvPicPr>
          <p:nvPr/>
        </p:nvPicPr>
        <p:blipFill>
          <a:blip>
            <a:extLst>
              <a:ext uri="{96DAC541-7B7A-43D3-8B79-37D633B846F1}">
                <asvg:svgBlip r:embed="rId1"/>
              </a:ext>
            </a:extLst>
          </a:blip>
          <a:stretch>
            <a:fillRect/>
          </a:stretch>
        </p:blipFill>
        <p:spPr>
          <a:xfrm rot="0" flipH="0" flipV="0">
            <a:off x="0" y="0"/>
            <a:ext cx="12192000" cy="6858000"/>
          </a:xfrm>
          <a:prstGeom prst="rect">
            <a:avLst/>
          </a:prstGeom>
          <a:ln/>
        </p:spPr>
      </p:pic>
      <p:sp>
        <p:nvSpPr>
          <p:cNvPr id="2837" name="" descr="{&quot;isTemplate&quot;:true,&quot;type&quot;:&quot;text&quot;}"/>
          <p:cNvSpPr txBox="1"/>
          <p:nvPr/>
        </p:nvSpPr>
        <p:spPr>
          <a:xfrm rot="0" flipH="0" flipV="0">
            <a:off x="762000" y="457200"/>
            <a:ext cx="4953000" cy="247650"/>
          </a:xfrm>
          <a:prstGeom prst="rect"/>
        </p:spPr>
        <p:txBody>
          <a:bodyPr wrap="none" lIns="0" tIns="0" rIns="0" bIns="0"/>
          <a:p>
            <a:pPr>
              <a:lnSpc>
                <a:spcPct val="140000"/>
              </a:lnSpc>
            </a:pPr>
            <a:r>
              <a:rPr lang="en-US" sz="1125" b="1" spc="150">
                <a:solidFill>
                  <a:srgbClr val="1E7BE0"/>
                </a:solidFill>
                <a:latin typeface="Microsoft YaHei"/>
                <a:ea typeface="Microsoft YaHei"/>
              </a:rPr>
              <a:t>STUDYAGENT · DESIGN REVIEW</a:t>
            </a:r>
            <a:endParaRPr/>
          </a:p>
        </p:txBody>
      </p:sp>
      <p:sp>
        <p:nvSpPr>
          <p:cNvPr id="2838" name="" descr="{&quot;isTemplate&quot;:true,&quot;type&quot;:&quot;text&quot;}"/>
          <p:cNvSpPr txBox="1"/>
          <p:nvPr/>
        </p:nvSpPr>
        <p:spPr>
          <a:xfrm rot="0" flipH="0" flipV="0">
            <a:off x="762000" y="1133475"/>
            <a:ext cx="4953000" cy="1143000"/>
          </a:xfrm>
          <a:prstGeom prst="rect"/>
        </p:spPr>
        <p:txBody>
          <a:bodyPr wrap="none" lIns="0" tIns="0" rIns="0" bIns="0"/>
          <a:p>
            <a:pPr>
              <a:lnSpc>
                <a:spcPct val="100000"/>
              </a:lnSpc>
            </a:pPr>
            <a:r>
              <a:rPr lang="en-US" sz="7500" b="1">
                <a:solidFill>
                  <a:srgbClr val="0E2340"/>
                </a:solidFill>
                <a:latin typeface="JetBrains Mono"/>
                <a:ea typeface="JetBrains Mono"/>
              </a:rPr>
              <a:t>09</a:t>
            </a:r>
            <a:endParaRPr/>
          </a:p>
        </p:txBody>
      </p:sp>
      <p:sp>
        <p:nvSpPr>
          <p:cNvPr id="2839" name=""/>
          <p:cNvSpPr/>
          <p:nvPr/>
        </p:nvSpPr>
        <p:spPr>
          <a:xfrm rot="0" flipH="0" flipV="0">
            <a:off x="762000" y="2371725"/>
            <a:ext cx="742950" cy="47625"/>
          </a:xfrm>
          <a:prstGeom prst="rect">
            <a:avLst/>
          </a:prstGeom>
          <a:solidFill>
            <a:srgbClr val="1E7BE0"/>
          </a:solidFill>
          <a:ln/>
        </p:spPr>
        <p:txBody>
          <a:bodyPr/>
          <a:p/>
        </p:txBody>
      </p:sp>
      <p:sp>
        <p:nvSpPr>
          <p:cNvPr id="2840" name="" descr="{&quot;isTemplate&quot;:true,&quot;type&quot;:&quot;text&quot;}"/>
          <p:cNvSpPr txBox="1"/>
          <p:nvPr/>
        </p:nvSpPr>
        <p:spPr>
          <a:xfrm rot="0" flipH="0" flipV="0">
            <a:off x="762000" y="2419350"/>
            <a:ext cx="4953000" cy="609600"/>
          </a:xfrm>
          <a:prstGeom prst="rect"/>
        </p:spPr>
        <p:txBody>
          <a:bodyPr wrap="none" lIns="0" tIns="0" rIns="0" bIns="0"/>
          <a:p>
            <a:pPr>
              <a:lnSpc>
                <a:spcPct val="120000"/>
              </a:lnSpc>
            </a:pPr>
            <a:r>
              <a:rPr lang="en-US" sz="3300" b="1">
                <a:solidFill>
                  <a:srgbClr val="0E2340"/>
                </a:solidFill>
                <a:latin typeface="Microsoft YaHei"/>
                <a:ea typeface="Microsoft YaHei"/>
              </a:rPr>
              <a:t xml:space="preserve">MCP </a:t>
            </a:r>
            <a:r>
              <a:rPr lang="zh-CN" sz="3300" b="1">
                <a:solidFill>
                  <a:srgbClr val="0E2340"/>
                </a:solidFill>
                <a:latin typeface="Microsoft YaHei"/>
                <a:ea typeface="Microsoft YaHei"/>
              </a:rPr>
              <a:t>接入</a:t>
            </a:r>
            <a:endParaRPr/>
          </a:p>
        </p:txBody>
      </p:sp>
      <p:sp>
        <p:nvSpPr>
          <p:cNvPr id="2841" name=""/>
          <p:cNvSpPr/>
          <p:nvPr/>
        </p:nvSpPr>
        <p:spPr>
          <a:xfrm rot="0" flipH="0" flipV="0">
            <a:off x="800100" y="3457575"/>
            <a:ext cx="4953000" cy="600075"/>
          </a:xfrm>
          <a:prstGeom prst="roundRect">
            <a:avLst>
              <a:gd name="adj" fmla="val 9524"/>
            </a:avLst>
          </a:prstGeom>
          <a:solidFill>
            <a:srgbClr val="F5F7FA"/>
          </a:solidFill>
          <a:ln/>
        </p:spPr>
        <p:txBody>
          <a:bodyPr/>
          <a:p/>
        </p:txBody>
      </p:sp>
      <p:sp>
        <p:nvSpPr>
          <p:cNvPr id="2842" name=""/>
          <p:cNvSpPr/>
          <p:nvPr/>
        </p:nvSpPr>
        <p:spPr>
          <a:xfrm rot="0" flipH="0" flipV="0">
            <a:off x="800100" y="3457575"/>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2843" name="" descr="{&quot;isTemplate&quot;:true,&quot;type&quot;:&quot;text&quot;}"/>
          <p:cNvSpPr txBox="1"/>
          <p:nvPr/>
        </p:nvSpPr>
        <p:spPr>
          <a:xfrm rot="0" flipH="0" flipV="0">
            <a:off x="990600" y="3590925"/>
            <a:ext cx="1809750" cy="333375"/>
          </a:xfrm>
          <a:prstGeom prst="rect"/>
        </p:spPr>
        <p:txBody>
          <a:bodyPr wrap="none" lIns="0" tIns="0" rIns="0" bIns="0"/>
          <a:p>
            <a:pPr>
              <a:lnSpc>
                <a:spcPct val="150000"/>
              </a:lnSpc>
            </a:pPr>
            <a:r>
              <a:rPr lang="zh-CN" sz="1425" b="1">
                <a:solidFill>
                  <a:srgbClr val="0E2340"/>
                </a:solidFill>
                <a:latin typeface="Microsoft YaHei"/>
                <a:ea typeface="Microsoft YaHei"/>
              </a:rPr>
              <a:t>教育能力服务对外提供</a:t>
            </a:r>
            <a:endParaRPr/>
          </a:p>
        </p:txBody>
      </p:sp>
      <p:sp>
        <p:nvSpPr>
          <p:cNvPr id="2844" name=""/>
          <p:cNvSpPr/>
          <p:nvPr/>
        </p:nvSpPr>
        <p:spPr>
          <a:xfrm rot="0" flipH="0" flipV="0">
            <a:off x="800100" y="4171950"/>
            <a:ext cx="4953000" cy="600075"/>
          </a:xfrm>
          <a:prstGeom prst="roundRect">
            <a:avLst>
              <a:gd name="adj" fmla="val 9524"/>
            </a:avLst>
          </a:prstGeom>
          <a:solidFill>
            <a:srgbClr val="F5F7FA"/>
          </a:solidFill>
          <a:ln/>
        </p:spPr>
        <p:txBody>
          <a:bodyPr/>
          <a:p/>
        </p:txBody>
      </p:sp>
      <p:sp>
        <p:nvSpPr>
          <p:cNvPr id="2845" name=""/>
          <p:cNvSpPr/>
          <p:nvPr/>
        </p:nvSpPr>
        <p:spPr>
          <a:xfrm rot="0" flipH="0" flipV="0">
            <a:off x="800100" y="417195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2846" name="" descr="{&quot;isTemplate&quot;:true,&quot;type&quot;:&quot;text&quot;}"/>
          <p:cNvSpPr txBox="1"/>
          <p:nvPr/>
        </p:nvSpPr>
        <p:spPr>
          <a:xfrm rot="0" flipH="0" flipV="0">
            <a:off x="990600" y="4305300"/>
            <a:ext cx="2095500" cy="333375"/>
          </a:xfrm>
          <a:prstGeom prst="rect"/>
        </p:spPr>
        <p:txBody>
          <a:bodyPr wrap="none" lIns="0" tIns="0" rIns="0" bIns="0"/>
          <a:p>
            <a:pPr>
              <a:lnSpc>
                <a:spcPct val="150000"/>
              </a:lnSpc>
            </a:pPr>
            <a:r>
              <a:rPr lang="en-US" sz="1425" b="1">
                <a:solidFill>
                  <a:srgbClr val="0E2340"/>
                </a:solidFill>
                <a:latin typeface="Microsoft YaHei"/>
                <a:ea typeface="Microsoft YaHei"/>
              </a:rPr>
              <a:t xml:space="preserve">11 </a:t>
            </a:r>
            <a:r>
              <a:rPr lang="zh-CN" sz="1425" b="1">
                <a:solidFill>
                  <a:srgbClr val="0E2340"/>
                </a:solidFill>
                <a:latin typeface="Microsoft YaHei"/>
                <a:ea typeface="Microsoft YaHei"/>
              </a:rPr>
              <a:t>个领域</a:t>
            </a:r>
            <a:r>
              <a:rPr lang="en-US" sz="1425" b="1">
                <a:solidFill>
                  <a:srgbClr val="0E2340"/>
                </a:solidFill>
                <a:latin typeface="Microsoft YaHei"/>
                <a:ea typeface="Microsoft YaHei"/>
              </a:rPr>
              <a:t xml:space="preserve"> / 29 </a:t>
            </a:r>
            <a:r>
              <a:rPr lang="zh-CN" sz="1425" b="1">
                <a:solidFill>
                  <a:srgbClr val="0E2340"/>
                </a:solidFill>
                <a:latin typeface="Microsoft YaHei"/>
                <a:ea typeface="Microsoft YaHei"/>
              </a:rPr>
              <a:t>个拟议工具</a:t>
            </a:r>
            <a:endParaRPr/>
          </a:p>
        </p:txBody>
      </p:sp>
      <p:sp>
        <p:nvSpPr>
          <p:cNvPr id="2847" name=""/>
          <p:cNvSpPr/>
          <p:nvPr/>
        </p:nvSpPr>
        <p:spPr>
          <a:xfrm rot="0" flipH="0" flipV="0">
            <a:off x="800100" y="4886325"/>
            <a:ext cx="4953000" cy="600075"/>
          </a:xfrm>
          <a:prstGeom prst="roundRect">
            <a:avLst>
              <a:gd name="adj" fmla="val 9524"/>
            </a:avLst>
          </a:prstGeom>
          <a:solidFill>
            <a:srgbClr val="F5F7FA"/>
          </a:solidFill>
          <a:ln/>
        </p:spPr>
        <p:txBody>
          <a:bodyPr/>
          <a:p/>
        </p:txBody>
      </p:sp>
      <p:sp>
        <p:nvSpPr>
          <p:cNvPr id="2848" name=""/>
          <p:cNvSpPr/>
          <p:nvPr/>
        </p:nvSpPr>
        <p:spPr>
          <a:xfrm rot="0" flipH="0" flipV="0">
            <a:off x="800100" y="4886325"/>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2849" name="" descr="{&quot;isTemplate&quot;:true,&quot;type&quot;:&quot;text&quot;}"/>
          <p:cNvSpPr txBox="1"/>
          <p:nvPr/>
        </p:nvSpPr>
        <p:spPr>
          <a:xfrm rot="0" flipH="0" flipV="0">
            <a:off x="990600" y="5019675"/>
            <a:ext cx="1809750" cy="333375"/>
          </a:xfrm>
          <a:prstGeom prst="rect"/>
        </p:spPr>
        <p:txBody>
          <a:bodyPr wrap="none" lIns="0" tIns="0" rIns="0" bIns="0"/>
          <a:p>
            <a:pPr>
              <a:lnSpc>
                <a:spcPct val="150000"/>
              </a:lnSpc>
            </a:pPr>
            <a:r>
              <a:rPr lang="zh-CN" sz="1425" b="1">
                <a:solidFill>
                  <a:srgbClr val="0E2340"/>
                </a:solidFill>
                <a:latin typeface="Microsoft YaHei"/>
                <a:ea typeface="Microsoft YaHei"/>
              </a:rPr>
              <a:t>权限边界与防提示注入</a:t>
            </a:r>
            <a:endParaRPr/>
          </a:p>
        </p:txBody>
      </p:sp>
      <p:sp>
        <p:nvSpPr>
          <p:cNvPr id="2850" name="" descr="{&quot;isTemplate&quot;:true,&quot;type&quot;:&quot;text&quot;}"/>
          <p:cNvSpPr txBox="1"/>
          <p:nvPr/>
        </p:nvSpPr>
        <p:spPr>
          <a:xfrm rot="0" flipH="0" flipV="0">
            <a:off x="762000" y="5915025"/>
            <a:ext cx="4953000" cy="447675"/>
          </a:xfrm>
          <a:prstGeom prst="rect"/>
        </p:spPr>
        <p:txBody>
          <a:bodyPr wrap="square" lIns="0" tIns="0" rIns="0" bIns="0">
            <a:normAutofit/>
          </a:bodyPr>
          <a:p>
            <a:pPr>
              <a:lnSpc>
                <a:spcPct val="150000"/>
              </a:lnSpc>
            </a:pPr>
            <a:r>
              <a:rPr lang="zh-CN" sz="975">
                <a:solidFill>
                  <a:srgbClr val="7A8699"/>
                </a:solidFill>
                <a:latin typeface="Microsoft YaHei"/>
                <a:ea typeface="Microsoft YaHei"/>
              </a:rPr>
              <a:t>来源：系统</a:t>
            </a:r>
            <a:r>
              <a:rPr lang="en-US" sz="975">
                <a:solidFill>
                  <a:srgbClr val="7A8699"/>
                </a:solidFill>
                <a:latin typeface="Microsoft YaHei"/>
                <a:ea typeface="Microsoft YaHei"/>
              </a:rPr>
              <a:t>Agent</a:t>
            </a:r>
            <a:r>
              <a:rPr lang="zh-CN" sz="975">
                <a:solidFill>
                  <a:srgbClr val="7A8699"/>
                </a:solidFill>
                <a:latin typeface="Microsoft YaHei"/>
                <a:ea typeface="Microsoft YaHei"/>
              </a:rPr>
              <a:t>适配与</a:t>
            </a:r>
            <a:r>
              <a:rPr lang="en-US" sz="975">
                <a:solidFill>
                  <a:srgbClr val="7A8699"/>
                </a:solidFill>
                <a:latin typeface="Microsoft YaHei"/>
                <a:ea typeface="Microsoft YaHei"/>
              </a:rPr>
              <a:t>MCP</a:t>
            </a:r>
            <a:r>
              <a:rPr lang="zh-CN" sz="975">
                <a:solidFill>
                  <a:srgbClr val="7A8699"/>
                </a:solidFill>
                <a:latin typeface="Microsoft YaHei"/>
                <a:ea typeface="Microsoft YaHei"/>
              </a:rPr>
              <a:t>插件接入设计</a:t>
            </a:r>
            <a:r>
              <a:rPr lang="en-US" sz="975">
                <a:solidFill>
                  <a:srgbClr val="7A8699"/>
                </a:solidFill>
                <a:latin typeface="Microsoft YaHei"/>
                <a:ea typeface="Microsoft YaHei"/>
              </a:rPr>
              <a:t>.md</a:t>
            </a:r>
            <a:r>
              <a:rPr lang="zh-CN" sz="975">
                <a:solidFill>
                  <a:srgbClr val="7A8699"/>
                </a:solidFill>
                <a:latin typeface="Microsoft YaHei"/>
                <a:ea typeface="Microsoft YaHei"/>
              </a:rPr>
              <a:t>（研究日期</a:t>
            </a:r>
            <a:r>
              <a:rPr lang="en-US" sz="975">
                <a:solidFill>
                  <a:srgbClr val="7A8699"/>
                </a:solidFill>
                <a:latin typeface="Microsoft YaHei"/>
                <a:ea typeface="Microsoft YaHei"/>
              </a:rPr>
              <a:t xml:space="preserve"> 2026-10-25</a:t>
            </a:r>
            <a:r>
              <a:rPr lang="zh-CN" sz="975">
                <a:solidFill>
                  <a:srgbClr val="7A8699"/>
                </a:solidFill>
                <a:latin typeface="Microsoft YaHei"/>
                <a:ea typeface="Microsoft YaHei"/>
              </a:rPr>
              <a:t>，</a:t>
            </a:r>
            <a:r>
              <a:rPr lang="en-US" sz="975">
                <a:solidFill>
                  <a:srgbClr val="7A8699"/>
                </a:solidFill>
                <a:latin typeface="Microsoft YaHei"/>
                <a:ea typeface="Microsoft YaHei"/>
              </a:rPr>
              <a:t xml:space="preserve">MCP </a:t>
            </a:r>
            <a:r>
              <a:rPr lang="zh-CN" sz="975">
                <a:solidFill>
                  <a:srgbClr val="7A8699"/>
                </a:solidFill>
                <a:latin typeface="Microsoft YaHei"/>
                <a:ea typeface="Microsoft YaHei"/>
              </a:rPr>
              <a:t>规范</a:t>
            </a:r>
            <a:r>
              <a:rPr lang="en-US" sz="975">
                <a:solidFill>
                  <a:srgbClr val="7A8699"/>
                </a:solidFill>
                <a:latin typeface="Microsoft YaHei"/>
                <a:ea typeface="Microsoft YaHei"/>
              </a:rPr>
              <a:t xml:space="preserve"> 2026-07-28</a:t>
            </a:r>
            <a:r>
              <a:rPr lang="zh-CN" sz="975">
                <a:solidFill>
                  <a:srgbClr val="7A8699"/>
                </a:solidFill>
                <a:latin typeface="Microsoft YaHei"/>
                <a:ea typeface="Microsoft YaHei"/>
              </a:rPr>
              <a:t>）</a:t>
            </a:r>
            <a:endParaRPr/>
          </a:p>
        </p:txBody>
      </p:sp>
      <p:sp>
        <p:nvSpPr>
          <p:cNvPr id="2851" name="" descr="{&quot;isTemplate&quot;:true,&quot;type&quot;:&quot;text&quot;}"/>
          <p:cNvSpPr txBox="1"/>
          <p:nvPr/>
        </p:nvSpPr>
        <p:spPr>
          <a:xfrm rot="0" flipH="0" flipV="0">
            <a:off x="6134100" y="457200"/>
            <a:ext cx="5295900" cy="323850"/>
          </a:xfrm>
          <a:prstGeom prst="rect"/>
        </p:spPr>
        <p:txBody>
          <a:bodyPr wrap="none" lIns="0" tIns="0" rIns="0" bIns="0"/>
          <a:p>
            <a:pPr>
              <a:lnSpc>
                <a:spcPct val="140000"/>
              </a:lnSpc>
            </a:pPr>
            <a:r>
              <a:rPr lang="zh-CN" sz="1500" b="1">
                <a:solidFill>
                  <a:srgbClr val="0E2340"/>
                </a:solidFill>
                <a:latin typeface="Microsoft YaHei"/>
                <a:ea typeface="Microsoft YaHei"/>
              </a:rPr>
              <a:t>汇报结构</a:t>
            </a:r>
            <a:r>
              <a:rPr lang="en-US" sz="1500" b="1">
                <a:solidFill>
                  <a:srgbClr val="0E2340"/>
                </a:solidFill>
                <a:latin typeface="Microsoft YaHei"/>
                <a:ea typeface="Microsoft YaHei"/>
              </a:rPr>
              <a:t xml:space="preserve"> · 13 </a:t>
            </a:r>
            <a:r>
              <a:rPr lang="zh-CN" sz="1500" b="1">
                <a:solidFill>
                  <a:srgbClr val="0E2340"/>
                </a:solidFill>
                <a:latin typeface="Microsoft YaHei"/>
                <a:ea typeface="Microsoft YaHei"/>
              </a:rPr>
              <a:t>章</a:t>
            </a:r>
            <a:endParaRPr/>
          </a:p>
        </p:txBody>
      </p:sp>
      <p:sp>
        <p:nvSpPr>
          <p:cNvPr id="2852" name=""/>
          <p:cNvSpPr/>
          <p:nvPr/>
        </p:nvSpPr>
        <p:spPr>
          <a:xfrm rot="0" flipH="0" flipV="0">
            <a:off x="6134100" y="1019175"/>
            <a:ext cx="1638300" cy="609600"/>
          </a:xfrm>
          <a:prstGeom prst="roundRect">
            <a:avLst>
              <a:gd name="adj" fmla="val 9375"/>
            </a:avLst>
          </a:prstGeom>
          <a:solidFill>
            <a:srgbClr val="F5F7FA"/>
          </a:solidFill>
          <a:ln/>
        </p:spPr>
        <p:txBody>
          <a:bodyPr/>
          <a:p/>
        </p:txBody>
      </p:sp>
      <p:sp>
        <p:nvSpPr>
          <p:cNvPr id="2853" name="" descr="{&quot;isTemplate&quot;:true,&quot;type&quot;:&quot;text&quot;}"/>
          <p:cNvSpPr txBox="1"/>
          <p:nvPr/>
        </p:nvSpPr>
        <p:spPr>
          <a:xfrm rot="0" flipH="0" flipV="0">
            <a:off x="62484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01</a:t>
            </a:r>
            <a:endParaRPr/>
          </a:p>
        </p:txBody>
      </p:sp>
      <p:sp>
        <p:nvSpPr>
          <p:cNvPr id="2854" name="" descr="{&quot;isTemplate&quot;:true,&quot;type&quot;:&quot;text&quot;}"/>
          <p:cNvSpPr txBox="1"/>
          <p:nvPr/>
        </p:nvSpPr>
        <p:spPr>
          <a:xfrm rot="0" flipH="0" flipV="0">
            <a:off x="62484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概念地基</a:t>
            </a:r>
            <a:endParaRPr/>
          </a:p>
        </p:txBody>
      </p:sp>
      <p:sp>
        <p:nvSpPr>
          <p:cNvPr id="2855" name=""/>
          <p:cNvSpPr/>
          <p:nvPr/>
        </p:nvSpPr>
        <p:spPr>
          <a:xfrm rot="0" flipH="0" flipV="0">
            <a:off x="7867650" y="1019175"/>
            <a:ext cx="1638300" cy="609600"/>
          </a:xfrm>
          <a:prstGeom prst="roundRect">
            <a:avLst>
              <a:gd name="adj" fmla="val 9375"/>
            </a:avLst>
          </a:prstGeom>
          <a:solidFill>
            <a:srgbClr val="F5F7FA"/>
          </a:solidFill>
          <a:ln/>
        </p:spPr>
        <p:txBody>
          <a:bodyPr/>
          <a:p/>
        </p:txBody>
      </p:sp>
      <p:sp>
        <p:nvSpPr>
          <p:cNvPr id="2856" name="" descr="{&quot;isTemplate&quot;:true,&quot;type&quot;:&quot;text&quot;}"/>
          <p:cNvSpPr txBox="1"/>
          <p:nvPr/>
        </p:nvSpPr>
        <p:spPr>
          <a:xfrm rot="0" flipH="0" flipV="0">
            <a:off x="798195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02</a:t>
            </a:r>
            <a:endParaRPr/>
          </a:p>
        </p:txBody>
      </p:sp>
      <p:sp>
        <p:nvSpPr>
          <p:cNvPr id="2857" name="" descr="{&quot;isTemplate&quot;:true,&quot;type&quot;:&quot;text&quot;}"/>
          <p:cNvSpPr txBox="1"/>
          <p:nvPr/>
        </p:nvSpPr>
        <p:spPr>
          <a:xfrm rot="0" flipH="0" flipV="0">
            <a:off x="798195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现状盘点</a:t>
            </a:r>
            <a:endParaRPr/>
          </a:p>
        </p:txBody>
      </p:sp>
      <p:sp>
        <p:nvSpPr>
          <p:cNvPr id="2858" name=""/>
          <p:cNvSpPr/>
          <p:nvPr/>
        </p:nvSpPr>
        <p:spPr>
          <a:xfrm rot="0" flipH="0" flipV="0">
            <a:off x="9601200" y="1019175"/>
            <a:ext cx="1638300" cy="609600"/>
          </a:xfrm>
          <a:prstGeom prst="roundRect">
            <a:avLst>
              <a:gd name="adj" fmla="val 9375"/>
            </a:avLst>
          </a:prstGeom>
          <a:solidFill>
            <a:srgbClr val="F5F7FA"/>
          </a:solidFill>
          <a:ln/>
        </p:spPr>
        <p:txBody>
          <a:bodyPr/>
          <a:p/>
        </p:txBody>
      </p:sp>
      <p:sp>
        <p:nvSpPr>
          <p:cNvPr id="2859" name="" descr="{&quot;isTemplate&quot;:true,&quot;type&quot;:&quot;text&quot;}"/>
          <p:cNvSpPr txBox="1"/>
          <p:nvPr/>
        </p:nvSpPr>
        <p:spPr>
          <a:xfrm rot="0" flipH="0" flipV="0">
            <a:off x="97155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03</a:t>
            </a:r>
            <a:endParaRPr/>
          </a:p>
        </p:txBody>
      </p:sp>
      <p:sp>
        <p:nvSpPr>
          <p:cNvPr id="2860" name="" descr="{&quot;isTemplate&quot;:true,&quot;type&quot;:&quot;text&quot;}"/>
          <p:cNvSpPr txBox="1"/>
          <p:nvPr/>
        </p:nvSpPr>
        <p:spPr>
          <a:xfrm rot="0" flipH="0" flipV="0">
            <a:off x="97155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单题引擎</a:t>
            </a:r>
            <a:endParaRPr/>
          </a:p>
        </p:txBody>
      </p:sp>
      <p:sp>
        <p:nvSpPr>
          <p:cNvPr id="2861" name=""/>
          <p:cNvSpPr/>
          <p:nvPr/>
        </p:nvSpPr>
        <p:spPr>
          <a:xfrm rot="0" flipH="0" flipV="0">
            <a:off x="6134100" y="1724025"/>
            <a:ext cx="1638300" cy="609600"/>
          </a:xfrm>
          <a:prstGeom prst="roundRect">
            <a:avLst>
              <a:gd name="adj" fmla="val 9375"/>
            </a:avLst>
          </a:prstGeom>
          <a:solidFill>
            <a:srgbClr val="F5F7FA"/>
          </a:solidFill>
          <a:ln/>
        </p:spPr>
        <p:txBody>
          <a:bodyPr/>
          <a:p/>
        </p:txBody>
      </p:sp>
      <p:sp>
        <p:nvSpPr>
          <p:cNvPr id="2862" name="" descr="{&quot;isTemplate&quot;:true,&quot;type&quot;:&quot;text&quot;}"/>
          <p:cNvSpPr txBox="1"/>
          <p:nvPr/>
        </p:nvSpPr>
        <p:spPr>
          <a:xfrm rot="0" flipH="0" flipV="0">
            <a:off x="62484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04</a:t>
            </a:r>
            <a:endParaRPr/>
          </a:p>
        </p:txBody>
      </p:sp>
      <p:sp>
        <p:nvSpPr>
          <p:cNvPr id="2863" name="" descr="{&quot;isTemplate&quot;:true,&quot;type&quot;:&quot;text&quot;}"/>
          <p:cNvSpPr txBox="1"/>
          <p:nvPr/>
        </p:nvSpPr>
        <p:spPr>
          <a:xfrm rot="0" flipH="0" flipV="0">
            <a:off x="62484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套路层面</a:t>
            </a:r>
            <a:endParaRPr/>
          </a:p>
        </p:txBody>
      </p:sp>
      <p:sp>
        <p:nvSpPr>
          <p:cNvPr id="2864" name=""/>
          <p:cNvSpPr/>
          <p:nvPr/>
        </p:nvSpPr>
        <p:spPr>
          <a:xfrm rot="0" flipH="0" flipV="0">
            <a:off x="7867650" y="1724025"/>
            <a:ext cx="1638300" cy="609600"/>
          </a:xfrm>
          <a:prstGeom prst="roundRect">
            <a:avLst>
              <a:gd name="adj" fmla="val 9375"/>
            </a:avLst>
          </a:prstGeom>
          <a:solidFill>
            <a:srgbClr val="F5F7FA"/>
          </a:solidFill>
          <a:ln/>
        </p:spPr>
        <p:txBody>
          <a:bodyPr/>
          <a:p/>
        </p:txBody>
      </p:sp>
      <p:sp>
        <p:nvSpPr>
          <p:cNvPr id="2865" name="" descr="{&quot;isTemplate&quot;:true,&quot;type&quot;:&quot;text&quot;}"/>
          <p:cNvSpPr txBox="1"/>
          <p:nvPr/>
        </p:nvSpPr>
        <p:spPr>
          <a:xfrm rot="0" flipH="0" flipV="0">
            <a:off x="798195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05</a:t>
            </a:r>
            <a:endParaRPr/>
          </a:p>
        </p:txBody>
      </p:sp>
      <p:sp>
        <p:nvSpPr>
          <p:cNvPr id="2866" name="" descr="{&quot;isTemplate&quot;:true,&quot;type&quot;:&quot;text&quot;}"/>
          <p:cNvSpPr txBox="1"/>
          <p:nvPr/>
        </p:nvSpPr>
        <p:spPr>
          <a:xfrm rot="0" flipH="0" flipV="0">
            <a:off x="798195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教师端</a:t>
            </a:r>
            <a:endParaRPr/>
          </a:p>
        </p:txBody>
      </p:sp>
      <p:sp>
        <p:nvSpPr>
          <p:cNvPr id="2867" name=""/>
          <p:cNvSpPr/>
          <p:nvPr/>
        </p:nvSpPr>
        <p:spPr>
          <a:xfrm rot="0" flipH="0" flipV="0">
            <a:off x="9601200" y="1724025"/>
            <a:ext cx="1638300" cy="609600"/>
          </a:xfrm>
          <a:prstGeom prst="roundRect">
            <a:avLst>
              <a:gd name="adj" fmla="val 9375"/>
            </a:avLst>
          </a:prstGeom>
          <a:solidFill>
            <a:srgbClr val="F5F7FA"/>
          </a:solidFill>
          <a:ln/>
        </p:spPr>
        <p:txBody>
          <a:bodyPr/>
          <a:p/>
        </p:txBody>
      </p:sp>
      <p:sp>
        <p:nvSpPr>
          <p:cNvPr id="2868" name="" descr="{&quot;isTemplate&quot;:true,&quot;type&quot;:&quot;text&quot;}"/>
          <p:cNvSpPr txBox="1"/>
          <p:nvPr/>
        </p:nvSpPr>
        <p:spPr>
          <a:xfrm rot="0" flipH="0" flipV="0">
            <a:off x="97155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06</a:t>
            </a:r>
            <a:endParaRPr/>
          </a:p>
        </p:txBody>
      </p:sp>
      <p:sp>
        <p:nvSpPr>
          <p:cNvPr id="2869" name="" descr="{&quot;isTemplate&quot;:true,&quot;type&quot;:&quot;text&quot;}"/>
          <p:cNvSpPr txBox="1"/>
          <p:nvPr/>
        </p:nvSpPr>
        <p:spPr>
          <a:xfrm rot="0" flipH="0" flipV="0">
            <a:off x="97155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学校端</a:t>
            </a:r>
            <a:endParaRPr/>
          </a:p>
        </p:txBody>
      </p:sp>
      <p:sp>
        <p:nvSpPr>
          <p:cNvPr id="2870" name=""/>
          <p:cNvSpPr/>
          <p:nvPr/>
        </p:nvSpPr>
        <p:spPr>
          <a:xfrm rot="0" flipH="0" flipV="0">
            <a:off x="6134100" y="2428875"/>
            <a:ext cx="1638300" cy="609600"/>
          </a:xfrm>
          <a:prstGeom prst="roundRect">
            <a:avLst>
              <a:gd name="adj" fmla="val 9375"/>
            </a:avLst>
          </a:prstGeom>
          <a:solidFill>
            <a:srgbClr val="F5F7FA"/>
          </a:solidFill>
          <a:ln/>
        </p:spPr>
        <p:txBody>
          <a:bodyPr/>
          <a:p/>
        </p:txBody>
      </p:sp>
      <p:sp>
        <p:nvSpPr>
          <p:cNvPr id="2871" name="" descr="{&quot;isTemplate&quot;:true,&quot;type&quot;:&quot;text&quot;}"/>
          <p:cNvSpPr txBox="1"/>
          <p:nvPr/>
        </p:nvSpPr>
        <p:spPr>
          <a:xfrm rot="0" flipH="0" flipV="0">
            <a:off x="62484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07</a:t>
            </a:r>
            <a:endParaRPr/>
          </a:p>
        </p:txBody>
      </p:sp>
      <p:sp>
        <p:nvSpPr>
          <p:cNvPr id="2872" name="" descr="{&quot;isTemplate&quot;:true,&quot;type&quot;:&quot;text&quot;}"/>
          <p:cNvSpPr txBox="1"/>
          <p:nvPr/>
        </p:nvSpPr>
        <p:spPr>
          <a:xfrm rot="0" flipH="0" flipV="0">
            <a:off x="624840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试卷与生涯</a:t>
            </a:r>
            <a:endParaRPr/>
          </a:p>
        </p:txBody>
      </p:sp>
      <p:sp>
        <p:nvSpPr>
          <p:cNvPr id="2873" name=""/>
          <p:cNvSpPr/>
          <p:nvPr/>
        </p:nvSpPr>
        <p:spPr>
          <a:xfrm rot="0" flipH="0" flipV="0">
            <a:off x="7867650" y="2428875"/>
            <a:ext cx="1638300" cy="609600"/>
          </a:xfrm>
          <a:prstGeom prst="roundRect">
            <a:avLst>
              <a:gd name="adj" fmla="val 9375"/>
            </a:avLst>
          </a:prstGeom>
          <a:solidFill>
            <a:srgbClr val="F5F7FA"/>
          </a:solidFill>
          <a:ln/>
        </p:spPr>
        <p:txBody>
          <a:bodyPr/>
          <a:p/>
        </p:txBody>
      </p:sp>
      <p:sp>
        <p:nvSpPr>
          <p:cNvPr id="2874" name="" descr="{&quot;isTemplate&quot;:true,&quot;type&quot;:&quot;text&quot;}"/>
          <p:cNvSpPr txBox="1"/>
          <p:nvPr/>
        </p:nvSpPr>
        <p:spPr>
          <a:xfrm rot="0" flipH="0" flipV="0">
            <a:off x="798195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08</a:t>
            </a:r>
            <a:endParaRPr/>
          </a:p>
        </p:txBody>
      </p:sp>
      <p:sp>
        <p:nvSpPr>
          <p:cNvPr id="2875" name="" descr="{&quot;isTemplate&quot;:true,&quot;type&quot;:&quot;text&quot;}"/>
          <p:cNvSpPr txBox="1"/>
          <p:nvPr/>
        </p:nvSpPr>
        <p:spPr>
          <a:xfrm rot="0" flipH="0" flipV="0">
            <a:off x="798195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协同</a:t>
            </a:r>
            <a:r>
              <a:rPr lang="en-US" sz="975">
                <a:solidFill>
                  <a:srgbClr val="7A8699"/>
                </a:solidFill>
                <a:latin typeface="Microsoft YaHei"/>
                <a:ea typeface="Microsoft YaHei"/>
              </a:rPr>
              <a:t xml:space="preserve"> Agent</a:t>
            </a:r>
            <a:endParaRPr/>
          </a:p>
        </p:txBody>
      </p:sp>
      <p:sp>
        <p:nvSpPr>
          <p:cNvPr id="2876" name=""/>
          <p:cNvSpPr/>
          <p:nvPr/>
        </p:nvSpPr>
        <p:spPr>
          <a:xfrm rot="0" flipH="0" flipV="0">
            <a:off x="9601200" y="2428875"/>
            <a:ext cx="1638300" cy="609600"/>
          </a:xfrm>
          <a:prstGeom prst="roundRect">
            <a:avLst>
              <a:gd name="adj" fmla="val 9375"/>
            </a:avLst>
          </a:prstGeom>
          <a:solidFill>
            <a:srgbClr val="0E2340"/>
          </a:solidFill>
          <a:ln/>
        </p:spPr>
        <p:txBody>
          <a:bodyPr/>
          <a:p/>
        </p:txBody>
      </p:sp>
      <p:sp>
        <p:nvSpPr>
          <p:cNvPr id="2877" name="" descr="{&quot;isTemplate&quot;:true,&quot;type&quot;:&quot;text&quot;}"/>
          <p:cNvSpPr txBox="1"/>
          <p:nvPr/>
        </p:nvSpPr>
        <p:spPr>
          <a:xfrm rot="0" flipH="0" flipV="0">
            <a:off x="9715500" y="2514600"/>
            <a:ext cx="1409700" cy="247650"/>
          </a:xfrm>
          <a:prstGeom prst="rect"/>
        </p:spPr>
        <p:txBody>
          <a:bodyPr wrap="none" lIns="0" tIns="0" rIns="0" bIns="0"/>
          <a:p>
            <a:pPr>
              <a:lnSpc>
                <a:spcPct val="120000"/>
              </a:lnSpc>
            </a:pPr>
            <a:r>
              <a:rPr lang="en-US" sz="1350" b="1">
                <a:solidFill>
                  <a:srgbClr val="FFFFFF"/>
                </a:solidFill>
                <a:latin typeface="Microsoft YaHei"/>
                <a:ea typeface="Microsoft YaHei"/>
              </a:rPr>
              <a:t>09</a:t>
            </a:r>
            <a:endParaRPr/>
          </a:p>
        </p:txBody>
      </p:sp>
      <p:sp>
        <p:nvSpPr>
          <p:cNvPr id="2878" name="" descr="{&quot;isTemplate&quot;:true,&quot;type&quot;:&quot;text&quot;}"/>
          <p:cNvSpPr txBox="1"/>
          <p:nvPr/>
        </p:nvSpPr>
        <p:spPr>
          <a:xfrm rot="0" flipH="0" flipV="0">
            <a:off x="9715500" y="2762250"/>
            <a:ext cx="1409700" cy="200025"/>
          </a:xfrm>
          <a:prstGeom prst="rect"/>
        </p:spPr>
        <p:txBody>
          <a:bodyPr wrap="none" lIns="0" tIns="0" rIns="0" bIns="0"/>
          <a:p>
            <a:pPr>
              <a:lnSpc>
                <a:spcPct val="130000"/>
              </a:lnSpc>
            </a:pPr>
            <a:r>
              <a:rPr lang="en-US" sz="975">
                <a:solidFill>
                  <a:srgbClr val="C8DCF2"/>
                </a:solidFill>
                <a:latin typeface="Microsoft YaHei"/>
                <a:ea typeface="Microsoft YaHei"/>
              </a:rPr>
              <a:t xml:space="preserve">MCP </a:t>
            </a:r>
            <a:r>
              <a:rPr lang="zh-CN" sz="975">
                <a:solidFill>
                  <a:srgbClr val="C8DCF2"/>
                </a:solidFill>
                <a:latin typeface="Microsoft YaHei"/>
                <a:ea typeface="Microsoft YaHei"/>
              </a:rPr>
              <a:t>接入</a:t>
            </a:r>
            <a:endParaRPr/>
          </a:p>
        </p:txBody>
      </p:sp>
      <p:sp>
        <p:nvSpPr>
          <p:cNvPr id="2879" name=""/>
          <p:cNvSpPr/>
          <p:nvPr/>
        </p:nvSpPr>
        <p:spPr>
          <a:xfrm rot="0" flipH="0" flipV="0">
            <a:off x="6134100" y="3133725"/>
            <a:ext cx="1638300" cy="609600"/>
          </a:xfrm>
          <a:prstGeom prst="roundRect">
            <a:avLst>
              <a:gd name="adj" fmla="val 9375"/>
            </a:avLst>
          </a:prstGeom>
          <a:solidFill>
            <a:srgbClr val="F5F7FA"/>
          </a:solidFill>
          <a:ln/>
        </p:spPr>
        <p:txBody>
          <a:bodyPr/>
          <a:p/>
        </p:txBody>
      </p:sp>
      <p:sp>
        <p:nvSpPr>
          <p:cNvPr id="2880" name="" descr="{&quot;isTemplate&quot;:true,&quot;type&quot;:&quot;text&quot;}"/>
          <p:cNvSpPr txBox="1"/>
          <p:nvPr/>
        </p:nvSpPr>
        <p:spPr>
          <a:xfrm rot="0" flipH="0" flipV="0">
            <a:off x="62484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10</a:t>
            </a:r>
            <a:endParaRPr/>
          </a:p>
        </p:txBody>
      </p:sp>
      <p:sp>
        <p:nvSpPr>
          <p:cNvPr id="2881" name="" descr="{&quot;isTemplate&quot;:true,&quot;type&quot;:&quot;text&quot;}"/>
          <p:cNvSpPr txBox="1"/>
          <p:nvPr/>
        </p:nvSpPr>
        <p:spPr>
          <a:xfrm rot="0" flipH="0" flipV="0">
            <a:off x="62484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待深化研究</a:t>
            </a:r>
            <a:endParaRPr/>
          </a:p>
        </p:txBody>
      </p:sp>
      <p:sp>
        <p:nvSpPr>
          <p:cNvPr id="2882" name=""/>
          <p:cNvSpPr/>
          <p:nvPr/>
        </p:nvSpPr>
        <p:spPr>
          <a:xfrm rot="0" flipH="0" flipV="0">
            <a:off x="7867650" y="3133725"/>
            <a:ext cx="1638300" cy="609600"/>
          </a:xfrm>
          <a:prstGeom prst="roundRect">
            <a:avLst>
              <a:gd name="adj" fmla="val 9375"/>
            </a:avLst>
          </a:prstGeom>
          <a:solidFill>
            <a:srgbClr val="F5F7FA"/>
          </a:solidFill>
          <a:ln/>
        </p:spPr>
        <p:txBody>
          <a:bodyPr/>
          <a:p/>
        </p:txBody>
      </p:sp>
      <p:sp>
        <p:nvSpPr>
          <p:cNvPr id="2883" name="" descr="{&quot;isTemplate&quot;:true,&quot;type&quot;:&quot;text&quot;}"/>
          <p:cNvSpPr txBox="1"/>
          <p:nvPr/>
        </p:nvSpPr>
        <p:spPr>
          <a:xfrm rot="0" flipH="0" flipV="0">
            <a:off x="798195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11</a:t>
            </a:r>
            <a:endParaRPr/>
          </a:p>
        </p:txBody>
      </p:sp>
      <p:sp>
        <p:nvSpPr>
          <p:cNvPr id="2884" name="" descr="{&quot;isTemplate&quot;:true,&quot;type&quot;:&quot;text&quot;}"/>
          <p:cNvSpPr txBox="1"/>
          <p:nvPr/>
        </p:nvSpPr>
        <p:spPr>
          <a:xfrm rot="0" flipH="0" flipV="0">
            <a:off x="798195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落地与边界</a:t>
            </a:r>
            <a:endParaRPr/>
          </a:p>
        </p:txBody>
      </p:sp>
      <p:sp>
        <p:nvSpPr>
          <p:cNvPr id="2885" name=""/>
          <p:cNvSpPr/>
          <p:nvPr/>
        </p:nvSpPr>
        <p:spPr>
          <a:xfrm rot="0" flipH="0" flipV="0">
            <a:off x="9601200" y="3133725"/>
            <a:ext cx="1638300" cy="609600"/>
          </a:xfrm>
          <a:prstGeom prst="roundRect">
            <a:avLst>
              <a:gd name="adj" fmla="val 9375"/>
            </a:avLst>
          </a:prstGeom>
          <a:solidFill>
            <a:srgbClr val="F5F7FA"/>
          </a:solidFill>
          <a:ln/>
        </p:spPr>
        <p:txBody>
          <a:bodyPr/>
          <a:p/>
        </p:txBody>
      </p:sp>
      <p:sp>
        <p:nvSpPr>
          <p:cNvPr id="2886" name="" descr="{&quot;isTemplate&quot;:true,&quot;type&quot;:&quot;text&quot;}"/>
          <p:cNvSpPr txBox="1"/>
          <p:nvPr/>
        </p:nvSpPr>
        <p:spPr>
          <a:xfrm rot="0" flipH="0" flipV="0">
            <a:off x="97155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12</a:t>
            </a:r>
            <a:endParaRPr/>
          </a:p>
        </p:txBody>
      </p:sp>
      <p:sp>
        <p:nvSpPr>
          <p:cNvPr id="2887" name="" descr="{&quot;isTemplate&quot;:true,&quot;type&quot;:&quot;text&quot;}"/>
          <p:cNvSpPr txBox="1"/>
          <p:nvPr/>
        </p:nvSpPr>
        <p:spPr>
          <a:xfrm rot="0" flipH="0" flipV="0">
            <a:off x="97155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自进化与扩展</a:t>
            </a:r>
            <a:endParaRPr/>
          </a:p>
        </p:txBody>
      </p:sp>
      <p:sp>
        <p:nvSpPr>
          <p:cNvPr id="2888" name=""/>
          <p:cNvSpPr/>
          <p:nvPr/>
        </p:nvSpPr>
        <p:spPr>
          <a:xfrm rot="0" flipH="0" flipV="0">
            <a:off x="6134100" y="3838575"/>
            <a:ext cx="1638300" cy="609600"/>
          </a:xfrm>
          <a:prstGeom prst="roundRect">
            <a:avLst>
              <a:gd name="adj" fmla="val 9375"/>
            </a:avLst>
          </a:prstGeom>
          <a:solidFill>
            <a:srgbClr val="F5F7FA"/>
          </a:solidFill>
          <a:ln/>
        </p:spPr>
        <p:txBody>
          <a:bodyPr/>
          <a:p/>
        </p:txBody>
      </p:sp>
      <p:sp>
        <p:nvSpPr>
          <p:cNvPr id="2889" name="" descr="{&quot;isTemplate&quot;:true,&quot;type&quot;:&quot;text&quot;}"/>
          <p:cNvSpPr txBox="1"/>
          <p:nvPr/>
        </p:nvSpPr>
        <p:spPr>
          <a:xfrm rot="0" flipH="0" flipV="0">
            <a:off x="6248400" y="39243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13</a:t>
            </a:r>
            <a:endParaRPr/>
          </a:p>
        </p:txBody>
      </p:sp>
      <p:sp>
        <p:nvSpPr>
          <p:cNvPr id="2890" name="" descr="{&quot;isTemplate&quot;:true,&quot;type&quot;:&quot;text&quot;}"/>
          <p:cNvSpPr txBox="1"/>
          <p:nvPr/>
        </p:nvSpPr>
        <p:spPr>
          <a:xfrm rot="0" flipH="0" flipV="0">
            <a:off x="6248400" y="41719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收尾</a:t>
            </a:r>
            <a:endParaRPr/>
          </a:p>
        </p:txBody>
      </p:sp>
      <p:sp>
        <p:nvSpPr>
          <p:cNvPr id="2891" name=""/>
          <p:cNvSpPr/>
          <p:nvPr/>
        </p:nvSpPr>
        <p:spPr>
          <a:xfrm rot="0" flipH="0" flipV="0">
            <a:off x="6134100" y="4686300"/>
            <a:ext cx="5295900" cy="438150"/>
          </a:xfrm>
          <a:prstGeom prst="roundRect">
            <a:avLst>
              <a:gd name="adj" fmla="val 13043"/>
            </a:avLst>
          </a:prstGeom>
          <a:solidFill>
            <a:srgbClr val="F5F7FA"/>
          </a:solidFill>
          <a:ln/>
        </p:spPr>
        <p:txBody>
          <a:bodyPr/>
          <a:p/>
        </p:txBody>
      </p:sp>
      <p:sp>
        <p:nvSpPr>
          <p:cNvPr id="2892" name=""/>
          <p:cNvSpPr/>
          <p:nvPr/>
        </p:nvSpPr>
        <p:spPr>
          <a:xfrm rot="0" flipH="0" flipV="0">
            <a:off x="6267450" y="4800600"/>
            <a:ext cx="57150" cy="209550"/>
          </a:xfrm>
          <a:prstGeom prst="rect">
            <a:avLst/>
          </a:prstGeom>
          <a:solidFill>
            <a:srgbClr val="00A9B5"/>
          </a:solidFill>
          <a:ln/>
        </p:spPr>
        <p:txBody>
          <a:bodyPr/>
          <a:p/>
        </p:txBody>
      </p:sp>
      <p:sp>
        <p:nvSpPr>
          <p:cNvPr id="2893" name="" descr="{&quot;isTemplate&quot;:true,&quot;type&quot;:&quot;text&quot;}"/>
          <p:cNvSpPr txBox="1"/>
          <p:nvPr/>
        </p:nvSpPr>
        <p:spPr>
          <a:xfrm rot="0" flipH="0" flipV="0">
            <a:off x="6419850" y="4781550"/>
            <a:ext cx="2009775" cy="247650"/>
          </a:xfrm>
          <a:prstGeom prst="rect"/>
        </p:spPr>
        <p:txBody>
          <a:bodyPr wrap="none" lIns="0" tIns="0" rIns="0" bIns="0"/>
          <a:p>
            <a:pPr>
              <a:lnSpc>
                <a:spcPct val="140000"/>
              </a:lnSpc>
            </a:pPr>
            <a:r>
              <a:rPr lang="zh-CN" sz="1125" b="1">
                <a:solidFill>
                  <a:srgbClr val="0E2340"/>
                </a:solidFill>
                <a:latin typeface="Microsoft YaHei"/>
                <a:ea typeface="Microsoft YaHei"/>
              </a:rPr>
              <a:t>当前位置：第</a:t>
            </a:r>
            <a:r>
              <a:rPr lang="en-US" sz="1125" b="1">
                <a:solidFill>
                  <a:srgbClr val="0E2340"/>
                </a:solidFill>
                <a:latin typeface="Microsoft YaHei"/>
                <a:ea typeface="Microsoft YaHei"/>
              </a:rPr>
              <a:t xml:space="preserve"> 09 </a:t>
            </a:r>
            <a:r>
              <a:rPr lang="zh-CN" sz="1125" b="1">
                <a:solidFill>
                  <a:srgbClr val="0E2340"/>
                </a:solidFill>
                <a:latin typeface="Microsoft YaHei"/>
                <a:ea typeface="Microsoft YaHei"/>
              </a:rPr>
              <a:t>章</a:t>
            </a:r>
            <a:r>
              <a:rPr lang="en-US" sz="1125" b="1">
                <a:solidFill>
                  <a:srgbClr val="0E2340"/>
                </a:solidFill>
                <a:latin typeface="Microsoft YaHei"/>
                <a:ea typeface="Microsoft YaHei"/>
              </a:rPr>
              <a:t xml:space="preserve"> · MCP </a:t>
            </a:r>
            <a:r>
              <a:rPr lang="zh-CN" sz="1125" b="1">
                <a:solidFill>
                  <a:srgbClr val="0E2340"/>
                </a:solidFill>
                <a:latin typeface="Microsoft YaHei"/>
                <a:ea typeface="Microsoft YaHei"/>
              </a:rPr>
              <a:t>接入</a:t>
            </a:r>
            <a:endParaRPr/>
          </a:p>
        </p:txBody>
      </p:sp>
      <p:sp>
        <p:nvSpPr>
          <p:cNvPr id="2894" name=""/>
          <p:cNvSpPr/>
          <p:nvPr/>
        </p:nvSpPr>
        <p:spPr>
          <a:xfrm rot="0" flipH="0" flipV="0">
            <a:off x="6134100" y="5353050"/>
            <a:ext cx="1257300" cy="381000"/>
          </a:xfrm>
          <a:prstGeom prst="roundRect">
            <a:avLst>
              <a:gd name="adj" fmla="val 15000"/>
            </a:avLst>
          </a:prstGeom>
          <a:solidFill>
            <a:srgbClr val="F5F7FA"/>
          </a:solidFill>
          <a:ln/>
        </p:spPr>
        <p:txBody>
          <a:bodyPr/>
          <a:p/>
        </p:txBody>
      </p:sp>
      <p:sp>
        <p:nvSpPr>
          <p:cNvPr id="2895" name=""/>
          <p:cNvSpPr/>
          <p:nvPr/>
        </p:nvSpPr>
        <p:spPr>
          <a:xfrm rot="0" flipH="0" flipV="0">
            <a:off x="6229350" y="5495925"/>
            <a:ext cx="95250" cy="95250"/>
          </a:xfrm>
          <a:prstGeom prst="roundRect">
            <a:avLst>
              <a:gd name="adj" fmla="val 50000"/>
            </a:avLst>
          </a:prstGeom>
          <a:solidFill>
            <a:srgbClr val="1E9E62"/>
          </a:solidFill>
          <a:ln/>
        </p:spPr>
        <p:txBody>
          <a:bodyPr/>
          <a:p/>
        </p:txBody>
      </p:sp>
      <p:sp>
        <p:nvSpPr>
          <p:cNvPr id="2896" name="" descr="{&quot;isTemplate&quot;:true,&quot;type&quot;:&quot;text&quot;}"/>
          <p:cNvSpPr txBox="1"/>
          <p:nvPr/>
        </p:nvSpPr>
        <p:spPr>
          <a:xfrm rot="0" flipH="0" flipV="0">
            <a:off x="6400800"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已实现</a:t>
            </a:r>
            <a:endParaRPr/>
          </a:p>
        </p:txBody>
      </p:sp>
      <p:sp>
        <p:nvSpPr>
          <p:cNvPr id="2897" name=""/>
          <p:cNvSpPr/>
          <p:nvPr/>
        </p:nvSpPr>
        <p:spPr>
          <a:xfrm rot="0" flipH="0" flipV="0">
            <a:off x="7486650" y="5353050"/>
            <a:ext cx="1247775" cy="381000"/>
          </a:xfrm>
          <a:prstGeom prst="roundRect">
            <a:avLst>
              <a:gd name="adj" fmla="val 15000"/>
            </a:avLst>
          </a:prstGeom>
          <a:solidFill>
            <a:srgbClr val="F5F7FA"/>
          </a:solidFill>
          <a:ln/>
        </p:spPr>
        <p:txBody>
          <a:bodyPr/>
          <a:p/>
        </p:txBody>
      </p:sp>
      <p:sp>
        <p:nvSpPr>
          <p:cNvPr id="2898" name=""/>
          <p:cNvSpPr/>
          <p:nvPr/>
        </p:nvSpPr>
        <p:spPr>
          <a:xfrm rot="0" flipH="0" flipV="0">
            <a:off x="7581900" y="5495925"/>
            <a:ext cx="95250" cy="95250"/>
          </a:xfrm>
          <a:prstGeom prst="roundRect">
            <a:avLst>
              <a:gd name="adj" fmla="val 50000"/>
            </a:avLst>
          </a:prstGeom>
          <a:solidFill>
            <a:srgbClr val="E8A33D"/>
          </a:solidFill>
          <a:ln/>
        </p:spPr>
        <p:txBody>
          <a:bodyPr/>
          <a:p/>
        </p:txBody>
      </p:sp>
      <p:sp>
        <p:nvSpPr>
          <p:cNvPr id="2899" name="" descr="{&quot;isTemplate&quot;:true,&quot;type&quot;:&quot;text&quot;}"/>
          <p:cNvSpPr txBox="1"/>
          <p:nvPr/>
        </p:nvSpPr>
        <p:spPr>
          <a:xfrm rot="0" flipH="0" flipV="0">
            <a:off x="7753350" y="5438775"/>
            <a:ext cx="533400" cy="209550"/>
          </a:xfrm>
          <a:prstGeom prst="rect"/>
        </p:spPr>
        <p:txBody>
          <a:bodyPr wrap="none" lIns="0" tIns="0" rIns="0" bIns="0"/>
          <a:p>
            <a:pPr>
              <a:lnSpc>
                <a:spcPct val="130000"/>
              </a:lnSpc>
            </a:pPr>
            <a:r>
              <a:rPr lang="zh-CN" sz="1050" b="1">
                <a:solidFill>
                  <a:srgbClr val="333A45"/>
                </a:solidFill>
                <a:latin typeface="Microsoft YaHei"/>
                <a:ea typeface="Microsoft YaHei"/>
              </a:rPr>
              <a:t>部分实现</a:t>
            </a:r>
            <a:endParaRPr/>
          </a:p>
        </p:txBody>
      </p:sp>
      <p:sp>
        <p:nvSpPr>
          <p:cNvPr id="2900" name=""/>
          <p:cNvSpPr/>
          <p:nvPr/>
        </p:nvSpPr>
        <p:spPr>
          <a:xfrm rot="0" flipH="0" flipV="0">
            <a:off x="8829675" y="5353050"/>
            <a:ext cx="1257300" cy="381000"/>
          </a:xfrm>
          <a:prstGeom prst="roundRect">
            <a:avLst>
              <a:gd name="adj" fmla="val 15000"/>
            </a:avLst>
          </a:prstGeom>
          <a:solidFill>
            <a:srgbClr val="F5F7FA"/>
          </a:solidFill>
          <a:ln/>
        </p:spPr>
        <p:txBody>
          <a:bodyPr/>
          <a:p/>
        </p:txBody>
      </p:sp>
      <p:sp>
        <p:nvSpPr>
          <p:cNvPr id="2901" name=""/>
          <p:cNvSpPr/>
          <p:nvPr/>
        </p:nvSpPr>
        <p:spPr>
          <a:xfrm rot="0" flipH="0" flipV="0">
            <a:off x="8924925" y="5495925"/>
            <a:ext cx="95250" cy="95250"/>
          </a:xfrm>
          <a:prstGeom prst="roundRect">
            <a:avLst>
              <a:gd name="adj" fmla="val 50000"/>
            </a:avLst>
          </a:prstGeom>
          <a:solidFill>
            <a:srgbClr val="1E7BE0"/>
          </a:solidFill>
          <a:ln/>
        </p:spPr>
        <p:txBody>
          <a:bodyPr/>
          <a:p/>
        </p:txBody>
      </p:sp>
      <p:sp>
        <p:nvSpPr>
          <p:cNvPr id="2902" name="" descr="{&quot;isTemplate&quot;:true,&quot;type&quot;:&quot;text&quot;}"/>
          <p:cNvSpPr txBox="1"/>
          <p:nvPr/>
        </p:nvSpPr>
        <p:spPr>
          <a:xfrm rot="0" flipH="0" flipV="0">
            <a:off x="909637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设计中</a:t>
            </a:r>
            <a:endParaRPr/>
          </a:p>
        </p:txBody>
      </p:sp>
      <p:sp>
        <p:nvSpPr>
          <p:cNvPr id="2903" name=""/>
          <p:cNvSpPr/>
          <p:nvPr/>
        </p:nvSpPr>
        <p:spPr>
          <a:xfrm rot="0" flipH="0" flipV="0">
            <a:off x="10182225" y="5353050"/>
            <a:ext cx="1247775" cy="381000"/>
          </a:xfrm>
          <a:prstGeom prst="roundRect">
            <a:avLst>
              <a:gd name="adj" fmla="val 15000"/>
            </a:avLst>
          </a:prstGeom>
          <a:solidFill>
            <a:srgbClr val="F5F7FA"/>
          </a:solidFill>
          <a:ln/>
        </p:spPr>
        <p:txBody>
          <a:bodyPr/>
          <a:p/>
        </p:txBody>
      </p:sp>
      <p:sp>
        <p:nvSpPr>
          <p:cNvPr id="2904" name=""/>
          <p:cNvSpPr/>
          <p:nvPr/>
        </p:nvSpPr>
        <p:spPr>
          <a:xfrm rot="0" flipH="0" flipV="0">
            <a:off x="10277475" y="5495925"/>
            <a:ext cx="95250" cy="95250"/>
          </a:xfrm>
          <a:prstGeom prst="roundRect">
            <a:avLst>
              <a:gd name="adj" fmla="val 50000"/>
            </a:avLst>
          </a:prstGeom>
          <a:solidFill>
            <a:srgbClr val="98A2B3"/>
          </a:solidFill>
          <a:ln/>
        </p:spPr>
        <p:txBody>
          <a:bodyPr/>
          <a:p/>
        </p:txBody>
      </p:sp>
      <p:sp>
        <p:nvSpPr>
          <p:cNvPr id="2905" name="" descr="{&quot;isTemplate&quot;:true,&quot;type&quot;:&quot;text&quot;}"/>
          <p:cNvSpPr txBox="1"/>
          <p:nvPr/>
        </p:nvSpPr>
        <p:spPr>
          <a:xfrm rot="0" flipH="0" flipV="0">
            <a:off x="1044892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待研究</a:t>
            </a:r>
            <a:endParaRPr/>
          </a:p>
        </p:txBody>
      </p:sp>
      <p:sp>
        <p:nvSpPr>
          <p:cNvPr id="2906" name=""/>
          <p:cNvSpPr/>
          <p:nvPr/>
        </p:nvSpPr>
        <p:spPr>
          <a:xfrm rot="0" flipH="0" flipV="0">
            <a:off x="6134100" y="5972175"/>
            <a:ext cx="5295900" cy="400050"/>
          </a:xfrm>
          <a:custGeom>
            <a:pathLst>
              <a:path w="556" h="42">
                <a:moveTo>
                  <a:pt x="0" y="0"/>
                </a:moveTo>
                <a:lnTo>
                  <a:pt x="556" y="0"/>
                </a:lnTo>
                <a:lnTo>
                  <a:pt x="556" y="1"/>
                </a:lnTo>
                <a:lnTo>
                  <a:pt x="0" y="1"/>
                </a:lnTo>
                <a:close/>
              </a:path>
            </a:pathLst>
          </a:custGeom>
          <a:solidFill>
            <a:srgbClr val="E3E8EF"/>
          </a:solidFill>
          <a:ln/>
        </p:spPr>
        <p:txBody>
          <a:bodyPr/>
          <a:p/>
        </p:txBody>
      </p:sp>
      <p:sp>
        <p:nvSpPr>
          <p:cNvPr id="2907" name=""/>
          <p:cNvSpPr/>
          <p:nvPr/>
        </p:nvSpPr>
        <p:spPr>
          <a:xfrm rot="0" flipH="0" flipV="0">
            <a:off x="6134100" y="6219825"/>
            <a:ext cx="438150" cy="47625"/>
          </a:xfrm>
          <a:prstGeom prst="rect">
            <a:avLst/>
          </a:prstGeom>
          <a:solidFill>
            <a:srgbClr val="00A9B5"/>
          </a:solidFill>
          <a:ln/>
        </p:spPr>
        <p:txBody>
          <a:bodyPr/>
          <a:p/>
        </p:txBody>
      </p:sp>
      <p:sp>
        <p:nvSpPr>
          <p:cNvPr id="2908" name="" descr="{&quot;isTemplate&quot;:true,&quot;type&quot;:&quot;text&quot;}"/>
          <p:cNvSpPr txBox="1"/>
          <p:nvPr/>
        </p:nvSpPr>
        <p:spPr>
          <a:xfrm rot="0" flipH="0" flipV="0">
            <a:off x="6686550" y="6115050"/>
            <a:ext cx="3276600" cy="247650"/>
          </a:xfrm>
          <a:prstGeom prst="rect"/>
        </p:spPr>
        <p:txBody>
          <a:bodyPr wrap="none" lIns="0" tIns="0" rIns="0" bIns="0"/>
          <a:p>
            <a:pPr>
              <a:lnSpc>
                <a:spcPct val="140000"/>
              </a:lnSpc>
            </a:pPr>
            <a:r>
              <a:rPr lang="en-US" sz="1125" b="1">
                <a:solidFill>
                  <a:srgbClr val="7A8699"/>
                </a:solidFill>
                <a:latin typeface="Microsoft YaHei"/>
                <a:ea typeface="Microsoft YaHei"/>
              </a:rPr>
              <a:t xml:space="preserve">StudyAgent </a:t>
            </a:r>
            <a:r>
              <a:rPr lang="zh-CN" sz="1125" b="1">
                <a:solidFill>
                  <a:srgbClr val="7A8699"/>
                </a:solidFill>
                <a:latin typeface="Microsoft YaHei"/>
                <a:ea typeface="Microsoft YaHei"/>
              </a:rPr>
              <a:t>项目设计汇报</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技术评审版</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共</a:t>
            </a:r>
            <a:r>
              <a:rPr lang="en-US" sz="1125" b="1">
                <a:solidFill>
                  <a:srgbClr val="7A8699"/>
                </a:solidFill>
                <a:latin typeface="Microsoft YaHei"/>
                <a:ea typeface="Microsoft YaHei"/>
              </a:rPr>
              <a:t xml:space="preserve"> 124 </a:t>
            </a:r>
            <a:r>
              <a:rPr lang="zh-CN" sz="1125" b="1">
                <a:solidFill>
                  <a:srgbClr val="7A8699"/>
                </a:solidFill>
                <a:latin typeface="Microsoft YaHei"/>
                <a:ea typeface="Microsoft YaHei"/>
              </a:rPr>
              <a:t>页</a:t>
            </a:r>
            <a:endParaRPr/>
          </a:p>
        </p:txBody>
      </p:sp>
    </p:spTree>
  </p:cSld>
</p:sld>
</file>

<file path=ppt/slides/slide87.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909"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9 / MCP 接入&lt;/Text&gt;&lt;Text style={{ fontSize: 32, color: '#0E2340', fontWeight: 700, lineHeight: 1.3 }}&gt;四层推荐架构&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6 }}&gt;&lt;Box style={{ flexDirection: 'column', gap: 16, flex: 1, justifyContent: 'center' }}&gt;&lt;svg width={1140} height={420} viewBox='0 0 1140 420'&gt;&lt;rect x='0' y='0' width='1140' height='96' rx='8' fill='#0E2340'/&gt;&lt;text x='570.0' y='42.0' font-size='22' fill='#FFFFFF' text-anchor='middle' font-weight='600'&gt;宿主层&lt;/text&gt;&lt;text x='570.0' y='68.0' font-size='15' fill='#C8DCF2' text-anchor='middle' font-weight='400'&gt;自有界面 / DeepSeek 官方 Harness / WorkBuddy / 其他兼容宿主&lt;/text&gt;&lt;path d='M562 97 l8 8 l-8 8' fill='none' stroke='#00A9B5' stroke-width='2'/&gt;&lt;rect x='0' y='108' width='1140' height='96' rx='8' fill='#1B4E8C'/&gt;&lt;text x='570.0' y='150.0' font-size='22' fill='#FFFFFF' text-anchor='middle' font-weight='600'&gt;角色工作流层&lt;/text&gt;&lt;text x='570.0' y='176.0' font-size='15' fill='#C8DCF2' text-anchor='middle' font-weight='400'&gt;教学协同 Agent：身份、角色与工作流&lt;/text&gt;&lt;path d='M562 205 l8 8 l-8 8' fill='none' stroke='#00A9B5' stroke-width='2'/&gt;&lt;rect x='0' y='216' width='1140' height='96' rx='8' fill='#1E7BE0'/&gt;&lt;text x='570.0' y='258.0' font-size='22' fill='#FFFFFF' text-anchor='middle' font-weight='600'&gt;MCP 适配层&lt;/text&gt;&lt;text x='570.0' y='284.0' font-size='15' fill='#C8DCF2' text-anchor='middle' font-weight='400'&gt;身份、工具描述、任务与结果&lt;/text&gt;&lt;path d='M562 313 l8 8 l-8 8' fill='none' stroke='#00A9B5' stroke-width='2'/&gt;&lt;rect x='0' y='324' width='1140' height='96' rx='8' fill='#9FD0F5'/&gt;&lt;text x='570.0' y='366.0' font-size='22' fill='#0E2340' text-anchor='middle' font-weight='600'&gt;共用业务服务层&lt;/text&gt;&lt;text x='570.0' y='392.0' font-size='15' fill='#333A45' text-anchor='middle' font-weight='400'&gt;教学规则、评分、数据与任务&lt;/text&gt;&lt;/svg&gt;&lt;/Box&gt;&lt;Box style={{ flexDirection: 'row', alignItems: 'center', background: '#F5F7FA', borderLeft: '4px solid #0E2340', borderRadius: 6, padding: '14px 20px' }}&gt;&lt;Text style={{ fontSize: 16, color: '#0E2340', fontWeight: 600, lineHeight: 1.5 }}&gt;职责划分：宿主负责对话及通用办公能力，StudyAgent 负责教育数据、领域规则与可追溯业务结果；无需给每一个知识点或每一种步骤单独建立 MCP Server&lt;/Text&gt;&lt;/Box&gt;&lt;/Box&gt;&lt;/Box&gt;&lt;Box style={{ height: 40, flexDirection: 'row', justifyContent: 'space-between', alignItems: 'center', borderTop: '1px solid #E3E8EF', marginTop: 8 }}&gt;&lt;Text style={{ fontSize: 13, color: '#7A8699', fontWeight: 400, lineHeight: 1.4 }}&gt;依据：系统Agent适配与MCP插件接入设计.md §1&lt;/Text&gt;&lt;Text style={{ fontSize: 14, color: '#7A8699', fontWeight: 400, lineHeight: 1.4 }}&gt; 87 / 124 &lt;/Text&gt;&lt;/Box&gt;&lt;/Slide&gt;"/>
        <p:cNvGrpSpPr/>
        <p:nvPr/>
      </p:nvGrpSpPr>
      <p:grpSpPr>
        <a:xfrm>
          <a:off x="0" y="0"/>
          <a:ext cx="0" cy="0"/>
          <a:chOff x="0" y="0"/>
          <a:chExt cx="0" cy="0"/>
        </a:xfrm>
      </p:grpSpPr>
      <p:sp>
        <p:nvSpPr>
          <p:cNvPr id="2910" name=""/>
          <p:cNvSpPr/>
          <p:nvPr/>
        </p:nvSpPr>
        <p:spPr>
          <a:xfrm rot="0" flipH="0" flipV="0">
            <a:off x="0" y="0"/>
            <a:ext cx="12192000" cy="6858000"/>
          </a:xfrm>
          <a:prstGeom prst="rect">
            <a:avLst/>
          </a:prstGeom>
          <a:solidFill>
            <a:srgbClr val="FFFFFF"/>
          </a:solidFill>
          <a:ln/>
        </p:spPr>
        <p:txBody>
          <a:bodyPr/>
          <a:p/>
        </p:txBody>
      </p:sp>
      <p:sp>
        <p:nvSpPr>
          <p:cNvPr id="2911" name="" descr="{&quot;isTemplate&quot;:true,&quot;type&quot;:&quot;text&quot;}"/>
          <p:cNvSpPr txBox="1"/>
          <p:nvPr/>
        </p:nvSpPr>
        <p:spPr>
          <a:xfrm rot="0" flipH="0" flipV="0">
            <a:off x="666750" y="381000"/>
            <a:ext cx="1828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09 / MCP </a:t>
            </a:r>
            <a:r>
              <a:rPr lang="zh-CN" sz="1050" spc="75">
                <a:solidFill>
                  <a:srgbClr val="7A8699"/>
                </a:solidFill>
                <a:latin typeface="Microsoft YaHei"/>
                <a:ea typeface="Microsoft YaHei"/>
              </a:rPr>
              <a:t>接入</a:t>
            </a:r>
            <a:endParaRPr/>
          </a:p>
        </p:txBody>
      </p:sp>
      <p:sp>
        <p:nvSpPr>
          <p:cNvPr id="2912" name="" descr="{&quot;isTemplate&quot;:true,&quot;type&quot;:&quot;text&quot;}"/>
          <p:cNvSpPr txBox="1"/>
          <p:nvPr/>
        </p:nvSpPr>
        <p:spPr>
          <a:xfrm rot="0" flipH="0" flipV="0">
            <a:off x="666750" y="666750"/>
            <a:ext cx="1828800" cy="476250"/>
          </a:xfrm>
          <a:prstGeom prst="rect"/>
        </p:spPr>
        <p:txBody>
          <a:bodyPr wrap="none" lIns="0" tIns="0" rIns="0" bIns="0"/>
          <a:p>
            <a:pPr>
              <a:lnSpc>
                <a:spcPct val="130000"/>
              </a:lnSpc>
            </a:pPr>
            <a:r>
              <a:rPr lang="zh-CN" sz="2400" b="1">
                <a:solidFill>
                  <a:srgbClr val="0E2340"/>
                </a:solidFill>
                <a:latin typeface="Microsoft YaHei"/>
                <a:ea typeface="Microsoft YaHei"/>
              </a:rPr>
              <a:t>四层推荐架构</a:t>
            </a:r>
            <a:endParaRPr/>
          </a:p>
        </p:txBody>
      </p:sp>
      <p:sp>
        <p:nvSpPr>
          <p:cNvPr id="2913"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914"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2915" name=""/>
          <p:cNvPicPr>
            <a:picLocks noChangeAspect="1"/>
          </p:cNvPicPr>
          <p:nvPr/>
        </p:nvPicPr>
        <p:blipFill>
          <a:blip>
            <a:extLst>
              <a:ext uri="{96DAC541-7B7A-43D3-8B79-37D633B846F1}">
                <asvg:svgBlip r:embed="rId1"/>
              </a:ext>
            </a:extLst>
          </a:blip>
          <a:stretch>
            <a:fillRect/>
          </a:stretch>
        </p:blipFill>
        <p:spPr>
          <a:xfrm rot="0" flipH="0" flipV="0">
            <a:off x="666750" y="1228725"/>
            <a:ext cx="10858500" cy="4000500"/>
          </a:xfrm>
          <a:prstGeom prst="rect">
            <a:avLst/>
          </a:prstGeom>
          <a:ln/>
        </p:spPr>
      </p:pic>
      <p:sp>
        <p:nvSpPr>
          <p:cNvPr id="2916" name=""/>
          <p:cNvSpPr/>
          <p:nvPr/>
        </p:nvSpPr>
        <p:spPr>
          <a:xfrm rot="0" flipH="0" flipV="0">
            <a:off x="704850" y="5391150"/>
            <a:ext cx="10858500" cy="819150"/>
          </a:xfrm>
          <a:prstGeom prst="roundRect">
            <a:avLst>
              <a:gd name="adj" fmla="val 6977"/>
            </a:avLst>
          </a:prstGeom>
          <a:solidFill>
            <a:srgbClr val="F5F7FA"/>
          </a:solidFill>
          <a:ln/>
        </p:spPr>
        <p:txBody>
          <a:bodyPr/>
          <a:p/>
        </p:txBody>
      </p:sp>
      <p:sp>
        <p:nvSpPr>
          <p:cNvPr id="2917" name=""/>
          <p:cNvSpPr/>
          <p:nvPr/>
        </p:nvSpPr>
        <p:spPr>
          <a:xfrm rot="0" flipH="0" flipV="0">
            <a:off x="704850" y="5391150"/>
            <a:ext cx="10858500" cy="819150"/>
          </a:xfrm>
          <a:custGeom>
            <a:pathLst>
              <a:path w="1140" h="86">
                <a:moveTo>
                  <a:pt x="6" y="0"/>
                </a:moveTo>
                <a:cubicBezTo>
                  <a:pt x="5" y="0"/>
                  <a:pt x="4" y="1"/>
                  <a:pt x="4" y="2"/>
                </a:cubicBezTo>
                <a:lnTo>
                  <a:pt x="4" y="84"/>
                </a:lnTo>
                <a:cubicBezTo>
                  <a:pt x="4" y="85"/>
                  <a:pt x="5" y="86"/>
                  <a:pt x="6" y="86"/>
                </a:cubicBezTo>
                <a:cubicBezTo>
                  <a:pt x="3" y="86"/>
                  <a:pt x="0" y="83"/>
                  <a:pt x="0" y="80"/>
                </a:cubicBezTo>
                <a:lnTo>
                  <a:pt x="0" y="6"/>
                </a:lnTo>
                <a:cubicBezTo>
                  <a:pt x="0" y="3"/>
                  <a:pt x="3" y="0"/>
                  <a:pt x="6" y="0"/>
                </a:cubicBezTo>
                <a:close/>
              </a:path>
            </a:pathLst>
          </a:custGeom>
          <a:solidFill>
            <a:srgbClr val="0E2340"/>
          </a:solidFill>
          <a:ln/>
        </p:spPr>
        <p:txBody>
          <a:bodyPr/>
          <a:p/>
        </p:txBody>
      </p:sp>
      <p:sp>
        <p:nvSpPr>
          <p:cNvPr id="2918" name="" descr="{&quot;isTemplate&quot;:true,&quot;type&quot;:&quot;text&quot;}"/>
          <p:cNvSpPr txBox="1"/>
          <p:nvPr/>
        </p:nvSpPr>
        <p:spPr>
          <a:xfrm rot="0" flipH="0" flipV="0">
            <a:off x="895350" y="5524500"/>
            <a:ext cx="10439400" cy="552450"/>
          </a:xfrm>
          <a:prstGeom prst="rect"/>
        </p:spPr>
        <p:txBody>
          <a:bodyPr wrap="square" lIns="0" tIns="0" rIns="0" bIns="0">
            <a:normAutofit/>
          </a:bodyPr>
          <a:p>
            <a:pPr>
              <a:lnSpc>
                <a:spcPct val="150000"/>
              </a:lnSpc>
            </a:pPr>
            <a:r>
              <a:rPr lang="zh-CN" sz="1200" b="1">
                <a:solidFill>
                  <a:srgbClr val="0E2340"/>
                </a:solidFill>
                <a:latin typeface="Microsoft YaHei"/>
                <a:ea typeface="Microsoft YaHei"/>
              </a:rPr>
              <a:t>职责划分：宿主负责对话及通用办公能力，</a:t>
            </a:r>
            <a:r>
              <a:rPr lang="en-US" sz="1200" b="1">
                <a:solidFill>
                  <a:srgbClr val="0E2340"/>
                </a:solidFill>
                <a:latin typeface="Microsoft YaHei"/>
                <a:ea typeface="Microsoft YaHei"/>
              </a:rPr>
              <a:t xml:space="preserve">StudyAgent </a:t>
            </a:r>
            <a:r>
              <a:rPr lang="zh-CN" sz="1200" b="1">
                <a:solidFill>
                  <a:srgbClr val="0E2340"/>
                </a:solidFill>
                <a:latin typeface="Microsoft YaHei"/>
                <a:ea typeface="Microsoft YaHei"/>
              </a:rPr>
              <a:t>负责教育数据、领域规则与可追溯业务结果；无需给每一个知识点或每一种步骤单独建立</a:t>
            </a:r>
            <a:r>
              <a:rPr lang="en-US" sz="1200" b="1">
                <a:solidFill>
                  <a:srgbClr val="0E2340"/>
                </a:solidFill>
                <a:latin typeface="Microsoft YaHei"/>
                <a:ea typeface="Microsoft YaHei"/>
              </a:rPr>
              <a:t xml:space="preserve"> MCP Server</a:t>
            </a:r>
            <a:endParaRPr/>
          </a:p>
        </p:txBody>
      </p:sp>
      <p:sp>
        <p:nvSpPr>
          <p:cNvPr id="2919"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920" name="" descr="{&quot;isTemplate&quot;:true,&quot;type&quot;:&quot;text&quot;}"/>
          <p:cNvSpPr txBox="1"/>
          <p:nvPr/>
        </p:nvSpPr>
        <p:spPr>
          <a:xfrm rot="0" flipH="0" flipV="0">
            <a:off x="666750" y="6381750"/>
            <a:ext cx="2714625" cy="209550"/>
          </a:xfrm>
          <a:prstGeom prst="rect"/>
        </p:spPr>
        <p:txBody>
          <a:bodyPr wrap="none" lIns="0" tIns="0" rIns="0" bIns="0"/>
          <a:p>
            <a:pPr>
              <a:lnSpc>
                <a:spcPct val="140000"/>
              </a:lnSpc>
            </a:pPr>
            <a:r>
              <a:rPr lang="zh-CN" sz="975">
                <a:solidFill>
                  <a:srgbClr val="7A8699"/>
                </a:solidFill>
                <a:latin typeface="Microsoft YaHei"/>
                <a:ea typeface="Microsoft YaHei"/>
              </a:rPr>
              <a:t>依据：系统</a:t>
            </a:r>
            <a:r>
              <a:rPr lang="en-US" sz="975">
                <a:solidFill>
                  <a:srgbClr val="7A8699"/>
                </a:solidFill>
                <a:latin typeface="Microsoft YaHei"/>
                <a:ea typeface="Microsoft YaHei"/>
              </a:rPr>
              <a:t>Agent</a:t>
            </a:r>
            <a:r>
              <a:rPr lang="zh-CN" sz="975">
                <a:solidFill>
                  <a:srgbClr val="7A8699"/>
                </a:solidFill>
                <a:latin typeface="Microsoft YaHei"/>
                <a:ea typeface="Microsoft YaHei"/>
              </a:rPr>
              <a:t>适配与</a:t>
            </a:r>
            <a:r>
              <a:rPr lang="en-US" sz="975">
                <a:solidFill>
                  <a:srgbClr val="7A8699"/>
                </a:solidFill>
                <a:latin typeface="Microsoft YaHei"/>
                <a:ea typeface="Microsoft YaHei"/>
              </a:rPr>
              <a:t>MCP</a:t>
            </a:r>
            <a:r>
              <a:rPr lang="zh-CN" sz="975">
                <a:solidFill>
                  <a:srgbClr val="7A8699"/>
                </a:solidFill>
                <a:latin typeface="Microsoft YaHei"/>
                <a:ea typeface="Microsoft YaHei"/>
              </a:rPr>
              <a:t>插件接入设计</a:t>
            </a:r>
            <a:r>
              <a:rPr lang="en-US" sz="975">
                <a:solidFill>
                  <a:srgbClr val="7A8699"/>
                </a:solidFill>
                <a:latin typeface="Microsoft YaHei"/>
                <a:ea typeface="Microsoft YaHei"/>
              </a:rPr>
              <a:t>.md §1</a:t>
            </a:r>
            <a:endParaRPr/>
          </a:p>
        </p:txBody>
      </p:sp>
      <p:sp>
        <p:nvSpPr>
          <p:cNvPr id="2921"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87 / 124 </a:t>
            </a:r>
            <a:endParaRPr/>
          </a:p>
        </p:txBody>
      </p:sp>
    </p:spTree>
  </p:cSld>
</p:sld>
</file>

<file path=ppt/slides/slide88.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2922"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9 / MCP 接入&lt;/Text&gt;&lt;Text style={{ fontSize: 32, color: '#0E2340', fontWeight: 700, lineHeight: 1.3 }}&gt;MCP、Skill、插件与专用 Agent 各做什么&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paddingTop: 4 }}&gt;&lt;Box style={{ marginBottom: 14 }}&gt;&lt;Box style={{ flexDirection: 'row', alignItems: 'center', background: '#F5F7FA', borderLeft: '4px solid #0E2340', borderRadius: 6, padding: '14px 20px' }}&gt;&lt;Text style={{ fontSize: 20, color: '#0E2340', fontWeight: 600, lineHeight: 1.5 }}&gt;核心业务应能通过工具与普通结构化结果完成，不把 MCP Prompts、交互卡片或异步扩展设为所有客户端的必需条件&lt;/Text&gt;&lt;/Box&gt;&lt;/Box&gt;&lt;Box style={{ flex: 1 }}&gt;&lt;Table style={{ width: '100%', height: '100%' }} defaultTextStyle={{ fontSize: 16, textAlign: 'left', color: '#333A45' }} defaultCellStyle={{ padding: 10, border: { left: { width: 1, color: '#E3E8EF' }, right: { width: 1, color: '#E3E8EF' }, top: { width: 1, color: '#E3E8EF' }, bottom: { width: 1, color: '#E3E8EF' } } }} cells={[[{ text: '层次', textStyle: { color: '#FFFFFF', fontWeight: 600, fontSize: 16 }, cellStyle: { background: { color: '#0E2340' } } }, { text: '职责', textStyle: { color: '#FFFFFF', fontWeight: 600, fontSize: 16 }, cellStyle: { background: { color: '#0E2340' } } }, { text: '本项目交付方向', textStyle: { color: '#FFFFFF', fontWeight: 600, fontSize: 16 }, cellStyle: { background: { color: '#0E2340' } } }],&#10;        [{ text: '业务服务', textStyle: { fontWeight: 600, fontSize: 16 } }, { text: '教学规则、评分、数据与任务的实际执行', textStyle: { fontSize: 16 } }, { text: '复用现有后端服务，不迁移逻辑', textStyle: { fontSize: 16 } }],&#10;        [{ text: 'MCP Server', textStyle: { fontWeight: 600, fontSize: 16 }, cellStyle: { background: { color: '#F5F7FA' } } }, { text: '暴露工具、资源与结果引用', textStyle: { fontSize: 16 }, cellStyle: { background: { color: '#F5F7FA' } } }, { text: '按业务领域提供清晰参数工具，按身份和场景暴露集合', textStyle: { fontSize: 16 }, cellStyle: { background: { color: '#F5F7FA' } } }],&#10;        [{ text: '资源与结果引用', textStyle: { fontWeight: 600, fontSize: 16 } }, { text: '解析、报告、题图与导出文件的受控访问', textStyle: { fontSize: 16 } }, { text: '默认简短摘要 + 按需读取结构化详情', textStyle: { fontSize: 16 } }],&#10;        [{ text: 'Skill / 工作流说明', textStyle: { fontWeight: 600, fontSize: 16 }, cellStyle: { background: { color: '#F5F7FA' } } }, { text: '描述教育场景下的正确使用方式', textStyle: { fontSize: 16 }, cellStyle: { background: { color: '#F5F7FA' } } }, { text: '随连接器或专家包提供', textStyle: { fontSize: 16 }, cellStyle: { background: { color: '#F5F7FA' } } }],&#10;        [{ text: '宿主插件或连接器', textStyle: { fontWeight: 600, fontSize: 16 } }, { text: '在宿主中安装与认证', textStyle: { fontSize: 16 } }, { text: '首期优先验证连接器', textStyle: { fontSize: 16 } }],&#10;        [{ text: '教学协同 Agent', textStyle: { fontWeight: 600, fontSize: 16 }, cellStyle: { background: { color: '#F5F7FA' } } }, { text: '按角色组织多步流程', textStyle: { fontSize: 16 }, cellStyle: { background: { color: '#F5F7FA' } } }, { text: '服务端持有角色规则，不由宿主提示词决定权限', textStyle: { fontSize: 16 }, cellStyle: { background: { color: '#F5F7FA' } } }]]} /&gt;&lt;/Box&gt;&lt;/Box&gt;&lt;/Box&gt;&lt;Box style={{ height: 40, flexDirection: 'row', justifyContent: 'space-between', alignItems: 'center', borderTop: '1px solid #E3E8EF', marginTop: 8 }}&gt;&lt;Text style={{ fontSize: 13, color: '#7A8699', fontWeight: 400, lineHeight: 1.4 }}&gt;依据：系统Agent适配与MCP插件接入设计.md §2&lt;/Text&gt;&lt;Text style={{ fontSize: 14, color: '#7A8699', fontWeight: 400, lineHeight: 1.4 }}&gt; 88 / 124 &lt;/Text&gt;&lt;/Box&gt;&lt;/Slide&gt;"/>
        <p:cNvGrpSpPr/>
        <p:nvPr/>
      </p:nvGrpSpPr>
      <p:grpSpPr>
        <a:xfrm>
          <a:off x="0" y="0"/>
          <a:ext cx="0" cy="0"/>
          <a:chOff x="0" y="0"/>
          <a:chExt cx="0" cy="0"/>
        </a:xfrm>
      </p:grpSpPr>
      <p:sp>
        <p:nvSpPr>
          <p:cNvPr id="2923" name=""/>
          <p:cNvSpPr/>
          <p:nvPr/>
        </p:nvSpPr>
        <p:spPr>
          <a:xfrm rot="0" flipH="0" flipV="0">
            <a:off x="0" y="0"/>
            <a:ext cx="12192000" cy="6858000"/>
          </a:xfrm>
          <a:prstGeom prst="rect">
            <a:avLst/>
          </a:prstGeom>
          <a:solidFill>
            <a:srgbClr val="FFFFFF"/>
          </a:solidFill>
          <a:ln/>
        </p:spPr>
        <p:txBody>
          <a:bodyPr/>
          <a:p/>
        </p:txBody>
      </p:sp>
      <p:sp>
        <p:nvSpPr>
          <p:cNvPr id="2924" name="" descr="{&quot;isTemplate&quot;:true,&quot;type&quot;:&quot;text&quot;}"/>
          <p:cNvSpPr txBox="1"/>
          <p:nvPr/>
        </p:nvSpPr>
        <p:spPr>
          <a:xfrm rot="0" flipH="0" flipV="0">
            <a:off x="666750" y="381000"/>
            <a:ext cx="569595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09 / MCP </a:t>
            </a:r>
            <a:r>
              <a:rPr lang="zh-CN" sz="1050" spc="75">
                <a:solidFill>
                  <a:srgbClr val="7A8699"/>
                </a:solidFill>
                <a:latin typeface="Microsoft YaHei"/>
                <a:ea typeface="Microsoft YaHei"/>
              </a:rPr>
              <a:t>接入</a:t>
            </a:r>
            <a:endParaRPr/>
          </a:p>
        </p:txBody>
      </p:sp>
      <p:sp>
        <p:nvSpPr>
          <p:cNvPr id="2925" name="" descr="{&quot;isTemplate&quot;:true,&quot;type&quot;:&quot;text&quot;}"/>
          <p:cNvSpPr txBox="1"/>
          <p:nvPr/>
        </p:nvSpPr>
        <p:spPr>
          <a:xfrm rot="0" flipH="0" flipV="0">
            <a:off x="666750" y="666750"/>
            <a:ext cx="5695950" cy="476250"/>
          </a:xfrm>
          <a:prstGeom prst="rect"/>
        </p:spPr>
        <p:txBody>
          <a:bodyPr wrap="none" lIns="0" tIns="0" rIns="0" bIns="0"/>
          <a:p>
            <a:pPr>
              <a:lnSpc>
                <a:spcPct val="130000"/>
              </a:lnSpc>
            </a:pPr>
            <a:r>
              <a:rPr lang="en-US" sz="2400" b="1">
                <a:solidFill>
                  <a:srgbClr val="0E2340"/>
                </a:solidFill>
                <a:latin typeface="Microsoft YaHei"/>
                <a:ea typeface="Microsoft YaHei"/>
              </a:rPr>
              <a:t>MCP</a:t>
            </a:r>
            <a:r>
              <a:rPr lang="zh-CN" sz="2400" b="1">
                <a:solidFill>
                  <a:srgbClr val="0E2340"/>
                </a:solidFill>
                <a:latin typeface="Microsoft YaHei"/>
                <a:ea typeface="Microsoft YaHei"/>
              </a:rPr>
              <a:t>、</a:t>
            </a:r>
            <a:r>
              <a:rPr lang="en-US" sz="2400" b="1">
                <a:solidFill>
                  <a:srgbClr val="0E2340"/>
                </a:solidFill>
                <a:latin typeface="Microsoft YaHei"/>
                <a:ea typeface="Microsoft YaHei"/>
              </a:rPr>
              <a:t>Skill</a:t>
            </a:r>
            <a:r>
              <a:rPr lang="zh-CN" sz="2400" b="1">
                <a:solidFill>
                  <a:srgbClr val="0E2340"/>
                </a:solidFill>
                <a:latin typeface="Microsoft YaHei"/>
                <a:ea typeface="Microsoft YaHei"/>
              </a:rPr>
              <a:t>、插件与专用</a:t>
            </a:r>
            <a:r>
              <a:rPr lang="en-US" sz="2400" b="1">
                <a:solidFill>
                  <a:srgbClr val="0E2340"/>
                </a:solidFill>
                <a:latin typeface="Microsoft YaHei"/>
                <a:ea typeface="Microsoft YaHei"/>
              </a:rPr>
              <a:t xml:space="preserve"> Agent </a:t>
            </a:r>
            <a:r>
              <a:rPr lang="zh-CN" sz="2400" b="1">
                <a:solidFill>
                  <a:srgbClr val="0E2340"/>
                </a:solidFill>
                <a:latin typeface="Microsoft YaHei"/>
                <a:ea typeface="Microsoft YaHei"/>
              </a:rPr>
              <a:t>各做什么</a:t>
            </a:r>
            <a:endParaRPr/>
          </a:p>
        </p:txBody>
      </p:sp>
      <p:sp>
        <p:nvSpPr>
          <p:cNvPr id="2926"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927"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2928" name=""/>
          <p:cNvSpPr/>
          <p:nvPr/>
        </p:nvSpPr>
        <p:spPr>
          <a:xfrm rot="0" flipH="0" flipV="0">
            <a:off x="704850" y="1257300"/>
            <a:ext cx="10858500" cy="609600"/>
          </a:xfrm>
          <a:prstGeom prst="roundRect">
            <a:avLst>
              <a:gd name="adj" fmla="val 9375"/>
            </a:avLst>
          </a:prstGeom>
          <a:solidFill>
            <a:srgbClr val="F5F7FA"/>
          </a:solidFill>
          <a:ln/>
        </p:spPr>
        <p:txBody>
          <a:bodyPr/>
          <a:p/>
        </p:txBody>
      </p:sp>
      <p:sp>
        <p:nvSpPr>
          <p:cNvPr id="2929" name=""/>
          <p:cNvSpPr/>
          <p:nvPr/>
        </p:nvSpPr>
        <p:spPr>
          <a:xfrm rot="0" flipH="0" flipV="0">
            <a:off x="704850" y="12573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2930" name="" descr="{&quot;isTemplate&quot;:true,&quot;type&quot;:&quot;text&quot;}"/>
          <p:cNvSpPr txBox="1"/>
          <p:nvPr/>
        </p:nvSpPr>
        <p:spPr>
          <a:xfrm rot="0" flipH="0" flipV="0">
            <a:off x="895350" y="1390650"/>
            <a:ext cx="9877425" cy="342900"/>
          </a:xfrm>
          <a:prstGeom prst="rect"/>
        </p:spPr>
        <p:txBody>
          <a:bodyPr wrap="none" lIns="0" tIns="0" rIns="0" bIns="0"/>
          <a:p>
            <a:pPr>
              <a:lnSpc>
                <a:spcPct val="150000"/>
              </a:lnSpc>
            </a:pPr>
            <a:r>
              <a:rPr lang="zh-CN" sz="1500" b="1">
                <a:solidFill>
                  <a:srgbClr val="0E2340"/>
                </a:solidFill>
                <a:latin typeface="Microsoft YaHei"/>
                <a:ea typeface="Microsoft YaHei"/>
              </a:rPr>
              <a:t>核心业务应能通过工具与普通结构化结果完成，不把</a:t>
            </a:r>
            <a:r>
              <a:rPr lang="en-US" sz="1500" b="1">
                <a:solidFill>
                  <a:srgbClr val="0E2340"/>
                </a:solidFill>
                <a:latin typeface="Microsoft YaHei"/>
                <a:ea typeface="Microsoft YaHei"/>
              </a:rPr>
              <a:t xml:space="preserve"> MCP Prompts</a:t>
            </a:r>
            <a:r>
              <a:rPr lang="zh-CN" sz="1500" b="1">
                <a:solidFill>
                  <a:srgbClr val="0E2340"/>
                </a:solidFill>
                <a:latin typeface="Microsoft YaHei"/>
                <a:ea typeface="Microsoft YaHei"/>
              </a:rPr>
              <a:t>、交互卡片或异步扩展设为所有客户端的必需条件</a:t>
            </a:r>
            <a:endParaRPr/>
          </a:p>
        </p:txBody>
      </p:sp>
      <p:graphicFrame>
        <p:nvGraphicFramePr>
          <p:cNvPr id="2931" name=""/>
          <p:cNvGraphicFramePr/>
          <p:nvPr/>
        </p:nvGraphicFramePr>
        <p:xfrm rot="0" flipH="0" flipV="0">
          <a:off x="666750" y="2000250"/>
          <a:ext cx="10858500" cy="4210050"/>
        </p:xfrm>
        <a:graphic>
          <a:graphicData uri="http://schemas.openxmlformats.org/drawingml/2006/table">
            <a:tbl>
              <a:tblGrid>
                <a:gridCol w="1802763">
                  <a:extLst>
                    <a:ext uri="{9D8B030D-6E8A-4147-A177-3AD203B41FA5}">
                      <a16:colId val="1"/>
                    </a:ext>
                  </a:extLst>
                </a:gridCol>
                <a:gridCol w="3898998">
                  <a:extLst>
                    <a:ext uri="{9D8B030D-6E8A-4147-A177-3AD203B41FA5}">
                      <a16:colId val="2"/>
                    </a:ext>
                  </a:extLst>
                </a:gridCol>
                <a:gridCol w="5156739">
                  <a:extLst>
                    <a:ext uri="{9D8B030D-6E8A-4147-A177-3AD203B41FA5}">
                      <a16:colId val="3"/>
                    </a:ext>
                  </a:extLst>
                </a:gridCol>
              </a:tblGrid>
              <a:tr h="601436">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层次</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职责</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本项目交付方向</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601436">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业务服务</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教学规则、评分、数据与任务的实际执行</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复用现有后端服务，不迁移逻辑</a:t>
                      </a:r>
                      <a:endParaRPr/>
                    </a:p>
                  </a:txBody>
                  <a:tcPr marL="45720" marR="45720" marT="45720" marB="45720" anchor="ctr">
                    <a:lnL>
                      <a:noFill/>
                    </a:lnL>
                    <a:lnR>
                      <a:noFill/>
                    </a:lnR>
                    <a:lnT>
                      <a:noFill/>
                    </a:lnT>
                    <a:lnB>
                      <a:noFill/>
                    </a:lnB>
                  </a:tcPr>
                </a:tc>
                <a:extLst>
                  <a:ext uri="{0D108BD9-81ED-4DB2-BD59-A6C34878D82A}">
                    <a16:rowId val="2"/>
                  </a:ext>
                </a:extLst>
              </a:tr>
              <a:tr h="601436">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MCP Server</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暴露工具、资源与结果引用</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按业务领域提供清晰参数工具，按身份和场景暴露集合</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601436">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资源与结果引用</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解析、报告、题图与导出文件的受控访问</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默认简短摘要 + 按需读取结构化详情</a:t>
                      </a:r>
                      <a:endParaRPr/>
                    </a:p>
                  </a:txBody>
                  <a:tcPr marL="45720" marR="45720" marT="45720" marB="45720" anchor="ctr">
                    <a:lnL>
                      <a:noFill/>
                    </a:lnL>
                    <a:lnR>
                      <a:noFill/>
                    </a:lnR>
                    <a:lnT>
                      <a:noFill/>
                    </a:lnT>
                    <a:lnB>
                      <a:noFill/>
                    </a:lnB>
                  </a:tcPr>
                </a:tc>
                <a:extLst>
                  <a:ext uri="{0D108BD9-81ED-4DB2-BD59-A6C34878D82A}">
                    <a16:rowId val="4"/>
                  </a:ext>
                </a:extLst>
              </a:tr>
              <a:tr h="601436">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Skill / 工作流说明</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描述教育场景下的正确使用方式</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随连接器或专家包提供</a:t>
                      </a:r>
                      <a:endParaRPr/>
                    </a:p>
                  </a:txBody>
                  <a:tcPr marL="45720" marR="45720" marT="45720" marB="45720" anchor="ctr">
                    <a:lnL>
                      <a:noFill/>
                    </a:lnL>
                    <a:lnR>
                      <a:noFill/>
                    </a:lnR>
                    <a:lnT>
                      <a:noFill/>
                    </a:lnT>
                    <a:lnB>
                      <a:noFill/>
                    </a:lnB>
                    <a:solidFill>
                      <a:srgbClr val="F5F7FA"/>
                    </a:solidFill>
                  </a:tcPr>
                </a:tc>
                <a:extLst>
                  <a:ext uri="{0D108BD9-81ED-4DB2-BD59-A6C34878D82A}">
                    <a16:rowId val="5"/>
                  </a:ext>
                </a:extLst>
              </a:tr>
              <a:tr h="601436">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宿主插件或连接器</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在宿主中安装与认证</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首期优先验证连接器</a:t>
                      </a:r>
                      <a:endParaRPr/>
                    </a:p>
                  </a:txBody>
                  <a:tcPr marL="45720" marR="45720" marT="45720" marB="45720" anchor="ctr">
                    <a:lnL>
                      <a:noFill/>
                    </a:lnL>
                    <a:lnR>
                      <a:noFill/>
                    </a:lnR>
                    <a:lnT>
                      <a:noFill/>
                    </a:lnT>
                    <a:lnB>
                      <a:noFill/>
                    </a:lnB>
                  </a:tcPr>
                </a:tc>
                <a:extLst>
                  <a:ext uri="{0D108BD9-81ED-4DB2-BD59-A6C34878D82A}">
                    <a16:rowId val="6"/>
                  </a:ext>
                </a:extLst>
              </a:tr>
              <a:tr h="601436">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教学协同 Agent</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按角色组织多步流程</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服务端持有角色规则，不由宿主提示词决定权限</a:t>
                      </a:r>
                      <a:endParaRPr/>
                    </a:p>
                  </a:txBody>
                  <a:tcPr marL="45720" marR="45720" marT="45720" marB="45720" anchor="ctr">
                    <a:lnL>
                      <a:noFill/>
                    </a:lnL>
                    <a:lnR>
                      <a:noFill/>
                    </a:lnR>
                    <a:lnT>
                      <a:noFill/>
                    </a:lnT>
                    <a:lnB>
                      <a:noFill/>
                    </a:lnB>
                    <a:solidFill>
                      <a:srgbClr val="F5F7FA"/>
                    </a:solidFill>
                  </a:tcPr>
                </a:tc>
                <a:extLst>
                  <a:ext uri="{0D108BD9-81ED-4DB2-BD59-A6C34878D82A}">
                    <a16:rowId val="7"/>
                  </a:ext>
                </a:extLst>
              </a:tr>
            </a:tbl>
          </a:graphicData>
        </a:graphic>
      </p:graphicFrame>
      <p:sp>
        <p:nvSpPr>
          <p:cNvPr id="2932"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933" name="" descr="{&quot;isTemplate&quot;:true,&quot;type&quot;:&quot;text&quot;}"/>
          <p:cNvSpPr txBox="1"/>
          <p:nvPr/>
        </p:nvSpPr>
        <p:spPr>
          <a:xfrm rot="0" flipH="0" flipV="0">
            <a:off x="666750" y="6381750"/>
            <a:ext cx="2714625" cy="209550"/>
          </a:xfrm>
          <a:prstGeom prst="rect"/>
        </p:spPr>
        <p:txBody>
          <a:bodyPr wrap="none" lIns="0" tIns="0" rIns="0" bIns="0"/>
          <a:p>
            <a:pPr>
              <a:lnSpc>
                <a:spcPct val="140000"/>
              </a:lnSpc>
            </a:pPr>
            <a:r>
              <a:rPr lang="zh-CN" sz="975">
                <a:solidFill>
                  <a:srgbClr val="7A8699"/>
                </a:solidFill>
                <a:latin typeface="Microsoft YaHei"/>
                <a:ea typeface="Microsoft YaHei"/>
              </a:rPr>
              <a:t>依据：系统</a:t>
            </a:r>
            <a:r>
              <a:rPr lang="en-US" sz="975">
                <a:solidFill>
                  <a:srgbClr val="7A8699"/>
                </a:solidFill>
                <a:latin typeface="Microsoft YaHei"/>
                <a:ea typeface="Microsoft YaHei"/>
              </a:rPr>
              <a:t>Agent</a:t>
            </a:r>
            <a:r>
              <a:rPr lang="zh-CN" sz="975">
                <a:solidFill>
                  <a:srgbClr val="7A8699"/>
                </a:solidFill>
                <a:latin typeface="Microsoft YaHei"/>
                <a:ea typeface="Microsoft YaHei"/>
              </a:rPr>
              <a:t>适配与</a:t>
            </a:r>
            <a:r>
              <a:rPr lang="en-US" sz="975">
                <a:solidFill>
                  <a:srgbClr val="7A8699"/>
                </a:solidFill>
                <a:latin typeface="Microsoft YaHei"/>
                <a:ea typeface="Microsoft YaHei"/>
              </a:rPr>
              <a:t>MCP</a:t>
            </a:r>
            <a:r>
              <a:rPr lang="zh-CN" sz="975">
                <a:solidFill>
                  <a:srgbClr val="7A8699"/>
                </a:solidFill>
                <a:latin typeface="Microsoft YaHei"/>
                <a:ea typeface="Microsoft YaHei"/>
              </a:rPr>
              <a:t>插件接入设计</a:t>
            </a:r>
            <a:r>
              <a:rPr lang="en-US" sz="975">
                <a:solidFill>
                  <a:srgbClr val="7A8699"/>
                </a:solidFill>
                <a:latin typeface="Microsoft YaHei"/>
                <a:ea typeface="Microsoft YaHei"/>
              </a:rPr>
              <a:t>.md §2</a:t>
            </a:r>
            <a:endParaRPr/>
          </a:p>
        </p:txBody>
      </p:sp>
      <p:sp>
        <p:nvSpPr>
          <p:cNvPr id="2934"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88 / 124 </a:t>
            </a:r>
            <a:endParaRPr/>
          </a:p>
        </p:txBody>
      </p:sp>
    </p:spTree>
  </p:cSld>
</p:sld>
</file>

<file path=ppt/slides/slide89.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935"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9 / MCP 接入&lt;/Text&gt;&lt;Text style={{ fontSize: 32, color: '#0E2340', fontWeight: 700, lineHeight: 1.3 }}&gt;当前已具备的基础与尚缺部分&lt;/Text&gt;&lt;/Box&gt;&lt;Box style={{ flexDirection: 'row', alignItems: 'center', padding: '7px 16px', borderRadius: 20, background: '#E8A33D' }}&gt;&lt;Text style={{ fontSize: 14, color: '#FFFFFF', fontWeight: 600 }}&gt;部分实现&lt;/Text&gt;&lt;/Box&gt;&lt;/Box&gt;&lt;Box style={{ height: 532, paddingTop: 8, flexDirection: 'column' }}&gt;&lt;Box style={{ flexDirection: 'column', flex: 1, justifyContent: 'center', gap: 18 }}&gt;&lt;Box style={{ flexDirection: 'column', gap: 16, flex: 1, justifyContent: 'center' }}&gt;&lt;svg width={1140} height={230} viewBox='0 0 1140 230'&gt;&lt;rect x='0' y='0' width='555' height='230' rx='8' fill='#F5F7FA'/&gt;&lt;rect x='585' y='0' width='555' height='230' rx='8' fill='#EAF3FD'/&gt;&lt;text x='277.5' y='34' font-size='20' fill='#0E2340' text-anchor='middle' font-weight='700'&gt;已有基础&lt;/text&gt;&lt;text x='862.5' y='34' font-size='20' fill='#1E7BE0' text-anchor='middle' font-weight='700'&gt;尚缺部分&lt;/text&gt;&lt;circle cx='28' cy='68' r='4' fill='#0E2340'/&gt;&lt;text x='44' y='74' font-size='16' fill='#333A45' text-anchor='start' font-weight='400'&gt;backend/agent_tools.py 六类内部工具：search_questions / solve_question / teach_question / grade_answer / plan_study / get_context&lt;/text&gt;&lt;circle cx='28' cy='102' r='4' fill='#0E2340'/&gt;&lt;text x='44' y='108' font-size='16' fill='#333A45' text-anchor='start' font-weight='400'&gt;backend/api_v1.py 提供题目、练习、教学、进度与后台任务 API&lt;/text&gt;&lt;circle cx='28' cy='136' r='4' fill='#0E2340'/&gt;&lt;text x='44' y='142' font-size='16' fill='#333A45' text-anchor='start' font-weight='400'&gt;backend/jobs.py 及存储层提供任务持久化&lt;/text&gt;&lt;circle cx='613' cy='68' r='4' fill='#1E7BE0'/&gt;&lt;text x='629' y='74' font-size='16' fill='#333A45' text-anchor='start' font-weight='400'&gt;未发现已可直接供 DSH 或 WorkBuddy 使用的完整 StudyAgent MCP 服务及可安装适配包&lt;/text&gt;&lt;circle cx='613' cy='102' r='4' fill='#1E7BE0'/&gt;&lt;text x='629' y='108' font-size='16' fill='#333A45' text-anchor='start' font-weight='400'&gt;内部工具的参数描述目前是字符串形式的示例，仍需转换和校验为真正的协议输入结构&lt;/text&gt;&lt;circle cx='613' cy='136' r='4' fill='#1E7BE0'/&gt;&lt;text x='629' y='142' font-size='16' fill='#333A45' text-anchor='start' font-weight='400'&gt;ROADMAP.md 仍将面向外部调用的 MCP 和专用 Agent 列为后续工作&lt;/text&gt;&lt;/svg&gt;&lt;/Box&gt;&lt;Box style={{ flexDirection: 'row', alignItems: 'center', background: '#F5F7FA', borderLeft: '4px solid #E8A33D', borderRadius: 6, padding: '14px 20px' }}&gt;&lt;Text style={{ fontSize: 17, color: '#0E2340', fontWeight: 600, lineHeight: 1.5 }}&gt;四个交付层次必须区分：已有 HTTP API、内部工具表、外部 MCP 服务、宿主插件，不能互相替代宣称&lt;/Text&gt;&lt;/Box&gt;&lt;/Box&gt;&lt;/Box&gt;&lt;Box style={{ height: 40, flexDirection: 'row', justifyContent: 'space-between', alignItems: 'center', borderTop: '1px solid #E3E8EF', marginTop: 8 }}&gt;&lt;Text style={{ fontSize: 13, color: '#7A8699', fontWeight: 400, lineHeight: 1.4 }}&gt;依据：系统Agent适配与MCP插件接入设计.md §3&lt;/Text&gt;&lt;Text style={{ fontSize: 14, color: '#7A8699', fontWeight: 400, lineHeight: 1.4 }}&gt; 89 / 124 &lt;/Text&gt;&lt;/Box&gt;&lt;/Slide&gt;"/>
        <p:cNvGrpSpPr/>
        <p:nvPr/>
      </p:nvGrpSpPr>
      <p:grpSpPr>
        <a:xfrm>
          <a:off x="0" y="0"/>
          <a:ext cx="0" cy="0"/>
          <a:chOff x="0" y="0"/>
          <a:chExt cx="0" cy="0"/>
        </a:xfrm>
      </p:grpSpPr>
      <p:sp>
        <p:nvSpPr>
          <p:cNvPr id="2936" name=""/>
          <p:cNvSpPr/>
          <p:nvPr/>
        </p:nvSpPr>
        <p:spPr>
          <a:xfrm rot="0" flipH="0" flipV="0">
            <a:off x="0" y="0"/>
            <a:ext cx="12192000" cy="6858000"/>
          </a:xfrm>
          <a:prstGeom prst="rect">
            <a:avLst/>
          </a:prstGeom>
          <a:solidFill>
            <a:srgbClr val="FFFFFF"/>
          </a:solidFill>
          <a:ln/>
        </p:spPr>
        <p:txBody>
          <a:bodyPr/>
          <a:p/>
        </p:txBody>
      </p:sp>
      <p:sp>
        <p:nvSpPr>
          <p:cNvPr id="2937" name="" descr="{&quot;isTemplate&quot;:true,&quot;type&quot;:&quot;text&quot;}"/>
          <p:cNvSpPr txBox="1"/>
          <p:nvPr/>
        </p:nvSpPr>
        <p:spPr>
          <a:xfrm rot="0" flipH="0" flipV="0">
            <a:off x="666750" y="381000"/>
            <a:ext cx="39624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09 / MCP </a:t>
            </a:r>
            <a:r>
              <a:rPr lang="zh-CN" sz="1050" spc="75">
                <a:solidFill>
                  <a:srgbClr val="7A8699"/>
                </a:solidFill>
                <a:latin typeface="Microsoft YaHei"/>
                <a:ea typeface="Microsoft YaHei"/>
              </a:rPr>
              <a:t>接入</a:t>
            </a:r>
            <a:endParaRPr/>
          </a:p>
        </p:txBody>
      </p:sp>
      <p:sp>
        <p:nvSpPr>
          <p:cNvPr id="2938" name="" descr="{&quot;isTemplate&quot;:true,&quot;type&quot;:&quot;text&quot;}"/>
          <p:cNvSpPr txBox="1"/>
          <p:nvPr/>
        </p:nvSpPr>
        <p:spPr>
          <a:xfrm rot="0" flipH="0" flipV="0">
            <a:off x="666750" y="666750"/>
            <a:ext cx="3962400" cy="476250"/>
          </a:xfrm>
          <a:prstGeom prst="rect"/>
        </p:spPr>
        <p:txBody>
          <a:bodyPr wrap="none" lIns="0" tIns="0" rIns="0" bIns="0"/>
          <a:p>
            <a:pPr>
              <a:lnSpc>
                <a:spcPct val="130000"/>
              </a:lnSpc>
            </a:pPr>
            <a:r>
              <a:rPr lang="zh-CN" sz="2400" b="1">
                <a:solidFill>
                  <a:srgbClr val="0E2340"/>
                </a:solidFill>
                <a:latin typeface="Microsoft YaHei"/>
                <a:ea typeface="Microsoft YaHei"/>
              </a:rPr>
              <a:t>当前已具备的基础与尚缺部分</a:t>
            </a:r>
            <a:endParaRPr/>
          </a:p>
        </p:txBody>
      </p:sp>
      <p:sp>
        <p:nvSpPr>
          <p:cNvPr id="2939" name=""/>
          <p:cNvSpPr/>
          <p:nvPr/>
        </p:nvSpPr>
        <p:spPr>
          <a:xfrm rot="0" flipH="0" flipV="0">
            <a:off x="10687050" y="847725"/>
            <a:ext cx="838200" cy="295275"/>
          </a:xfrm>
          <a:prstGeom prst="roundRect">
            <a:avLst>
              <a:gd name="adj" fmla="val 64516"/>
            </a:avLst>
          </a:prstGeom>
          <a:solidFill>
            <a:srgbClr val="E8A33D"/>
          </a:solidFill>
          <a:ln/>
        </p:spPr>
        <p:txBody>
          <a:bodyPr/>
          <a:p/>
        </p:txBody>
      </p:sp>
      <p:sp>
        <p:nvSpPr>
          <p:cNvPr id="2940" name="" descr="{&quot;isTemplate&quot;:true,&quot;type&quot;:&quot;text&quot;}"/>
          <p:cNvSpPr txBox="1"/>
          <p:nvPr/>
        </p:nvSpPr>
        <p:spPr>
          <a:xfrm rot="0" flipH="0" flipV="0">
            <a:off x="10839450" y="914400"/>
            <a:ext cx="533400" cy="161925"/>
          </a:xfrm>
          <a:prstGeom prst="rect"/>
        </p:spPr>
        <p:txBody>
          <a:bodyPr wrap="none" lIns="0" tIns="0" rIns="0" bIns="0"/>
          <a:p>
            <a:pPr>
              <a:lnSpc>
                <a:spcPct val="100000"/>
              </a:lnSpc>
            </a:pPr>
            <a:r>
              <a:rPr lang="zh-CN" sz="1050" b="1">
                <a:solidFill>
                  <a:srgbClr val="FFFFFF"/>
                </a:solidFill>
                <a:latin typeface="Microsoft YaHei"/>
                <a:ea typeface="Microsoft YaHei"/>
              </a:rPr>
              <a:t>部分实现</a:t>
            </a:r>
            <a:endParaRPr/>
          </a:p>
        </p:txBody>
      </p:sp>
      <p:pic>
        <p:nvPicPr>
          <p:cNvPr id="2941" name=""/>
          <p:cNvPicPr>
            <a:picLocks noChangeAspect="1"/>
          </p:cNvPicPr>
          <p:nvPr/>
        </p:nvPicPr>
        <p:blipFill>
          <a:blip>
            <a:extLst>
              <a:ext uri="{96DAC541-7B7A-43D3-8B79-37D633B846F1}">
                <asvg:svgBlip r:embed="rId1"/>
              </a:ext>
            </a:extLst>
          </a:blip>
          <a:stretch>
            <a:fillRect/>
          </a:stretch>
        </p:blipFill>
        <p:spPr>
          <a:xfrm rot="0" flipH="0" flipV="0">
            <a:off x="666750" y="2257425"/>
            <a:ext cx="10858500" cy="2190750"/>
          </a:xfrm>
          <a:prstGeom prst="rect">
            <a:avLst/>
          </a:prstGeom>
          <a:ln/>
        </p:spPr>
      </p:pic>
      <p:sp>
        <p:nvSpPr>
          <p:cNvPr id="2942" name=""/>
          <p:cNvSpPr/>
          <p:nvPr/>
        </p:nvSpPr>
        <p:spPr>
          <a:xfrm rot="0" flipH="0" flipV="0">
            <a:off x="704850" y="5648325"/>
            <a:ext cx="10858500" cy="561975"/>
          </a:xfrm>
          <a:prstGeom prst="roundRect">
            <a:avLst>
              <a:gd name="adj" fmla="val 10169"/>
            </a:avLst>
          </a:prstGeom>
          <a:solidFill>
            <a:srgbClr val="F5F7FA"/>
          </a:solidFill>
          <a:ln/>
        </p:spPr>
        <p:txBody>
          <a:bodyPr/>
          <a:p/>
        </p:txBody>
      </p:sp>
      <p:sp>
        <p:nvSpPr>
          <p:cNvPr id="2943" name=""/>
          <p:cNvSpPr/>
          <p:nvPr/>
        </p:nvSpPr>
        <p:spPr>
          <a:xfrm rot="0" flipH="0" flipV="0">
            <a:off x="704850" y="5648325"/>
            <a:ext cx="10858500" cy="561975"/>
          </a:xfrm>
          <a:custGeom>
            <a:pathLst>
              <a:path w="1140" h="59">
                <a:moveTo>
                  <a:pt x="6" y="0"/>
                </a:moveTo>
                <a:cubicBezTo>
                  <a:pt x="5" y="0"/>
                  <a:pt x="4" y="1"/>
                  <a:pt x="4" y="2"/>
                </a:cubicBezTo>
                <a:lnTo>
                  <a:pt x="4" y="57"/>
                </a:lnTo>
                <a:cubicBezTo>
                  <a:pt x="4" y="58"/>
                  <a:pt x="5" y="59"/>
                  <a:pt x="6" y="59"/>
                </a:cubicBezTo>
                <a:cubicBezTo>
                  <a:pt x="3" y="59"/>
                  <a:pt x="0" y="56"/>
                  <a:pt x="0" y="53"/>
                </a:cubicBezTo>
                <a:lnTo>
                  <a:pt x="0" y="6"/>
                </a:lnTo>
                <a:cubicBezTo>
                  <a:pt x="0" y="3"/>
                  <a:pt x="3" y="0"/>
                  <a:pt x="6" y="0"/>
                </a:cubicBezTo>
                <a:close/>
              </a:path>
            </a:pathLst>
          </a:custGeom>
          <a:solidFill>
            <a:srgbClr val="E8A33D"/>
          </a:solidFill>
          <a:ln/>
        </p:spPr>
        <p:txBody>
          <a:bodyPr/>
          <a:p/>
        </p:txBody>
      </p:sp>
      <p:sp>
        <p:nvSpPr>
          <p:cNvPr id="2944" name="" descr="{&quot;isTemplate&quot;:true,&quot;type&quot;:&quot;text&quot;}"/>
          <p:cNvSpPr txBox="1"/>
          <p:nvPr/>
        </p:nvSpPr>
        <p:spPr>
          <a:xfrm rot="0" flipH="0" flipV="0">
            <a:off x="895350" y="5781675"/>
            <a:ext cx="7391400" cy="295275"/>
          </a:xfrm>
          <a:prstGeom prst="rect"/>
        </p:spPr>
        <p:txBody>
          <a:bodyPr wrap="none" lIns="0" tIns="0" rIns="0" bIns="0"/>
          <a:p>
            <a:pPr>
              <a:lnSpc>
                <a:spcPct val="150000"/>
              </a:lnSpc>
            </a:pPr>
            <a:r>
              <a:rPr lang="zh-CN" sz="1275" b="1">
                <a:solidFill>
                  <a:srgbClr val="0E2340"/>
                </a:solidFill>
                <a:latin typeface="Microsoft YaHei"/>
                <a:ea typeface="Microsoft YaHei"/>
              </a:rPr>
              <a:t>四个交付层次必须区分：已有</a:t>
            </a:r>
            <a:r>
              <a:rPr lang="en-US" sz="1275" b="1">
                <a:solidFill>
                  <a:srgbClr val="0E2340"/>
                </a:solidFill>
                <a:latin typeface="Microsoft YaHei"/>
                <a:ea typeface="Microsoft YaHei"/>
              </a:rPr>
              <a:t xml:space="preserve"> HTTP API</a:t>
            </a:r>
            <a:r>
              <a:rPr lang="zh-CN" sz="1275" b="1">
                <a:solidFill>
                  <a:srgbClr val="0E2340"/>
                </a:solidFill>
                <a:latin typeface="Microsoft YaHei"/>
                <a:ea typeface="Microsoft YaHei"/>
              </a:rPr>
              <a:t>、内部工具表、外部</a:t>
            </a:r>
            <a:r>
              <a:rPr lang="en-US" sz="1275" b="1">
                <a:solidFill>
                  <a:srgbClr val="0E2340"/>
                </a:solidFill>
                <a:latin typeface="Microsoft YaHei"/>
                <a:ea typeface="Microsoft YaHei"/>
              </a:rPr>
              <a:t xml:space="preserve"> MCP </a:t>
            </a:r>
            <a:r>
              <a:rPr lang="zh-CN" sz="1275" b="1">
                <a:solidFill>
                  <a:srgbClr val="0E2340"/>
                </a:solidFill>
                <a:latin typeface="Microsoft YaHei"/>
                <a:ea typeface="Microsoft YaHei"/>
              </a:rPr>
              <a:t>服务、宿主插件，不能互相替代宣称</a:t>
            </a:r>
            <a:endParaRPr/>
          </a:p>
        </p:txBody>
      </p:sp>
      <p:sp>
        <p:nvSpPr>
          <p:cNvPr id="2945"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946" name="" descr="{&quot;isTemplate&quot;:true,&quot;type&quot;:&quot;text&quot;}"/>
          <p:cNvSpPr txBox="1"/>
          <p:nvPr/>
        </p:nvSpPr>
        <p:spPr>
          <a:xfrm rot="0" flipH="0" flipV="0">
            <a:off x="666750" y="6381750"/>
            <a:ext cx="2714625" cy="209550"/>
          </a:xfrm>
          <a:prstGeom prst="rect"/>
        </p:spPr>
        <p:txBody>
          <a:bodyPr wrap="none" lIns="0" tIns="0" rIns="0" bIns="0"/>
          <a:p>
            <a:pPr>
              <a:lnSpc>
                <a:spcPct val="140000"/>
              </a:lnSpc>
            </a:pPr>
            <a:r>
              <a:rPr lang="zh-CN" sz="975">
                <a:solidFill>
                  <a:srgbClr val="7A8699"/>
                </a:solidFill>
                <a:latin typeface="Microsoft YaHei"/>
                <a:ea typeface="Microsoft YaHei"/>
              </a:rPr>
              <a:t>依据：系统</a:t>
            </a:r>
            <a:r>
              <a:rPr lang="en-US" sz="975">
                <a:solidFill>
                  <a:srgbClr val="7A8699"/>
                </a:solidFill>
                <a:latin typeface="Microsoft YaHei"/>
                <a:ea typeface="Microsoft YaHei"/>
              </a:rPr>
              <a:t>Agent</a:t>
            </a:r>
            <a:r>
              <a:rPr lang="zh-CN" sz="975">
                <a:solidFill>
                  <a:srgbClr val="7A8699"/>
                </a:solidFill>
                <a:latin typeface="Microsoft YaHei"/>
                <a:ea typeface="Microsoft YaHei"/>
              </a:rPr>
              <a:t>适配与</a:t>
            </a:r>
            <a:r>
              <a:rPr lang="en-US" sz="975">
                <a:solidFill>
                  <a:srgbClr val="7A8699"/>
                </a:solidFill>
                <a:latin typeface="Microsoft YaHei"/>
                <a:ea typeface="Microsoft YaHei"/>
              </a:rPr>
              <a:t>MCP</a:t>
            </a:r>
            <a:r>
              <a:rPr lang="zh-CN" sz="975">
                <a:solidFill>
                  <a:srgbClr val="7A8699"/>
                </a:solidFill>
                <a:latin typeface="Microsoft YaHei"/>
                <a:ea typeface="Microsoft YaHei"/>
              </a:rPr>
              <a:t>插件接入设计</a:t>
            </a:r>
            <a:r>
              <a:rPr lang="en-US" sz="975">
                <a:solidFill>
                  <a:srgbClr val="7A8699"/>
                </a:solidFill>
                <a:latin typeface="Microsoft YaHei"/>
                <a:ea typeface="Microsoft YaHei"/>
              </a:rPr>
              <a:t>.md §3</a:t>
            </a:r>
            <a:endParaRPr/>
          </a:p>
        </p:txBody>
      </p:sp>
      <p:sp>
        <p:nvSpPr>
          <p:cNvPr id="2947"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89 / 124 </a:t>
            </a:r>
            <a:endParaRPr/>
          </a:p>
        </p:txBody>
      </p:sp>
    </p:spTree>
  </p:cSld>
</p:sld>
</file>

<file path=ppt/slides/slide90.xml><?xml version="1.0" encoding="utf-8"?>
<p:sld xmlns:p="http://schemas.openxmlformats.org/presentationml/2006/main" xmlns:a="http://schemas.openxmlformats.org/drawingml/2006/main">
  <p:cSld>
    <p:spTree>
      <p:nvGrpSpPr>
        <p:cNvPr id="2968"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9 / MCP 接入&lt;/Text&gt;&lt;Text style={{ fontSize: 32, color: '#0E2340', fontWeight: 700, lineHeight: 1.3 }}&gt;拟议工具目录：11 个领域 29 个工具&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4 }}&gt;&lt;Box style={{ flexDirection: 'row', alignItems: 'center', background: '#F5F7FA', borderLeft: '4px solid #0E2340', borderRadius: 6, padding: '14px 20px' }}&gt;&lt;Text style={{ fontSize: 17, color: '#0E2340', fontWeight: 600, lineHeight: 1.5 }}&gt;按学生 / 教师 / 学校 / 维护用途组合工具；角色范围由服务端验证，不能由模型自行声明&lt;/Text&gt;&lt;/Box&gt;&lt;Box style={{ flexDirection: 'row', gap: 10, flex: 1 }}&gt;&lt;Box style={{ width: 277, background: '#FFFFFF', border: '1px solid #E3E8EF', borderRadius: 8, overflow: 'hidden', flexDirection: 'column' }}&gt;&lt;Box style={{ height: 4, background: 'linear-gradient(90deg, #1E7BE0 0%, #00A9B5 100%)' }} /&gt;&lt;Box style={{ flexDirection: 'column', gap: 10, padding: 20, flex: 1 }}&gt;&lt;Text style={{ fontSize: 17, color: '#0E2340', fontWeight: 600, lineHeight: 1.4 }}&gt;连接与范围 2&lt;/Text&gt;&lt;Text style={{ fontSize: 13, color: '#333A45', fontWeight: 400, lineHeight: 1.6 }}&gt;get_capabilities · get_current_scope&lt;/Text&gt;&lt;/Box&gt;&lt;/Box&gt;&lt;Box style={{ width: 277, background: '#FFFFFF', border: '1px solid #E3E8EF', borderRadius: 8, overflow: 'hidden', flexDirection: 'column' }}&gt;&lt;Box style={{ height: 4, background: 'linear-gradient(90deg, #1E7BE0 0%, #00A9B5 100%)' }} /&gt;&lt;Box style={{ flexDirection: 'column', gap: 10, padding: 20, flex: 1 }}&gt;&lt;Text style={{ fontSize: 17, color: '#0E2340', fontWeight: 600, lineHeight: 1.4 }}&gt;课程与关系 4&lt;/Text&gt;&lt;Text style={{ fontSize: 13, color: '#333A45', fontWeight: 400, lineHeight: 1.6 }}&gt;get_lesson · get_knowledge · get_routine · get_prerequisites&lt;/Text&gt;&lt;/Box&gt;&lt;/Box&gt;&lt;Box style={{ width: 277, background: '#FFFFFF', border: '1px solid #E3E8EF', borderRadius: 8, overflow: 'hidden', flexDirection: 'column' }}&gt;&lt;Box style={{ height: 4, background: 'linear-gradient(90deg, #1E7BE0 0%, #00A9B5 100%)' }} /&gt;&lt;Box style={{ flexDirection: 'column', gap: 10, padding: 20, flex: 1 }}&gt;&lt;Text style={{ fontSize: 17, color: '#0E2340', fontWeight: 600, lineHeight: 1.4 }}&gt;题库与错题 3&lt;/Text&gt;&lt;Text style={{ fontSize: 13, color: '#333A45', fontWeight: 400, lineHeight: 1.6 }}&gt;search_questions · get_question · get_step_errors&lt;/Text&gt;&lt;/Box&gt;&lt;/Box&gt;&lt;Box style={{ width: 277, background: '#FFFFFF', border: '1px solid #E3E8EF', borderRadius: 8, overflow: 'hidden', flexDirection: 'column' }}&gt;&lt;Box style={{ height: 4, background: 'linear-gradient(90deg, #1E7BE0 0%, #00A9B5 100%)' }} /&gt;&lt;Box style={{ flexDirection: 'column', gap: 10, padding: 20, flex: 1 }}&gt;&lt;Text style={{ fontSize: 17, color: '#0E2340', fontWeight: 600, lineHeight: 1.4 }}&gt;解题与批改 2&lt;/Text&gt;&lt;Text style={{ fontSize: 13, color: '#333A45', fontWeight: 400, lineHeight: 1.6 }}&gt;start_solve · start_grade&lt;/Text&gt;&lt;/Box&gt;&lt;/Box&gt;&lt;/Box&gt;&lt;Box style={{ flexDirection: 'row', gap: 10, flex: 1 }}&gt;&lt;Box style={{ width: 277, background: '#FFFFFF', border: '1px solid #E3E8EF', borderRadius: 8, overflow: 'hidden', flexDirection: 'column' }}&gt;&lt;Box style={{ height: 4, background: 'linear-gradient(90deg, #1E7BE0 0%, #00A9B5 100%)' }} /&gt;&lt;Box style={{ flexDirection: 'column', gap: 10, padding: 20, flex: 1 }}&gt;&lt;Text style={{ fontSize: 17, color: '#0E2340', fontWeight: 600, lineHeight: 1.4 }}&gt;教学与变式 3&lt;/Text&gt;&lt;Text style={{ fontSize: 13, color: '#333A45', fontWeight: 400, lineHeight: 1.6 }}&gt;start_teaching · submit_teaching_answer · start_variants&lt;/Text&gt;&lt;/Box&gt;&lt;/Box&gt;&lt;Box style={{ width: 277, background: '#FFFFFF', border: '1px solid #E3E8EF', borderRadius: 8, overflow: 'hidden', flexDirection: 'column' }}&gt;&lt;Box style={{ height: 4, background: 'linear-gradient(90deg, #1E7BE0 0%, #00A9B5 100%)' }} /&gt;&lt;Box style={{ flexDirection: 'column', gap: 10, padding: 20, flex: 1 }}&gt;&lt;Text style={{ fontSize: 17, color: '#0E2340', fontWeight: 600, lineHeight: 1.4 }}&gt;诊断与生涯 3&lt;/Text&gt;&lt;Text style={{ fontSize: 13, color: '#333A45', fontWeight: 400, lineHeight: 1.6 }}&gt;get_learning_report · get_validation_targets · link_followup&lt;/Text&gt;&lt;/Box&gt;&lt;/Box&gt;&lt;Box style={{ width: 277, background: '#FFFFFF', border: '1px solid #E3E8EF', borderRadius: 8, overflow: 'hidden', flexDirection: 'column' }}&gt;&lt;Box style={{ height: 4, background: 'linear-gradient(90deg, #1E7BE0 0%, #00A9B5 100%)' }} /&gt;&lt;Box style={{ flexDirection: 'column', gap: 10, padding: 20, flex: 1 }}&gt;&lt;Text style={{ fontSize: 17, color: '#0E2340', fontWeight: 600, lineHeight: 1.4 }}&gt;计划与预算 2&lt;/Text&gt;&lt;Text style={{ fontSize: 13, color: '#333A45', fontWeight: 400, lineHeight: 1.6 }}&gt;preview_study_plan · apply_study_plan&lt;/Text&gt;&lt;/Box&gt;&lt;/Box&gt;&lt;Box style={{ width: 277, background: '#FFFFFF', border: '1px solid #E3E8EF', borderRadius: 8, overflow: 'hidden', flexDirection: 'column' }}&gt;&lt;Box style={{ height: 4, background: 'linear-gradient(90deg, #1E7BE0 0%, #00A9B5 100%)' }} /&gt;&lt;Box style={{ flexDirection: 'column', gap: 10, padding: 20, flex: 1 }}&gt;&lt;Text style={{ fontSize: 17, color: '#0E2340', fontWeight: 600, lineHeight: 1.4 }}&gt;试卷 2&lt;/Text&gt;&lt;Text style={{ fontSize: 13, color: '#333A45', fontWeight: 400, lineHeight: 1.6 }}&gt;start_paper_analysis · preview_exam_generation&lt;/Text&gt;&lt;/Box&gt;&lt;/Box&gt;&lt;/Box&gt;&lt;Box style={{ flexDirection: 'row', gap: 10, flex: 1 }}&gt;&lt;Box style={{ width: 373, background: '#FFFFFF', border: '1px solid #E3E8EF', borderRadius: 8, overflow: 'hidden', flexDirection: 'column' }}&gt;&lt;Box style={{ height: 4, background: 'linear-gradient(90deg, #1E7BE0 0%, #00A9B5 100%)' }} /&gt;&lt;Box style={{ flexDirection: 'column', gap: 10, padding: 20, flex: 1 }}&gt;&lt;Text style={{ fontSize: 17, color: '#0E2340', fontWeight: 600, lineHeight: 1.4 }}&gt;教师 3&lt;/Text&gt;&lt;Text style={{ fontSize: 13, color: '#333A45', fontWeight: 400, lineHeight: 1.6 }}&gt;prepare_lesson_draft · preview_homework · get_class_report&lt;/Text&gt;&lt;/Box&gt;&lt;/Box&gt;&lt;Box style={{ width: 373, background: '#FFFFFF', border: '1px solid #E3E8EF', borderRadius: 8, overflow: 'hidden', flexDirection: 'column' }}&gt;&lt;Box style={{ height: 4, background: 'linear-gradient(90deg, #1E7BE0 0%, #00A9B5 100%)' }} /&gt;&lt;Box style={{ flexDirection: 'column', gap: 10, padding: 20, flex: 1 }}&gt;&lt;Text style={{ fontSize: 17, color: '#0E2340', fontWeight: 600, lineHeight: 1.4 }}&gt;学校与教研 2&lt;/Text&gt;&lt;Text style={{ fontSize: 13, color: '#333A45', fontWeight: 400, lineHeight: 1.6 }}&gt;get_school_quality_report · preview_curriculum_change&lt;/Text&gt;&lt;/Box&gt;&lt;/Box&gt;&lt;Box style={{ width: 373, background: '#FFFFFF', border: '1px solid #E3E8EF', borderRadius: 8, overflow: 'hidden', flexDirection: 'column' }}&gt;&lt;Box style={{ height: 4, background: 'linear-gradient(90deg, #1E7BE0 0%, #00A9B5 100%)' }} /&gt;&lt;Box style={{ flexDirection: 'column', gap: 10, padding: 20, flex: 1 }}&gt;&lt;Text style={{ fontSize: 17, color: '#0E2340', fontWeight: 600, lineHeight: 1.4 }}&gt;长任务与产物 3&lt;/Text&gt;&lt;Text style={{ fontSize: 13, color: '#333A45', fontWeight: 400, lineHeight: 1.6 }}&gt;get_job · get_job_result · get_artifact&lt;/Text&gt;&lt;/Box&gt;&lt;/Box&gt;&lt;/Box&gt;&lt;/Box&gt;&lt;/Box&gt;&lt;Box style={{ height: 40, flexDirection: 'row', justifyContent: 'space-between', alignItems: 'center', borderTop: '1px solid #E3E8EF', marginTop: 8 }}&gt;&lt;Text style={{ fontSize: 13, color: '#7A8699', fontWeight: 400, lineHeight: 1.4 }}&gt;依据：系统Agent适配与MCP插件接入设计.md §4&lt;/Text&gt;&lt;Text style={{ fontSize: 14, color: '#7A8699', fontWeight: 400, lineHeight: 1.4 }}&gt; 90 / 124 &lt;/Text&gt;&lt;/Box&gt;&lt;/Slide&gt;"/>
        <p:cNvGrpSpPr/>
        <p:nvPr/>
      </p:nvGrpSpPr>
      <p:grpSpPr>
        <a:xfrm>
          <a:off x="0" y="0"/>
          <a:ext cx="0" cy="0"/>
          <a:chOff x="0" y="0"/>
          <a:chExt cx="0" cy="0"/>
        </a:xfrm>
      </p:grpSpPr>
      <p:sp>
        <p:nvSpPr>
          <p:cNvPr id="2969" name=""/>
          <p:cNvSpPr/>
          <p:nvPr/>
        </p:nvSpPr>
        <p:spPr>
          <a:xfrm rot="0" flipH="0" flipV="0">
            <a:off x="0" y="0"/>
            <a:ext cx="12192000" cy="6858000"/>
          </a:xfrm>
          <a:prstGeom prst="rect">
            <a:avLst/>
          </a:prstGeom>
          <a:solidFill>
            <a:srgbClr val="FFFFFF"/>
          </a:solidFill>
          <a:ln/>
        </p:spPr>
        <p:txBody>
          <a:bodyPr/>
          <a:p/>
        </p:txBody>
      </p:sp>
      <p:sp>
        <p:nvSpPr>
          <p:cNvPr id="2970" name="" descr="{&quot;isTemplate&quot;:true,&quot;type&quot;:&quot;text&quot;}"/>
          <p:cNvSpPr txBox="1"/>
          <p:nvPr/>
        </p:nvSpPr>
        <p:spPr>
          <a:xfrm rot="0" flipH="0" flipV="0">
            <a:off x="666750" y="381000"/>
            <a:ext cx="4886325"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09 / MCP </a:t>
            </a:r>
            <a:r>
              <a:rPr lang="zh-CN" sz="1050" spc="75">
                <a:solidFill>
                  <a:srgbClr val="7A8699"/>
                </a:solidFill>
                <a:latin typeface="Microsoft YaHei"/>
                <a:ea typeface="Microsoft YaHei"/>
              </a:rPr>
              <a:t>接入</a:t>
            </a:r>
            <a:endParaRPr/>
          </a:p>
        </p:txBody>
      </p:sp>
      <p:sp>
        <p:nvSpPr>
          <p:cNvPr id="2971" name="" descr="{&quot;isTemplate&quot;:true,&quot;type&quot;:&quot;text&quot;}"/>
          <p:cNvSpPr txBox="1"/>
          <p:nvPr/>
        </p:nvSpPr>
        <p:spPr>
          <a:xfrm rot="0" flipH="0" flipV="0">
            <a:off x="666750" y="666750"/>
            <a:ext cx="4886325" cy="476250"/>
          </a:xfrm>
          <a:prstGeom prst="rect"/>
        </p:spPr>
        <p:txBody>
          <a:bodyPr wrap="none" lIns="0" tIns="0" rIns="0" bIns="0"/>
          <a:p>
            <a:pPr>
              <a:lnSpc>
                <a:spcPct val="130000"/>
              </a:lnSpc>
            </a:pPr>
            <a:r>
              <a:rPr lang="zh-CN" sz="2400" b="1">
                <a:solidFill>
                  <a:srgbClr val="0E2340"/>
                </a:solidFill>
                <a:latin typeface="Microsoft YaHei"/>
                <a:ea typeface="Microsoft YaHei"/>
              </a:rPr>
              <a:t>拟议工具目录：</a:t>
            </a:r>
            <a:r>
              <a:rPr lang="en-US" sz="2400" b="1">
                <a:solidFill>
                  <a:srgbClr val="0E2340"/>
                </a:solidFill>
                <a:latin typeface="Microsoft YaHei"/>
                <a:ea typeface="Microsoft YaHei"/>
              </a:rPr>
              <a:t xml:space="preserve">11 </a:t>
            </a:r>
            <a:r>
              <a:rPr lang="zh-CN" sz="2400" b="1">
                <a:solidFill>
                  <a:srgbClr val="0E2340"/>
                </a:solidFill>
                <a:latin typeface="Microsoft YaHei"/>
                <a:ea typeface="Microsoft YaHei"/>
              </a:rPr>
              <a:t>个领域</a:t>
            </a:r>
            <a:r>
              <a:rPr lang="en-US" sz="2400" b="1">
                <a:solidFill>
                  <a:srgbClr val="0E2340"/>
                </a:solidFill>
                <a:latin typeface="Microsoft YaHei"/>
                <a:ea typeface="Microsoft YaHei"/>
              </a:rPr>
              <a:t xml:space="preserve"> 29 </a:t>
            </a:r>
            <a:r>
              <a:rPr lang="zh-CN" sz="2400" b="1">
                <a:solidFill>
                  <a:srgbClr val="0E2340"/>
                </a:solidFill>
                <a:latin typeface="Microsoft YaHei"/>
                <a:ea typeface="Microsoft YaHei"/>
              </a:rPr>
              <a:t>个工具</a:t>
            </a:r>
            <a:endParaRPr/>
          </a:p>
        </p:txBody>
      </p:sp>
      <p:sp>
        <p:nvSpPr>
          <p:cNvPr id="2972"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973"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2974" name=""/>
          <p:cNvSpPr/>
          <p:nvPr/>
        </p:nvSpPr>
        <p:spPr>
          <a:xfrm rot="0" flipH="0" flipV="0">
            <a:off x="704850" y="1219200"/>
            <a:ext cx="10858500" cy="561975"/>
          </a:xfrm>
          <a:prstGeom prst="roundRect">
            <a:avLst>
              <a:gd name="adj" fmla="val 10169"/>
            </a:avLst>
          </a:prstGeom>
          <a:solidFill>
            <a:srgbClr val="F5F7FA"/>
          </a:solidFill>
          <a:ln/>
        </p:spPr>
        <p:txBody>
          <a:bodyPr/>
          <a:p/>
        </p:txBody>
      </p:sp>
      <p:sp>
        <p:nvSpPr>
          <p:cNvPr id="2975" name=""/>
          <p:cNvSpPr/>
          <p:nvPr/>
        </p:nvSpPr>
        <p:spPr>
          <a:xfrm rot="0" flipH="0" flipV="0">
            <a:off x="704850" y="1219200"/>
            <a:ext cx="10858500" cy="561975"/>
          </a:xfrm>
          <a:custGeom>
            <a:pathLst>
              <a:path w="1140" h="59">
                <a:moveTo>
                  <a:pt x="6" y="0"/>
                </a:moveTo>
                <a:cubicBezTo>
                  <a:pt x="5" y="0"/>
                  <a:pt x="4" y="1"/>
                  <a:pt x="4" y="2"/>
                </a:cubicBezTo>
                <a:lnTo>
                  <a:pt x="4" y="57"/>
                </a:lnTo>
                <a:cubicBezTo>
                  <a:pt x="4" y="58"/>
                  <a:pt x="5" y="59"/>
                  <a:pt x="6" y="59"/>
                </a:cubicBezTo>
                <a:cubicBezTo>
                  <a:pt x="3" y="59"/>
                  <a:pt x="0" y="56"/>
                  <a:pt x="0" y="53"/>
                </a:cubicBezTo>
                <a:lnTo>
                  <a:pt x="0" y="6"/>
                </a:lnTo>
                <a:cubicBezTo>
                  <a:pt x="0" y="3"/>
                  <a:pt x="3" y="0"/>
                  <a:pt x="6" y="0"/>
                </a:cubicBezTo>
                <a:close/>
              </a:path>
            </a:pathLst>
          </a:custGeom>
          <a:solidFill>
            <a:srgbClr val="0E2340"/>
          </a:solidFill>
          <a:ln/>
        </p:spPr>
        <p:txBody>
          <a:bodyPr/>
          <a:p/>
        </p:txBody>
      </p:sp>
      <p:sp>
        <p:nvSpPr>
          <p:cNvPr id="2976" name="" descr="{&quot;isTemplate&quot;:true,&quot;type&quot;:&quot;text&quot;}"/>
          <p:cNvSpPr txBox="1"/>
          <p:nvPr/>
        </p:nvSpPr>
        <p:spPr>
          <a:xfrm rot="0" flipH="0" flipV="0">
            <a:off x="895350" y="1352550"/>
            <a:ext cx="6238875" cy="295275"/>
          </a:xfrm>
          <a:prstGeom prst="rect"/>
        </p:spPr>
        <p:txBody>
          <a:bodyPr wrap="none" lIns="0" tIns="0" rIns="0" bIns="0"/>
          <a:p>
            <a:pPr>
              <a:lnSpc>
                <a:spcPct val="150000"/>
              </a:lnSpc>
            </a:pPr>
            <a:r>
              <a:rPr lang="zh-CN" sz="1275" b="1">
                <a:solidFill>
                  <a:srgbClr val="0E2340"/>
                </a:solidFill>
                <a:latin typeface="Microsoft YaHei"/>
                <a:ea typeface="Microsoft YaHei"/>
              </a:rPr>
              <a:t>按学生</a:t>
            </a:r>
            <a:r>
              <a:rPr lang="en-US" sz="1275" b="1">
                <a:solidFill>
                  <a:srgbClr val="0E2340"/>
                </a:solidFill>
                <a:latin typeface="Microsoft YaHei"/>
                <a:ea typeface="Microsoft YaHei"/>
              </a:rPr>
              <a:t xml:space="preserve"> / </a:t>
            </a:r>
            <a:r>
              <a:rPr lang="zh-CN" sz="1275" b="1">
                <a:solidFill>
                  <a:srgbClr val="0E2340"/>
                </a:solidFill>
                <a:latin typeface="Microsoft YaHei"/>
                <a:ea typeface="Microsoft YaHei"/>
              </a:rPr>
              <a:t>教师</a:t>
            </a:r>
            <a:r>
              <a:rPr lang="en-US" sz="1275" b="1">
                <a:solidFill>
                  <a:srgbClr val="0E2340"/>
                </a:solidFill>
                <a:latin typeface="Microsoft YaHei"/>
                <a:ea typeface="Microsoft YaHei"/>
              </a:rPr>
              <a:t xml:space="preserve"> / </a:t>
            </a:r>
            <a:r>
              <a:rPr lang="zh-CN" sz="1275" b="1">
                <a:solidFill>
                  <a:srgbClr val="0E2340"/>
                </a:solidFill>
                <a:latin typeface="Microsoft YaHei"/>
                <a:ea typeface="Microsoft YaHei"/>
              </a:rPr>
              <a:t>学校</a:t>
            </a:r>
            <a:r>
              <a:rPr lang="en-US" sz="1275" b="1">
                <a:solidFill>
                  <a:srgbClr val="0E2340"/>
                </a:solidFill>
                <a:latin typeface="Microsoft YaHei"/>
                <a:ea typeface="Microsoft YaHei"/>
              </a:rPr>
              <a:t xml:space="preserve"> / </a:t>
            </a:r>
            <a:r>
              <a:rPr lang="zh-CN" sz="1275" b="1">
                <a:solidFill>
                  <a:srgbClr val="0E2340"/>
                </a:solidFill>
                <a:latin typeface="Microsoft YaHei"/>
                <a:ea typeface="Microsoft YaHei"/>
              </a:rPr>
              <a:t>维护用途组合工具；角色范围由服务端验证，不能由模型自行声明</a:t>
            </a:r>
            <a:endParaRPr/>
          </a:p>
        </p:txBody>
      </p:sp>
      <p:sp>
        <p:nvSpPr>
          <p:cNvPr id="2977" name=""/>
          <p:cNvSpPr/>
          <p:nvPr/>
        </p:nvSpPr>
        <p:spPr>
          <a:xfrm rot="0" flipH="0" flipV="0">
            <a:off x="666750" y="1914525"/>
            <a:ext cx="2638425" cy="1343025"/>
          </a:xfrm>
          <a:prstGeom prst="roundRect">
            <a:avLst>
              <a:gd name="adj" fmla="val 5674"/>
            </a:avLst>
          </a:prstGeom>
          <a:solidFill>
            <a:srgbClr val="FFFFFF"/>
          </a:solidFill>
          <a:ln w="12700">
            <a:solidFill>
              <a:srgbClr val="E3E8EF"/>
            </a:solidFill>
            <a:prstDash val="solid"/>
          </a:ln>
        </p:spPr>
        <p:txBody>
          <a:bodyPr/>
          <a:p/>
        </p:txBody>
      </p:sp>
      <p:sp>
        <p:nvSpPr>
          <p:cNvPr id="2978" name=""/>
          <p:cNvSpPr/>
          <p:nvPr/>
        </p:nvSpPr>
        <p:spPr>
          <a:xfrm rot="0" flipH="0" flipV="0">
            <a:off x="666750" y="1914525"/>
            <a:ext cx="2638425" cy="38100"/>
          </a:xfrm>
          <a:custGeom>
            <a:pathLst>
              <a:path w="277" h="4">
                <a:moveTo>
                  <a:pt x="269" y="0"/>
                </a:moveTo>
                <a:cubicBezTo>
                  <a:pt x="272" y="0"/>
                  <a:pt x="275" y="2"/>
                  <a:pt x="276" y="4"/>
                </a:cubicBezTo>
                <a:lnTo>
                  <a:pt x="1" y="4"/>
                </a:lnTo>
                <a:cubicBezTo>
                  <a:pt x="3" y="2"/>
                  <a:pt x="5" y="0"/>
                  <a:pt x="8" y="0"/>
                </a:cubicBezTo>
                <a:lnTo>
                  <a:pt x="269" y="0"/>
                </a:lnTo>
                <a:close/>
              </a:path>
            </a:pathLst>
          </a:custGeom>
          <a:gradFill>
            <a:gsLst>
              <a:gs pos="0">
                <a:srgbClr val="1E7BE0"/>
              </a:gs>
              <a:gs pos="100000">
                <a:srgbClr val="00A9B5"/>
              </a:gs>
            </a:gsLst>
            <a:lin ang="0" scaled="1"/>
          </a:gradFill>
          <a:ln/>
        </p:spPr>
        <p:txBody>
          <a:bodyPr/>
          <a:p/>
        </p:txBody>
      </p:sp>
      <p:sp>
        <p:nvSpPr>
          <p:cNvPr id="2979" name="" descr="{&quot;isTemplate&quot;:true,&quot;type&quot;:&quot;text&quot;}"/>
          <p:cNvSpPr txBox="1"/>
          <p:nvPr/>
        </p:nvSpPr>
        <p:spPr>
          <a:xfrm rot="0" flipH="0" flipV="0">
            <a:off x="857250" y="2143125"/>
            <a:ext cx="2257425" cy="276225"/>
          </a:xfrm>
          <a:prstGeom prst="rect"/>
        </p:spPr>
        <p:txBody>
          <a:bodyPr wrap="none" lIns="0" tIns="0" rIns="0" bIns="0"/>
          <a:p>
            <a:pPr>
              <a:lnSpc>
                <a:spcPct val="140000"/>
              </a:lnSpc>
            </a:pPr>
            <a:r>
              <a:rPr lang="zh-CN" sz="1275" b="1">
                <a:solidFill>
                  <a:srgbClr val="0E2340"/>
                </a:solidFill>
                <a:latin typeface="Microsoft YaHei"/>
                <a:ea typeface="Microsoft YaHei"/>
              </a:rPr>
              <a:t>连接与范围</a:t>
            </a:r>
            <a:r>
              <a:rPr lang="en-US" sz="1275" b="1">
                <a:solidFill>
                  <a:srgbClr val="0E2340"/>
                </a:solidFill>
                <a:latin typeface="Microsoft YaHei"/>
                <a:ea typeface="Microsoft YaHei"/>
              </a:rPr>
              <a:t xml:space="preserve"> 2</a:t>
            </a:r>
            <a:endParaRPr/>
          </a:p>
        </p:txBody>
      </p:sp>
      <p:sp>
        <p:nvSpPr>
          <p:cNvPr id="2980" name="" descr="{&quot;isTemplate&quot;:true,&quot;type&quot;:&quot;text&quot;}"/>
          <p:cNvSpPr txBox="1"/>
          <p:nvPr/>
        </p:nvSpPr>
        <p:spPr>
          <a:xfrm rot="0" flipH="0" flipV="0">
            <a:off x="857250" y="2514600"/>
            <a:ext cx="2257425" cy="238125"/>
          </a:xfrm>
          <a:prstGeom prst="rect"/>
        </p:spPr>
        <p:txBody>
          <a:bodyPr wrap="none" lIns="0" tIns="0" rIns="0" bIns="0"/>
          <a:p>
            <a:pPr>
              <a:lnSpc>
                <a:spcPct val="160000"/>
              </a:lnSpc>
            </a:pPr>
            <a:r>
              <a:rPr lang="en-US" sz="975">
                <a:solidFill>
                  <a:srgbClr val="333A45"/>
                </a:solidFill>
                <a:latin typeface="Microsoft YaHei"/>
                <a:ea typeface="Microsoft YaHei"/>
              </a:rPr>
              <a:t>get_capabilities · get_current_scope</a:t>
            </a:r>
            <a:endParaRPr/>
          </a:p>
        </p:txBody>
      </p:sp>
      <p:sp>
        <p:nvSpPr>
          <p:cNvPr id="2981" name=""/>
          <p:cNvSpPr/>
          <p:nvPr/>
        </p:nvSpPr>
        <p:spPr>
          <a:xfrm rot="0" flipH="0" flipV="0">
            <a:off x="3400425" y="1914525"/>
            <a:ext cx="2638425" cy="1343025"/>
          </a:xfrm>
          <a:prstGeom prst="roundRect">
            <a:avLst>
              <a:gd name="adj" fmla="val 5674"/>
            </a:avLst>
          </a:prstGeom>
          <a:solidFill>
            <a:srgbClr val="FFFFFF"/>
          </a:solidFill>
          <a:ln w="12700">
            <a:solidFill>
              <a:srgbClr val="E3E8EF"/>
            </a:solidFill>
            <a:prstDash val="solid"/>
          </a:ln>
        </p:spPr>
        <p:txBody>
          <a:bodyPr/>
          <a:p/>
        </p:txBody>
      </p:sp>
      <p:sp>
        <p:nvSpPr>
          <p:cNvPr id="2982" name=""/>
          <p:cNvSpPr/>
          <p:nvPr/>
        </p:nvSpPr>
        <p:spPr>
          <a:xfrm rot="0" flipH="0" flipV="0">
            <a:off x="3400425" y="1914525"/>
            <a:ext cx="2638425" cy="38100"/>
          </a:xfrm>
          <a:custGeom>
            <a:pathLst>
              <a:path w="277" h="4">
                <a:moveTo>
                  <a:pt x="269" y="0"/>
                </a:moveTo>
                <a:cubicBezTo>
                  <a:pt x="272" y="0"/>
                  <a:pt x="275" y="2"/>
                  <a:pt x="276" y="4"/>
                </a:cubicBezTo>
                <a:lnTo>
                  <a:pt x="1" y="4"/>
                </a:lnTo>
                <a:cubicBezTo>
                  <a:pt x="3" y="2"/>
                  <a:pt x="5" y="0"/>
                  <a:pt x="8" y="0"/>
                </a:cubicBezTo>
                <a:lnTo>
                  <a:pt x="269" y="0"/>
                </a:lnTo>
                <a:close/>
              </a:path>
            </a:pathLst>
          </a:custGeom>
          <a:gradFill>
            <a:gsLst>
              <a:gs pos="0">
                <a:srgbClr val="1E7BE0"/>
              </a:gs>
              <a:gs pos="100000">
                <a:srgbClr val="00A9B5"/>
              </a:gs>
            </a:gsLst>
            <a:lin ang="0" scaled="1"/>
          </a:gradFill>
          <a:ln/>
        </p:spPr>
        <p:txBody>
          <a:bodyPr/>
          <a:p/>
        </p:txBody>
      </p:sp>
      <p:sp>
        <p:nvSpPr>
          <p:cNvPr id="2983" name="" descr="{&quot;isTemplate&quot;:true,&quot;type&quot;:&quot;text&quot;}"/>
          <p:cNvSpPr txBox="1"/>
          <p:nvPr/>
        </p:nvSpPr>
        <p:spPr>
          <a:xfrm rot="0" flipH="0" flipV="0">
            <a:off x="3590925" y="2143125"/>
            <a:ext cx="2257425" cy="276225"/>
          </a:xfrm>
          <a:prstGeom prst="rect"/>
        </p:spPr>
        <p:txBody>
          <a:bodyPr wrap="none" lIns="0" tIns="0" rIns="0" bIns="0"/>
          <a:p>
            <a:pPr>
              <a:lnSpc>
                <a:spcPct val="140000"/>
              </a:lnSpc>
            </a:pPr>
            <a:r>
              <a:rPr lang="zh-CN" sz="1275" b="1">
                <a:solidFill>
                  <a:srgbClr val="0E2340"/>
                </a:solidFill>
                <a:latin typeface="Microsoft YaHei"/>
                <a:ea typeface="Microsoft YaHei"/>
              </a:rPr>
              <a:t>课程与关系</a:t>
            </a:r>
            <a:r>
              <a:rPr lang="en-US" sz="1275" b="1">
                <a:solidFill>
                  <a:srgbClr val="0E2340"/>
                </a:solidFill>
                <a:latin typeface="Microsoft YaHei"/>
                <a:ea typeface="Microsoft YaHei"/>
              </a:rPr>
              <a:t xml:space="preserve"> 4</a:t>
            </a:r>
            <a:endParaRPr/>
          </a:p>
        </p:txBody>
      </p:sp>
      <p:sp>
        <p:nvSpPr>
          <p:cNvPr id="2984" name="" descr="{&quot;isTemplate&quot;:true,&quot;type&quot;:&quot;text&quot;}"/>
          <p:cNvSpPr txBox="1"/>
          <p:nvPr/>
        </p:nvSpPr>
        <p:spPr>
          <a:xfrm rot="0" flipH="0" flipV="0">
            <a:off x="3590925" y="2514600"/>
            <a:ext cx="2257425" cy="476250"/>
          </a:xfrm>
          <a:prstGeom prst="rect"/>
        </p:spPr>
        <p:txBody>
          <a:bodyPr wrap="square" lIns="0" tIns="0" rIns="0" bIns="0">
            <a:normAutofit/>
          </a:bodyPr>
          <a:p>
            <a:pPr>
              <a:lnSpc>
                <a:spcPct val="160000"/>
              </a:lnSpc>
            </a:pPr>
            <a:r>
              <a:rPr lang="en-US" sz="975">
                <a:solidFill>
                  <a:srgbClr val="333A45"/>
                </a:solidFill>
                <a:latin typeface="Microsoft YaHei"/>
                <a:ea typeface="Microsoft YaHei"/>
              </a:rPr>
              <a:t>get_lesson · get_knowledge · get_routine · get_prerequisites</a:t>
            </a:r>
            <a:endParaRPr/>
          </a:p>
        </p:txBody>
      </p:sp>
      <p:sp>
        <p:nvSpPr>
          <p:cNvPr id="2985" name=""/>
          <p:cNvSpPr/>
          <p:nvPr/>
        </p:nvSpPr>
        <p:spPr>
          <a:xfrm rot="0" flipH="0" flipV="0">
            <a:off x="6134100" y="1914525"/>
            <a:ext cx="2638425" cy="1343025"/>
          </a:xfrm>
          <a:prstGeom prst="roundRect">
            <a:avLst>
              <a:gd name="adj" fmla="val 5674"/>
            </a:avLst>
          </a:prstGeom>
          <a:solidFill>
            <a:srgbClr val="FFFFFF"/>
          </a:solidFill>
          <a:ln w="12700">
            <a:solidFill>
              <a:srgbClr val="E3E8EF"/>
            </a:solidFill>
            <a:prstDash val="solid"/>
          </a:ln>
        </p:spPr>
        <p:txBody>
          <a:bodyPr/>
          <a:p/>
        </p:txBody>
      </p:sp>
      <p:sp>
        <p:nvSpPr>
          <p:cNvPr id="2986" name=""/>
          <p:cNvSpPr/>
          <p:nvPr/>
        </p:nvSpPr>
        <p:spPr>
          <a:xfrm rot="0" flipH="0" flipV="0">
            <a:off x="6134100" y="1914525"/>
            <a:ext cx="2638425" cy="38100"/>
          </a:xfrm>
          <a:custGeom>
            <a:pathLst>
              <a:path w="277" h="4">
                <a:moveTo>
                  <a:pt x="269" y="0"/>
                </a:moveTo>
                <a:cubicBezTo>
                  <a:pt x="272" y="0"/>
                  <a:pt x="275" y="2"/>
                  <a:pt x="276" y="4"/>
                </a:cubicBezTo>
                <a:lnTo>
                  <a:pt x="1" y="4"/>
                </a:lnTo>
                <a:cubicBezTo>
                  <a:pt x="3" y="2"/>
                  <a:pt x="5" y="0"/>
                  <a:pt x="8" y="0"/>
                </a:cubicBezTo>
                <a:lnTo>
                  <a:pt x="269" y="0"/>
                </a:lnTo>
                <a:close/>
              </a:path>
            </a:pathLst>
          </a:custGeom>
          <a:gradFill>
            <a:gsLst>
              <a:gs pos="0">
                <a:srgbClr val="1E7BE0"/>
              </a:gs>
              <a:gs pos="100000">
                <a:srgbClr val="00A9B5"/>
              </a:gs>
            </a:gsLst>
            <a:lin ang="0" scaled="1"/>
          </a:gradFill>
          <a:ln/>
        </p:spPr>
        <p:txBody>
          <a:bodyPr/>
          <a:p/>
        </p:txBody>
      </p:sp>
      <p:sp>
        <p:nvSpPr>
          <p:cNvPr id="2987" name="" descr="{&quot;isTemplate&quot;:true,&quot;type&quot;:&quot;text&quot;}"/>
          <p:cNvSpPr txBox="1"/>
          <p:nvPr/>
        </p:nvSpPr>
        <p:spPr>
          <a:xfrm rot="0" flipH="0" flipV="0">
            <a:off x="6324600" y="2143125"/>
            <a:ext cx="2257425" cy="276225"/>
          </a:xfrm>
          <a:prstGeom prst="rect"/>
        </p:spPr>
        <p:txBody>
          <a:bodyPr wrap="none" lIns="0" tIns="0" rIns="0" bIns="0"/>
          <a:p>
            <a:pPr>
              <a:lnSpc>
                <a:spcPct val="140000"/>
              </a:lnSpc>
            </a:pPr>
            <a:r>
              <a:rPr lang="zh-CN" sz="1275" b="1">
                <a:solidFill>
                  <a:srgbClr val="0E2340"/>
                </a:solidFill>
                <a:latin typeface="Microsoft YaHei"/>
                <a:ea typeface="Microsoft YaHei"/>
              </a:rPr>
              <a:t>题库与错题</a:t>
            </a:r>
            <a:r>
              <a:rPr lang="en-US" sz="1275" b="1">
                <a:solidFill>
                  <a:srgbClr val="0E2340"/>
                </a:solidFill>
                <a:latin typeface="Microsoft YaHei"/>
                <a:ea typeface="Microsoft YaHei"/>
              </a:rPr>
              <a:t xml:space="preserve"> 3</a:t>
            </a:r>
            <a:endParaRPr/>
          </a:p>
        </p:txBody>
      </p:sp>
      <p:sp>
        <p:nvSpPr>
          <p:cNvPr id="2988" name="" descr="{&quot;isTemplate&quot;:true,&quot;type&quot;:&quot;text&quot;}"/>
          <p:cNvSpPr txBox="1"/>
          <p:nvPr/>
        </p:nvSpPr>
        <p:spPr>
          <a:xfrm rot="0" flipH="0" flipV="0">
            <a:off x="6324600" y="2514600"/>
            <a:ext cx="2257425" cy="476250"/>
          </a:xfrm>
          <a:prstGeom prst="rect"/>
        </p:spPr>
        <p:txBody>
          <a:bodyPr wrap="square" lIns="0" tIns="0" rIns="0" bIns="0">
            <a:normAutofit/>
          </a:bodyPr>
          <a:p>
            <a:pPr>
              <a:lnSpc>
                <a:spcPct val="160000"/>
              </a:lnSpc>
            </a:pPr>
            <a:r>
              <a:rPr lang="en-US" sz="975">
                <a:solidFill>
                  <a:srgbClr val="333A45"/>
                </a:solidFill>
                <a:latin typeface="Microsoft YaHei"/>
                <a:ea typeface="Microsoft YaHei"/>
              </a:rPr>
              <a:t>search_questions · get_question · get_step_errors</a:t>
            </a:r>
            <a:endParaRPr/>
          </a:p>
        </p:txBody>
      </p:sp>
      <p:sp>
        <p:nvSpPr>
          <p:cNvPr id="2989" name=""/>
          <p:cNvSpPr/>
          <p:nvPr/>
        </p:nvSpPr>
        <p:spPr>
          <a:xfrm rot="0" flipH="0" flipV="0">
            <a:off x="8867775" y="1914525"/>
            <a:ext cx="2638425" cy="1343025"/>
          </a:xfrm>
          <a:prstGeom prst="roundRect">
            <a:avLst>
              <a:gd name="adj" fmla="val 5674"/>
            </a:avLst>
          </a:prstGeom>
          <a:solidFill>
            <a:srgbClr val="FFFFFF"/>
          </a:solidFill>
          <a:ln w="12700">
            <a:solidFill>
              <a:srgbClr val="E3E8EF"/>
            </a:solidFill>
            <a:prstDash val="solid"/>
          </a:ln>
        </p:spPr>
        <p:txBody>
          <a:bodyPr/>
          <a:p/>
        </p:txBody>
      </p:sp>
      <p:sp>
        <p:nvSpPr>
          <p:cNvPr id="2990" name=""/>
          <p:cNvSpPr/>
          <p:nvPr/>
        </p:nvSpPr>
        <p:spPr>
          <a:xfrm rot="0" flipH="0" flipV="0">
            <a:off x="8867775" y="1914525"/>
            <a:ext cx="2638425" cy="38100"/>
          </a:xfrm>
          <a:custGeom>
            <a:pathLst>
              <a:path w="277" h="4">
                <a:moveTo>
                  <a:pt x="269" y="0"/>
                </a:moveTo>
                <a:cubicBezTo>
                  <a:pt x="272" y="0"/>
                  <a:pt x="275" y="2"/>
                  <a:pt x="276" y="4"/>
                </a:cubicBezTo>
                <a:lnTo>
                  <a:pt x="1" y="4"/>
                </a:lnTo>
                <a:cubicBezTo>
                  <a:pt x="3" y="2"/>
                  <a:pt x="5" y="0"/>
                  <a:pt x="8" y="0"/>
                </a:cubicBezTo>
                <a:lnTo>
                  <a:pt x="269" y="0"/>
                </a:lnTo>
                <a:close/>
              </a:path>
            </a:pathLst>
          </a:custGeom>
          <a:gradFill>
            <a:gsLst>
              <a:gs pos="0">
                <a:srgbClr val="1E7BE0"/>
              </a:gs>
              <a:gs pos="100000">
                <a:srgbClr val="00A9B5"/>
              </a:gs>
            </a:gsLst>
            <a:lin ang="0" scaled="1"/>
          </a:gradFill>
          <a:ln/>
        </p:spPr>
        <p:txBody>
          <a:bodyPr/>
          <a:p/>
        </p:txBody>
      </p:sp>
      <p:sp>
        <p:nvSpPr>
          <p:cNvPr id="2991" name="" descr="{&quot;isTemplate&quot;:true,&quot;type&quot;:&quot;text&quot;}"/>
          <p:cNvSpPr txBox="1"/>
          <p:nvPr/>
        </p:nvSpPr>
        <p:spPr>
          <a:xfrm rot="0" flipH="0" flipV="0">
            <a:off x="9058275" y="2143125"/>
            <a:ext cx="2257425" cy="276225"/>
          </a:xfrm>
          <a:prstGeom prst="rect"/>
        </p:spPr>
        <p:txBody>
          <a:bodyPr wrap="none" lIns="0" tIns="0" rIns="0" bIns="0"/>
          <a:p>
            <a:pPr>
              <a:lnSpc>
                <a:spcPct val="140000"/>
              </a:lnSpc>
            </a:pPr>
            <a:r>
              <a:rPr lang="zh-CN" sz="1275" b="1">
                <a:solidFill>
                  <a:srgbClr val="0E2340"/>
                </a:solidFill>
                <a:latin typeface="Microsoft YaHei"/>
                <a:ea typeface="Microsoft YaHei"/>
              </a:rPr>
              <a:t>解题与批改</a:t>
            </a:r>
            <a:r>
              <a:rPr lang="en-US" sz="1275" b="1">
                <a:solidFill>
                  <a:srgbClr val="0E2340"/>
                </a:solidFill>
                <a:latin typeface="Microsoft YaHei"/>
                <a:ea typeface="Microsoft YaHei"/>
              </a:rPr>
              <a:t xml:space="preserve"> 2</a:t>
            </a:r>
            <a:endParaRPr/>
          </a:p>
        </p:txBody>
      </p:sp>
      <p:sp>
        <p:nvSpPr>
          <p:cNvPr id="2992" name="" descr="{&quot;isTemplate&quot;:true,&quot;type&quot;:&quot;text&quot;}"/>
          <p:cNvSpPr txBox="1"/>
          <p:nvPr/>
        </p:nvSpPr>
        <p:spPr>
          <a:xfrm rot="0" flipH="0" flipV="0">
            <a:off x="9058275" y="2514600"/>
            <a:ext cx="2257425" cy="238125"/>
          </a:xfrm>
          <a:prstGeom prst="rect"/>
        </p:spPr>
        <p:txBody>
          <a:bodyPr wrap="none" lIns="0" tIns="0" rIns="0" bIns="0"/>
          <a:p>
            <a:pPr>
              <a:lnSpc>
                <a:spcPct val="160000"/>
              </a:lnSpc>
            </a:pPr>
            <a:r>
              <a:rPr lang="en-US" sz="975">
                <a:solidFill>
                  <a:srgbClr val="333A45"/>
                </a:solidFill>
                <a:latin typeface="Microsoft YaHei"/>
                <a:ea typeface="Microsoft YaHei"/>
              </a:rPr>
              <a:t>start_solve · start_grade</a:t>
            </a:r>
            <a:endParaRPr/>
          </a:p>
        </p:txBody>
      </p:sp>
      <p:sp>
        <p:nvSpPr>
          <p:cNvPr id="2993" name=""/>
          <p:cNvSpPr/>
          <p:nvPr/>
        </p:nvSpPr>
        <p:spPr>
          <a:xfrm rot="0" flipH="0" flipV="0">
            <a:off x="666750" y="3390900"/>
            <a:ext cx="2638425" cy="1343025"/>
          </a:xfrm>
          <a:prstGeom prst="roundRect">
            <a:avLst>
              <a:gd name="adj" fmla="val 5674"/>
            </a:avLst>
          </a:prstGeom>
          <a:solidFill>
            <a:srgbClr val="FFFFFF"/>
          </a:solidFill>
          <a:ln w="12700">
            <a:solidFill>
              <a:srgbClr val="E3E8EF"/>
            </a:solidFill>
            <a:prstDash val="solid"/>
          </a:ln>
        </p:spPr>
        <p:txBody>
          <a:bodyPr/>
          <a:p/>
        </p:txBody>
      </p:sp>
      <p:sp>
        <p:nvSpPr>
          <p:cNvPr id="2994" name=""/>
          <p:cNvSpPr/>
          <p:nvPr/>
        </p:nvSpPr>
        <p:spPr>
          <a:xfrm rot="0" flipH="0" flipV="0">
            <a:off x="666750" y="3390900"/>
            <a:ext cx="2638425" cy="38100"/>
          </a:xfrm>
          <a:custGeom>
            <a:pathLst>
              <a:path w="277" h="4">
                <a:moveTo>
                  <a:pt x="269" y="0"/>
                </a:moveTo>
                <a:cubicBezTo>
                  <a:pt x="272" y="0"/>
                  <a:pt x="275" y="2"/>
                  <a:pt x="276" y="4"/>
                </a:cubicBezTo>
                <a:lnTo>
                  <a:pt x="1" y="4"/>
                </a:lnTo>
                <a:cubicBezTo>
                  <a:pt x="3" y="2"/>
                  <a:pt x="5" y="0"/>
                  <a:pt x="8" y="0"/>
                </a:cubicBezTo>
                <a:lnTo>
                  <a:pt x="269" y="0"/>
                </a:lnTo>
                <a:close/>
              </a:path>
            </a:pathLst>
          </a:custGeom>
          <a:gradFill>
            <a:gsLst>
              <a:gs pos="0">
                <a:srgbClr val="1E7BE0"/>
              </a:gs>
              <a:gs pos="100000">
                <a:srgbClr val="00A9B5"/>
              </a:gs>
            </a:gsLst>
            <a:lin ang="0" scaled="1"/>
          </a:gradFill>
          <a:ln/>
        </p:spPr>
        <p:txBody>
          <a:bodyPr/>
          <a:p/>
        </p:txBody>
      </p:sp>
      <p:sp>
        <p:nvSpPr>
          <p:cNvPr id="2995" name="" descr="{&quot;isTemplate&quot;:true,&quot;type&quot;:&quot;text&quot;}"/>
          <p:cNvSpPr txBox="1"/>
          <p:nvPr/>
        </p:nvSpPr>
        <p:spPr>
          <a:xfrm rot="0" flipH="0" flipV="0">
            <a:off x="857250" y="3619500"/>
            <a:ext cx="2257425" cy="276225"/>
          </a:xfrm>
          <a:prstGeom prst="rect"/>
        </p:spPr>
        <p:txBody>
          <a:bodyPr wrap="none" lIns="0" tIns="0" rIns="0" bIns="0"/>
          <a:p>
            <a:pPr>
              <a:lnSpc>
                <a:spcPct val="140000"/>
              </a:lnSpc>
            </a:pPr>
            <a:r>
              <a:rPr lang="zh-CN" sz="1275" b="1">
                <a:solidFill>
                  <a:srgbClr val="0E2340"/>
                </a:solidFill>
                <a:latin typeface="Microsoft YaHei"/>
                <a:ea typeface="Microsoft YaHei"/>
              </a:rPr>
              <a:t>教学与变式</a:t>
            </a:r>
            <a:r>
              <a:rPr lang="en-US" sz="1275" b="1">
                <a:solidFill>
                  <a:srgbClr val="0E2340"/>
                </a:solidFill>
                <a:latin typeface="Microsoft YaHei"/>
                <a:ea typeface="Microsoft YaHei"/>
              </a:rPr>
              <a:t xml:space="preserve"> 3</a:t>
            </a:r>
            <a:endParaRPr/>
          </a:p>
        </p:txBody>
      </p:sp>
      <p:sp>
        <p:nvSpPr>
          <p:cNvPr id="2996" name="" descr="{&quot;isTemplate&quot;:true,&quot;type&quot;:&quot;text&quot;}"/>
          <p:cNvSpPr txBox="1"/>
          <p:nvPr/>
        </p:nvSpPr>
        <p:spPr>
          <a:xfrm rot="0" flipH="0" flipV="0">
            <a:off x="857250" y="3990975"/>
            <a:ext cx="2257425" cy="476250"/>
          </a:xfrm>
          <a:prstGeom prst="rect"/>
        </p:spPr>
        <p:txBody>
          <a:bodyPr wrap="square" lIns="0" tIns="0" rIns="0" bIns="0">
            <a:normAutofit/>
          </a:bodyPr>
          <a:p>
            <a:pPr>
              <a:lnSpc>
                <a:spcPct val="160000"/>
              </a:lnSpc>
            </a:pPr>
            <a:r>
              <a:rPr lang="en-US" sz="975">
                <a:solidFill>
                  <a:srgbClr val="333A45"/>
                </a:solidFill>
                <a:latin typeface="Microsoft YaHei"/>
                <a:ea typeface="Microsoft YaHei"/>
              </a:rPr>
              <a:t>start_teaching · submit_teaching_answer · start_variants</a:t>
            </a:r>
            <a:endParaRPr/>
          </a:p>
        </p:txBody>
      </p:sp>
      <p:sp>
        <p:nvSpPr>
          <p:cNvPr id="2997" name=""/>
          <p:cNvSpPr/>
          <p:nvPr/>
        </p:nvSpPr>
        <p:spPr>
          <a:xfrm rot="0" flipH="0" flipV="0">
            <a:off x="3400425" y="3390900"/>
            <a:ext cx="2638425" cy="1343025"/>
          </a:xfrm>
          <a:prstGeom prst="roundRect">
            <a:avLst>
              <a:gd name="adj" fmla="val 5674"/>
            </a:avLst>
          </a:prstGeom>
          <a:solidFill>
            <a:srgbClr val="FFFFFF"/>
          </a:solidFill>
          <a:ln w="12700">
            <a:solidFill>
              <a:srgbClr val="E3E8EF"/>
            </a:solidFill>
            <a:prstDash val="solid"/>
          </a:ln>
        </p:spPr>
        <p:txBody>
          <a:bodyPr/>
          <a:p/>
        </p:txBody>
      </p:sp>
      <p:sp>
        <p:nvSpPr>
          <p:cNvPr id="2998" name=""/>
          <p:cNvSpPr/>
          <p:nvPr/>
        </p:nvSpPr>
        <p:spPr>
          <a:xfrm rot="0" flipH="0" flipV="0">
            <a:off x="3400425" y="3390900"/>
            <a:ext cx="2638425" cy="38100"/>
          </a:xfrm>
          <a:custGeom>
            <a:pathLst>
              <a:path w="277" h="4">
                <a:moveTo>
                  <a:pt x="269" y="0"/>
                </a:moveTo>
                <a:cubicBezTo>
                  <a:pt x="272" y="0"/>
                  <a:pt x="275" y="2"/>
                  <a:pt x="276" y="4"/>
                </a:cubicBezTo>
                <a:lnTo>
                  <a:pt x="1" y="4"/>
                </a:lnTo>
                <a:cubicBezTo>
                  <a:pt x="3" y="2"/>
                  <a:pt x="5" y="0"/>
                  <a:pt x="8" y="0"/>
                </a:cubicBezTo>
                <a:lnTo>
                  <a:pt x="269" y="0"/>
                </a:lnTo>
                <a:close/>
              </a:path>
            </a:pathLst>
          </a:custGeom>
          <a:gradFill>
            <a:gsLst>
              <a:gs pos="0">
                <a:srgbClr val="1E7BE0"/>
              </a:gs>
              <a:gs pos="100000">
                <a:srgbClr val="00A9B5"/>
              </a:gs>
            </a:gsLst>
            <a:lin ang="0" scaled="1"/>
          </a:gradFill>
          <a:ln/>
        </p:spPr>
        <p:txBody>
          <a:bodyPr/>
          <a:p/>
        </p:txBody>
      </p:sp>
      <p:sp>
        <p:nvSpPr>
          <p:cNvPr id="2999" name="" descr="{&quot;isTemplate&quot;:true,&quot;type&quot;:&quot;text&quot;}"/>
          <p:cNvSpPr txBox="1"/>
          <p:nvPr/>
        </p:nvSpPr>
        <p:spPr>
          <a:xfrm rot="0" flipH="0" flipV="0">
            <a:off x="3590925" y="3619500"/>
            <a:ext cx="2257425" cy="276225"/>
          </a:xfrm>
          <a:prstGeom prst="rect"/>
        </p:spPr>
        <p:txBody>
          <a:bodyPr wrap="none" lIns="0" tIns="0" rIns="0" bIns="0"/>
          <a:p>
            <a:pPr>
              <a:lnSpc>
                <a:spcPct val="140000"/>
              </a:lnSpc>
            </a:pPr>
            <a:r>
              <a:rPr lang="zh-CN" sz="1275" b="1">
                <a:solidFill>
                  <a:srgbClr val="0E2340"/>
                </a:solidFill>
                <a:latin typeface="Microsoft YaHei"/>
                <a:ea typeface="Microsoft YaHei"/>
              </a:rPr>
              <a:t>诊断与生涯</a:t>
            </a:r>
            <a:r>
              <a:rPr lang="en-US" sz="1275" b="1">
                <a:solidFill>
                  <a:srgbClr val="0E2340"/>
                </a:solidFill>
                <a:latin typeface="Microsoft YaHei"/>
                <a:ea typeface="Microsoft YaHei"/>
              </a:rPr>
              <a:t xml:space="preserve"> 3</a:t>
            </a:r>
            <a:endParaRPr/>
          </a:p>
        </p:txBody>
      </p:sp>
      <p:sp>
        <p:nvSpPr>
          <p:cNvPr id="3000" name="" descr="{&quot;isTemplate&quot;:true,&quot;type&quot;:&quot;text&quot;}"/>
          <p:cNvSpPr txBox="1"/>
          <p:nvPr/>
        </p:nvSpPr>
        <p:spPr>
          <a:xfrm rot="0" flipH="0" flipV="0">
            <a:off x="3590925" y="3990975"/>
            <a:ext cx="2257425" cy="476250"/>
          </a:xfrm>
          <a:prstGeom prst="rect"/>
        </p:spPr>
        <p:txBody>
          <a:bodyPr wrap="square" lIns="0" tIns="0" rIns="0" bIns="0">
            <a:normAutofit/>
          </a:bodyPr>
          <a:p>
            <a:pPr>
              <a:lnSpc>
                <a:spcPct val="160000"/>
              </a:lnSpc>
            </a:pPr>
            <a:r>
              <a:rPr lang="en-US" sz="975">
                <a:solidFill>
                  <a:srgbClr val="333A45"/>
                </a:solidFill>
                <a:latin typeface="Microsoft YaHei"/>
                <a:ea typeface="Microsoft YaHei"/>
              </a:rPr>
              <a:t>get_learning_report · get_validation_targets · link_followup</a:t>
            </a:r>
            <a:endParaRPr/>
          </a:p>
        </p:txBody>
      </p:sp>
      <p:sp>
        <p:nvSpPr>
          <p:cNvPr id="3001" name=""/>
          <p:cNvSpPr/>
          <p:nvPr/>
        </p:nvSpPr>
        <p:spPr>
          <a:xfrm rot="0" flipH="0" flipV="0">
            <a:off x="6134100" y="3390900"/>
            <a:ext cx="2638425" cy="1343025"/>
          </a:xfrm>
          <a:prstGeom prst="roundRect">
            <a:avLst>
              <a:gd name="adj" fmla="val 5674"/>
            </a:avLst>
          </a:prstGeom>
          <a:solidFill>
            <a:srgbClr val="FFFFFF"/>
          </a:solidFill>
          <a:ln w="12700">
            <a:solidFill>
              <a:srgbClr val="E3E8EF"/>
            </a:solidFill>
            <a:prstDash val="solid"/>
          </a:ln>
        </p:spPr>
        <p:txBody>
          <a:bodyPr/>
          <a:p/>
        </p:txBody>
      </p:sp>
      <p:sp>
        <p:nvSpPr>
          <p:cNvPr id="3002" name=""/>
          <p:cNvSpPr/>
          <p:nvPr/>
        </p:nvSpPr>
        <p:spPr>
          <a:xfrm rot="0" flipH="0" flipV="0">
            <a:off x="6134100" y="3390900"/>
            <a:ext cx="2638425" cy="38100"/>
          </a:xfrm>
          <a:custGeom>
            <a:pathLst>
              <a:path w="277" h="4">
                <a:moveTo>
                  <a:pt x="269" y="0"/>
                </a:moveTo>
                <a:cubicBezTo>
                  <a:pt x="272" y="0"/>
                  <a:pt x="275" y="2"/>
                  <a:pt x="276" y="4"/>
                </a:cubicBezTo>
                <a:lnTo>
                  <a:pt x="1" y="4"/>
                </a:lnTo>
                <a:cubicBezTo>
                  <a:pt x="3" y="2"/>
                  <a:pt x="5" y="0"/>
                  <a:pt x="8" y="0"/>
                </a:cubicBezTo>
                <a:lnTo>
                  <a:pt x="269" y="0"/>
                </a:lnTo>
                <a:close/>
              </a:path>
            </a:pathLst>
          </a:custGeom>
          <a:gradFill>
            <a:gsLst>
              <a:gs pos="0">
                <a:srgbClr val="1E7BE0"/>
              </a:gs>
              <a:gs pos="100000">
                <a:srgbClr val="00A9B5"/>
              </a:gs>
            </a:gsLst>
            <a:lin ang="0" scaled="1"/>
          </a:gradFill>
          <a:ln/>
        </p:spPr>
        <p:txBody>
          <a:bodyPr/>
          <a:p/>
        </p:txBody>
      </p:sp>
      <p:sp>
        <p:nvSpPr>
          <p:cNvPr id="3003" name="" descr="{&quot;isTemplate&quot;:true,&quot;type&quot;:&quot;text&quot;}"/>
          <p:cNvSpPr txBox="1"/>
          <p:nvPr/>
        </p:nvSpPr>
        <p:spPr>
          <a:xfrm rot="0" flipH="0" flipV="0">
            <a:off x="6324600" y="3619500"/>
            <a:ext cx="2257425" cy="276225"/>
          </a:xfrm>
          <a:prstGeom prst="rect"/>
        </p:spPr>
        <p:txBody>
          <a:bodyPr wrap="none" lIns="0" tIns="0" rIns="0" bIns="0"/>
          <a:p>
            <a:pPr>
              <a:lnSpc>
                <a:spcPct val="140000"/>
              </a:lnSpc>
            </a:pPr>
            <a:r>
              <a:rPr lang="zh-CN" sz="1275" b="1">
                <a:solidFill>
                  <a:srgbClr val="0E2340"/>
                </a:solidFill>
                <a:latin typeface="Microsoft YaHei"/>
                <a:ea typeface="Microsoft YaHei"/>
              </a:rPr>
              <a:t>计划与预算</a:t>
            </a:r>
            <a:r>
              <a:rPr lang="en-US" sz="1275" b="1">
                <a:solidFill>
                  <a:srgbClr val="0E2340"/>
                </a:solidFill>
                <a:latin typeface="Microsoft YaHei"/>
                <a:ea typeface="Microsoft YaHei"/>
              </a:rPr>
              <a:t xml:space="preserve"> 2</a:t>
            </a:r>
            <a:endParaRPr/>
          </a:p>
        </p:txBody>
      </p:sp>
      <p:sp>
        <p:nvSpPr>
          <p:cNvPr id="3004" name="" descr="{&quot;isTemplate&quot;:true,&quot;type&quot;:&quot;text&quot;}"/>
          <p:cNvSpPr txBox="1"/>
          <p:nvPr/>
        </p:nvSpPr>
        <p:spPr>
          <a:xfrm rot="0" flipH="0" flipV="0">
            <a:off x="6324600" y="3990975"/>
            <a:ext cx="2257425" cy="238125"/>
          </a:xfrm>
          <a:prstGeom prst="rect"/>
        </p:spPr>
        <p:txBody>
          <a:bodyPr wrap="none" lIns="0" tIns="0" rIns="0" bIns="0"/>
          <a:p>
            <a:pPr>
              <a:lnSpc>
                <a:spcPct val="160000"/>
              </a:lnSpc>
            </a:pPr>
            <a:r>
              <a:rPr lang="en-US" sz="975">
                <a:solidFill>
                  <a:srgbClr val="333A45"/>
                </a:solidFill>
                <a:latin typeface="Microsoft YaHei"/>
                <a:ea typeface="Microsoft YaHei"/>
              </a:rPr>
              <a:t>preview_study_plan · apply_study_plan</a:t>
            </a:r>
            <a:endParaRPr/>
          </a:p>
        </p:txBody>
      </p:sp>
      <p:sp>
        <p:nvSpPr>
          <p:cNvPr id="3005" name=""/>
          <p:cNvSpPr/>
          <p:nvPr/>
        </p:nvSpPr>
        <p:spPr>
          <a:xfrm rot="0" flipH="0" flipV="0">
            <a:off x="8867775" y="3390900"/>
            <a:ext cx="2638425" cy="1343025"/>
          </a:xfrm>
          <a:prstGeom prst="roundRect">
            <a:avLst>
              <a:gd name="adj" fmla="val 5674"/>
            </a:avLst>
          </a:prstGeom>
          <a:solidFill>
            <a:srgbClr val="FFFFFF"/>
          </a:solidFill>
          <a:ln w="12700">
            <a:solidFill>
              <a:srgbClr val="E3E8EF"/>
            </a:solidFill>
            <a:prstDash val="solid"/>
          </a:ln>
        </p:spPr>
        <p:txBody>
          <a:bodyPr/>
          <a:p/>
        </p:txBody>
      </p:sp>
      <p:sp>
        <p:nvSpPr>
          <p:cNvPr id="3006" name=""/>
          <p:cNvSpPr/>
          <p:nvPr/>
        </p:nvSpPr>
        <p:spPr>
          <a:xfrm rot="0" flipH="0" flipV="0">
            <a:off x="8867775" y="3390900"/>
            <a:ext cx="2638425" cy="38100"/>
          </a:xfrm>
          <a:custGeom>
            <a:pathLst>
              <a:path w="277" h="4">
                <a:moveTo>
                  <a:pt x="269" y="0"/>
                </a:moveTo>
                <a:cubicBezTo>
                  <a:pt x="272" y="0"/>
                  <a:pt x="275" y="2"/>
                  <a:pt x="276" y="4"/>
                </a:cubicBezTo>
                <a:lnTo>
                  <a:pt x="1" y="4"/>
                </a:lnTo>
                <a:cubicBezTo>
                  <a:pt x="3" y="2"/>
                  <a:pt x="5" y="0"/>
                  <a:pt x="8" y="0"/>
                </a:cubicBezTo>
                <a:lnTo>
                  <a:pt x="269" y="0"/>
                </a:lnTo>
                <a:close/>
              </a:path>
            </a:pathLst>
          </a:custGeom>
          <a:gradFill>
            <a:gsLst>
              <a:gs pos="0">
                <a:srgbClr val="1E7BE0"/>
              </a:gs>
              <a:gs pos="100000">
                <a:srgbClr val="00A9B5"/>
              </a:gs>
            </a:gsLst>
            <a:lin ang="0" scaled="1"/>
          </a:gradFill>
          <a:ln/>
        </p:spPr>
        <p:txBody>
          <a:bodyPr/>
          <a:p/>
        </p:txBody>
      </p:sp>
      <p:sp>
        <p:nvSpPr>
          <p:cNvPr id="3007" name="" descr="{&quot;isTemplate&quot;:true,&quot;type&quot;:&quot;text&quot;}"/>
          <p:cNvSpPr txBox="1"/>
          <p:nvPr/>
        </p:nvSpPr>
        <p:spPr>
          <a:xfrm rot="0" flipH="0" flipV="0">
            <a:off x="9058275" y="3619500"/>
            <a:ext cx="2257425" cy="276225"/>
          </a:xfrm>
          <a:prstGeom prst="rect"/>
        </p:spPr>
        <p:txBody>
          <a:bodyPr wrap="none" lIns="0" tIns="0" rIns="0" bIns="0"/>
          <a:p>
            <a:pPr>
              <a:lnSpc>
                <a:spcPct val="140000"/>
              </a:lnSpc>
            </a:pPr>
            <a:r>
              <a:rPr lang="zh-CN" sz="1275" b="1">
                <a:solidFill>
                  <a:srgbClr val="0E2340"/>
                </a:solidFill>
                <a:latin typeface="Microsoft YaHei"/>
                <a:ea typeface="Microsoft YaHei"/>
              </a:rPr>
              <a:t>试卷</a:t>
            </a:r>
            <a:r>
              <a:rPr lang="en-US" sz="1275" b="1">
                <a:solidFill>
                  <a:srgbClr val="0E2340"/>
                </a:solidFill>
                <a:latin typeface="Microsoft YaHei"/>
                <a:ea typeface="Microsoft YaHei"/>
              </a:rPr>
              <a:t xml:space="preserve"> 2</a:t>
            </a:r>
            <a:endParaRPr/>
          </a:p>
        </p:txBody>
      </p:sp>
      <p:sp>
        <p:nvSpPr>
          <p:cNvPr id="3008" name="" descr="{&quot;isTemplate&quot;:true,&quot;type&quot;:&quot;text&quot;}"/>
          <p:cNvSpPr txBox="1"/>
          <p:nvPr/>
        </p:nvSpPr>
        <p:spPr>
          <a:xfrm rot="0" flipH="0" flipV="0">
            <a:off x="9058275" y="3990975"/>
            <a:ext cx="2257425" cy="476250"/>
          </a:xfrm>
          <a:prstGeom prst="rect"/>
        </p:spPr>
        <p:txBody>
          <a:bodyPr wrap="square" lIns="0" tIns="0" rIns="0" bIns="0">
            <a:normAutofit/>
          </a:bodyPr>
          <a:p>
            <a:pPr>
              <a:lnSpc>
                <a:spcPct val="160000"/>
              </a:lnSpc>
            </a:pPr>
            <a:r>
              <a:rPr lang="en-US" sz="975">
                <a:solidFill>
                  <a:srgbClr val="333A45"/>
                </a:solidFill>
                <a:latin typeface="Microsoft YaHei"/>
                <a:ea typeface="Microsoft YaHei"/>
              </a:rPr>
              <a:t>start_paper_analysis · preview_exam_generation</a:t>
            </a:r>
            <a:endParaRPr/>
          </a:p>
        </p:txBody>
      </p:sp>
      <p:sp>
        <p:nvSpPr>
          <p:cNvPr id="3009" name=""/>
          <p:cNvSpPr/>
          <p:nvPr/>
        </p:nvSpPr>
        <p:spPr>
          <a:xfrm rot="0" flipH="0" flipV="0">
            <a:off x="666750" y="4867275"/>
            <a:ext cx="3552825" cy="1343025"/>
          </a:xfrm>
          <a:prstGeom prst="roundRect">
            <a:avLst>
              <a:gd name="adj" fmla="val 5674"/>
            </a:avLst>
          </a:prstGeom>
          <a:solidFill>
            <a:srgbClr val="FFFFFF"/>
          </a:solidFill>
          <a:ln w="12700">
            <a:solidFill>
              <a:srgbClr val="E3E8EF"/>
            </a:solidFill>
            <a:prstDash val="solid"/>
          </a:ln>
        </p:spPr>
        <p:txBody>
          <a:bodyPr/>
          <a:p/>
        </p:txBody>
      </p:sp>
      <p:sp>
        <p:nvSpPr>
          <p:cNvPr id="3010" name=""/>
          <p:cNvSpPr/>
          <p:nvPr/>
        </p:nvSpPr>
        <p:spPr>
          <a:xfrm rot="0" flipH="0" flipV="0">
            <a:off x="666750" y="4867275"/>
            <a:ext cx="3552825" cy="38100"/>
          </a:xfrm>
          <a:custGeom>
            <a:pathLst>
              <a:path w="373" h="4">
                <a:moveTo>
                  <a:pt x="365" y="0"/>
                </a:moveTo>
                <a:cubicBezTo>
                  <a:pt x="368" y="0"/>
                  <a:pt x="371" y="2"/>
                  <a:pt x="372" y="4"/>
                </a:cubicBezTo>
                <a:lnTo>
                  <a:pt x="1" y="4"/>
                </a:lnTo>
                <a:cubicBezTo>
                  <a:pt x="3" y="2"/>
                  <a:pt x="5" y="0"/>
                  <a:pt x="8" y="0"/>
                </a:cubicBezTo>
                <a:lnTo>
                  <a:pt x="365" y="0"/>
                </a:lnTo>
                <a:close/>
              </a:path>
            </a:pathLst>
          </a:custGeom>
          <a:gradFill>
            <a:gsLst>
              <a:gs pos="0">
                <a:srgbClr val="1E7BE0"/>
              </a:gs>
              <a:gs pos="100000">
                <a:srgbClr val="00A9B5"/>
              </a:gs>
            </a:gsLst>
            <a:lin ang="0" scaled="1"/>
          </a:gradFill>
          <a:ln/>
        </p:spPr>
        <p:txBody>
          <a:bodyPr/>
          <a:p/>
        </p:txBody>
      </p:sp>
      <p:sp>
        <p:nvSpPr>
          <p:cNvPr id="3011" name="" descr="{&quot;isTemplate&quot;:true,&quot;type&quot;:&quot;text&quot;}"/>
          <p:cNvSpPr txBox="1"/>
          <p:nvPr/>
        </p:nvSpPr>
        <p:spPr>
          <a:xfrm rot="0" flipH="0" flipV="0">
            <a:off x="857250" y="5095875"/>
            <a:ext cx="3171825" cy="276225"/>
          </a:xfrm>
          <a:prstGeom prst="rect"/>
        </p:spPr>
        <p:txBody>
          <a:bodyPr wrap="none" lIns="0" tIns="0" rIns="0" bIns="0"/>
          <a:p>
            <a:pPr>
              <a:lnSpc>
                <a:spcPct val="140000"/>
              </a:lnSpc>
            </a:pPr>
            <a:r>
              <a:rPr lang="zh-CN" sz="1275" b="1">
                <a:solidFill>
                  <a:srgbClr val="0E2340"/>
                </a:solidFill>
                <a:latin typeface="Microsoft YaHei"/>
                <a:ea typeface="Microsoft YaHei"/>
              </a:rPr>
              <a:t>教师</a:t>
            </a:r>
            <a:r>
              <a:rPr lang="en-US" sz="1275" b="1">
                <a:solidFill>
                  <a:srgbClr val="0E2340"/>
                </a:solidFill>
                <a:latin typeface="Microsoft YaHei"/>
                <a:ea typeface="Microsoft YaHei"/>
              </a:rPr>
              <a:t xml:space="preserve"> 3</a:t>
            </a:r>
            <a:endParaRPr/>
          </a:p>
        </p:txBody>
      </p:sp>
      <p:sp>
        <p:nvSpPr>
          <p:cNvPr id="3012" name="" descr="{&quot;isTemplate&quot;:true,&quot;type&quot;:&quot;text&quot;}"/>
          <p:cNvSpPr txBox="1"/>
          <p:nvPr/>
        </p:nvSpPr>
        <p:spPr>
          <a:xfrm rot="0" flipH="0" flipV="0">
            <a:off x="857250" y="5467350"/>
            <a:ext cx="3171825" cy="476250"/>
          </a:xfrm>
          <a:prstGeom prst="rect"/>
        </p:spPr>
        <p:txBody>
          <a:bodyPr wrap="square" lIns="0" tIns="0" rIns="0" bIns="0">
            <a:normAutofit/>
          </a:bodyPr>
          <a:p>
            <a:pPr>
              <a:lnSpc>
                <a:spcPct val="160000"/>
              </a:lnSpc>
            </a:pPr>
            <a:r>
              <a:rPr lang="en-US" sz="975">
                <a:solidFill>
                  <a:srgbClr val="333A45"/>
                </a:solidFill>
                <a:latin typeface="Microsoft YaHei"/>
                <a:ea typeface="Microsoft YaHei"/>
              </a:rPr>
              <a:t>prepare_lesson_draft · preview_homework · get_class_report</a:t>
            </a:r>
            <a:endParaRPr/>
          </a:p>
        </p:txBody>
      </p:sp>
      <p:sp>
        <p:nvSpPr>
          <p:cNvPr id="3013" name=""/>
          <p:cNvSpPr/>
          <p:nvPr/>
        </p:nvSpPr>
        <p:spPr>
          <a:xfrm rot="0" flipH="0" flipV="0">
            <a:off x="4314825" y="4867275"/>
            <a:ext cx="3552825" cy="1343025"/>
          </a:xfrm>
          <a:prstGeom prst="roundRect">
            <a:avLst>
              <a:gd name="adj" fmla="val 5674"/>
            </a:avLst>
          </a:prstGeom>
          <a:solidFill>
            <a:srgbClr val="FFFFFF"/>
          </a:solidFill>
          <a:ln w="12700">
            <a:solidFill>
              <a:srgbClr val="E3E8EF"/>
            </a:solidFill>
            <a:prstDash val="solid"/>
          </a:ln>
        </p:spPr>
        <p:txBody>
          <a:bodyPr/>
          <a:p/>
        </p:txBody>
      </p:sp>
      <p:sp>
        <p:nvSpPr>
          <p:cNvPr id="3014" name=""/>
          <p:cNvSpPr/>
          <p:nvPr/>
        </p:nvSpPr>
        <p:spPr>
          <a:xfrm rot="0" flipH="0" flipV="0">
            <a:off x="4314825" y="4867275"/>
            <a:ext cx="3552825" cy="38100"/>
          </a:xfrm>
          <a:custGeom>
            <a:pathLst>
              <a:path w="373" h="4">
                <a:moveTo>
                  <a:pt x="365" y="0"/>
                </a:moveTo>
                <a:cubicBezTo>
                  <a:pt x="368" y="0"/>
                  <a:pt x="371" y="2"/>
                  <a:pt x="372" y="4"/>
                </a:cubicBezTo>
                <a:lnTo>
                  <a:pt x="1" y="4"/>
                </a:lnTo>
                <a:cubicBezTo>
                  <a:pt x="3" y="2"/>
                  <a:pt x="5" y="0"/>
                  <a:pt x="8" y="0"/>
                </a:cubicBezTo>
                <a:lnTo>
                  <a:pt x="365" y="0"/>
                </a:lnTo>
                <a:close/>
              </a:path>
            </a:pathLst>
          </a:custGeom>
          <a:gradFill>
            <a:gsLst>
              <a:gs pos="0">
                <a:srgbClr val="1E7BE0"/>
              </a:gs>
              <a:gs pos="100000">
                <a:srgbClr val="00A9B5"/>
              </a:gs>
            </a:gsLst>
            <a:lin ang="0" scaled="1"/>
          </a:gradFill>
          <a:ln/>
        </p:spPr>
        <p:txBody>
          <a:bodyPr/>
          <a:p/>
        </p:txBody>
      </p:sp>
      <p:sp>
        <p:nvSpPr>
          <p:cNvPr id="3015" name="" descr="{&quot;isTemplate&quot;:true,&quot;type&quot;:&quot;text&quot;}"/>
          <p:cNvSpPr txBox="1"/>
          <p:nvPr/>
        </p:nvSpPr>
        <p:spPr>
          <a:xfrm rot="0" flipH="0" flipV="0">
            <a:off x="4505325" y="5095875"/>
            <a:ext cx="3171825" cy="276225"/>
          </a:xfrm>
          <a:prstGeom prst="rect"/>
        </p:spPr>
        <p:txBody>
          <a:bodyPr wrap="none" lIns="0" tIns="0" rIns="0" bIns="0"/>
          <a:p>
            <a:pPr>
              <a:lnSpc>
                <a:spcPct val="140000"/>
              </a:lnSpc>
            </a:pPr>
            <a:r>
              <a:rPr lang="zh-CN" sz="1275" b="1">
                <a:solidFill>
                  <a:srgbClr val="0E2340"/>
                </a:solidFill>
                <a:latin typeface="Microsoft YaHei"/>
                <a:ea typeface="Microsoft YaHei"/>
              </a:rPr>
              <a:t>学校与教研</a:t>
            </a:r>
            <a:r>
              <a:rPr lang="en-US" sz="1275" b="1">
                <a:solidFill>
                  <a:srgbClr val="0E2340"/>
                </a:solidFill>
                <a:latin typeface="Microsoft YaHei"/>
                <a:ea typeface="Microsoft YaHei"/>
              </a:rPr>
              <a:t xml:space="preserve"> 2</a:t>
            </a:r>
            <a:endParaRPr/>
          </a:p>
        </p:txBody>
      </p:sp>
      <p:sp>
        <p:nvSpPr>
          <p:cNvPr id="3016" name="" descr="{&quot;isTemplate&quot;:true,&quot;type&quot;:&quot;text&quot;}"/>
          <p:cNvSpPr txBox="1"/>
          <p:nvPr/>
        </p:nvSpPr>
        <p:spPr>
          <a:xfrm rot="0" flipH="0" flipV="0">
            <a:off x="4505325" y="5467350"/>
            <a:ext cx="3171825" cy="238125"/>
          </a:xfrm>
          <a:prstGeom prst="rect"/>
        </p:spPr>
        <p:txBody>
          <a:bodyPr wrap="none" lIns="0" tIns="0" rIns="0" bIns="0"/>
          <a:p>
            <a:pPr>
              <a:lnSpc>
                <a:spcPct val="160000"/>
              </a:lnSpc>
            </a:pPr>
            <a:r>
              <a:rPr lang="en-US" sz="975">
                <a:solidFill>
                  <a:srgbClr val="333A45"/>
                </a:solidFill>
                <a:latin typeface="Microsoft YaHei"/>
                <a:ea typeface="Microsoft YaHei"/>
              </a:rPr>
              <a:t>get_school_quality_report · preview_curriculum_change</a:t>
            </a:r>
            <a:endParaRPr/>
          </a:p>
        </p:txBody>
      </p:sp>
      <p:sp>
        <p:nvSpPr>
          <p:cNvPr id="3017" name=""/>
          <p:cNvSpPr/>
          <p:nvPr/>
        </p:nvSpPr>
        <p:spPr>
          <a:xfrm rot="0" flipH="0" flipV="0">
            <a:off x="7962900" y="4867275"/>
            <a:ext cx="3552825" cy="1343025"/>
          </a:xfrm>
          <a:prstGeom prst="roundRect">
            <a:avLst>
              <a:gd name="adj" fmla="val 5674"/>
            </a:avLst>
          </a:prstGeom>
          <a:solidFill>
            <a:srgbClr val="FFFFFF"/>
          </a:solidFill>
          <a:ln w="12700">
            <a:solidFill>
              <a:srgbClr val="E3E8EF"/>
            </a:solidFill>
            <a:prstDash val="solid"/>
          </a:ln>
        </p:spPr>
        <p:txBody>
          <a:bodyPr/>
          <a:p/>
        </p:txBody>
      </p:sp>
      <p:sp>
        <p:nvSpPr>
          <p:cNvPr id="3018" name=""/>
          <p:cNvSpPr/>
          <p:nvPr/>
        </p:nvSpPr>
        <p:spPr>
          <a:xfrm rot="0" flipH="0" flipV="0">
            <a:off x="7962900" y="4867275"/>
            <a:ext cx="3552825" cy="38100"/>
          </a:xfrm>
          <a:custGeom>
            <a:pathLst>
              <a:path w="373" h="4">
                <a:moveTo>
                  <a:pt x="365" y="0"/>
                </a:moveTo>
                <a:cubicBezTo>
                  <a:pt x="368" y="0"/>
                  <a:pt x="371" y="2"/>
                  <a:pt x="372" y="4"/>
                </a:cubicBezTo>
                <a:lnTo>
                  <a:pt x="1" y="4"/>
                </a:lnTo>
                <a:cubicBezTo>
                  <a:pt x="3" y="2"/>
                  <a:pt x="5" y="0"/>
                  <a:pt x="8" y="0"/>
                </a:cubicBezTo>
                <a:lnTo>
                  <a:pt x="365" y="0"/>
                </a:lnTo>
                <a:close/>
              </a:path>
            </a:pathLst>
          </a:custGeom>
          <a:gradFill>
            <a:gsLst>
              <a:gs pos="0">
                <a:srgbClr val="1E7BE0"/>
              </a:gs>
              <a:gs pos="100000">
                <a:srgbClr val="00A9B5"/>
              </a:gs>
            </a:gsLst>
            <a:lin ang="0" scaled="1"/>
          </a:gradFill>
          <a:ln/>
        </p:spPr>
        <p:txBody>
          <a:bodyPr/>
          <a:p/>
        </p:txBody>
      </p:sp>
      <p:sp>
        <p:nvSpPr>
          <p:cNvPr id="3019" name="" descr="{&quot;isTemplate&quot;:true,&quot;type&quot;:&quot;text&quot;}"/>
          <p:cNvSpPr txBox="1"/>
          <p:nvPr/>
        </p:nvSpPr>
        <p:spPr>
          <a:xfrm rot="0" flipH="0" flipV="0">
            <a:off x="8153400" y="5095875"/>
            <a:ext cx="3171825" cy="276225"/>
          </a:xfrm>
          <a:prstGeom prst="rect"/>
        </p:spPr>
        <p:txBody>
          <a:bodyPr wrap="none" lIns="0" tIns="0" rIns="0" bIns="0"/>
          <a:p>
            <a:pPr>
              <a:lnSpc>
                <a:spcPct val="140000"/>
              </a:lnSpc>
            </a:pPr>
            <a:r>
              <a:rPr lang="zh-CN" sz="1275" b="1">
                <a:solidFill>
                  <a:srgbClr val="0E2340"/>
                </a:solidFill>
                <a:latin typeface="Microsoft YaHei"/>
                <a:ea typeface="Microsoft YaHei"/>
              </a:rPr>
              <a:t>长任务与产物</a:t>
            </a:r>
            <a:r>
              <a:rPr lang="en-US" sz="1275" b="1">
                <a:solidFill>
                  <a:srgbClr val="0E2340"/>
                </a:solidFill>
                <a:latin typeface="Microsoft YaHei"/>
                <a:ea typeface="Microsoft YaHei"/>
              </a:rPr>
              <a:t xml:space="preserve"> 3</a:t>
            </a:r>
            <a:endParaRPr/>
          </a:p>
        </p:txBody>
      </p:sp>
      <p:sp>
        <p:nvSpPr>
          <p:cNvPr id="3020" name="" descr="{&quot;isTemplate&quot;:true,&quot;type&quot;:&quot;text&quot;}"/>
          <p:cNvSpPr txBox="1"/>
          <p:nvPr/>
        </p:nvSpPr>
        <p:spPr>
          <a:xfrm rot="0" flipH="0" flipV="0">
            <a:off x="8153400" y="5467350"/>
            <a:ext cx="3171825" cy="238125"/>
          </a:xfrm>
          <a:prstGeom prst="rect"/>
        </p:spPr>
        <p:txBody>
          <a:bodyPr wrap="none" lIns="0" tIns="0" rIns="0" bIns="0"/>
          <a:p>
            <a:pPr>
              <a:lnSpc>
                <a:spcPct val="160000"/>
              </a:lnSpc>
            </a:pPr>
            <a:r>
              <a:rPr lang="en-US" sz="975">
                <a:solidFill>
                  <a:srgbClr val="333A45"/>
                </a:solidFill>
                <a:latin typeface="Microsoft YaHei"/>
                <a:ea typeface="Microsoft YaHei"/>
              </a:rPr>
              <a:t>get_job · get_job_result · get_artifact</a:t>
            </a:r>
            <a:endParaRPr/>
          </a:p>
        </p:txBody>
      </p:sp>
      <p:sp>
        <p:nvSpPr>
          <p:cNvPr id="3021"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3022" name="" descr="{&quot;isTemplate&quot;:true,&quot;type&quot;:&quot;text&quot;}"/>
          <p:cNvSpPr txBox="1"/>
          <p:nvPr/>
        </p:nvSpPr>
        <p:spPr>
          <a:xfrm rot="0" flipH="0" flipV="0">
            <a:off x="666750" y="6381750"/>
            <a:ext cx="2714625" cy="209550"/>
          </a:xfrm>
          <a:prstGeom prst="rect"/>
        </p:spPr>
        <p:txBody>
          <a:bodyPr wrap="none" lIns="0" tIns="0" rIns="0" bIns="0"/>
          <a:p>
            <a:pPr>
              <a:lnSpc>
                <a:spcPct val="140000"/>
              </a:lnSpc>
            </a:pPr>
            <a:r>
              <a:rPr lang="zh-CN" sz="975">
                <a:solidFill>
                  <a:srgbClr val="7A8699"/>
                </a:solidFill>
                <a:latin typeface="Microsoft YaHei"/>
                <a:ea typeface="Microsoft YaHei"/>
              </a:rPr>
              <a:t>依据：系统</a:t>
            </a:r>
            <a:r>
              <a:rPr lang="en-US" sz="975">
                <a:solidFill>
                  <a:srgbClr val="7A8699"/>
                </a:solidFill>
                <a:latin typeface="Microsoft YaHei"/>
                <a:ea typeface="Microsoft YaHei"/>
              </a:rPr>
              <a:t>Agent</a:t>
            </a:r>
            <a:r>
              <a:rPr lang="zh-CN" sz="975">
                <a:solidFill>
                  <a:srgbClr val="7A8699"/>
                </a:solidFill>
                <a:latin typeface="Microsoft YaHei"/>
                <a:ea typeface="Microsoft YaHei"/>
              </a:rPr>
              <a:t>适配与</a:t>
            </a:r>
            <a:r>
              <a:rPr lang="en-US" sz="975">
                <a:solidFill>
                  <a:srgbClr val="7A8699"/>
                </a:solidFill>
                <a:latin typeface="Microsoft YaHei"/>
                <a:ea typeface="Microsoft YaHei"/>
              </a:rPr>
              <a:t>MCP</a:t>
            </a:r>
            <a:r>
              <a:rPr lang="zh-CN" sz="975">
                <a:solidFill>
                  <a:srgbClr val="7A8699"/>
                </a:solidFill>
                <a:latin typeface="Microsoft YaHei"/>
                <a:ea typeface="Microsoft YaHei"/>
              </a:rPr>
              <a:t>插件接入设计</a:t>
            </a:r>
            <a:r>
              <a:rPr lang="en-US" sz="975">
                <a:solidFill>
                  <a:srgbClr val="7A8699"/>
                </a:solidFill>
                <a:latin typeface="Microsoft YaHei"/>
                <a:ea typeface="Microsoft YaHei"/>
              </a:rPr>
              <a:t>.md §4</a:t>
            </a:r>
            <a:endParaRPr/>
          </a:p>
        </p:txBody>
      </p:sp>
      <p:sp>
        <p:nvSpPr>
          <p:cNvPr id="3023"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90 / 124 </a:t>
            </a:r>
            <a:endParaRPr/>
          </a:p>
        </p:txBody>
      </p:sp>
    </p:spTree>
  </p:cSld>
</p:sld>
</file>

<file path=ppt/slides/slide91.xml><?xml version="1.0" encoding="utf-8"?>
<p:sld xmlns:p="http://schemas.openxmlformats.org/presentationml/2006/main" xmlns:a="http://schemas.openxmlformats.org/drawingml/2006/main">
  <p:cSld>
    <p:spTree>
      <p:nvGrpSpPr>
        <p:cNvPr id="3024"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9 / MCP 接入&lt;/Text&gt;&lt;Text style={{ fontSize: 32, color: '#0E2340', fontWeight: 700, lineHeight: 1.3 }}&gt;调用契约：输出状态、影响分级与长任务&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6 }}&gt;&lt;Box style={{ flexDirection: 'row', gap: 20, flex: 1 }}&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输出四类状态&lt;/Text&gt;&lt;Text style={{ fontSize: 17, color: '#333A45', fontWeight: 400, lineHeight: 1.6 }}&gt;执行结果 / 错误 / 待核对 / 暂不可用&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四级影响&lt;/Text&gt;&lt;Text style={{ fontSize: 17, color: '#333A45', fontWeight: 400, lineHeight: 1.6 }}&gt;只读查询 / 收费模型分析 / 保存草稿 / 正式发布&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长任务三步&lt;/Text&gt;&lt;Text style={{ fontSize: 17, color: '#333A45', fontWeight: 400, lineHeight: 1.6 }}&gt;创建任务 → 查询状态 → 获取结果&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稳定请求编号&lt;/Text&gt;&lt;Text style={{ fontSize: 17, color: '#333A45', fontWeight: 400, lineHeight: 1.6 }}&gt;同一业务请求复用同一编号，避免宿主超时重发导致重复计费或重复写入&lt;/Text&gt;&lt;/Box&gt;&lt;/Box&gt;&lt;/Box&gt;&lt;Box style={{ flexDirection: 'row', alignItems: 'center', background: '#F5F7FA', borderLeft: '4px solid #00A9B5', borderRadius: 6, padding: '14px 20px' }}&gt;&lt;Text style={{ fontSize: 16, color: '#0E2340', fontWeight: 600, lineHeight: 1.5 }}&gt;StudyAgent 访问令牌与模型 API 密钥分开；不将后端模型密钥或数据库凭据作为工具输出返回。客户端不支持图片或交互界面时，仍能通过文本、文件或系统页面继续任务&lt;/Text&gt;&lt;/Box&gt;&lt;Box style={{ flexDirection: 'row', alignItems: 'center', background: '#F5F7FA', borderLeft: '4px solid #0E2340', borderRadius: 6, padding: '14px 20px' }}&gt;&lt;Text style={{ fontSize: 16, color: '#0E2340', fontWeight: 600, lineHeight: 1.5 }}&gt;典型场景：教师在 WorkBuddy 中制作课件时，StudyAgent 提供课时结构、核实例题、步骤、图形与适当学情，宿主的文档工具负责生成文件——PPT 生成能力需另行接入，不属于 MCP 协议自动提供的功能&lt;/Text&gt;&lt;/Box&gt;&lt;/Box&gt;&lt;/Box&gt;&lt;Box style={{ height: 40, flexDirection: 'row', justifyContent: 'space-between', alignItems: 'center', borderTop: '1px solid #E3E8EF', marginTop: 8 }}&gt;&lt;Text style={{ fontSize: 13, color: '#7A8699', fontWeight: 400, lineHeight: 1.4 }}&gt;依据：系统Agent适配与MCP插件接入设计.md §5&lt;/Text&gt;&lt;Text style={{ fontSize: 14, color: '#7A8699', fontWeight: 400, lineHeight: 1.4 }}&gt; 91 / 124 &lt;/Text&gt;&lt;/Box&gt;&lt;/Slide&gt;"/>
        <p:cNvGrpSpPr/>
        <p:nvPr/>
      </p:nvGrpSpPr>
      <p:grpSpPr>
        <a:xfrm>
          <a:off x="0" y="0"/>
          <a:ext cx="0" cy="0"/>
          <a:chOff x="0" y="0"/>
          <a:chExt cx="0" cy="0"/>
        </a:xfrm>
      </p:grpSpPr>
      <p:sp>
        <p:nvSpPr>
          <p:cNvPr id="3025" name=""/>
          <p:cNvSpPr/>
          <p:nvPr/>
        </p:nvSpPr>
        <p:spPr>
          <a:xfrm rot="0" flipH="0" flipV="0">
            <a:off x="0" y="0"/>
            <a:ext cx="12192000" cy="6858000"/>
          </a:xfrm>
          <a:prstGeom prst="rect">
            <a:avLst/>
          </a:prstGeom>
          <a:solidFill>
            <a:srgbClr val="FFFFFF"/>
          </a:solidFill>
          <a:ln/>
        </p:spPr>
        <p:txBody>
          <a:bodyPr/>
          <a:p/>
        </p:txBody>
      </p:sp>
      <p:sp>
        <p:nvSpPr>
          <p:cNvPr id="3026" name="" descr="{&quot;isTemplate&quot;:true,&quot;type&quot;:&quot;text&quot;}"/>
          <p:cNvSpPr txBox="1"/>
          <p:nvPr/>
        </p:nvSpPr>
        <p:spPr>
          <a:xfrm rot="0" flipH="0" flipV="0">
            <a:off x="666750" y="381000"/>
            <a:ext cx="54864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09 / MCP </a:t>
            </a:r>
            <a:r>
              <a:rPr lang="zh-CN" sz="1050" spc="75">
                <a:solidFill>
                  <a:srgbClr val="7A8699"/>
                </a:solidFill>
                <a:latin typeface="Microsoft YaHei"/>
                <a:ea typeface="Microsoft YaHei"/>
              </a:rPr>
              <a:t>接入</a:t>
            </a:r>
            <a:endParaRPr/>
          </a:p>
        </p:txBody>
      </p:sp>
      <p:sp>
        <p:nvSpPr>
          <p:cNvPr id="3027" name="" descr="{&quot;isTemplate&quot;:true,&quot;type&quot;:&quot;text&quot;}"/>
          <p:cNvSpPr txBox="1"/>
          <p:nvPr/>
        </p:nvSpPr>
        <p:spPr>
          <a:xfrm rot="0" flipH="0" flipV="0">
            <a:off x="666750" y="666750"/>
            <a:ext cx="5486400" cy="476250"/>
          </a:xfrm>
          <a:prstGeom prst="rect"/>
        </p:spPr>
        <p:txBody>
          <a:bodyPr wrap="none" lIns="0" tIns="0" rIns="0" bIns="0"/>
          <a:p>
            <a:pPr>
              <a:lnSpc>
                <a:spcPct val="130000"/>
              </a:lnSpc>
            </a:pPr>
            <a:r>
              <a:rPr lang="zh-CN" sz="2400" b="1">
                <a:solidFill>
                  <a:srgbClr val="0E2340"/>
                </a:solidFill>
                <a:latin typeface="Microsoft YaHei"/>
                <a:ea typeface="Microsoft YaHei"/>
              </a:rPr>
              <a:t>调用契约：输出状态、影响分级与长任务</a:t>
            </a:r>
            <a:endParaRPr/>
          </a:p>
        </p:txBody>
      </p:sp>
      <p:sp>
        <p:nvSpPr>
          <p:cNvPr id="3028"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3029"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3030" name=""/>
          <p:cNvSpPr/>
          <p:nvPr/>
        </p:nvSpPr>
        <p:spPr>
          <a:xfrm rot="0" flipH="0" flipV="0">
            <a:off x="666750" y="1219200"/>
            <a:ext cx="2571750" cy="3048000"/>
          </a:xfrm>
          <a:prstGeom prst="roundRect">
            <a:avLst>
              <a:gd name="adj" fmla="val 2963"/>
            </a:avLst>
          </a:prstGeom>
          <a:solidFill>
            <a:srgbClr val="FFFFFF"/>
          </a:solidFill>
          <a:ln w="12700">
            <a:solidFill>
              <a:srgbClr val="E3E8EF"/>
            </a:solidFill>
            <a:prstDash val="solid"/>
          </a:ln>
        </p:spPr>
        <p:txBody>
          <a:bodyPr/>
          <a:p/>
        </p:txBody>
      </p:sp>
      <p:sp>
        <p:nvSpPr>
          <p:cNvPr id="3031" name=""/>
          <p:cNvSpPr/>
          <p:nvPr/>
        </p:nvSpPr>
        <p:spPr>
          <a:xfrm rot="0" flipH="0" flipV="0">
            <a:off x="66675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3032" name="" descr="{&quot;isTemplate&quot;:true,&quot;type&quot;:&quot;text&quot;}"/>
          <p:cNvSpPr txBox="1"/>
          <p:nvPr/>
        </p:nvSpPr>
        <p:spPr>
          <a:xfrm rot="0" flipH="0" flipV="0">
            <a:off x="85725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输出四类状态</a:t>
            </a:r>
            <a:endParaRPr/>
          </a:p>
        </p:txBody>
      </p:sp>
      <p:sp>
        <p:nvSpPr>
          <p:cNvPr id="3033" name="" descr="{&quot;isTemplate&quot;:true,&quot;type&quot;:&quot;text&quot;}"/>
          <p:cNvSpPr txBox="1"/>
          <p:nvPr/>
        </p:nvSpPr>
        <p:spPr>
          <a:xfrm rot="0" flipH="0" flipV="0">
            <a:off x="857250" y="1885950"/>
            <a:ext cx="219075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执行结果</a:t>
            </a:r>
            <a:r>
              <a:rPr lang="en-US" sz="1275">
                <a:solidFill>
                  <a:srgbClr val="333A45"/>
                </a:solidFill>
                <a:latin typeface="Microsoft YaHei"/>
                <a:ea typeface="Microsoft YaHei"/>
              </a:rPr>
              <a:t xml:space="preserve"> / </a:t>
            </a:r>
            <a:r>
              <a:rPr lang="zh-CN" sz="1275">
                <a:solidFill>
                  <a:srgbClr val="333A45"/>
                </a:solidFill>
                <a:latin typeface="Microsoft YaHei"/>
                <a:ea typeface="Microsoft YaHei"/>
              </a:rPr>
              <a:t>错误</a:t>
            </a:r>
            <a:r>
              <a:rPr lang="en-US" sz="1275">
                <a:solidFill>
                  <a:srgbClr val="333A45"/>
                </a:solidFill>
                <a:latin typeface="Microsoft YaHei"/>
                <a:ea typeface="Microsoft YaHei"/>
              </a:rPr>
              <a:t xml:space="preserve"> / </a:t>
            </a:r>
            <a:r>
              <a:rPr lang="zh-CN" sz="1275">
                <a:solidFill>
                  <a:srgbClr val="333A45"/>
                </a:solidFill>
                <a:latin typeface="Microsoft YaHei"/>
                <a:ea typeface="Microsoft YaHei"/>
              </a:rPr>
              <a:t>待核对</a:t>
            </a:r>
            <a:r>
              <a:rPr lang="en-US" sz="1275">
                <a:solidFill>
                  <a:srgbClr val="333A45"/>
                </a:solidFill>
                <a:latin typeface="Microsoft YaHei"/>
                <a:ea typeface="Microsoft YaHei"/>
              </a:rPr>
              <a:t xml:space="preserve"> / </a:t>
            </a:r>
            <a:r>
              <a:rPr lang="zh-CN" sz="1275">
                <a:solidFill>
                  <a:srgbClr val="333A45"/>
                </a:solidFill>
                <a:latin typeface="Microsoft YaHei"/>
                <a:ea typeface="Microsoft YaHei"/>
              </a:rPr>
              <a:t>暂不可用</a:t>
            </a:r>
            <a:endParaRPr/>
          </a:p>
        </p:txBody>
      </p:sp>
      <p:sp>
        <p:nvSpPr>
          <p:cNvPr id="3034" name=""/>
          <p:cNvSpPr/>
          <p:nvPr/>
        </p:nvSpPr>
        <p:spPr>
          <a:xfrm rot="0" flipH="0" flipV="0">
            <a:off x="3429000" y="1219200"/>
            <a:ext cx="2571750" cy="3048000"/>
          </a:xfrm>
          <a:prstGeom prst="roundRect">
            <a:avLst>
              <a:gd name="adj" fmla="val 2963"/>
            </a:avLst>
          </a:prstGeom>
          <a:solidFill>
            <a:srgbClr val="FFFFFF"/>
          </a:solidFill>
          <a:ln w="12700">
            <a:solidFill>
              <a:srgbClr val="E3E8EF"/>
            </a:solidFill>
            <a:prstDash val="solid"/>
          </a:ln>
        </p:spPr>
        <p:txBody>
          <a:bodyPr/>
          <a:p/>
        </p:txBody>
      </p:sp>
      <p:sp>
        <p:nvSpPr>
          <p:cNvPr id="3035" name=""/>
          <p:cNvSpPr/>
          <p:nvPr/>
        </p:nvSpPr>
        <p:spPr>
          <a:xfrm rot="0" flipH="0" flipV="0">
            <a:off x="342900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3036" name="" descr="{&quot;isTemplate&quot;:true,&quot;type&quot;:&quot;text&quot;}"/>
          <p:cNvSpPr txBox="1"/>
          <p:nvPr/>
        </p:nvSpPr>
        <p:spPr>
          <a:xfrm rot="0" flipH="0" flipV="0">
            <a:off x="361950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四级影响</a:t>
            </a:r>
            <a:endParaRPr/>
          </a:p>
        </p:txBody>
      </p:sp>
      <p:sp>
        <p:nvSpPr>
          <p:cNvPr id="3037" name="" descr="{&quot;isTemplate&quot;:true,&quot;type&quot;:&quot;text&quot;}"/>
          <p:cNvSpPr txBox="1"/>
          <p:nvPr/>
        </p:nvSpPr>
        <p:spPr>
          <a:xfrm rot="0" flipH="0" flipV="0">
            <a:off x="3619500" y="1885950"/>
            <a:ext cx="219075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只读查询</a:t>
            </a:r>
            <a:r>
              <a:rPr lang="en-US" sz="1275">
                <a:solidFill>
                  <a:srgbClr val="333A45"/>
                </a:solidFill>
                <a:latin typeface="Microsoft YaHei"/>
                <a:ea typeface="Microsoft YaHei"/>
              </a:rPr>
              <a:t xml:space="preserve"> / </a:t>
            </a:r>
            <a:r>
              <a:rPr lang="zh-CN" sz="1275">
                <a:solidFill>
                  <a:srgbClr val="333A45"/>
                </a:solidFill>
                <a:latin typeface="Microsoft YaHei"/>
                <a:ea typeface="Microsoft YaHei"/>
              </a:rPr>
              <a:t>收费模型分析</a:t>
            </a:r>
            <a:r>
              <a:rPr lang="en-US" sz="1275">
                <a:solidFill>
                  <a:srgbClr val="333A45"/>
                </a:solidFill>
                <a:latin typeface="Microsoft YaHei"/>
                <a:ea typeface="Microsoft YaHei"/>
              </a:rPr>
              <a:t xml:space="preserve"> / </a:t>
            </a:r>
            <a:r>
              <a:rPr lang="zh-CN" sz="1275">
                <a:solidFill>
                  <a:srgbClr val="333A45"/>
                </a:solidFill>
                <a:latin typeface="Microsoft YaHei"/>
                <a:ea typeface="Microsoft YaHei"/>
              </a:rPr>
              <a:t>保存草稿</a:t>
            </a:r>
            <a:r>
              <a:rPr lang="en-US" sz="1275">
                <a:solidFill>
                  <a:srgbClr val="333A45"/>
                </a:solidFill>
                <a:latin typeface="Microsoft YaHei"/>
                <a:ea typeface="Microsoft YaHei"/>
              </a:rPr>
              <a:t xml:space="preserve"> / </a:t>
            </a:r>
            <a:r>
              <a:rPr lang="zh-CN" sz="1275">
                <a:solidFill>
                  <a:srgbClr val="333A45"/>
                </a:solidFill>
                <a:latin typeface="Microsoft YaHei"/>
                <a:ea typeface="Microsoft YaHei"/>
              </a:rPr>
              <a:t>正式发布</a:t>
            </a:r>
            <a:endParaRPr/>
          </a:p>
        </p:txBody>
      </p:sp>
      <p:sp>
        <p:nvSpPr>
          <p:cNvPr id="3038" name=""/>
          <p:cNvSpPr/>
          <p:nvPr/>
        </p:nvSpPr>
        <p:spPr>
          <a:xfrm rot="0" flipH="0" flipV="0">
            <a:off x="6191250" y="1219200"/>
            <a:ext cx="2571750" cy="3048000"/>
          </a:xfrm>
          <a:prstGeom prst="roundRect">
            <a:avLst>
              <a:gd name="adj" fmla="val 2963"/>
            </a:avLst>
          </a:prstGeom>
          <a:solidFill>
            <a:srgbClr val="FFFFFF"/>
          </a:solidFill>
          <a:ln w="12700">
            <a:solidFill>
              <a:srgbClr val="E3E8EF"/>
            </a:solidFill>
            <a:prstDash val="solid"/>
          </a:ln>
        </p:spPr>
        <p:txBody>
          <a:bodyPr/>
          <a:p/>
        </p:txBody>
      </p:sp>
      <p:sp>
        <p:nvSpPr>
          <p:cNvPr id="3039" name=""/>
          <p:cNvSpPr/>
          <p:nvPr/>
        </p:nvSpPr>
        <p:spPr>
          <a:xfrm rot="0" flipH="0" flipV="0">
            <a:off x="619125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3040" name="" descr="{&quot;isTemplate&quot;:true,&quot;type&quot;:&quot;text&quot;}"/>
          <p:cNvSpPr txBox="1"/>
          <p:nvPr/>
        </p:nvSpPr>
        <p:spPr>
          <a:xfrm rot="0" flipH="0" flipV="0">
            <a:off x="638175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长任务三步</a:t>
            </a:r>
            <a:endParaRPr/>
          </a:p>
        </p:txBody>
      </p:sp>
      <p:sp>
        <p:nvSpPr>
          <p:cNvPr id="3041" name="" descr="{&quot;isTemplate&quot;:true,&quot;type&quot;:&quot;text&quot;}"/>
          <p:cNvSpPr txBox="1"/>
          <p:nvPr/>
        </p:nvSpPr>
        <p:spPr>
          <a:xfrm rot="0" flipH="0" flipV="0">
            <a:off x="6381750" y="1885950"/>
            <a:ext cx="219075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创建任务</a:t>
            </a:r>
            <a:r>
              <a:rPr lang="en-US" sz="1275">
                <a:solidFill>
                  <a:srgbClr val="333A45"/>
                </a:solidFill>
                <a:latin typeface="Microsoft YaHei"/>
                <a:ea typeface="Microsoft YaHei"/>
              </a:rPr>
              <a:t xml:space="preserve"> → </a:t>
            </a:r>
            <a:r>
              <a:rPr lang="zh-CN" sz="1275">
                <a:solidFill>
                  <a:srgbClr val="333A45"/>
                </a:solidFill>
                <a:latin typeface="Microsoft YaHei"/>
                <a:ea typeface="Microsoft YaHei"/>
              </a:rPr>
              <a:t>查询状态</a:t>
            </a:r>
            <a:r>
              <a:rPr lang="en-US" sz="1275">
                <a:solidFill>
                  <a:srgbClr val="333A45"/>
                </a:solidFill>
                <a:latin typeface="Microsoft YaHei"/>
                <a:ea typeface="Microsoft YaHei"/>
              </a:rPr>
              <a:t xml:space="preserve"> → </a:t>
            </a:r>
            <a:r>
              <a:rPr lang="zh-CN" sz="1275">
                <a:solidFill>
                  <a:srgbClr val="333A45"/>
                </a:solidFill>
                <a:latin typeface="Microsoft YaHei"/>
                <a:ea typeface="Microsoft YaHei"/>
              </a:rPr>
              <a:t>获取结果</a:t>
            </a:r>
            <a:endParaRPr/>
          </a:p>
        </p:txBody>
      </p:sp>
      <p:sp>
        <p:nvSpPr>
          <p:cNvPr id="3042" name=""/>
          <p:cNvSpPr/>
          <p:nvPr/>
        </p:nvSpPr>
        <p:spPr>
          <a:xfrm rot="0" flipH="0" flipV="0">
            <a:off x="8953500" y="1219200"/>
            <a:ext cx="2571750" cy="3048000"/>
          </a:xfrm>
          <a:prstGeom prst="roundRect">
            <a:avLst>
              <a:gd name="adj" fmla="val 2963"/>
            </a:avLst>
          </a:prstGeom>
          <a:solidFill>
            <a:srgbClr val="FFFFFF"/>
          </a:solidFill>
          <a:ln w="12700">
            <a:solidFill>
              <a:srgbClr val="E3E8EF"/>
            </a:solidFill>
            <a:prstDash val="solid"/>
          </a:ln>
        </p:spPr>
        <p:txBody>
          <a:bodyPr/>
          <a:p/>
        </p:txBody>
      </p:sp>
      <p:sp>
        <p:nvSpPr>
          <p:cNvPr id="3043" name=""/>
          <p:cNvSpPr/>
          <p:nvPr/>
        </p:nvSpPr>
        <p:spPr>
          <a:xfrm rot="0" flipH="0" flipV="0">
            <a:off x="895350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3044" name="" descr="{&quot;isTemplate&quot;:true,&quot;type&quot;:&quot;text&quot;}"/>
          <p:cNvSpPr txBox="1"/>
          <p:nvPr/>
        </p:nvSpPr>
        <p:spPr>
          <a:xfrm rot="0" flipH="0" flipV="0">
            <a:off x="914400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稳定请求编号</a:t>
            </a:r>
            <a:endParaRPr/>
          </a:p>
        </p:txBody>
      </p:sp>
      <p:sp>
        <p:nvSpPr>
          <p:cNvPr id="3045" name="" descr="{&quot;isTemplate&quot;:true,&quot;type&quot;:&quot;text&quot;}"/>
          <p:cNvSpPr txBox="1"/>
          <p:nvPr/>
        </p:nvSpPr>
        <p:spPr>
          <a:xfrm rot="0" flipH="0" flipV="0">
            <a:off x="9144000" y="1885950"/>
            <a:ext cx="2190750" cy="9334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同一业务请求复用同一编号，避免宿主超时重发导致重复计费或重复写入</a:t>
            </a:r>
            <a:endParaRPr/>
          </a:p>
        </p:txBody>
      </p:sp>
      <p:sp>
        <p:nvSpPr>
          <p:cNvPr id="3046" name=""/>
          <p:cNvSpPr/>
          <p:nvPr/>
        </p:nvSpPr>
        <p:spPr>
          <a:xfrm rot="0" flipH="0" flipV="0">
            <a:off x="704850" y="4419600"/>
            <a:ext cx="10858500" cy="819150"/>
          </a:xfrm>
          <a:prstGeom prst="roundRect">
            <a:avLst>
              <a:gd name="adj" fmla="val 6977"/>
            </a:avLst>
          </a:prstGeom>
          <a:solidFill>
            <a:srgbClr val="F5F7FA"/>
          </a:solidFill>
          <a:ln/>
        </p:spPr>
        <p:txBody>
          <a:bodyPr/>
          <a:p/>
        </p:txBody>
      </p:sp>
      <p:sp>
        <p:nvSpPr>
          <p:cNvPr id="3047" name=""/>
          <p:cNvSpPr/>
          <p:nvPr/>
        </p:nvSpPr>
        <p:spPr>
          <a:xfrm rot="0" flipH="0" flipV="0">
            <a:off x="704850" y="4419600"/>
            <a:ext cx="10858500" cy="819150"/>
          </a:xfrm>
          <a:custGeom>
            <a:pathLst>
              <a:path w="1140" h="86">
                <a:moveTo>
                  <a:pt x="6" y="0"/>
                </a:moveTo>
                <a:cubicBezTo>
                  <a:pt x="5" y="0"/>
                  <a:pt x="4" y="1"/>
                  <a:pt x="4" y="2"/>
                </a:cubicBezTo>
                <a:lnTo>
                  <a:pt x="4" y="84"/>
                </a:lnTo>
                <a:cubicBezTo>
                  <a:pt x="4" y="85"/>
                  <a:pt x="5" y="86"/>
                  <a:pt x="6" y="86"/>
                </a:cubicBezTo>
                <a:cubicBezTo>
                  <a:pt x="3" y="86"/>
                  <a:pt x="0" y="83"/>
                  <a:pt x="0" y="80"/>
                </a:cubicBezTo>
                <a:lnTo>
                  <a:pt x="0" y="6"/>
                </a:lnTo>
                <a:cubicBezTo>
                  <a:pt x="0" y="3"/>
                  <a:pt x="3" y="0"/>
                  <a:pt x="6" y="0"/>
                </a:cubicBezTo>
                <a:close/>
              </a:path>
            </a:pathLst>
          </a:custGeom>
          <a:solidFill>
            <a:srgbClr val="00A9B5"/>
          </a:solidFill>
          <a:ln/>
        </p:spPr>
        <p:txBody>
          <a:bodyPr/>
          <a:p/>
        </p:txBody>
      </p:sp>
      <p:sp>
        <p:nvSpPr>
          <p:cNvPr id="3048" name="" descr="{&quot;isTemplate&quot;:true,&quot;type&quot;:&quot;text&quot;}"/>
          <p:cNvSpPr txBox="1"/>
          <p:nvPr/>
        </p:nvSpPr>
        <p:spPr>
          <a:xfrm rot="0" flipH="0" flipV="0">
            <a:off x="895350" y="4552950"/>
            <a:ext cx="10439400" cy="552450"/>
          </a:xfrm>
          <a:prstGeom prst="rect"/>
        </p:spPr>
        <p:txBody>
          <a:bodyPr wrap="square" lIns="0" tIns="0" rIns="0" bIns="0">
            <a:normAutofit/>
          </a:bodyPr>
          <a:p>
            <a:pPr>
              <a:lnSpc>
                <a:spcPct val="150000"/>
              </a:lnSpc>
            </a:pPr>
            <a:r>
              <a:rPr lang="en-US" sz="1200" b="1">
                <a:solidFill>
                  <a:srgbClr val="0E2340"/>
                </a:solidFill>
                <a:latin typeface="Microsoft YaHei"/>
                <a:ea typeface="Microsoft YaHei"/>
              </a:rPr>
              <a:t xml:space="preserve">StudyAgent </a:t>
            </a:r>
            <a:r>
              <a:rPr lang="zh-CN" sz="1200" b="1">
                <a:solidFill>
                  <a:srgbClr val="0E2340"/>
                </a:solidFill>
                <a:latin typeface="Microsoft YaHei"/>
                <a:ea typeface="Microsoft YaHei"/>
              </a:rPr>
              <a:t>访问令牌与模型</a:t>
            </a:r>
            <a:r>
              <a:rPr lang="en-US" sz="1200" b="1">
                <a:solidFill>
                  <a:srgbClr val="0E2340"/>
                </a:solidFill>
                <a:latin typeface="Microsoft YaHei"/>
                <a:ea typeface="Microsoft YaHei"/>
              </a:rPr>
              <a:t xml:space="preserve"> API </a:t>
            </a:r>
            <a:r>
              <a:rPr lang="zh-CN" sz="1200" b="1">
                <a:solidFill>
                  <a:srgbClr val="0E2340"/>
                </a:solidFill>
                <a:latin typeface="Microsoft YaHei"/>
                <a:ea typeface="Microsoft YaHei"/>
              </a:rPr>
              <a:t>密钥分开；不将后端模型密钥或数据库凭据作为工具输出返回。客户端不支持图片或交互界面时，仍能通过文本、文件或系统页面继续任务</a:t>
            </a:r>
            <a:endParaRPr/>
          </a:p>
        </p:txBody>
      </p:sp>
      <p:sp>
        <p:nvSpPr>
          <p:cNvPr id="3049" name=""/>
          <p:cNvSpPr/>
          <p:nvPr/>
        </p:nvSpPr>
        <p:spPr>
          <a:xfrm rot="0" flipH="0" flipV="0">
            <a:off x="704850" y="5391150"/>
            <a:ext cx="10858500" cy="819150"/>
          </a:xfrm>
          <a:prstGeom prst="roundRect">
            <a:avLst>
              <a:gd name="adj" fmla="val 6977"/>
            </a:avLst>
          </a:prstGeom>
          <a:solidFill>
            <a:srgbClr val="F5F7FA"/>
          </a:solidFill>
          <a:ln/>
        </p:spPr>
        <p:txBody>
          <a:bodyPr/>
          <a:p/>
        </p:txBody>
      </p:sp>
      <p:sp>
        <p:nvSpPr>
          <p:cNvPr id="3050" name=""/>
          <p:cNvSpPr/>
          <p:nvPr/>
        </p:nvSpPr>
        <p:spPr>
          <a:xfrm rot="0" flipH="0" flipV="0">
            <a:off x="704850" y="5391150"/>
            <a:ext cx="10858500" cy="819150"/>
          </a:xfrm>
          <a:custGeom>
            <a:pathLst>
              <a:path w="1140" h="86">
                <a:moveTo>
                  <a:pt x="6" y="0"/>
                </a:moveTo>
                <a:cubicBezTo>
                  <a:pt x="5" y="0"/>
                  <a:pt x="4" y="1"/>
                  <a:pt x="4" y="2"/>
                </a:cubicBezTo>
                <a:lnTo>
                  <a:pt x="4" y="84"/>
                </a:lnTo>
                <a:cubicBezTo>
                  <a:pt x="4" y="85"/>
                  <a:pt x="5" y="86"/>
                  <a:pt x="6" y="86"/>
                </a:cubicBezTo>
                <a:cubicBezTo>
                  <a:pt x="3" y="86"/>
                  <a:pt x="0" y="83"/>
                  <a:pt x="0" y="80"/>
                </a:cubicBezTo>
                <a:lnTo>
                  <a:pt x="0" y="6"/>
                </a:lnTo>
                <a:cubicBezTo>
                  <a:pt x="0" y="3"/>
                  <a:pt x="3" y="0"/>
                  <a:pt x="6" y="0"/>
                </a:cubicBezTo>
                <a:close/>
              </a:path>
            </a:pathLst>
          </a:custGeom>
          <a:solidFill>
            <a:srgbClr val="0E2340"/>
          </a:solidFill>
          <a:ln/>
        </p:spPr>
        <p:txBody>
          <a:bodyPr/>
          <a:p/>
        </p:txBody>
      </p:sp>
      <p:sp>
        <p:nvSpPr>
          <p:cNvPr id="3051" name="" descr="{&quot;isTemplate&quot;:true,&quot;type&quot;:&quot;text&quot;}"/>
          <p:cNvSpPr txBox="1"/>
          <p:nvPr/>
        </p:nvSpPr>
        <p:spPr>
          <a:xfrm rot="0" flipH="0" flipV="0">
            <a:off x="895350" y="5524500"/>
            <a:ext cx="10439400" cy="552450"/>
          </a:xfrm>
          <a:prstGeom prst="rect"/>
        </p:spPr>
        <p:txBody>
          <a:bodyPr wrap="square" lIns="0" tIns="0" rIns="0" bIns="0">
            <a:normAutofit/>
          </a:bodyPr>
          <a:p>
            <a:pPr>
              <a:lnSpc>
                <a:spcPct val="150000"/>
              </a:lnSpc>
            </a:pPr>
            <a:r>
              <a:rPr lang="zh-CN" sz="1200" b="1">
                <a:solidFill>
                  <a:srgbClr val="0E2340"/>
                </a:solidFill>
                <a:latin typeface="Microsoft YaHei"/>
                <a:ea typeface="Microsoft YaHei"/>
              </a:rPr>
              <a:t>典型场景：教师在</a:t>
            </a:r>
            <a:r>
              <a:rPr lang="en-US" sz="1200" b="1">
                <a:solidFill>
                  <a:srgbClr val="0E2340"/>
                </a:solidFill>
                <a:latin typeface="Microsoft YaHei"/>
                <a:ea typeface="Microsoft YaHei"/>
              </a:rPr>
              <a:t xml:space="preserve"> WorkBuddy </a:t>
            </a:r>
            <a:r>
              <a:rPr lang="zh-CN" sz="1200" b="1">
                <a:solidFill>
                  <a:srgbClr val="0E2340"/>
                </a:solidFill>
                <a:latin typeface="Microsoft YaHei"/>
                <a:ea typeface="Microsoft YaHei"/>
              </a:rPr>
              <a:t>中制作课件时，</a:t>
            </a:r>
            <a:r>
              <a:rPr lang="en-US" sz="1200" b="1">
                <a:solidFill>
                  <a:srgbClr val="0E2340"/>
                </a:solidFill>
                <a:latin typeface="Microsoft YaHei"/>
                <a:ea typeface="Microsoft YaHei"/>
              </a:rPr>
              <a:t xml:space="preserve">StudyAgent </a:t>
            </a:r>
            <a:r>
              <a:rPr lang="zh-CN" sz="1200" b="1">
                <a:solidFill>
                  <a:srgbClr val="0E2340"/>
                </a:solidFill>
                <a:latin typeface="Microsoft YaHei"/>
                <a:ea typeface="Microsoft YaHei"/>
              </a:rPr>
              <a:t>提供课时结构、核实例题、步骤、图形与适当学情，宿主的文档工具负责生成文件——</a:t>
            </a:r>
            <a:r>
              <a:rPr lang="en-US" sz="1200" b="1">
                <a:solidFill>
                  <a:srgbClr val="0E2340"/>
                </a:solidFill>
                <a:latin typeface="Microsoft YaHei"/>
                <a:ea typeface="Microsoft YaHei"/>
              </a:rPr>
              <a:t xml:space="preserve">PPT </a:t>
            </a:r>
            <a:r>
              <a:rPr lang="zh-CN" sz="1200" b="1">
                <a:solidFill>
                  <a:srgbClr val="0E2340"/>
                </a:solidFill>
                <a:latin typeface="Microsoft YaHei"/>
                <a:ea typeface="Microsoft YaHei"/>
              </a:rPr>
              <a:t>生成能力需另行接入，不属于</a:t>
            </a:r>
            <a:r>
              <a:rPr lang="en-US" sz="1200" b="1">
                <a:solidFill>
                  <a:srgbClr val="0E2340"/>
                </a:solidFill>
                <a:latin typeface="Microsoft YaHei"/>
                <a:ea typeface="Microsoft YaHei"/>
              </a:rPr>
              <a:t xml:space="preserve"> MCP </a:t>
            </a:r>
            <a:r>
              <a:rPr lang="zh-CN" sz="1200" b="1">
                <a:solidFill>
                  <a:srgbClr val="0E2340"/>
                </a:solidFill>
                <a:latin typeface="Microsoft YaHei"/>
                <a:ea typeface="Microsoft YaHei"/>
              </a:rPr>
              <a:t>协议自动提供的功能</a:t>
            </a:r>
            <a:endParaRPr/>
          </a:p>
        </p:txBody>
      </p:sp>
      <p:sp>
        <p:nvSpPr>
          <p:cNvPr id="3052"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3053" name="" descr="{&quot;isTemplate&quot;:true,&quot;type&quot;:&quot;text&quot;}"/>
          <p:cNvSpPr txBox="1"/>
          <p:nvPr/>
        </p:nvSpPr>
        <p:spPr>
          <a:xfrm rot="0" flipH="0" flipV="0">
            <a:off x="666750" y="6381750"/>
            <a:ext cx="2714625" cy="209550"/>
          </a:xfrm>
          <a:prstGeom prst="rect"/>
        </p:spPr>
        <p:txBody>
          <a:bodyPr wrap="none" lIns="0" tIns="0" rIns="0" bIns="0"/>
          <a:p>
            <a:pPr>
              <a:lnSpc>
                <a:spcPct val="140000"/>
              </a:lnSpc>
            </a:pPr>
            <a:r>
              <a:rPr lang="zh-CN" sz="975">
                <a:solidFill>
                  <a:srgbClr val="7A8699"/>
                </a:solidFill>
                <a:latin typeface="Microsoft YaHei"/>
                <a:ea typeface="Microsoft YaHei"/>
              </a:rPr>
              <a:t>依据：系统</a:t>
            </a:r>
            <a:r>
              <a:rPr lang="en-US" sz="975">
                <a:solidFill>
                  <a:srgbClr val="7A8699"/>
                </a:solidFill>
                <a:latin typeface="Microsoft YaHei"/>
                <a:ea typeface="Microsoft YaHei"/>
              </a:rPr>
              <a:t>Agent</a:t>
            </a:r>
            <a:r>
              <a:rPr lang="zh-CN" sz="975">
                <a:solidFill>
                  <a:srgbClr val="7A8699"/>
                </a:solidFill>
                <a:latin typeface="Microsoft YaHei"/>
                <a:ea typeface="Microsoft YaHei"/>
              </a:rPr>
              <a:t>适配与</a:t>
            </a:r>
            <a:r>
              <a:rPr lang="en-US" sz="975">
                <a:solidFill>
                  <a:srgbClr val="7A8699"/>
                </a:solidFill>
                <a:latin typeface="Microsoft YaHei"/>
                <a:ea typeface="Microsoft YaHei"/>
              </a:rPr>
              <a:t>MCP</a:t>
            </a:r>
            <a:r>
              <a:rPr lang="zh-CN" sz="975">
                <a:solidFill>
                  <a:srgbClr val="7A8699"/>
                </a:solidFill>
                <a:latin typeface="Microsoft YaHei"/>
                <a:ea typeface="Microsoft YaHei"/>
              </a:rPr>
              <a:t>插件接入设计</a:t>
            </a:r>
            <a:r>
              <a:rPr lang="en-US" sz="975">
                <a:solidFill>
                  <a:srgbClr val="7A8699"/>
                </a:solidFill>
                <a:latin typeface="Microsoft YaHei"/>
                <a:ea typeface="Microsoft YaHei"/>
              </a:rPr>
              <a:t>.md §5</a:t>
            </a:r>
            <a:endParaRPr/>
          </a:p>
        </p:txBody>
      </p:sp>
      <p:sp>
        <p:nvSpPr>
          <p:cNvPr id="3054"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91 / 124 </a:t>
            </a:r>
            <a:endParaRPr/>
          </a:p>
        </p:txBody>
      </p:sp>
    </p:spTree>
  </p:cSld>
</p:sld>
</file>

<file path=ppt/slides/slide92.xml><?xml version="1.0" encoding="utf-8"?>
<p:sld xmlns:p="http://schemas.openxmlformats.org/presentationml/2006/main" xmlns:a="http://schemas.openxmlformats.org/drawingml/2006/main">
  <p:cSld>
    <p:spTree>
      <p:nvGrpSpPr>
        <p:cNvPr id="3055"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9 / MCP 接入&lt;/Text&gt;&lt;Text style={{ fontSize: 32, color: '#0E2340', fontWeight: 700, lineHeight: 1.3 }}&gt;权限边界与防提示注入&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8 }}&gt;&lt;Box style={{ flexDirection: 'row', alignItems: 'center', background: '#F5F7FA', borderLeft: '4px solid #E8A33D', borderRadius: 6, padding: '14px 20px' }}&gt;&lt;Text style={{ fontSize: 22, color: '#0E2340', fontWeight: 600, lineHeight: 1.5 }}&gt;原题、OCR、教师材料和外部网页中的文字是任务资料，不能借其中的指令改变身份或工具权限&lt;/Text&gt;&lt;/Box&gt;&lt;Box style={{ flexDirection: 'row', gap: 20, flex: 1 }}&gt;&lt;Box style={{ width: 366,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双层安全模型&lt;/Text&gt;&lt;Text style={{ fontSize: 17, color: '#333A45', fontWeight: 400, lineHeight: 1.6 }}&gt;服务端执行访问范围、版本检查和允许的状态变化；宿主提示词只帮助正确使用。二者缺一不可。&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三级操作权限&lt;/Text&gt;&lt;Text style={{ fontSize: 17, color: '#333A45', fontWeight: 400, lineHeight: 1.6 }}&gt;读取 / 保存草稿 / 正式发布采用不同业务能力，不能由一次调用跨级完成。&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降级明确&lt;/Text&gt;&lt;Text style={{ fontSize: 17, color: '#333A45', fontWeight: 400, lineHeight: 1.6 }}&gt;某宿主能力不足时提供明确降级，不生成看似成功但无法访问的结果。&lt;/Text&gt;&lt;/Box&gt;&lt;/Box&gt;&lt;/Box&gt;&lt;/Box&gt;&lt;/Box&gt;&lt;Box style={{ height: 40, flexDirection: 'row', justifyContent: 'space-between', alignItems: 'center', borderTop: '1px solid #E3E8EF', marginTop: 8 }}&gt;&lt;Text style={{ fontSize: 13, color: '#7A8699', fontWeight: 400, lineHeight: 1.4 }}&gt;依据：系统Agent适配与MCP插件接入设计.md §5.4&lt;/Text&gt;&lt;Text style={{ fontSize: 14, color: '#7A8699', fontWeight: 400, lineHeight: 1.4 }}&gt; 92 / 124 &lt;/Text&gt;&lt;/Box&gt;&lt;/Slide&gt;"/>
        <p:cNvGrpSpPr/>
        <p:nvPr/>
      </p:nvGrpSpPr>
      <p:grpSpPr>
        <a:xfrm>
          <a:off x="0" y="0"/>
          <a:ext cx="0" cy="0"/>
          <a:chOff x="0" y="0"/>
          <a:chExt cx="0" cy="0"/>
        </a:xfrm>
      </p:grpSpPr>
      <p:sp>
        <p:nvSpPr>
          <p:cNvPr id="3056" name=""/>
          <p:cNvSpPr/>
          <p:nvPr/>
        </p:nvSpPr>
        <p:spPr>
          <a:xfrm rot="0" flipH="0" flipV="0">
            <a:off x="0" y="0"/>
            <a:ext cx="12192000" cy="6858000"/>
          </a:xfrm>
          <a:prstGeom prst="rect">
            <a:avLst/>
          </a:prstGeom>
          <a:solidFill>
            <a:srgbClr val="FFFFFF"/>
          </a:solidFill>
          <a:ln/>
        </p:spPr>
        <p:txBody>
          <a:bodyPr/>
          <a:p/>
        </p:txBody>
      </p:sp>
      <p:sp>
        <p:nvSpPr>
          <p:cNvPr id="3057" name="" descr="{&quot;isTemplate&quot;:true,&quot;type&quot;:&quot;text&quot;}"/>
          <p:cNvSpPr txBox="1"/>
          <p:nvPr/>
        </p:nvSpPr>
        <p:spPr>
          <a:xfrm rot="0" flipH="0" flipV="0">
            <a:off x="666750" y="381000"/>
            <a:ext cx="30480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09 / MCP </a:t>
            </a:r>
            <a:r>
              <a:rPr lang="zh-CN" sz="1050" spc="75">
                <a:solidFill>
                  <a:srgbClr val="7A8699"/>
                </a:solidFill>
                <a:latin typeface="Microsoft YaHei"/>
                <a:ea typeface="Microsoft YaHei"/>
              </a:rPr>
              <a:t>接入</a:t>
            </a:r>
            <a:endParaRPr/>
          </a:p>
        </p:txBody>
      </p:sp>
      <p:sp>
        <p:nvSpPr>
          <p:cNvPr id="3058" name="" descr="{&quot;isTemplate&quot;:true,&quot;type&quot;:&quot;text&quot;}"/>
          <p:cNvSpPr txBox="1"/>
          <p:nvPr/>
        </p:nvSpPr>
        <p:spPr>
          <a:xfrm rot="0" flipH="0" flipV="0">
            <a:off x="666750" y="666750"/>
            <a:ext cx="3048000" cy="476250"/>
          </a:xfrm>
          <a:prstGeom prst="rect"/>
        </p:spPr>
        <p:txBody>
          <a:bodyPr wrap="none" lIns="0" tIns="0" rIns="0" bIns="0"/>
          <a:p>
            <a:pPr>
              <a:lnSpc>
                <a:spcPct val="130000"/>
              </a:lnSpc>
            </a:pPr>
            <a:r>
              <a:rPr lang="zh-CN" sz="2400" b="1">
                <a:solidFill>
                  <a:srgbClr val="0E2340"/>
                </a:solidFill>
                <a:latin typeface="Microsoft YaHei"/>
                <a:ea typeface="Microsoft YaHei"/>
              </a:rPr>
              <a:t>权限边界与防提示注入</a:t>
            </a:r>
            <a:endParaRPr/>
          </a:p>
        </p:txBody>
      </p:sp>
      <p:sp>
        <p:nvSpPr>
          <p:cNvPr id="3059"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3060"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3061" name=""/>
          <p:cNvSpPr/>
          <p:nvPr/>
        </p:nvSpPr>
        <p:spPr>
          <a:xfrm rot="0" flipH="0" flipV="0">
            <a:off x="704850" y="1219200"/>
            <a:ext cx="10858500" cy="647700"/>
          </a:xfrm>
          <a:prstGeom prst="roundRect">
            <a:avLst>
              <a:gd name="adj" fmla="val 8824"/>
            </a:avLst>
          </a:prstGeom>
          <a:solidFill>
            <a:srgbClr val="F5F7FA"/>
          </a:solidFill>
          <a:ln/>
        </p:spPr>
        <p:txBody>
          <a:bodyPr/>
          <a:p/>
        </p:txBody>
      </p:sp>
      <p:sp>
        <p:nvSpPr>
          <p:cNvPr id="3062" name=""/>
          <p:cNvSpPr/>
          <p:nvPr/>
        </p:nvSpPr>
        <p:spPr>
          <a:xfrm rot="0" flipH="0" flipV="0">
            <a:off x="704850" y="1219200"/>
            <a:ext cx="10858500" cy="647700"/>
          </a:xfrm>
          <a:custGeom>
            <a:pathLst>
              <a:path w="1140" h="68">
                <a:moveTo>
                  <a:pt x="6" y="0"/>
                </a:moveTo>
                <a:cubicBezTo>
                  <a:pt x="5" y="0"/>
                  <a:pt x="4" y="1"/>
                  <a:pt x="4" y="2"/>
                </a:cubicBezTo>
                <a:lnTo>
                  <a:pt x="4" y="66"/>
                </a:lnTo>
                <a:cubicBezTo>
                  <a:pt x="4" y="67"/>
                  <a:pt x="5" y="68"/>
                  <a:pt x="6" y="68"/>
                </a:cubicBezTo>
                <a:cubicBezTo>
                  <a:pt x="3" y="68"/>
                  <a:pt x="0" y="65"/>
                  <a:pt x="0" y="62"/>
                </a:cubicBezTo>
                <a:lnTo>
                  <a:pt x="0" y="6"/>
                </a:lnTo>
                <a:cubicBezTo>
                  <a:pt x="0" y="3"/>
                  <a:pt x="3" y="0"/>
                  <a:pt x="6" y="0"/>
                </a:cubicBezTo>
                <a:close/>
              </a:path>
            </a:pathLst>
          </a:custGeom>
          <a:solidFill>
            <a:srgbClr val="E8A33D"/>
          </a:solidFill>
          <a:ln/>
        </p:spPr>
        <p:txBody>
          <a:bodyPr/>
          <a:p/>
        </p:txBody>
      </p:sp>
      <p:sp>
        <p:nvSpPr>
          <p:cNvPr id="3063" name="" descr="{&quot;isTemplate&quot;:true,&quot;type&quot;:&quot;text&quot;}"/>
          <p:cNvSpPr txBox="1"/>
          <p:nvPr/>
        </p:nvSpPr>
        <p:spPr>
          <a:xfrm rot="0" flipH="0" flipV="0">
            <a:off x="895350" y="1352550"/>
            <a:ext cx="8848725" cy="381000"/>
          </a:xfrm>
          <a:prstGeom prst="rect"/>
        </p:spPr>
        <p:txBody>
          <a:bodyPr wrap="none" lIns="0" tIns="0" rIns="0" bIns="0"/>
          <a:p>
            <a:pPr>
              <a:lnSpc>
                <a:spcPct val="150000"/>
              </a:lnSpc>
            </a:pPr>
            <a:r>
              <a:rPr lang="zh-CN" sz="1650" b="1">
                <a:solidFill>
                  <a:srgbClr val="0E2340"/>
                </a:solidFill>
                <a:latin typeface="Microsoft YaHei"/>
                <a:ea typeface="Microsoft YaHei"/>
              </a:rPr>
              <a:t>原题、</a:t>
            </a:r>
            <a:r>
              <a:rPr lang="en-US" sz="1650" b="1">
                <a:solidFill>
                  <a:srgbClr val="0E2340"/>
                </a:solidFill>
                <a:latin typeface="Microsoft YaHei"/>
                <a:ea typeface="Microsoft YaHei"/>
              </a:rPr>
              <a:t>OCR</a:t>
            </a:r>
            <a:r>
              <a:rPr lang="zh-CN" sz="1650" b="1">
                <a:solidFill>
                  <a:srgbClr val="0E2340"/>
                </a:solidFill>
                <a:latin typeface="Microsoft YaHei"/>
                <a:ea typeface="Microsoft YaHei"/>
              </a:rPr>
              <a:t>、教师材料和外部网页中的文字是任务资料，不能借其中的指令改变身份或工具权限</a:t>
            </a:r>
            <a:endParaRPr/>
          </a:p>
        </p:txBody>
      </p:sp>
      <p:sp>
        <p:nvSpPr>
          <p:cNvPr id="3064" name=""/>
          <p:cNvSpPr/>
          <p:nvPr/>
        </p:nvSpPr>
        <p:spPr>
          <a:xfrm rot="0" flipH="0" flipV="0">
            <a:off x="666750" y="2038350"/>
            <a:ext cx="3486150" cy="4171950"/>
          </a:xfrm>
          <a:prstGeom prst="roundRect">
            <a:avLst>
              <a:gd name="adj" fmla="val 2186"/>
            </a:avLst>
          </a:prstGeom>
          <a:solidFill>
            <a:srgbClr val="FFFFFF"/>
          </a:solidFill>
          <a:ln w="12700">
            <a:solidFill>
              <a:srgbClr val="E3E8EF"/>
            </a:solidFill>
            <a:prstDash val="solid"/>
          </a:ln>
        </p:spPr>
        <p:txBody>
          <a:bodyPr/>
          <a:p/>
        </p:txBody>
      </p:sp>
      <p:sp>
        <p:nvSpPr>
          <p:cNvPr id="3065" name=""/>
          <p:cNvSpPr/>
          <p:nvPr/>
        </p:nvSpPr>
        <p:spPr>
          <a:xfrm rot="0" flipH="0" flipV="0">
            <a:off x="666750" y="203835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3066" name="" descr="{&quot;isTemplate&quot;:true,&quot;type&quot;:&quot;text&quot;}"/>
          <p:cNvSpPr txBox="1"/>
          <p:nvPr/>
        </p:nvSpPr>
        <p:spPr>
          <a:xfrm rot="0" flipH="0" flipV="0">
            <a:off x="857250" y="2266950"/>
            <a:ext cx="3105150" cy="342900"/>
          </a:xfrm>
          <a:prstGeom prst="rect"/>
        </p:spPr>
        <p:txBody>
          <a:bodyPr wrap="none" lIns="0" tIns="0" rIns="0" bIns="0"/>
          <a:p>
            <a:pPr>
              <a:lnSpc>
                <a:spcPct val="140000"/>
              </a:lnSpc>
            </a:pPr>
            <a:r>
              <a:rPr lang="zh-CN" sz="1575" b="1">
                <a:solidFill>
                  <a:srgbClr val="0E2340"/>
                </a:solidFill>
                <a:latin typeface="Microsoft YaHei"/>
                <a:ea typeface="Microsoft YaHei"/>
              </a:rPr>
              <a:t>双层安全模型</a:t>
            </a:r>
            <a:endParaRPr/>
          </a:p>
        </p:txBody>
      </p:sp>
      <p:sp>
        <p:nvSpPr>
          <p:cNvPr id="3067" name="" descr="{&quot;isTemplate&quot;:true,&quot;type&quot;:&quot;text&quot;}"/>
          <p:cNvSpPr txBox="1"/>
          <p:nvPr/>
        </p:nvSpPr>
        <p:spPr>
          <a:xfrm rot="0" flipH="0" flipV="0">
            <a:off x="857250" y="2705100"/>
            <a:ext cx="3105150" cy="9334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服务端执行访问范围、版本检查和允许的状态变化；宿主提示词只帮助正确使用。二者缺一不可。</a:t>
            </a:r>
            <a:endParaRPr/>
          </a:p>
        </p:txBody>
      </p:sp>
      <p:sp>
        <p:nvSpPr>
          <p:cNvPr id="3068" name=""/>
          <p:cNvSpPr/>
          <p:nvPr/>
        </p:nvSpPr>
        <p:spPr>
          <a:xfrm rot="0" flipH="0" flipV="0">
            <a:off x="4343400" y="2038350"/>
            <a:ext cx="3486150" cy="4171950"/>
          </a:xfrm>
          <a:prstGeom prst="roundRect">
            <a:avLst>
              <a:gd name="adj" fmla="val 2186"/>
            </a:avLst>
          </a:prstGeom>
          <a:solidFill>
            <a:srgbClr val="FFFFFF"/>
          </a:solidFill>
          <a:ln w="12700">
            <a:solidFill>
              <a:srgbClr val="E3E8EF"/>
            </a:solidFill>
            <a:prstDash val="solid"/>
          </a:ln>
        </p:spPr>
        <p:txBody>
          <a:bodyPr/>
          <a:p/>
        </p:txBody>
      </p:sp>
      <p:sp>
        <p:nvSpPr>
          <p:cNvPr id="3069" name=""/>
          <p:cNvSpPr/>
          <p:nvPr/>
        </p:nvSpPr>
        <p:spPr>
          <a:xfrm rot="0" flipH="0" flipV="0">
            <a:off x="4343400" y="203835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3070" name="" descr="{&quot;isTemplate&quot;:true,&quot;type&quot;:&quot;text&quot;}"/>
          <p:cNvSpPr txBox="1"/>
          <p:nvPr/>
        </p:nvSpPr>
        <p:spPr>
          <a:xfrm rot="0" flipH="0" flipV="0">
            <a:off x="4533900" y="2266950"/>
            <a:ext cx="3105150" cy="342900"/>
          </a:xfrm>
          <a:prstGeom prst="rect"/>
        </p:spPr>
        <p:txBody>
          <a:bodyPr wrap="none" lIns="0" tIns="0" rIns="0" bIns="0"/>
          <a:p>
            <a:pPr>
              <a:lnSpc>
                <a:spcPct val="140000"/>
              </a:lnSpc>
            </a:pPr>
            <a:r>
              <a:rPr lang="zh-CN" sz="1575" b="1">
                <a:solidFill>
                  <a:srgbClr val="0E2340"/>
                </a:solidFill>
                <a:latin typeface="Microsoft YaHei"/>
                <a:ea typeface="Microsoft YaHei"/>
              </a:rPr>
              <a:t>三级操作权限</a:t>
            </a:r>
            <a:endParaRPr/>
          </a:p>
        </p:txBody>
      </p:sp>
      <p:sp>
        <p:nvSpPr>
          <p:cNvPr id="3071" name="" descr="{&quot;isTemplate&quot;:true,&quot;type&quot;:&quot;text&quot;}"/>
          <p:cNvSpPr txBox="1"/>
          <p:nvPr/>
        </p:nvSpPr>
        <p:spPr>
          <a:xfrm rot="0" flipH="0" flipV="0">
            <a:off x="4533900" y="2705100"/>
            <a:ext cx="310515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读取</a:t>
            </a:r>
            <a:r>
              <a:rPr lang="en-US" sz="1275">
                <a:solidFill>
                  <a:srgbClr val="333A45"/>
                </a:solidFill>
                <a:latin typeface="Microsoft YaHei"/>
                <a:ea typeface="Microsoft YaHei"/>
              </a:rPr>
              <a:t xml:space="preserve"> / </a:t>
            </a:r>
            <a:r>
              <a:rPr lang="zh-CN" sz="1275">
                <a:solidFill>
                  <a:srgbClr val="333A45"/>
                </a:solidFill>
                <a:latin typeface="Microsoft YaHei"/>
                <a:ea typeface="Microsoft YaHei"/>
              </a:rPr>
              <a:t>保存草稿</a:t>
            </a:r>
            <a:r>
              <a:rPr lang="en-US" sz="1275">
                <a:solidFill>
                  <a:srgbClr val="333A45"/>
                </a:solidFill>
                <a:latin typeface="Microsoft YaHei"/>
                <a:ea typeface="Microsoft YaHei"/>
              </a:rPr>
              <a:t xml:space="preserve"> / </a:t>
            </a:r>
            <a:r>
              <a:rPr lang="zh-CN" sz="1275">
                <a:solidFill>
                  <a:srgbClr val="333A45"/>
                </a:solidFill>
                <a:latin typeface="Microsoft YaHei"/>
                <a:ea typeface="Microsoft YaHei"/>
              </a:rPr>
              <a:t>正式发布采用不同业务能力，不能由一次调用跨级完成。</a:t>
            </a:r>
            <a:endParaRPr/>
          </a:p>
        </p:txBody>
      </p:sp>
      <p:sp>
        <p:nvSpPr>
          <p:cNvPr id="3072" name=""/>
          <p:cNvSpPr/>
          <p:nvPr/>
        </p:nvSpPr>
        <p:spPr>
          <a:xfrm rot="0" flipH="0" flipV="0">
            <a:off x="8020050" y="2038350"/>
            <a:ext cx="3486150" cy="4171950"/>
          </a:xfrm>
          <a:prstGeom prst="roundRect">
            <a:avLst>
              <a:gd name="adj" fmla="val 2186"/>
            </a:avLst>
          </a:prstGeom>
          <a:solidFill>
            <a:srgbClr val="FFFFFF"/>
          </a:solidFill>
          <a:ln w="12700">
            <a:solidFill>
              <a:srgbClr val="E3E8EF"/>
            </a:solidFill>
            <a:prstDash val="solid"/>
          </a:ln>
        </p:spPr>
        <p:txBody>
          <a:bodyPr/>
          <a:p/>
        </p:txBody>
      </p:sp>
      <p:sp>
        <p:nvSpPr>
          <p:cNvPr id="3073" name=""/>
          <p:cNvSpPr/>
          <p:nvPr/>
        </p:nvSpPr>
        <p:spPr>
          <a:xfrm rot="0" flipH="0" flipV="0">
            <a:off x="8020050" y="203835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3074" name="" descr="{&quot;isTemplate&quot;:true,&quot;type&quot;:&quot;text&quot;}"/>
          <p:cNvSpPr txBox="1"/>
          <p:nvPr/>
        </p:nvSpPr>
        <p:spPr>
          <a:xfrm rot="0" flipH="0" flipV="0">
            <a:off x="8210550" y="2266950"/>
            <a:ext cx="3105150" cy="342900"/>
          </a:xfrm>
          <a:prstGeom prst="rect"/>
        </p:spPr>
        <p:txBody>
          <a:bodyPr wrap="none" lIns="0" tIns="0" rIns="0" bIns="0"/>
          <a:p>
            <a:pPr>
              <a:lnSpc>
                <a:spcPct val="140000"/>
              </a:lnSpc>
            </a:pPr>
            <a:r>
              <a:rPr lang="zh-CN" sz="1575" b="1">
                <a:solidFill>
                  <a:srgbClr val="0E2340"/>
                </a:solidFill>
                <a:latin typeface="Microsoft YaHei"/>
                <a:ea typeface="Microsoft YaHei"/>
              </a:rPr>
              <a:t>降级明确</a:t>
            </a:r>
            <a:endParaRPr/>
          </a:p>
        </p:txBody>
      </p:sp>
      <p:sp>
        <p:nvSpPr>
          <p:cNvPr id="3075" name="" descr="{&quot;isTemplate&quot;:true,&quot;type&quot;:&quot;text&quot;}"/>
          <p:cNvSpPr txBox="1"/>
          <p:nvPr/>
        </p:nvSpPr>
        <p:spPr>
          <a:xfrm rot="0" flipH="0" flipV="0">
            <a:off x="8210550" y="2705100"/>
            <a:ext cx="3105150" cy="6286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某宿主能力不足时提供明确降级，不生成看似成功但无法访问的结果。</a:t>
            </a:r>
            <a:endParaRPr/>
          </a:p>
        </p:txBody>
      </p:sp>
      <p:sp>
        <p:nvSpPr>
          <p:cNvPr id="3076"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3077" name="" descr="{&quot;isTemplate&quot;:true,&quot;type&quot;:&quot;text&quot;}"/>
          <p:cNvSpPr txBox="1"/>
          <p:nvPr/>
        </p:nvSpPr>
        <p:spPr>
          <a:xfrm rot="0" flipH="0" flipV="0">
            <a:off x="666750" y="6381750"/>
            <a:ext cx="2819400" cy="209550"/>
          </a:xfrm>
          <a:prstGeom prst="rect"/>
        </p:spPr>
        <p:txBody>
          <a:bodyPr wrap="none" lIns="0" tIns="0" rIns="0" bIns="0"/>
          <a:p>
            <a:pPr>
              <a:lnSpc>
                <a:spcPct val="140000"/>
              </a:lnSpc>
            </a:pPr>
            <a:r>
              <a:rPr lang="zh-CN" sz="975">
                <a:solidFill>
                  <a:srgbClr val="7A8699"/>
                </a:solidFill>
                <a:latin typeface="Microsoft YaHei"/>
                <a:ea typeface="Microsoft YaHei"/>
              </a:rPr>
              <a:t>依据：系统</a:t>
            </a:r>
            <a:r>
              <a:rPr lang="en-US" sz="975">
                <a:solidFill>
                  <a:srgbClr val="7A8699"/>
                </a:solidFill>
                <a:latin typeface="Microsoft YaHei"/>
                <a:ea typeface="Microsoft YaHei"/>
              </a:rPr>
              <a:t>Agent</a:t>
            </a:r>
            <a:r>
              <a:rPr lang="zh-CN" sz="975">
                <a:solidFill>
                  <a:srgbClr val="7A8699"/>
                </a:solidFill>
                <a:latin typeface="Microsoft YaHei"/>
                <a:ea typeface="Microsoft YaHei"/>
              </a:rPr>
              <a:t>适配与</a:t>
            </a:r>
            <a:r>
              <a:rPr lang="en-US" sz="975">
                <a:solidFill>
                  <a:srgbClr val="7A8699"/>
                </a:solidFill>
                <a:latin typeface="Microsoft YaHei"/>
                <a:ea typeface="Microsoft YaHei"/>
              </a:rPr>
              <a:t>MCP</a:t>
            </a:r>
            <a:r>
              <a:rPr lang="zh-CN" sz="975">
                <a:solidFill>
                  <a:srgbClr val="7A8699"/>
                </a:solidFill>
                <a:latin typeface="Microsoft YaHei"/>
                <a:ea typeface="Microsoft YaHei"/>
              </a:rPr>
              <a:t>插件接入设计</a:t>
            </a:r>
            <a:r>
              <a:rPr lang="en-US" sz="975">
                <a:solidFill>
                  <a:srgbClr val="7A8699"/>
                </a:solidFill>
                <a:latin typeface="Microsoft YaHei"/>
                <a:ea typeface="Microsoft YaHei"/>
              </a:rPr>
              <a:t>.md §5.4</a:t>
            </a:r>
            <a:endParaRPr/>
          </a:p>
        </p:txBody>
      </p:sp>
      <p:sp>
        <p:nvSpPr>
          <p:cNvPr id="3078"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92 / 124 </a:t>
            </a:r>
            <a:endParaRPr/>
          </a:p>
        </p:txBody>
      </p:sp>
    </p:spTree>
  </p:cSld>
</p:sld>
</file>

<file path=ppt/slides/slide93.xml><?xml version="1.0" encoding="utf-8"?>
<p:sld xmlns:p="http://schemas.openxmlformats.org/presentationml/2006/main" xmlns:a="http://schemas.openxmlformats.org/drawingml/2006/main">
  <p:cSld>
    <p:spTree>
      <p:nvGrpSpPr>
        <p:cNvPr id="3079"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9 / MCP 接入&lt;/Text&gt;&lt;Text style={{ fontSize: 32, color: '#0E2340', fontWeight: 700, lineHeight: 1.3 }}&gt;两套宿主的适配路径&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8 }}&gt;&lt;Box style={{ flexDirection: 'row', gap: 20 }}&gt;&lt;Box style={{ width: 56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700, lineHeight: 1.4 }}&gt;DeepSeek 官方 Harness（DSH）&lt;/Text&gt;&lt;Box style={{ flexDirection: 'column', gap: 10 }}&gt;&lt;Box style={{ flexDirection: 'row', gap: 12, alignItems: 'flex-start' }}&gt;&lt;Box style={{ width: 8, height: 8, borderRadius: 4, background: '#1E7BE0', marginTop: 9 }} /&gt;&lt;Box style={{ flex: 1 }}&gt;&lt;Text style={{ fontSize: 16, color: '#333A45', fontWeight: 400, lineHeight: 1.6 }}&gt;两层路径：先配置 dsh-mcp-client 桥接连接 StudyAgent 服务，验证查询和任务恢复；再按需制作原生插件。&lt;/Text&gt;&lt;/Box&gt;&lt;/Box&gt;&lt;Box style={{ flexDirection: 'row', gap: 12, alignItems: 'flex-start' }}&gt;&lt;Box style={{ width: 8, height: 8, borderRadius: 4, background: '#1E7BE0', marginTop: 9 }} /&gt;&lt;Box style={{ flex: 1 }}&gt;&lt;Text style={{ fontSize: 16, color: '#333A45', fontWeight: 400, lineHeight: 1.6 }}&gt;桥接支持本地 stdio 与远程 Streamable HTTP，注册带服务器命名空间的工具。&lt;/Text&gt;&lt;/Box&gt;&lt;/Box&gt;&lt;Box style={{ flexDirection: 'row', gap: 12, alignItems: 'flex-start' }}&gt;&lt;Box style={{ width: 8, height: 8, borderRadius: 4, background: '#1E7BE0', marginTop: 9 }} /&gt;&lt;Box style={{ flex: 1 }}&gt;&lt;Text style={{ fontSize: 16, color: '#333A45', fontWeight: 400, lineHeight: 1.6 }}&gt;注意：MCP prompt templates 不受支持；官方 README 标为开发者预览，兼容范围需按实际版本验证。&lt;/Text&gt;&lt;/Box&gt;&lt;/Box&gt;&lt;/Box&gt;&lt;/Box&gt;&lt;/Box&gt;&lt;Box style={{ width: 56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700, lineHeight: 1.4 }}&gt;WorkBuddy&lt;/Text&gt;&lt;Box style={{ flexDirection: 'column', gap: 10 }}&gt;&lt;Box style={{ flexDirection: 'row', gap: 12, alignItems: 'flex-start' }}&gt;&lt;Box style={{ width: 8, height: 8, borderRadius: 4, background: '#1E7BE0', marginTop: 9 }} /&gt;&lt;Box style={{ flex: 1 }}&gt;&lt;Text style={{ fontSize: 16, color: '#333A45', fontWeight: 400, lineHeight: 1.6 }}&gt;官方连接器文档提供 MCP＋Skill 接入，含连接器元数据、MCP 配置、认证方式与最低版本约束。&lt;/Text&gt;&lt;/Box&gt;&lt;/Box&gt;&lt;Box style={{ flexDirection: 'row', gap: 12, alignItems: 'flex-start' }}&gt;&lt;Box style={{ width: 8, height: 8, borderRadius: 4, background: '#1E7BE0', marginTop: 9 }} /&gt;&lt;Box style={{ flex: 1 }}&gt;&lt;Text style={{ fontSize: 16, color: '#333A45', fontWeight: 400, lineHeight: 1.6 }}&gt;两种包装分别交付：连接器供任意合适的 Agent 使用；教育专家提供更明确的学生 / 教师 / 学校工作流。&lt;/Text&gt;&lt;/Box&gt;&lt;/Box&gt;&lt;Box style={{ flexDirection: 'row', gap: 12, alignItems: 'flex-start' }}&gt;&lt;Box style={{ width: 8, height: 8, borderRadius: 4, background: '#1E7BE0', marginTop: 9 }} /&gt;&lt;Box style={{ flex: 1 }}&gt;&lt;Text style={{ fontSize: 16, color: '#333A45', fontWeight: 400, lineHeight: 1.6 }}&gt;首期优先验证连接器，专家包在业务稳定后补齐；不能只验证 CLI 清单便声称桌面专家安装与连接均成功。&lt;/Text&gt;&lt;/Box&gt;&lt;/Box&gt;&lt;/Box&gt;&lt;/Box&gt;&lt;/Box&gt;&lt;/Box&gt;&lt;Box style={{ flexDirection: 'row', alignItems: 'center', background: '#F5F7FA', borderLeft: '4px solid #1E7BE0', borderRadius: 6, padding: '14px 20px' }}&gt;&lt;Text style={{ fontSize: 16, color: '#0E2340', fontWeight: 600, lineHeight: 1.5 }}&gt;兼容性：应记录 SDK、协议和客户端兼容矩阵；现有网页登录成功不能替代外部工具授权成功&lt;/Text&gt;&lt;/Box&gt;&lt;/Box&gt;&lt;/Box&gt;&lt;Box style={{ height: 40, flexDirection: 'row', justifyContent: 'space-between', alignItems: 'center', borderTop: '1px solid #E3E8EF', marginTop: 8 }}&gt;&lt;Text style={{ fontSize: 13, color: '#7A8699', fontWeight: 400, lineHeight: 1.4 }}&gt;依据：系统Agent适配与MCP插件接入设计.md §6–§8&lt;/Text&gt;&lt;Text style={{ fontSize: 14, color: '#7A8699', fontWeight: 400, lineHeight: 1.4 }}&gt; 93 / 124 &lt;/Text&gt;&lt;/Box&gt;&lt;/Slide&gt;"/>
        <p:cNvGrpSpPr/>
        <p:nvPr/>
      </p:nvGrpSpPr>
      <p:grpSpPr>
        <a:xfrm>
          <a:off x="0" y="0"/>
          <a:ext cx="0" cy="0"/>
          <a:chOff x="0" y="0"/>
          <a:chExt cx="0" cy="0"/>
        </a:xfrm>
      </p:grpSpPr>
      <p:sp>
        <p:nvSpPr>
          <p:cNvPr id="3080" name=""/>
          <p:cNvSpPr/>
          <p:nvPr/>
        </p:nvSpPr>
        <p:spPr>
          <a:xfrm rot="0" flipH="0" flipV="0">
            <a:off x="0" y="0"/>
            <a:ext cx="12192000" cy="6858000"/>
          </a:xfrm>
          <a:prstGeom prst="rect">
            <a:avLst/>
          </a:prstGeom>
          <a:solidFill>
            <a:srgbClr val="FFFFFF"/>
          </a:solidFill>
          <a:ln/>
        </p:spPr>
        <p:txBody>
          <a:bodyPr/>
          <a:p/>
        </p:txBody>
      </p:sp>
      <p:sp>
        <p:nvSpPr>
          <p:cNvPr id="3081" name="" descr="{&quot;isTemplate&quot;:true,&quot;type&quot;:&quot;text&quot;}"/>
          <p:cNvSpPr txBox="1"/>
          <p:nvPr/>
        </p:nvSpPr>
        <p:spPr>
          <a:xfrm rot="0" flipH="0" flipV="0">
            <a:off x="666750" y="381000"/>
            <a:ext cx="27432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09 / MCP </a:t>
            </a:r>
            <a:r>
              <a:rPr lang="zh-CN" sz="1050" spc="75">
                <a:solidFill>
                  <a:srgbClr val="7A8699"/>
                </a:solidFill>
                <a:latin typeface="Microsoft YaHei"/>
                <a:ea typeface="Microsoft YaHei"/>
              </a:rPr>
              <a:t>接入</a:t>
            </a:r>
            <a:endParaRPr/>
          </a:p>
        </p:txBody>
      </p:sp>
      <p:sp>
        <p:nvSpPr>
          <p:cNvPr id="3082" name="" descr="{&quot;isTemplate&quot;:true,&quot;type&quot;:&quot;text&quot;}"/>
          <p:cNvSpPr txBox="1"/>
          <p:nvPr/>
        </p:nvSpPr>
        <p:spPr>
          <a:xfrm rot="0" flipH="0" flipV="0">
            <a:off x="666750" y="666750"/>
            <a:ext cx="2743200" cy="476250"/>
          </a:xfrm>
          <a:prstGeom prst="rect"/>
        </p:spPr>
        <p:txBody>
          <a:bodyPr wrap="none" lIns="0" tIns="0" rIns="0" bIns="0"/>
          <a:p>
            <a:pPr>
              <a:lnSpc>
                <a:spcPct val="130000"/>
              </a:lnSpc>
            </a:pPr>
            <a:r>
              <a:rPr lang="zh-CN" sz="2400" b="1">
                <a:solidFill>
                  <a:srgbClr val="0E2340"/>
                </a:solidFill>
                <a:latin typeface="Microsoft YaHei"/>
                <a:ea typeface="Microsoft YaHei"/>
              </a:rPr>
              <a:t>两套宿主的适配路径</a:t>
            </a:r>
            <a:endParaRPr/>
          </a:p>
        </p:txBody>
      </p:sp>
      <p:sp>
        <p:nvSpPr>
          <p:cNvPr id="3083"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3084"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3085" name=""/>
          <p:cNvSpPr/>
          <p:nvPr/>
        </p:nvSpPr>
        <p:spPr>
          <a:xfrm rot="0" flipH="0" flipV="0">
            <a:off x="666750" y="1952625"/>
            <a:ext cx="5334000" cy="2819400"/>
          </a:xfrm>
          <a:prstGeom prst="roundRect">
            <a:avLst>
              <a:gd name="adj" fmla="val 2703"/>
            </a:avLst>
          </a:prstGeom>
          <a:solidFill>
            <a:srgbClr val="FFFFFF"/>
          </a:solidFill>
          <a:ln w="12700">
            <a:solidFill>
              <a:srgbClr val="E3E8EF"/>
            </a:solidFill>
            <a:prstDash val="solid"/>
          </a:ln>
        </p:spPr>
        <p:txBody>
          <a:bodyPr/>
          <a:p/>
        </p:txBody>
      </p:sp>
      <p:sp>
        <p:nvSpPr>
          <p:cNvPr id="3086" name=""/>
          <p:cNvSpPr/>
          <p:nvPr/>
        </p:nvSpPr>
        <p:spPr>
          <a:xfrm rot="0" flipH="0" flipV="0">
            <a:off x="666750" y="1952625"/>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3087" name="" descr="{&quot;isTemplate&quot;:true,&quot;type&quot;:&quot;text&quot;}"/>
          <p:cNvSpPr txBox="1"/>
          <p:nvPr/>
        </p:nvSpPr>
        <p:spPr>
          <a:xfrm rot="0" flipH="0" flipV="0">
            <a:off x="857250" y="2181225"/>
            <a:ext cx="4953000" cy="342900"/>
          </a:xfrm>
          <a:prstGeom prst="rect"/>
        </p:spPr>
        <p:txBody>
          <a:bodyPr wrap="none" lIns="0" tIns="0" rIns="0" bIns="0"/>
          <a:p>
            <a:pPr>
              <a:lnSpc>
                <a:spcPct val="140000"/>
              </a:lnSpc>
            </a:pPr>
            <a:r>
              <a:rPr lang="en-US" sz="1575" b="1">
                <a:solidFill>
                  <a:srgbClr val="0E2340"/>
                </a:solidFill>
                <a:latin typeface="Microsoft YaHei"/>
                <a:ea typeface="Microsoft YaHei"/>
              </a:rPr>
              <a:t xml:space="preserve">DeepSeek </a:t>
            </a:r>
            <a:r>
              <a:rPr lang="zh-CN" sz="1575" b="1">
                <a:solidFill>
                  <a:srgbClr val="0E2340"/>
                </a:solidFill>
                <a:latin typeface="Microsoft YaHei"/>
                <a:ea typeface="Microsoft YaHei"/>
              </a:rPr>
              <a:t>官方</a:t>
            </a:r>
            <a:r>
              <a:rPr lang="en-US" sz="1575" b="1">
                <a:solidFill>
                  <a:srgbClr val="0E2340"/>
                </a:solidFill>
                <a:latin typeface="Microsoft YaHei"/>
                <a:ea typeface="Microsoft YaHei"/>
              </a:rPr>
              <a:t xml:space="preserve"> Harness</a:t>
            </a:r>
            <a:r>
              <a:rPr lang="zh-CN" sz="1575" b="1">
                <a:solidFill>
                  <a:srgbClr val="0E2340"/>
                </a:solidFill>
                <a:latin typeface="Microsoft YaHei"/>
                <a:ea typeface="Microsoft YaHei"/>
              </a:rPr>
              <a:t>（</a:t>
            </a:r>
            <a:r>
              <a:rPr lang="en-US" sz="1575" b="1">
                <a:solidFill>
                  <a:srgbClr val="0E2340"/>
                </a:solidFill>
                <a:latin typeface="Microsoft YaHei"/>
                <a:ea typeface="Microsoft YaHei"/>
              </a:rPr>
              <a:t>DSH</a:t>
            </a:r>
            <a:r>
              <a:rPr lang="zh-CN" sz="1575" b="1">
                <a:solidFill>
                  <a:srgbClr val="0E2340"/>
                </a:solidFill>
                <a:latin typeface="Microsoft YaHei"/>
                <a:ea typeface="Microsoft YaHei"/>
              </a:rPr>
              <a:t>）</a:t>
            </a:r>
            <a:endParaRPr/>
          </a:p>
        </p:txBody>
      </p:sp>
      <p:sp>
        <p:nvSpPr>
          <p:cNvPr id="3088" name=""/>
          <p:cNvSpPr/>
          <p:nvPr/>
        </p:nvSpPr>
        <p:spPr>
          <a:xfrm rot="0" flipH="0" flipV="0">
            <a:off x="857250" y="2705100"/>
            <a:ext cx="76200" cy="76200"/>
          </a:xfrm>
          <a:prstGeom prst="roundRect">
            <a:avLst>
              <a:gd name="adj" fmla="val 50000"/>
            </a:avLst>
          </a:prstGeom>
          <a:solidFill>
            <a:srgbClr val="1E7BE0"/>
          </a:solidFill>
          <a:ln/>
        </p:spPr>
        <p:txBody>
          <a:bodyPr/>
          <a:p/>
        </p:txBody>
      </p:sp>
      <p:sp>
        <p:nvSpPr>
          <p:cNvPr id="3089" name="" descr="{&quot;isTemplate&quot;:true,&quot;type&quot;:&quot;text&quot;}"/>
          <p:cNvSpPr txBox="1"/>
          <p:nvPr/>
        </p:nvSpPr>
        <p:spPr>
          <a:xfrm rot="0" flipH="0" flipV="0">
            <a:off x="1047750" y="2619375"/>
            <a:ext cx="47625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两层路径：先配置</a:t>
            </a:r>
            <a:r>
              <a:rPr lang="en-US" sz="1200">
                <a:solidFill>
                  <a:srgbClr val="333A45"/>
                </a:solidFill>
                <a:latin typeface="Microsoft YaHei"/>
                <a:ea typeface="Microsoft YaHei"/>
              </a:rPr>
              <a:t xml:space="preserve"> dsh-mcp-client </a:t>
            </a:r>
            <a:r>
              <a:rPr lang="zh-CN" sz="1200">
                <a:solidFill>
                  <a:srgbClr val="333A45"/>
                </a:solidFill>
                <a:latin typeface="Microsoft YaHei"/>
                <a:ea typeface="Microsoft YaHei"/>
              </a:rPr>
              <a:t>桥接连接</a:t>
            </a:r>
            <a:r>
              <a:rPr lang="en-US" sz="1200">
                <a:solidFill>
                  <a:srgbClr val="333A45"/>
                </a:solidFill>
                <a:latin typeface="Microsoft YaHei"/>
                <a:ea typeface="Microsoft YaHei"/>
              </a:rPr>
              <a:t xml:space="preserve"> StudyAgent </a:t>
            </a:r>
            <a:r>
              <a:rPr lang="zh-CN" sz="1200">
                <a:solidFill>
                  <a:srgbClr val="333A45"/>
                </a:solidFill>
                <a:latin typeface="Microsoft YaHei"/>
                <a:ea typeface="Microsoft YaHei"/>
              </a:rPr>
              <a:t>服务，验证查询和任务恢复；再按需制作原生插件。</a:t>
            </a:r>
            <a:endParaRPr/>
          </a:p>
        </p:txBody>
      </p:sp>
      <p:sp>
        <p:nvSpPr>
          <p:cNvPr id="3090" name=""/>
          <p:cNvSpPr/>
          <p:nvPr/>
        </p:nvSpPr>
        <p:spPr>
          <a:xfrm rot="0" flipH="0" flipV="0">
            <a:off x="857250" y="3390900"/>
            <a:ext cx="76200" cy="76200"/>
          </a:xfrm>
          <a:prstGeom prst="roundRect">
            <a:avLst>
              <a:gd name="adj" fmla="val 50000"/>
            </a:avLst>
          </a:prstGeom>
          <a:solidFill>
            <a:srgbClr val="1E7BE0"/>
          </a:solidFill>
          <a:ln/>
        </p:spPr>
        <p:txBody>
          <a:bodyPr/>
          <a:p/>
        </p:txBody>
      </p:sp>
      <p:sp>
        <p:nvSpPr>
          <p:cNvPr id="3091" name="" descr="{&quot;isTemplate&quot;:true,&quot;type&quot;:&quot;text&quot;}"/>
          <p:cNvSpPr txBox="1"/>
          <p:nvPr/>
        </p:nvSpPr>
        <p:spPr>
          <a:xfrm rot="0" flipH="0" flipV="0">
            <a:off x="1047750" y="3305175"/>
            <a:ext cx="47625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桥接支持本地</a:t>
            </a:r>
            <a:r>
              <a:rPr lang="en-US" sz="1200">
                <a:solidFill>
                  <a:srgbClr val="333A45"/>
                </a:solidFill>
                <a:latin typeface="Microsoft YaHei"/>
                <a:ea typeface="Microsoft YaHei"/>
              </a:rPr>
              <a:t xml:space="preserve"> stdio </a:t>
            </a:r>
            <a:r>
              <a:rPr lang="zh-CN" sz="1200">
                <a:solidFill>
                  <a:srgbClr val="333A45"/>
                </a:solidFill>
                <a:latin typeface="Microsoft YaHei"/>
                <a:ea typeface="Microsoft YaHei"/>
              </a:rPr>
              <a:t>与远程</a:t>
            </a:r>
            <a:r>
              <a:rPr lang="en-US" sz="1200">
                <a:solidFill>
                  <a:srgbClr val="333A45"/>
                </a:solidFill>
                <a:latin typeface="Microsoft YaHei"/>
                <a:ea typeface="Microsoft YaHei"/>
              </a:rPr>
              <a:t xml:space="preserve"> Streamable HTTP</a:t>
            </a:r>
            <a:r>
              <a:rPr lang="zh-CN" sz="1200">
                <a:solidFill>
                  <a:srgbClr val="333A45"/>
                </a:solidFill>
                <a:latin typeface="Microsoft YaHei"/>
                <a:ea typeface="Microsoft YaHei"/>
              </a:rPr>
              <a:t>，注册带服务器命名空间的工具。</a:t>
            </a:r>
            <a:endParaRPr/>
          </a:p>
        </p:txBody>
      </p:sp>
      <p:sp>
        <p:nvSpPr>
          <p:cNvPr id="3092" name=""/>
          <p:cNvSpPr/>
          <p:nvPr/>
        </p:nvSpPr>
        <p:spPr>
          <a:xfrm rot="0" flipH="0" flipV="0">
            <a:off x="857250" y="4076700"/>
            <a:ext cx="76200" cy="76200"/>
          </a:xfrm>
          <a:prstGeom prst="roundRect">
            <a:avLst>
              <a:gd name="adj" fmla="val 50000"/>
            </a:avLst>
          </a:prstGeom>
          <a:solidFill>
            <a:srgbClr val="1E7BE0"/>
          </a:solidFill>
          <a:ln/>
        </p:spPr>
        <p:txBody>
          <a:bodyPr/>
          <a:p/>
        </p:txBody>
      </p:sp>
      <p:sp>
        <p:nvSpPr>
          <p:cNvPr id="3093" name="" descr="{&quot;isTemplate&quot;:true,&quot;type&quot;:&quot;text&quot;}"/>
          <p:cNvSpPr txBox="1"/>
          <p:nvPr/>
        </p:nvSpPr>
        <p:spPr>
          <a:xfrm rot="0" flipH="0" flipV="0">
            <a:off x="1047750" y="3990975"/>
            <a:ext cx="47625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注意：</a:t>
            </a:r>
            <a:r>
              <a:rPr lang="en-US" sz="1200">
                <a:solidFill>
                  <a:srgbClr val="333A45"/>
                </a:solidFill>
                <a:latin typeface="Microsoft YaHei"/>
                <a:ea typeface="Microsoft YaHei"/>
              </a:rPr>
              <a:t xml:space="preserve">MCP prompt templates </a:t>
            </a:r>
            <a:r>
              <a:rPr lang="zh-CN" sz="1200">
                <a:solidFill>
                  <a:srgbClr val="333A45"/>
                </a:solidFill>
                <a:latin typeface="Microsoft YaHei"/>
                <a:ea typeface="Microsoft YaHei"/>
              </a:rPr>
              <a:t>不受支持；官方</a:t>
            </a:r>
            <a:r>
              <a:rPr lang="en-US" sz="1200">
                <a:solidFill>
                  <a:srgbClr val="333A45"/>
                </a:solidFill>
                <a:latin typeface="Microsoft YaHei"/>
                <a:ea typeface="Microsoft YaHei"/>
              </a:rPr>
              <a:t xml:space="preserve"> README </a:t>
            </a:r>
            <a:r>
              <a:rPr lang="zh-CN" sz="1200">
                <a:solidFill>
                  <a:srgbClr val="333A45"/>
                </a:solidFill>
                <a:latin typeface="Microsoft YaHei"/>
                <a:ea typeface="Microsoft YaHei"/>
              </a:rPr>
              <a:t>标为开发者预览，兼容范围需按实际版本验证。</a:t>
            </a:r>
            <a:endParaRPr/>
          </a:p>
        </p:txBody>
      </p:sp>
      <p:sp>
        <p:nvSpPr>
          <p:cNvPr id="3094" name=""/>
          <p:cNvSpPr/>
          <p:nvPr/>
        </p:nvSpPr>
        <p:spPr>
          <a:xfrm rot="0" flipH="0" flipV="0">
            <a:off x="6191250" y="1952625"/>
            <a:ext cx="5334000" cy="2819400"/>
          </a:xfrm>
          <a:prstGeom prst="roundRect">
            <a:avLst>
              <a:gd name="adj" fmla="val 2703"/>
            </a:avLst>
          </a:prstGeom>
          <a:solidFill>
            <a:srgbClr val="FFFFFF"/>
          </a:solidFill>
          <a:ln w="12700">
            <a:solidFill>
              <a:srgbClr val="E3E8EF"/>
            </a:solidFill>
            <a:prstDash val="solid"/>
          </a:ln>
        </p:spPr>
        <p:txBody>
          <a:bodyPr/>
          <a:p/>
        </p:txBody>
      </p:sp>
      <p:sp>
        <p:nvSpPr>
          <p:cNvPr id="3095" name=""/>
          <p:cNvSpPr/>
          <p:nvPr/>
        </p:nvSpPr>
        <p:spPr>
          <a:xfrm rot="0" flipH="0" flipV="0">
            <a:off x="6191250" y="1952625"/>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3096" name="" descr="{&quot;isTemplate&quot;:true,&quot;type&quot;:&quot;text&quot;}"/>
          <p:cNvSpPr txBox="1"/>
          <p:nvPr/>
        </p:nvSpPr>
        <p:spPr>
          <a:xfrm rot="0" flipH="0" flipV="0">
            <a:off x="6381750" y="2181225"/>
            <a:ext cx="4953000" cy="342900"/>
          </a:xfrm>
          <a:prstGeom prst="rect"/>
        </p:spPr>
        <p:txBody>
          <a:bodyPr wrap="none" lIns="0" tIns="0" rIns="0" bIns="0"/>
          <a:p>
            <a:pPr>
              <a:lnSpc>
                <a:spcPct val="140000"/>
              </a:lnSpc>
            </a:pPr>
            <a:r>
              <a:rPr lang="en-US" sz="1575" b="1">
                <a:solidFill>
                  <a:srgbClr val="0E2340"/>
                </a:solidFill>
                <a:latin typeface="Microsoft YaHei"/>
                <a:ea typeface="Microsoft YaHei"/>
              </a:rPr>
              <a:t>WorkBuddy</a:t>
            </a:r>
            <a:endParaRPr/>
          </a:p>
        </p:txBody>
      </p:sp>
      <p:sp>
        <p:nvSpPr>
          <p:cNvPr id="3097" name=""/>
          <p:cNvSpPr/>
          <p:nvPr/>
        </p:nvSpPr>
        <p:spPr>
          <a:xfrm rot="0" flipH="0" flipV="0">
            <a:off x="6381750" y="2705100"/>
            <a:ext cx="76200" cy="76200"/>
          </a:xfrm>
          <a:prstGeom prst="roundRect">
            <a:avLst>
              <a:gd name="adj" fmla="val 50000"/>
            </a:avLst>
          </a:prstGeom>
          <a:solidFill>
            <a:srgbClr val="1E7BE0"/>
          </a:solidFill>
          <a:ln/>
        </p:spPr>
        <p:txBody>
          <a:bodyPr/>
          <a:p/>
        </p:txBody>
      </p:sp>
      <p:sp>
        <p:nvSpPr>
          <p:cNvPr id="3098" name="" descr="{&quot;isTemplate&quot;:true,&quot;type&quot;:&quot;text&quot;}"/>
          <p:cNvSpPr txBox="1"/>
          <p:nvPr/>
        </p:nvSpPr>
        <p:spPr>
          <a:xfrm rot="0" flipH="0" flipV="0">
            <a:off x="6572250" y="2619375"/>
            <a:ext cx="47625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官方连接器文档提供</a:t>
            </a:r>
            <a:r>
              <a:rPr lang="en-US" sz="1200">
                <a:solidFill>
                  <a:srgbClr val="333A45"/>
                </a:solidFill>
                <a:latin typeface="Microsoft YaHei"/>
                <a:ea typeface="Microsoft YaHei"/>
              </a:rPr>
              <a:t xml:space="preserve"> MCP</a:t>
            </a:r>
            <a:r>
              <a:rPr lang="zh-CN" sz="1200">
                <a:solidFill>
                  <a:srgbClr val="333A45"/>
                </a:solidFill>
                <a:latin typeface="Microsoft YaHei"/>
                <a:ea typeface="Microsoft YaHei"/>
              </a:rPr>
              <a:t>＋</a:t>
            </a:r>
            <a:r>
              <a:rPr lang="en-US" sz="1200">
                <a:solidFill>
                  <a:srgbClr val="333A45"/>
                </a:solidFill>
                <a:latin typeface="Microsoft YaHei"/>
                <a:ea typeface="Microsoft YaHei"/>
              </a:rPr>
              <a:t xml:space="preserve">Skill </a:t>
            </a:r>
            <a:r>
              <a:rPr lang="zh-CN" sz="1200">
                <a:solidFill>
                  <a:srgbClr val="333A45"/>
                </a:solidFill>
                <a:latin typeface="Microsoft YaHei"/>
                <a:ea typeface="Microsoft YaHei"/>
              </a:rPr>
              <a:t>接入，含连接器元数据、</a:t>
            </a:r>
            <a:r>
              <a:rPr lang="en-US" sz="1200">
                <a:solidFill>
                  <a:srgbClr val="333A45"/>
                </a:solidFill>
                <a:latin typeface="Microsoft YaHei"/>
                <a:ea typeface="Microsoft YaHei"/>
              </a:rPr>
              <a:t xml:space="preserve">MCP </a:t>
            </a:r>
            <a:r>
              <a:rPr lang="zh-CN" sz="1200">
                <a:solidFill>
                  <a:srgbClr val="333A45"/>
                </a:solidFill>
                <a:latin typeface="Microsoft YaHei"/>
                <a:ea typeface="Microsoft YaHei"/>
              </a:rPr>
              <a:t>配置、认证方式与最低版本约束。</a:t>
            </a:r>
            <a:endParaRPr/>
          </a:p>
        </p:txBody>
      </p:sp>
      <p:sp>
        <p:nvSpPr>
          <p:cNvPr id="3099" name=""/>
          <p:cNvSpPr/>
          <p:nvPr/>
        </p:nvSpPr>
        <p:spPr>
          <a:xfrm rot="0" flipH="0" flipV="0">
            <a:off x="6381750" y="3390900"/>
            <a:ext cx="76200" cy="76200"/>
          </a:xfrm>
          <a:prstGeom prst="roundRect">
            <a:avLst>
              <a:gd name="adj" fmla="val 50000"/>
            </a:avLst>
          </a:prstGeom>
          <a:solidFill>
            <a:srgbClr val="1E7BE0"/>
          </a:solidFill>
          <a:ln/>
        </p:spPr>
        <p:txBody>
          <a:bodyPr/>
          <a:p/>
        </p:txBody>
      </p:sp>
      <p:sp>
        <p:nvSpPr>
          <p:cNvPr id="3100" name="" descr="{&quot;isTemplate&quot;:true,&quot;type&quot;:&quot;text&quot;}"/>
          <p:cNvSpPr txBox="1"/>
          <p:nvPr/>
        </p:nvSpPr>
        <p:spPr>
          <a:xfrm rot="0" flipH="0" flipV="0">
            <a:off x="6572250" y="3305175"/>
            <a:ext cx="47625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两种包装分别交付：连接器供任意合适的</a:t>
            </a:r>
            <a:r>
              <a:rPr lang="en-US" sz="1200">
                <a:solidFill>
                  <a:srgbClr val="333A45"/>
                </a:solidFill>
                <a:latin typeface="Microsoft YaHei"/>
                <a:ea typeface="Microsoft YaHei"/>
              </a:rPr>
              <a:t xml:space="preserve"> Agent </a:t>
            </a:r>
            <a:r>
              <a:rPr lang="zh-CN" sz="1200">
                <a:solidFill>
                  <a:srgbClr val="333A45"/>
                </a:solidFill>
                <a:latin typeface="Microsoft YaHei"/>
                <a:ea typeface="Microsoft YaHei"/>
              </a:rPr>
              <a:t>使用；教育专家提供更明确的学生</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教师</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学校工作流。</a:t>
            </a:r>
            <a:endParaRPr/>
          </a:p>
        </p:txBody>
      </p:sp>
      <p:sp>
        <p:nvSpPr>
          <p:cNvPr id="3101" name=""/>
          <p:cNvSpPr/>
          <p:nvPr/>
        </p:nvSpPr>
        <p:spPr>
          <a:xfrm rot="0" flipH="0" flipV="0">
            <a:off x="6381750" y="4076700"/>
            <a:ext cx="76200" cy="76200"/>
          </a:xfrm>
          <a:prstGeom prst="roundRect">
            <a:avLst>
              <a:gd name="adj" fmla="val 50000"/>
            </a:avLst>
          </a:prstGeom>
          <a:solidFill>
            <a:srgbClr val="1E7BE0"/>
          </a:solidFill>
          <a:ln/>
        </p:spPr>
        <p:txBody>
          <a:bodyPr/>
          <a:p/>
        </p:txBody>
      </p:sp>
      <p:sp>
        <p:nvSpPr>
          <p:cNvPr id="3102" name="" descr="{&quot;isTemplate&quot;:true,&quot;type&quot;:&quot;text&quot;}"/>
          <p:cNvSpPr txBox="1"/>
          <p:nvPr/>
        </p:nvSpPr>
        <p:spPr>
          <a:xfrm rot="0" flipH="0" flipV="0">
            <a:off x="6572250" y="3990975"/>
            <a:ext cx="47625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首期优先验证连接器，专家包在业务稳定后补齐；不能只验证</a:t>
            </a:r>
            <a:r>
              <a:rPr lang="en-US" sz="1200">
                <a:solidFill>
                  <a:srgbClr val="333A45"/>
                </a:solidFill>
                <a:latin typeface="Microsoft YaHei"/>
                <a:ea typeface="Microsoft YaHei"/>
              </a:rPr>
              <a:t xml:space="preserve"> CLI </a:t>
            </a:r>
            <a:r>
              <a:rPr lang="zh-CN" sz="1200">
                <a:solidFill>
                  <a:srgbClr val="333A45"/>
                </a:solidFill>
                <a:latin typeface="Microsoft YaHei"/>
                <a:ea typeface="Microsoft YaHei"/>
              </a:rPr>
              <a:t>清单便声称桌面专家安装与连接均成功。</a:t>
            </a:r>
            <a:endParaRPr/>
          </a:p>
        </p:txBody>
      </p:sp>
      <p:sp>
        <p:nvSpPr>
          <p:cNvPr id="3103" name=""/>
          <p:cNvSpPr/>
          <p:nvPr/>
        </p:nvSpPr>
        <p:spPr>
          <a:xfrm rot="0" flipH="0" flipV="0">
            <a:off x="704850" y="4943475"/>
            <a:ext cx="10858500" cy="542925"/>
          </a:xfrm>
          <a:prstGeom prst="roundRect">
            <a:avLst>
              <a:gd name="adj" fmla="val 10526"/>
            </a:avLst>
          </a:prstGeom>
          <a:solidFill>
            <a:srgbClr val="F5F7FA"/>
          </a:solidFill>
          <a:ln/>
        </p:spPr>
        <p:txBody>
          <a:bodyPr/>
          <a:p/>
        </p:txBody>
      </p:sp>
      <p:sp>
        <p:nvSpPr>
          <p:cNvPr id="3104" name=""/>
          <p:cNvSpPr/>
          <p:nvPr/>
        </p:nvSpPr>
        <p:spPr>
          <a:xfrm rot="0" flipH="0" flipV="0">
            <a:off x="704850" y="4943475"/>
            <a:ext cx="10858500" cy="542925"/>
          </a:xfrm>
          <a:custGeom>
            <a:pathLst>
              <a:path w="1140" h="57">
                <a:moveTo>
                  <a:pt x="6" y="0"/>
                </a:moveTo>
                <a:cubicBezTo>
                  <a:pt x="5" y="0"/>
                  <a:pt x="4" y="1"/>
                  <a:pt x="4" y="2"/>
                </a:cubicBezTo>
                <a:lnTo>
                  <a:pt x="4" y="55"/>
                </a:lnTo>
                <a:cubicBezTo>
                  <a:pt x="4" y="56"/>
                  <a:pt x="5" y="57"/>
                  <a:pt x="6" y="57"/>
                </a:cubicBezTo>
                <a:cubicBezTo>
                  <a:pt x="3" y="57"/>
                  <a:pt x="0" y="54"/>
                  <a:pt x="0" y="51"/>
                </a:cubicBezTo>
                <a:lnTo>
                  <a:pt x="0" y="6"/>
                </a:lnTo>
                <a:cubicBezTo>
                  <a:pt x="0" y="3"/>
                  <a:pt x="3" y="0"/>
                  <a:pt x="6" y="0"/>
                </a:cubicBezTo>
                <a:close/>
              </a:path>
            </a:pathLst>
          </a:custGeom>
          <a:solidFill>
            <a:srgbClr val="1E7BE0"/>
          </a:solidFill>
          <a:ln/>
        </p:spPr>
        <p:txBody>
          <a:bodyPr/>
          <a:p/>
        </p:txBody>
      </p:sp>
      <p:sp>
        <p:nvSpPr>
          <p:cNvPr id="3105" name="" descr="{&quot;isTemplate&quot;:true,&quot;type&quot;:&quot;text&quot;}"/>
          <p:cNvSpPr txBox="1"/>
          <p:nvPr/>
        </p:nvSpPr>
        <p:spPr>
          <a:xfrm rot="0" flipH="0" flipV="0">
            <a:off x="895350" y="5076825"/>
            <a:ext cx="6315075" cy="276225"/>
          </a:xfrm>
          <a:prstGeom prst="rect"/>
        </p:spPr>
        <p:txBody>
          <a:bodyPr wrap="none" lIns="0" tIns="0" rIns="0" bIns="0"/>
          <a:p>
            <a:pPr>
              <a:lnSpc>
                <a:spcPct val="150000"/>
              </a:lnSpc>
            </a:pPr>
            <a:r>
              <a:rPr lang="zh-CN" sz="1200" b="1">
                <a:solidFill>
                  <a:srgbClr val="0E2340"/>
                </a:solidFill>
                <a:latin typeface="Microsoft YaHei"/>
                <a:ea typeface="Microsoft YaHei"/>
              </a:rPr>
              <a:t>兼容性：应记录</a:t>
            </a:r>
            <a:r>
              <a:rPr lang="en-US" sz="1200" b="1">
                <a:solidFill>
                  <a:srgbClr val="0E2340"/>
                </a:solidFill>
                <a:latin typeface="Microsoft YaHei"/>
                <a:ea typeface="Microsoft YaHei"/>
              </a:rPr>
              <a:t xml:space="preserve"> SDK</a:t>
            </a:r>
            <a:r>
              <a:rPr lang="zh-CN" sz="1200" b="1">
                <a:solidFill>
                  <a:srgbClr val="0E2340"/>
                </a:solidFill>
                <a:latin typeface="Microsoft YaHei"/>
                <a:ea typeface="Microsoft YaHei"/>
              </a:rPr>
              <a:t>、协议和客户端兼容矩阵；现有网页登录成功不能替代外部工具授权成功</a:t>
            </a:r>
            <a:endParaRPr/>
          </a:p>
        </p:txBody>
      </p:sp>
      <p:sp>
        <p:nvSpPr>
          <p:cNvPr id="3106"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3107" name="" descr="{&quot;isTemplate&quot;:true,&quot;type&quot;:&quot;text&quot;}"/>
          <p:cNvSpPr txBox="1"/>
          <p:nvPr/>
        </p:nvSpPr>
        <p:spPr>
          <a:xfrm rot="0" flipH="0" flipV="0">
            <a:off x="666750" y="6381750"/>
            <a:ext cx="2924175" cy="209550"/>
          </a:xfrm>
          <a:prstGeom prst="rect"/>
        </p:spPr>
        <p:txBody>
          <a:bodyPr wrap="none" lIns="0" tIns="0" rIns="0" bIns="0"/>
          <a:p>
            <a:pPr>
              <a:lnSpc>
                <a:spcPct val="140000"/>
              </a:lnSpc>
            </a:pPr>
            <a:r>
              <a:rPr lang="zh-CN" sz="975">
                <a:solidFill>
                  <a:srgbClr val="7A8699"/>
                </a:solidFill>
                <a:latin typeface="Microsoft YaHei"/>
                <a:ea typeface="Microsoft YaHei"/>
              </a:rPr>
              <a:t>依据：系统</a:t>
            </a:r>
            <a:r>
              <a:rPr lang="en-US" sz="975">
                <a:solidFill>
                  <a:srgbClr val="7A8699"/>
                </a:solidFill>
                <a:latin typeface="Microsoft YaHei"/>
                <a:ea typeface="Microsoft YaHei"/>
              </a:rPr>
              <a:t>Agent</a:t>
            </a:r>
            <a:r>
              <a:rPr lang="zh-CN" sz="975">
                <a:solidFill>
                  <a:srgbClr val="7A8699"/>
                </a:solidFill>
                <a:latin typeface="Microsoft YaHei"/>
                <a:ea typeface="Microsoft YaHei"/>
              </a:rPr>
              <a:t>适配与</a:t>
            </a:r>
            <a:r>
              <a:rPr lang="en-US" sz="975">
                <a:solidFill>
                  <a:srgbClr val="7A8699"/>
                </a:solidFill>
                <a:latin typeface="Microsoft YaHei"/>
                <a:ea typeface="Microsoft YaHei"/>
              </a:rPr>
              <a:t>MCP</a:t>
            </a:r>
            <a:r>
              <a:rPr lang="zh-CN" sz="975">
                <a:solidFill>
                  <a:srgbClr val="7A8699"/>
                </a:solidFill>
                <a:latin typeface="Microsoft YaHei"/>
                <a:ea typeface="Microsoft YaHei"/>
              </a:rPr>
              <a:t>插件接入设计</a:t>
            </a:r>
            <a:r>
              <a:rPr lang="en-US" sz="975">
                <a:solidFill>
                  <a:srgbClr val="7A8699"/>
                </a:solidFill>
                <a:latin typeface="Microsoft YaHei"/>
                <a:ea typeface="Microsoft YaHei"/>
              </a:rPr>
              <a:t>.md §6–§8</a:t>
            </a:r>
            <a:endParaRPr/>
          </a:p>
        </p:txBody>
      </p:sp>
      <p:sp>
        <p:nvSpPr>
          <p:cNvPr id="3108"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93 / 124 </a:t>
            </a:r>
            <a:endParaRPr/>
          </a:p>
        </p:txBody>
      </p:sp>
    </p:spTree>
  </p:cSld>
</p:sld>
</file>

<file path=ppt/slides/slide94.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3109"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09 / MCP 接入&lt;/Text&gt;&lt;Text style={{ fontSize: 32, color: '#0E2340', fontWeight: 700, lineHeight: 1.3 }}&gt;建议实施顺序与验收清单&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6 }}&gt;&lt;Box style={{ flexDirection: 'column', gap: 16, flex: 1, justifyContent: 'center' }}&gt;&lt;svg width={1140} height={290} viewBox='0 0 1140 290'&gt;&lt;rect x='0' y='30' width='213' height='150' rx='8' fill='#FFFFFF' stroke='#1E7BE0' stroke-width='1.5'/&gt;&lt;rect x='0' y='30' width='213' height='6' rx='3' fill='#0E2340'/&gt;&lt;circle cx='26' cy='66' r='16' fill='#1E7BE0'/&gt;&lt;text x='26' y='72' font-size='16' fill='#FFFFFF' text-anchor='middle' font-weight='700'&gt;1&lt;/text&gt;&lt;text x='106.5' y='116' font-size='18' fill='#0E2340' text-anchor='middle' font-weight='600'&gt;整理业务能力与输出结构&lt;/text&gt;&lt;text x='106.5' y='146' font-size='14' fill='#7A8699' text-anchor='middle' font-weight='400'&gt;复用六类内部工具与后台任务&lt;/text&gt;&lt;path d='M214 105 l14 0' stroke='#1E7BE0' stroke-width='2'/&gt;&lt;path d='M228 105 l-7 -5 l0 10 z' fill='#1E7BE0'/&gt;&lt;rect x='231' y='30' width='213' height='150' rx='8' fill='#FFFFFF' stroke='#1E7BE0' stroke-width='1.5'/&gt;&lt;rect x='231' y='30' width='213' height='6' rx='3' fill='#0E2340'/&gt;&lt;circle cx='257' cy='66' r='16' fill='#1E7BE0'/&gt;&lt;text x='257' y='72' font-size='16' fill='#FFFFFF' text-anchor='middle' font-weight='700'&gt;2&lt;/text&gt;&lt;text x='337.5' y='116' font-size='18' fill='#0E2340' text-anchor='middle' font-weight='600'&gt;建立 MCP 原型&lt;/text&gt;&lt;text x='337.5' y='146' font-size='14' fill='#7A8699' text-anchor='middle' font-weight='400'&gt;只读查询 + 受控任务提交，脱敏样例&lt;/text&gt;&lt;path d='M445 105 l14 0' stroke='#1E7BE0' stroke-width='2'/&gt;&lt;path d='M459 105 l-7 -5 l0 10 z' fill='#1E7BE0'/&gt;&lt;rect x='462' y='30' width='213' height='150' rx='8' fill='#FFFFFF' stroke='#1E7BE0' stroke-width='1.5'/&gt;&lt;rect x='462' y='30' width='213' height='6' rx='3' fill='#0E2340'/&gt;&lt;circle cx='488' cy='66' r='16' fill='#1E7BE0'/&gt;&lt;text x='488' y='72' font-size='16' fill='#FFFFFF' text-anchor='middle' font-weight='700'&gt;3&lt;/text&gt;&lt;text x='568.5' y='116' font-size='18' fill='#0E2340' text-anchor='middle' font-weight='600'&gt;在 DSH 与 WorkBuddy 验证同一组场景&lt;/text&gt;&lt;text x='568.5' y='146' font-size='14' fill='#7A8699' text-anchor='middle' font-weight='400'&gt;分别验收&lt;/text&gt;&lt;path d='M676 105 l14 0' stroke='#1E7BE0' stroke-width='2'/&gt;&lt;path d='M690 105 l-7 -5 l0 10 z' fill='#1E7BE0'/&gt;&lt;rect x='693' y='30' width='213' height='150' rx='8' fill='#FFFFFF' stroke='#1E7BE0' stroke-width='1.5'/&gt;&lt;rect x='693' y='30' width='213' height='6' rx='3' fill='#0E2340'/&gt;&lt;circle cx='719' cy='66' r='16' fill='#1E7BE0'/&gt;&lt;text x='719' y='72' font-size='16' fill='#FFFFFF' text-anchor='middle' font-weight='700'&gt;4&lt;/text&gt;&lt;text x='799.5' y='116' font-size='18' fill='#0E2340' text-anchor='middle' font-weight='600'&gt;跟随教师 / 学校端扩大能力目录&lt;/text&gt;&lt;text x='799.5' y='146' font-size='14' fill='#7A8699' text-anchor='middle' font-weight='400'&gt;不提前暴露空实现&lt;/text&gt;&lt;path d='M907 105 l14 0' stroke='#1E7BE0' stroke-width='2'/&gt;&lt;path d='M921 105 l-7 -5 l0 10 z' fill='#1E7BE0'/&gt;&lt;rect x='924' y='30' width='213' height='150' rx='8' fill='#FFFFFF' stroke='#1E7BE0' stroke-width='1.5'/&gt;&lt;rect x='924' y='30' width='213' height='6' rx='3' fill='#0E2340'/&gt;&lt;circle cx='950' cy='66' r='16' fill='#1E7BE0'/&gt;&lt;text x='950' y='72' font-size='16' fill='#FFFFFF' text-anchor='middle' font-weight='700'&gt;5&lt;/text&gt;&lt;text x='1030.5' y='116' font-size='18' fill='#0E2340' text-anchor='middle' font-weight='600'&gt;研究可选交互界面和分发渠道&lt;/text&gt;&lt;text x='1030.5' y='146' font-size='14' fill='#7A8699' text-anchor='middle' font-weight='400'&gt;最后一步&lt;/text&gt;&lt;path d='M40 200 L1100 200' stroke='#00A9B5' stroke-width='2' stroke-dasharray='5 5'/&gt;&lt;path d='M40 200 l10 -6 l0 12 z' fill='#00A9B5'/&gt;&lt;text x='570.0' y='226' font-size='15' fill='#00A9B5' text-anchor='middle' font-weight='600'&gt;阶段之间可回退：变式暴露某步不会 → 返回该步训练&lt;/text&gt;&lt;/svg&gt;&lt;/Box&gt;&lt;Box style={{ flexDirection: 'row', alignItems: 'center', background: '#F5F7FA', borderLeft: '4px solid #0E2340', borderRadius: 6, padding: '14px 20px' }}&gt;&lt;Text style={{ fontSize: 16, color: '#0E2340', fontWeight: 600, lineHeight: 1.5 }}&gt;验收至少 8 项：发现工具、查询题目、提交解题或批改、恢复超时任务、读取结果、拒绝越权访问、处理源版本变化、未连接或能力缺失时明确返回状态。通过“连接成功”只证明接通，不能替代完整教学任务验收&lt;/Text&gt;&lt;/Box&gt;&lt;/Box&gt;&lt;/Box&gt;&lt;Box style={{ height: 40, flexDirection: 'row', justifyContent: 'space-between', alignItems: 'center', borderTop: '1px solid #E3E8EF', marginTop: 8 }}&gt;&lt;Text style={{ fontSize: 13, color: '#7A8699', fontWeight: 400, lineHeight: 1.4 }}&gt;依据：系统Agent适配与MCP插件接入设计.md §9&lt;/Text&gt;&lt;Text style={{ fontSize: 14, color: '#7A8699', fontWeight: 400, lineHeight: 1.4 }}&gt; 94 / 124 &lt;/Text&gt;&lt;/Box&gt;&lt;/Slide&gt;"/>
        <p:cNvGrpSpPr/>
        <p:nvPr/>
      </p:nvGrpSpPr>
      <p:grpSpPr>
        <a:xfrm>
          <a:off x="0" y="0"/>
          <a:ext cx="0" cy="0"/>
          <a:chOff x="0" y="0"/>
          <a:chExt cx="0" cy="0"/>
        </a:xfrm>
      </p:grpSpPr>
      <p:sp>
        <p:nvSpPr>
          <p:cNvPr id="3110" name=""/>
          <p:cNvSpPr/>
          <p:nvPr/>
        </p:nvSpPr>
        <p:spPr>
          <a:xfrm rot="0" flipH="0" flipV="0">
            <a:off x="0" y="0"/>
            <a:ext cx="12192000" cy="6858000"/>
          </a:xfrm>
          <a:prstGeom prst="rect">
            <a:avLst/>
          </a:prstGeom>
          <a:solidFill>
            <a:srgbClr val="FFFFFF"/>
          </a:solidFill>
          <a:ln/>
        </p:spPr>
        <p:txBody>
          <a:bodyPr/>
          <a:p/>
        </p:txBody>
      </p:sp>
      <p:sp>
        <p:nvSpPr>
          <p:cNvPr id="3111" name="" descr="{&quot;isTemplate&quot;:true,&quot;type&quot;:&quot;text&quot;}"/>
          <p:cNvSpPr txBox="1"/>
          <p:nvPr/>
        </p:nvSpPr>
        <p:spPr>
          <a:xfrm rot="0" flipH="0" flipV="0">
            <a:off x="666750" y="381000"/>
            <a:ext cx="3352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09 / MCP </a:t>
            </a:r>
            <a:r>
              <a:rPr lang="zh-CN" sz="1050" spc="75">
                <a:solidFill>
                  <a:srgbClr val="7A8699"/>
                </a:solidFill>
                <a:latin typeface="Microsoft YaHei"/>
                <a:ea typeface="Microsoft YaHei"/>
              </a:rPr>
              <a:t>接入</a:t>
            </a:r>
            <a:endParaRPr/>
          </a:p>
        </p:txBody>
      </p:sp>
      <p:sp>
        <p:nvSpPr>
          <p:cNvPr id="3112" name="" descr="{&quot;isTemplate&quot;:true,&quot;type&quot;:&quot;text&quot;}"/>
          <p:cNvSpPr txBox="1"/>
          <p:nvPr/>
        </p:nvSpPr>
        <p:spPr>
          <a:xfrm rot="0" flipH="0" flipV="0">
            <a:off x="666750" y="666750"/>
            <a:ext cx="3352800" cy="476250"/>
          </a:xfrm>
          <a:prstGeom prst="rect"/>
        </p:spPr>
        <p:txBody>
          <a:bodyPr wrap="none" lIns="0" tIns="0" rIns="0" bIns="0"/>
          <a:p>
            <a:pPr>
              <a:lnSpc>
                <a:spcPct val="130000"/>
              </a:lnSpc>
            </a:pPr>
            <a:r>
              <a:rPr lang="zh-CN" sz="2400" b="1">
                <a:solidFill>
                  <a:srgbClr val="0E2340"/>
                </a:solidFill>
                <a:latin typeface="Microsoft YaHei"/>
                <a:ea typeface="Microsoft YaHei"/>
              </a:rPr>
              <a:t>建议实施顺序与验收清单</a:t>
            </a:r>
            <a:endParaRPr/>
          </a:p>
        </p:txBody>
      </p:sp>
      <p:sp>
        <p:nvSpPr>
          <p:cNvPr id="3113"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3114"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3115" name=""/>
          <p:cNvPicPr>
            <a:picLocks noChangeAspect="1"/>
          </p:cNvPicPr>
          <p:nvPr/>
        </p:nvPicPr>
        <p:blipFill>
          <a:blip>
            <a:extLst>
              <a:ext uri="{96DAC541-7B7A-43D3-8B79-37D633B846F1}">
                <asvg:svgBlip r:embed="rId1"/>
              </a:ext>
            </a:extLst>
          </a:blip>
          <a:stretch>
            <a:fillRect/>
          </a:stretch>
        </p:blipFill>
        <p:spPr>
          <a:xfrm rot="0" flipH="0" flipV="0">
            <a:off x="666750" y="1847850"/>
            <a:ext cx="10858500" cy="2762250"/>
          </a:xfrm>
          <a:prstGeom prst="rect">
            <a:avLst/>
          </a:prstGeom>
          <a:ln/>
        </p:spPr>
      </p:pic>
      <p:sp>
        <p:nvSpPr>
          <p:cNvPr id="3116" name=""/>
          <p:cNvSpPr/>
          <p:nvPr/>
        </p:nvSpPr>
        <p:spPr>
          <a:xfrm rot="0" flipH="0" flipV="0">
            <a:off x="704850" y="5391150"/>
            <a:ext cx="10858500" cy="819150"/>
          </a:xfrm>
          <a:prstGeom prst="roundRect">
            <a:avLst>
              <a:gd name="adj" fmla="val 6977"/>
            </a:avLst>
          </a:prstGeom>
          <a:solidFill>
            <a:srgbClr val="F5F7FA"/>
          </a:solidFill>
          <a:ln/>
        </p:spPr>
        <p:txBody>
          <a:bodyPr/>
          <a:p/>
        </p:txBody>
      </p:sp>
      <p:sp>
        <p:nvSpPr>
          <p:cNvPr id="3117" name=""/>
          <p:cNvSpPr/>
          <p:nvPr/>
        </p:nvSpPr>
        <p:spPr>
          <a:xfrm rot="0" flipH="0" flipV="0">
            <a:off x="704850" y="5391150"/>
            <a:ext cx="10858500" cy="819150"/>
          </a:xfrm>
          <a:custGeom>
            <a:pathLst>
              <a:path w="1140" h="86">
                <a:moveTo>
                  <a:pt x="6" y="0"/>
                </a:moveTo>
                <a:cubicBezTo>
                  <a:pt x="5" y="0"/>
                  <a:pt x="4" y="1"/>
                  <a:pt x="4" y="2"/>
                </a:cubicBezTo>
                <a:lnTo>
                  <a:pt x="4" y="84"/>
                </a:lnTo>
                <a:cubicBezTo>
                  <a:pt x="4" y="85"/>
                  <a:pt x="5" y="86"/>
                  <a:pt x="6" y="86"/>
                </a:cubicBezTo>
                <a:cubicBezTo>
                  <a:pt x="3" y="86"/>
                  <a:pt x="0" y="83"/>
                  <a:pt x="0" y="80"/>
                </a:cubicBezTo>
                <a:lnTo>
                  <a:pt x="0" y="6"/>
                </a:lnTo>
                <a:cubicBezTo>
                  <a:pt x="0" y="3"/>
                  <a:pt x="3" y="0"/>
                  <a:pt x="6" y="0"/>
                </a:cubicBezTo>
                <a:close/>
              </a:path>
            </a:pathLst>
          </a:custGeom>
          <a:solidFill>
            <a:srgbClr val="0E2340"/>
          </a:solidFill>
          <a:ln/>
        </p:spPr>
        <p:txBody>
          <a:bodyPr/>
          <a:p/>
        </p:txBody>
      </p:sp>
      <p:sp>
        <p:nvSpPr>
          <p:cNvPr id="3118" name="" descr="{&quot;isTemplate&quot;:true,&quot;type&quot;:&quot;text&quot;}"/>
          <p:cNvSpPr txBox="1"/>
          <p:nvPr/>
        </p:nvSpPr>
        <p:spPr>
          <a:xfrm rot="0" flipH="0" flipV="0">
            <a:off x="895350" y="5524500"/>
            <a:ext cx="10439400" cy="552450"/>
          </a:xfrm>
          <a:prstGeom prst="rect"/>
        </p:spPr>
        <p:txBody>
          <a:bodyPr wrap="square" lIns="0" tIns="0" rIns="0" bIns="0">
            <a:normAutofit/>
          </a:bodyPr>
          <a:p>
            <a:pPr>
              <a:lnSpc>
                <a:spcPct val="150000"/>
              </a:lnSpc>
            </a:pPr>
            <a:r>
              <a:rPr lang="zh-CN" sz="1200" b="1">
                <a:solidFill>
                  <a:srgbClr val="0E2340"/>
                </a:solidFill>
                <a:latin typeface="Microsoft YaHei"/>
                <a:ea typeface="Microsoft YaHei"/>
              </a:rPr>
              <a:t>验收至少</a:t>
            </a:r>
            <a:r>
              <a:rPr lang="en-US" sz="1200" b="1">
                <a:solidFill>
                  <a:srgbClr val="0E2340"/>
                </a:solidFill>
                <a:latin typeface="Microsoft YaHei"/>
                <a:ea typeface="Microsoft YaHei"/>
              </a:rPr>
              <a:t xml:space="preserve"> 8 </a:t>
            </a:r>
            <a:r>
              <a:rPr lang="zh-CN" sz="1200" b="1">
                <a:solidFill>
                  <a:srgbClr val="0E2340"/>
                </a:solidFill>
                <a:latin typeface="Microsoft YaHei"/>
                <a:ea typeface="Microsoft YaHei"/>
              </a:rPr>
              <a:t>项：发现工具、查询题目、提交解题或批改、恢复超时任务、读取结果、拒绝越权访问、处理源版本变化、未连接或能力缺失时明确返回状态。通过“连接成功”只证明接通，不能替代完整教学任务验收</a:t>
            </a:r>
            <a:endParaRPr/>
          </a:p>
        </p:txBody>
      </p:sp>
      <p:sp>
        <p:nvSpPr>
          <p:cNvPr id="3119"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3120" name="" descr="{&quot;isTemplate&quot;:true,&quot;type&quot;:&quot;text&quot;}"/>
          <p:cNvSpPr txBox="1"/>
          <p:nvPr/>
        </p:nvSpPr>
        <p:spPr>
          <a:xfrm rot="0" flipH="0" flipV="0">
            <a:off x="666750" y="6381750"/>
            <a:ext cx="2714625" cy="209550"/>
          </a:xfrm>
          <a:prstGeom prst="rect"/>
        </p:spPr>
        <p:txBody>
          <a:bodyPr wrap="none" lIns="0" tIns="0" rIns="0" bIns="0"/>
          <a:p>
            <a:pPr>
              <a:lnSpc>
                <a:spcPct val="140000"/>
              </a:lnSpc>
            </a:pPr>
            <a:r>
              <a:rPr lang="zh-CN" sz="975">
                <a:solidFill>
                  <a:srgbClr val="7A8699"/>
                </a:solidFill>
                <a:latin typeface="Microsoft YaHei"/>
                <a:ea typeface="Microsoft YaHei"/>
              </a:rPr>
              <a:t>依据：系统</a:t>
            </a:r>
            <a:r>
              <a:rPr lang="en-US" sz="975">
                <a:solidFill>
                  <a:srgbClr val="7A8699"/>
                </a:solidFill>
                <a:latin typeface="Microsoft YaHei"/>
                <a:ea typeface="Microsoft YaHei"/>
              </a:rPr>
              <a:t>Agent</a:t>
            </a:r>
            <a:r>
              <a:rPr lang="zh-CN" sz="975">
                <a:solidFill>
                  <a:srgbClr val="7A8699"/>
                </a:solidFill>
                <a:latin typeface="Microsoft YaHei"/>
                <a:ea typeface="Microsoft YaHei"/>
              </a:rPr>
              <a:t>适配与</a:t>
            </a:r>
            <a:r>
              <a:rPr lang="en-US" sz="975">
                <a:solidFill>
                  <a:srgbClr val="7A8699"/>
                </a:solidFill>
                <a:latin typeface="Microsoft YaHei"/>
                <a:ea typeface="Microsoft YaHei"/>
              </a:rPr>
              <a:t>MCP</a:t>
            </a:r>
            <a:r>
              <a:rPr lang="zh-CN" sz="975">
                <a:solidFill>
                  <a:srgbClr val="7A8699"/>
                </a:solidFill>
                <a:latin typeface="Microsoft YaHei"/>
                <a:ea typeface="Microsoft YaHei"/>
              </a:rPr>
              <a:t>插件接入设计</a:t>
            </a:r>
            <a:r>
              <a:rPr lang="en-US" sz="975">
                <a:solidFill>
                  <a:srgbClr val="7A8699"/>
                </a:solidFill>
                <a:latin typeface="Microsoft YaHei"/>
                <a:ea typeface="Microsoft YaHei"/>
              </a:rPr>
              <a:t>.md §9</a:t>
            </a:r>
            <a:endParaRPr/>
          </a:p>
        </p:txBody>
      </p:sp>
      <p:sp>
        <p:nvSpPr>
          <p:cNvPr id="3121"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94 / 124 </a:t>
            </a:r>
            <a:endParaRPr/>
          </a:p>
        </p:txBody>
      </p:sp>
    </p:spTree>
  </p:cSld>
</p:sld>
</file>

<file path=ppt/slides/slide95.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3122" name="" descr="&lt;Slide style={{ width: '1280px', height: '720px', background: '#FFFFFF', padding: 0 }}&gt;&lt;Box style={{ position: 'absolute', top: 0, left: 0 }}&gt;&lt;svg width={1280} height={720} viewBox='0 0 1280 720'&gt;&lt;line x1='0' y1='0' x2='1280' y2='0' stroke='#E3E8EF' stroke-width='1' opacity='0.55'/&gt;&lt;line x1='0' y1='90' x2='1280' y2='90' stroke='#E3E8EF' stroke-width='1' opacity='0.55'/&gt;&lt;line x1='0' y1='180' x2='1280' y2='180' stroke='#E3E8EF' stroke-width='1' opacity='0.55'/&gt;&lt;line x1='0' y1='270' x2='1280' y2='270' stroke='#E3E8EF' stroke-width='1' opacity='0.55'/&gt;&lt;line x1='0' y1='360' x2='1280' y2='360' stroke='#E3E8EF' stroke-width='1' opacity='0.55'/&gt;&lt;line x1='0' y1='450' x2='1280' y2='450' stroke='#E3E8EF' stroke-width='1' opacity='0.55'/&gt;&lt;line x1='0' y1='540' x2='1280' y2='540' stroke='#E3E8EF' stroke-width='1' opacity='0.55'/&gt;&lt;line x1='0' y1='630' x2='1280' y2='630' stroke='#E3E8EF' stroke-width='1' opacity='0.55'/&gt;&lt;line x1='0' y1='720' x2='1280' y2='720' stroke='#E3E8EF' stroke-width='1' opacity='0.55'/&gt;&lt;/svg&gt;&lt;/Box&gt;&lt;Box style={{ position: 'relative', zIndex: 2, flexDirection: 'row', flex: 1, padding: '48px 80px 52px', gap: 44 }}&gt;&lt;Box style={{ width: 520, flexDirection: 'column', justifyContent: 'space-between' }}&gt;&lt;Box style={{ flexDirection: 'column' }}&gt;&lt;Text style={{ fontSize: 15, color: '#1E7BE0', fontWeight: 600, lineHeight: 1.4, letterSpacing: 2 }}&gt;STUDYAGENT · DESIGN REVIEW&lt;/Text&gt;&lt;/Box&gt;&lt;Box style={{ flexDirection: 'column' }}&gt;&lt;Text style={{ fontSize: 100, color: '#0E2340', fontWeight: 700, lineHeight: 1.0, fontFamily: 'JetBrains Mono, Inter' }}&gt;10&lt;/Text&gt;&lt;Box style={{ width: 78, height: 5, background: '#1E7BE0', marginTop: 10 }} /&gt;&lt;Text style={{ fontSize: 44, color: '#0E2340', fontWeight: 700, lineHeight: 1.2 }}&gt;待深化研究&lt;/Text&gt;&lt;/Box&gt;&lt;Box style={{ flexDirection: 'column', gap: 12 }}&gt;&lt;Box style={{ flexDirection: 'row', alignItems: 'center', background: '#F5F7FA', borderLeft: '4px solid #1E7BE0', borderRadius: 6, padding: '14px 20px' }}&gt;&lt;Text style={{ fontSize: 19, color: '#0E2340', fontWeight: 600, lineHeight: 1.5 }}&gt;五个方向：4 / 6 / 7 / 8 / 9&lt;/Text&gt;&lt;/Box&gt;&lt;Box style={{ flexDirection: 'row', alignItems: 'center', background: '#F5F7FA', borderLeft: '4px solid #1E7BE0', borderRadius: 6, padding: '14px 20px' }}&gt;&lt;Text style={{ fontSize: 19, color: '#0E2340', fontWeight: 600, lineHeight: 1.5 }}&gt;详细研究 6·7·8，保留研究 4·9&lt;/Text&gt;&lt;/Box&gt;&lt;Box style={{ flexDirection: 'row', alignItems: 'center', background: '#F5F7FA', borderLeft: '4px solid #1E7BE0', borderRadius: 6, padding: '14px 20px' }}&gt;&lt;Text style={{ fontSize: 19, color: '#0E2340', fontWeight: 600, lineHeight: 1.5 }}&gt;先原型后量规&lt;/Text&gt;&lt;/Box&gt;&lt;/Box&gt;&lt;Box style={{ flexDirection: 'column' }}&gt;&lt;Text style={{ fontSize: 13, color: '#7A8699', fontWeight: 400, lineHeight: 1.5 }}&gt;来源：待深化功能研究：提示、纠错、干预、接入与探究.md（研究日期 2026-10-25）&lt;/Text&gt;&lt;/Box&gt;&lt;/Box&gt;&lt;Box style={{ flex: 1, flexDirection: 'column', justifyContent: 'space-between', gap: 12 }}&gt;&lt;Text style={{ fontSize: 20, color: '#0E2340', fontWeight: 700, lineHeight: 1.4 }}&gt;汇报结构 · 13 章&lt;/Text&gt;&lt;Box style={{ flexDirection: 'column', gap: 10 }}&gt;&lt;Box style={{ flexDirection: 'row', gap: 10 }}&gt;&lt;Box style={{ width: 172, height: 64, borderRadius: 6, padding: '9px 12px', background: '#F5F7FA', flexDirection: 'column', justifyContent: 'center' }}&gt;&lt;Text style={{ fontSize: 18, color: '#0E2340', fontWeight: 700, lineHeight: 1.2 }}&gt;01&lt;/Text&gt;&lt;Text style={{ fontSize: 13, color: '#7A8699', fontWeight: 400, lineHeight: 1.3 }}&gt;概念地基&lt;/Text&gt;&lt;/Box&gt;&lt;Box style={{ width: 172, height: 64, borderRadius: 6, padding: '9px 12px', background: '#F5F7FA', flexDirection: 'column', justifyContent: 'center' }}&gt;&lt;Text style={{ fontSize: 18, color: '#0E2340', fontWeight: 700, lineHeight: 1.2 }}&gt;02&lt;/Text&gt;&lt;Text style={{ fontSize: 13, color: '#7A8699', fontWeight: 400, lineHeight: 1.3 }}&gt;现状盘点&lt;/Text&gt;&lt;/Box&gt;&lt;Box style={{ width: 172, height: 64, borderRadius: 6, padding: '9px 12px', background: '#F5F7FA', flexDirection: 'column', justifyContent: 'center' }}&gt;&lt;Text style={{ fontSize: 18, color: '#0E2340', fontWeight: 700, lineHeight: 1.2 }}&gt;03&lt;/Text&gt;&lt;Text style={{ fontSize: 13, color: '#7A8699', fontWeight: 400, lineHeight: 1.3 }}&gt;单题引擎&lt;/Text&gt;&lt;/Box&gt;&lt;/Box&gt;&lt;Box style={{ flexDirection: 'row', gap: 10 }}&gt;&lt;Box style={{ width: 172, height: 64, borderRadius: 6, padding: '9px 12px', background: '#F5F7FA', flexDirection: 'column', justifyContent: 'center' }}&gt;&lt;Text style={{ fontSize: 18, color: '#0E2340', fontWeight: 700, lineHeight: 1.2 }}&gt;04&lt;/Text&gt;&lt;Text style={{ fontSize: 13, color: '#7A8699', fontWeight: 400, lineHeight: 1.3 }}&gt;套路层面&lt;/Text&gt;&lt;/Box&gt;&lt;Box style={{ width: 172, height: 64, borderRadius: 6, padding: '9px 12px', background: '#F5F7FA', flexDirection: 'column', justifyContent: 'center' }}&gt;&lt;Text style={{ fontSize: 18, color: '#0E2340', fontWeight: 700, lineHeight: 1.2 }}&gt;05&lt;/Text&gt;&lt;Text style={{ fontSize: 13, color: '#7A8699', fontWeight: 400, lineHeight: 1.3 }}&gt;教师端&lt;/Text&gt;&lt;/Box&gt;&lt;Box style={{ width: 172, height: 64, borderRadius: 6, padding: '9px 12px', background: '#F5F7FA', flexDirection: 'column', justifyContent: 'center' }}&gt;&lt;Text style={{ fontSize: 18, color: '#0E2340', fontWeight: 700, lineHeight: 1.2 }}&gt;06&lt;/Text&gt;&lt;Text style={{ fontSize: 13, color: '#7A8699', fontWeight: 400, lineHeight: 1.3 }}&gt;学校端&lt;/Text&gt;&lt;/Box&gt;&lt;/Box&gt;&lt;Box style={{ flexDirection: 'row', gap: 10 }}&gt;&lt;Box style={{ width: 172, height: 64, borderRadius: 6, padding: '9px 12px', background: '#F5F7FA', flexDirection: 'column', justifyContent: 'center' }}&gt;&lt;Text style={{ fontSize: 18, color: '#0E2340', fontWeight: 700, lineHeight: 1.2 }}&gt;07&lt;/Text&gt;&lt;Text style={{ fontSize: 13, color: '#7A8699', fontWeight: 400, lineHeight: 1.3 }}&gt;试卷与生涯&lt;/Text&gt;&lt;/Box&gt;&lt;Box style={{ width: 172, height: 64, borderRadius: 6, padding: '9px 12px', background: '#F5F7FA', flexDirection: 'column', justifyContent: 'center' }}&gt;&lt;Text style={{ fontSize: 18, color: '#0E2340', fontWeight: 700, lineHeight: 1.2 }}&gt;08&lt;/Text&gt;&lt;Text style={{ fontSize: 13, color: '#7A8699', fontWeight: 400, lineHeight: 1.3 }}&gt;协同 Agent&lt;/Text&gt;&lt;/Box&gt;&lt;Box style={{ width: 172, height: 64, borderRadius: 6, padding: '9px 12px', background: '#F5F7FA', flexDirection: 'column', justifyContent: 'center' }}&gt;&lt;Text style={{ fontSize: 18, color: '#0E2340', fontWeight: 700, lineHeight: 1.2 }}&gt;09&lt;/Text&gt;&lt;Text style={{ fontSize: 13, color: '#7A8699', fontWeight: 400, lineHeight: 1.3 }}&gt;MCP 接入&lt;/Text&gt;&lt;/Box&gt;&lt;/Box&gt;&lt;Box style={{ flexDirection: 'row', gap: 10 }}&gt;&lt;Box style={{ width: 172, height: 64, borderRadius: 6, padding: '9px 12px', background: '#0E2340', flexDirection: 'column', justifyContent: 'center' }}&gt;&lt;Text style={{ fontSize: 18, color: '#FFFFFF', fontWeight: 700, lineHeight: 1.2 }}&gt;10&lt;/Text&gt;&lt;Text style={{ fontSize: 13, color: '#C8DCF2', fontWeight: 400, lineHeight: 1.3 }}&gt;待深化研究&lt;/Text&gt;&lt;/Box&gt;&lt;Box style={{ width: 172, height: 64, borderRadius: 6, padding: '9px 12px', background: '#F5F7FA', flexDirection: 'column', justifyContent: 'center' }}&gt;&lt;Text style={{ fontSize: 18, color: '#0E2340', fontWeight: 700, lineHeight: 1.2 }}&gt;11&lt;/Text&gt;&lt;Text style={{ fontSize: 13, color: '#7A8699', fontWeight: 400, lineHeight: 1.3 }}&gt;落地与边界&lt;/Text&gt;&lt;/Box&gt;&lt;Box style={{ width: 172, height: 64, borderRadius: 6, padding: '9px 12px', background: '#F5F7FA', flexDirection: 'column', justifyContent: 'center' }}&gt;&lt;Text style={{ fontSize: 18, color: '#0E2340', fontWeight: 700, lineHeight: 1.2 }}&gt;12&lt;/Text&gt;&lt;Text style={{ fontSize: 13, color: '#7A8699', fontWeight: 400, lineHeight: 1.3 }}&gt;自进化与扩展&lt;/Text&gt;&lt;/Box&gt;&lt;/Box&gt;&lt;Box style={{ flexDirection: 'row', gap: 10 }}&gt;&lt;Box style={{ width: 172, height: 64, borderRadius: 6, padding: '9px 12px', background: '#F5F7FA', flexDirection: 'column', justifyContent: 'center' }}&gt;&lt;Text style={{ fontSize: 18, color: '#0E2340', fontWeight: 700, lineHeight: 1.2 }}&gt;13&lt;/Text&gt;&lt;Text style={{ fontSize: 13, color: '#7A8699', fontWeight: 400, lineHeight: 1.3 }}&gt;收尾&lt;/Text&gt;&lt;/Box&gt;&lt;/Box&gt;&lt;/Box&gt;&lt;Box style={{ flexDirection: 'row', alignItems: 'center', gap: 10, background: '#F5F7FA', borderRadius: 6, padding: '10px 14px' }}&gt;&lt;Box style={{ width: 6, height: 22, background: '#00A9B5' }} /&gt;&lt;Text style={{ fontSize: 15, color: '#0E2340', fontWeight: 600, lineHeight: 1.4 }}&gt;当前位置：第 10 章 · 待深化研究&lt;/Text&gt;&lt;/Box&gt;&lt;Box style={{ flexDirection: 'row', gap: 10 }}&gt;&lt;Box style={{ flex: 1, flexDirection: 'row', alignItems: 'center', gap: 8, borderRadius: 6, padding: '9px 10px', background: '#F5F7FA' }}&gt;&lt;Box style={{ width: 10, height: 10, borderRadius: 5, background: '#1E9E62' }} /&gt;&lt;Text style={{ fontSize: 14, color: '#333A45', fontWeight: 600, lineHeight: 1.3 }}&gt;已实现&lt;/Text&gt;&lt;/Box&gt;&lt;Box style={{ flex: 1, flexDirection: 'row', alignItems: 'center', gap: 8, borderRadius: 6, padding: '9px 10px', background: '#F5F7FA' }}&gt;&lt;Box style={{ width: 10, height: 10, borderRadius: 5, background: '#E8A33D' }} /&gt;&lt;Text style={{ fontSize: 14, color: '#333A45', fontWeight: 600, lineHeight: 1.3 }}&gt;部分实现&lt;/Text&gt;&lt;/Box&gt;&lt;Box style={{ flex: 1, flexDirection: 'row', alignItems: 'center', gap: 8, borderRadius: 6, padding: '9px 10px', background: '#F5F7FA' }}&gt;&lt;Box style={{ width: 10, height: 10, borderRadius: 5, background: '#1E7BE0' }} /&gt;&lt;Text style={{ fontSize: 14, color: '#333A45', fontWeight: 600, lineHeight: 1.3 }}&gt;设计中&lt;/Text&gt;&lt;/Box&gt;&lt;Box style={{ flex: 1, flexDirection: 'row', alignItems: 'center', gap: 8, borderRadius: 6, padding: '9px 10px', background: '#F5F7FA' }}&gt;&lt;Box style={{ width: 10, height: 10, borderRadius: 5, background: '#98A2B3' }} /&gt;&lt;Text style={{ fontSize: 14, color: '#333A45', fontWeight: 600, lineHeight: 1.3 }}&gt;待研究&lt;/Text&gt;&lt;/Box&gt;&lt;/Box&gt;&lt;Box style={{ flexDirection: 'row', alignItems: 'center', gap: 12, borderTop: '1px solid #E3E8EF', paddingTop: 14 }}&gt;&lt;Box style={{ width: 46, height: 5, background: '#00A9B5' }} /&gt;&lt;Text style={{ fontSize: 15, color: '#7A8699', fontWeight: 600, lineHeight: 1.4 }}&gt;StudyAgent 项目设计汇报 · 技术评审版 · 共 124 页&lt;/Text&gt;&lt;/Box&gt;&lt;/Box&gt;&lt;/Box&gt;&lt;/Slide&gt;"/>
        <p:cNvGrpSpPr/>
        <p:nvPr/>
      </p:nvGrpSpPr>
      <p:grpSpPr>
        <a:xfrm>
          <a:off x="0" y="0"/>
          <a:ext cx="0" cy="0"/>
          <a:chOff x="0" y="0"/>
          <a:chExt cx="0" cy="0"/>
        </a:xfrm>
      </p:grpSpPr>
      <p:sp>
        <p:nvSpPr>
          <p:cNvPr id="3123" name=""/>
          <p:cNvSpPr/>
          <p:nvPr/>
        </p:nvSpPr>
        <p:spPr>
          <a:xfrm rot="0" flipH="0" flipV="0">
            <a:off x="0" y="0"/>
            <a:ext cx="12192000" cy="6858000"/>
          </a:xfrm>
          <a:prstGeom prst="rect">
            <a:avLst/>
          </a:prstGeom>
          <a:solidFill>
            <a:srgbClr val="FFFFFF"/>
          </a:solidFill>
          <a:ln/>
        </p:spPr>
        <p:txBody>
          <a:bodyPr/>
          <a:p/>
        </p:txBody>
      </p:sp>
      <p:pic>
        <p:nvPicPr>
          <p:cNvPr id="3124" name=""/>
          <p:cNvPicPr>
            <a:picLocks noChangeAspect="1"/>
          </p:cNvPicPr>
          <p:nvPr/>
        </p:nvPicPr>
        <p:blipFill>
          <a:blip>
            <a:extLst>
              <a:ext uri="{96DAC541-7B7A-43D3-8B79-37D633B846F1}">
                <asvg:svgBlip r:embed="rId1"/>
              </a:ext>
            </a:extLst>
          </a:blip>
          <a:stretch>
            <a:fillRect/>
          </a:stretch>
        </p:blipFill>
        <p:spPr>
          <a:xfrm rot="0" flipH="0" flipV="0">
            <a:off x="0" y="0"/>
            <a:ext cx="12192000" cy="6858000"/>
          </a:xfrm>
          <a:prstGeom prst="rect">
            <a:avLst/>
          </a:prstGeom>
          <a:ln/>
        </p:spPr>
      </p:pic>
      <p:sp>
        <p:nvSpPr>
          <p:cNvPr id="3125" name="" descr="{&quot;isTemplate&quot;:true,&quot;type&quot;:&quot;text&quot;}"/>
          <p:cNvSpPr txBox="1"/>
          <p:nvPr/>
        </p:nvSpPr>
        <p:spPr>
          <a:xfrm rot="0" flipH="0" flipV="0">
            <a:off x="762000" y="457200"/>
            <a:ext cx="4953000" cy="247650"/>
          </a:xfrm>
          <a:prstGeom prst="rect"/>
        </p:spPr>
        <p:txBody>
          <a:bodyPr wrap="none" lIns="0" tIns="0" rIns="0" bIns="0"/>
          <a:p>
            <a:pPr>
              <a:lnSpc>
                <a:spcPct val="140000"/>
              </a:lnSpc>
            </a:pPr>
            <a:r>
              <a:rPr lang="en-US" sz="1125" b="1" spc="150">
                <a:solidFill>
                  <a:srgbClr val="1E7BE0"/>
                </a:solidFill>
                <a:latin typeface="Microsoft YaHei"/>
                <a:ea typeface="Microsoft YaHei"/>
              </a:rPr>
              <a:t>STUDYAGENT · DESIGN REVIEW</a:t>
            </a:r>
            <a:endParaRPr/>
          </a:p>
        </p:txBody>
      </p:sp>
      <p:sp>
        <p:nvSpPr>
          <p:cNvPr id="3126" name="" descr="{&quot;isTemplate&quot;:true,&quot;type&quot;:&quot;text&quot;}"/>
          <p:cNvSpPr txBox="1"/>
          <p:nvPr/>
        </p:nvSpPr>
        <p:spPr>
          <a:xfrm rot="0" flipH="0" flipV="0">
            <a:off x="762000" y="1209675"/>
            <a:ext cx="4953000" cy="1143000"/>
          </a:xfrm>
          <a:prstGeom prst="rect"/>
        </p:spPr>
        <p:txBody>
          <a:bodyPr wrap="none" lIns="0" tIns="0" rIns="0" bIns="0"/>
          <a:p>
            <a:pPr>
              <a:lnSpc>
                <a:spcPct val="100000"/>
              </a:lnSpc>
            </a:pPr>
            <a:r>
              <a:rPr lang="en-US" sz="7500" b="1">
                <a:solidFill>
                  <a:srgbClr val="0E2340"/>
                </a:solidFill>
                <a:latin typeface="JetBrains Mono"/>
                <a:ea typeface="JetBrains Mono"/>
              </a:rPr>
              <a:t>10</a:t>
            </a:r>
            <a:endParaRPr/>
          </a:p>
        </p:txBody>
      </p:sp>
      <p:sp>
        <p:nvSpPr>
          <p:cNvPr id="3127" name=""/>
          <p:cNvSpPr/>
          <p:nvPr/>
        </p:nvSpPr>
        <p:spPr>
          <a:xfrm rot="0" flipH="0" flipV="0">
            <a:off x="762000" y="2447925"/>
            <a:ext cx="742950" cy="47625"/>
          </a:xfrm>
          <a:prstGeom prst="rect">
            <a:avLst/>
          </a:prstGeom>
          <a:solidFill>
            <a:srgbClr val="1E7BE0"/>
          </a:solidFill>
          <a:ln/>
        </p:spPr>
        <p:txBody>
          <a:bodyPr/>
          <a:p/>
        </p:txBody>
      </p:sp>
      <p:sp>
        <p:nvSpPr>
          <p:cNvPr id="3128" name="" descr="{&quot;isTemplate&quot;:true,&quot;type&quot;:&quot;text&quot;}"/>
          <p:cNvSpPr txBox="1"/>
          <p:nvPr/>
        </p:nvSpPr>
        <p:spPr>
          <a:xfrm rot="0" flipH="0" flipV="0">
            <a:off x="762000" y="2495550"/>
            <a:ext cx="4953000" cy="609600"/>
          </a:xfrm>
          <a:prstGeom prst="rect"/>
        </p:spPr>
        <p:txBody>
          <a:bodyPr wrap="none" lIns="0" tIns="0" rIns="0" bIns="0"/>
          <a:p>
            <a:pPr>
              <a:lnSpc>
                <a:spcPct val="120000"/>
              </a:lnSpc>
            </a:pPr>
            <a:r>
              <a:rPr lang="zh-CN" sz="3300" b="1">
                <a:solidFill>
                  <a:srgbClr val="0E2340"/>
                </a:solidFill>
                <a:latin typeface="Microsoft YaHei"/>
                <a:ea typeface="Microsoft YaHei"/>
              </a:rPr>
              <a:t>待深化研究</a:t>
            </a:r>
            <a:endParaRPr/>
          </a:p>
        </p:txBody>
      </p:sp>
      <p:sp>
        <p:nvSpPr>
          <p:cNvPr id="3129" name=""/>
          <p:cNvSpPr/>
          <p:nvPr/>
        </p:nvSpPr>
        <p:spPr>
          <a:xfrm rot="0" flipH="0" flipV="0">
            <a:off x="800100" y="3600450"/>
            <a:ext cx="4953000" cy="600075"/>
          </a:xfrm>
          <a:prstGeom prst="roundRect">
            <a:avLst>
              <a:gd name="adj" fmla="val 9524"/>
            </a:avLst>
          </a:prstGeom>
          <a:solidFill>
            <a:srgbClr val="F5F7FA"/>
          </a:solidFill>
          <a:ln/>
        </p:spPr>
        <p:txBody>
          <a:bodyPr/>
          <a:p/>
        </p:txBody>
      </p:sp>
      <p:sp>
        <p:nvSpPr>
          <p:cNvPr id="3130" name=""/>
          <p:cNvSpPr/>
          <p:nvPr/>
        </p:nvSpPr>
        <p:spPr>
          <a:xfrm rot="0" flipH="0" flipV="0">
            <a:off x="800100" y="360045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3131" name="" descr="{&quot;isTemplate&quot;:true,&quot;type&quot;:&quot;text&quot;}"/>
          <p:cNvSpPr txBox="1"/>
          <p:nvPr/>
        </p:nvSpPr>
        <p:spPr>
          <a:xfrm rot="0" flipH="0" flipV="0">
            <a:off x="990600" y="3733800"/>
            <a:ext cx="2019300" cy="333375"/>
          </a:xfrm>
          <a:prstGeom prst="rect"/>
        </p:spPr>
        <p:txBody>
          <a:bodyPr wrap="none" lIns="0" tIns="0" rIns="0" bIns="0"/>
          <a:p>
            <a:pPr>
              <a:lnSpc>
                <a:spcPct val="150000"/>
              </a:lnSpc>
            </a:pPr>
            <a:r>
              <a:rPr lang="zh-CN" sz="1425" b="1">
                <a:solidFill>
                  <a:srgbClr val="0E2340"/>
                </a:solidFill>
                <a:latin typeface="Microsoft YaHei"/>
                <a:ea typeface="Microsoft YaHei"/>
              </a:rPr>
              <a:t>五个方向：</a:t>
            </a:r>
            <a:r>
              <a:rPr lang="en-US" sz="1425" b="1">
                <a:solidFill>
                  <a:srgbClr val="0E2340"/>
                </a:solidFill>
                <a:latin typeface="Microsoft YaHei"/>
                <a:ea typeface="Microsoft YaHei"/>
              </a:rPr>
              <a:t>4 / 6 / 7 / 8 / 9</a:t>
            </a:r>
            <a:endParaRPr/>
          </a:p>
        </p:txBody>
      </p:sp>
      <p:sp>
        <p:nvSpPr>
          <p:cNvPr id="3132" name=""/>
          <p:cNvSpPr/>
          <p:nvPr/>
        </p:nvSpPr>
        <p:spPr>
          <a:xfrm rot="0" flipH="0" flipV="0">
            <a:off x="800100" y="4314825"/>
            <a:ext cx="4953000" cy="600075"/>
          </a:xfrm>
          <a:prstGeom prst="roundRect">
            <a:avLst>
              <a:gd name="adj" fmla="val 9524"/>
            </a:avLst>
          </a:prstGeom>
          <a:solidFill>
            <a:srgbClr val="F5F7FA"/>
          </a:solidFill>
          <a:ln/>
        </p:spPr>
        <p:txBody>
          <a:bodyPr/>
          <a:p/>
        </p:txBody>
      </p:sp>
      <p:sp>
        <p:nvSpPr>
          <p:cNvPr id="3133" name=""/>
          <p:cNvSpPr/>
          <p:nvPr/>
        </p:nvSpPr>
        <p:spPr>
          <a:xfrm rot="0" flipH="0" flipV="0">
            <a:off x="800100" y="4314825"/>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3134" name="" descr="{&quot;isTemplate&quot;:true,&quot;type&quot;:&quot;text&quot;}"/>
          <p:cNvSpPr txBox="1"/>
          <p:nvPr/>
        </p:nvSpPr>
        <p:spPr>
          <a:xfrm rot="0" flipH="0" flipV="0">
            <a:off x="990600" y="4448175"/>
            <a:ext cx="2419350" cy="333375"/>
          </a:xfrm>
          <a:prstGeom prst="rect"/>
        </p:spPr>
        <p:txBody>
          <a:bodyPr wrap="none" lIns="0" tIns="0" rIns="0" bIns="0"/>
          <a:p>
            <a:pPr>
              <a:lnSpc>
                <a:spcPct val="150000"/>
              </a:lnSpc>
            </a:pPr>
            <a:r>
              <a:rPr lang="zh-CN" sz="1425" b="1">
                <a:solidFill>
                  <a:srgbClr val="0E2340"/>
                </a:solidFill>
                <a:latin typeface="Microsoft YaHei"/>
                <a:ea typeface="Microsoft YaHei"/>
              </a:rPr>
              <a:t>详细研究</a:t>
            </a:r>
            <a:r>
              <a:rPr lang="en-US" sz="1425" b="1">
                <a:solidFill>
                  <a:srgbClr val="0E2340"/>
                </a:solidFill>
                <a:latin typeface="Microsoft YaHei"/>
                <a:ea typeface="Microsoft YaHei"/>
              </a:rPr>
              <a:t xml:space="preserve"> 6·7·8</a:t>
            </a:r>
            <a:r>
              <a:rPr lang="zh-CN" sz="1425" b="1">
                <a:solidFill>
                  <a:srgbClr val="0E2340"/>
                </a:solidFill>
                <a:latin typeface="Microsoft YaHei"/>
                <a:ea typeface="Microsoft YaHei"/>
              </a:rPr>
              <a:t>，保留研究</a:t>
            </a:r>
            <a:r>
              <a:rPr lang="en-US" sz="1425" b="1">
                <a:solidFill>
                  <a:srgbClr val="0E2340"/>
                </a:solidFill>
                <a:latin typeface="Microsoft YaHei"/>
                <a:ea typeface="Microsoft YaHei"/>
              </a:rPr>
              <a:t xml:space="preserve"> 4·9</a:t>
            </a:r>
            <a:endParaRPr/>
          </a:p>
        </p:txBody>
      </p:sp>
      <p:sp>
        <p:nvSpPr>
          <p:cNvPr id="3135" name=""/>
          <p:cNvSpPr/>
          <p:nvPr/>
        </p:nvSpPr>
        <p:spPr>
          <a:xfrm rot="0" flipH="0" flipV="0">
            <a:off x="800100" y="5029200"/>
            <a:ext cx="4953000" cy="600075"/>
          </a:xfrm>
          <a:prstGeom prst="roundRect">
            <a:avLst>
              <a:gd name="adj" fmla="val 9524"/>
            </a:avLst>
          </a:prstGeom>
          <a:solidFill>
            <a:srgbClr val="F5F7FA"/>
          </a:solidFill>
          <a:ln/>
        </p:spPr>
        <p:txBody>
          <a:bodyPr/>
          <a:p/>
        </p:txBody>
      </p:sp>
      <p:sp>
        <p:nvSpPr>
          <p:cNvPr id="3136" name=""/>
          <p:cNvSpPr/>
          <p:nvPr/>
        </p:nvSpPr>
        <p:spPr>
          <a:xfrm rot="0" flipH="0" flipV="0">
            <a:off x="800100" y="502920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3137" name="" descr="{&quot;isTemplate&quot;:true,&quot;type&quot;:&quot;text&quot;}"/>
          <p:cNvSpPr txBox="1"/>
          <p:nvPr/>
        </p:nvSpPr>
        <p:spPr>
          <a:xfrm rot="0" flipH="0" flipV="0">
            <a:off x="990600" y="5162550"/>
            <a:ext cx="1085850" cy="333375"/>
          </a:xfrm>
          <a:prstGeom prst="rect"/>
        </p:spPr>
        <p:txBody>
          <a:bodyPr wrap="none" lIns="0" tIns="0" rIns="0" bIns="0"/>
          <a:p>
            <a:pPr>
              <a:lnSpc>
                <a:spcPct val="150000"/>
              </a:lnSpc>
            </a:pPr>
            <a:r>
              <a:rPr lang="zh-CN" sz="1425" b="1">
                <a:solidFill>
                  <a:srgbClr val="0E2340"/>
                </a:solidFill>
                <a:latin typeface="Microsoft YaHei"/>
                <a:ea typeface="Microsoft YaHei"/>
              </a:rPr>
              <a:t>先原型后量规</a:t>
            </a:r>
            <a:endParaRPr/>
          </a:p>
        </p:txBody>
      </p:sp>
      <p:sp>
        <p:nvSpPr>
          <p:cNvPr id="3138" name="" descr="{&quot;isTemplate&quot;:true,&quot;type&quot;:&quot;text&quot;}"/>
          <p:cNvSpPr txBox="1"/>
          <p:nvPr/>
        </p:nvSpPr>
        <p:spPr>
          <a:xfrm rot="0" flipH="0" flipV="0">
            <a:off x="762000" y="6134100"/>
            <a:ext cx="4953000" cy="228600"/>
          </a:xfrm>
          <a:prstGeom prst="rect"/>
        </p:spPr>
        <p:txBody>
          <a:bodyPr wrap="none" lIns="0" tIns="0" rIns="0" bIns="0"/>
          <a:p>
            <a:pPr>
              <a:lnSpc>
                <a:spcPct val="150000"/>
              </a:lnSpc>
            </a:pPr>
            <a:r>
              <a:rPr lang="zh-CN" sz="975">
                <a:solidFill>
                  <a:srgbClr val="7A8699"/>
                </a:solidFill>
                <a:latin typeface="Microsoft YaHei"/>
                <a:ea typeface="Microsoft YaHei"/>
              </a:rPr>
              <a:t>来源：待深化功能研究：提示、纠错、干预、接入与探究</a:t>
            </a:r>
            <a:r>
              <a:rPr lang="en-US" sz="975">
                <a:solidFill>
                  <a:srgbClr val="7A8699"/>
                </a:solidFill>
                <a:latin typeface="Microsoft YaHei"/>
                <a:ea typeface="Microsoft YaHei"/>
              </a:rPr>
              <a:t>.md</a:t>
            </a:r>
            <a:r>
              <a:rPr lang="zh-CN" sz="975">
                <a:solidFill>
                  <a:srgbClr val="7A8699"/>
                </a:solidFill>
                <a:latin typeface="Microsoft YaHei"/>
                <a:ea typeface="Microsoft YaHei"/>
              </a:rPr>
              <a:t>（研究日期</a:t>
            </a:r>
            <a:r>
              <a:rPr lang="en-US" sz="975">
                <a:solidFill>
                  <a:srgbClr val="7A8699"/>
                </a:solidFill>
                <a:latin typeface="Microsoft YaHei"/>
                <a:ea typeface="Microsoft YaHei"/>
              </a:rPr>
              <a:t xml:space="preserve"> 2026-10-25</a:t>
            </a:r>
            <a:r>
              <a:rPr lang="zh-CN" sz="975">
                <a:solidFill>
                  <a:srgbClr val="7A8699"/>
                </a:solidFill>
                <a:latin typeface="Microsoft YaHei"/>
                <a:ea typeface="Microsoft YaHei"/>
              </a:rPr>
              <a:t>）</a:t>
            </a:r>
            <a:endParaRPr/>
          </a:p>
        </p:txBody>
      </p:sp>
      <p:sp>
        <p:nvSpPr>
          <p:cNvPr id="3139" name="" descr="{&quot;isTemplate&quot;:true,&quot;type&quot;:&quot;text&quot;}"/>
          <p:cNvSpPr txBox="1"/>
          <p:nvPr/>
        </p:nvSpPr>
        <p:spPr>
          <a:xfrm rot="0" flipH="0" flipV="0">
            <a:off x="6134100" y="457200"/>
            <a:ext cx="5295900" cy="323850"/>
          </a:xfrm>
          <a:prstGeom prst="rect"/>
        </p:spPr>
        <p:txBody>
          <a:bodyPr wrap="none" lIns="0" tIns="0" rIns="0" bIns="0"/>
          <a:p>
            <a:pPr>
              <a:lnSpc>
                <a:spcPct val="140000"/>
              </a:lnSpc>
            </a:pPr>
            <a:r>
              <a:rPr lang="zh-CN" sz="1500" b="1">
                <a:solidFill>
                  <a:srgbClr val="0E2340"/>
                </a:solidFill>
                <a:latin typeface="Microsoft YaHei"/>
                <a:ea typeface="Microsoft YaHei"/>
              </a:rPr>
              <a:t>汇报结构</a:t>
            </a:r>
            <a:r>
              <a:rPr lang="en-US" sz="1500" b="1">
                <a:solidFill>
                  <a:srgbClr val="0E2340"/>
                </a:solidFill>
                <a:latin typeface="Microsoft YaHei"/>
                <a:ea typeface="Microsoft YaHei"/>
              </a:rPr>
              <a:t xml:space="preserve"> · 13 </a:t>
            </a:r>
            <a:r>
              <a:rPr lang="zh-CN" sz="1500" b="1">
                <a:solidFill>
                  <a:srgbClr val="0E2340"/>
                </a:solidFill>
                <a:latin typeface="Microsoft YaHei"/>
                <a:ea typeface="Microsoft YaHei"/>
              </a:rPr>
              <a:t>章</a:t>
            </a:r>
            <a:endParaRPr/>
          </a:p>
        </p:txBody>
      </p:sp>
      <p:sp>
        <p:nvSpPr>
          <p:cNvPr id="3140" name=""/>
          <p:cNvSpPr/>
          <p:nvPr/>
        </p:nvSpPr>
        <p:spPr>
          <a:xfrm rot="0" flipH="0" flipV="0">
            <a:off x="6134100" y="1019175"/>
            <a:ext cx="1638300" cy="609600"/>
          </a:xfrm>
          <a:prstGeom prst="roundRect">
            <a:avLst>
              <a:gd name="adj" fmla="val 9375"/>
            </a:avLst>
          </a:prstGeom>
          <a:solidFill>
            <a:srgbClr val="F5F7FA"/>
          </a:solidFill>
          <a:ln/>
        </p:spPr>
        <p:txBody>
          <a:bodyPr/>
          <a:p/>
        </p:txBody>
      </p:sp>
      <p:sp>
        <p:nvSpPr>
          <p:cNvPr id="3141" name="" descr="{&quot;isTemplate&quot;:true,&quot;type&quot;:&quot;text&quot;}"/>
          <p:cNvSpPr txBox="1"/>
          <p:nvPr/>
        </p:nvSpPr>
        <p:spPr>
          <a:xfrm rot="0" flipH="0" flipV="0">
            <a:off x="62484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01</a:t>
            </a:r>
            <a:endParaRPr/>
          </a:p>
        </p:txBody>
      </p:sp>
      <p:sp>
        <p:nvSpPr>
          <p:cNvPr id="3142" name="" descr="{&quot;isTemplate&quot;:true,&quot;type&quot;:&quot;text&quot;}"/>
          <p:cNvSpPr txBox="1"/>
          <p:nvPr/>
        </p:nvSpPr>
        <p:spPr>
          <a:xfrm rot="0" flipH="0" flipV="0">
            <a:off x="62484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概念地基</a:t>
            </a:r>
            <a:endParaRPr/>
          </a:p>
        </p:txBody>
      </p:sp>
      <p:sp>
        <p:nvSpPr>
          <p:cNvPr id="3143" name=""/>
          <p:cNvSpPr/>
          <p:nvPr/>
        </p:nvSpPr>
        <p:spPr>
          <a:xfrm rot="0" flipH="0" flipV="0">
            <a:off x="7867650" y="1019175"/>
            <a:ext cx="1638300" cy="609600"/>
          </a:xfrm>
          <a:prstGeom prst="roundRect">
            <a:avLst>
              <a:gd name="adj" fmla="val 9375"/>
            </a:avLst>
          </a:prstGeom>
          <a:solidFill>
            <a:srgbClr val="F5F7FA"/>
          </a:solidFill>
          <a:ln/>
        </p:spPr>
        <p:txBody>
          <a:bodyPr/>
          <a:p/>
        </p:txBody>
      </p:sp>
      <p:sp>
        <p:nvSpPr>
          <p:cNvPr id="3144" name="" descr="{&quot;isTemplate&quot;:true,&quot;type&quot;:&quot;text&quot;}"/>
          <p:cNvSpPr txBox="1"/>
          <p:nvPr/>
        </p:nvSpPr>
        <p:spPr>
          <a:xfrm rot="0" flipH="0" flipV="0">
            <a:off x="798195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02</a:t>
            </a:r>
            <a:endParaRPr/>
          </a:p>
        </p:txBody>
      </p:sp>
      <p:sp>
        <p:nvSpPr>
          <p:cNvPr id="3145" name="" descr="{&quot;isTemplate&quot;:true,&quot;type&quot;:&quot;text&quot;}"/>
          <p:cNvSpPr txBox="1"/>
          <p:nvPr/>
        </p:nvSpPr>
        <p:spPr>
          <a:xfrm rot="0" flipH="0" flipV="0">
            <a:off x="798195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现状盘点</a:t>
            </a:r>
            <a:endParaRPr/>
          </a:p>
        </p:txBody>
      </p:sp>
      <p:sp>
        <p:nvSpPr>
          <p:cNvPr id="3146" name=""/>
          <p:cNvSpPr/>
          <p:nvPr/>
        </p:nvSpPr>
        <p:spPr>
          <a:xfrm rot="0" flipH="0" flipV="0">
            <a:off x="9601200" y="1019175"/>
            <a:ext cx="1638300" cy="609600"/>
          </a:xfrm>
          <a:prstGeom prst="roundRect">
            <a:avLst>
              <a:gd name="adj" fmla="val 9375"/>
            </a:avLst>
          </a:prstGeom>
          <a:solidFill>
            <a:srgbClr val="F5F7FA"/>
          </a:solidFill>
          <a:ln/>
        </p:spPr>
        <p:txBody>
          <a:bodyPr/>
          <a:p/>
        </p:txBody>
      </p:sp>
      <p:sp>
        <p:nvSpPr>
          <p:cNvPr id="3147" name="" descr="{&quot;isTemplate&quot;:true,&quot;type&quot;:&quot;text&quot;}"/>
          <p:cNvSpPr txBox="1"/>
          <p:nvPr/>
        </p:nvSpPr>
        <p:spPr>
          <a:xfrm rot="0" flipH="0" flipV="0">
            <a:off x="97155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03</a:t>
            </a:r>
            <a:endParaRPr/>
          </a:p>
        </p:txBody>
      </p:sp>
      <p:sp>
        <p:nvSpPr>
          <p:cNvPr id="3148" name="" descr="{&quot;isTemplate&quot;:true,&quot;type&quot;:&quot;text&quot;}"/>
          <p:cNvSpPr txBox="1"/>
          <p:nvPr/>
        </p:nvSpPr>
        <p:spPr>
          <a:xfrm rot="0" flipH="0" flipV="0">
            <a:off x="97155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单题引擎</a:t>
            </a:r>
            <a:endParaRPr/>
          </a:p>
        </p:txBody>
      </p:sp>
      <p:sp>
        <p:nvSpPr>
          <p:cNvPr id="3149" name=""/>
          <p:cNvSpPr/>
          <p:nvPr/>
        </p:nvSpPr>
        <p:spPr>
          <a:xfrm rot="0" flipH="0" flipV="0">
            <a:off x="6134100" y="1724025"/>
            <a:ext cx="1638300" cy="609600"/>
          </a:xfrm>
          <a:prstGeom prst="roundRect">
            <a:avLst>
              <a:gd name="adj" fmla="val 9375"/>
            </a:avLst>
          </a:prstGeom>
          <a:solidFill>
            <a:srgbClr val="F5F7FA"/>
          </a:solidFill>
          <a:ln/>
        </p:spPr>
        <p:txBody>
          <a:bodyPr/>
          <a:p/>
        </p:txBody>
      </p:sp>
      <p:sp>
        <p:nvSpPr>
          <p:cNvPr id="3150" name="" descr="{&quot;isTemplate&quot;:true,&quot;type&quot;:&quot;text&quot;}"/>
          <p:cNvSpPr txBox="1"/>
          <p:nvPr/>
        </p:nvSpPr>
        <p:spPr>
          <a:xfrm rot="0" flipH="0" flipV="0">
            <a:off x="62484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04</a:t>
            </a:r>
            <a:endParaRPr/>
          </a:p>
        </p:txBody>
      </p:sp>
      <p:sp>
        <p:nvSpPr>
          <p:cNvPr id="3151" name="" descr="{&quot;isTemplate&quot;:true,&quot;type&quot;:&quot;text&quot;}"/>
          <p:cNvSpPr txBox="1"/>
          <p:nvPr/>
        </p:nvSpPr>
        <p:spPr>
          <a:xfrm rot="0" flipH="0" flipV="0">
            <a:off x="62484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套路层面</a:t>
            </a:r>
            <a:endParaRPr/>
          </a:p>
        </p:txBody>
      </p:sp>
      <p:sp>
        <p:nvSpPr>
          <p:cNvPr id="3152" name=""/>
          <p:cNvSpPr/>
          <p:nvPr/>
        </p:nvSpPr>
        <p:spPr>
          <a:xfrm rot="0" flipH="0" flipV="0">
            <a:off x="7867650" y="1724025"/>
            <a:ext cx="1638300" cy="609600"/>
          </a:xfrm>
          <a:prstGeom prst="roundRect">
            <a:avLst>
              <a:gd name="adj" fmla="val 9375"/>
            </a:avLst>
          </a:prstGeom>
          <a:solidFill>
            <a:srgbClr val="F5F7FA"/>
          </a:solidFill>
          <a:ln/>
        </p:spPr>
        <p:txBody>
          <a:bodyPr/>
          <a:p/>
        </p:txBody>
      </p:sp>
      <p:sp>
        <p:nvSpPr>
          <p:cNvPr id="3153" name="" descr="{&quot;isTemplate&quot;:true,&quot;type&quot;:&quot;text&quot;}"/>
          <p:cNvSpPr txBox="1"/>
          <p:nvPr/>
        </p:nvSpPr>
        <p:spPr>
          <a:xfrm rot="0" flipH="0" flipV="0">
            <a:off x="798195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05</a:t>
            </a:r>
            <a:endParaRPr/>
          </a:p>
        </p:txBody>
      </p:sp>
      <p:sp>
        <p:nvSpPr>
          <p:cNvPr id="3154" name="" descr="{&quot;isTemplate&quot;:true,&quot;type&quot;:&quot;text&quot;}"/>
          <p:cNvSpPr txBox="1"/>
          <p:nvPr/>
        </p:nvSpPr>
        <p:spPr>
          <a:xfrm rot="0" flipH="0" flipV="0">
            <a:off x="798195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教师端</a:t>
            </a:r>
            <a:endParaRPr/>
          </a:p>
        </p:txBody>
      </p:sp>
      <p:sp>
        <p:nvSpPr>
          <p:cNvPr id="3155" name=""/>
          <p:cNvSpPr/>
          <p:nvPr/>
        </p:nvSpPr>
        <p:spPr>
          <a:xfrm rot="0" flipH="0" flipV="0">
            <a:off x="9601200" y="1724025"/>
            <a:ext cx="1638300" cy="609600"/>
          </a:xfrm>
          <a:prstGeom prst="roundRect">
            <a:avLst>
              <a:gd name="adj" fmla="val 9375"/>
            </a:avLst>
          </a:prstGeom>
          <a:solidFill>
            <a:srgbClr val="F5F7FA"/>
          </a:solidFill>
          <a:ln/>
        </p:spPr>
        <p:txBody>
          <a:bodyPr/>
          <a:p/>
        </p:txBody>
      </p:sp>
      <p:sp>
        <p:nvSpPr>
          <p:cNvPr id="3156" name="" descr="{&quot;isTemplate&quot;:true,&quot;type&quot;:&quot;text&quot;}"/>
          <p:cNvSpPr txBox="1"/>
          <p:nvPr/>
        </p:nvSpPr>
        <p:spPr>
          <a:xfrm rot="0" flipH="0" flipV="0">
            <a:off x="97155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06</a:t>
            </a:r>
            <a:endParaRPr/>
          </a:p>
        </p:txBody>
      </p:sp>
      <p:sp>
        <p:nvSpPr>
          <p:cNvPr id="3157" name="" descr="{&quot;isTemplate&quot;:true,&quot;type&quot;:&quot;text&quot;}"/>
          <p:cNvSpPr txBox="1"/>
          <p:nvPr/>
        </p:nvSpPr>
        <p:spPr>
          <a:xfrm rot="0" flipH="0" flipV="0">
            <a:off x="97155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学校端</a:t>
            </a:r>
            <a:endParaRPr/>
          </a:p>
        </p:txBody>
      </p:sp>
      <p:sp>
        <p:nvSpPr>
          <p:cNvPr id="3158" name=""/>
          <p:cNvSpPr/>
          <p:nvPr/>
        </p:nvSpPr>
        <p:spPr>
          <a:xfrm rot="0" flipH="0" flipV="0">
            <a:off x="6134100" y="2428875"/>
            <a:ext cx="1638300" cy="609600"/>
          </a:xfrm>
          <a:prstGeom prst="roundRect">
            <a:avLst>
              <a:gd name="adj" fmla="val 9375"/>
            </a:avLst>
          </a:prstGeom>
          <a:solidFill>
            <a:srgbClr val="F5F7FA"/>
          </a:solidFill>
          <a:ln/>
        </p:spPr>
        <p:txBody>
          <a:bodyPr/>
          <a:p/>
        </p:txBody>
      </p:sp>
      <p:sp>
        <p:nvSpPr>
          <p:cNvPr id="3159" name="" descr="{&quot;isTemplate&quot;:true,&quot;type&quot;:&quot;text&quot;}"/>
          <p:cNvSpPr txBox="1"/>
          <p:nvPr/>
        </p:nvSpPr>
        <p:spPr>
          <a:xfrm rot="0" flipH="0" flipV="0">
            <a:off x="62484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07</a:t>
            </a:r>
            <a:endParaRPr/>
          </a:p>
        </p:txBody>
      </p:sp>
      <p:sp>
        <p:nvSpPr>
          <p:cNvPr id="3160" name="" descr="{&quot;isTemplate&quot;:true,&quot;type&quot;:&quot;text&quot;}"/>
          <p:cNvSpPr txBox="1"/>
          <p:nvPr/>
        </p:nvSpPr>
        <p:spPr>
          <a:xfrm rot="0" flipH="0" flipV="0">
            <a:off x="624840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试卷与生涯</a:t>
            </a:r>
            <a:endParaRPr/>
          </a:p>
        </p:txBody>
      </p:sp>
      <p:sp>
        <p:nvSpPr>
          <p:cNvPr id="3161" name=""/>
          <p:cNvSpPr/>
          <p:nvPr/>
        </p:nvSpPr>
        <p:spPr>
          <a:xfrm rot="0" flipH="0" flipV="0">
            <a:off x="7867650" y="2428875"/>
            <a:ext cx="1638300" cy="609600"/>
          </a:xfrm>
          <a:prstGeom prst="roundRect">
            <a:avLst>
              <a:gd name="adj" fmla="val 9375"/>
            </a:avLst>
          </a:prstGeom>
          <a:solidFill>
            <a:srgbClr val="F5F7FA"/>
          </a:solidFill>
          <a:ln/>
        </p:spPr>
        <p:txBody>
          <a:bodyPr/>
          <a:p/>
        </p:txBody>
      </p:sp>
      <p:sp>
        <p:nvSpPr>
          <p:cNvPr id="3162" name="" descr="{&quot;isTemplate&quot;:true,&quot;type&quot;:&quot;text&quot;}"/>
          <p:cNvSpPr txBox="1"/>
          <p:nvPr/>
        </p:nvSpPr>
        <p:spPr>
          <a:xfrm rot="0" flipH="0" flipV="0">
            <a:off x="798195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08</a:t>
            </a:r>
            <a:endParaRPr/>
          </a:p>
        </p:txBody>
      </p:sp>
      <p:sp>
        <p:nvSpPr>
          <p:cNvPr id="3163" name="" descr="{&quot;isTemplate&quot;:true,&quot;type&quot;:&quot;text&quot;}"/>
          <p:cNvSpPr txBox="1"/>
          <p:nvPr/>
        </p:nvSpPr>
        <p:spPr>
          <a:xfrm rot="0" flipH="0" flipV="0">
            <a:off x="798195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协同</a:t>
            </a:r>
            <a:r>
              <a:rPr lang="en-US" sz="975">
                <a:solidFill>
                  <a:srgbClr val="7A8699"/>
                </a:solidFill>
                <a:latin typeface="Microsoft YaHei"/>
                <a:ea typeface="Microsoft YaHei"/>
              </a:rPr>
              <a:t xml:space="preserve"> Agent</a:t>
            </a:r>
            <a:endParaRPr/>
          </a:p>
        </p:txBody>
      </p:sp>
      <p:sp>
        <p:nvSpPr>
          <p:cNvPr id="3164" name=""/>
          <p:cNvSpPr/>
          <p:nvPr/>
        </p:nvSpPr>
        <p:spPr>
          <a:xfrm rot="0" flipH="0" flipV="0">
            <a:off x="9601200" y="2428875"/>
            <a:ext cx="1638300" cy="609600"/>
          </a:xfrm>
          <a:prstGeom prst="roundRect">
            <a:avLst>
              <a:gd name="adj" fmla="val 9375"/>
            </a:avLst>
          </a:prstGeom>
          <a:solidFill>
            <a:srgbClr val="F5F7FA"/>
          </a:solidFill>
          <a:ln/>
        </p:spPr>
        <p:txBody>
          <a:bodyPr/>
          <a:p/>
        </p:txBody>
      </p:sp>
      <p:sp>
        <p:nvSpPr>
          <p:cNvPr id="3165" name="" descr="{&quot;isTemplate&quot;:true,&quot;type&quot;:&quot;text&quot;}"/>
          <p:cNvSpPr txBox="1"/>
          <p:nvPr/>
        </p:nvSpPr>
        <p:spPr>
          <a:xfrm rot="0" flipH="0" flipV="0">
            <a:off x="97155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09</a:t>
            </a:r>
            <a:endParaRPr/>
          </a:p>
        </p:txBody>
      </p:sp>
      <p:sp>
        <p:nvSpPr>
          <p:cNvPr id="3166" name="" descr="{&quot;isTemplate&quot;:true,&quot;type&quot;:&quot;text&quot;}"/>
          <p:cNvSpPr txBox="1"/>
          <p:nvPr/>
        </p:nvSpPr>
        <p:spPr>
          <a:xfrm rot="0" flipH="0" flipV="0">
            <a:off x="9715500" y="2762250"/>
            <a:ext cx="1409700" cy="200025"/>
          </a:xfrm>
          <a:prstGeom prst="rect"/>
        </p:spPr>
        <p:txBody>
          <a:bodyPr wrap="none" lIns="0" tIns="0" rIns="0" bIns="0"/>
          <a:p>
            <a:pPr>
              <a:lnSpc>
                <a:spcPct val="130000"/>
              </a:lnSpc>
            </a:pPr>
            <a:r>
              <a:rPr lang="en-US" sz="975">
                <a:solidFill>
                  <a:srgbClr val="7A8699"/>
                </a:solidFill>
                <a:latin typeface="Microsoft YaHei"/>
                <a:ea typeface="Microsoft YaHei"/>
              </a:rPr>
              <a:t xml:space="preserve">MCP </a:t>
            </a:r>
            <a:r>
              <a:rPr lang="zh-CN" sz="975">
                <a:solidFill>
                  <a:srgbClr val="7A8699"/>
                </a:solidFill>
                <a:latin typeface="Microsoft YaHei"/>
                <a:ea typeface="Microsoft YaHei"/>
              </a:rPr>
              <a:t>接入</a:t>
            </a:r>
            <a:endParaRPr/>
          </a:p>
        </p:txBody>
      </p:sp>
      <p:sp>
        <p:nvSpPr>
          <p:cNvPr id="3167" name=""/>
          <p:cNvSpPr/>
          <p:nvPr/>
        </p:nvSpPr>
        <p:spPr>
          <a:xfrm rot="0" flipH="0" flipV="0">
            <a:off x="6134100" y="3133725"/>
            <a:ext cx="1638300" cy="609600"/>
          </a:xfrm>
          <a:prstGeom prst="roundRect">
            <a:avLst>
              <a:gd name="adj" fmla="val 9375"/>
            </a:avLst>
          </a:prstGeom>
          <a:solidFill>
            <a:srgbClr val="0E2340"/>
          </a:solidFill>
          <a:ln/>
        </p:spPr>
        <p:txBody>
          <a:bodyPr/>
          <a:p/>
        </p:txBody>
      </p:sp>
      <p:sp>
        <p:nvSpPr>
          <p:cNvPr id="3168" name="" descr="{&quot;isTemplate&quot;:true,&quot;type&quot;:&quot;text&quot;}"/>
          <p:cNvSpPr txBox="1"/>
          <p:nvPr/>
        </p:nvSpPr>
        <p:spPr>
          <a:xfrm rot="0" flipH="0" flipV="0">
            <a:off x="6248400" y="3219450"/>
            <a:ext cx="1409700" cy="247650"/>
          </a:xfrm>
          <a:prstGeom prst="rect"/>
        </p:spPr>
        <p:txBody>
          <a:bodyPr wrap="none" lIns="0" tIns="0" rIns="0" bIns="0"/>
          <a:p>
            <a:pPr>
              <a:lnSpc>
                <a:spcPct val="120000"/>
              </a:lnSpc>
            </a:pPr>
            <a:r>
              <a:rPr lang="en-US" sz="1350" b="1">
                <a:solidFill>
                  <a:srgbClr val="FFFFFF"/>
                </a:solidFill>
                <a:latin typeface="Microsoft YaHei"/>
                <a:ea typeface="Microsoft YaHei"/>
              </a:rPr>
              <a:t>10</a:t>
            </a:r>
            <a:endParaRPr/>
          </a:p>
        </p:txBody>
      </p:sp>
      <p:sp>
        <p:nvSpPr>
          <p:cNvPr id="3169" name="" descr="{&quot;isTemplate&quot;:true,&quot;type&quot;:&quot;text&quot;}"/>
          <p:cNvSpPr txBox="1"/>
          <p:nvPr/>
        </p:nvSpPr>
        <p:spPr>
          <a:xfrm rot="0" flipH="0" flipV="0">
            <a:off x="6248400" y="3467100"/>
            <a:ext cx="1409700" cy="200025"/>
          </a:xfrm>
          <a:prstGeom prst="rect"/>
        </p:spPr>
        <p:txBody>
          <a:bodyPr wrap="none" lIns="0" tIns="0" rIns="0" bIns="0"/>
          <a:p>
            <a:pPr>
              <a:lnSpc>
                <a:spcPct val="130000"/>
              </a:lnSpc>
            </a:pPr>
            <a:r>
              <a:rPr lang="zh-CN" sz="975">
                <a:solidFill>
                  <a:srgbClr val="C8DCF2"/>
                </a:solidFill>
                <a:latin typeface="Microsoft YaHei"/>
                <a:ea typeface="Microsoft YaHei"/>
              </a:rPr>
              <a:t>待深化研究</a:t>
            </a:r>
            <a:endParaRPr/>
          </a:p>
        </p:txBody>
      </p:sp>
      <p:sp>
        <p:nvSpPr>
          <p:cNvPr id="3170" name=""/>
          <p:cNvSpPr/>
          <p:nvPr/>
        </p:nvSpPr>
        <p:spPr>
          <a:xfrm rot="0" flipH="0" flipV="0">
            <a:off x="7867650" y="3133725"/>
            <a:ext cx="1638300" cy="609600"/>
          </a:xfrm>
          <a:prstGeom prst="roundRect">
            <a:avLst>
              <a:gd name="adj" fmla="val 9375"/>
            </a:avLst>
          </a:prstGeom>
          <a:solidFill>
            <a:srgbClr val="F5F7FA"/>
          </a:solidFill>
          <a:ln/>
        </p:spPr>
        <p:txBody>
          <a:bodyPr/>
          <a:p/>
        </p:txBody>
      </p:sp>
      <p:sp>
        <p:nvSpPr>
          <p:cNvPr id="3171" name="" descr="{&quot;isTemplate&quot;:true,&quot;type&quot;:&quot;text&quot;}"/>
          <p:cNvSpPr txBox="1"/>
          <p:nvPr/>
        </p:nvSpPr>
        <p:spPr>
          <a:xfrm rot="0" flipH="0" flipV="0">
            <a:off x="798195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11</a:t>
            </a:r>
            <a:endParaRPr/>
          </a:p>
        </p:txBody>
      </p:sp>
      <p:sp>
        <p:nvSpPr>
          <p:cNvPr id="3172" name="" descr="{&quot;isTemplate&quot;:true,&quot;type&quot;:&quot;text&quot;}"/>
          <p:cNvSpPr txBox="1"/>
          <p:nvPr/>
        </p:nvSpPr>
        <p:spPr>
          <a:xfrm rot="0" flipH="0" flipV="0">
            <a:off x="798195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落地与边界</a:t>
            </a:r>
            <a:endParaRPr/>
          </a:p>
        </p:txBody>
      </p:sp>
      <p:sp>
        <p:nvSpPr>
          <p:cNvPr id="3173" name=""/>
          <p:cNvSpPr/>
          <p:nvPr/>
        </p:nvSpPr>
        <p:spPr>
          <a:xfrm rot="0" flipH="0" flipV="0">
            <a:off x="9601200" y="3133725"/>
            <a:ext cx="1638300" cy="609600"/>
          </a:xfrm>
          <a:prstGeom prst="roundRect">
            <a:avLst>
              <a:gd name="adj" fmla="val 9375"/>
            </a:avLst>
          </a:prstGeom>
          <a:solidFill>
            <a:srgbClr val="F5F7FA"/>
          </a:solidFill>
          <a:ln/>
        </p:spPr>
        <p:txBody>
          <a:bodyPr/>
          <a:p/>
        </p:txBody>
      </p:sp>
      <p:sp>
        <p:nvSpPr>
          <p:cNvPr id="3174" name="" descr="{&quot;isTemplate&quot;:true,&quot;type&quot;:&quot;text&quot;}"/>
          <p:cNvSpPr txBox="1"/>
          <p:nvPr/>
        </p:nvSpPr>
        <p:spPr>
          <a:xfrm rot="0" flipH="0" flipV="0">
            <a:off x="97155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12</a:t>
            </a:r>
            <a:endParaRPr/>
          </a:p>
        </p:txBody>
      </p:sp>
      <p:sp>
        <p:nvSpPr>
          <p:cNvPr id="3175" name="" descr="{&quot;isTemplate&quot;:true,&quot;type&quot;:&quot;text&quot;}"/>
          <p:cNvSpPr txBox="1"/>
          <p:nvPr/>
        </p:nvSpPr>
        <p:spPr>
          <a:xfrm rot="0" flipH="0" flipV="0">
            <a:off x="97155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自进化与扩展</a:t>
            </a:r>
            <a:endParaRPr/>
          </a:p>
        </p:txBody>
      </p:sp>
      <p:sp>
        <p:nvSpPr>
          <p:cNvPr id="3176" name=""/>
          <p:cNvSpPr/>
          <p:nvPr/>
        </p:nvSpPr>
        <p:spPr>
          <a:xfrm rot="0" flipH="0" flipV="0">
            <a:off x="6134100" y="3838575"/>
            <a:ext cx="1638300" cy="609600"/>
          </a:xfrm>
          <a:prstGeom prst="roundRect">
            <a:avLst>
              <a:gd name="adj" fmla="val 9375"/>
            </a:avLst>
          </a:prstGeom>
          <a:solidFill>
            <a:srgbClr val="F5F7FA"/>
          </a:solidFill>
          <a:ln/>
        </p:spPr>
        <p:txBody>
          <a:bodyPr/>
          <a:p/>
        </p:txBody>
      </p:sp>
      <p:sp>
        <p:nvSpPr>
          <p:cNvPr id="3177" name="" descr="{&quot;isTemplate&quot;:true,&quot;type&quot;:&quot;text&quot;}"/>
          <p:cNvSpPr txBox="1"/>
          <p:nvPr/>
        </p:nvSpPr>
        <p:spPr>
          <a:xfrm rot="0" flipH="0" flipV="0">
            <a:off x="6248400" y="39243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13</a:t>
            </a:r>
            <a:endParaRPr/>
          </a:p>
        </p:txBody>
      </p:sp>
      <p:sp>
        <p:nvSpPr>
          <p:cNvPr id="3178" name="" descr="{&quot;isTemplate&quot;:true,&quot;type&quot;:&quot;text&quot;}"/>
          <p:cNvSpPr txBox="1"/>
          <p:nvPr/>
        </p:nvSpPr>
        <p:spPr>
          <a:xfrm rot="0" flipH="0" flipV="0">
            <a:off x="6248400" y="41719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收尾</a:t>
            </a:r>
            <a:endParaRPr/>
          </a:p>
        </p:txBody>
      </p:sp>
      <p:sp>
        <p:nvSpPr>
          <p:cNvPr id="3179" name=""/>
          <p:cNvSpPr/>
          <p:nvPr/>
        </p:nvSpPr>
        <p:spPr>
          <a:xfrm rot="0" flipH="0" flipV="0">
            <a:off x="6134100" y="4686300"/>
            <a:ext cx="5295900" cy="438150"/>
          </a:xfrm>
          <a:prstGeom prst="roundRect">
            <a:avLst>
              <a:gd name="adj" fmla="val 13043"/>
            </a:avLst>
          </a:prstGeom>
          <a:solidFill>
            <a:srgbClr val="F5F7FA"/>
          </a:solidFill>
          <a:ln/>
        </p:spPr>
        <p:txBody>
          <a:bodyPr/>
          <a:p/>
        </p:txBody>
      </p:sp>
      <p:sp>
        <p:nvSpPr>
          <p:cNvPr id="3180" name=""/>
          <p:cNvSpPr/>
          <p:nvPr/>
        </p:nvSpPr>
        <p:spPr>
          <a:xfrm rot="0" flipH="0" flipV="0">
            <a:off x="6267450" y="4800600"/>
            <a:ext cx="57150" cy="209550"/>
          </a:xfrm>
          <a:prstGeom prst="rect">
            <a:avLst/>
          </a:prstGeom>
          <a:solidFill>
            <a:srgbClr val="00A9B5"/>
          </a:solidFill>
          <a:ln/>
        </p:spPr>
        <p:txBody>
          <a:bodyPr/>
          <a:p/>
        </p:txBody>
      </p:sp>
      <p:sp>
        <p:nvSpPr>
          <p:cNvPr id="3181" name="" descr="{&quot;isTemplate&quot;:true,&quot;type&quot;:&quot;text&quot;}"/>
          <p:cNvSpPr txBox="1"/>
          <p:nvPr/>
        </p:nvSpPr>
        <p:spPr>
          <a:xfrm rot="0" flipH="0" flipV="0">
            <a:off x="6419850" y="4781550"/>
            <a:ext cx="2085975" cy="247650"/>
          </a:xfrm>
          <a:prstGeom prst="rect"/>
        </p:spPr>
        <p:txBody>
          <a:bodyPr wrap="none" lIns="0" tIns="0" rIns="0" bIns="0"/>
          <a:p>
            <a:pPr>
              <a:lnSpc>
                <a:spcPct val="140000"/>
              </a:lnSpc>
            </a:pPr>
            <a:r>
              <a:rPr lang="zh-CN" sz="1125" b="1">
                <a:solidFill>
                  <a:srgbClr val="0E2340"/>
                </a:solidFill>
                <a:latin typeface="Microsoft YaHei"/>
                <a:ea typeface="Microsoft YaHei"/>
              </a:rPr>
              <a:t>当前位置：第</a:t>
            </a:r>
            <a:r>
              <a:rPr lang="en-US" sz="1125" b="1">
                <a:solidFill>
                  <a:srgbClr val="0E2340"/>
                </a:solidFill>
                <a:latin typeface="Microsoft YaHei"/>
                <a:ea typeface="Microsoft YaHei"/>
              </a:rPr>
              <a:t xml:space="preserve"> 10 </a:t>
            </a:r>
            <a:r>
              <a:rPr lang="zh-CN" sz="1125" b="1">
                <a:solidFill>
                  <a:srgbClr val="0E2340"/>
                </a:solidFill>
                <a:latin typeface="Microsoft YaHei"/>
                <a:ea typeface="Microsoft YaHei"/>
              </a:rPr>
              <a:t>章</a:t>
            </a:r>
            <a:r>
              <a:rPr lang="en-US" sz="1125" b="1">
                <a:solidFill>
                  <a:srgbClr val="0E2340"/>
                </a:solidFill>
                <a:latin typeface="Microsoft YaHei"/>
                <a:ea typeface="Microsoft YaHei"/>
              </a:rPr>
              <a:t xml:space="preserve"> · </a:t>
            </a:r>
            <a:r>
              <a:rPr lang="zh-CN" sz="1125" b="1">
                <a:solidFill>
                  <a:srgbClr val="0E2340"/>
                </a:solidFill>
                <a:latin typeface="Microsoft YaHei"/>
                <a:ea typeface="Microsoft YaHei"/>
              </a:rPr>
              <a:t>待深化研究</a:t>
            </a:r>
            <a:endParaRPr/>
          </a:p>
        </p:txBody>
      </p:sp>
      <p:sp>
        <p:nvSpPr>
          <p:cNvPr id="3182" name=""/>
          <p:cNvSpPr/>
          <p:nvPr/>
        </p:nvSpPr>
        <p:spPr>
          <a:xfrm rot="0" flipH="0" flipV="0">
            <a:off x="6134100" y="5353050"/>
            <a:ext cx="1257300" cy="381000"/>
          </a:xfrm>
          <a:prstGeom prst="roundRect">
            <a:avLst>
              <a:gd name="adj" fmla="val 15000"/>
            </a:avLst>
          </a:prstGeom>
          <a:solidFill>
            <a:srgbClr val="F5F7FA"/>
          </a:solidFill>
          <a:ln/>
        </p:spPr>
        <p:txBody>
          <a:bodyPr/>
          <a:p/>
        </p:txBody>
      </p:sp>
      <p:sp>
        <p:nvSpPr>
          <p:cNvPr id="3183" name=""/>
          <p:cNvSpPr/>
          <p:nvPr/>
        </p:nvSpPr>
        <p:spPr>
          <a:xfrm rot="0" flipH="0" flipV="0">
            <a:off x="6229350" y="5495925"/>
            <a:ext cx="95250" cy="95250"/>
          </a:xfrm>
          <a:prstGeom prst="roundRect">
            <a:avLst>
              <a:gd name="adj" fmla="val 50000"/>
            </a:avLst>
          </a:prstGeom>
          <a:solidFill>
            <a:srgbClr val="1E9E62"/>
          </a:solidFill>
          <a:ln/>
        </p:spPr>
        <p:txBody>
          <a:bodyPr/>
          <a:p/>
        </p:txBody>
      </p:sp>
      <p:sp>
        <p:nvSpPr>
          <p:cNvPr id="3184" name="" descr="{&quot;isTemplate&quot;:true,&quot;type&quot;:&quot;text&quot;}"/>
          <p:cNvSpPr txBox="1"/>
          <p:nvPr/>
        </p:nvSpPr>
        <p:spPr>
          <a:xfrm rot="0" flipH="0" flipV="0">
            <a:off x="6400800"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已实现</a:t>
            </a:r>
            <a:endParaRPr/>
          </a:p>
        </p:txBody>
      </p:sp>
      <p:sp>
        <p:nvSpPr>
          <p:cNvPr id="3185" name=""/>
          <p:cNvSpPr/>
          <p:nvPr/>
        </p:nvSpPr>
        <p:spPr>
          <a:xfrm rot="0" flipH="0" flipV="0">
            <a:off x="7486650" y="5353050"/>
            <a:ext cx="1247775" cy="381000"/>
          </a:xfrm>
          <a:prstGeom prst="roundRect">
            <a:avLst>
              <a:gd name="adj" fmla="val 15000"/>
            </a:avLst>
          </a:prstGeom>
          <a:solidFill>
            <a:srgbClr val="F5F7FA"/>
          </a:solidFill>
          <a:ln/>
        </p:spPr>
        <p:txBody>
          <a:bodyPr/>
          <a:p/>
        </p:txBody>
      </p:sp>
      <p:sp>
        <p:nvSpPr>
          <p:cNvPr id="3186" name=""/>
          <p:cNvSpPr/>
          <p:nvPr/>
        </p:nvSpPr>
        <p:spPr>
          <a:xfrm rot="0" flipH="0" flipV="0">
            <a:off x="7581900" y="5495925"/>
            <a:ext cx="95250" cy="95250"/>
          </a:xfrm>
          <a:prstGeom prst="roundRect">
            <a:avLst>
              <a:gd name="adj" fmla="val 50000"/>
            </a:avLst>
          </a:prstGeom>
          <a:solidFill>
            <a:srgbClr val="E8A33D"/>
          </a:solidFill>
          <a:ln/>
        </p:spPr>
        <p:txBody>
          <a:bodyPr/>
          <a:p/>
        </p:txBody>
      </p:sp>
      <p:sp>
        <p:nvSpPr>
          <p:cNvPr id="3187" name="" descr="{&quot;isTemplate&quot;:true,&quot;type&quot;:&quot;text&quot;}"/>
          <p:cNvSpPr txBox="1"/>
          <p:nvPr/>
        </p:nvSpPr>
        <p:spPr>
          <a:xfrm rot="0" flipH="0" flipV="0">
            <a:off x="7753350" y="5438775"/>
            <a:ext cx="533400" cy="209550"/>
          </a:xfrm>
          <a:prstGeom prst="rect"/>
        </p:spPr>
        <p:txBody>
          <a:bodyPr wrap="none" lIns="0" tIns="0" rIns="0" bIns="0"/>
          <a:p>
            <a:pPr>
              <a:lnSpc>
                <a:spcPct val="130000"/>
              </a:lnSpc>
            </a:pPr>
            <a:r>
              <a:rPr lang="zh-CN" sz="1050" b="1">
                <a:solidFill>
                  <a:srgbClr val="333A45"/>
                </a:solidFill>
                <a:latin typeface="Microsoft YaHei"/>
                <a:ea typeface="Microsoft YaHei"/>
              </a:rPr>
              <a:t>部分实现</a:t>
            </a:r>
            <a:endParaRPr/>
          </a:p>
        </p:txBody>
      </p:sp>
      <p:sp>
        <p:nvSpPr>
          <p:cNvPr id="3188" name=""/>
          <p:cNvSpPr/>
          <p:nvPr/>
        </p:nvSpPr>
        <p:spPr>
          <a:xfrm rot="0" flipH="0" flipV="0">
            <a:off x="8829675" y="5353050"/>
            <a:ext cx="1257300" cy="381000"/>
          </a:xfrm>
          <a:prstGeom prst="roundRect">
            <a:avLst>
              <a:gd name="adj" fmla="val 15000"/>
            </a:avLst>
          </a:prstGeom>
          <a:solidFill>
            <a:srgbClr val="F5F7FA"/>
          </a:solidFill>
          <a:ln/>
        </p:spPr>
        <p:txBody>
          <a:bodyPr/>
          <a:p/>
        </p:txBody>
      </p:sp>
      <p:sp>
        <p:nvSpPr>
          <p:cNvPr id="3189" name=""/>
          <p:cNvSpPr/>
          <p:nvPr/>
        </p:nvSpPr>
        <p:spPr>
          <a:xfrm rot="0" flipH="0" flipV="0">
            <a:off x="8924925" y="5495925"/>
            <a:ext cx="95250" cy="95250"/>
          </a:xfrm>
          <a:prstGeom prst="roundRect">
            <a:avLst>
              <a:gd name="adj" fmla="val 50000"/>
            </a:avLst>
          </a:prstGeom>
          <a:solidFill>
            <a:srgbClr val="1E7BE0"/>
          </a:solidFill>
          <a:ln/>
        </p:spPr>
        <p:txBody>
          <a:bodyPr/>
          <a:p/>
        </p:txBody>
      </p:sp>
      <p:sp>
        <p:nvSpPr>
          <p:cNvPr id="3190" name="" descr="{&quot;isTemplate&quot;:true,&quot;type&quot;:&quot;text&quot;}"/>
          <p:cNvSpPr txBox="1"/>
          <p:nvPr/>
        </p:nvSpPr>
        <p:spPr>
          <a:xfrm rot="0" flipH="0" flipV="0">
            <a:off x="909637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设计中</a:t>
            </a:r>
            <a:endParaRPr/>
          </a:p>
        </p:txBody>
      </p:sp>
      <p:sp>
        <p:nvSpPr>
          <p:cNvPr id="3191" name=""/>
          <p:cNvSpPr/>
          <p:nvPr/>
        </p:nvSpPr>
        <p:spPr>
          <a:xfrm rot="0" flipH="0" flipV="0">
            <a:off x="10182225" y="5353050"/>
            <a:ext cx="1247775" cy="381000"/>
          </a:xfrm>
          <a:prstGeom prst="roundRect">
            <a:avLst>
              <a:gd name="adj" fmla="val 15000"/>
            </a:avLst>
          </a:prstGeom>
          <a:solidFill>
            <a:srgbClr val="F5F7FA"/>
          </a:solidFill>
          <a:ln/>
        </p:spPr>
        <p:txBody>
          <a:bodyPr/>
          <a:p/>
        </p:txBody>
      </p:sp>
      <p:sp>
        <p:nvSpPr>
          <p:cNvPr id="3192" name=""/>
          <p:cNvSpPr/>
          <p:nvPr/>
        </p:nvSpPr>
        <p:spPr>
          <a:xfrm rot="0" flipH="0" flipV="0">
            <a:off x="10277475" y="5495925"/>
            <a:ext cx="95250" cy="95250"/>
          </a:xfrm>
          <a:prstGeom prst="roundRect">
            <a:avLst>
              <a:gd name="adj" fmla="val 50000"/>
            </a:avLst>
          </a:prstGeom>
          <a:solidFill>
            <a:srgbClr val="98A2B3"/>
          </a:solidFill>
          <a:ln/>
        </p:spPr>
        <p:txBody>
          <a:bodyPr/>
          <a:p/>
        </p:txBody>
      </p:sp>
      <p:sp>
        <p:nvSpPr>
          <p:cNvPr id="3193" name="" descr="{&quot;isTemplate&quot;:true,&quot;type&quot;:&quot;text&quot;}"/>
          <p:cNvSpPr txBox="1"/>
          <p:nvPr/>
        </p:nvSpPr>
        <p:spPr>
          <a:xfrm rot="0" flipH="0" flipV="0">
            <a:off x="1044892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待研究</a:t>
            </a:r>
            <a:endParaRPr/>
          </a:p>
        </p:txBody>
      </p:sp>
      <p:sp>
        <p:nvSpPr>
          <p:cNvPr id="3194" name=""/>
          <p:cNvSpPr/>
          <p:nvPr/>
        </p:nvSpPr>
        <p:spPr>
          <a:xfrm rot="0" flipH="0" flipV="0">
            <a:off x="6134100" y="5972175"/>
            <a:ext cx="5295900" cy="400050"/>
          </a:xfrm>
          <a:custGeom>
            <a:pathLst>
              <a:path w="556" h="42">
                <a:moveTo>
                  <a:pt x="0" y="0"/>
                </a:moveTo>
                <a:lnTo>
                  <a:pt x="556" y="0"/>
                </a:lnTo>
                <a:lnTo>
                  <a:pt x="556" y="1"/>
                </a:lnTo>
                <a:lnTo>
                  <a:pt x="0" y="1"/>
                </a:lnTo>
                <a:close/>
              </a:path>
            </a:pathLst>
          </a:custGeom>
          <a:solidFill>
            <a:srgbClr val="E3E8EF"/>
          </a:solidFill>
          <a:ln/>
        </p:spPr>
        <p:txBody>
          <a:bodyPr/>
          <a:p/>
        </p:txBody>
      </p:sp>
      <p:sp>
        <p:nvSpPr>
          <p:cNvPr id="3195" name=""/>
          <p:cNvSpPr/>
          <p:nvPr/>
        </p:nvSpPr>
        <p:spPr>
          <a:xfrm rot="0" flipH="0" flipV="0">
            <a:off x="6134100" y="6219825"/>
            <a:ext cx="438150" cy="47625"/>
          </a:xfrm>
          <a:prstGeom prst="rect">
            <a:avLst/>
          </a:prstGeom>
          <a:solidFill>
            <a:srgbClr val="00A9B5"/>
          </a:solidFill>
          <a:ln/>
        </p:spPr>
        <p:txBody>
          <a:bodyPr/>
          <a:p/>
        </p:txBody>
      </p:sp>
      <p:sp>
        <p:nvSpPr>
          <p:cNvPr id="3196" name="" descr="{&quot;isTemplate&quot;:true,&quot;type&quot;:&quot;text&quot;}"/>
          <p:cNvSpPr txBox="1"/>
          <p:nvPr/>
        </p:nvSpPr>
        <p:spPr>
          <a:xfrm rot="0" flipH="0" flipV="0">
            <a:off x="6686550" y="6115050"/>
            <a:ext cx="3276600" cy="247650"/>
          </a:xfrm>
          <a:prstGeom prst="rect"/>
        </p:spPr>
        <p:txBody>
          <a:bodyPr wrap="none" lIns="0" tIns="0" rIns="0" bIns="0"/>
          <a:p>
            <a:pPr>
              <a:lnSpc>
                <a:spcPct val="140000"/>
              </a:lnSpc>
            </a:pPr>
            <a:r>
              <a:rPr lang="en-US" sz="1125" b="1">
                <a:solidFill>
                  <a:srgbClr val="7A8699"/>
                </a:solidFill>
                <a:latin typeface="Microsoft YaHei"/>
                <a:ea typeface="Microsoft YaHei"/>
              </a:rPr>
              <a:t xml:space="preserve">StudyAgent </a:t>
            </a:r>
            <a:r>
              <a:rPr lang="zh-CN" sz="1125" b="1">
                <a:solidFill>
                  <a:srgbClr val="7A8699"/>
                </a:solidFill>
                <a:latin typeface="Microsoft YaHei"/>
                <a:ea typeface="Microsoft YaHei"/>
              </a:rPr>
              <a:t>项目设计汇报</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技术评审版</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共</a:t>
            </a:r>
            <a:r>
              <a:rPr lang="en-US" sz="1125" b="1">
                <a:solidFill>
                  <a:srgbClr val="7A8699"/>
                </a:solidFill>
                <a:latin typeface="Microsoft YaHei"/>
                <a:ea typeface="Microsoft YaHei"/>
              </a:rPr>
              <a:t xml:space="preserve"> 124 </a:t>
            </a:r>
            <a:r>
              <a:rPr lang="zh-CN" sz="1125" b="1">
                <a:solidFill>
                  <a:srgbClr val="7A8699"/>
                </a:solidFill>
                <a:latin typeface="Microsoft YaHei"/>
                <a:ea typeface="Microsoft YaHei"/>
              </a:rPr>
              <a:t>页</a:t>
            </a:r>
            <a:endParaRPr/>
          </a:p>
        </p:txBody>
      </p:sp>
    </p:spTree>
  </p:cSld>
</p:sld>
</file>

<file path=ppt/slides/slide96.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3197"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0 / 待深化研究&lt;/Text&gt;&lt;Text style={{ fontSize: 32, color: '#0E2340', fontWeight: 700, lineHeight: 1.3 }}&gt;五个研究方向的范围与定位&lt;/Text&gt;&lt;/Box&gt;&lt;Box style={{ flexDirection: 'row', alignItems: 'center', padding: '7px 16px', borderRadius: 20, background: '#98A2B3' }}&gt;&lt;Text style={{ fontSize: 14, color: '#FFFFFF', fontWeight: 600 }}&gt;待研究&lt;/Text&gt;&lt;/Box&gt;&lt;/Box&gt;&lt;Box style={{ height: 532, paddingTop: 8, flexDirection: 'column' }}&gt;&lt;Box style={{ flexDirection: 'column', flex: 1, paddingTop: 4 }}&gt;&lt;Box style={{ marginBottom: 14 }}&gt;&lt;Box style={{ flexDirection: 'row', alignItems: 'center', background: '#F5F7FA', borderLeft: '4px solid #0E2340', borderRadius: 6, padding: '14px 20px' }}&gt;&lt;Text style={{ fontSize: 20, color: '#0E2340', fontWeight: 600, lineHeight: 1.5 }}&gt;通用原则：分清可观察记录、系统解释、教师确认、学习效果；论文方法只提供研究依据，不能据此推断本项目已有同样效果&lt;/Text&gt;&lt;/Box&gt;&lt;/Box&gt;&lt;Box style={{ flex: 1 }}&gt;&lt;Table style={{ width: '100%', height: '100%' }} defaultTextStyle={{ fontSize: 16, textAlign: 'left', color: '#333A45' }} defaultCellStyle={{ padding: 10, border: { left: { width: 1, color: '#E3E8EF' }, right: { width: 1, color: '#E3E8EF' }, top: { width: 1, color: '#E3E8EF' }, bottom: { width: 1, color: '#E3E8EF' } } }} cells={[[{ text: '编号', textStyle: { color: '#FFFFFF', fontWeight: 600, fontSize: 16 }, cellStyle: { background: { color: '#0E2340' } } }, { text: '方向', textStyle: { color: '#FFFFFF', fontWeight: 600, fontSize: 16 }, cellStyle: { background: { color: '#0E2340' } } }, { text: '定位', textStyle: { color: '#FFFFFF', fontWeight: 600, fontSize: 16 }, cellStyle: { background: { color: '#0E2340' } } }, { text: '当前处理方式', textStyle: { color: '#FFFFFF', fontWeight: 600, fontSize: 16 }, cellStyle: { background: { color: '#0E2340' } } }],&#10;        [{ text: '4', textStyle: { fontWeight: 600, fontSize: 16 } }, { text: '分级提示与逐步撤除', textStyle: { fontSize: 16 } }, { text: '保留深入研究', textStyle: { fontSize: 16 } }, { text: '研究“怎样从帮助完成转向独立完成”，不直接并入已实现教学能力', textStyle: { fontSize: 16 } }],&#10;        [{ text: '6', textStyle: { fontWeight: 600, fontSize: 16 }, cellStyle: { background: { color: '#F5F7FA' } } }, { text: '错误传播分析与纠错回溯', textStyle: { fontSize: 16 }, cellStyle: { background: { color: '#F5F7FA' } } }, { text: '详细研究', textStyle: { fontSize: 16 }, cellStyle: { background: { color: '#F5F7FA' } } }, { text: '学生错误依赖关系 + 系统自身错误如何影响后续记录，两者分别建模', textStyle: { fontSize: 16 }, cellStyle: { background: { color: '#F5F7FA' } } }],&#10;        [{ text: '7', textStyle: { fontWeight: 600, fontSize: 16 } }, { text: '教师干预的跟踪记录', textStyle: { fontSize: 16 } }, { text: '详细研究', textStyle: { fontSize: 16 } }, { text: '从发现问题 → 行动 → 复测 → 后续判断', textStyle: { fontSize: 16 } }],&#10;        [{ text: '8', textStyle: { fontWeight: 600, fontSize: 16 }, cellStyle: { background: { color: '#F5F7FA' } } }, { text: '低门槛接入、识别确认与断网恢复', textStyle: { fontSize: 16 }, cellStyle: { background: { color: '#F5F7FA' } } }, { text: '详细研究', textStyle: { fontSize: 16 }, cellStyle: { background: { color: '#F5F7FA' } } }, { text: '纸面导入、识别核对、断网恢复、已有客户端衔接', textStyle: { fontSize: 16 }, cellStyle: { background: { color: '#F5F7FA' } } }],&#10;        [{ text: '9', textStyle: { fontWeight: 600, fontSize: 16 } }, { text: '数学解释、探究与多解法', textStyle: { fontSize: 16 } }, { text: '保留深入研究', textStyle: { fontSize: 16 } }, { text: '开放任务的组织和评价，不把固定套路体系直接当成完整能力量表', textStyle: { fontSize: 16 } }]]} /&gt;&lt;/Box&gt;&lt;/Box&gt;&lt;/Box&gt;&lt;Box style={{ height: 40, flexDirection: 'row', justifyContent: 'space-between', alignItems: 'center', borderTop: '1px solid #E3E8EF', marginTop: 8 }}&gt;&lt;Text style={{ fontSize: 13, color: '#7A8699', fontWeight: 400, lineHeight: 1.4 }}&gt;依据：待深化功能研究.md §1&lt;/Text&gt;&lt;Text style={{ fontSize: 14, color: '#7A8699', fontWeight: 400, lineHeight: 1.4 }}&gt; 96 / 124 &lt;/Text&gt;&lt;/Box&gt;&lt;/Slide&gt;"/>
        <p:cNvGrpSpPr/>
        <p:nvPr/>
      </p:nvGrpSpPr>
      <p:grpSpPr>
        <a:xfrm>
          <a:off x="0" y="0"/>
          <a:ext cx="0" cy="0"/>
          <a:chOff x="0" y="0"/>
          <a:chExt cx="0" cy="0"/>
        </a:xfrm>
      </p:grpSpPr>
      <p:sp>
        <p:nvSpPr>
          <p:cNvPr id="3198" name=""/>
          <p:cNvSpPr/>
          <p:nvPr/>
        </p:nvSpPr>
        <p:spPr>
          <a:xfrm rot="0" flipH="0" flipV="0">
            <a:off x="0" y="0"/>
            <a:ext cx="12192000" cy="6858000"/>
          </a:xfrm>
          <a:prstGeom prst="rect">
            <a:avLst/>
          </a:prstGeom>
          <a:solidFill>
            <a:srgbClr val="FFFFFF"/>
          </a:solidFill>
          <a:ln/>
        </p:spPr>
        <p:txBody>
          <a:bodyPr/>
          <a:p/>
        </p:txBody>
      </p:sp>
      <p:sp>
        <p:nvSpPr>
          <p:cNvPr id="3199" name="" descr="{&quot;isTemplate&quot;:true,&quot;type&quot;:&quot;text&quot;}"/>
          <p:cNvSpPr txBox="1"/>
          <p:nvPr/>
        </p:nvSpPr>
        <p:spPr>
          <a:xfrm rot="0" flipH="0" flipV="0">
            <a:off x="666750" y="381000"/>
            <a:ext cx="3657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10 / </a:t>
            </a:r>
            <a:r>
              <a:rPr lang="zh-CN" sz="1050" spc="75">
                <a:solidFill>
                  <a:srgbClr val="7A8699"/>
                </a:solidFill>
                <a:latin typeface="Microsoft YaHei"/>
                <a:ea typeface="Microsoft YaHei"/>
              </a:rPr>
              <a:t>待深化研究</a:t>
            </a:r>
            <a:endParaRPr/>
          </a:p>
        </p:txBody>
      </p:sp>
      <p:sp>
        <p:nvSpPr>
          <p:cNvPr id="3200" name="" descr="{&quot;isTemplate&quot;:true,&quot;type&quot;:&quot;text&quot;}"/>
          <p:cNvSpPr txBox="1"/>
          <p:nvPr/>
        </p:nvSpPr>
        <p:spPr>
          <a:xfrm rot="0" flipH="0" flipV="0">
            <a:off x="666750" y="666750"/>
            <a:ext cx="3657600" cy="476250"/>
          </a:xfrm>
          <a:prstGeom prst="rect"/>
        </p:spPr>
        <p:txBody>
          <a:bodyPr wrap="none" lIns="0" tIns="0" rIns="0" bIns="0"/>
          <a:p>
            <a:pPr>
              <a:lnSpc>
                <a:spcPct val="130000"/>
              </a:lnSpc>
            </a:pPr>
            <a:r>
              <a:rPr lang="zh-CN" sz="2400" b="1">
                <a:solidFill>
                  <a:srgbClr val="0E2340"/>
                </a:solidFill>
                <a:latin typeface="Microsoft YaHei"/>
                <a:ea typeface="Microsoft YaHei"/>
              </a:rPr>
              <a:t>五个研究方向的范围与定位</a:t>
            </a:r>
            <a:endParaRPr/>
          </a:p>
        </p:txBody>
      </p:sp>
      <p:sp>
        <p:nvSpPr>
          <p:cNvPr id="3201" name=""/>
          <p:cNvSpPr/>
          <p:nvPr/>
        </p:nvSpPr>
        <p:spPr>
          <a:xfrm rot="0" flipH="0" flipV="0">
            <a:off x="10820400" y="847725"/>
            <a:ext cx="704850" cy="295275"/>
          </a:xfrm>
          <a:prstGeom prst="roundRect">
            <a:avLst>
              <a:gd name="adj" fmla="val 64516"/>
            </a:avLst>
          </a:prstGeom>
          <a:solidFill>
            <a:srgbClr val="98A2B3"/>
          </a:solidFill>
          <a:ln/>
        </p:spPr>
        <p:txBody>
          <a:bodyPr/>
          <a:p/>
        </p:txBody>
      </p:sp>
      <p:sp>
        <p:nvSpPr>
          <p:cNvPr id="3202"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待研究</a:t>
            </a:r>
            <a:endParaRPr/>
          </a:p>
        </p:txBody>
      </p:sp>
      <p:sp>
        <p:nvSpPr>
          <p:cNvPr id="3203" name=""/>
          <p:cNvSpPr/>
          <p:nvPr/>
        </p:nvSpPr>
        <p:spPr>
          <a:xfrm rot="0" flipH="0" flipV="0">
            <a:off x="704850" y="1257300"/>
            <a:ext cx="10858500" cy="952500"/>
          </a:xfrm>
          <a:prstGeom prst="roundRect">
            <a:avLst>
              <a:gd name="adj" fmla="val 6000"/>
            </a:avLst>
          </a:prstGeom>
          <a:solidFill>
            <a:srgbClr val="F5F7FA"/>
          </a:solidFill>
          <a:ln/>
        </p:spPr>
        <p:txBody>
          <a:bodyPr/>
          <a:p/>
        </p:txBody>
      </p:sp>
      <p:sp>
        <p:nvSpPr>
          <p:cNvPr id="3204" name=""/>
          <p:cNvSpPr/>
          <p:nvPr/>
        </p:nvSpPr>
        <p:spPr>
          <a:xfrm rot="0" flipH="0" flipV="0">
            <a:off x="704850" y="1257300"/>
            <a:ext cx="10858500" cy="952500"/>
          </a:xfrm>
          <a:custGeom>
            <a:pathLst>
              <a:path w="1140" h="100">
                <a:moveTo>
                  <a:pt x="6" y="0"/>
                </a:moveTo>
                <a:cubicBezTo>
                  <a:pt x="5" y="0"/>
                  <a:pt x="4" y="1"/>
                  <a:pt x="4" y="2"/>
                </a:cubicBezTo>
                <a:lnTo>
                  <a:pt x="4" y="98"/>
                </a:lnTo>
                <a:cubicBezTo>
                  <a:pt x="4" y="99"/>
                  <a:pt x="5" y="100"/>
                  <a:pt x="6" y="100"/>
                </a:cubicBezTo>
                <a:cubicBezTo>
                  <a:pt x="3" y="100"/>
                  <a:pt x="0" y="97"/>
                  <a:pt x="0" y="94"/>
                </a:cubicBezTo>
                <a:lnTo>
                  <a:pt x="0" y="6"/>
                </a:lnTo>
                <a:cubicBezTo>
                  <a:pt x="0" y="3"/>
                  <a:pt x="3" y="0"/>
                  <a:pt x="6" y="0"/>
                </a:cubicBezTo>
                <a:close/>
              </a:path>
            </a:pathLst>
          </a:custGeom>
          <a:solidFill>
            <a:srgbClr val="0E2340"/>
          </a:solidFill>
          <a:ln/>
        </p:spPr>
        <p:txBody>
          <a:bodyPr/>
          <a:p/>
        </p:txBody>
      </p:sp>
      <p:sp>
        <p:nvSpPr>
          <p:cNvPr id="3205" name="" descr="{&quot;isTemplate&quot;:true,&quot;type&quot;:&quot;text&quot;}"/>
          <p:cNvSpPr txBox="1"/>
          <p:nvPr/>
        </p:nvSpPr>
        <p:spPr>
          <a:xfrm rot="0" flipH="0" flipV="0">
            <a:off x="895350" y="1390650"/>
            <a:ext cx="10439400" cy="685800"/>
          </a:xfrm>
          <a:prstGeom prst="rect"/>
        </p:spPr>
        <p:txBody>
          <a:bodyPr wrap="square" lIns="0" tIns="0" rIns="0" bIns="0">
            <a:normAutofit/>
          </a:bodyPr>
          <a:p>
            <a:pPr>
              <a:lnSpc>
                <a:spcPct val="150000"/>
              </a:lnSpc>
            </a:pPr>
            <a:r>
              <a:rPr lang="zh-CN" sz="1500" b="1">
                <a:solidFill>
                  <a:srgbClr val="0E2340"/>
                </a:solidFill>
                <a:latin typeface="Microsoft YaHei"/>
                <a:ea typeface="Microsoft YaHei"/>
              </a:rPr>
              <a:t>通用原则：分清可观察记录、系统解释、教师确认、学习效果；论文方法只提供研究依据，不能据此推断本项目已有同样效果</a:t>
            </a:r>
            <a:endParaRPr/>
          </a:p>
        </p:txBody>
      </p:sp>
      <p:graphicFrame>
        <p:nvGraphicFramePr>
          <p:cNvPr id="3206" name=""/>
          <p:cNvGraphicFramePr/>
          <p:nvPr/>
        </p:nvGraphicFramePr>
        <p:xfrm rot="0" flipH="0" flipV="0">
          <a:off x="666750" y="2343150"/>
          <a:ext cx="10858500" cy="3867150"/>
        </p:xfrm>
        <a:graphic>
          <a:graphicData uri="http://schemas.openxmlformats.org/drawingml/2006/table">
            <a:tbl>
              <a:tblGrid>
                <a:gridCol w="507886">
                  <a:extLst>
                    <a:ext uri="{9D8B030D-6E8A-4147-A177-3AD203B41FA5}">
                      <a16:colId val="1"/>
                    </a:ext>
                  </a:extLst>
                </a:gridCol>
                <a:gridCol w="3047315">
                  <a:extLst>
                    <a:ext uri="{9D8B030D-6E8A-4147-A177-3AD203B41FA5}">
                      <a16:colId val="2"/>
                    </a:ext>
                  </a:extLst>
                </a:gridCol>
                <a:gridCol w="1289248">
                  <a:extLst>
                    <a:ext uri="{9D8B030D-6E8A-4147-A177-3AD203B41FA5}">
                      <a16:colId val="3"/>
                    </a:ext>
                  </a:extLst>
                </a:gridCol>
                <a:gridCol w="6014051">
                  <a:extLst>
                    <a:ext uri="{9D8B030D-6E8A-4147-A177-3AD203B41FA5}">
                      <a16:colId val="4"/>
                    </a:ext>
                  </a:extLst>
                </a:gridCol>
              </a:tblGrid>
              <a:tr h="644525">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编号</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方向</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定位</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当前处理方式</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644525">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4</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分级提示与逐步撤除</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保留深入研究</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研究“怎样从帮助完成转向独立完成”，不直接并入已实现教学能力</a:t>
                      </a:r>
                      <a:endParaRPr/>
                    </a:p>
                  </a:txBody>
                  <a:tcPr marL="45720" marR="45720" marT="45720" marB="45720" anchor="ctr">
                    <a:lnL>
                      <a:noFill/>
                    </a:lnL>
                    <a:lnR>
                      <a:noFill/>
                    </a:lnR>
                    <a:lnT>
                      <a:noFill/>
                    </a:lnT>
                    <a:lnB>
                      <a:noFill/>
                    </a:lnB>
                  </a:tcPr>
                </a:tc>
                <a:extLst>
                  <a:ext uri="{0D108BD9-81ED-4DB2-BD59-A6C34878D82A}">
                    <a16:rowId val="2"/>
                  </a:ext>
                </a:extLst>
              </a:tr>
              <a:tr h="644525">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6</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错误传播分析与纠错回溯</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详细研究</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学生错误依赖关系 + 系统自身错误如何影响后续记录，两者分别建模</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644525">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7</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教师干预的跟踪记录</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详细研究</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从发现问题 → 行动 → 复测 → 后续判断</a:t>
                      </a:r>
                      <a:endParaRPr/>
                    </a:p>
                  </a:txBody>
                  <a:tcPr marL="45720" marR="45720" marT="45720" marB="45720" anchor="ctr">
                    <a:lnL>
                      <a:noFill/>
                    </a:lnL>
                    <a:lnR>
                      <a:noFill/>
                    </a:lnR>
                    <a:lnT>
                      <a:noFill/>
                    </a:lnT>
                    <a:lnB>
                      <a:noFill/>
                    </a:lnB>
                  </a:tcPr>
                </a:tc>
                <a:extLst>
                  <a:ext uri="{0D108BD9-81ED-4DB2-BD59-A6C34878D82A}">
                    <a16:rowId val="4"/>
                  </a:ext>
                </a:extLst>
              </a:tr>
              <a:tr h="644525">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8</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低门槛接入、识别确认与断网恢复</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详细研究</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纸面导入、识别核对、断网恢复、已有客户端衔接</a:t>
                      </a:r>
                      <a:endParaRPr/>
                    </a:p>
                  </a:txBody>
                  <a:tcPr marL="45720" marR="45720" marT="45720" marB="45720" anchor="ctr">
                    <a:lnL>
                      <a:noFill/>
                    </a:lnL>
                    <a:lnR>
                      <a:noFill/>
                    </a:lnR>
                    <a:lnT>
                      <a:noFill/>
                    </a:lnT>
                    <a:lnB>
                      <a:noFill/>
                    </a:lnB>
                    <a:solidFill>
                      <a:srgbClr val="F5F7FA"/>
                    </a:solidFill>
                  </a:tcPr>
                </a:tc>
                <a:extLst>
                  <a:ext uri="{0D108BD9-81ED-4DB2-BD59-A6C34878D82A}">
                    <a16:rowId val="5"/>
                  </a:ext>
                </a:extLst>
              </a:tr>
              <a:tr h="644525">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9</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数学解释、探究与多解法</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保留深入研究</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开放任务的组织和评价，不把固定套路体系直接当成完整能力量表</a:t>
                      </a:r>
                      <a:endParaRPr/>
                    </a:p>
                  </a:txBody>
                  <a:tcPr marL="45720" marR="45720" marT="45720" marB="45720" anchor="ctr">
                    <a:lnL>
                      <a:noFill/>
                    </a:lnL>
                    <a:lnR>
                      <a:noFill/>
                    </a:lnR>
                    <a:lnT>
                      <a:noFill/>
                    </a:lnT>
                    <a:lnB>
                      <a:noFill/>
                    </a:lnB>
                  </a:tcPr>
                </a:tc>
                <a:extLst>
                  <a:ext uri="{0D108BD9-81ED-4DB2-BD59-A6C34878D82A}">
                    <a16:rowId val="6"/>
                  </a:ext>
                </a:extLst>
              </a:tr>
            </a:tbl>
          </a:graphicData>
        </a:graphic>
      </p:graphicFrame>
      <p:sp>
        <p:nvSpPr>
          <p:cNvPr id="3207"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3208" name="" descr="{&quot;isTemplate&quot;:true,&quot;type&quot;:&quot;text&quot;}"/>
          <p:cNvSpPr txBox="1"/>
          <p:nvPr/>
        </p:nvSpPr>
        <p:spPr>
          <a:xfrm rot="0" flipH="0" flipV="0">
            <a:off x="666750" y="6381750"/>
            <a:ext cx="1619250" cy="209550"/>
          </a:xfrm>
          <a:prstGeom prst="rect"/>
        </p:spPr>
        <p:txBody>
          <a:bodyPr wrap="none" lIns="0" tIns="0" rIns="0" bIns="0"/>
          <a:p>
            <a:pPr>
              <a:lnSpc>
                <a:spcPct val="140000"/>
              </a:lnSpc>
            </a:pPr>
            <a:r>
              <a:rPr lang="zh-CN" sz="975">
                <a:solidFill>
                  <a:srgbClr val="7A8699"/>
                </a:solidFill>
                <a:latin typeface="Microsoft YaHei"/>
                <a:ea typeface="Microsoft YaHei"/>
              </a:rPr>
              <a:t>依据：待深化功能研究</a:t>
            </a:r>
            <a:r>
              <a:rPr lang="en-US" sz="975">
                <a:solidFill>
                  <a:srgbClr val="7A8699"/>
                </a:solidFill>
                <a:latin typeface="Microsoft YaHei"/>
                <a:ea typeface="Microsoft YaHei"/>
              </a:rPr>
              <a:t>.md §1</a:t>
            </a:r>
            <a:endParaRPr/>
          </a:p>
        </p:txBody>
      </p:sp>
      <p:sp>
        <p:nvSpPr>
          <p:cNvPr id="3209"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96 / 124 </a:t>
            </a:r>
            <a:endParaRPr/>
          </a:p>
        </p:txBody>
      </p:sp>
    </p:spTree>
  </p:cSld>
</p:sld>
</file>

<file path=ppt/slides/slide97.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3210"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0 / 待深化研究&lt;/Text&gt;&lt;Text style={{ fontSize: 32, color: '#0E2340', fontWeight: 700, lineHeight: 1.3 }}&gt;方向 4：分级提示与逐步撤除&lt;/Text&gt;&lt;/Box&gt;&lt;Box style={{ flexDirection: 'row', alignItems: 'center', padding: '7px 16px', borderRadius: 20, background: '#98A2B3' }}&gt;&lt;Text style={{ fontSize: 14, color: '#FFFFFF', fontWeight: 600 }}&gt;待研究&lt;/Text&gt;&lt;/Box&gt;&lt;/Box&gt;&lt;Box style={{ height: 532, paddingTop: 8, flexDirection: 'column' }}&gt;&lt;Box style={{ flexDirection: 'column', flex: 1, justifyContent: 'center', gap: 16 }}&gt;&lt;Box style={{ flexDirection: 'column', gap: 16, flex: 1, justifyContent: 'center' }}&gt;&lt;svg width={1140} height={330} viewBox='0 0 1140 330'&gt;&lt;rect x='0' y='0' width='1140' height='56' rx='8' fill='#9FD0F5'/&gt;&lt;text x='570.0' y='22.0' font-size='22' fill='#FFFFFF' text-anchor='middle' font-weight='600'&gt;第一级 · 目标提醒&lt;/text&gt;&lt;text x='570.0' y='48.0' font-size='15' fill='#C8DCF2' text-anchor='middle' font-weight='400'&gt;帮助学生最少&lt;/text&gt;&lt;path d='M562 57 l8 8 l-8 8' fill='none' stroke='#00A9B5' stroke-width='2'/&gt;&lt;rect x='0' y='68' width='1140' height='56' rx='8' fill='#6FB6EC'/&gt;&lt;text x='570.0' y='103.0' font-size='22' fill='#FFFFFF' text-anchor='middle' font-weight='600'&gt;第二级 · 相关知识&lt;/text&gt;&lt;path d='M562 125 l8 8 l-8 8' fill='none' stroke='#00A9B5' stroke-width='2'/&gt;&lt;rect x='0' y='136' width='1140' height='56' rx='8' fill='#1E7BE0'/&gt;&lt;text x='570.0' y='171.0' font-size='22' fill='#FFFFFF' text-anchor='middle' font-weight='600'&gt;第三级 · 关键转化&lt;/text&gt;&lt;path d='M562 193 l8 8 l-8 8' fill='none' stroke='#00A9B5' stroke-width='2'/&gt;&lt;rect x='0' y='204' width='1140' height='56' rx='8' fill='#1B4E8C'/&gt;&lt;text x='570.0' y='239.0' font-size='22' fill='#0E2340' text-anchor='middle' font-weight='600'&gt;第四级 · 局部示例&lt;/text&gt;&lt;path d='M562 261 l8 8 l-8 8' fill='none' stroke='#00A9B5' stroke-width='2'/&gt;&lt;rect x='0' y='272' width='1140' height='56' rx='8' fill='#0E2340'/&gt;&lt;text x='570.0' y='294.0' font-size='22' fill='#0E2340' text-anchor='middle' font-weight='600'&gt;第五级 · 完整结果&lt;/text&gt;&lt;text x='570.0' y='320.0' font-size='15' fill='#333A45' text-anchor='middle' font-weight='400'&gt;帮助学生最多&lt;/text&gt;&lt;/svg&gt;&lt;/Box&gt;&lt;Box style={{ flexDirection: 'row', alignItems: 'center', background: '#F5F7FA', borderLeft: '4px solid #E8A33D', borderRadius: 6, padding: '14px 20px' }}&gt;&lt;Text style={{ fontSize: 17, color: '#0E2340', fontWeight: 600, lineHeight: 1.5 }}&gt;关键风险：答对次数增加，可能来自提示变多而非独立能力提高——需在新题中单独观察无提示表现。不能将突然撤去支持当作已经掌握，允许适度回退&lt;/Text&gt;&lt;/Box&gt;&lt;/Box&gt;&lt;/Box&gt;&lt;Box style={{ height: 40, flexDirection: 'row', justifyContent: 'space-between', alignItems: 'center', borderTop: '1px solid #E3E8EF', marginTop: 8 }}&gt;&lt;Text style={{ fontSize: 13, color: '#7A8699', fontWeight: 400, lineHeight: 1.4 }}&gt;依据：待深化功能研究.md §2&lt;/Text&gt;&lt;Text style={{ fontSize: 14, color: '#7A8699', fontWeight: 400, lineHeight: 1.4 }}&gt; 97 / 124 &lt;/Text&gt;&lt;/Box&gt;&lt;/Slide&gt;"/>
        <p:cNvGrpSpPr/>
        <p:nvPr/>
      </p:nvGrpSpPr>
      <p:grpSpPr>
        <a:xfrm>
          <a:off x="0" y="0"/>
          <a:ext cx="0" cy="0"/>
          <a:chOff x="0" y="0"/>
          <a:chExt cx="0" cy="0"/>
        </a:xfrm>
      </p:grpSpPr>
      <p:sp>
        <p:nvSpPr>
          <p:cNvPr id="3211" name=""/>
          <p:cNvSpPr/>
          <p:nvPr/>
        </p:nvSpPr>
        <p:spPr>
          <a:xfrm rot="0" flipH="0" flipV="0">
            <a:off x="0" y="0"/>
            <a:ext cx="12192000" cy="6858000"/>
          </a:xfrm>
          <a:prstGeom prst="rect">
            <a:avLst/>
          </a:prstGeom>
          <a:solidFill>
            <a:srgbClr val="FFFFFF"/>
          </a:solidFill>
          <a:ln/>
        </p:spPr>
        <p:txBody>
          <a:bodyPr/>
          <a:p/>
        </p:txBody>
      </p:sp>
      <p:sp>
        <p:nvSpPr>
          <p:cNvPr id="3212" name="" descr="{&quot;isTemplate&quot;:true,&quot;type&quot;:&quot;text&quot;}"/>
          <p:cNvSpPr txBox="1"/>
          <p:nvPr/>
        </p:nvSpPr>
        <p:spPr>
          <a:xfrm rot="0" flipH="0" flipV="0">
            <a:off x="666750" y="381000"/>
            <a:ext cx="3914775"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10 / </a:t>
            </a:r>
            <a:r>
              <a:rPr lang="zh-CN" sz="1050" spc="75">
                <a:solidFill>
                  <a:srgbClr val="7A8699"/>
                </a:solidFill>
                <a:latin typeface="Microsoft YaHei"/>
                <a:ea typeface="Microsoft YaHei"/>
              </a:rPr>
              <a:t>待深化研究</a:t>
            </a:r>
            <a:endParaRPr/>
          </a:p>
        </p:txBody>
      </p:sp>
      <p:sp>
        <p:nvSpPr>
          <p:cNvPr id="3213" name="" descr="{&quot;isTemplate&quot;:true,&quot;type&quot;:&quot;text&quot;}"/>
          <p:cNvSpPr txBox="1"/>
          <p:nvPr/>
        </p:nvSpPr>
        <p:spPr>
          <a:xfrm rot="0" flipH="0" flipV="0">
            <a:off x="666750" y="666750"/>
            <a:ext cx="3914775" cy="476250"/>
          </a:xfrm>
          <a:prstGeom prst="rect"/>
        </p:spPr>
        <p:txBody>
          <a:bodyPr wrap="none" lIns="0" tIns="0" rIns="0" bIns="0"/>
          <a:p>
            <a:pPr>
              <a:lnSpc>
                <a:spcPct val="130000"/>
              </a:lnSpc>
            </a:pPr>
            <a:r>
              <a:rPr lang="zh-CN" sz="2400" b="1">
                <a:solidFill>
                  <a:srgbClr val="0E2340"/>
                </a:solidFill>
                <a:latin typeface="Microsoft YaHei"/>
                <a:ea typeface="Microsoft YaHei"/>
              </a:rPr>
              <a:t>方向</a:t>
            </a:r>
            <a:r>
              <a:rPr lang="en-US" sz="2400" b="1">
                <a:solidFill>
                  <a:srgbClr val="0E2340"/>
                </a:solidFill>
                <a:latin typeface="Microsoft YaHei"/>
                <a:ea typeface="Microsoft YaHei"/>
              </a:rPr>
              <a:t xml:space="preserve"> 4</a:t>
            </a:r>
            <a:r>
              <a:rPr lang="zh-CN" sz="2400" b="1">
                <a:solidFill>
                  <a:srgbClr val="0E2340"/>
                </a:solidFill>
                <a:latin typeface="Microsoft YaHei"/>
                <a:ea typeface="Microsoft YaHei"/>
              </a:rPr>
              <a:t>：分级提示与逐步撤除</a:t>
            </a:r>
            <a:endParaRPr/>
          </a:p>
        </p:txBody>
      </p:sp>
      <p:sp>
        <p:nvSpPr>
          <p:cNvPr id="3214" name=""/>
          <p:cNvSpPr/>
          <p:nvPr/>
        </p:nvSpPr>
        <p:spPr>
          <a:xfrm rot="0" flipH="0" flipV="0">
            <a:off x="10820400" y="847725"/>
            <a:ext cx="704850" cy="295275"/>
          </a:xfrm>
          <a:prstGeom prst="roundRect">
            <a:avLst>
              <a:gd name="adj" fmla="val 64516"/>
            </a:avLst>
          </a:prstGeom>
          <a:solidFill>
            <a:srgbClr val="98A2B3"/>
          </a:solidFill>
          <a:ln/>
        </p:spPr>
        <p:txBody>
          <a:bodyPr/>
          <a:p/>
        </p:txBody>
      </p:sp>
      <p:sp>
        <p:nvSpPr>
          <p:cNvPr id="3215"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待研究</a:t>
            </a:r>
            <a:endParaRPr/>
          </a:p>
        </p:txBody>
      </p:sp>
      <p:pic>
        <p:nvPicPr>
          <p:cNvPr id="3216" name=""/>
          <p:cNvPicPr>
            <a:picLocks noChangeAspect="1"/>
          </p:cNvPicPr>
          <p:nvPr/>
        </p:nvPicPr>
        <p:blipFill>
          <a:blip>
            <a:extLst>
              <a:ext uri="{96DAC541-7B7A-43D3-8B79-37D633B846F1}">
                <asvg:svgBlip r:embed="rId1"/>
              </a:ext>
            </a:extLst>
          </a:blip>
          <a:stretch>
            <a:fillRect/>
          </a:stretch>
        </p:blipFill>
        <p:spPr>
          <a:xfrm rot="0" flipH="0" flipV="0">
            <a:off x="666750" y="1638300"/>
            <a:ext cx="10858500" cy="3143250"/>
          </a:xfrm>
          <a:prstGeom prst="rect">
            <a:avLst/>
          </a:prstGeom>
          <a:ln/>
        </p:spPr>
      </p:pic>
      <p:sp>
        <p:nvSpPr>
          <p:cNvPr id="3217" name=""/>
          <p:cNvSpPr/>
          <p:nvPr/>
        </p:nvSpPr>
        <p:spPr>
          <a:xfrm rot="0" flipH="0" flipV="0">
            <a:off x="704850" y="5353050"/>
            <a:ext cx="10858500" cy="857250"/>
          </a:xfrm>
          <a:prstGeom prst="roundRect">
            <a:avLst>
              <a:gd name="adj" fmla="val 6667"/>
            </a:avLst>
          </a:prstGeom>
          <a:solidFill>
            <a:srgbClr val="F5F7FA"/>
          </a:solidFill>
          <a:ln/>
        </p:spPr>
        <p:txBody>
          <a:bodyPr/>
          <a:p/>
        </p:txBody>
      </p:sp>
      <p:sp>
        <p:nvSpPr>
          <p:cNvPr id="3218" name=""/>
          <p:cNvSpPr/>
          <p:nvPr/>
        </p:nvSpPr>
        <p:spPr>
          <a:xfrm rot="0" flipH="0" flipV="0">
            <a:off x="704850" y="5353050"/>
            <a:ext cx="10858500" cy="857250"/>
          </a:xfrm>
          <a:custGeom>
            <a:pathLst>
              <a:path w="1140" h="90">
                <a:moveTo>
                  <a:pt x="6" y="0"/>
                </a:moveTo>
                <a:cubicBezTo>
                  <a:pt x="5" y="0"/>
                  <a:pt x="4" y="1"/>
                  <a:pt x="4" y="2"/>
                </a:cubicBezTo>
                <a:lnTo>
                  <a:pt x="4" y="88"/>
                </a:lnTo>
                <a:cubicBezTo>
                  <a:pt x="4" y="89"/>
                  <a:pt x="5" y="90"/>
                  <a:pt x="6" y="90"/>
                </a:cubicBezTo>
                <a:cubicBezTo>
                  <a:pt x="3" y="90"/>
                  <a:pt x="0" y="87"/>
                  <a:pt x="0" y="84"/>
                </a:cubicBezTo>
                <a:lnTo>
                  <a:pt x="0" y="6"/>
                </a:lnTo>
                <a:cubicBezTo>
                  <a:pt x="0" y="3"/>
                  <a:pt x="3" y="0"/>
                  <a:pt x="6" y="0"/>
                </a:cubicBezTo>
                <a:close/>
              </a:path>
            </a:pathLst>
          </a:custGeom>
          <a:solidFill>
            <a:srgbClr val="E8A33D"/>
          </a:solidFill>
          <a:ln/>
        </p:spPr>
        <p:txBody>
          <a:bodyPr/>
          <a:p/>
        </p:txBody>
      </p:sp>
      <p:sp>
        <p:nvSpPr>
          <p:cNvPr id="3219" name="" descr="{&quot;isTemplate&quot;:true,&quot;type&quot;:&quot;text&quot;}"/>
          <p:cNvSpPr txBox="1"/>
          <p:nvPr/>
        </p:nvSpPr>
        <p:spPr>
          <a:xfrm rot="0" flipH="0" flipV="0">
            <a:off x="895350" y="5486400"/>
            <a:ext cx="10439400" cy="590550"/>
          </a:xfrm>
          <a:prstGeom prst="rect"/>
        </p:spPr>
        <p:txBody>
          <a:bodyPr wrap="square" lIns="0" tIns="0" rIns="0" bIns="0">
            <a:normAutofit/>
          </a:bodyPr>
          <a:p>
            <a:pPr>
              <a:lnSpc>
                <a:spcPct val="150000"/>
              </a:lnSpc>
            </a:pPr>
            <a:r>
              <a:rPr lang="zh-CN" sz="1275" b="1">
                <a:solidFill>
                  <a:srgbClr val="0E2340"/>
                </a:solidFill>
                <a:latin typeface="Microsoft YaHei"/>
                <a:ea typeface="Microsoft YaHei"/>
              </a:rPr>
              <a:t>关键风险：答对次数增加，可能来自提示变多而非独立能力提高——需在新题中单独观察无提示表现。不能将突然撤去支持当作已经掌握，允许适度回退</a:t>
            </a:r>
            <a:endParaRPr/>
          </a:p>
        </p:txBody>
      </p:sp>
      <p:sp>
        <p:nvSpPr>
          <p:cNvPr id="3220"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3221" name="" descr="{&quot;isTemplate&quot;:true,&quot;type&quot;:&quot;text&quot;}"/>
          <p:cNvSpPr txBox="1"/>
          <p:nvPr/>
        </p:nvSpPr>
        <p:spPr>
          <a:xfrm rot="0" flipH="0" flipV="0">
            <a:off x="666750" y="6381750"/>
            <a:ext cx="1619250" cy="209550"/>
          </a:xfrm>
          <a:prstGeom prst="rect"/>
        </p:spPr>
        <p:txBody>
          <a:bodyPr wrap="none" lIns="0" tIns="0" rIns="0" bIns="0"/>
          <a:p>
            <a:pPr>
              <a:lnSpc>
                <a:spcPct val="140000"/>
              </a:lnSpc>
            </a:pPr>
            <a:r>
              <a:rPr lang="zh-CN" sz="975">
                <a:solidFill>
                  <a:srgbClr val="7A8699"/>
                </a:solidFill>
                <a:latin typeface="Microsoft YaHei"/>
                <a:ea typeface="Microsoft YaHei"/>
              </a:rPr>
              <a:t>依据：待深化功能研究</a:t>
            </a:r>
            <a:r>
              <a:rPr lang="en-US" sz="975">
                <a:solidFill>
                  <a:srgbClr val="7A8699"/>
                </a:solidFill>
                <a:latin typeface="Microsoft YaHei"/>
                <a:ea typeface="Microsoft YaHei"/>
              </a:rPr>
              <a:t>.md §2</a:t>
            </a:r>
            <a:endParaRPr/>
          </a:p>
        </p:txBody>
      </p:sp>
      <p:sp>
        <p:nvSpPr>
          <p:cNvPr id="3222"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97 / 124 </a:t>
            </a:r>
            <a:endParaRPr/>
          </a:p>
        </p:txBody>
      </p:sp>
    </p:spTree>
  </p:cSld>
</p:sld>
</file>

<file path=ppt/slides/slide98.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3223"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0 / 待深化研究&lt;/Text&gt;&lt;Text style={{ fontSize: 32, color: '#0E2340', fontWeight: 700, lineHeight: 1.3 }}&gt;方向 4：三种提示方案如何比较&lt;/Text&gt;&lt;/Box&gt;&lt;Box style={{ flexDirection: 'row', alignItems: 'center', padding: '7px 16px', borderRadius: 20, background: '#98A2B3' }}&gt;&lt;Text style={{ fontSize: 14, color: '#FFFFFF', fontWeight: 600 }}&gt;待研究&lt;/Text&gt;&lt;/Box&gt;&lt;/Box&gt;&lt;Box style={{ height: 532, paddingTop: 8, flexDirection: 'column' }}&gt;&lt;Box style={{ flexDirection: 'column', flex: 1, gap: 16 }}&gt;&lt;Box style={{ height: 230 }}&gt;&lt;Table style={{ width: '100%', height: '100%' }} defaultTextStyle={{ fontSize: 15, textAlign: 'left', color: '#333A45' }} defaultCellStyle={{ padding: 10, border: { left: { width: 1, color: '#E3E8EF' }, right: { width: 1, color: '#E3E8EF' }, top: { width: 1, color: '#E3E8EF' }, bottom: { width: 1, color: '#E3E8EF' } } }} cells={[[{ text: '方案', textStyle: { color: '#FFFFFF', fontWeight: 600, fontSize: 15 }, cellStyle: { background: { color: '#0E2340' } } }, { text: '做法', textStyle: { color: '#FFFFFF', fontWeight: 600, fontSize: 15 }, cellStyle: { background: { color: '#0E2340' } } }, { text: '需要记录的项', textStyle: { color: '#FFFFFF', fontWeight: 600, fontSize: 15 }, cellStyle: { background: { color: '#0E2340' } } }],&#10;        [{ text: '固定分级提示', textStyle: { fontWeight: 600, fontSize: 15 } }, { text: '按预设等级依次提供帮助', textStyle: { fontSize: 15 } }, { text: '提示等级、是否学生请求、提示后尝试、答案暴露、新题独立表现', textStyle: { fontSize: 15 } }],&#10;        [{ text: '依据本步表现自适应提示', textStyle: { fontWeight: 600, fontSize: 15 }, cellStyle: { background: { color: '#F5F7FA' } } }, { text: '根据当前步骤表现动态决定帮助量', textStyle: { fontSize: 15 }, cellStyle: { background: { color: '#F5F7FA' } } }, { text: '同上，另需记录升级 / 回退的触发条件', textStyle: { fontSize: 15 }, cellStyle: { background: { color: '#F5F7FA' } } }],&#10;        [{ text: '当前提示方式', textStyle: { fontWeight: 600, fontSize: 15 } }, { text: '沿用现有教学会话的提示与看答案分支', textStyle: { fontSize: 15 } }, { text: '作为对照基线', textStyle: { fontSize: 15 } }],&#10;        [{ text: '参考框架', textStyle: { fontWeight: 600, fontSize: 15 }, cellStyle: { background: { color: '#F5F7FA' } } }, { text: 'LearnLab 的 fading 研究；自我解释的 Cognitive Tutor 研究', textStyle: { fontSize: 15 }, cellStyle: { background: { color: '#F5F7FA' } } }, { text: '暂不以一次停顿或单次答错作为自动升级提示的充分条件', textStyle: { fontSize: 15 }, cellStyle: { background: { color: '#F5F7FA' } } }]]} /&gt;&lt;/Box&gt;&lt;Box style={{ flexDirection: 'row', alignItems: 'center', background: '#F5F7FA', borderLeft: '4px solid #0E2340', borderRadius: 6, padding: '14px 20px' }}&gt;&lt;Text style={{ fontSize: 17, color: '#0E2340', fontWeight: 600, lineHeight: 1.5 }}&gt;核心问题：何时、对谁、在哪一步、提供多少帮助，之后怎样减少帮助&lt;/Text&gt;&lt;/Box&gt;&lt;/Box&gt;&lt;/Box&gt;&lt;Box style={{ height: 40, flexDirection: 'row', justifyContent: 'space-between', alignItems: 'center', borderTop: '1px solid #E3E8EF', marginTop: 8 }}&gt;&lt;Text style={{ fontSize: 13, color: '#7A8699', fontWeight: 400, lineHeight: 1.4 }}&gt;依据：待深化功能研究.md §2.2&lt;/Text&gt;&lt;Text style={{ fontSize: 14, color: '#7A8699', fontWeight: 400, lineHeight: 1.4 }}&gt; 98 / 124 &lt;/Text&gt;&lt;/Box&gt;&lt;/Slide&gt;"/>
        <p:cNvGrpSpPr/>
        <p:nvPr/>
      </p:nvGrpSpPr>
      <p:grpSpPr>
        <a:xfrm>
          <a:off x="0" y="0"/>
          <a:ext cx="0" cy="0"/>
          <a:chOff x="0" y="0"/>
          <a:chExt cx="0" cy="0"/>
        </a:xfrm>
      </p:grpSpPr>
      <p:sp>
        <p:nvSpPr>
          <p:cNvPr id="3224" name=""/>
          <p:cNvSpPr/>
          <p:nvPr/>
        </p:nvSpPr>
        <p:spPr>
          <a:xfrm rot="0" flipH="0" flipV="0">
            <a:off x="0" y="0"/>
            <a:ext cx="12192000" cy="6858000"/>
          </a:xfrm>
          <a:prstGeom prst="rect">
            <a:avLst/>
          </a:prstGeom>
          <a:solidFill>
            <a:srgbClr val="FFFFFF"/>
          </a:solidFill>
          <a:ln/>
        </p:spPr>
        <p:txBody>
          <a:bodyPr/>
          <a:p/>
        </p:txBody>
      </p:sp>
      <p:sp>
        <p:nvSpPr>
          <p:cNvPr id="3225" name="" descr="{&quot;isTemplate&quot;:true,&quot;type&quot;:&quot;text&quot;}"/>
          <p:cNvSpPr txBox="1"/>
          <p:nvPr/>
        </p:nvSpPr>
        <p:spPr>
          <a:xfrm rot="0" flipH="0" flipV="0">
            <a:off x="666750" y="381000"/>
            <a:ext cx="4219575"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10 / </a:t>
            </a:r>
            <a:r>
              <a:rPr lang="zh-CN" sz="1050" spc="75">
                <a:solidFill>
                  <a:srgbClr val="7A8699"/>
                </a:solidFill>
                <a:latin typeface="Microsoft YaHei"/>
                <a:ea typeface="Microsoft YaHei"/>
              </a:rPr>
              <a:t>待深化研究</a:t>
            </a:r>
            <a:endParaRPr/>
          </a:p>
        </p:txBody>
      </p:sp>
      <p:sp>
        <p:nvSpPr>
          <p:cNvPr id="3226" name="" descr="{&quot;isTemplate&quot;:true,&quot;type&quot;:&quot;text&quot;}"/>
          <p:cNvSpPr txBox="1"/>
          <p:nvPr/>
        </p:nvSpPr>
        <p:spPr>
          <a:xfrm rot="0" flipH="0" flipV="0">
            <a:off x="666750" y="666750"/>
            <a:ext cx="4219575" cy="476250"/>
          </a:xfrm>
          <a:prstGeom prst="rect"/>
        </p:spPr>
        <p:txBody>
          <a:bodyPr wrap="none" lIns="0" tIns="0" rIns="0" bIns="0"/>
          <a:p>
            <a:pPr>
              <a:lnSpc>
                <a:spcPct val="130000"/>
              </a:lnSpc>
            </a:pPr>
            <a:r>
              <a:rPr lang="zh-CN" sz="2400" b="1">
                <a:solidFill>
                  <a:srgbClr val="0E2340"/>
                </a:solidFill>
                <a:latin typeface="Microsoft YaHei"/>
                <a:ea typeface="Microsoft YaHei"/>
              </a:rPr>
              <a:t>方向</a:t>
            </a:r>
            <a:r>
              <a:rPr lang="en-US" sz="2400" b="1">
                <a:solidFill>
                  <a:srgbClr val="0E2340"/>
                </a:solidFill>
                <a:latin typeface="Microsoft YaHei"/>
                <a:ea typeface="Microsoft YaHei"/>
              </a:rPr>
              <a:t xml:space="preserve"> 4</a:t>
            </a:r>
            <a:r>
              <a:rPr lang="zh-CN" sz="2400" b="1">
                <a:solidFill>
                  <a:srgbClr val="0E2340"/>
                </a:solidFill>
                <a:latin typeface="Microsoft YaHei"/>
                <a:ea typeface="Microsoft YaHei"/>
              </a:rPr>
              <a:t>：三种提示方案如何比较</a:t>
            </a:r>
            <a:endParaRPr/>
          </a:p>
        </p:txBody>
      </p:sp>
      <p:sp>
        <p:nvSpPr>
          <p:cNvPr id="3227" name=""/>
          <p:cNvSpPr/>
          <p:nvPr/>
        </p:nvSpPr>
        <p:spPr>
          <a:xfrm rot="0" flipH="0" flipV="0">
            <a:off x="10820400" y="847725"/>
            <a:ext cx="704850" cy="295275"/>
          </a:xfrm>
          <a:prstGeom prst="roundRect">
            <a:avLst>
              <a:gd name="adj" fmla="val 64516"/>
            </a:avLst>
          </a:prstGeom>
          <a:solidFill>
            <a:srgbClr val="98A2B3"/>
          </a:solidFill>
          <a:ln/>
        </p:spPr>
        <p:txBody>
          <a:bodyPr/>
          <a:p/>
        </p:txBody>
      </p:sp>
      <p:sp>
        <p:nvSpPr>
          <p:cNvPr id="3228"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待研究</a:t>
            </a:r>
            <a:endParaRPr/>
          </a:p>
        </p:txBody>
      </p:sp>
      <p:graphicFrame>
        <p:nvGraphicFramePr>
          <p:cNvPr id="3229" name=""/>
          <p:cNvGraphicFramePr/>
          <p:nvPr/>
        </p:nvGraphicFramePr>
        <p:xfrm rot="0" flipH="0" flipV="0">
          <a:off x="666750" y="1219200"/>
          <a:ext cx="10858500" cy="2190750"/>
        </p:xfrm>
        <a:graphic>
          <a:graphicData uri="http://schemas.openxmlformats.org/drawingml/2006/table">
            <a:tbl>
              <a:tblGrid>
                <a:gridCol w="1857263">
                  <a:extLst>
                    <a:ext uri="{9D8B030D-6E8A-4147-A177-3AD203B41FA5}">
                      <a16:colId val="1"/>
                    </a:ext>
                  </a:extLst>
                </a:gridCol>
                <a:gridCol w="4271918">
                  <a:extLst>
                    <a:ext uri="{9D8B030D-6E8A-4147-A177-3AD203B41FA5}">
                      <a16:colId val="2"/>
                    </a:ext>
                  </a:extLst>
                </a:gridCol>
                <a:gridCol w="4729319">
                  <a:extLst>
                    <a:ext uri="{9D8B030D-6E8A-4147-A177-3AD203B41FA5}">
                      <a16:colId val="3"/>
                    </a:ext>
                  </a:extLst>
                </a:gridCol>
              </a:tblGrid>
              <a:tr h="438150">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方案</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做法</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需要记录的项</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43815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固定分级提示</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按预设等级依次提供帮助</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提示等级、是否学生请求、提示后尝试、答案暴露、新题独立表现</a:t>
                      </a:r>
                      <a:endParaRPr/>
                    </a:p>
                  </a:txBody>
                  <a:tcPr marL="45720" marR="45720" marT="45720" marB="45720" anchor="ctr">
                    <a:lnL>
                      <a:noFill/>
                    </a:lnL>
                    <a:lnR>
                      <a:noFill/>
                    </a:lnR>
                    <a:lnT>
                      <a:noFill/>
                    </a:lnT>
                    <a:lnB>
                      <a:noFill/>
                    </a:lnB>
                  </a:tcPr>
                </a:tc>
                <a:extLst>
                  <a:ext uri="{0D108BD9-81ED-4DB2-BD59-A6C34878D82A}">
                    <a16:rowId val="2"/>
                  </a:ext>
                </a:extLst>
              </a:tr>
              <a:tr h="43815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依据本步表现自适应提示</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根据当前步骤表现动态决定帮助量</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同上，另需记录升级 / 回退的触发条件</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43815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当前提示方式</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沿用现有教学会话的提示与看答案分支</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作为对照基线</a:t>
                      </a:r>
                      <a:endParaRPr/>
                    </a:p>
                  </a:txBody>
                  <a:tcPr marL="45720" marR="45720" marT="45720" marB="45720" anchor="ctr">
                    <a:lnL>
                      <a:noFill/>
                    </a:lnL>
                    <a:lnR>
                      <a:noFill/>
                    </a:lnR>
                    <a:lnT>
                      <a:noFill/>
                    </a:lnT>
                    <a:lnB>
                      <a:noFill/>
                    </a:lnB>
                  </a:tcPr>
                </a:tc>
                <a:extLst>
                  <a:ext uri="{0D108BD9-81ED-4DB2-BD59-A6C34878D82A}">
                    <a16:rowId val="4"/>
                  </a:ext>
                </a:extLst>
              </a:tr>
              <a:tr h="43815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参考框架</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LearnLab 的 fading 研究；自我解释的 Cognitive Tutor 研究</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暂不以一次停顿或单次答错作为自动升级提示的充分条件</a:t>
                      </a:r>
                      <a:endParaRPr/>
                    </a:p>
                  </a:txBody>
                  <a:tcPr marL="45720" marR="45720" marT="45720" marB="45720" anchor="ctr">
                    <a:lnL>
                      <a:noFill/>
                    </a:lnL>
                    <a:lnR>
                      <a:noFill/>
                    </a:lnR>
                    <a:lnT>
                      <a:noFill/>
                    </a:lnT>
                    <a:lnB>
                      <a:noFill/>
                    </a:lnB>
                    <a:solidFill>
                      <a:srgbClr val="F5F7FA"/>
                    </a:solidFill>
                  </a:tcPr>
                </a:tc>
                <a:extLst>
                  <a:ext uri="{0D108BD9-81ED-4DB2-BD59-A6C34878D82A}">
                    <a16:rowId val="5"/>
                  </a:ext>
                </a:extLst>
              </a:tr>
            </a:tbl>
          </a:graphicData>
        </a:graphic>
      </p:graphicFrame>
      <p:sp>
        <p:nvSpPr>
          <p:cNvPr id="3230" name=""/>
          <p:cNvSpPr/>
          <p:nvPr/>
        </p:nvSpPr>
        <p:spPr>
          <a:xfrm rot="0" flipH="0" flipV="0">
            <a:off x="704850" y="3562350"/>
            <a:ext cx="10858500" cy="561975"/>
          </a:xfrm>
          <a:prstGeom prst="roundRect">
            <a:avLst>
              <a:gd name="adj" fmla="val 10169"/>
            </a:avLst>
          </a:prstGeom>
          <a:solidFill>
            <a:srgbClr val="F5F7FA"/>
          </a:solidFill>
          <a:ln/>
        </p:spPr>
        <p:txBody>
          <a:bodyPr/>
          <a:p/>
        </p:txBody>
      </p:sp>
      <p:sp>
        <p:nvSpPr>
          <p:cNvPr id="3231" name=""/>
          <p:cNvSpPr/>
          <p:nvPr/>
        </p:nvSpPr>
        <p:spPr>
          <a:xfrm rot="0" flipH="0" flipV="0">
            <a:off x="704850" y="3562350"/>
            <a:ext cx="10858500" cy="561975"/>
          </a:xfrm>
          <a:custGeom>
            <a:pathLst>
              <a:path w="1140" h="59">
                <a:moveTo>
                  <a:pt x="6" y="0"/>
                </a:moveTo>
                <a:cubicBezTo>
                  <a:pt x="5" y="0"/>
                  <a:pt x="4" y="1"/>
                  <a:pt x="4" y="2"/>
                </a:cubicBezTo>
                <a:lnTo>
                  <a:pt x="4" y="57"/>
                </a:lnTo>
                <a:cubicBezTo>
                  <a:pt x="4" y="58"/>
                  <a:pt x="5" y="59"/>
                  <a:pt x="6" y="59"/>
                </a:cubicBezTo>
                <a:cubicBezTo>
                  <a:pt x="3" y="59"/>
                  <a:pt x="0" y="56"/>
                  <a:pt x="0" y="53"/>
                </a:cubicBezTo>
                <a:lnTo>
                  <a:pt x="0" y="6"/>
                </a:lnTo>
                <a:cubicBezTo>
                  <a:pt x="0" y="3"/>
                  <a:pt x="3" y="0"/>
                  <a:pt x="6" y="0"/>
                </a:cubicBezTo>
                <a:close/>
              </a:path>
            </a:pathLst>
          </a:custGeom>
          <a:solidFill>
            <a:srgbClr val="0E2340"/>
          </a:solidFill>
          <a:ln/>
        </p:spPr>
        <p:txBody>
          <a:bodyPr/>
          <a:p/>
        </p:txBody>
      </p:sp>
      <p:sp>
        <p:nvSpPr>
          <p:cNvPr id="3232" name="" descr="{&quot;isTemplate&quot;:true,&quot;type&quot;:&quot;text&quot;}"/>
          <p:cNvSpPr txBox="1"/>
          <p:nvPr/>
        </p:nvSpPr>
        <p:spPr>
          <a:xfrm rot="0" flipH="0" flipV="0">
            <a:off x="895350" y="3695700"/>
            <a:ext cx="5019675" cy="295275"/>
          </a:xfrm>
          <a:prstGeom prst="rect"/>
        </p:spPr>
        <p:txBody>
          <a:bodyPr wrap="none" lIns="0" tIns="0" rIns="0" bIns="0"/>
          <a:p>
            <a:pPr>
              <a:lnSpc>
                <a:spcPct val="150000"/>
              </a:lnSpc>
            </a:pPr>
            <a:r>
              <a:rPr lang="zh-CN" sz="1275" b="1">
                <a:solidFill>
                  <a:srgbClr val="0E2340"/>
                </a:solidFill>
                <a:latin typeface="Microsoft YaHei"/>
                <a:ea typeface="Microsoft YaHei"/>
              </a:rPr>
              <a:t>核心问题：何时、对谁、在哪一步、提供多少帮助，之后怎样减少帮助</a:t>
            </a:r>
            <a:endParaRPr/>
          </a:p>
        </p:txBody>
      </p:sp>
      <p:sp>
        <p:nvSpPr>
          <p:cNvPr id="3233"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3234" name="" descr="{&quot;isTemplate&quot;:true,&quot;type&quot;:&quot;text&quot;}"/>
          <p:cNvSpPr txBox="1"/>
          <p:nvPr/>
        </p:nvSpPr>
        <p:spPr>
          <a:xfrm rot="0" flipH="0" flipV="0">
            <a:off x="666750" y="6381750"/>
            <a:ext cx="1724025" cy="209550"/>
          </a:xfrm>
          <a:prstGeom prst="rect"/>
        </p:spPr>
        <p:txBody>
          <a:bodyPr wrap="none" lIns="0" tIns="0" rIns="0" bIns="0"/>
          <a:p>
            <a:pPr>
              <a:lnSpc>
                <a:spcPct val="140000"/>
              </a:lnSpc>
            </a:pPr>
            <a:r>
              <a:rPr lang="zh-CN" sz="975">
                <a:solidFill>
                  <a:srgbClr val="7A8699"/>
                </a:solidFill>
                <a:latin typeface="Microsoft YaHei"/>
                <a:ea typeface="Microsoft YaHei"/>
              </a:rPr>
              <a:t>依据：待深化功能研究</a:t>
            </a:r>
            <a:r>
              <a:rPr lang="en-US" sz="975">
                <a:solidFill>
                  <a:srgbClr val="7A8699"/>
                </a:solidFill>
                <a:latin typeface="Microsoft YaHei"/>
                <a:ea typeface="Microsoft YaHei"/>
              </a:rPr>
              <a:t>.md §2.2</a:t>
            </a:r>
            <a:endParaRPr/>
          </a:p>
        </p:txBody>
      </p:sp>
      <p:sp>
        <p:nvSpPr>
          <p:cNvPr id="3235"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98 / 124 </a:t>
            </a:r>
            <a:endParaRPr/>
          </a:p>
        </p:txBody>
      </p:sp>
    </p:spTree>
  </p:cSld>
</p:sld>
</file>

<file path=ppt/slides/slide99.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3236"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0 / 待深化研究&lt;/Text&gt;&lt;Text style={{ fontSize: 32, color: '#0E2340', fontWeight: 700, lineHeight: 1.3 }}&gt;方向 6（学生侧）：错误传播分析&lt;/Text&gt;&lt;/Box&gt;&lt;Box style={{ flexDirection: 'row', alignItems: 'center', padding: '7px 16px', borderRadius: 20, background: '#98A2B3' }}&gt;&lt;Text style={{ fontSize: 14, color: '#FFFFFF', fontWeight: 600 }}&gt;待研究&lt;/Text&gt;&lt;/Box&gt;&lt;/Box&gt;&lt;Box style={{ height: 532, paddingTop: 8, flexDirection: 'column' }}&gt;&lt;Box style={{ flexDirection: 'column', flex: 1, justifyContent: 'center', gap: 16 }}&gt;&lt;Box style={{ flexDirection: 'column', gap: 16, flex: 1, justifyContent: 'center' }}&gt;&lt;svg width={1140} height={210} viewBox='0 0 1140 210'&gt;&lt;rect x='40' y='30' width='280' height='120' rx='8' fill='#FFFFFF' stroke='#1E9E62' stroke-width='1.5'/&gt;&lt;text x='180' y='62' font-size='18' fill='#0E2340' text-anchor='middle' font-weight='700'&gt;正确解：a = 2&lt;/text&gt;&lt;text x='180' y='100' font-size='15' fill='#7A8699' text-anchor='middle' font-weight='400'&gt;第 1 步（正确）&lt;/text&gt;&lt;line x1='320' y1='90' x2='392' y2='90' stroke='#1E7BE0' stroke-width='2'/&gt;&lt;rect x='392' y='30' width='320' height='120' rx='8' fill='#FFFFFF' stroke='#E8A33D' stroke-width='1.5'/&gt;&lt;text x='552' y='62' font-size='18' fill='#0E2340' text-anchor='middle' font-weight='700'&gt;学生算成：a = 3&lt;/text&gt;&lt;text x='552' y='100' font-size='15' fill='#E8A33D' text-anchor='middle' font-weight='600'&gt;第 2 步（直接错误）&lt;/text&gt;&lt;line x1='712' y1='90' x2='784' y2='90' stroke='#1E7BE0' stroke-width='2'/&gt;&lt;rect x='784' y='30' width='320' height='120' rx='8' fill='#FFFFFF' stroke='#1E7BE0' stroke-width='1.5'/&gt;&lt;text x='944' y='62' font-size='18' fill='#0E2340' text-anchor='middle' font-weight='700'&gt;a + 1 = 4&lt;/text&gt;&lt;text x='944' y='100' font-size='15' fill='#1E7BE0' text-anchor='middle' font-weight='600'&gt;第 3 步（条件性正确）&lt;/text&gt;&lt;text x='570' y='180' font-size='17' fill='#0E2340' text-anchor='middle' font-weight='700'&gt;四类结果：直接错误 · 条件性正确 · 连带结果 · 新的独立错误&lt;/text&gt;&lt;/svg&gt;&lt;/Box&gt;&lt;Box style={{ flexDirection: 'row', alignItems: 'center', background: '#F5F7FA', borderLeft: '4px solid #1E7BE0', borderRadius: 6, padding: '14px 20px' }}&gt;&lt;Text style={{ fontSize: 16, color: '#0E2340', fontWeight: 600, lineHeight: 1.5 }}&gt;不适合机械沿用错误结果的四种情形：改变定义域、造成除零或无意义量、使所用定理不再适用、中途引入新的独立错误。参考 Numbas 的 adaptive marking，但该机制面向预定义题部分，不能直接解决自由手写多解法&lt;/Text&gt;&lt;/Box&gt;&lt;/Box&gt;&lt;/Box&gt;&lt;Box style={{ height: 40, flexDirection: 'row', justifyContent: 'space-between', alignItems: 'center', borderTop: '1px solid #E3E8EF', marginTop: 8 }}&gt;&lt;Text style={{ fontSize: 13, color: '#7A8699', fontWeight: 400, lineHeight: 1.4 }}&gt;依据：待深化功能研究.md §3.1–§3.2&lt;/Text&gt;&lt;Text style={{ fontSize: 14, color: '#7A8699', fontWeight: 400, lineHeight: 1.4 }}&gt; 99 / 124 &lt;/Text&gt;&lt;/Box&gt;&lt;/Slide&gt;"/>
        <p:cNvGrpSpPr/>
        <p:nvPr/>
      </p:nvGrpSpPr>
      <p:grpSpPr>
        <a:xfrm>
          <a:off x="0" y="0"/>
          <a:ext cx="0" cy="0"/>
          <a:chOff x="0" y="0"/>
          <a:chExt cx="0" cy="0"/>
        </a:xfrm>
      </p:grpSpPr>
      <p:sp>
        <p:nvSpPr>
          <p:cNvPr id="3237" name=""/>
          <p:cNvSpPr/>
          <p:nvPr/>
        </p:nvSpPr>
        <p:spPr>
          <a:xfrm rot="0" flipH="0" flipV="0">
            <a:off x="0" y="0"/>
            <a:ext cx="12192000" cy="6858000"/>
          </a:xfrm>
          <a:prstGeom prst="rect">
            <a:avLst/>
          </a:prstGeom>
          <a:solidFill>
            <a:srgbClr val="FFFFFF"/>
          </a:solidFill>
          <a:ln/>
        </p:spPr>
        <p:txBody>
          <a:bodyPr/>
          <a:p/>
        </p:txBody>
      </p:sp>
      <p:sp>
        <p:nvSpPr>
          <p:cNvPr id="3238" name="" descr="{&quot;isTemplate&quot;:true,&quot;type&quot;:&quot;text&quot;}"/>
          <p:cNvSpPr txBox="1"/>
          <p:nvPr/>
        </p:nvSpPr>
        <p:spPr>
          <a:xfrm rot="0" flipH="0" flipV="0">
            <a:off x="666750" y="381000"/>
            <a:ext cx="4524375"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10 / </a:t>
            </a:r>
            <a:r>
              <a:rPr lang="zh-CN" sz="1050" spc="75">
                <a:solidFill>
                  <a:srgbClr val="7A8699"/>
                </a:solidFill>
                <a:latin typeface="Microsoft YaHei"/>
                <a:ea typeface="Microsoft YaHei"/>
              </a:rPr>
              <a:t>待深化研究</a:t>
            </a:r>
            <a:endParaRPr/>
          </a:p>
        </p:txBody>
      </p:sp>
      <p:sp>
        <p:nvSpPr>
          <p:cNvPr id="3239" name="" descr="{&quot;isTemplate&quot;:true,&quot;type&quot;:&quot;text&quot;}"/>
          <p:cNvSpPr txBox="1"/>
          <p:nvPr/>
        </p:nvSpPr>
        <p:spPr>
          <a:xfrm rot="0" flipH="0" flipV="0">
            <a:off x="666750" y="666750"/>
            <a:ext cx="4524375" cy="476250"/>
          </a:xfrm>
          <a:prstGeom prst="rect"/>
        </p:spPr>
        <p:txBody>
          <a:bodyPr wrap="none" lIns="0" tIns="0" rIns="0" bIns="0"/>
          <a:p>
            <a:pPr>
              <a:lnSpc>
                <a:spcPct val="130000"/>
              </a:lnSpc>
            </a:pPr>
            <a:r>
              <a:rPr lang="zh-CN" sz="2400" b="1">
                <a:solidFill>
                  <a:srgbClr val="0E2340"/>
                </a:solidFill>
                <a:latin typeface="Microsoft YaHei"/>
                <a:ea typeface="Microsoft YaHei"/>
              </a:rPr>
              <a:t>方向</a:t>
            </a:r>
            <a:r>
              <a:rPr lang="en-US" sz="2400" b="1">
                <a:solidFill>
                  <a:srgbClr val="0E2340"/>
                </a:solidFill>
                <a:latin typeface="Microsoft YaHei"/>
                <a:ea typeface="Microsoft YaHei"/>
              </a:rPr>
              <a:t xml:space="preserve"> 6</a:t>
            </a:r>
            <a:r>
              <a:rPr lang="zh-CN" sz="2400" b="1">
                <a:solidFill>
                  <a:srgbClr val="0E2340"/>
                </a:solidFill>
                <a:latin typeface="Microsoft YaHei"/>
                <a:ea typeface="Microsoft YaHei"/>
              </a:rPr>
              <a:t>（学生侧）：错误传播分析</a:t>
            </a:r>
            <a:endParaRPr/>
          </a:p>
        </p:txBody>
      </p:sp>
      <p:sp>
        <p:nvSpPr>
          <p:cNvPr id="3240" name=""/>
          <p:cNvSpPr/>
          <p:nvPr/>
        </p:nvSpPr>
        <p:spPr>
          <a:xfrm rot="0" flipH="0" flipV="0">
            <a:off x="10820400" y="847725"/>
            <a:ext cx="704850" cy="295275"/>
          </a:xfrm>
          <a:prstGeom prst="roundRect">
            <a:avLst>
              <a:gd name="adj" fmla="val 64516"/>
            </a:avLst>
          </a:prstGeom>
          <a:solidFill>
            <a:srgbClr val="98A2B3"/>
          </a:solidFill>
          <a:ln/>
        </p:spPr>
        <p:txBody>
          <a:bodyPr/>
          <a:p/>
        </p:txBody>
      </p:sp>
      <p:sp>
        <p:nvSpPr>
          <p:cNvPr id="3241"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待研究</a:t>
            </a:r>
            <a:endParaRPr/>
          </a:p>
        </p:txBody>
      </p:sp>
      <p:pic>
        <p:nvPicPr>
          <p:cNvPr id="3242" name=""/>
          <p:cNvPicPr>
            <a:picLocks noChangeAspect="1"/>
          </p:cNvPicPr>
          <p:nvPr/>
        </p:nvPicPr>
        <p:blipFill>
          <a:blip>
            <a:extLst>
              <a:ext uri="{96DAC541-7B7A-43D3-8B79-37D633B846F1}">
                <asvg:svgBlip r:embed="rId1"/>
              </a:ext>
            </a:extLst>
          </a:blip>
          <a:stretch>
            <a:fillRect/>
          </a:stretch>
        </p:blipFill>
        <p:spPr>
          <a:xfrm rot="0" flipH="0" flipV="0">
            <a:off x="666750" y="2228850"/>
            <a:ext cx="10858500" cy="2000250"/>
          </a:xfrm>
          <a:prstGeom prst="rect">
            <a:avLst/>
          </a:prstGeom>
          <a:ln/>
        </p:spPr>
      </p:pic>
      <p:sp>
        <p:nvSpPr>
          <p:cNvPr id="3243" name=""/>
          <p:cNvSpPr/>
          <p:nvPr/>
        </p:nvSpPr>
        <p:spPr>
          <a:xfrm rot="0" flipH="0" flipV="0">
            <a:off x="704850" y="5391150"/>
            <a:ext cx="10858500" cy="819150"/>
          </a:xfrm>
          <a:prstGeom prst="roundRect">
            <a:avLst>
              <a:gd name="adj" fmla="val 6977"/>
            </a:avLst>
          </a:prstGeom>
          <a:solidFill>
            <a:srgbClr val="F5F7FA"/>
          </a:solidFill>
          <a:ln/>
        </p:spPr>
        <p:txBody>
          <a:bodyPr/>
          <a:p/>
        </p:txBody>
      </p:sp>
      <p:sp>
        <p:nvSpPr>
          <p:cNvPr id="3244" name=""/>
          <p:cNvSpPr/>
          <p:nvPr/>
        </p:nvSpPr>
        <p:spPr>
          <a:xfrm rot="0" flipH="0" flipV="0">
            <a:off x="704850" y="5391150"/>
            <a:ext cx="10858500" cy="819150"/>
          </a:xfrm>
          <a:custGeom>
            <a:pathLst>
              <a:path w="1140" h="86">
                <a:moveTo>
                  <a:pt x="6" y="0"/>
                </a:moveTo>
                <a:cubicBezTo>
                  <a:pt x="5" y="0"/>
                  <a:pt x="4" y="1"/>
                  <a:pt x="4" y="2"/>
                </a:cubicBezTo>
                <a:lnTo>
                  <a:pt x="4" y="84"/>
                </a:lnTo>
                <a:cubicBezTo>
                  <a:pt x="4" y="85"/>
                  <a:pt x="5" y="86"/>
                  <a:pt x="6" y="86"/>
                </a:cubicBezTo>
                <a:cubicBezTo>
                  <a:pt x="3" y="86"/>
                  <a:pt x="0" y="83"/>
                  <a:pt x="0" y="80"/>
                </a:cubicBezTo>
                <a:lnTo>
                  <a:pt x="0" y="6"/>
                </a:lnTo>
                <a:cubicBezTo>
                  <a:pt x="0" y="3"/>
                  <a:pt x="3" y="0"/>
                  <a:pt x="6" y="0"/>
                </a:cubicBezTo>
                <a:close/>
              </a:path>
            </a:pathLst>
          </a:custGeom>
          <a:solidFill>
            <a:srgbClr val="1E7BE0"/>
          </a:solidFill>
          <a:ln/>
        </p:spPr>
        <p:txBody>
          <a:bodyPr/>
          <a:p/>
        </p:txBody>
      </p:sp>
      <p:sp>
        <p:nvSpPr>
          <p:cNvPr id="3245" name="" descr="{&quot;isTemplate&quot;:true,&quot;type&quot;:&quot;text&quot;}"/>
          <p:cNvSpPr txBox="1"/>
          <p:nvPr/>
        </p:nvSpPr>
        <p:spPr>
          <a:xfrm rot="0" flipH="0" flipV="0">
            <a:off x="895350" y="5524500"/>
            <a:ext cx="10439400" cy="552450"/>
          </a:xfrm>
          <a:prstGeom prst="rect"/>
        </p:spPr>
        <p:txBody>
          <a:bodyPr wrap="square" lIns="0" tIns="0" rIns="0" bIns="0">
            <a:normAutofit/>
          </a:bodyPr>
          <a:p>
            <a:pPr>
              <a:lnSpc>
                <a:spcPct val="150000"/>
              </a:lnSpc>
            </a:pPr>
            <a:r>
              <a:rPr lang="zh-CN" sz="1200" b="1">
                <a:solidFill>
                  <a:srgbClr val="0E2340"/>
                </a:solidFill>
                <a:latin typeface="Microsoft YaHei"/>
                <a:ea typeface="Microsoft YaHei"/>
              </a:rPr>
              <a:t>不适合机械沿用错误结果的四种情形：改变定义域、造成除零或无意义量、使所用定理不再适用、中途引入新的独立错误。参考</a:t>
            </a:r>
            <a:r>
              <a:rPr lang="en-US" sz="1200" b="1">
                <a:solidFill>
                  <a:srgbClr val="0E2340"/>
                </a:solidFill>
                <a:latin typeface="Microsoft YaHei"/>
                <a:ea typeface="Microsoft YaHei"/>
              </a:rPr>
              <a:t xml:space="preserve"> Numbas </a:t>
            </a:r>
            <a:r>
              <a:rPr lang="zh-CN" sz="1200" b="1">
                <a:solidFill>
                  <a:srgbClr val="0E2340"/>
                </a:solidFill>
                <a:latin typeface="Microsoft YaHei"/>
                <a:ea typeface="Microsoft YaHei"/>
              </a:rPr>
              <a:t>的</a:t>
            </a:r>
            <a:r>
              <a:rPr lang="en-US" sz="1200" b="1">
                <a:solidFill>
                  <a:srgbClr val="0E2340"/>
                </a:solidFill>
                <a:latin typeface="Microsoft YaHei"/>
                <a:ea typeface="Microsoft YaHei"/>
              </a:rPr>
              <a:t xml:space="preserve"> adaptive marking</a:t>
            </a:r>
            <a:r>
              <a:rPr lang="zh-CN" sz="1200" b="1">
                <a:solidFill>
                  <a:srgbClr val="0E2340"/>
                </a:solidFill>
                <a:latin typeface="Microsoft YaHei"/>
                <a:ea typeface="Microsoft YaHei"/>
              </a:rPr>
              <a:t>，但该机制面向预定义题部分，不能直接解决自由手写多解法</a:t>
            </a:r>
            <a:endParaRPr/>
          </a:p>
        </p:txBody>
      </p:sp>
      <p:sp>
        <p:nvSpPr>
          <p:cNvPr id="3246"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3247" name="" descr="{&quot;isTemplate&quot;:true,&quot;type&quot;:&quot;text&quot;}"/>
          <p:cNvSpPr txBox="1"/>
          <p:nvPr/>
        </p:nvSpPr>
        <p:spPr>
          <a:xfrm rot="0" flipH="0" flipV="0">
            <a:off x="666750" y="6381750"/>
            <a:ext cx="2038350" cy="209550"/>
          </a:xfrm>
          <a:prstGeom prst="rect"/>
        </p:spPr>
        <p:txBody>
          <a:bodyPr wrap="none" lIns="0" tIns="0" rIns="0" bIns="0"/>
          <a:p>
            <a:pPr>
              <a:lnSpc>
                <a:spcPct val="140000"/>
              </a:lnSpc>
            </a:pPr>
            <a:r>
              <a:rPr lang="zh-CN" sz="975">
                <a:solidFill>
                  <a:srgbClr val="7A8699"/>
                </a:solidFill>
                <a:latin typeface="Microsoft YaHei"/>
                <a:ea typeface="Microsoft YaHei"/>
              </a:rPr>
              <a:t>依据：待深化功能研究</a:t>
            </a:r>
            <a:r>
              <a:rPr lang="en-US" sz="975">
                <a:solidFill>
                  <a:srgbClr val="7A8699"/>
                </a:solidFill>
                <a:latin typeface="Microsoft YaHei"/>
                <a:ea typeface="Microsoft YaHei"/>
              </a:rPr>
              <a:t>.md §3.1–§3.2</a:t>
            </a:r>
            <a:endParaRPr/>
          </a:p>
        </p:txBody>
      </p:sp>
      <p:sp>
        <p:nvSpPr>
          <p:cNvPr id="3248" name="" descr="{&quot;isTemplate&quot;:true,&quot;type&quot;:&quot;text&quot;}"/>
          <p:cNvSpPr txBox="1"/>
          <p:nvPr/>
        </p:nvSpPr>
        <p:spPr>
          <a:xfrm rot="0" flipH="0" flipV="0">
            <a:off x="10963275" y="6372225"/>
            <a:ext cx="5619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99 / 124 </a:t>
            </a:r>
            <a:endParaRPr/>
          </a:p>
        </p:txBody>
      </p:sp>
    </p:spTree>
  </p:cSld>
</p:sld>
</file>

<file path=ppt/slides/slide100.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74"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0 / 待深化研究&lt;/Text&gt;&lt;Text style={{ fontSize: 32, color: '#0E2340', fontWeight: 700, lineHeight: 1.3 }}&gt;方向 6（系统侧）：纠错回溯与来源链&lt;/Text&gt;&lt;/Box&gt;&lt;Box style={{ flexDirection: 'row', alignItems: 'center', padding: '7px 16px', borderRadius: 20, background: '#98A2B3' }}&gt;&lt;Text style={{ fontSize: 14, color: '#FFFFFF', fontWeight: 600 }}&gt;待研究&lt;/Text&gt;&lt;/Box&gt;&lt;/Box&gt;&lt;Box style={{ height: 532, paddingTop: 8, flexDirection: 'column' }}&gt;&lt;Box style={{ flexDirection: 'column', flex: 1, justifyContent: 'center', gap: 16 }}&gt;&lt;Box style={{ flexDirection: 'column', gap: 16, flex: 1, justifyContent: 'center' }}&gt;&lt;svg width={1140} height={170} viewBox='0 0 1140 170'&gt;&lt;rect x='0' y='40' width='191' height='88' rx='8' fill='#0E2340' stroke='#1E7BE0' stroke-width='1.5'/&gt;&lt;text x='95.5' y='84.0' font-size='20' fill='#FFFFFF' text-anchor='middle' font-weight='600'&gt;题目与参考解析版本&lt;/text&gt;&lt;line x1='197' y1='84' x2='223' y2='84' stroke='#1E7BE0' stroke-width='2'/&gt;&lt;path d='M223 78 l10 -6 l0 12 z' fill='#1E7BE0'/&gt;&lt;rect x='237' y='40' width='191' height='88' rx='8' fill='#FFFFFF' stroke='#1E7BE0' stroke-width='1.5'/&gt;&lt;text x='332.5' y='84.0' font-size='20' fill='#0E2340' text-anchor='middle' font-weight='600'&gt;批改版本&lt;/text&gt;&lt;line x1='434' y1='84' x2='460' y2='84' stroke='#1E7BE0' stroke-width='2'/&gt;&lt;path d='M460 78 l10 -6 l0 12 z' fill='#1E7BE0'/&gt;&lt;rect x='474' y='40' width='191' height='88' rx='8' fill='#FFFFFF' stroke='#1E7BE0' stroke-width='1.5'/&gt;&lt;text x='569.5' y='84.0' font-size='20' fill='#0E2340' text-anchor='middle' font-weight='600'&gt;步骤证据&lt;/text&gt;&lt;line x1='671' y1='84' x2='697' y2='84' stroke='#1E7BE0' stroke-width='2'/&gt;&lt;path d='M697 78 l10 -6 l0 12 z' fill='#1E7BE0'/&gt;&lt;rect x='711' y='40' width='191' height='88' rx='8' fill='#FFFFFF' stroke='#1E7BE0' stroke-width='1.5'/&gt;&lt;text x='806.5' y='84.0' font-size='20' fill='#0E2340' text-anchor='middle' font-weight='600'&gt;掌握记录 / 报告&lt;/text&gt;&lt;line x1='908' y1='84' x2='934' y2='84' stroke='#1E7BE0' stroke-width='2'/&gt;&lt;path d='M934 78 l10 -6 l0 12 z' fill='#1E7BE0'/&gt;&lt;rect x='948' y='40' width='191' height='88' rx='8' fill='#F5F7FA' stroke='#1E7BE0' stroke-width='1.5'/&gt;&lt;text x='1043.5' y='84.0' font-size='20' fill='#0E2340' text-anchor='middle' font-weight='600'&gt;推荐与训练计划&lt;/text&gt;&lt;/svg&gt;&lt;/Box&gt;&lt;Box style={{ flexDirection: 'column', gap: 10 }}&gt;&lt;Box style={{ flexDirection: 'row', gap: 12, alignItems: 'flex-start' }}&gt;&lt;Box style={{ width: 8, height: 8, borderRadius: 4, background: '#1E7BE0', marginTop: 9 }} /&gt;&lt;Box style={{ flex: 1 }}&gt;&lt;Text style={{ fontSize: 17, color: '#0E2340', fontWeight: 600, lineHeight: 1.5 }}&gt;修改后流程&lt;/Text&gt;&lt;Text style={{ fontSize: 16, color: '#333A45', fontWeight: 400, lineHeight: 1.6 }}&gt;先算影响范围并标记待复核 → 生成候选重算结果 → 保留原作答与旧报告 → 确认新版本时记录差异 → 必要时撤销已失效证据。&lt;/Text&gt;&lt;/Box&gt;&lt;/Box&gt;&lt;Box style={{ flexDirection: 'row', gap: 12, alignItems: 'flex-start' }}&gt;&lt;Box style={{ width: 8, height: 8, borderRadius: 4, background: '#1E7BE0', marginTop: 9 }} /&gt;&lt;Box style={{ flex: 1 }}&gt;&lt;Text style={{ fontSize: 17, color: '#0E2340', fontWeight: 600, lineHeight: 1.5 }}&gt;不可删除项&lt;/Text&gt;&lt;Text style={{ fontSize: 16, color: '#333A45', fontWeight: 400, lineHeight: 1.6 }}&gt;已执行的训练与已发生的教师行动是历史事实，不能因推荐依据失效而被删除。&lt;/Text&gt;&lt;/Box&gt;&lt;/Box&gt;&lt;Box style={{ flexDirection: 'row', gap: 12, alignItems: 'flex-start' }}&gt;&lt;Box style={{ width: 8, height: 8, borderRadius: 4, background: '#1E7BE0', marginTop: 9 }} /&gt;&lt;Box style={{ flex: 1 }}&gt;&lt;Text style={{ fontSize: 17, color: '#0E2340', fontWeight: 600, lineHeight: 1.5 }}&gt;变式处理&lt;/Text&gt;&lt;Text style={{ fontSize: 16, color: '#333A45', fontWeight: 400, lineHeight: 1.6 }}&gt;原题变式不是依赖旧题才成立的全部副本：变式进入风险复核，不无条件宣判全部无效。&lt;/Text&gt;&lt;/Box&gt;&lt;/Box&gt;&lt;Box style={{ flexDirection: 'row', gap: 12, alignItems: 'flex-start' }}&gt;&lt;Box style={{ width: 8, height: 8, borderRadius: 4, background: '#1E7BE0', marginTop: 9 }} /&gt;&lt;Box style={{ flex: 1 }}&gt;&lt;Text style={{ fontSize: 17, color: '#0E2340', fontWeight: 600, lineHeight: 1.5 }}&gt;参考模型&lt;/Text&gt;&lt;Text style={{ fontSize: 16, color: '#333A45', fontWeight: 400, lineHeight: 1.6 }}&gt;借鉴 W3C PROV（实体、处理活动、参与者、来源关系）；初期用普通数据库关联即可，需要的是可查询的来源、版本与派生关系。&lt;/Text&gt;&lt;/Box&gt;&lt;/Box&gt;&lt;/Box&gt;&lt;/Box&gt;&lt;/Box&gt;&lt;Box style={{ height: 40, flexDirection: 'row', justifyContent: 'space-between', alignItems: 'center', borderTop: '1px solid #E3E8EF', marginTop: 8 }}&gt;&lt;Text style={{ fontSize: 13, color: '#7A8699', fontWeight: 400, lineHeight: 1.4 }}&gt;依据：待深化功能研究.md §3.3–§3.4&lt;/Text&gt;&lt;Text style={{ fontSize: 14, color: '#7A8699', fontWeight: 400, lineHeight: 1.4 }}&gt; 100 / 124 &lt;/Text&gt;&lt;/Box&gt;&lt;/Slide&gt;"/>
        <p:cNvGrpSpPr/>
        <p:nvPr/>
      </p:nvGrpSpPr>
      <p:grpSpPr>
        <a:xfrm>
          <a:off x="0" y="0"/>
          <a:ext cx="0" cy="0"/>
          <a:chOff x="0" y="0"/>
          <a:chExt cx="0" cy="0"/>
        </a:xfrm>
      </p:grpSpPr>
      <p:sp>
        <p:nvSpPr>
          <p:cNvPr id="75" name=""/>
          <p:cNvSpPr/>
          <p:nvPr/>
        </p:nvSpPr>
        <p:spPr>
          <a:xfrm rot="0" flipH="0" flipV="0">
            <a:off x="0" y="0"/>
            <a:ext cx="12192000" cy="6858000"/>
          </a:xfrm>
          <a:prstGeom prst="rect">
            <a:avLst/>
          </a:prstGeom>
          <a:solidFill>
            <a:srgbClr val="FFFFFF"/>
          </a:solidFill>
          <a:ln/>
        </p:spPr>
        <p:txBody>
          <a:bodyPr/>
          <a:p/>
        </p:txBody>
      </p:sp>
      <p:sp>
        <p:nvSpPr>
          <p:cNvPr id="76" name="" descr="{&quot;isTemplate&quot;:true,&quot;type&quot;:&quot;text&quot;}"/>
          <p:cNvSpPr txBox="1"/>
          <p:nvPr/>
        </p:nvSpPr>
        <p:spPr>
          <a:xfrm rot="0" flipH="0" flipV="0">
            <a:off x="666750" y="381000"/>
            <a:ext cx="5133975"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10 / </a:t>
            </a:r>
            <a:r>
              <a:rPr lang="zh-CN" sz="1050" spc="75">
                <a:solidFill>
                  <a:srgbClr val="7A8699"/>
                </a:solidFill>
                <a:latin typeface="Microsoft YaHei"/>
                <a:ea typeface="Microsoft YaHei"/>
              </a:rPr>
              <a:t>待深化研究</a:t>
            </a:r>
            <a:endParaRPr/>
          </a:p>
        </p:txBody>
      </p:sp>
      <p:sp>
        <p:nvSpPr>
          <p:cNvPr id="77" name="" descr="{&quot;isTemplate&quot;:true,&quot;type&quot;:&quot;text&quot;}"/>
          <p:cNvSpPr txBox="1"/>
          <p:nvPr/>
        </p:nvSpPr>
        <p:spPr>
          <a:xfrm rot="0" flipH="0" flipV="0">
            <a:off x="666750" y="666750"/>
            <a:ext cx="5133975" cy="476250"/>
          </a:xfrm>
          <a:prstGeom prst="rect"/>
        </p:spPr>
        <p:txBody>
          <a:bodyPr wrap="none" lIns="0" tIns="0" rIns="0" bIns="0"/>
          <a:p>
            <a:pPr>
              <a:lnSpc>
                <a:spcPct val="130000"/>
              </a:lnSpc>
            </a:pPr>
            <a:r>
              <a:rPr lang="zh-CN" sz="2400" b="1">
                <a:solidFill>
                  <a:srgbClr val="0E2340"/>
                </a:solidFill>
                <a:latin typeface="Microsoft YaHei"/>
                <a:ea typeface="Microsoft YaHei"/>
              </a:rPr>
              <a:t>方向</a:t>
            </a:r>
            <a:r>
              <a:rPr lang="en-US" sz="2400" b="1">
                <a:solidFill>
                  <a:srgbClr val="0E2340"/>
                </a:solidFill>
                <a:latin typeface="Microsoft YaHei"/>
                <a:ea typeface="Microsoft YaHei"/>
              </a:rPr>
              <a:t xml:space="preserve"> 6</a:t>
            </a:r>
            <a:r>
              <a:rPr lang="zh-CN" sz="2400" b="1">
                <a:solidFill>
                  <a:srgbClr val="0E2340"/>
                </a:solidFill>
                <a:latin typeface="Microsoft YaHei"/>
                <a:ea typeface="Microsoft YaHei"/>
              </a:rPr>
              <a:t>（系统侧）：纠错回溯与来源链</a:t>
            </a:r>
            <a:endParaRPr/>
          </a:p>
        </p:txBody>
      </p:sp>
      <p:sp>
        <p:nvSpPr>
          <p:cNvPr id="78" name=""/>
          <p:cNvSpPr/>
          <p:nvPr/>
        </p:nvSpPr>
        <p:spPr>
          <a:xfrm rot="0" flipH="0" flipV="0">
            <a:off x="10820400" y="847725"/>
            <a:ext cx="704850" cy="295275"/>
          </a:xfrm>
          <a:prstGeom prst="roundRect">
            <a:avLst>
              <a:gd name="adj" fmla="val 64516"/>
            </a:avLst>
          </a:prstGeom>
          <a:solidFill>
            <a:srgbClr val="98A2B3"/>
          </a:solidFill>
          <a:ln/>
        </p:spPr>
        <p:txBody>
          <a:bodyPr/>
          <a:p/>
        </p:txBody>
      </p:sp>
      <p:sp>
        <p:nvSpPr>
          <p:cNvPr id="79"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待研究</a:t>
            </a:r>
            <a:endParaRPr/>
          </a:p>
        </p:txBody>
      </p:sp>
      <p:pic>
        <p:nvPicPr>
          <p:cNvPr id="80" name=""/>
          <p:cNvPicPr>
            <a:picLocks noChangeAspect="1"/>
          </p:cNvPicPr>
          <p:nvPr/>
        </p:nvPicPr>
        <p:blipFill>
          <a:blip>
            <a:extLst>
              <a:ext uri="{96DAC541-7B7A-43D3-8B79-37D633B846F1}">
                <asvg:svgBlip r:embed="rId1"/>
              </a:ext>
            </a:extLst>
          </a:blip>
          <a:stretch>
            <a:fillRect/>
          </a:stretch>
        </p:blipFill>
        <p:spPr>
          <a:xfrm rot="0" flipH="0" flipV="0">
            <a:off x="666750" y="1504950"/>
            <a:ext cx="10858500" cy="1619250"/>
          </a:xfrm>
          <a:prstGeom prst="rect">
            <a:avLst/>
          </a:prstGeom>
          <a:ln/>
        </p:spPr>
      </p:pic>
      <p:sp>
        <p:nvSpPr>
          <p:cNvPr id="81" name=""/>
          <p:cNvSpPr/>
          <p:nvPr/>
        </p:nvSpPr>
        <p:spPr>
          <a:xfrm rot="0" flipH="0" flipV="0">
            <a:off x="666750" y="3648075"/>
            <a:ext cx="76200" cy="76200"/>
          </a:xfrm>
          <a:prstGeom prst="roundRect">
            <a:avLst>
              <a:gd name="adj" fmla="val 50000"/>
            </a:avLst>
          </a:prstGeom>
          <a:solidFill>
            <a:srgbClr val="1E7BE0"/>
          </a:solidFill>
          <a:ln/>
        </p:spPr>
        <p:txBody>
          <a:bodyPr/>
          <a:p/>
        </p:txBody>
      </p:sp>
      <p:sp>
        <p:nvSpPr>
          <p:cNvPr id="82" name="" descr="{&quot;isTemplate&quot;:true,&quot;type&quot;:&quot;text&quot;}"/>
          <p:cNvSpPr txBox="1"/>
          <p:nvPr/>
        </p:nvSpPr>
        <p:spPr>
          <a:xfrm rot="0" flipH="0" flipV="0">
            <a:off x="857250" y="3562350"/>
            <a:ext cx="10668000" cy="295275"/>
          </a:xfrm>
          <a:prstGeom prst="rect"/>
        </p:spPr>
        <p:txBody>
          <a:bodyPr wrap="none" lIns="0" tIns="0" rIns="0" bIns="0"/>
          <a:p>
            <a:pPr>
              <a:lnSpc>
                <a:spcPct val="150000"/>
              </a:lnSpc>
            </a:pPr>
            <a:r>
              <a:rPr lang="zh-CN" sz="1275" b="1">
                <a:solidFill>
                  <a:srgbClr val="0E2340"/>
                </a:solidFill>
                <a:latin typeface="Microsoft YaHei"/>
                <a:ea typeface="Microsoft YaHei"/>
              </a:rPr>
              <a:t>修改后流程</a:t>
            </a:r>
            <a:endParaRPr/>
          </a:p>
        </p:txBody>
      </p:sp>
      <p:sp>
        <p:nvSpPr>
          <p:cNvPr id="83" name="" descr="{&quot;isTemplate&quot;:true,&quot;type&quot;:&quot;text&quot;}"/>
          <p:cNvSpPr txBox="1"/>
          <p:nvPr/>
        </p:nvSpPr>
        <p:spPr>
          <a:xfrm rot="0" flipH="0" flipV="0">
            <a:off x="857250" y="3857625"/>
            <a:ext cx="10668000" cy="295275"/>
          </a:xfrm>
          <a:prstGeom prst="rect"/>
        </p:spPr>
        <p:txBody>
          <a:bodyPr wrap="none" lIns="0" tIns="0" rIns="0" bIns="0"/>
          <a:p>
            <a:pPr>
              <a:lnSpc>
                <a:spcPct val="160000"/>
              </a:lnSpc>
            </a:pPr>
            <a:r>
              <a:rPr lang="zh-CN" sz="1200">
                <a:solidFill>
                  <a:srgbClr val="333A45"/>
                </a:solidFill>
                <a:latin typeface="Microsoft YaHei"/>
                <a:ea typeface="Microsoft YaHei"/>
              </a:rPr>
              <a:t>先算影响范围并标记待复核</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生成候选重算结果</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保留原作答与旧报告</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确认新版本时记录差异</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必要时撤销已失效证据。</a:t>
            </a:r>
            <a:endParaRPr/>
          </a:p>
        </p:txBody>
      </p:sp>
      <p:sp>
        <p:nvSpPr>
          <p:cNvPr id="84" name=""/>
          <p:cNvSpPr/>
          <p:nvPr/>
        </p:nvSpPr>
        <p:spPr>
          <a:xfrm rot="0" flipH="0" flipV="0">
            <a:off x="666750" y="4333875"/>
            <a:ext cx="76200" cy="76200"/>
          </a:xfrm>
          <a:prstGeom prst="roundRect">
            <a:avLst>
              <a:gd name="adj" fmla="val 50000"/>
            </a:avLst>
          </a:prstGeom>
          <a:solidFill>
            <a:srgbClr val="1E7BE0"/>
          </a:solidFill>
          <a:ln/>
        </p:spPr>
        <p:txBody>
          <a:bodyPr/>
          <a:p/>
        </p:txBody>
      </p:sp>
      <p:sp>
        <p:nvSpPr>
          <p:cNvPr id="85" name="" descr="{&quot;isTemplate&quot;:true,&quot;type&quot;:&quot;text&quot;}"/>
          <p:cNvSpPr txBox="1"/>
          <p:nvPr/>
        </p:nvSpPr>
        <p:spPr>
          <a:xfrm rot="0" flipH="0" flipV="0">
            <a:off x="857250" y="4248150"/>
            <a:ext cx="10668000" cy="295275"/>
          </a:xfrm>
          <a:prstGeom prst="rect"/>
        </p:spPr>
        <p:txBody>
          <a:bodyPr wrap="none" lIns="0" tIns="0" rIns="0" bIns="0"/>
          <a:p>
            <a:pPr>
              <a:lnSpc>
                <a:spcPct val="150000"/>
              </a:lnSpc>
            </a:pPr>
            <a:r>
              <a:rPr lang="zh-CN" sz="1275" b="1">
                <a:solidFill>
                  <a:srgbClr val="0E2340"/>
                </a:solidFill>
                <a:latin typeface="Microsoft YaHei"/>
                <a:ea typeface="Microsoft YaHei"/>
              </a:rPr>
              <a:t>不可删除项</a:t>
            </a:r>
            <a:endParaRPr/>
          </a:p>
        </p:txBody>
      </p:sp>
      <p:sp>
        <p:nvSpPr>
          <p:cNvPr id="86" name="" descr="{&quot;isTemplate&quot;:true,&quot;type&quot;:&quot;text&quot;}"/>
          <p:cNvSpPr txBox="1"/>
          <p:nvPr/>
        </p:nvSpPr>
        <p:spPr>
          <a:xfrm rot="0" flipH="0" flipV="0">
            <a:off x="857250" y="4543425"/>
            <a:ext cx="10668000" cy="295275"/>
          </a:xfrm>
          <a:prstGeom prst="rect"/>
        </p:spPr>
        <p:txBody>
          <a:bodyPr wrap="none" lIns="0" tIns="0" rIns="0" bIns="0"/>
          <a:p>
            <a:pPr>
              <a:lnSpc>
                <a:spcPct val="160000"/>
              </a:lnSpc>
            </a:pPr>
            <a:r>
              <a:rPr lang="zh-CN" sz="1200">
                <a:solidFill>
                  <a:srgbClr val="333A45"/>
                </a:solidFill>
                <a:latin typeface="Microsoft YaHei"/>
                <a:ea typeface="Microsoft YaHei"/>
              </a:rPr>
              <a:t>已执行的训练与已发生的教师行动是历史事实，不能因推荐依据失效而被删除。</a:t>
            </a:r>
            <a:endParaRPr/>
          </a:p>
        </p:txBody>
      </p:sp>
      <p:sp>
        <p:nvSpPr>
          <p:cNvPr id="87" name=""/>
          <p:cNvSpPr/>
          <p:nvPr/>
        </p:nvSpPr>
        <p:spPr>
          <a:xfrm rot="0" flipH="0" flipV="0">
            <a:off x="666750" y="5019675"/>
            <a:ext cx="76200" cy="76200"/>
          </a:xfrm>
          <a:prstGeom prst="roundRect">
            <a:avLst>
              <a:gd name="adj" fmla="val 50000"/>
            </a:avLst>
          </a:prstGeom>
          <a:solidFill>
            <a:srgbClr val="1E7BE0"/>
          </a:solidFill>
          <a:ln/>
        </p:spPr>
        <p:txBody>
          <a:bodyPr/>
          <a:p/>
        </p:txBody>
      </p:sp>
      <p:sp>
        <p:nvSpPr>
          <p:cNvPr id="88" name="" descr="{&quot;isTemplate&quot;:true,&quot;type&quot;:&quot;text&quot;}"/>
          <p:cNvSpPr txBox="1"/>
          <p:nvPr/>
        </p:nvSpPr>
        <p:spPr>
          <a:xfrm rot="0" flipH="0" flipV="0">
            <a:off x="857250" y="4933950"/>
            <a:ext cx="10668000" cy="295275"/>
          </a:xfrm>
          <a:prstGeom prst="rect"/>
        </p:spPr>
        <p:txBody>
          <a:bodyPr wrap="none" lIns="0" tIns="0" rIns="0" bIns="0"/>
          <a:p>
            <a:pPr>
              <a:lnSpc>
                <a:spcPct val="150000"/>
              </a:lnSpc>
            </a:pPr>
            <a:r>
              <a:rPr lang="zh-CN" sz="1275" b="1">
                <a:solidFill>
                  <a:srgbClr val="0E2340"/>
                </a:solidFill>
                <a:latin typeface="Microsoft YaHei"/>
                <a:ea typeface="Microsoft YaHei"/>
              </a:rPr>
              <a:t>变式处理</a:t>
            </a:r>
            <a:endParaRPr/>
          </a:p>
        </p:txBody>
      </p:sp>
      <p:sp>
        <p:nvSpPr>
          <p:cNvPr id="89" name="" descr="{&quot;isTemplate&quot;:true,&quot;type&quot;:&quot;text&quot;}"/>
          <p:cNvSpPr txBox="1"/>
          <p:nvPr/>
        </p:nvSpPr>
        <p:spPr>
          <a:xfrm rot="0" flipH="0" flipV="0">
            <a:off x="857250" y="5229225"/>
            <a:ext cx="10668000" cy="295275"/>
          </a:xfrm>
          <a:prstGeom prst="rect"/>
        </p:spPr>
        <p:txBody>
          <a:bodyPr wrap="none" lIns="0" tIns="0" rIns="0" bIns="0"/>
          <a:p>
            <a:pPr>
              <a:lnSpc>
                <a:spcPct val="160000"/>
              </a:lnSpc>
            </a:pPr>
            <a:r>
              <a:rPr lang="zh-CN" sz="1200">
                <a:solidFill>
                  <a:srgbClr val="333A45"/>
                </a:solidFill>
                <a:latin typeface="Microsoft YaHei"/>
                <a:ea typeface="Microsoft YaHei"/>
              </a:rPr>
              <a:t>原题变式不是依赖旧题才成立的全部副本：变式进入风险复核，不无条件宣判全部无效。</a:t>
            </a:r>
            <a:endParaRPr/>
          </a:p>
        </p:txBody>
      </p:sp>
      <p:sp>
        <p:nvSpPr>
          <p:cNvPr id="90" name=""/>
          <p:cNvSpPr/>
          <p:nvPr/>
        </p:nvSpPr>
        <p:spPr>
          <a:xfrm rot="0" flipH="0" flipV="0">
            <a:off x="666750" y="5705475"/>
            <a:ext cx="76200" cy="76200"/>
          </a:xfrm>
          <a:prstGeom prst="roundRect">
            <a:avLst>
              <a:gd name="adj" fmla="val 50000"/>
            </a:avLst>
          </a:prstGeom>
          <a:solidFill>
            <a:srgbClr val="1E7BE0"/>
          </a:solidFill>
          <a:ln/>
        </p:spPr>
        <p:txBody>
          <a:bodyPr/>
          <a:p/>
        </p:txBody>
      </p:sp>
      <p:sp>
        <p:nvSpPr>
          <p:cNvPr id="91" name="" descr="{&quot;isTemplate&quot;:true,&quot;type&quot;:&quot;text&quot;}"/>
          <p:cNvSpPr txBox="1"/>
          <p:nvPr/>
        </p:nvSpPr>
        <p:spPr>
          <a:xfrm rot="0" flipH="0" flipV="0">
            <a:off x="857250" y="5619750"/>
            <a:ext cx="10668000" cy="295275"/>
          </a:xfrm>
          <a:prstGeom prst="rect"/>
        </p:spPr>
        <p:txBody>
          <a:bodyPr wrap="none" lIns="0" tIns="0" rIns="0" bIns="0"/>
          <a:p>
            <a:pPr>
              <a:lnSpc>
                <a:spcPct val="150000"/>
              </a:lnSpc>
            </a:pPr>
            <a:r>
              <a:rPr lang="zh-CN" sz="1275" b="1">
                <a:solidFill>
                  <a:srgbClr val="0E2340"/>
                </a:solidFill>
                <a:latin typeface="Microsoft YaHei"/>
                <a:ea typeface="Microsoft YaHei"/>
              </a:rPr>
              <a:t>参考模型</a:t>
            </a:r>
            <a:endParaRPr/>
          </a:p>
        </p:txBody>
      </p:sp>
      <p:sp>
        <p:nvSpPr>
          <p:cNvPr id="92" name="" descr="{&quot;isTemplate&quot;:true,&quot;type&quot;:&quot;text&quot;}"/>
          <p:cNvSpPr txBox="1"/>
          <p:nvPr/>
        </p:nvSpPr>
        <p:spPr>
          <a:xfrm rot="0" flipH="0" flipV="0">
            <a:off x="857250" y="5915025"/>
            <a:ext cx="10668000" cy="295275"/>
          </a:xfrm>
          <a:prstGeom prst="rect"/>
        </p:spPr>
        <p:txBody>
          <a:bodyPr wrap="none" lIns="0" tIns="0" rIns="0" bIns="0"/>
          <a:p>
            <a:pPr>
              <a:lnSpc>
                <a:spcPct val="160000"/>
              </a:lnSpc>
            </a:pPr>
            <a:r>
              <a:rPr lang="zh-CN" sz="1200">
                <a:solidFill>
                  <a:srgbClr val="333A45"/>
                </a:solidFill>
                <a:latin typeface="Microsoft YaHei"/>
                <a:ea typeface="Microsoft YaHei"/>
              </a:rPr>
              <a:t>借鉴</a:t>
            </a:r>
            <a:r>
              <a:rPr lang="en-US" sz="1200">
                <a:solidFill>
                  <a:srgbClr val="333A45"/>
                </a:solidFill>
                <a:latin typeface="Microsoft YaHei"/>
                <a:ea typeface="Microsoft YaHei"/>
              </a:rPr>
              <a:t xml:space="preserve"> W3C PROV</a:t>
            </a:r>
            <a:r>
              <a:rPr lang="zh-CN" sz="1200">
                <a:solidFill>
                  <a:srgbClr val="333A45"/>
                </a:solidFill>
                <a:latin typeface="Microsoft YaHei"/>
                <a:ea typeface="Microsoft YaHei"/>
              </a:rPr>
              <a:t>（实体、处理活动、参与者、来源关系）；初期用普通数据库关联即可，需要的是可查询的来源、版本与派生关系。</a:t>
            </a:r>
            <a:endParaRPr/>
          </a:p>
        </p:txBody>
      </p:sp>
      <p:sp>
        <p:nvSpPr>
          <p:cNvPr id="93"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94" name="" descr="{&quot;isTemplate&quot;:true,&quot;type&quot;:&quot;text&quot;}"/>
          <p:cNvSpPr txBox="1"/>
          <p:nvPr/>
        </p:nvSpPr>
        <p:spPr>
          <a:xfrm rot="0" flipH="0" flipV="0">
            <a:off x="666750" y="6381750"/>
            <a:ext cx="2038350" cy="209550"/>
          </a:xfrm>
          <a:prstGeom prst="rect"/>
        </p:spPr>
        <p:txBody>
          <a:bodyPr wrap="none" lIns="0" tIns="0" rIns="0" bIns="0"/>
          <a:p>
            <a:pPr>
              <a:lnSpc>
                <a:spcPct val="140000"/>
              </a:lnSpc>
            </a:pPr>
            <a:r>
              <a:rPr lang="zh-CN" sz="975">
                <a:solidFill>
                  <a:srgbClr val="7A8699"/>
                </a:solidFill>
                <a:latin typeface="Microsoft YaHei"/>
                <a:ea typeface="Microsoft YaHei"/>
              </a:rPr>
              <a:t>依据：待深化功能研究</a:t>
            </a:r>
            <a:r>
              <a:rPr lang="en-US" sz="975">
                <a:solidFill>
                  <a:srgbClr val="7A8699"/>
                </a:solidFill>
                <a:latin typeface="Microsoft YaHei"/>
                <a:ea typeface="Microsoft YaHei"/>
              </a:rPr>
              <a:t>.md §3.3–§3.4</a:t>
            </a:r>
            <a:endParaRPr/>
          </a:p>
        </p:txBody>
      </p:sp>
      <p:sp>
        <p:nvSpPr>
          <p:cNvPr id="95" name="" descr="{&quot;isTemplate&quot;:true,&quot;type&quot;:&quot;text&quot;}"/>
          <p:cNvSpPr txBox="1"/>
          <p:nvPr/>
        </p:nvSpPr>
        <p:spPr>
          <a:xfrm rot="0" flipH="0" flipV="0">
            <a:off x="10887075" y="6372225"/>
            <a:ext cx="6381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100 / 124 </a:t>
            </a:r>
            <a:endParaRPr/>
          </a:p>
        </p:txBody>
      </p:sp>
    </p:spTree>
  </p:cSld>
</p:sld>
</file>

<file path=ppt/slides/slide101.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96"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0 / 待深化研究&lt;/Text&gt;&lt;Text style={{ fontSize: 32, color: '#0E2340', fontWeight: 700, lineHeight: 1.3 }}&gt;方向 7：教师干预的跟踪记录&lt;/Text&gt;&lt;/Box&gt;&lt;Box style={{ flexDirection: 'row', alignItems: 'center', padding: '7px 16px', borderRadius: 20, background: '#98A2B3' }}&gt;&lt;Text style={{ fontSize: 14, color: '#FFFFFF', fontWeight: 600 }}&gt;待研究&lt;/Text&gt;&lt;/Box&gt;&lt;/Box&gt;&lt;Box style={{ height: 532, paddingTop: 8, flexDirection: 'column' }}&gt;&lt;Box style={{ flexDirection: 'row', gap: 28, flex: 1 }}&gt;&lt;Box style={{ width: 620, justifyContent: 'center' }}&gt;&lt;svg width={620} height={400} viewBox='0 0 620 400'&gt;&lt;rect x='0' y='0' width='620' height='400' rx='8' fill='#FFFFFF' stroke='#E3E8EF' stroke-width='1.5'/&gt;&lt;rect x='0' y='0' width='620' height='40' rx='8' fill='#0E2340'/&gt;&lt;rect x='0' y='26' width='620' height='14' fill='#0E2340'/&gt;&lt;text x='16' y='26' font-size='15' fill='#FFFFFF' text-anchor='start' font-weight='600'&gt;StudyAgent&lt;/text&gt;&lt;rect x='18' y='58' width='584' height='26' rx='4' fill='#F5F7FA'/&gt;&lt;text x='30' y='76' font-size='14' fill='#0E2340' text-anchor='start' font-weight='600'&gt;干预事项看板&lt;/text&gt;&lt;rect x='18' y='92' width='584' height='52' rx='6' fill='#FFFFFF' stroke='#7A8699' stroke-width='1' stroke-dasharray='4 4'/&gt;&lt;text x='30' y='124' font-size='14' fill='#333A45' text-anchor='start' font-weight='400'&gt;触发依据 · 待验证问题 · 教师选择 · 行动安排&lt;/text&gt;&lt;rect x='18' y='152' width='584' height='52' rx='6' fill='#FFFFFF' stroke='#7A8699' stroke-width='1' stroke-dasharray='4 4'/&gt;&lt;text x='30' y='184' font-size='14' fill='#333A45' text-anchor='start' font-weight='400'&gt;学生反馈 · 后续证据 · 阶段结论&lt;/text&gt;&lt;rect x='18' y='212' width='584' height='28' rx='14' fill='#EAF3FD'/&gt;&lt;text x='30' y='231' font-size='14' fill='#1E7BE0' text-anchor='start' font-weight='600'&gt;状态：待核实 → 已安排 → 已实施 → 待复测 → 已改善 / 继续跟进 / 证据不足&lt;/text&gt;&lt;rect x='18' y='248' width='584' height='34' rx='17' fill='#1E7BE0'/&gt;&lt;text x='310.0' y='271' font-size='15' fill='#FFFFFF' text-anchor='middle' font-weight='600'&gt;关闭误报 · 合并重复提醒 · 关联小组行动&lt;/text&gt;&lt;text x='608' y='390' font-size='12' fill='#7A8699' text-anchor='end' font-weight='400'&gt;示意占位 · S33&lt;/text&gt;&lt;/svg&gt;&lt;/Box&gt;&lt;Box style={{ flex: 1, flexDirection: 'column', gap: 10, justifyContent: 'center' }}&gt;&lt;Text style={{ fontSize: 21, color: '#0E2340', fontWeight: 700, lineHeight: 1.4 }}&gt;界面要点&lt;/Text&gt;&lt;Box style={{ flexDirection: 'column', gap: 9 }}&gt;&lt;Box style={{ flexDirection: 'row', gap: 12, alignItems: 'flex-start' }}&gt;&lt;Box style={{ width: 8, height: 8, borderRadius: 4, background: '#1E7BE0', marginTop: 9 }} /&gt;&lt;Box style={{ flex: 1 }}&gt;&lt;Text style={{ fontSize: 16, color: '#333A45', fontWeight: 400, lineHeight: 1.6 }}&gt;已有参考：LA Cockpit（Journal of Learning Analytics 2024）准实验研究，16 名教师、22 个班、403 名学生，把看板使用、反馈实践与前后测知识变化作为连续影响链。&lt;/Text&gt;&lt;/Box&gt;&lt;/Box&gt;&lt;Box style={{ flexDirection: 'row', gap: 12, alignItems: 'flex-start' }}&gt;&lt;Box style={{ width: 8, height: 8, borderRadius: 4, background: '#1E7BE0', marginTop: 9 }} /&gt;&lt;Box style={{ flex: 1 }}&gt;&lt;Text style={{ fontSize: 16, color: '#333A45', fontWeight: 400, lineHeight: 1.6 }}&gt;干预事项七要素：触发依据、待验证问题、教师选择、行动安排、学生反馈、后续证据、阶段结论。&lt;/Text&gt;&lt;/Box&gt;&lt;/Box&gt;&lt;Box style={{ flexDirection: 'row', gap: 12, alignItems: 'flex-start' }}&gt;&lt;Box style={{ width: 8, height: 8, borderRadius: 4, background: '#1E7BE0', marginTop: 9 }} /&gt;&lt;Box style={{ flex: 1 }}&gt;&lt;Text style={{ fontSize: 16, color: '#333A45', fontWeight: 400, lineHeight: 1.6 }}&gt;行动完成与问题解决分别记录，避免“谈过一次”或“补练完成”就自动标为掌握。&lt;/Text&gt;&lt;/Box&gt;&lt;/Box&gt;&lt;Box style={{ flexDirection: 'row', gap: 12, alignItems: 'flex-start' }}&gt;&lt;Box style={{ width: 8, height: 8, borderRadius: 4, background: '#1E7BE0', marginTop: 9 }} /&gt;&lt;Box style={{ flex: 1 }}&gt;&lt;Text style={{ fontSize: 16, color: '#333A45', fontWeight: 400, lineHeight: 1.6 }}&gt;防负担：同一目标重复提醒合并，显示证据变化而非新增任务；支持小组与全班行动。&lt;/Text&gt;&lt;/Box&gt;&lt;/Box&gt;&lt;Box style={{ flexDirection: 'row', gap: 12, alignItems: 'flex-start' }}&gt;&lt;Box style={{ width: 8, height: 8, borderRadius: 4, background: '#1E7BE0', marginTop: 9 }} /&gt;&lt;Box style={{ flex: 1 }}&gt;&lt;Text style={{ fontSize: 16, color: '#333A45', fontWeight: 400, lineHeight: 1.6 }}&gt;优先级结合问题持续性、涉及范围、前置影响、现有任务、教师可用时间，不直接由低分排列；首期从“单个步骤的课堂补充或小组补练”切入。&lt;/Text&gt;&lt;/Box&gt;&lt;/Box&gt;&lt;/Box&gt;&lt;Box style={{ marginTop: 6, padding: '9px 14px', background: '#F5F7FA', borderRadius: 6, alignSelf: 'flex-start' }}&gt;&lt;Text style={{ fontSize: 14, color: '#7A8699', fontWeight: 600, lineHeight: 1.4 }}&gt;示意占位 S33 · 待替换为实际截图&lt;/Text&gt;&lt;/Box&gt;&lt;/Box&gt;&lt;/Box&gt;&lt;/Box&gt;&lt;Box style={{ height: 40, flexDirection: 'row', justifyContent: 'space-between', alignItems: 'center', borderTop: '1px solid #E3E8EF', marginTop: 8 }}&gt;&lt;Text style={{ fontSize: 13, color: '#7A8699', fontWeight: 400, lineHeight: 1.4 }}&gt;依据：待深化功能研究.md §4&lt;/Text&gt;&lt;Text style={{ fontSize: 14, color: '#7A8699', fontWeight: 400, lineHeight: 1.4 }}&gt; 101 / 124 &lt;/Text&gt;&lt;/Box&gt;&lt;/Slide&gt;"/>
        <p:cNvGrpSpPr/>
        <p:nvPr/>
      </p:nvGrpSpPr>
      <p:grpSpPr>
        <a:xfrm>
          <a:off x="0" y="0"/>
          <a:ext cx="0" cy="0"/>
          <a:chOff x="0" y="0"/>
          <a:chExt cx="0" cy="0"/>
        </a:xfrm>
      </p:grpSpPr>
      <p:sp>
        <p:nvSpPr>
          <p:cNvPr id="97" name=""/>
          <p:cNvSpPr/>
          <p:nvPr/>
        </p:nvSpPr>
        <p:spPr>
          <a:xfrm rot="0" flipH="0" flipV="0">
            <a:off x="0" y="0"/>
            <a:ext cx="12192000" cy="6858000"/>
          </a:xfrm>
          <a:prstGeom prst="rect">
            <a:avLst/>
          </a:prstGeom>
          <a:solidFill>
            <a:srgbClr val="FFFFFF"/>
          </a:solidFill>
          <a:ln/>
        </p:spPr>
        <p:txBody>
          <a:bodyPr/>
          <a:p/>
        </p:txBody>
      </p:sp>
      <p:sp>
        <p:nvSpPr>
          <p:cNvPr id="98" name="" descr="{&quot;isTemplate&quot;:true,&quot;type&quot;:&quot;text&quot;}"/>
          <p:cNvSpPr txBox="1"/>
          <p:nvPr/>
        </p:nvSpPr>
        <p:spPr>
          <a:xfrm rot="0" flipH="0" flipV="0">
            <a:off x="666750" y="381000"/>
            <a:ext cx="3914775"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10 / </a:t>
            </a:r>
            <a:r>
              <a:rPr lang="zh-CN" sz="1050" spc="75">
                <a:solidFill>
                  <a:srgbClr val="7A8699"/>
                </a:solidFill>
                <a:latin typeface="Microsoft YaHei"/>
                <a:ea typeface="Microsoft YaHei"/>
              </a:rPr>
              <a:t>待深化研究</a:t>
            </a:r>
            <a:endParaRPr/>
          </a:p>
        </p:txBody>
      </p:sp>
      <p:sp>
        <p:nvSpPr>
          <p:cNvPr id="99" name="" descr="{&quot;isTemplate&quot;:true,&quot;type&quot;:&quot;text&quot;}"/>
          <p:cNvSpPr txBox="1"/>
          <p:nvPr/>
        </p:nvSpPr>
        <p:spPr>
          <a:xfrm rot="0" flipH="0" flipV="0">
            <a:off x="666750" y="666750"/>
            <a:ext cx="3914775" cy="476250"/>
          </a:xfrm>
          <a:prstGeom prst="rect"/>
        </p:spPr>
        <p:txBody>
          <a:bodyPr wrap="none" lIns="0" tIns="0" rIns="0" bIns="0"/>
          <a:p>
            <a:pPr>
              <a:lnSpc>
                <a:spcPct val="130000"/>
              </a:lnSpc>
            </a:pPr>
            <a:r>
              <a:rPr lang="zh-CN" sz="2400" b="1">
                <a:solidFill>
                  <a:srgbClr val="0E2340"/>
                </a:solidFill>
                <a:latin typeface="Microsoft YaHei"/>
                <a:ea typeface="Microsoft YaHei"/>
              </a:rPr>
              <a:t>方向</a:t>
            </a:r>
            <a:r>
              <a:rPr lang="en-US" sz="2400" b="1">
                <a:solidFill>
                  <a:srgbClr val="0E2340"/>
                </a:solidFill>
                <a:latin typeface="Microsoft YaHei"/>
                <a:ea typeface="Microsoft YaHei"/>
              </a:rPr>
              <a:t xml:space="preserve"> 7</a:t>
            </a:r>
            <a:r>
              <a:rPr lang="zh-CN" sz="2400" b="1">
                <a:solidFill>
                  <a:srgbClr val="0E2340"/>
                </a:solidFill>
                <a:latin typeface="Microsoft YaHei"/>
                <a:ea typeface="Microsoft YaHei"/>
              </a:rPr>
              <a:t>：教师干预的跟踪记录</a:t>
            </a:r>
            <a:endParaRPr/>
          </a:p>
        </p:txBody>
      </p:sp>
      <p:sp>
        <p:nvSpPr>
          <p:cNvPr id="100" name=""/>
          <p:cNvSpPr/>
          <p:nvPr/>
        </p:nvSpPr>
        <p:spPr>
          <a:xfrm rot="0" flipH="0" flipV="0">
            <a:off x="10820400" y="847725"/>
            <a:ext cx="704850" cy="295275"/>
          </a:xfrm>
          <a:prstGeom prst="roundRect">
            <a:avLst>
              <a:gd name="adj" fmla="val 64516"/>
            </a:avLst>
          </a:prstGeom>
          <a:solidFill>
            <a:srgbClr val="98A2B3"/>
          </a:solidFill>
          <a:ln/>
        </p:spPr>
        <p:txBody>
          <a:bodyPr/>
          <a:p/>
        </p:txBody>
      </p:sp>
      <p:sp>
        <p:nvSpPr>
          <p:cNvPr id="101"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待研究</a:t>
            </a:r>
            <a:endParaRPr/>
          </a:p>
        </p:txBody>
      </p:sp>
      <p:pic>
        <p:nvPicPr>
          <p:cNvPr id="102" name=""/>
          <p:cNvPicPr>
            <a:picLocks noChangeAspect="1"/>
          </p:cNvPicPr>
          <p:nvPr/>
        </p:nvPicPr>
        <p:blipFill>
          <a:blip>
            <a:extLst>
              <a:ext uri="{96DAC541-7B7A-43D3-8B79-37D633B846F1}">
                <asvg:svgBlip r:embed="rId1"/>
              </a:ext>
            </a:extLst>
          </a:blip>
          <a:stretch>
            <a:fillRect/>
          </a:stretch>
        </p:blipFill>
        <p:spPr>
          <a:xfrm rot="0" flipH="0" flipV="0">
            <a:off x="666750" y="1809750"/>
            <a:ext cx="5905500" cy="3810000"/>
          </a:xfrm>
          <a:prstGeom prst="rect">
            <a:avLst/>
          </a:prstGeom>
          <a:ln/>
        </p:spPr>
      </p:pic>
      <p:sp>
        <p:nvSpPr>
          <p:cNvPr id="103" name="" descr="{&quot;isTemplate&quot;:true,&quot;type&quot;:&quot;text&quot;}"/>
          <p:cNvSpPr txBox="1"/>
          <p:nvPr/>
        </p:nvSpPr>
        <p:spPr>
          <a:xfrm rot="0" flipH="0" flipV="0">
            <a:off x="6838950" y="1276350"/>
            <a:ext cx="4686300" cy="342900"/>
          </a:xfrm>
          <a:prstGeom prst="rect"/>
        </p:spPr>
        <p:txBody>
          <a:bodyPr wrap="none" lIns="0" tIns="0" rIns="0" bIns="0"/>
          <a:p>
            <a:pPr>
              <a:lnSpc>
                <a:spcPct val="140000"/>
              </a:lnSpc>
            </a:pPr>
            <a:r>
              <a:rPr lang="zh-CN" sz="1575" b="1">
                <a:solidFill>
                  <a:srgbClr val="0E2340"/>
                </a:solidFill>
                <a:latin typeface="Microsoft YaHei"/>
                <a:ea typeface="Microsoft YaHei"/>
              </a:rPr>
              <a:t>界面要点</a:t>
            </a:r>
            <a:endParaRPr/>
          </a:p>
        </p:txBody>
      </p:sp>
      <p:sp>
        <p:nvSpPr>
          <p:cNvPr id="104" name=""/>
          <p:cNvSpPr/>
          <p:nvPr/>
        </p:nvSpPr>
        <p:spPr>
          <a:xfrm rot="0" flipH="0" flipV="0">
            <a:off x="6838950" y="1800225"/>
            <a:ext cx="76200" cy="76200"/>
          </a:xfrm>
          <a:prstGeom prst="roundRect">
            <a:avLst>
              <a:gd name="adj" fmla="val 50000"/>
            </a:avLst>
          </a:prstGeom>
          <a:solidFill>
            <a:srgbClr val="1E7BE0"/>
          </a:solidFill>
          <a:ln/>
        </p:spPr>
        <p:txBody>
          <a:bodyPr/>
          <a:p/>
        </p:txBody>
      </p:sp>
      <p:sp>
        <p:nvSpPr>
          <p:cNvPr id="105" name="" descr="{&quot;isTemplate&quot;:true,&quot;type&quot;:&quot;text&quot;}"/>
          <p:cNvSpPr txBox="1"/>
          <p:nvPr/>
        </p:nvSpPr>
        <p:spPr>
          <a:xfrm rot="0" flipH="0" flipV="0">
            <a:off x="7029450" y="1714500"/>
            <a:ext cx="4495800" cy="88582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已有参考：</a:t>
            </a:r>
            <a:r>
              <a:rPr lang="en-US" sz="1200">
                <a:solidFill>
                  <a:srgbClr val="333A45"/>
                </a:solidFill>
                <a:latin typeface="Microsoft YaHei"/>
                <a:ea typeface="Microsoft YaHei"/>
              </a:rPr>
              <a:t>LA Cockpit</a:t>
            </a:r>
            <a:r>
              <a:rPr lang="zh-CN" sz="1200">
                <a:solidFill>
                  <a:srgbClr val="333A45"/>
                </a:solidFill>
                <a:latin typeface="Microsoft YaHei"/>
                <a:ea typeface="Microsoft YaHei"/>
              </a:rPr>
              <a:t>（</a:t>
            </a:r>
            <a:r>
              <a:rPr lang="en-US" sz="1200">
                <a:solidFill>
                  <a:srgbClr val="333A45"/>
                </a:solidFill>
                <a:latin typeface="Microsoft YaHei"/>
                <a:ea typeface="Microsoft YaHei"/>
              </a:rPr>
              <a:t>Journal of Learning Analytics 2024</a:t>
            </a:r>
            <a:r>
              <a:rPr lang="zh-CN" sz="1200">
                <a:solidFill>
                  <a:srgbClr val="333A45"/>
                </a:solidFill>
                <a:latin typeface="Microsoft YaHei"/>
                <a:ea typeface="Microsoft YaHei"/>
              </a:rPr>
              <a:t>）准实验研究，</a:t>
            </a:r>
            <a:r>
              <a:rPr lang="en-US" sz="1200">
                <a:solidFill>
                  <a:srgbClr val="333A45"/>
                </a:solidFill>
                <a:latin typeface="Microsoft YaHei"/>
                <a:ea typeface="Microsoft YaHei"/>
              </a:rPr>
              <a:t xml:space="preserve">16 </a:t>
            </a:r>
            <a:r>
              <a:rPr lang="zh-CN" sz="1200">
                <a:solidFill>
                  <a:srgbClr val="333A45"/>
                </a:solidFill>
                <a:latin typeface="Microsoft YaHei"/>
                <a:ea typeface="Microsoft YaHei"/>
              </a:rPr>
              <a:t>名教师、</a:t>
            </a:r>
            <a:r>
              <a:rPr lang="en-US" sz="1200">
                <a:solidFill>
                  <a:srgbClr val="333A45"/>
                </a:solidFill>
                <a:latin typeface="Microsoft YaHei"/>
                <a:ea typeface="Microsoft YaHei"/>
              </a:rPr>
              <a:t xml:space="preserve">22 </a:t>
            </a:r>
            <a:r>
              <a:rPr lang="zh-CN" sz="1200">
                <a:solidFill>
                  <a:srgbClr val="333A45"/>
                </a:solidFill>
                <a:latin typeface="Microsoft YaHei"/>
                <a:ea typeface="Microsoft YaHei"/>
              </a:rPr>
              <a:t>个班、</a:t>
            </a:r>
            <a:r>
              <a:rPr lang="en-US" sz="1200">
                <a:solidFill>
                  <a:srgbClr val="333A45"/>
                </a:solidFill>
                <a:latin typeface="Microsoft YaHei"/>
                <a:ea typeface="Microsoft YaHei"/>
              </a:rPr>
              <a:t xml:space="preserve">403 </a:t>
            </a:r>
            <a:r>
              <a:rPr lang="zh-CN" sz="1200">
                <a:solidFill>
                  <a:srgbClr val="333A45"/>
                </a:solidFill>
                <a:latin typeface="Microsoft YaHei"/>
                <a:ea typeface="Microsoft YaHei"/>
              </a:rPr>
              <a:t>名学生，把看板使用、反馈实践与前后测知识变化作为连续影响链。</a:t>
            </a:r>
            <a:endParaRPr/>
          </a:p>
        </p:txBody>
      </p:sp>
      <p:sp>
        <p:nvSpPr>
          <p:cNvPr id="106" name=""/>
          <p:cNvSpPr/>
          <p:nvPr/>
        </p:nvSpPr>
        <p:spPr>
          <a:xfrm rot="0" flipH="0" flipV="0">
            <a:off x="6838950" y="2771775"/>
            <a:ext cx="76200" cy="76200"/>
          </a:xfrm>
          <a:prstGeom prst="roundRect">
            <a:avLst>
              <a:gd name="adj" fmla="val 50000"/>
            </a:avLst>
          </a:prstGeom>
          <a:solidFill>
            <a:srgbClr val="1E7BE0"/>
          </a:solidFill>
          <a:ln/>
        </p:spPr>
        <p:txBody>
          <a:bodyPr/>
          <a:p/>
        </p:txBody>
      </p:sp>
      <p:sp>
        <p:nvSpPr>
          <p:cNvPr id="107" name="" descr="{&quot;isTemplate&quot;:true,&quot;type&quot;:&quot;text&quot;}"/>
          <p:cNvSpPr txBox="1"/>
          <p:nvPr/>
        </p:nvSpPr>
        <p:spPr>
          <a:xfrm rot="0" flipH="0" flipV="0">
            <a:off x="7029450" y="2686050"/>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干预事项七要素：触发依据、待验证问题、教师选择、行动安排、学生反馈、后续证据、阶段结论。</a:t>
            </a:r>
            <a:endParaRPr/>
          </a:p>
        </p:txBody>
      </p:sp>
      <p:sp>
        <p:nvSpPr>
          <p:cNvPr id="108" name=""/>
          <p:cNvSpPr/>
          <p:nvPr/>
        </p:nvSpPr>
        <p:spPr>
          <a:xfrm rot="0" flipH="0" flipV="0">
            <a:off x="6838950" y="3448050"/>
            <a:ext cx="76200" cy="76200"/>
          </a:xfrm>
          <a:prstGeom prst="roundRect">
            <a:avLst>
              <a:gd name="adj" fmla="val 50000"/>
            </a:avLst>
          </a:prstGeom>
          <a:solidFill>
            <a:srgbClr val="1E7BE0"/>
          </a:solidFill>
          <a:ln/>
        </p:spPr>
        <p:txBody>
          <a:bodyPr/>
          <a:p/>
        </p:txBody>
      </p:sp>
      <p:sp>
        <p:nvSpPr>
          <p:cNvPr id="109" name="" descr="{&quot;isTemplate&quot;:true,&quot;type&quot;:&quot;text&quot;}"/>
          <p:cNvSpPr txBox="1"/>
          <p:nvPr/>
        </p:nvSpPr>
        <p:spPr>
          <a:xfrm rot="0" flipH="0" flipV="0">
            <a:off x="7029450" y="3362325"/>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行动完成与问题解决分别记录，避免“谈过一次”或“补练完成”就自动标为掌握。</a:t>
            </a:r>
            <a:endParaRPr/>
          </a:p>
        </p:txBody>
      </p:sp>
      <p:sp>
        <p:nvSpPr>
          <p:cNvPr id="110" name=""/>
          <p:cNvSpPr/>
          <p:nvPr/>
        </p:nvSpPr>
        <p:spPr>
          <a:xfrm rot="0" flipH="0" flipV="0">
            <a:off x="6838950" y="4124325"/>
            <a:ext cx="76200" cy="76200"/>
          </a:xfrm>
          <a:prstGeom prst="roundRect">
            <a:avLst>
              <a:gd name="adj" fmla="val 50000"/>
            </a:avLst>
          </a:prstGeom>
          <a:solidFill>
            <a:srgbClr val="1E7BE0"/>
          </a:solidFill>
          <a:ln/>
        </p:spPr>
        <p:txBody>
          <a:bodyPr/>
          <a:p/>
        </p:txBody>
      </p:sp>
      <p:sp>
        <p:nvSpPr>
          <p:cNvPr id="111" name="" descr="{&quot;isTemplate&quot;:true,&quot;type&quot;:&quot;text&quot;}"/>
          <p:cNvSpPr txBox="1"/>
          <p:nvPr/>
        </p:nvSpPr>
        <p:spPr>
          <a:xfrm rot="0" flipH="0" flipV="0">
            <a:off x="7029450" y="4038600"/>
            <a:ext cx="44958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防负担：同一目标重复提醒合并，显示证据变化而非新增任务；支持小组与全班行动。</a:t>
            </a:r>
            <a:endParaRPr/>
          </a:p>
        </p:txBody>
      </p:sp>
      <p:sp>
        <p:nvSpPr>
          <p:cNvPr id="112" name=""/>
          <p:cNvSpPr/>
          <p:nvPr/>
        </p:nvSpPr>
        <p:spPr>
          <a:xfrm rot="0" flipH="0" flipV="0">
            <a:off x="6838950" y="4800600"/>
            <a:ext cx="76200" cy="76200"/>
          </a:xfrm>
          <a:prstGeom prst="roundRect">
            <a:avLst>
              <a:gd name="adj" fmla="val 50000"/>
            </a:avLst>
          </a:prstGeom>
          <a:solidFill>
            <a:srgbClr val="1E7BE0"/>
          </a:solidFill>
          <a:ln/>
        </p:spPr>
        <p:txBody>
          <a:bodyPr/>
          <a:p/>
        </p:txBody>
      </p:sp>
      <p:sp>
        <p:nvSpPr>
          <p:cNvPr id="113" name="" descr="{&quot;isTemplate&quot;:true,&quot;type&quot;:&quot;text&quot;}"/>
          <p:cNvSpPr txBox="1"/>
          <p:nvPr/>
        </p:nvSpPr>
        <p:spPr>
          <a:xfrm rot="0" flipH="0" flipV="0">
            <a:off x="7029450" y="4714875"/>
            <a:ext cx="4495800" cy="88582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优先级结合问题持续性、涉及范围、前置影响、现有任务、教师可用时间，不直接由低分排列；首期从“单个步骤的课堂补充或小组补练”切入。</a:t>
            </a:r>
            <a:endParaRPr/>
          </a:p>
        </p:txBody>
      </p:sp>
      <p:sp>
        <p:nvSpPr>
          <p:cNvPr id="114" name=""/>
          <p:cNvSpPr/>
          <p:nvPr/>
        </p:nvSpPr>
        <p:spPr>
          <a:xfrm rot="0" flipH="0" flipV="0">
            <a:off x="6838950" y="5753100"/>
            <a:ext cx="2266950" cy="400050"/>
          </a:xfrm>
          <a:prstGeom prst="roundRect">
            <a:avLst>
              <a:gd name="adj" fmla="val 14286"/>
            </a:avLst>
          </a:prstGeom>
          <a:solidFill>
            <a:srgbClr val="F5F7FA"/>
          </a:solidFill>
          <a:ln/>
        </p:spPr>
        <p:txBody>
          <a:bodyPr/>
          <a:p/>
        </p:txBody>
      </p:sp>
      <p:sp>
        <p:nvSpPr>
          <p:cNvPr id="115" name="" descr="{&quot;isTemplate&quot;:true,&quot;type&quot;:&quot;text&quot;}"/>
          <p:cNvSpPr txBox="1"/>
          <p:nvPr/>
        </p:nvSpPr>
        <p:spPr>
          <a:xfrm rot="0" flipH="0" flipV="0">
            <a:off x="6972300" y="5838825"/>
            <a:ext cx="2000250" cy="228600"/>
          </a:xfrm>
          <a:prstGeom prst="rect"/>
        </p:spPr>
        <p:txBody>
          <a:bodyPr wrap="none" lIns="0" tIns="0" rIns="0" bIns="0"/>
          <a:p>
            <a:pPr>
              <a:lnSpc>
                <a:spcPct val="140000"/>
              </a:lnSpc>
            </a:pPr>
            <a:r>
              <a:rPr lang="zh-CN" sz="1050" b="1">
                <a:solidFill>
                  <a:srgbClr val="7A8699"/>
                </a:solidFill>
                <a:latin typeface="Microsoft YaHei"/>
                <a:ea typeface="Microsoft YaHei"/>
              </a:rPr>
              <a:t>示意占位</a:t>
            </a:r>
            <a:r>
              <a:rPr lang="en-US" sz="1050" b="1">
                <a:solidFill>
                  <a:srgbClr val="7A8699"/>
                </a:solidFill>
                <a:latin typeface="Microsoft YaHei"/>
                <a:ea typeface="Microsoft YaHei"/>
              </a:rPr>
              <a:t xml:space="preserve"> S33 · </a:t>
            </a:r>
            <a:r>
              <a:rPr lang="zh-CN" sz="1050" b="1">
                <a:solidFill>
                  <a:srgbClr val="7A8699"/>
                </a:solidFill>
                <a:latin typeface="Microsoft YaHei"/>
                <a:ea typeface="Microsoft YaHei"/>
              </a:rPr>
              <a:t>待替换为实际截图</a:t>
            </a:r>
            <a:endParaRPr/>
          </a:p>
        </p:txBody>
      </p:sp>
      <p:sp>
        <p:nvSpPr>
          <p:cNvPr id="116"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17" name="" descr="{&quot;isTemplate&quot;:true,&quot;type&quot;:&quot;text&quot;}"/>
          <p:cNvSpPr txBox="1"/>
          <p:nvPr/>
        </p:nvSpPr>
        <p:spPr>
          <a:xfrm rot="0" flipH="0" flipV="0">
            <a:off x="666750" y="6381750"/>
            <a:ext cx="1619250" cy="209550"/>
          </a:xfrm>
          <a:prstGeom prst="rect"/>
        </p:spPr>
        <p:txBody>
          <a:bodyPr wrap="none" lIns="0" tIns="0" rIns="0" bIns="0"/>
          <a:p>
            <a:pPr>
              <a:lnSpc>
                <a:spcPct val="140000"/>
              </a:lnSpc>
            </a:pPr>
            <a:r>
              <a:rPr lang="zh-CN" sz="975">
                <a:solidFill>
                  <a:srgbClr val="7A8699"/>
                </a:solidFill>
                <a:latin typeface="Microsoft YaHei"/>
                <a:ea typeface="Microsoft YaHei"/>
              </a:rPr>
              <a:t>依据：待深化功能研究</a:t>
            </a:r>
            <a:r>
              <a:rPr lang="en-US" sz="975">
                <a:solidFill>
                  <a:srgbClr val="7A8699"/>
                </a:solidFill>
                <a:latin typeface="Microsoft YaHei"/>
                <a:ea typeface="Microsoft YaHei"/>
              </a:rPr>
              <a:t>.md §4</a:t>
            </a:r>
            <a:endParaRPr/>
          </a:p>
        </p:txBody>
      </p:sp>
      <p:sp>
        <p:nvSpPr>
          <p:cNvPr id="118" name="" descr="{&quot;isTemplate&quot;:true,&quot;type&quot;:&quot;text&quot;}"/>
          <p:cNvSpPr txBox="1"/>
          <p:nvPr/>
        </p:nvSpPr>
        <p:spPr>
          <a:xfrm rot="0" flipH="0" flipV="0">
            <a:off x="10887075" y="6372225"/>
            <a:ext cx="6381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101 / 124 </a:t>
            </a:r>
            <a:endParaRPr/>
          </a:p>
        </p:txBody>
      </p:sp>
    </p:spTree>
  </p:cSld>
</p:sld>
</file>

<file path=ppt/slides/slide102.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19"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0 / 待深化研究&lt;/Text&gt;&lt;Text style={{ fontSize: 32, color: '#0E2340', fontWeight: 700, lineHeight: 1.3 }}&gt;方向 8：低门槛接入、识别确认与断网恢复&lt;/Text&gt;&lt;/Box&gt;&lt;Box style={{ flexDirection: 'row', alignItems: 'center', padding: '7px 16px', borderRadius: 20, background: '#E8A33D' }}&gt;&lt;Text style={{ fontSize: 14, color: '#FFFFFF', fontWeight: 600 }}&gt;部分实现&lt;/Text&gt;&lt;/Box&gt;&lt;/Box&gt;&lt;Box style={{ height: 532, paddingTop: 8, flexDirection: 'column' }}&gt;&lt;Box style={{ flexDirection: 'column', flex: 1, justifyContent: 'center', gap: 16 }}&gt;&lt;Box style={{ flexDirection: 'column', gap: 16, flex: 1, justifyContent: 'center' }}&gt;&lt;svg width={1140} height={170} viewBox='0 0 1140 170'&gt;&lt;rect x='0' y='40' width='123' height='88' rx='8' fill='#0E2340' stroke='#1E7BE0' stroke-width='1.5'/&gt;&lt;text x='61.5' y='84.0' font-size='20' fill='#FFFFFF' text-anchor='middle' font-weight='600'&gt;拍照 / 批量图片 / PDF&lt;/text&gt;&lt;line x1='129' y1='84' x2='155' y2='84' stroke='#1E7BE0' stroke-width='2'/&gt;&lt;path d='M155 78 l10 -6 l0 12 z' fill='#1E7BE0'/&gt;&lt;rect x='169' y='40' width='123' height='88' rx='8' fill='#FFFFFF' stroke='#1E7BE0' stroke-width='1.5'/&gt;&lt;text x='230.5' y='84.0' font-size='20' fill='#0E2340' text-anchor='middle' font-weight='600'&gt;检查清晰度、页序与重复&lt;/text&gt;&lt;line x1='298' y1='84' x2='324' y2='84' stroke='#1E7BE0' stroke-width='2'/&gt;&lt;path d='M324 78 l10 -6 l0 12 z' fill='#1E7BE0'/&gt;&lt;rect x='338' y='40' width='123' height='88' rx='8' fill='#FFFFFF' stroke='#1E7BE0' stroke-width='1.5'/&gt;&lt;text x='399.5' y='84.0' font-size='20' fill='#0E2340' text-anchor='middle' font-weight='600'&gt;匹配试卷、题号及学生&lt;/text&gt;&lt;line x1='467' y1='84' x2='493' y2='84' stroke='#1E7BE0' stroke-width='2'/&gt;&lt;path d='M493 78 l10 -6 l0 12 z' fill='#1E7BE0'/&gt;&lt;rect x='507' y='40' width='123' height='88' rx='8' fill='#FFFFFF' stroke='#1E7BE0' stroke-width='1.5'/&gt;&lt;text x='568.5' y='84.0' font-size='20' fill='#0E2340' text-anchor='middle' font-weight='600'&gt;展示原图与识别结果&lt;/text&gt;&lt;line x1='636' y1='84' x2='662' y2='84' stroke='#1E7BE0' stroke-width='2'/&gt;&lt;path d='M662 78 l10 -6 l0 12 z' fill='#1E7BE0'/&gt;&lt;rect x='676' y='40' width='123' height='88' rx='8' fill='#FFFFFF' stroke='#1E7BE0' stroke-width='1.5'/&gt;&lt;text x='737.5' y='84.0' font-size='20' fill='#0E2340' text-anchor='middle' font-weight='600'&gt;确认或局部修正&lt;/text&gt;&lt;line x1='805' y1='84' x2='831' y2='84' stroke='#1E7BE0' stroke-width='2'/&gt;&lt;path d='M831 78 l10 -6 l0 12 z' fill='#1E7BE0'/&gt;&lt;rect x='845' y='40' width='123' height='88' rx='8' fill='#FFFFFF' stroke='#1E7BE0' stroke-width='1.5'/&gt;&lt;text x='906.5' y='84.0' font-size='20' fill='#0E2340' text-anchor='middle' font-weight='600'&gt;批改&lt;/text&gt;&lt;line x1='974' y1='84' x2='1000' y2='84' stroke='#1E7BE0' stroke-width='2'/&gt;&lt;path d='M1000 78 l10 -6 l0 12 z' fill='#1E7BE0'/&gt;&lt;rect x='1014' y='40' width='123' height='88' rx='8' fill='#F5F7FA' stroke='#1E7BE0' stroke-width='1.5'/&gt;&lt;text x='1075.5' y='84.0' font-size='20' fill='#0E2340' text-anchor='middle' font-weight='600'&gt;学情记录&lt;/text&gt;&lt;/svg&gt;&lt;/Box&gt;&lt;Box style={{ flexDirection: 'row', gap: 20, flex: 1 }}&gt;&lt;Box style={{ width: 270,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术语辨析&lt;/Text&gt;&lt;Text style={{ fontSize: 16, color: '#333A45', fontWeight: 400, lineHeight: 1.6 }}&gt;手写识别中 offline 指静态图像、online 指轨迹输入；网络断开是另一问题，照片导入与断网同步分别设计。&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不猜测&lt;/Text&gt;&lt;Text style={{ fontSize: 16, color: '#333A45', fontWeight: 400, lineHeight: 1.6 }}&gt;匹配失败进待分配区域，不猜测学生身份、不把未识别作答算成空白；没有时间信息时明确缺失，不从笔迹位置或文件保存时间推算原始作答用时。&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断网优先保证&lt;/Text&gt;&lt;Text style={{ fontSize: 16, color: '#333A45', fontWeight: 400, lineHeight: 1.6 }}&gt;已下载材料可读、作答草稿可保存、未提交内容可恢复；未运行的批改 / 出题不能显示为完成。&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七种故障场景&lt;/Text&gt;&lt;Text style={{ fontSize: 16, color: '#333A45', fontWeight: 400, lineHeight: 1.6 }}&gt;上传中断、提交已接收但响应丢失、应用重启、重复点击、切换账号、只失败一页、旧版题目已被修改。&lt;/Text&gt;&lt;/Box&gt;&lt;/Box&gt;&lt;/Box&gt;&lt;/Box&gt;&lt;/Box&gt;&lt;Box style={{ height: 40, flexDirection: 'row', justifyContent: 'space-between', alignItems: 'center', borderTop: '1px solid #E3E8EF', marginTop: 8 }}&gt;&lt;Text style={{ fontSize: 13, color: '#7A8699', fontWeight: 400, lineHeight: 1.4 }}&gt;依据：待深化功能研究.md §5&lt;/Text&gt;&lt;Text style={{ fontSize: 14, color: '#7A8699', fontWeight: 400, lineHeight: 1.4 }}&gt; 102 / 124 &lt;/Text&gt;&lt;/Box&gt;&lt;/Slide&gt;"/>
        <p:cNvGrpSpPr/>
        <p:nvPr/>
      </p:nvGrpSpPr>
      <p:grpSpPr>
        <a:xfrm>
          <a:off x="0" y="0"/>
          <a:ext cx="0" cy="0"/>
          <a:chOff x="0" y="0"/>
          <a:chExt cx="0" cy="0"/>
        </a:xfrm>
      </p:grpSpPr>
      <p:sp>
        <p:nvSpPr>
          <p:cNvPr id="120" name=""/>
          <p:cNvSpPr/>
          <p:nvPr/>
        </p:nvSpPr>
        <p:spPr>
          <a:xfrm rot="0" flipH="0" flipV="0">
            <a:off x="0" y="0"/>
            <a:ext cx="12192000" cy="6858000"/>
          </a:xfrm>
          <a:prstGeom prst="rect">
            <a:avLst/>
          </a:prstGeom>
          <a:solidFill>
            <a:srgbClr val="FFFFFF"/>
          </a:solidFill>
          <a:ln/>
        </p:spPr>
        <p:txBody>
          <a:bodyPr/>
          <a:p/>
        </p:txBody>
      </p:sp>
      <p:sp>
        <p:nvSpPr>
          <p:cNvPr id="121" name="" descr="{&quot;isTemplate&quot;:true,&quot;type&quot;:&quot;text&quot;}"/>
          <p:cNvSpPr txBox="1"/>
          <p:nvPr/>
        </p:nvSpPr>
        <p:spPr>
          <a:xfrm rot="0" flipH="0" flipV="0">
            <a:off x="666750" y="381000"/>
            <a:ext cx="5743575"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10 / </a:t>
            </a:r>
            <a:r>
              <a:rPr lang="zh-CN" sz="1050" spc="75">
                <a:solidFill>
                  <a:srgbClr val="7A8699"/>
                </a:solidFill>
                <a:latin typeface="Microsoft YaHei"/>
                <a:ea typeface="Microsoft YaHei"/>
              </a:rPr>
              <a:t>待深化研究</a:t>
            </a:r>
            <a:endParaRPr/>
          </a:p>
        </p:txBody>
      </p:sp>
      <p:sp>
        <p:nvSpPr>
          <p:cNvPr id="122" name="" descr="{&quot;isTemplate&quot;:true,&quot;type&quot;:&quot;text&quot;}"/>
          <p:cNvSpPr txBox="1"/>
          <p:nvPr/>
        </p:nvSpPr>
        <p:spPr>
          <a:xfrm rot="0" flipH="0" flipV="0">
            <a:off x="666750" y="666750"/>
            <a:ext cx="5743575" cy="476250"/>
          </a:xfrm>
          <a:prstGeom prst="rect"/>
        </p:spPr>
        <p:txBody>
          <a:bodyPr wrap="none" lIns="0" tIns="0" rIns="0" bIns="0"/>
          <a:p>
            <a:pPr>
              <a:lnSpc>
                <a:spcPct val="130000"/>
              </a:lnSpc>
            </a:pPr>
            <a:r>
              <a:rPr lang="zh-CN" sz="2400" b="1">
                <a:solidFill>
                  <a:srgbClr val="0E2340"/>
                </a:solidFill>
                <a:latin typeface="Microsoft YaHei"/>
                <a:ea typeface="Microsoft YaHei"/>
              </a:rPr>
              <a:t>方向</a:t>
            </a:r>
            <a:r>
              <a:rPr lang="en-US" sz="2400" b="1">
                <a:solidFill>
                  <a:srgbClr val="0E2340"/>
                </a:solidFill>
                <a:latin typeface="Microsoft YaHei"/>
                <a:ea typeface="Microsoft YaHei"/>
              </a:rPr>
              <a:t xml:space="preserve"> 8</a:t>
            </a:r>
            <a:r>
              <a:rPr lang="zh-CN" sz="2400" b="1">
                <a:solidFill>
                  <a:srgbClr val="0E2340"/>
                </a:solidFill>
                <a:latin typeface="Microsoft YaHei"/>
                <a:ea typeface="Microsoft YaHei"/>
              </a:rPr>
              <a:t>：低门槛接入、识别确认与断网恢复</a:t>
            </a:r>
            <a:endParaRPr/>
          </a:p>
        </p:txBody>
      </p:sp>
      <p:sp>
        <p:nvSpPr>
          <p:cNvPr id="123" name=""/>
          <p:cNvSpPr/>
          <p:nvPr/>
        </p:nvSpPr>
        <p:spPr>
          <a:xfrm rot="0" flipH="0" flipV="0">
            <a:off x="10687050" y="847725"/>
            <a:ext cx="838200" cy="295275"/>
          </a:xfrm>
          <a:prstGeom prst="roundRect">
            <a:avLst>
              <a:gd name="adj" fmla="val 64516"/>
            </a:avLst>
          </a:prstGeom>
          <a:solidFill>
            <a:srgbClr val="E8A33D"/>
          </a:solidFill>
          <a:ln/>
        </p:spPr>
        <p:txBody>
          <a:bodyPr/>
          <a:p/>
        </p:txBody>
      </p:sp>
      <p:sp>
        <p:nvSpPr>
          <p:cNvPr id="124" name="" descr="{&quot;isTemplate&quot;:true,&quot;type&quot;:&quot;text&quot;}"/>
          <p:cNvSpPr txBox="1"/>
          <p:nvPr/>
        </p:nvSpPr>
        <p:spPr>
          <a:xfrm rot="0" flipH="0" flipV="0">
            <a:off x="10839450" y="914400"/>
            <a:ext cx="533400" cy="161925"/>
          </a:xfrm>
          <a:prstGeom prst="rect"/>
        </p:spPr>
        <p:txBody>
          <a:bodyPr wrap="none" lIns="0" tIns="0" rIns="0" bIns="0"/>
          <a:p>
            <a:pPr>
              <a:lnSpc>
                <a:spcPct val="100000"/>
              </a:lnSpc>
            </a:pPr>
            <a:r>
              <a:rPr lang="zh-CN" sz="1050" b="1">
                <a:solidFill>
                  <a:srgbClr val="FFFFFF"/>
                </a:solidFill>
                <a:latin typeface="Microsoft YaHei"/>
                <a:ea typeface="Microsoft YaHei"/>
              </a:rPr>
              <a:t>部分实现</a:t>
            </a:r>
            <a:endParaRPr/>
          </a:p>
        </p:txBody>
      </p:sp>
      <p:pic>
        <p:nvPicPr>
          <p:cNvPr id="125" name=""/>
          <p:cNvPicPr>
            <a:picLocks noChangeAspect="1"/>
          </p:cNvPicPr>
          <p:nvPr/>
        </p:nvPicPr>
        <p:blipFill>
          <a:blip>
            <a:extLst>
              <a:ext uri="{96DAC541-7B7A-43D3-8B79-37D633B846F1}">
                <asvg:svgBlip r:embed="rId1"/>
              </a:ext>
            </a:extLst>
          </a:blip>
          <a:stretch>
            <a:fillRect/>
          </a:stretch>
        </p:blipFill>
        <p:spPr>
          <a:xfrm rot="0" flipH="0" flipV="0">
            <a:off x="666750" y="1447800"/>
            <a:ext cx="10858500" cy="1619250"/>
          </a:xfrm>
          <a:prstGeom prst="rect">
            <a:avLst/>
          </a:prstGeom>
          <a:ln/>
        </p:spPr>
      </p:pic>
      <p:sp>
        <p:nvSpPr>
          <p:cNvPr id="126" name=""/>
          <p:cNvSpPr/>
          <p:nvPr/>
        </p:nvSpPr>
        <p:spPr>
          <a:xfrm rot="0" flipH="0" flipV="0">
            <a:off x="666750" y="3448050"/>
            <a:ext cx="2571750" cy="2762250"/>
          </a:xfrm>
          <a:prstGeom prst="roundRect">
            <a:avLst>
              <a:gd name="adj" fmla="val 2963"/>
            </a:avLst>
          </a:prstGeom>
          <a:solidFill>
            <a:srgbClr val="FFFFFF"/>
          </a:solidFill>
          <a:ln w="12700">
            <a:solidFill>
              <a:srgbClr val="E3E8EF"/>
            </a:solidFill>
            <a:prstDash val="solid"/>
          </a:ln>
        </p:spPr>
        <p:txBody>
          <a:bodyPr/>
          <a:p/>
        </p:txBody>
      </p:sp>
      <p:sp>
        <p:nvSpPr>
          <p:cNvPr id="127" name=""/>
          <p:cNvSpPr/>
          <p:nvPr/>
        </p:nvSpPr>
        <p:spPr>
          <a:xfrm rot="0" flipH="0" flipV="0">
            <a:off x="666750" y="344805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28" name="" descr="{&quot;isTemplate&quot;:true,&quot;type&quot;:&quot;text&quot;}"/>
          <p:cNvSpPr txBox="1"/>
          <p:nvPr/>
        </p:nvSpPr>
        <p:spPr>
          <a:xfrm rot="0" flipH="0" flipV="0">
            <a:off x="857250" y="3676650"/>
            <a:ext cx="2190750" cy="323850"/>
          </a:xfrm>
          <a:prstGeom prst="rect"/>
        </p:spPr>
        <p:txBody>
          <a:bodyPr wrap="none" lIns="0" tIns="0" rIns="0" bIns="0"/>
          <a:p>
            <a:pPr>
              <a:lnSpc>
                <a:spcPct val="140000"/>
              </a:lnSpc>
            </a:pPr>
            <a:r>
              <a:rPr lang="zh-CN" sz="1500" b="1">
                <a:solidFill>
                  <a:srgbClr val="0E2340"/>
                </a:solidFill>
                <a:latin typeface="Microsoft YaHei"/>
                <a:ea typeface="Microsoft YaHei"/>
              </a:rPr>
              <a:t>术语辨析</a:t>
            </a:r>
            <a:endParaRPr/>
          </a:p>
        </p:txBody>
      </p:sp>
      <p:sp>
        <p:nvSpPr>
          <p:cNvPr id="129" name="" descr="{&quot;isTemplate&quot;:true,&quot;type&quot;:&quot;text&quot;}"/>
          <p:cNvSpPr txBox="1"/>
          <p:nvPr/>
        </p:nvSpPr>
        <p:spPr>
          <a:xfrm rot="0" flipH="0" flipV="0">
            <a:off x="857250" y="4095750"/>
            <a:ext cx="2190750" cy="117157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手写识别中</a:t>
            </a:r>
            <a:r>
              <a:rPr lang="en-US" sz="1200">
                <a:solidFill>
                  <a:srgbClr val="333A45"/>
                </a:solidFill>
                <a:latin typeface="Microsoft YaHei"/>
                <a:ea typeface="Microsoft YaHei"/>
              </a:rPr>
              <a:t xml:space="preserve"> offline </a:t>
            </a:r>
            <a:r>
              <a:rPr lang="zh-CN" sz="1200">
                <a:solidFill>
                  <a:srgbClr val="333A45"/>
                </a:solidFill>
                <a:latin typeface="Microsoft YaHei"/>
                <a:ea typeface="Microsoft YaHei"/>
              </a:rPr>
              <a:t>指静态图像、</a:t>
            </a:r>
            <a:r>
              <a:rPr lang="en-US" sz="1200">
                <a:solidFill>
                  <a:srgbClr val="333A45"/>
                </a:solidFill>
                <a:latin typeface="Microsoft YaHei"/>
                <a:ea typeface="Microsoft YaHei"/>
              </a:rPr>
              <a:t xml:space="preserve">online </a:t>
            </a:r>
            <a:r>
              <a:rPr lang="zh-CN" sz="1200">
                <a:solidFill>
                  <a:srgbClr val="333A45"/>
                </a:solidFill>
                <a:latin typeface="Microsoft YaHei"/>
                <a:ea typeface="Microsoft YaHei"/>
              </a:rPr>
              <a:t>指轨迹输入；网络断开是另一问题，照片导入与断网同步分别设计。</a:t>
            </a:r>
            <a:endParaRPr/>
          </a:p>
        </p:txBody>
      </p:sp>
      <p:sp>
        <p:nvSpPr>
          <p:cNvPr id="130" name=""/>
          <p:cNvSpPr/>
          <p:nvPr/>
        </p:nvSpPr>
        <p:spPr>
          <a:xfrm rot="0" flipH="0" flipV="0">
            <a:off x="3429000" y="3448050"/>
            <a:ext cx="2571750" cy="2762250"/>
          </a:xfrm>
          <a:prstGeom prst="roundRect">
            <a:avLst>
              <a:gd name="adj" fmla="val 2963"/>
            </a:avLst>
          </a:prstGeom>
          <a:solidFill>
            <a:srgbClr val="FFFFFF"/>
          </a:solidFill>
          <a:ln w="12700">
            <a:solidFill>
              <a:srgbClr val="E3E8EF"/>
            </a:solidFill>
            <a:prstDash val="solid"/>
          </a:ln>
        </p:spPr>
        <p:txBody>
          <a:bodyPr/>
          <a:p/>
        </p:txBody>
      </p:sp>
      <p:sp>
        <p:nvSpPr>
          <p:cNvPr id="131" name=""/>
          <p:cNvSpPr/>
          <p:nvPr/>
        </p:nvSpPr>
        <p:spPr>
          <a:xfrm rot="0" flipH="0" flipV="0">
            <a:off x="3429000" y="344805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32" name="" descr="{&quot;isTemplate&quot;:true,&quot;type&quot;:&quot;text&quot;}"/>
          <p:cNvSpPr txBox="1"/>
          <p:nvPr/>
        </p:nvSpPr>
        <p:spPr>
          <a:xfrm rot="0" flipH="0" flipV="0">
            <a:off x="3619500" y="3676650"/>
            <a:ext cx="2190750" cy="323850"/>
          </a:xfrm>
          <a:prstGeom prst="rect"/>
        </p:spPr>
        <p:txBody>
          <a:bodyPr wrap="none" lIns="0" tIns="0" rIns="0" bIns="0"/>
          <a:p>
            <a:pPr>
              <a:lnSpc>
                <a:spcPct val="140000"/>
              </a:lnSpc>
            </a:pPr>
            <a:r>
              <a:rPr lang="zh-CN" sz="1500" b="1">
                <a:solidFill>
                  <a:srgbClr val="0E2340"/>
                </a:solidFill>
                <a:latin typeface="Microsoft YaHei"/>
                <a:ea typeface="Microsoft YaHei"/>
              </a:rPr>
              <a:t>不猜测</a:t>
            </a:r>
            <a:endParaRPr/>
          </a:p>
        </p:txBody>
      </p:sp>
      <p:sp>
        <p:nvSpPr>
          <p:cNvPr id="133" name="" descr="{&quot;isTemplate&quot;:true,&quot;type&quot;:&quot;text&quot;}"/>
          <p:cNvSpPr txBox="1"/>
          <p:nvPr/>
        </p:nvSpPr>
        <p:spPr>
          <a:xfrm rot="0" flipH="0" flipV="0">
            <a:off x="3619500" y="4095750"/>
            <a:ext cx="2190750" cy="14668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匹配失败进待分配区域，不猜测学生身份、不把未识别作答算成空白；没有时间信息时明确缺失，不从笔迹位置或文件保存时间推算原始作答用时。</a:t>
            </a:r>
            <a:endParaRPr/>
          </a:p>
        </p:txBody>
      </p:sp>
      <p:sp>
        <p:nvSpPr>
          <p:cNvPr id="134" name=""/>
          <p:cNvSpPr/>
          <p:nvPr/>
        </p:nvSpPr>
        <p:spPr>
          <a:xfrm rot="0" flipH="0" flipV="0">
            <a:off x="6191250" y="3448050"/>
            <a:ext cx="2571750" cy="2762250"/>
          </a:xfrm>
          <a:prstGeom prst="roundRect">
            <a:avLst>
              <a:gd name="adj" fmla="val 2963"/>
            </a:avLst>
          </a:prstGeom>
          <a:solidFill>
            <a:srgbClr val="FFFFFF"/>
          </a:solidFill>
          <a:ln w="12700">
            <a:solidFill>
              <a:srgbClr val="E3E8EF"/>
            </a:solidFill>
            <a:prstDash val="solid"/>
          </a:ln>
        </p:spPr>
        <p:txBody>
          <a:bodyPr/>
          <a:p/>
        </p:txBody>
      </p:sp>
      <p:sp>
        <p:nvSpPr>
          <p:cNvPr id="135" name=""/>
          <p:cNvSpPr/>
          <p:nvPr/>
        </p:nvSpPr>
        <p:spPr>
          <a:xfrm rot="0" flipH="0" flipV="0">
            <a:off x="6191250" y="344805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36" name="" descr="{&quot;isTemplate&quot;:true,&quot;type&quot;:&quot;text&quot;}"/>
          <p:cNvSpPr txBox="1"/>
          <p:nvPr/>
        </p:nvSpPr>
        <p:spPr>
          <a:xfrm rot="0" flipH="0" flipV="0">
            <a:off x="6381750" y="3676650"/>
            <a:ext cx="2190750" cy="323850"/>
          </a:xfrm>
          <a:prstGeom prst="rect"/>
        </p:spPr>
        <p:txBody>
          <a:bodyPr wrap="none" lIns="0" tIns="0" rIns="0" bIns="0"/>
          <a:p>
            <a:pPr>
              <a:lnSpc>
                <a:spcPct val="140000"/>
              </a:lnSpc>
            </a:pPr>
            <a:r>
              <a:rPr lang="zh-CN" sz="1500" b="1">
                <a:solidFill>
                  <a:srgbClr val="0E2340"/>
                </a:solidFill>
                <a:latin typeface="Microsoft YaHei"/>
                <a:ea typeface="Microsoft YaHei"/>
              </a:rPr>
              <a:t>断网优先保证</a:t>
            </a:r>
            <a:endParaRPr/>
          </a:p>
        </p:txBody>
      </p:sp>
      <p:sp>
        <p:nvSpPr>
          <p:cNvPr id="137" name="" descr="{&quot;isTemplate&quot;:true,&quot;type&quot;:&quot;text&quot;}"/>
          <p:cNvSpPr txBox="1"/>
          <p:nvPr/>
        </p:nvSpPr>
        <p:spPr>
          <a:xfrm rot="0" flipH="0" flipV="0">
            <a:off x="6381750" y="4095750"/>
            <a:ext cx="2190750" cy="88582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已下载材料可读、作答草稿可保存、未提交内容可恢复；未运行的批改</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出题不能显示为完成。</a:t>
            </a:r>
            <a:endParaRPr/>
          </a:p>
        </p:txBody>
      </p:sp>
      <p:sp>
        <p:nvSpPr>
          <p:cNvPr id="138" name=""/>
          <p:cNvSpPr/>
          <p:nvPr/>
        </p:nvSpPr>
        <p:spPr>
          <a:xfrm rot="0" flipH="0" flipV="0">
            <a:off x="8953500" y="3448050"/>
            <a:ext cx="2571750" cy="2762250"/>
          </a:xfrm>
          <a:prstGeom prst="roundRect">
            <a:avLst>
              <a:gd name="adj" fmla="val 2963"/>
            </a:avLst>
          </a:prstGeom>
          <a:solidFill>
            <a:srgbClr val="FFFFFF"/>
          </a:solidFill>
          <a:ln w="12700">
            <a:solidFill>
              <a:srgbClr val="E3E8EF"/>
            </a:solidFill>
            <a:prstDash val="solid"/>
          </a:ln>
        </p:spPr>
        <p:txBody>
          <a:bodyPr/>
          <a:p/>
        </p:txBody>
      </p:sp>
      <p:sp>
        <p:nvSpPr>
          <p:cNvPr id="139" name=""/>
          <p:cNvSpPr/>
          <p:nvPr/>
        </p:nvSpPr>
        <p:spPr>
          <a:xfrm rot="0" flipH="0" flipV="0">
            <a:off x="8953500" y="344805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140" name="" descr="{&quot;isTemplate&quot;:true,&quot;type&quot;:&quot;text&quot;}"/>
          <p:cNvSpPr txBox="1"/>
          <p:nvPr/>
        </p:nvSpPr>
        <p:spPr>
          <a:xfrm rot="0" flipH="0" flipV="0">
            <a:off x="9144000" y="3676650"/>
            <a:ext cx="2190750" cy="323850"/>
          </a:xfrm>
          <a:prstGeom prst="rect"/>
        </p:spPr>
        <p:txBody>
          <a:bodyPr wrap="none" lIns="0" tIns="0" rIns="0" bIns="0"/>
          <a:p>
            <a:pPr>
              <a:lnSpc>
                <a:spcPct val="140000"/>
              </a:lnSpc>
            </a:pPr>
            <a:r>
              <a:rPr lang="zh-CN" sz="1500" b="1">
                <a:solidFill>
                  <a:srgbClr val="0E2340"/>
                </a:solidFill>
                <a:latin typeface="Microsoft YaHei"/>
                <a:ea typeface="Microsoft YaHei"/>
              </a:rPr>
              <a:t>七种故障场景</a:t>
            </a:r>
            <a:endParaRPr/>
          </a:p>
        </p:txBody>
      </p:sp>
      <p:sp>
        <p:nvSpPr>
          <p:cNvPr id="141" name="" descr="{&quot;isTemplate&quot;:true,&quot;type&quot;:&quot;text&quot;}"/>
          <p:cNvSpPr txBox="1"/>
          <p:nvPr/>
        </p:nvSpPr>
        <p:spPr>
          <a:xfrm rot="0" flipH="0" flipV="0">
            <a:off x="9144000" y="4095750"/>
            <a:ext cx="2190750" cy="117157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上传中断、提交已接收但响应丢失、应用重启、重复点击、切换账号、只失败一页、旧版题目已被修改。</a:t>
            </a:r>
            <a:endParaRPr/>
          </a:p>
        </p:txBody>
      </p:sp>
      <p:sp>
        <p:nvSpPr>
          <p:cNvPr id="142"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43" name="" descr="{&quot;isTemplate&quot;:true,&quot;type&quot;:&quot;text&quot;}"/>
          <p:cNvSpPr txBox="1"/>
          <p:nvPr/>
        </p:nvSpPr>
        <p:spPr>
          <a:xfrm rot="0" flipH="0" flipV="0">
            <a:off x="666750" y="6381750"/>
            <a:ext cx="1619250" cy="209550"/>
          </a:xfrm>
          <a:prstGeom prst="rect"/>
        </p:spPr>
        <p:txBody>
          <a:bodyPr wrap="none" lIns="0" tIns="0" rIns="0" bIns="0"/>
          <a:p>
            <a:pPr>
              <a:lnSpc>
                <a:spcPct val="140000"/>
              </a:lnSpc>
            </a:pPr>
            <a:r>
              <a:rPr lang="zh-CN" sz="975">
                <a:solidFill>
                  <a:srgbClr val="7A8699"/>
                </a:solidFill>
                <a:latin typeface="Microsoft YaHei"/>
                <a:ea typeface="Microsoft YaHei"/>
              </a:rPr>
              <a:t>依据：待深化功能研究</a:t>
            </a:r>
            <a:r>
              <a:rPr lang="en-US" sz="975">
                <a:solidFill>
                  <a:srgbClr val="7A8699"/>
                </a:solidFill>
                <a:latin typeface="Microsoft YaHei"/>
                <a:ea typeface="Microsoft YaHei"/>
              </a:rPr>
              <a:t>.md §5</a:t>
            </a:r>
            <a:endParaRPr/>
          </a:p>
        </p:txBody>
      </p:sp>
      <p:sp>
        <p:nvSpPr>
          <p:cNvPr id="144" name="" descr="{&quot;isTemplate&quot;:true,&quot;type&quot;:&quot;text&quot;}"/>
          <p:cNvSpPr txBox="1"/>
          <p:nvPr/>
        </p:nvSpPr>
        <p:spPr>
          <a:xfrm rot="0" flipH="0" flipV="0">
            <a:off x="10887075" y="6372225"/>
            <a:ext cx="6381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102 / 124 </a:t>
            </a:r>
            <a:endParaRPr/>
          </a:p>
        </p:txBody>
      </p:sp>
    </p:spTree>
  </p:cSld>
</p:sld>
</file>

<file path=ppt/slides/slide103.xml><?xml version="1.0" encoding="utf-8"?>
<p:sld xmlns:p="http://schemas.openxmlformats.org/presentationml/2006/main" xmlns:a="http://schemas.openxmlformats.org/drawingml/2006/main">
  <p:cSld>
    <p:spTree>
      <p:nvGrpSpPr>
        <p:cNvPr id="145"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0 / 待深化研究&lt;/Text&gt;&lt;Text style={{ fontSize: 32, color: '#0E2340', fontWeight: 700, lineHeight: 1.3 }}&gt;方向 9：数学解释、探究与多解法&lt;/Text&gt;&lt;/Box&gt;&lt;Box style={{ flexDirection: 'row', alignItems: 'center', padding: '7px 16px', borderRadius: 20, background: '#98A2B3' }}&gt;&lt;Text style={{ fontSize: 14, color: '#FFFFFF', fontWeight: 600 }}&gt;待研究&lt;/Text&gt;&lt;/Box&gt;&lt;/Box&gt;&lt;Box style={{ height: 532, paddingTop: 8, flexDirection: 'column' }}&gt;&lt;Box style={{ flexDirection: 'column', flex: 1, justifyContent: 'center', gap: 16 }}&gt;&lt;Box style={{ flexDirection: 'row', gap: 20, flex: 1 }}&gt;&lt;Box style={{ width: 173,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解释某步依据&lt;/Text&gt;&lt;Text style={{ fontSize: 16, color: '#333A45', fontWeight: 400, lineHeight: 1.6 }}&gt;说明为什么这一步可以这样推&lt;/Text&gt;&lt;/Box&gt;&lt;/Box&gt;&lt;Box style={{ width: 173,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给出反例&lt;/Text&gt;&lt;Text style={{ fontSize: 16, color: '#333A45', fontWeight: 400, lineHeight: 1.6 }}&gt;构造使结论不成立的情形&lt;/Text&gt;&lt;/Box&gt;&lt;/Box&gt;&lt;Box style={{ width: 173,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比较两种解法的适用条件&lt;/Text&gt;&lt;Text style={{ fontSize: 16, color: '#333A45', fontWeight: 400, lineHeight: 1.6 }}&gt;辨析方法边界&lt;/Text&gt;&lt;/Box&gt;&lt;/Box&gt;&lt;Box style={{ width: 173,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改变条件观察结论&lt;/Text&gt;&lt;Text style={{ fontSize: 16, color: '#333A45', fontWeight: 400, lineHeight: 1.6 }}&gt;探究参数与结论的关系&lt;/Text&gt;&lt;/Box&gt;&lt;/Box&gt;&lt;Box style={{ width: 173,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提出猜想并证明或修正&lt;/Text&gt;&lt;Text style={{ fontSize: 16, color: '#333A45', fontWeight: 400, lineHeight: 1.6 }}&gt;开放式推理任务&lt;/Text&gt;&lt;/Box&gt;&lt;/Box&gt;&lt;Box style={{ width: 173,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解决有多种合理路径的问题&lt;/Text&gt;&lt;Text style={{ fontSize: 16, color: '#333A45', fontWeight: 400, lineHeight: 1.6 }}&gt;评价路径选择的合理性&lt;/Text&gt;&lt;/Box&gt;&lt;/Box&gt;&lt;/Box&gt;&lt;Box style={{ flexDirection: 'row', alignItems: 'center', background: '#F5F7FA', borderLeft: '4px solid #1E7BE0', borderRadius: 6, padding: '14px 20px' }}&gt;&lt;Text style={{ fontSize: 16, color: '#0E2340', fontWeight: 600, lineHeight: 1.5 }}&gt;不能只用答案长度、步骤数量或是否贴近参考表达衡量推理能力；不能把教师尚未见过的解法直接标错。需解决多解法表达、数学正确性与解释质量的区分、评分者分歧处理；参考 Aleven 与 Koedinger 的自我解释研究&lt;/Text&gt;&lt;/Box&gt;&lt;/Box&gt;&lt;/Box&gt;&lt;Box style={{ height: 40, flexDirection: 'row', justifyContent: 'space-between', alignItems: 'center', borderTop: '1px solid #E3E8EF', marginTop: 8 }}&gt;&lt;Text style={{ fontSize: 13, color: '#7A8699', fontWeight: 400, lineHeight: 1.4 }}&gt;依据：待深化功能研究.md §6&lt;/Text&gt;&lt;Text style={{ fontSize: 14, color: '#7A8699', fontWeight: 400, lineHeight: 1.4 }}&gt; 103 / 124 &lt;/Text&gt;&lt;/Box&gt;&lt;/Slide&gt;"/>
        <p:cNvGrpSpPr/>
        <p:nvPr/>
      </p:nvGrpSpPr>
      <p:grpSpPr>
        <a:xfrm>
          <a:off x="0" y="0"/>
          <a:ext cx="0" cy="0"/>
          <a:chOff x="0" y="0"/>
          <a:chExt cx="0" cy="0"/>
        </a:xfrm>
      </p:grpSpPr>
      <p:sp>
        <p:nvSpPr>
          <p:cNvPr id="146" name=""/>
          <p:cNvSpPr/>
          <p:nvPr/>
        </p:nvSpPr>
        <p:spPr>
          <a:xfrm rot="0" flipH="0" flipV="0">
            <a:off x="0" y="0"/>
            <a:ext cx="12192000" cy="6858000"/>
          </a:xfrm>
          <a:prstGeom prst="rect">
            <a:avLst/>
          </a:prstGeom>
          <a:solidFill>
            <a:srgbClr val="FFFFFF"/>
          </a:solidFill>
          <a:ln/>
        </p:spPr>
        <p:txBody>
          <a:bodyPr/>
          <a:p/>
        </p:txBody>
      </p:sp>
      <p:sp>
        <p:nvSpPr>
          <p:cNvPr id="147" name="" descr="{&quot;isTemplate&quot;:true,&quot;type&quot;:&quot;text&quot;}"/>
          <p:cNvSpPr txBox="1"/>
          <p:nvPr/>
        </p:nvSpPr>
        <p:spPr>
          <a:xfrm rot="0" flipH="0" flipV="0">
            <a:off x="666750" y="381000"/>
            <a:ext cx="4524375"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10 / </a:t>
            </a:r>
            <a:r>
              <a:rPr lang="zh-CN" sz="1050" spc="75">
                <a:solidFill>
                  <a:srgbClr val="7A8699"/>
                </a:solidFill>
                <a:latin typeface="Microsoft YaHei"/>
                <a:ea typeface="Microsoft YaHei"/>
              </a:rPr>
              <a:t>待深化研究</a:t>
            </a:r>
            <a:endParaRPr/>
          </a:p>
        </p:txBody>
      </p:sp>
      <p:sp>
        <p:nvSpPr>
          <p:cNvPr id="148" name="" descr="{&quot;isTemplate&quot;:true,&quot;type&quot;:&quot;text&quot;}"/>
          <p:cNvSpPr txBox="1"/>
          <p:nvPr/>
        </p:nvSpPr>
        <p:spPr>
          <a:xfrm rot="0" flipH="0" flipV="0">
            <a:off x="666750" y="666750"/>
            <a:ext cx="4524375" cy="476250"/>
          </a:xfrm>
          <a:prstGeom prst="rect"/>
        </p:spPr>
        <p:txBody>
          <a:bodyPr wrap="none" lIns="0" tIns="0" rIns="0" bIns="0"/>
          <a:p>
            <a:pPr>
              <a:lnSpc>
                <a:spcPct val="130000"/>
              </a:lnSpc>
            </a:pPr>
            <a:r>
              <a:rPr lang="zh-CN" sz="2400" b="1">
                <a:solidFill>
                  <a:srgbClr val="0E2340"/>
                </a:solidFill>
                <a:latin typeface="Microsoft YaHei"/>
                <a:ea typeface="Microsoft YaHei"/>
              </a:rPr>
              <a:t>方向</a:t>
            </a:r>
            <a:r>
              <a:rPr lang="en-US" sz="2400" b="1">
                <a:solidFill>
                  <a:srgbClr val="0E2340"/>
                </a:solidFill>
                <a:latin typeface="Microsoft YaHei"/>
                <a:ea typeface="Microsoft YaHei"/>
              </a:rPr>
              <a:t xml:space="preserve"> 9</a:t>
            </a:r>
            <a:r>
              <a:rPr lang="zh-CN" sz="2400" b="1">
                <a:solidFill>
                  <a:srgbClr val="0E2340"/>
                </a:solidFill>
                <a:latin typeface="Microsoft YaHei"/>
                <a:ea typeface="Microsoft YaHei"/>
              </a:rPr>
              <a:t>：数学解释、探究与多解法</a:t>
            </a:r>
            <a:endParaRPr/>
          </a:p>
        </p:txBody>
      </p:sp>
      <p:sp>
        <p:nvSpPr>
          <p:cNvPr id="149" name=""/>
          <p:cNvSpPr/>
          <p:nvPr/>
        </p:nvSpPr>
        <p:spPr>
          <a:xfrm rot="0" flipH="0" flipV="0">
            <a:off x="10820400" y="847725"/>
            <a:ext cx="704850" cy="295275"/>
          </a:xfrm>
          <a:prstGeom prst="roundRect">
            <a:avLst>
              <a:gd name="adj" fmla="val 64516"/>
            </a:avLst>
          </a:prstGeom>
          <a:solidFill>
            <a:srgbClr val="98A2B3"/>
          </a:solidFill>
          <a:ln/>
        </p:spPr>
        <p:txBody>
          <a:bodyPr/>
          <a:p/>
        </p:txBody>
      </p:sp>
      <p:sp>
        <p:nvSpPr>
          <p:cNvPr id="150"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待研究</a:t>
            </a:r>
            <a:endParaRPr/>
          </a:p>
        </p:txBody>
      </p:sp>
      <p:sp>
        <p:nvSpPr>
          <p:cNvPr id="151" name=""/>
          <p:cNvSpPr/>
          <p:nvPr/>
        </p:nvSpPr>
        <p:spPr>
          <a:xfrm rot="0" flipH="0" flipV="0">
            <a:off x="666750" y="1219200"/>
            <a:ext cx="1647825" cy="4019550"/>
          </a:xfrm>
          <a:prstGeom prst="roundRect">
            <a:avLst>
              <a:gd name="adj" fmla="val 4624"/>
            </a:avLst>
          </a:prstGeom>
          <a:solidFill>
            <a:srgbClr val="FFFFFF"/>
          </a:solidFill>
          <a:ln w="12700">
            <a:solidFill>
              <a:srgbClr val="E3E8EF"/>
            </a:solidFill>
            <a:prstDash val="solid"/>
          </a:ln>
        </p:spPr>
        <p:txBody>
          <a:bodyPr/>
          <a:p/>
        </p:txBody>
      </p:sp>
      <p:sp>
        <p:nvSpPr>
          <p:cNvPr id="152" name=""/>
          <p:cNvSpPr/>
          <p:nvPr/>
        </p:nvSpPr>
        <p:spPr>
          <a:xfrm rot="0" flipH="0" flipV="0">
            <a:off x="666750" y="1219200"/>
            <a:ext cx="1647825" cy="38100"/>
          </a:xfrm>
          <a:custGeom>
            <a:pathLst>
              <a:path w="173" h="4">
                <a:moveTo>
                  <a:pt x="165" y="0"/>
                </a:moveTo>
                <a:cubicBezTo>
                  <a:pt x="168" y="0"/>
                  <a:pt x="171" y="2"/>
                  <a:pt x="172" y="4"/>
                </a:cubicBezTo>
                <a:lnTo>
                  <a:pt x="1" y="4"/>
                </a:lnTo>
                <a:cubicBezTo>
                  <a:pt x="3" y="2"/>
                  <a:pt x="5" y="0"/>
                  <a:pt x="8" y="0"/>
                </a:cubicBezTo>
                <a:lnTo>
                  <a:pt x="165" y="0"/>
                </a:lnTo>
                <a:close/>
              </a:path>
            </a:pathLst>
          </a:custGeom>
          <a:gradFill>
            <a:gsLst>
              <a:gs pos="0">
                <a:srgbClr val="1E7BE0"/>
              </a:gs>
              <a:gs pos="100000">
                <a:srgbClr val="00A9B5"/>
              </a:gs>
            </a:gsLst>
            <a:lin ang="0" scaled="1"/>
          </a:gradFill>
          <a:ln/>
        </p:spPr>
        <p:txBody>
          <a:bodyPr/>
          <a:p/>
        </p:txBody>
      </p:sp>
      <p:sp>
        <p:nvSpPr>
          <p:cNvPr id="153" name="" descr="{&quot;isTemplate&quot;:true,&quot;type&quot;:&quot;text&quot;}"/>
          <p:cNvSpPr txBox="1"/>
          <p:nvPr/>
        </p:nvSpPr>
        <p:spPr>
          <a:xfrm rot="0" flipH="0" flipV="0">
            <a:off x="857250" y="1447800"/>
            <a:ext cx="1266825" cy="323850"/>
          </a:xfrm>
          <a:prstGeom prst="rect"/>
        </p:spPr>
        <p:txBody>
          <a:bodyPr wrap="none" lIns="0" tIns="0" rIns="0" bIns="0"/>
          <a:p>
            <a:pPr>
              <a:lnSpc>
                <a:spcPct val="140000"/>
              </a:lnSpc>
            </a:pPr>
            <a:r>
              <a:rPr lang="zh-CN" sz="1500" b="1">
                <a:solidFill>
                  <a:srgbClr val="0E2340"/>
                </a:solidFill>
                <a:latin typeface="Microsoft YaHei"/>
                <a:ea typeface="Microsoft YaHei"/>
              </a:rPr>
              <a:t>解释某步依据</a:t>
            </a:r>
            <a:endParaRPr/>
          </a:p>
        </p:txBody>
      </p:sp>
      <p:sp>
        <p:nvSpPr>
          <p:cNvPr id="154" name="" descr="{&quot;isTemplate&quot;:true,&quot;type&quot;:&quot;text&quot;}"/>
          <p:cNvSpPr txBox="1"/>
          <p:nvPr/>
        </p:nvSpPr>
        <p:spPr>
          <a:xfrm rot="0" flipH="0" flipV="0">
            <a:off x="857250" y="1866900"/>
            <a:ext cx="1266825"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说明为什么这一步可以这样推</a:t>
            </a:r>
            <a:endParaRPr/>
          </a:p>
        </p:txBody>
      </p:sp>
      <p:sp>
        <p:nvSpPr>
          <p:cNvPr id="155" name=""/>
          <p:cNvSpPr/>
          <p:nvPr/>
        </p:nvSpPr>
        <p:spPr>
          <a:xfrm rot="0" flipH="0" flipV="0">
            <a:off x="2505075" y="1219200"/>
            <a:ext cx="1647825" cy="4019550"/>
          </a:xfrm>
          <a:prstGeom prst="roundRect">
            <a:avLst>
              <a:gd name="adj" fmla="val 4624"/>
            </a:avLst>
          </a:prstGeom>
          <a:solidFill>
            <a:srgbClr val="FFFFFF"/>
          </a:solidFill>
          <a:ln w="12700">
            <a:solidFill>
              <a:srgbClr val="E3E8EF"/>
            </a:solidFill>
            <a:prstDash val="solid"/>
          </a:ln>
        </p:spPr>
        <p:txBody>
          <a:bodyPr/>
          <a:p/>
        </p:txBody>
      </p:sp>
      <p:sp>
        <p:nvSpPr>
          <p:cNvPr id="156" name=""/>
          <p:cNvSpPr/>
          <p:nvPr/>
        </p:nvSpPr>
        <p:spPr>
          <a:xfrm rot="0" flipH="0" flipV="0">
            <a:off x="2505075" y="1219200"/>
            <a:ext cx="1647825" cy="38100"/>
          </a:xfrm>
          <a:custGeom>
            <a:pathLst>
              <a:path w="173" h="4">
                <a:moveTo>
                  <a:pt x="165" y="0"/>
                </a:moveTo>
                <a:cubicBezTo>
                  <a:pt x="168" y="0"/>
                  <a:pt x="171" y="2"/>
                  <a:pt x="172" y="4"/>
                </a:cubicBezTo>
                <a:lnTo>
                  <a:pt x="1" y="4"/>
                </a:lnTo>
                <a:cubicBezTo>
                  <a:pt x="3" y="2"/>
                  <a:pt x="5" y="0"/>
                  <a:pt x="8" y="0"/>
                </a:cubicBezTo>
                <a:lnTo>
                  <a:pt x="165" y="0"/>
                </a:lnTo>
                <a:close/>
              </a:path>
            </a:pathLst>
          </a:custGeom>
          <a:gradFill>
            <a:gsLst>
              <a:gs pos="0">
                <a:srgbClr val="1E7BE0"/>
              </a:gs>
              <a:gs pos="100000">
                <a:srgbClr val="00A9B5"/>
              </a:gs>
            </a:gsLst>
            <a:lin ang="0" scaled="1"/>
          </a:gradFill>
          <a:ln/>
        </p:spPr>
        <p:txBody>
          <a:bodyPr/>
          <a:p/>
        </p:txBody>
      </p:sp>
      <p:sp>
        <p:nvSpPr>
          <p:cNvPr id="157" name="" descr="{&quot;isTemplate&quot;:true,&quot;type&quot;:&quot;text&quot;}"/>
          <p:cNvSpPr txBox="1"/>
          <p:nvPr/>
        </p:nvSpPr>
        <p:spPr>
          <a:xfrm rot="0" flipH="0" flipV="0">
            <a:off x="2695575" y="1447800"/>
            <a:ext cx="1266825" cy="323850"/>
          </a:xfrm>
          <a:prstGeom prst="rect"/>
        </p:spPr>
        <p:txBody>
          <a:bodyPr wrap="none" lIns="0" tIns="0" rIns="0" bIns="0"/>
          <a:p>
            <a:pPr>
              <a:lnSpc>
                <a:spcPct val="140000"/>
              </a:lnSpc>
            </a:pPr>
            <a:r>
              <a:rPr lang="zh-CN" sz="1500" b="1">
                <a:solidFill>
                  <a:srgbClr val="0E2340"/>
                </a:solidFill>
                <a:latin typeface="Microsoft YaHei"/>
                <a:ea typeface="Microsoft YaHei"/>
              </a:rPr>
              <a:t>给出反例</a:t>
            </a:r>
            <a:endParaRPr/>
          </a:p>
        </p:txBody>
      </p:sp>
      <p:sp>
        <p:nvSpPr>
          <p:cNvPr id="158" name="" descr="{&quot;isTemplate&quot;:true,&quot;type&quot;:&quot;text&quot;}"/>
          <p:cNvSpPr txBox="1"/>
          <p:nvPr/>
        </p:nvSpPr>
        <p:spPr>
          <a:xfrm rot="0" flipH="0" flipV="0">
            <a:off x="2695575" y="1866900"/>
            <a:ext cx="1266825"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构造使结论不成立的情形</a:t>
            </a:r>
            <a:endParaRPr/>
          </a:p>
        </p:txBody>
      </p:sp>
      <p:sp>
        <p:nvSpPr>
          <p:cNvPr id="159" name=""/>
          <p:cNvSpPr/>
          <p:nvPr/>
        </p:nvSpPr>
        <p:spPr>
          <a:xfrm rot="0" flipH="0" flipV="0">
            <a:off x="4343400" y="1219200"/>
            <a:ext cx="1647825" cy="4019550"/>
          </a:xfrm>
          <a:prstGeom prst="roundRect">
            <a:avLst>
              <a:gd name="adj" fmla="val 4624"/>
            </a:avLst>
          </a:prstGeom>
          <a:solidFill>
            <a:srgbClr val="FFFFFF"/>
          </a:solidFill>
          <a:ln w="12700">
            <a:solidFill>
              <a:srgbClr val="E3E8EF"/>
            </a:solidFill>
            <a:prstDash val="solid"/>
          </a:ln>
        </p:spPr>
        <p:txBody>
          <a:bodyPr/>
          <a:p/>
        </p:txBody>
      </p:sp>
      <p:sp>
        <p:nvSpPr>
          <p:cNvPr id="160" name=""/>
          <p:cNvSpPr/>
          <p:nvPr/>
        </p:nvSpPr>
        <p:spPr>
          <a:xfrm rot="0" flipH="0" flipV="0">
            <a:off x="4343400" y="1219200"/>
            <a:ext cx="1647825" cy="38100"/>
          </a:xfrm>
          <a:custGeom>
            <a:pathLst>
              <a:path w="173" h="4">
                <a:moveTo>
                  <a:pt x="165" y="0"/>
                </a:moveTo>
                <a:cubicBezTo>
                  <a:pt x="168" y="0"/>
                  <a:pt x="171" y="2"/>
                  <a:pt x="172" y="4"/>
                </a:cubicBezTo>
                <a:lnTo>
                  <a:pt x="1" y="4"/>
                </a:lnTo>
                <a:cubicBezTo>
                  <a:pt x="3" y="2"/>
                  <a:pt x="5" y="0"/>
                  <a:pt x="8" y="0"/>
                </a:cubicBezTo>
                <a:lnTo>
                  <a:pt x="165" y="0"/>
                </a:lnTo>
                <a:close/>
              </a:path>
            </a:pathLst>
          </a:custGeom>
          <a:gradFill>
            <a:gsLst>
              <a:gs pos="0">
                <a:srgbClr val="1E7BE0"/>
              </a:gs>
              <a:gs pos="100000">
                <a:srgbClr val="00A9B5"/>
              </a:gs>
            </a:gsLst>
            <a:lin ang="0" scaled="1"/>
          </a:gradFill>
          <a:ln/>
        </p:spPr>
        <p:txBody>
          <a:bodyPr/>
          <a:p/>
        </p:txBody>
      </p:sp>
      <p:sp>
        <p:nvSpPr>
          <p:cNvPr id="161" name="" descr="{&quot;isTemplate&quot;:true,&quot;type&quot;:&quot;text&quot;}"/>
          <p:cNvSpPr txBox="1"/>
          <p:nvPr/>
        </p:nvSpPr>
        <p:spPr>
          <a:xfrm rot="0" flipH="0" flipV="0">
            <a:off x="4533900" y="1447800"/>
            <a:ext cx="1266825" cy="647700"/>
          </a:xfrm>
          <a:prstGeom prst="rect"/>
        </p:spPr>
        <p:txBody>
          <a:bodyPr wrap="square" lIns="0" tIns="0" rIns="0" bIns="0">
            <a:normAutofit/>
          </a:bodyPr>
          <a:p>
            <a:pPr>
              <a:lnSpc>
                <a:spcPct val="140000"/>
              </a:lnSpc>
            </a:pPr>
            <a:r>
              <a:rPr lang="zh-CN" sz="1500" b="1">
                <a:solidFill>
                  <a:srgbClr val="0E2340"/>
                </a:solidFill>
                <a:latin typeface="Microsoft YaHei"/>
                <a:ea typeface="Microsoft YaHei"/>
              </a:rPr>
              <a:t>比较两种解法的适用条件</a:t>
            </a:r>
            <a:endParaRPr/>
          </a:p>
        </p:txBody>
      </p:sp>
      <p:sp>
        <p:nvSpPr>
          <p:cNvPr id="162" name="" descr="{&quot;isTemplate&quot;:true,&quot;type&quot;:&quot;text&quot;}"/>
          <p:cNvSpPr txBox="1"/>
          <p:nvPr/>
        </p:nvSpPr>
        <p:spPr>
          <a:xfrm rot="0" flipH="0" flipV="0">
            <a:off x="4533900" y="2190750"/>
            <a:ext cx="1266825" cy="295275"/>
          </a:xfrm>
          <a:prstGeom prst="rect"/>
        </p:spPr>
        <p:txBody>
          <a:bodyPr wrap="none" lIns="0" tIns="0" rIns="0" bIns="0"/>
          <a:p>
            <a:pPr>
              <a:lnSpc>
                <a:spcPct val="160000"/>
              </a:lnSpc>
            </a:pPr>
            <a:r>
              <a:rPr lang="zh-CN" sz="1200">
                <a:solidFill>
                  <a:srgbClr val="333A45"/>
                </a:solidFill>
                <a:latin typeface="Microsoft YaHei"/>
                <a:ea typeface="Microsoft YaHei"/>
              </a:rPr>
              <a:t>辨析方法边界</a:t>
            </a:r>
            <a:endParaRPr/>
          </a:p>
        </p:txBody>
      </p:sp>
      <p:sp>
        <p:nvSpPr>
          <p:cNvPr id="163" name=""/>
          <p:cNvSpPr/>
          <p:nvPr/>
        </p:nvSpPr>
        <p:spPr>
          <a:xfrm rot="0" flipH="0" flipV="0">
            <a:off x="6181725" y="1219200"/>
            <a:ext cx="1647825" cy="4019550"/>
          </a:xfrm>
          <a:prstGeom prst="roundRect">
            <a:avLst>
              <a:gd name="adj" fmla="val 4624"/>
            </a:avLst>
          </a:prstGeom>
          <a:solidFill>
            <a:srgbClr val="FFFFFF"/>
          </a:solidFill>
          <a:ln w="12700">
            <a:solidFill>
              <a:srgbClr val="E3E8EF"/>
            </a:solidFill>
            <a:prstDash val="solid"/>
          </a:ln>
        </p:spPr>
        <p:txBody>
          <a:bodyPr/>
          <a:p/>
        </p:txBody>
      </p:sp>
      <p:sp>
        <p:nvSpPr>
          <p:cNvPr id="164" name=""/>
          <p:cNvSpPr/>
          <p:nvPr/>
        </p:nvSpPr>
        <p:spPr>
          <a:xfrm rot="0" flipH="0" flipV="0">
            <a:off x="6181725" y="1219200"/>
            <a:ext cx="1647825" cy="38100"/>
          </a:xfrm>
          <a:custGeom>
            <a:pathLst>
              <a:path w="173" h="4">
                <a:moveTo>
                  <a:pt x="165" y="0"/>
                </a:moveTo>
                <a:cubicBezTo>
                  <a:pt x="168" y="0"/>
                  <a:pt x="171" y="2"/>
                  <a:pt x="172" y="4"/>
                </a:cubicBezTo>
                <a:lnTo>
                  <a:pt x="1" y="4"/>
                </a:lnTo>
                <a:cubicBezTo>
                  <a:pt x="3" y="2"/>
                  <a:pt x="5" y="0"/>
                  <a:pt x="8" y="0"/>
                </a:cubicBezTo>
                <a:lnTo>
                  <a:pt x="165" y="0"/>
                </a:lnTo>
                <a:close/>
              </a:path>
            </a:pathLst>
          </a:custGeom>
          <a:gradFill>
            <a:gsLst>
              <a:gs pos="0">
                <a:srgbClr val="1E7BE0"/>
              </a:gs>
              <a:gs pos="100000">
                <a:srgbClr val="00A9B5"/>
              </a:gs>
            </a:gsLst>
            <a:lin ang="0" scaled="1"/>
          </a:gradFill>
          <a:ln/>
        </p:spPr>
        <p:txBody>
          <a:bodyPr/>
          <a:p/>
        </p:txBody>
      </p:sp>
      <p:sp>
        <p:nvSpPr>
          <p:cNvPr id="165" name="" descr="{&quot;isTemplate&quot;:true,&quot;type&quot;:&quot;text&quot;}"/>
          <p:cNvSpPr txBox="1"/>
          <p:nvPr/>
        </p:nvSpPr>
        <p:spPr>
          <a:xfrm rot="0" flipH="0" flipV="0">
            <a:off x="6372225" y="1447800"/>
            <a:ext cx="1266825" cy="647700"/>
          </a:xfrm>
          <a:prstGeom prst="rect"/>
        </p:spPr>
        <p:txBody>
          <a:bodyPr wrap="square" lIns="0" tIns="0" rIns="0" bIns="0">
            <a:normAutofit/>
          </a:bodyPr>
          <a:p>
            <a:pPr>
              <a:lnSpc>
                <a:spcPct val="140000"/>
              </a:lnSpc>
            </a:pPr>
            <a:r>
              <a:rPr lang="zh-CN" sz="1500" b="1">
                <a:solidFill>
                  <a:srgbClr val="0E2340"/>
                </a:solidFill>
                <a:latin typeface="Microsoft YaHei"/>
                <a:ea typeface="Microsoft YaHei"/>
              </a:rPr>
              <a:t>改变条件观察结论</a:t>
            </a:r>
            <a:endParaRPr/>
          </a:p>
        </p:txBody>
      </p:sp>
      <p:sp>
        <p:nvSpPr>
          <p:cNvPr id="166" name="" descr="{&quot;isTemplate&quot;:true,&quot;type&quot;:&quot;text&quot;}"/>
          <p:cNvSpPr txBox="1"/>
          <p:nvPr/>
        </p:nvSpPr>
        <p:spPr>
          <a:xfrm rot="0" flipH="0" flipV="0">
            <a:off x="6372225" y="2190750"/>
            <a:ext cx="1266825"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探究参数与结论的关系</a:t>
            </a:r>
            <a:endParaRPr/>
          </a:p>
        </p:txBody>
      </p:sp>
      <p:sp>
        <p:nvSpPr>
          <p:cNvPr id="167" name=""/>
          <p:cNvSpPr/>
          <p:nvPr/>
        </p:nvSpPr>
        <p:spPr>
          <a:xfrm rot="0" flipH="0" flipV="0">
            <a:off x="8020050" y="1219200"/>
            <a:ext cx="1647825" cy="4019550"/>
          </a:xfrm>
          <a:prstGeom prst="roundRect">
            <a:avLst>
              <a:gd name="adj" fmla="val 4624"/>
            </a:avLst>
          </a:prstGeom>
          <a:solidFill>
            <a:srgbClr val="FFFFFF"/>
          </a:solidFill>
          <a:ln w="12700">
            <a:solidFill>
              <a:srgbClr val="E3E8EF"/>
            </a:solidFill>
            <a:prstDash val="solid"/>
          </a:ln>
        </p:spPr>
        <p:txBody>
          <a:bodyPr/>
          <a:p/>
        </p:txBody>
      </p:sp>
      <p:sp>
        <p:nvSpPr>
          <p:cNvPr id="168" name=""/>
          <p:cNvSpPr/>
          <p:nvPr/>
        </p:nvSpPr>
        <p:spPr>
          <a:xfrm rot="0" flipH="0" flipV="0">
            <a:off x="8020050" y="1219200"/>
            <a:ext cx="1647825" cy="38100"/>
          </a:xfrm>
          <a:custGeom>
            <a:pathLst>
              <a:path w="173" h="4">
                <a:moveTo>
                  <a:pt x="165" y="0"/>
                </a:moveTo>
                <a:cubicBezTo>
                  <a:pt x="168" y="0"/>
                  <a:pt x="171" y="2"/>
                  <a:pt x="172" y="4"/>
                </a:cubicBezTo>
                <a:lnTo>
                  <a:pt x="1" y="4"/>
                </a:lnTo>
                <a:cubicBezTo>
                  <a:pt x="3" y="2"/>
                  <a:pt x="5" y="0"/>
                  <a:pt x="8" y="0"/>
                </a:cubicBezTo>
                <a:lnTo>
                  <a:pt x="165" y="0"/>
                </a:lnTo>
                <a:close/>
              </a:path>
            </a:pathLst>
          </a:custGeom>
          <a:gradFill>
            <a:gsLst>
              <a:gs pos="0">
                <a:srgbClr val="1E7BE0"/>
              </a:gs>
              <a:gs pos="100000">
                <a:srgbClr val="00A9B5"/>
              </a:gs>
            </a:gsLst>
            <a:lin ang="0" scaled="1"/>
          </a:gradFill>
          <a:ln/>
        </p:spPr>
        <p:txBody>
          <a:bodyPr/>
          <a:p/>
        </p:txBody>
      </p:sp>
      <p:sp>
        <p:nvSpPr>
          <p:cNvPr id="169" name="" descr="{&quot;isTemplate&quot;:true,&quot;type&quot;:&quot;text&quot;}"/>
          <p:cNvSpPr txBox="1"/>
          <p:nvPr/>
        </p:nvSpPr>
        <p:spPr>
          <a:xfrm rot="0" flipH="0" flipV="0">
            <a:off x="8210550" y="1447800"/>
            <a:ext cx="1266825" cy="647700"/>
          </a:xfrm>
          <a:prstGeom prst="rect"/>
        </p:spPr>
        <p:txBody>
          <a:bodyPr wrap="square" lIns="0" tIns="0" rIns="0" bIns="0">
            <a:normAutofit/>
          </a:bodyPr>
          <a:p>
            <a:pPr>
              <a:lnSpc>
                <a:spcPct val="140000"/>
              </a:lnSpc>
            </a:pPr>
            <a:r>
              <a:rPr lang="zh-CN" sz="1500" b="1">
                <a:solidFill>
                  <a:srgbClr val="0E2340"/>
                </a:solidFill>
                <a:latin typeface="Microsoft YaHei"/>
                <a:ea typeface="Microsoft YaHei"/>
              </a:rPr>
              <a:t>提出猜想并证明或修正</a:t>
            </a:r>
            <a:endParaRPr/>
          </a:p>
        </p:txBody>
      </p:sp>
      <p:sp>
        <p:nvSpPr>
          <p:cNvPr id="170" name="" descr="{&quot;isTemplate&quot;:true,&quot;type&quot;:&quot;text&quot;}"/>
          <p:cNvSpPr txBox="1"/>
          <p:nvPr/>
        </p:nvSpPr>
        <p:spPr>
          <a:xfrm rot="0" flipH="0" flipV="0">
            <a:off x="8210550" y="2190750"/>
            <a:ext cx="1266825" cy="295275"/>
          </a:xfrm>
          <a:prstGeom prst="rect"/>
        </p:spPr>
        <p:txBody>
          <a:bodyPr wrap="none" lIns="0" tIns="0" rIns="0" bIns="0"/>
          <a:p>
            <a:pPr>
              <a:lnSpc>
                <a:spcPct val="160000"/>
              </a:lnSpc>
            </a:pPr>
            <a:r>
              <a:rPr lang="zh-CN" sz="1200">
                <a:solidFill>
                  <a:srgbClr val="333A45"/>
                </a:solidFill>
                <a:latin typeface="Microsoft YaHei"/>
                <a:ea typeface="Microsoft YaHei"/>
              </a:rPr>
              <a:t>开放式推理任务</a:t>
            </a:r>
            <a:endParaRPr/>
          </a:p>
        </p:txBody>
      </p:sp>
      <p:sp>
        <p:nvSpPr>
          <p:cNvPr id="171" name=""/>
          <p:cNvSpPr/>
          <p:nvPr/>
        </p:nvSpPr>
        <p:spPr>
          <a:xfrm rot="0" flipH="0" flipV="0">
            <a:off x="9858375" y="1219200"/>
            <a:ext cx="1647825" cy="4019550"/>
          </a:xfrm>
          <a:prstGeom prst="roundRect">
            <a:avLst>
              <a:gd name="adj" fmla="val 4624"/>
            </a:avLst>
          </a:prstGeom>
          <a:solidFill>
            <a:srgbClr val="FFFFFF"/>
          </a:solidFill>
          <a:ln w="12700">
            <a:solidFill>
              <a:srgbClr val="E3E8EF"/>
            </a:solidFill>
            <a:prstDash val="solid"/>
          </a:ln>
        </p:spPr>
        <p:txBody>
          <a:bodyPr/>
          <a:p/>
        </p:txBody>
      </p:sp>
      <p:sp>
        <p:nvSpPr>
          <p:cNvPr id="172" name=""/>
          <p:cNvSpPr/>
          <p:nvPr/>
        </p:nvSpPr>
        <p:spPr>
          <a:xfrm rot="0" flipH="0" flipV="0">
            <a:off x="9858375" y="1219200"/>
            <a:ext cx="1647825" cy="38100"/>
          </a:xfrm>
          <a:custGeom>
            <a:pathLst>
              <a:path w="173" h="4">
                <a:moveTo>
                  <a:pt x="165" y="0"/>
                </a:moveTo>
                <a:cubicBezTo>
                  <a:pt x="168" y="0"/>
                  <a:pt x="171" y="2"/>
                  <a:pt x="172" y="4"/>
                </a:cubicBezTo>
                <a:lnTo>
                  <a:pt x="1" y="4"/>
                </a:lnTo>
                <a:cubicBezTo>
                  <a:pt x="3" y="2"/>
                  <a:pt x="5" y="0"/>
                  <a:pt x="8" y="0"/>
                </a:cubicBezTo>
                <a:lnTo>
                  <a:pt x="165" y="0"/>
                </a:lnTo>
                <a:close/>
              </a:path>
            </a:pathLst>
          </a:custGeom>
          <a:gradFill>
            <a:gsLst>
              <a:gs pos="0">
                <a:srgbClr val="1E7BE0"/>
              </a:gs>
              <a:gs pos="100000">
                <a:srgbClr val="00A9B5"/>
              </a:gs>
            </a:gsLst>
            <a:lin ang="0" scaled="1"/>
          </a:gradFill>
          <a:ln/>
        </p:spPr>
        <p:txBody>
          <a:bodyPr/>
          <a:p/>
        </p:txBody>
      </p:sp>
      <p:sp>
        <p:nvSpPr>
          <p:cNvPr id="173" name="" descr="{&quot;isTemplate&quot;:true,&quot;type&quot;:&quot;text&quot;}"/>
          <p:cNvSpPr txBox="1"/>
          <p:nvPr/>
        </p:nvSpPr>
        <p:spPr>
          <a:xfrm rot="0" flipH="0" flipV="0">
            <a:off x="10048875" y="1447800"/>
            <a:ext cx="1266825" cy="647700"/>
          </a:xfrm>
          <a:prstGeom prst="rect"/>
        </p:spPr>
        <p:txBody>
          <a:bodyPr wrap="square" lIns="0" tIns="0" rIns="0" bIns="0">
            <a:normAutofit/>
          </a:bodyPr>
          <a:p>
            <a:pPr>
              <a:lnSpc>
                <a:spcPct val="140000"/>
              </a:lnSpc>
            </a:pPr>
            <a:r>
              <a:rPr lang="zh-CN" sz="1500" b="1">
                <a:solidFill>
                  <a:srgbClr val="0E2340"/>
                </a:solidFill>
                <a:latin typeface="Microsoft YaHei"/>
                <a:ea typeface="Microsoft YaHei"/>
              </a:rPr>
              <a:t>解决有多种合理路径的问题</a:t>
            </a:r>
            <a:endParaRPr/>
          </a:p>
        </p:txBody>
      </p:sp>
      <p:sp>
        <p:nvSpPr>
          <p:cNvPr id="174" name="" descr="{&quot;isTemplate&quot;:true,&quot;type&quot;:&quot;text&quot;}"/>
          <p:cNvSpPr txBox="1"/>
          <p:nvPr/>
        </p:nvSpPr>
        <p:spPr>
          <a:xfrm rot="0" flipH="0" flipV="0">
            <a:off x="10048875" y="2190750"/>
            <a:ext cx="1266825"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评价路径选择的合理性</a:t>
            </a:r>
            <a:endParaRPr/>
          </a:p>
        </p:txBody>
      </p:sp>
      <p:sp>
        <p:nvSpPr>
          <p:cNvPr id="175" name=""/>
          <p:cNvSpPr/>
          <p:nvPr/>
        </p:nvSpPr>
        <p:spPr>
          <a:xfrm rot="0" flipH="0" flipV="0">
            <a:off x="704850" y="5391150"/>
            <a:ext cx="10858500" cy="819150"/>
          </a:xfrm>
          <a:prstGeom prst="roundRect">
            <a:avLst>
              <a:gd name="adj" fmla="val 6977"/>
            </a:avLst>
          </a:prstGeom>
          <a:solidFill>
            <a:srgbClr val="F5F7FA"/>
          </a:solidFill>
          <a:ln/>
        </p:spPr>
        <p:txBody>
          <a:bodyPr/>
          <a:p/>
        </p:txBody>
      </p:sp>
      <p:sp>
        <p:nvSpPr>
          <p:cNvPr id="176" name=""/>
          <p:cNvSpPr/>
          <p:nvPr/>
        </p:nvSpPr>
        <p:spPr>
          <a:xfrm rot="0" flipH="0" flipV="0">
            <a:off x="704850" y="5391150"/>
            <a:ext cx="10858500" cy="819150"/>
          </a:xfrm>
          <a:custGeom>
            <a:pathLst>
              <a:path w="1140" h="86">
                <a:moveTo>
                  <a:pt x="6" y="0"/>
                </a:moveTo>
                <a:cubicBezTo>
                  <a:pt x="5" y="0"/>
                  <a:pt x="4" y="1"/>
                  <a:pt x="4" y="2"/>
                </a:cubicBezTo>
                <a:lnTo>
                  <a:pt x="4" y="84"/>
                </a:lnTo>
                <a:cubicBezTo>
                  <a:pt x="4" y="85"/>
                  <a:pt x="5" y="86"/>
                  <a:pt x="6" y="86"/>
                </a:cubicBezTo>
                <a:cubicBezTo>
                  <a:pt x="3" y="86"/>
                  <a:pt x="0" y="83"/>
                  <a:pt x="0" y="80"/>
                </a:cubicBezTo>
                <a:lnTo>
                  <a:pt x="0" y="6"/>
                </a:lnTo>
                <a:cubicBezTo>
                  <a:pt x="0" y="3"/>
                  <a:pt x="3" y="0"/>
                  <a:pt x="6" y="0"/>
                </a:cubicBezTo>
                <a:close/>
              </a:path>
            </a:pathLst>
          </a:custGeom>
          <a:solidFill>
            <a:srgbClr val="1E7BE0"/>
          </a:solidFill>
          <a:ln/>
        </p:spPr>
        <p:txBody>
          <a:bodyPr/>
          <a:p/>
        </p:txBody>
      </p:sp>
      <p:sp>
        <p:nvSpPr>
          <p:cNvPr id="177" name="" descr="{&quot;isTemplate&quot;:true,&quot;type&quot;:&quot;text&quot;}"/>
          <p:cNvSpPr txBox="1"/>
          <p:nvPr/>
        </p:nvSpPr>
        <p:spPr>
          <a:xfrm rot="0" flipH="0" flipV="0">
            <a:off x="895350" y="5524500"/>
            <a:ext cx="10439400" cy="552450"/>
          </a:xfrm>
          <a:prstGeom prst="rect"/>
        </p:spPr>
        <p:txBody>
          <a:bodyPr wrap="square" lIns="0" tIns="0" rIns="0" bIns="0">
            <a:normAutofit/>
          </a:bodyPr>
          <a:p>
            <a:pPr>
              <a:lnSpc>
                <a:spcPct val="150000"/>
              </a:lnSpc>
            </a:pPr>
            <a:r>
              <a:rPr lang="zh-CN" sz="1200" b="1">
                <a:solidFill>
                  <a:srgbClr val="0E2340"/>
                </a:solidFill>
                <a:latin typeface="Microsoft YaHei"/>
                <a:ea typeface="Microsoft YaHei"/>
              </a:rPr>
              <a:t>不能只用答案长度、步骤数量或是否贴近参考表达衡量推理能力；不能把教师尚未见过的解法直接标错。需解决多解法表达、数学正确性与解释质量的区分、评分者分歧处理；参考</a:t>
            </a:r>
            <a:r>
              <a:rPr lang="en-US" sz="1200" b="1">
                <a:solidFill>
                  <a:srgbClr val="0E2340"/>
                </a:solidFill>
                <a:latin typeface="Microsoft YaHei"/>
                <a:ea typeface="Microsoft YaHei"/>
              </a:rPr>
              <a:t xml:space="preserve"> Aleven </a:t>
            </a:r>
            <a:r>
              <a:rPr lang="zh-CN" sz="1200" b="1">
                <a:solidFill>
                  <a:srgbClr val="0E2340"/>
                </a:solidFill>
                <a:latin typeface="Microsoft YaHei"/>
                <a:ea typeface="Microsoft YaHei"/>
              </a:rPr>
              <a:t>与</a:t>
            </a:r>
            <a:r>
              <a:rPr lang="en-US" sz="1200" b="1">
                <a:solidFill>
                  <a:srgbClr val="0E2340"/>
                </a:solidFill>
                <a:latin typeface="Microsoft YaHei"/>
                <a:ea typeface="Microsoft YaHei"/>
              </a:rPr>
              <a:t xml:space="preserve"> Koedinger </a:t>
            </a:r>
            <a:r>
              <a:rPr lang="zh-CN" sz="1200" b="1">
                <a:solidFill>
                  <a:srgbClr val="0E2340"/>
                </a:solidFill>
                <a:latin typeface="Microsoft YaHei"/>
                <a:ea typeface="Microsoft YaHei"/>
              </a:rPr>
              <a:t>的自我解释研究</a:t>
            </a:r>
            <a:endParaRPr/>
          </a:p>
        </p:txBody>
      </p:sp>
      <p:sp>
        <p:nvSpPr>
          <p:cNvPr id="178"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179" name="" descr="{&quot;isTemplate&quot;:true,&quot;type&quot;:&quot;text&quot;}"/>
          <p:cNvSpPr txBox="1"/>
          <p:nvPr/>
        </p:nvSpPr>
        <p:spPr>
          <a:xfrm rot="0" flipH="0" flipV="0">
            <a:off x="666750" y="6381750"/>
            <a:ext cx="1619250" cy="209550"/>
          </a:xfrm>
          <a:prstGeom prst="rect"/>
        </p:spPr>
        <p:txBody>
          <a:bodyPr wrap="none" lIns="0" tIns="0" rIns="0" bIns="0"/>
          <a:p>
            <a:pPr>
              <a:lnSpc>
                <a:spcPct val="140000"/>
              </a:lnSpc>
            </a:pPr>
            <a:r>
              <a:rPr lang="zh-CN" sz="975">
                <a:solidFill>
                  <a:srgbClr val="7A8699"/>
                </a:solidFill>
                <a:latin typeface="Microsoft YaHei"/>
                <a:ea typeface="Microsoft YaHei"/>
              </a:rPr>
              <a:t>依据：待深化功能研究</a:t>
            </a:r>
            <a:r>
              <a:rPr lang="en-US" sz="975">
                <a:solidFill>
                  <a:srgbClr val="7A8699"/>
                </a:solidFill>
                <a:latin typeface="Microsoft YaHei"/>
                <a:ea typeface="Microsoft YaHei"/>
              </a:rPr>
              <a:t>.md §6</a:t>
            </a:r>
            <a:endParaRPr/>
          </a:p>
        </p:txBody>
      </p:sp>
      <p:sp>
        <p:nvSpPr>
          <p:cNvPr id="180" name="" descr="{&quot;isTemplate&quot;:true,&quot;type&quot;:&quot;text&quot;}"/>
          <p:cNvSpPr txBox="1"/>
          <p:nvPr/>
        </p:nvSpPr>
        <p:spPr>
          <a:xfrm rot="0" flipH="0" flipV="0">
            <a:off x="10887075" y="6372225"/>
            <a:ext cx="6381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103 / 124 </a:t>
            </a:r>
            <a:endParaRPr/>
          </a:p>
        </p:txBody>
      </p:sp>
    </p:spTree>
  </p:cSld>
</p:sld>
</file>

<file path=ppt/slides/slide104.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81" name="" descr="&lt;Slide style={{ width: '1280px', height: '720px', background: '#FFFFFF', padding: 0 }}&gt;&lt;Box style={{ position: 'absolute', top: 0, left: 0 }}&gt;&lt;svg width={1280} height={720} viewBox='0 0 1280 720'&gt;&lt;line x1='0' y1='0' x2='1280' y2='0' stroke='#E3E8EF' stroke-width='1' opacity='0.55'/&gt;&lt;line x1='0' y1='90' x2='1280' y2='90' stroke='#E3E8EF' stroke-width='1' opacity='0.55'/&gt;&lt;line x1='0' y1='180' x2='1280' y2='180' stroke='#E3E8EF' stroke-width='1' opacity='0.55'/&gt;&lt;line x1='0' y1='270' x2='1280' y2='270' stroke='#E3E8EF' stroke-width='1' opacity='0.55'/&gt;&lt;line x1='0' y1='360' x2='1280' y2='360' stroke='#E3E8EF' stroke-width='1' opacity='0.55'/&gt;&lt;line x1='0' y1='450' x2='1280' y2='450' stroke='#E3E8EF' stroke-width='1' opacity='0.55'/&gt;&lt;line x1='0' y1='540' x2='1280' y2='540' stroke='#E3E8EF' stroke-width='1' opacity='0.55'/&gt;&lt;line x1='0' y1='630' x2='1280' y2='630' stroke='#E3E8EF' stroke-width='1' opacity='0.55'/&gt;&lt;line x1='0' y1='720' x2='1280' y2='720' stroke='#E3E8EF' stroke-width='1' opacity='0.55'/&gt;&lt;/svg&gt;&lt;/Box&gt;&lt;Box style={{ position: 'relative', zIndex: 2, flexDirection: 'row', flex: 1, padding: '48px 80px 52px', gap: 44 }}&gt;&lt;Box style={{ width: 520, flexDirection: 'column', justifyContent: 'space-between' }}&gt;&lt;Box style={{ flexDirection: 'column' }}&gt;&lt;Text style={{ fontSize: 15, color: '#1E7BE0', fontWeight: 600, lineHeight: 1.4, letterSpacing: 2 }}&gt;STUDYAGENT · DESIGN REVIEW&lt;/Text&gt;&lt;/Box&gt;&lt;Box style={{ flexDirection: 'column' }}&gt;&lt;Text style={{ fontSize: 100, color: '#0E2340', fontWeight: 700, lineHeight: 1.0, fontFamily: 'JetBrains Mono, Inter' }}&gt;11&lt;/Text&gt;&lt;Box style={{ width: 78, height: 5, background: '#1E7BE0', marginTop: 10 }} /&gt;&lt;Text style={{ fontSize: 44, color: '#0E2340', fontWeight: 700, lineHeight: 1.2 }}&gt;落地与边界&lt;/Text&gt;&lt;/Box&gt;&lt;Box style={{ flexDirection: 'column', gap: 12 }}&gt;&lt;Box style={{ flexDirection: 'row', alignItems: 'center', background: '#F5F7FA', borderLeft: '4px solid #1E7BE0', borderRadius: 6, padding: '14px 20px' }}&gt;&lt;Text style={{ fontSize: 19, color: '#0E2340', fontWeight: 600, lineHeight: 1.5 }}&gt;完整系统模式 vs 传统教学增强模式&lt;/Text&gt;&lt;/Box&gt;&lt;Box style={{ flexDirection: 'row', alignItems: 'center', background: '#F5F7FA', borderLeft: '4px solid #1E7BE0', borderRadius: 6, padding: '14px 20px' }}&gt;&lt;Text style={{ fontSize: 19, color: '#0E2340', fontWeight: 600, lineHeight: 1.5 }}&gt;学生六环节 / 教师六阶段&lt;/Text&gt;&lt;/Box&gt;&lt;Box style={{ flexDirection: 'row', alignItems: 'center', background: '#F5F7FA', borderLeft: '4px solid #1E7BE0', borderRadius: 6, padding: '14px 20px' }}&gt;&lt;Text style={{ fontSize: 19, color: '#0E2340', fontWeight: 600, lineHeight: 1.5 }}&gt;效果评价的边界&lt;/Text&gt;&lt;/Box&gt;&lt;/Box&gt;&lt;Box style={{ flexDirection: 'column' }}&gt;&lt;Text style={{ fontSize: 13, color: '#7A8699', fontWeight: 400, lineHeight: 1.5 }}&gt;来源：两种教学模式与应用边界.md（更新日期 2026-10-25）&lt;/Text&gt;&lt;/Box&gt;&lt;/Box&gt;&lt;Box style={{ flex: 1, flexDirection: 'column', justifyContent: 'space-between', gap: 12 }}&gt;&lt;Text style={{ fontSize: 20, color: '#0E2340', fontWeight: 700, lineHeight: 1.4 }}&gt;汇报结构 · 13 章&lt;/Text&gt;&lt;Box style={{ flexDirection: 'column', gap: 10 }}&gt;&lt;Box style={{ flexDirection: 'row', gap: 10 }}&gt;&lt;Box style={{ width: 172, height: 64, borderRadius: 6, padding: '9px 12px', background: '#F5F7FA', flexDirection: 'column', justifyContent: 'center' }}&gt;&lt;Text style={{ fontSize: 18, color: '#0E2340', fontWeight: 700, lineHeight: 1.2 }}&gt;01&lt;/Text&gt;&lt;Text style={{ fontSize: 13, color: '#7A8699', fontWeight: 400, lineHeight: 1.3 }}&gt;概念地基&lt;/Text&gt;&lt;/Box&gt;&lt;Box style={{ width: 172, height: 64, borderRadius: 6, padding: '9px 12px', background: '#F5F7FA', flexDirection: 'column', justifyContent: 'center' }}&gt;&lt;Text style={{ fontSize: 18, color: '#0E2340', fontWeight: 700, lineHeight: 1.2 }}&gt;02&lt;/Text&gt;&lt;Text style={{ fontSize: 13, color: '#7A8699', fontWeight: 400, lineHeight: 1.3 }}&gt;现状盘点&lt;/Text&gt;&lt;/Box&gt;&lt;Box style={{ width: 172, height: 64, borderRadius: 6, padding: '9px 12px', background: '#F5F7FA', flexDirection: 'column', justifyContent: 'center' }}&gt;&lt;Text style={{ fontSize: 18, color: '#0E2340', fontWeight: 700, lineHeight: 1.2 }}&gt;03&lt;/Text&gt;&lt;Text style={{ fontSize: 13, color: '#7A8699', fontWeight: 400, lineHeight: 1.3 }}&gt;单题引擎&lt;/Text&gt;&lt;/Box&gt;&lt;/Box&gt;&lt;Box style={{ flexDirection: 'row', gap: 10 }}&gt;&lt;Box style={{ width: 172, height: 64, borderRadius: 6, padding: '9px 12px', background: '#F5F7FA', flexDirection: 'column', justifyContent: 'center' }}&gt;&lt;Text style={{ fontSize: 18, color: '#0E2340', fontWeight: 700, lineHeight: 1.2 }}&gt;04&lt;/Text&gt;&lt;Text style={{ fontSize: 13, color: '#7A8699', fontWeight: 400, lineHeight: 1.3 }}&gt;套路层面&lt;/Text&gt;&lt;/Box&gt;&lt;Box style={{ width: 172, height: 64, borderRadius: 6, padding: '9px 12px', background: '#F5F7FA', flexDirection: 'column', justifyContent: 'center' }}&gt;&lt;Text style={{ fontSize: 18, color: '#0E2340', fontWeight: 700, lineHeight: 1.2 }}&gt;05&lt;/Text&gt;&lt;Text style={{ fontSize: 13, color: '#7A8699', fontWeight: 400, lineHeight: 1.3 }}&gt;教师端&lt;/Text&gt;&lt;/Box&gt;&lt;Box style={{ width: 172, height: 64, borderRadius: 6, padding: '9px 12px', background: '#F5F7FA', flexDirection: 'column', justifyContent: 'center' }}&gt;&lt;Text style={{ fontSize: 18, color: '#0E2340', fontWeight: 700, lineHeight: 1.2 }}&gt;06&lt;/Text&gt;&lt;Text style={{ fontSize: 13, color: '#7A8699', fontWeight: 400, lineHeight: 1.3 }}&gt;学校端&lt;/Text&gt;&lt;/Box&gt;&lt;/Box&gt;&lt;Box style={{ flexDirection: 'row', gap: 10 }}&gt;&lt;Box style={{ width: 172, height: 64, borderRadius: 6, padding: '9px 12px', background: '#F5F7FA', flexDirection: 'column', justifyContent: 'center' }}&gt;&lt;Text style={{ fontSize: 18, color: '#0E2340', fontWeight: 700, lineHeight: 1.2 }}&gt;07&lt;/Text&gt;&lt;Text style={{ fontSize: 13, color: '#7A8699', fontWeight: 400, lineHeight: 1.3 }}&gt;试卷与生涯&lt;/Text&gt;&lt;/Box&gt;&lt;Box style={{ width: 172, height: 64, borderRadius: 6, padding: '9px 12px', background: '#F5F7FA', flexDirection: 'column', justifyContent: 'center' }}&gt;&lt;Text style={{ fontSize: 18, color: '#0E2340', fontWeight: 700, lineHeight: 1.2 }}&gt;08&lt;/Text&gt;&lt;Text style={{ fontSize: 13, color: '#7A8699', fontWeight: 400, lineHeight: 1.3 }}&gt;协同 Agent&lt;/Text&gt;&lt;/Box&gt;&lt;Box style={{ width: 172, height: 64, borderRadius: 6, padding: '9px 12px', background: '#F5F7FA', flexDirection: 'column', justifyContent: 'center' }}&gt;&lt;Text style={{ fontSize: 18, color: '#0E2340', fontWeight: 700, lineHeight: 1.2 }}&gt;09&lt;/Text&gt;&lt;Text style={{ fontSize: 13, color: '#7A8699', fontWeight: 400, lineHeight: 1.3 }}&gt;MCP 接入&lt;/Text&gt;&lt;/Box&gt;&lt;/Box&gt;&lt;Box style={{ flexDirection: 'row', gap: 10 }}&gt;&lt;Box style={{ width: 172, height: 64, borderRadius: 6, padding: '9px 12px', background: '#F5F7FA', flexDirection: 'column', justifyContent: 'center' }}&gt;&lt;Text style={{ fontSize: 18, color: '#0E2340', fontWeight: 700, lineHeight: 1.2 }}&gt;10&lt;/Text&gt;&lt;Text style={{ fontSize: 13, color: '#7A8699', fontWeight: 400, lineHeight: 1.3 }}&gt;待深化研究&lt;/Text&gt;&lt;/Box&gt;&lt;Box style={{ width: 172, height: 64, borderRadius: 6, padding: '9px 12px', background: '#0E2340', flexDirection: 'column', justifyContent: 'center' }}&gt;&lt;Text style={{ fontSize: 18, color: '#FFFFFF', fontWeight: 700, lineHeight: 1.2 }}&gt;11&lt;/Text&gt;&lt;Text style={{ fontSize: 13, color: '#C8DCF2', fontWeight: 400, lineHeight: 1.3 }}&gt;落地与边界&lt;/Text&gt;&lt;/Box&gt;&lt;Box style={{ width: 172, height: 64, borderRadius: 6, padding: '9px 12px', background: '#F5F7FA', flexDirection: 'column', justifyContent: 'center' }}&gt;&lt;Text style={{ fontSize: 18, color: '#0E2340', fontWeight: 700, lineHeight: 1.2 }}&gt;12&lt;/Text&gt;&lt;Text style={{ fontSize: 13, color: '#7A8699', fontWeight: 400, lineHeight: 1.3 }}&gt;自进化与扩展&lt;/Text&gt;&lt;/Box&gt;&lt;/Box&gt;&lt;Box style={{ flexDirection: 'row', gap: 10 }}&gt;&lt;Box style={{ width: 172, height: 64, borderRadius: 6, padding: '9px 12px', background: '#F5F7FA', flexDirection: 'column', justifyContent: 'center' }}&gt;&lt;Text style={{ fontSize: 18, color: '#0E2340', fontWeight: 700, lineHeight: 1.2 }}&gt;13&lt;/Text&gt;&lt;Text style={{ fontSize: 13, color: '#7A8699', fontWeight: 400, lineHeight: 1.3 }}&gt;收尾&lt;/Text&gt;&lt;/Box&gt;&lt;/Box&gt;&lt;/Box&gt;&lt;Box style={{ flexDirection: 'row', alignItems: 'center', gap: 10, background: '#F5F7FA', borderRadius: 6, padding: '10px 14px' }}&gt;&lt;Box style={{ width: 6, height: 22, background: '#00A9B5' }} /&gt;&lt;Text style={{ fontSize: 15, color: '#0E2340', fontWeight: 600, lineHeight: 1.4 }}&gt;当前位置：第 11 章 · 落地与边界&lt;/Text&gt;&lt;/Box&gt;&lt;Box style={{ flexDirection: 'row', gap: 10 }}&gt;&lt;Box style={{ flex: 1, flexDirection: 'row', alignItems: 'center', gap: 8, borderRadius: 6, padding: '9px 10px', background: '#F5F7FA' }}&gt;&lt;Box style={{ width: 10, height: 10, borderRadius: 5, background: '#1E9E62' }} /&gt;&lt;Text style={{ fontSize: 14, color: '#333A45', fontWeight: 600, lineHeight: 1.3 }}&gt;已实现&lt;/Text&gt;&lt;/Box&gt;&lt;Box style={{ flex: 1, flexDirection: 'row', alignItems: 'center', gap: 8, borderRadius: 6, padding: '9px 10px', background: '#F5F7FA' }}&gt;&lt;Box style={{ width: 10, height: 10, borderRadius: 5, background: '#E8A33D' }} /&gt;&lt;Text style={{ fontSize: 14, color: '#333A45', fontWeight: 600, lineHeight: 1.3 }}&gt;部分实现&lt;/Text&gt;&lt;/Box&gt;&lt;Box style={{ flex: 1, flexDirection: 'row', alignItems: 'center', gap: 8, borderRadius: 6, padding: '9px 10px', background: '#F5F7FA' }}&gt;&lt;Box style={{ width: 10, height: 10, borderRadius: 5, background: '#1E7BE0' }} /&gt;&lt;Text style={{ fontSize: 14, color: '#333A45', fontWeight: 600, lineHeight: 1.3 }}&gt;设计中&lt;/Text&gt;&lt;/Box&gt;&lt;Box style={{ flex: 1, flexDirection: 'row', alignItems: 'center', gap: 8, borderRadius: 6, padding: '9px 10px', background: '#F5F7FA' }}&gt;&lt;Box style={{ width: 10, height: 10, borderRadius: 5, background: '#98A2B3' }} /&gt;&lt;Text style={{ fontSize: 14, color: '#333A45', fontWeight: 600, lineHeight: 1.3 }}&gt;待研究&lt;/Text&gt;&lt;/Box&gt;&lt;/Box&gt;&lt;Box style={{ flexDirection: 'row', alignItems: 'center', gap: 12, borderTop: '1px solid #E3E8EF', paddingTop: 14 }}&gt;&lt;Box style={{ width: 46, height: 5, background: '#00A9B5' }} /&gt;&lt;Text style={{ fontSize: 15, color: '#7A8699', fontWeight: 600, lineHeight: 1.4 }}&gt;StudyAgent 项目设计汇报 · 技术评审版 · 共 124 页&lt;/Text&gt;&lt;/Box&gt;&lt;/Box&gt;&lt;/Box&gt;&lt;/Slide&gt;"/>
        <p:cNvGrpSpPr/>
        <p:nvPr/>
      </p:nvGrpSpPr>
      <p:grpSpPr>
        <a:xfrm>
          <a:off x="0" y="0"/>
          <a:ext cx="0" cy="0"/>
          <a:chOff x="0" y="0"/>
          <a:chExt cx="0" cy="0"/>
        </a:xfrm>
      </p:grpSpPr>
      <p:sp>
        <p:nvSpPr>
          <p:cNvPr id="182" name=""/>
          <p:cNvSpPr/>
          <p:nvPr/>
        </p:nvSpPr>
        <p:spPr>
          <a:xfrm rot="0" flipH="0" flipV="0">
            <a:off x="0" y="0"/>
            <a:ext cx="12192000" cy="6858000"/>
          </a:xfrm>
          <a:prstGeom prst="rect">
            <a:avLst/>
          </a:prstGeom>
          <a:solidFill>
            <a:srgbClr val="FFFFFF"/>
          </a:solidFill>
          <a:ln/>
        </p:spPr>
        <p:txBody>
          <a:bodyPr/>
          <a:p/>
        </p:txBody>
      </p:sp>
      <p:pic>
        <p:nvPicPr>
          <p:cNvPr id="183" name=""/>
          <p:cNvPicPr>
            <a:picLocks noChangeAspect="1"/>
          </p:cNvPicPr>
          <p:nvPr/>
        </p:nvPicPr>
        <p:blipFill>
          <a:blip>
            <a:extLst>
              <a:ext uri="{96DAC541-7B7A-43D3-8B79-37D633B846F1}">
                <asvg:svgBlip r:embed="rId1"/>
              </a:ext>
            </a:extLst>
          </a:blip>
          <a:stretch>
            <a:fillRect/>
          </a:stretch>
        </p:blipFill>
        <p:spPr>
          <a:xfrm rot="0" flipH="0" flipV="0">
            <a:off x="0" y="0"/>
            <a:ext cx="12192000" cy="6858000"/>
          </a:xfrm>
          <a:prstGeom prst="rect">
            <a:avLst/>
          </a:prstGeom>
          <a:ln/>
        </p:spPr>
      </p:pic>
      <p:sp>
        <p:nvSpPr>
          <p:cNvPr id="184" name="" descr="{&quot;isTemplate&quot;:true,&quot;type&quot;:&quot;text&quot;}"/>
          <p:cNvSpPr txBox="1"/>
          <p:nvPr/>
        </p:nvSpPr>
        <p:spPr>
          <a:xfrm rot="0" flipH="0" flipV="0">
            <a:off x="762000" y="457200"/>
            <a:ext cx="4953000" cy="247650"/>
          </a:xfrm>
          <a:prstGeom prst="rect"/>
        </p:spPr>
        <p:txBody>
          <a:bodyPr wrap="none" lIns="0" tIns="0" rIns="0" bIns="0"/>
          <a:p>
            <a:pPr>
              <a:lnSpc>
                <a:spcPct val="140000"/>
              </a:lnSpc>
            </a:pPr>
            <a:r>
              <a:rPr lang="en-US" sz="1125" b="1" spc="150">
                <a:solidFill>
                  <a:srgbClr val="1E7BE0"/>
                </a:solidFill>
                <a:latin typeface="Microsoft YaHei"/>
                <a:ea typeface="Microsoft YaHei"/>
              </a:rPr>
              <a:t>STUDYAGENT · DESIGN REVIEW</a:t>
            </a:r>
            <a:endParaRPr/>
          </a:p>
        </p:txBody>
      </p:sp>
      <p:sp>
        <p:nvSpPr>
          <p:cNvPr id="185" name="" descr="{&quot;isTemplate&quot;:true,&quot;type&quot;:&quot;text&quot;}"/>
          <p:cNvSpPr txBox="1"/>
          <p:nvPr/>
        </p:nvSpPr>
        <p:spPr>
          <a:xfrm rot="0" flipH="0" flipV="0">
            <a:off x="762000" y="1209675"/>
            <a:ext cx="4953000" cy="1143000"/>
          </a:xfrm>
          <a:prstGeom prst="rect"/>
        </p:spPr>
        <p:txBody>
          <a:bodyPr wrap="none" lIns="0" tIns="0" rIns="0" bIns="0"/>
          <a:p>
            <a:pPr>
              <a:lnSpc>
                <a:spcPct val="100000"/>
              </a:lnSpc>
            </a:pPr>
            <a:r>
              <a:rPr lang="en-US" sz="7500" b="1">
                <a:solidFill>
                  <a:srgbClr val="0E2340"/>
                </a:solidFill>
                <a:latin typeface="JetBrains Mono"/>
                <a:ea typeface="JetBrains Mono"/>
              </a:rPr>
              <a:t>11</a:t>
            </a:r>
            <a:endParaRPr/>
          </a:p>
        </p:txBody>
      </p:sp>
      <p:sp>
        <p:nvSpPr>
          <p:cNvPr id="186" name=""/>
          <p:cNvSpPr/>
          <p:nvPr/>
        </p:nvSpPr>
        <p:spPr>
          <a:xfrm rot="0" flipH="0" flipV="0">
            <a:off x="762000" y="2447925"/>
            <a:ext cx="742950" cy="47625"/>
          </a:xfrm>
          <a:prstGeom prst="rect">
            <a:avLst/>
          </a:prstGeom>
          <a:solidFill>
            <a:srgbClr val="1E7BE0"/>
          </a:solidFill>
          <a:ln/>
        </p:spPr>
        <p:txBody>
          <a:bodyPr/>
          <a:p/>
        </p:txBody>
      </p:sp>
      <p:sp>
        <p:nvSpPr>
          <p:cNvPr id="187" name="" descr="{&quot;isTemplate&quot;:true,&quot;type&quot;:&quot;text&quot;}"/>
          <p:cNvSpPr txBox="1"/>
          <p:nvPr/>
        </p:nvSpPr>
        <p:spPr>
          <a:xfrm rot="0" flipH="0" flipV="0">
            <a:off x="762000" y="2495550"/>
            <a:ext cx="4953000" cy="609600"/>
          </a:xfrm>
          <a:prstGeom prst="rect"/>
        </p:spPr>
        <p:txBody>
          <a:bodyPr wrap="none" lIns="0" tIns="0" rIns="0" bIns="0"/>
          <a:p>
            <a:pPr>
              <a:lnSpc>
                <a:spcPct val="120000"/>
              </a:lnSpc>
            </a:pPr>
            <a:r>
              <a:rPr lang="zh-CN" sz="3300" b="1">
                <a:solidFill>
                  <a:srgbClr val="0E2340"/>
                </a:solidFill>
                <a:latin typeface="Microsoft YaHei"/>
                <a:ea typeface="Microsoft YaHei"/>
              </a:rPr>
              <a:t>落地与边界</a:t>
            </a:r>
            <a:endParaRPr/>
          </a:p>
        </p:txBody>
      </p:sp>
      <p:sp>
        <p:nvSpPr>
          <p:cNvPr id="188" name=""/>
          <p:cNvSpPr/>
          <p:nvPr/>
        </p:nvSpPr>
        <p:spPr>
          <a:xfrm rot="0" flipH="0" flipV="0">
            <a:off x="800100" y="3600450"/>
            <a:ext cx="4953000" cy="600075"/>
          </a:xfrm>
          <a:prstGeom prst="roundRect">
            <a:avLst>
              <a:gd name="adj" fmla="val 9524"/>
            </a:avLst>
          </a:prstGeom>
          <a:solidFill>
            <a:srgbClr val="F5F7FA"/>
          </a:solidFill>
          <a:ln/>
        </p:spPr>
        <p:txBody>
          <a:bodyPr/>
          <a:p/>
        </p:txBody>
      </p:sp>
      <p:sp>
        <p:nvSpPr>
          <p:cNvPr id="189" name=""/>
          <p:cNvSpPr/>
          <p:nvPr/>
        </p:nvSpPr>
        <p:spPr>
          <a:xfrm rot="0" flipH="0" flipV="0">
            <a:off x="800100" y="360045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190" name="" descr="{&quot;isTemplate&quot;:true,&quot;type&quot;:&quot;text&quot;}"/>
          <p:cNvSpPr txBox="1"/>
          <p:nvPr/>
        </p:nvSpPr>
        <p:spPr>
          <a:xfrm rot="0" flipH="0" flipV="0">
            <a:off x="990600" y="3733800"/>
            <a:ext cx="2838450" cy="333375"/>
          </a:xfrm>
          <a:prstGeom prst="rect"/>
        </p:spPr>
        <p:txBody>
          <a:bodyPr wrap="none" lIns="0" tIns="0" rIns="0" bIns="0"/>
          <a:p>
            <a:pPr>
              <a:lnSpc>
                <a:spcPct val="150000"/>
              </a:lnSpc>
            </a:pPr>
            <a:r>
              <a:rPr lang="zh-CN" sz="1425" b="1">
                <a:solidFill>
                  <a:srgbClr val="0E2340"/>
                </a:solidFill>
                <a:latin typeface="Microsoft YaHei"/>
                <a:ea typeface="Microsoft YaHei"/>
              </a:rPr>
              <a:t>完整系统模式</a:t>
            </a:r>
            <a:r>
              <a:rPr lang="en-US" sz="1425" b="1">
                <a:solidFill>
                  <a:srgbClr val="0E2340"/>
                </a:solidFill>
                <a:latin typeface="Microsoft YaHei"/>
                <a:ea typeface="Microsoft YaHei"/>
              </a:rPr>
              <a:t xml:space="preserve"> vs </a:t>
            </a:r>
            <a:r>
              <a:rPr lang="zh-CN" sz="1425" b="1">
                <a:solidFill>
                  <a:srgbClr val="0E2340"/>
                </a:solidFill>
                <a:latin typeface="Microsoft YaHei"/>
                <a:ea typeface="Microsoft YaHei"/>
              </a:rPr>
              <a:t>传统教学增强模式</a:t>
            </a:r>
            <a:endParaRPr/>
          </a:p>
        </p:txBody>
      </p:sp>
      <p:sp>
        <p:nvSpPr>
          <p:cNvPr id="191" name=""/>
          <p:cNvSpPr/>
          <p:nvPr/>
        </p:nvSpPr>
        <p:spPr>
          <a:xfrm rot="0" flipH="0" flipV="0">
            <a:off x="800100" y="4314825"/>
            <a:ext cx="4953000" cy="600075"/>
          </a:xfrm>
          <a:prstGeom prst="roundRect">
            <a:avLst>
              <a:gd name="adj" fmla="val 9524"/>
            </a:avLst>
          </a:prstGeom>
          <a:solidFill>
            <a:srgbClr val="F5F7FA"/>
          </a:solidFill>
          <a:ln/>
        </p:spPr>
        <p:txBody>
          <a:bodyPr/>
          <a:p/>
        </p:txBody>
      </p:sp>
      <p:sp>
        <p:nvSpPr>
          <p:cNvPr id="192" name=""/>
          <p:cNvSpPr/>
          <p:nvPr/>
        </p:nvSpPr>
        <p:spPr>
          <a:xfrm rot="0" flipH="0" flipV="0">
            <a:off x="800100" y="4314825"/>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193" name="" descr="{&quot;isTemplate&quot;:true,&quot;type&quot;:&quot;text&quot;}"/>
          <p:cNvSpPr txBox="1"/>
          <p:nvPr/>
        </p:nvSpPr>
        <p:spPr>
          <a:xfrm rot="0" flipH="0" flipV="0">
            <a:off x="990600" y="4448175"/>
            <a:ext cx="1962150" cy="333375"/>
          </a:xfrm>
          <a:prstGeom prst="rect"/>
        </p:spPr>
        <p:txBody>
          <a:bodyPr wrap="none" lIns="0" tIns="0" rIns="0" bIns="0"/>
          <a:p>
            <a:pPr>
              <a:lnSpc>
                <a:spcPct val="150000"/>
              </a:lnSpc>
            </a:pPr>
            <a:r>
              <a:rPr lang="zh-CN" sz="1425" b="1">
                <a:solidFill>
                  <a:srgbClr val="0E2340"/>
                </a:solidFill>
                <a:latin typeface="Microsoft YaHei"/>
                <a:ea typeface="Microsoft YaHei"/>
              </a:rPr>
              <a:t>学生六环节</a:t>
            </a:r>
            <a:r>
              <a:rPr lang="en-US" sz="1425" b="1">
                <a:solidFill>
                  <a:srgbClr val="0E2340"/>
                </a:solidFill>
                <a:latin typeface="Microsoft YaHei"/>
                <a:ea typeface="Microsoft YaHei"/>
              </a:rPr>
              <a:t xml:space="preserve"> / </a:t>
            </a:r>
            <a:r>
              <a:rPr lang="zh-CN" sz="1425" b="1">
                <a:solidFill>
                  <a:srgbClr val="0E2340"/>
                </a:solidFill>
                <a:latin typeface="Microsoft YaHei"/>
                <a:ea typeface="Microsoft YaHei"/>
              </a:rPr>
              <a:t>教师六阶段</a:t>
            </a:r>
            <a:endParaRPr/>
          </a:p>
        </p:txBody>
      </p:sp>
      <p:sp>
        <p:nvSpPr>
          <p:cNvPr id="194" name=""/>
          <p:cNvSpPr/>
          <p:nvPr/>
        </p:nvSpPr>
        <p:spPr>
          <a:xfrm rot="0" flipH="0" flipV="0">
            <a:off x="800100" y="5029200"/>
            <a:ext cx="4953000" cy="600075"/>
          </a:xfrm>
          <a:prstGeom prst="roundRect">
            <a:avLst>
              <a:gd name="adj" fmla="val 9524"/>
            </a:avLst>
          </a:prstGeom>
          <a:solidFill>
            <a:srgbClr val="F5F7FA"/>
          </a:solidFill>
          <a:ln/>
        </p:spPr>
        <p:txBody>
          <a:bodyPr/>
          <a:p/>
        </p:txBody>
      </p:sp>
      <p:sp>
        <p:nvSpPr>
          <p:cNvPr id="195" name=""/>
          <p:cNvSpPr/>
          <p:nvPr/>
        </p:nvSpPr>
        <p:spPr>
          <a:xfrm rot="0" flipH="0" flipV="0">
            <a:off x="800100" y="502920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196" name="" descr="{&quot;isTemplate&quot;:true,&quot;type&quot;:&quot;text&quot;}"/>
          <p:cNvSpPr txBox="1"/>
          <p:nvPr/>
        </p:nvSpPr>
        <p:spPr>
          <a:xfrm rot="0" flipH="0" flipV="0">
            <a:off x="990600" y="5162550"/>
            <a:ext cx="1266825" cy="333375"/>
          </a:xfrm>
          <a:prstGeom prst="rect"/>
        </p:spPr>
        <p:txBody>
          <a:bodyPr wrap="none" lIns="0" tIns="0" rIns="0" bIns="0"/>
          <a:p>
            <a:pPr>
              <a:lnSpc>
                <a:spcPct val="150000"/>
              </a:lnSpc>
            </a:pPr>
            <a:r>
              <a:rPr lang="zh-CN" sz="1425" b="1">
                <a:solidFill>
                  <a:srgbClr val="0E2340"/>
                </a:solidFill>
                <a:latin typeface="Microsoft YaHei"/>
                <a:ea typeface="Microsoft YaHei"/>
              </a:rPr>
              <a:t>效果评价的边界</a:t>
            </a:r>
            <a:endParaRPr/>
          </a:p>
        </p:txBody>
      </p:sp>
      <p:sp>
        <p:nvSpPr>
          <p:cNvPr id="197" name="" descr="{&quot;isTemplate&quot;:true,&quot;type&quot;:&quot;text&quot;}"/>
          <p:cNvSpPr txBox="1"/>
          <p:nvPr/>
        </p:nvSpPr>
        <p:spPr>
          <a:xfrm rot="0" flipH="0" flipV="0">
            <a:off x="762000" y="6134100"/>
            <a:ext cx="4953000" cy="228600"/>
          </a:xfrm>
          <a:prstGeom prst="rect"/>
        </p:spPr>
        <p:txBody>
          <a:bodyPr wrap="none" lIns="0" tIns="0" rIns="0" bIns="0"/>
          <a:p>
            <a:pPr>
              <a:lnSpc>
                <a:spcPct val="150000"/>
              </a:lnSpc>
            </a:pPr>
            <a:r>
              <a:rPr lang="zh-CN" sz="975">
                <a:solidFill>
                  <a:srgbClr val="7A8699"/>
                </a:solidFill>
                <a:latin typeface="Microsoft YaHei"/>
                <a:ea typeface="Microsoft YaHei"/>
              </a:rPr>
              <a:t>来源：两种教学模式与应用边界</a:t>
            </a:r>
            <a:r>
              <a:rPr lang="en-US" sz="975">
                <a:solidFill>
                  <a:srgbClr val="7A8699"/>
                </a:solidFill>
                <a:latin typeface="Microsoft YaHei"/>
                <a:ea typeface="Microsoft YaHei"/>
              </a:rPr>
              <a:t>.md</a:t>
            </a:r>
            <a:r>
              <a:rPr lang="zh-CN" sz="975">
                <a:solidFill>
                  <a:srgbClr val="7A8699"/>
                </a:solidFill>
                <a:latin typeface="Microsoft YaHei"/>
                <a:ea typeface="Microsoft YaHei"/>
              </a:rPr>
              <a:t>（更新日期</a:t>
            </a:r>
            <a:r>
              <a:rPr lang="en-US" sz="975">
                <a:solidFill>
                  <a:srgbClr val="7A8699"/>
                </a:solidFill>
                <a:latin typeface="Microsoft YaHei"/>
                <a:ea typeface="Microsoft YaHei"/>
              </a:rPr>
              <a:t xml:space="preserve"> 2026-10-25</a:t>
            </a:r>
            <a:r>
              <a:rPr lang="zh-CN" sz="975">
                <a:solidFill>
                  <a:srgbClr val="7A8699"/>
                </a:solidFill>
                <a:latin typeface="Microsoft YaHei"/>
                <a:ea typeface="Microsoft YaHei"/>
              </a:rPr>
              <a:t>）</a:t>
            </a:r>
            <a:endParaRPr/>
          </a:p>
        </p:txBody>
      </p:sp>
      <p:sp>
        <p:nvSpPr>
          <p:cNvPr id="198" name="" descr="{&quot;isTemplate&quot;:true,&quot;type&quot;:&quot;text&quot;}"/>
          <p:cNvSpPr txBox="1"/>
          <p:nvPr/>
        </p:nvSpPr>
        <p:spPr>
          <a:xfrm rot="0" flipH="0" flipV="0">
            <a:off x="6134100" y="457200"/>
            <a:ext cx="5295900" cy="323850"/>
          </a:xfrm>
          <a:prstGeom prst="rect"/>
        </p:spPr>
        <p:txBody>
          <a:bodyPr wrap="none" lIns="0" tIns="0" rIns="0" bIns="0"/>
          <a:p>
            <a:pPr>
              <a:lnSpc>
                <a:spcPct val="140000"/>
              </a:lnSpc>
            </a:pPr>
            <a:r>
              <a:rPr lang="zh-CN" sz="1500" b="1">
                <a:solidFill>
                  <a:srgbClr val="0E2340"/>
                </a:solidFill>
                <a:latin typeface="Microsoft YaHei"/>
                <a:ea typeface="Microsoft YaHei"/>
              </a:rPr>
              <a:t>汇报结构</a:t>
            </a:r>
            <a:r>
              <a:rPr lang="en-US" sz="1500" b="1">
                <a:solidFill>
                  <a:srgbClr val="0E2340"/>
                </a:solidFill>
                <a:latin typeface="Microsoft YaHei"/>
                <a:ea typeface="Microsoft YaHei"/>
              </a:rPr>
              <a:t xml:space="preserve"> · 13 </a:t>
            </a:r>
            <a:r>
              <a:rPr lang="zh-CN" sz="1500" b="1">
                <a:solidFill>
                  <a:srgbClr val="0E2340"/>
                </a:solidFill>
                <a:latin typeface="Microsoft YaHei"/>
                <a:ea typeface="Microsoft YaHei"/>
              </a:rPr>
              <a:t>章</a:t>
            </a:r>
            <a:endParaRPr/>
          </a:p>
        </p:txBody>
      </p:sp>
      <p:sp>
        <p:nvSpPr>
          <p:cNvPr id="199" name=""/>
          <p:cNvSpPr/>
          <p:nvPr/>
        </p:nvSpPr>
        <p:spPr>
          <a:xfrm rot="0" flipH="0" flipV="0">
            <a:off x="6134100" y="1019175"/>
            <a:ext cx="1638300" cy="609600"/>
          </a:xfrm>
          <a:prstGeom prst="roundRect">
            <a:avLst>
              <a:gd name="adj" fmla="val 9375"/>
            </a:avLst>
          </a:prstGeom>
          <a:solidFill>
            <a:srgbClr val="F5F7FA"/>
          </a:solidFill>
          <a:ln/>
        </p:spPr>
        <p:txBody>
          <a:bodyPr/>
          <a:p/>
        </p:txBody>
      </p:sp>
      <p:sp>
        <p:nvSpPr>
          <p:cNvPr id="200" name="" descr="{&quot;isTemplate&quot;:true,&quot;type&quot;:&quot;text&quot;}"/>
          <p:cNvSpPr txBox="1"/>
          <p:nvPr/>
        </p:nvSpPr>
        <p:spPr>
          <a:xfrm rot="0" flipH="0" flipV="0">
            <a:off x="62484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01</a:t>
            </a:r>
            <a:endParaRPr/>
          </a:p>
        </p:txBody>
      </p:sp>
      <p:sp>
        <p:nvSpPr>
          <p:cNvPr id="201" name="" descr="{&quot;isTemplate&quot;:true,&quot;type&quot;:&quot;text&quot;}"/>
          <p:cNvSpPr txBox="1"/>
          <p:nvPr/>
        </p:nvSpPr>
        <p:spPr>
          <a:xfrm rot="0" flipH="0" flipV="0">
            <a:off x="62484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概念地基</a:t>
            </a:r>
            <a:endParaRPr/>
          </a:p>
        </p:txBody>
      </p:sp>
      <p:sp>
        <p:nvSpPr>
          <p:cNvPr id="202" name=""/>
          <p:cNvSpPr/>
          <p:nvPr/>
        </p:nvSpPr>
        <p:spPr>
          <a:xfrm rot="0" flipH="0" flipV="0">
            <a:off x="7867650" y="1019175"/>
            <a:ext cx="1638300" cy="609600"/>
          </a:xfrm>
          <a:prstGeom prst="roundRect">
            <a:avLst>
              <a:gd name="adj" fmla="val 9375"/>
            </a:avLst>
          </a:prstGeom>
          <a:solidFill>
            <a:srgbClr val="F5F7FA"/>
          </a:solidFill>
          <a:ln/>
        </p:spPr>
        <p:txBody>
          <a:bodyPr/>
          <a:p/>
        </p:txBody>
      </p:sp>
      <p:sp>
        <p:nvSpPr>
          <p:cNvPr id="203" name="" descr="{&quot;isTemplate&quot;:true,&quot;type&quot;:&quot;text&quot;}"/>
          <p:cNvSpPr txBox="1"/>
          <p:nvPr/>
        </p:nvSpPr>
        <p:spPr>
          <a:xfrm rot="0" flipH="0" flipV="0">
            <a:off x="798195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02</a:t>
            </a:r>
            <a:endParaRPr/>
          </a:p>
        </p:txBody>
      </p:sp>
      <p:sp>
        <p:nvSpPr>
          <p:cNvPr id="204" name="" descr="{&quot;isTemplate&quot;:true,&quot;type&quot;:&quot;text&quot;}"/>
          <p:cNvSpPr txBox="1"/>
          <p:nvPr/>
        </p:nvSpPr>
        <p:spPr>
          <a:xfrm rot="0" flipH="0" flipV="0">
            <a:off x="798195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现状盘点</a:t>
            </a:r>
            <a:endParaRPr/>
          </a:p>
        </p:txBody>
      </p:sp>
      <p:sp>
        <p:nvSpPr>
          <p:cNvPr id="205" name=""/>
          <p:cNvSpPr/>
          <p:nvPr/>
        </p:nvSpPr>
        <p:spPr>
          <a:xfrm rot="0" flipH="0" flipV="0">
            <a:off x="9601200" y="1019175"/>
            <a:ext cx="1638300" cy="609600"/>
          </a:xfrm>
          <a:prstGeom prst="roundRect">
            <a:avLst>
              <a:gd name="adj" fmla="val 9375"/>
            </a:avLst>
          </a:prstGeom>
          <a:solidFill>
            <a:srgbClr val="F5F7FA"/>
          </a:solidFill>
          <a:ln/>
        </p:spPr>
        <p:txBody>
          <a:bodyPr/>
          <a:p/>
        </p:txBody>
      </p:sp>
      <p:sp>
        <p:nvSpPr>
          <p:cNvPr id="206" name="" descr="{&quot;isTemplate&quot;:true,&quot;type&quot;:&quot;text&quot;}"/>
          <p:cNvSpPr txBox="1"/>
          <p:nvPr/>
        </p:nvSpPr>
        <p:spPr>
          <a:xfrm rot="0" flipH="0" flipV="0">
            <a:off x="97155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03</a:t>
            </a:r>
            <a:endParaRPr/>
          </a:p>
        </p:txBody>
      </p:sp>
      <p:sp>
        <p:nvSpPr>
          <p:cNvPr id="207" name="" descr="{&quot;isTemplate&quot;:true,&quot;type&quot;:&quot;text&quot;}"/>
          <p:cNvSpPr txBox="1"/>
          <p:nvPr/>
        </p:nvSpPr>
        <p:spPr>
          <a:xfrm rot="0" flipH="0" flipV="0">
            <a:off x="97155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单题引擎</a:t>
            </a:r>
            <a:endParaRPr/>
          </a:p>
        </p:txBody>
      </p:sp>
      <p:sp>
        <p:nvSpPr>
          <p:cNvPr id="208" name=""/>
          <p:cNvSpPr/>
          <p:nvPr/>
        </p:nvSpPr>
        <p:spPr>
          <a:xfrm rot="0" flipH="0" flipV="0">
            <a:off x="6134100" y="1724025"/>
            <a:ext cx="1638300" cy="609600"/>
          </a:xfrm>
          <a:prstGeom prst="roundRect">
            <a:avLst>
              <a:gd name="adj" fmla="val 9375"/>
            </a:avLst>
          </a:prstGeom>
          <a:solidFill>
            <a:srgbClr val="F5F7FA"/>
          </a:solidFill>
          <a:ln/>
        </p:spPr>
        <p:txBody>
          <a:bodyPr/>
          <a:p/>
        </p:txBody>
      </p:sp>
      <p:sp>
        <p:nvSpPr>
          <p:cNvPr id="209" name="" descr="{&quot;isTemplate&quot;:true,&quot;type&quot;:&quot;text&quot;}"/>
          <p:cNvSpPr txBox="1"/>
          <p:nvPr/>
        </p:nvSpPr>
        <p:spPr>
          <a:xfrm rot="0" flipH="0" flipV="0">
            <a:off x="62484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04</a:t>
            </a:r>
            <a:endParaRPr/>
          </a:p>
        </p:txBody>
      </p:sp>
      <p:sp>
        <p:nvSpPr>
          <p:cNvPr id="210" name="" descr="{&quot;isTemplate&quot;:true,&quot;type&quot;:&quot;text&quot;}"/>
          <p:cNvSpPr txBox="1"/>
          <p:nvPr/>
        </p:nvSpPr>
        <p:spPr>
          <a:xfrm rot="0" flipH="0" flipV="0">
            <a:off x="62484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套路层面</a:t>
            </a:r>
            <a:endParaRPr/>
          </a:p>
        </p:txBody>
      </p:sp>
      <p:sp>
        <p:nvSpPr>
          <p:cNvPr id="211" name=""/>
          <p:cNvSpPr/>
          <p:nvPr/>
        </p:nvSpPr>
        <p:spPr>
          <a:xfrm rot="0" flipH="0" flipV="0">
            <a:off x="7867650" y="1724025"/>
            <a:ext cx="1638300" cy="609600"/>
          </a:xfrm>
          <a:prstGeom prst="roundRect">
            <a:avLst>
              <a:gd name="adj" fmla="val 9375"/>
            </a:avLst>
          </a:prstGeom>
          <a:solidFill>
            <a:srgbClr val="F5F7FA"/>
          </a:solidFill>
          <a:ln/>
        </p:spPr>
        <p:txBody>
          <a:bodyPr/>
          <a:p/>
        </p:txBody>
      </p:sp>
      <p:sp>
        <p:nvSpPr>
          <p:cNvPr id="212" name="" descr="{&quot;isTemplate&quot;:true,&quot;type&quot;:&quot;text&quot;}"/>
          <p:cNvSpPr txBox="1"/>
          <p:nvPr/>
        </p:nvSpPr>
        <p:spPr>
          <a:xfrm rot="0" flipH="0" flipV="0">
            <a:off x="798195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05</a:t>
            </a:r>
            <a:endParaRPr/>
          </a:p>
        </p:txBody>
      </p:sp>
      <p:sp>
        <p:nvSpPr>
          <p:cNvPr id="213" name="" descr="{&quot;isTemplate&quot;:true,&quot;type&quot;:&quot;text&quot;}"/>
          <p:cNvSpPr txBox="1"/>
          <p:nvPr/>
        </p:nvSpPr>
        <p:spPr>
          <a:xfrm rot="0" flipH="0" flipV="0">
            <a:off x="798195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教师端</a:t>
            </a:r>
            <a:endParaRPr/>
          </a:p>
        </p:txBody>
      </p:sp>
      <p:sp>
        <p:nvSpPr>
          <p:cNvPr id="214" name=""/>
          <p:cNvSpPr/>
          <p:nvPr/>
        </p:nvSpPr>
        <p:spPr>
          <a:xfrm rot="0" flipH="0" flipV="0">
            <a:off x="9601200" y="1724025"/>
            <a:ext cx="1638300" cy="609600"/>
          </a:xfrm>
          <a:prstGeom prst="roundRect">
            <a:avLst>
              <a:gd name="adj" fmla="val 9375"/>
            </a:avLst>
          </a:prstGeom>
          <a:solidFill>
            <a:srgbClr val="F5F7FA"/>
          </a:solidFill>
          <a:ln/>
        </p:spPr>
        <p:txBody>
          <a:bodyPr/>
          <a:p/>
        </p:txBody>
      </p:sp>
      <p:sp>
        <p:nvSpPr>
          <p:cNvPr id="215" name="" descr="{&quot;isTemplate&quot;:true,&quot;type&quot;:&quot;text&quot;}"/>
          <p:cNvSpPr txBox="1"/>
          <p:nvPr/>
        </p:nvSpPr>
        <p:spPr>
          <a:xfrm rot="0" flipH="0" flipV="0">
            <a:off x="97155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06</a:t>
            </a:r>
            <a:endParaRPr/>
          </a:p>
        </p:txBody>
      </p:sp>
      <p:sp>
        <p:nvSpPr>
          <p:cNvPr id="216" name="" descr="{&quot;isTemplate&quot;:true,&quot;type&quot;:&quot;text&quot;}"/>
          <p:cNvSpPr txBox="1"/>
          <p:nvPr/>
        </p:nvSpPr>
        <p:spPr>
          <a:xfrm rot="0" flipH="0" flipV="0">
            <a:off x="97155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学校端</a:t>
            </a:r>
            <a:endParaRPr/>
          </a:p>
        </p:txBody>
      </p:sp>
      <p:sp>
        <p:nvSpPr>
          <p:cNvPr id="217" name=""/>
          <p:cNvSpPr/>
          <p:nvPr/>
        </p:nvSpPr>
        <p:spPr>
          <a:xfrm rot="0" flipH="0" flipV="0">
            <a:off x="6134100" y="2428875"/>
            <a:ext cx="1638300" cy="609600"/>
          </a:xfrm>
          <a:prstGeom prst="roundRect">
            <a:avLst>
              <a:gd name="adj" fmla="val 9375"/>
            </a:avLst>
          </a:prstGeom>
          <a:solidFill>
            <a:srgbClr val="F5F7FA"/>
          </a:solidFill>
          <a:ln/>
        </p:spPr>
        <p:txBody>
          <a:bodyPr/>
          <a:p/>
        </p:txBody>
      </p:sp>
      <p:sp>
        <p:nvSpPr>
          <p:cNvPr id="218" name="" descr="{&quot;isTemplate&quot;:true,&quot;type&quot;:&quot;text&quot;}"/>
          <p:cNvSpPr txBox="1"/>
          <p:nvPr/>
        </p:nvSpPr>
        <p:spPr>
          <a:xfrm rot="0" flipH="0" flipV="0">
            <a:off x="62484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07</a:t>
            </a:r>
            <a:endParaRPr/>
          </a:p>
        </p:txBody>
      </p:sp>
      <p:sp>
        <p:nvSpPr>
          <p:cNvPr id="219" name="" descr="{&quot;isTemplate&quot;:true,&quot;type&quot;:&quot;text&quot;}"/>
          <p:cNvSpPr txBox="1"/>
          <p:nvPr/>
        </p:nvSpPr>
        <p:spPr>
          <a:xfrm rot="0" flipH="0" flipV="0">
            <a:off x="624840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试卷与生涯</a:t>
            </a:r>
            <a:endParaRPr/>
          </a:p>
        </p:txBody>
      </p:sp>
      <p:sp>
        <p:nvSpPr>
          <p:cNvPr id="220" name=""/>
          <p:cNvSpPr/>
          <p:nvPr/>
        </p:nvSpPr>
        <p:spPr>
          <a:xfrm rot="0" flipH="0" flipV="0">
            <a:off x="7867650" y="2428875"/>
            <a:ext cx="1638300" cy="609600"/>
          </a:xfrm>
          <a:prstGeom prst="roundRect">
            <a:avLst>
              <a:gd name="adj" fmla="val 9375"/>
            </a:avLst>
          </a:prstGeom>
          <a:solidFill>
            <a:srgbClr val="F5F7FA"/>
          </a:solidFill>
          <a:ln/>
        </p:spPr>
        <p:txBody>
          <a:bodyPr/>
          <a:p/>
        </p:txBody>
      </p:sp>
      <p:sp>
        <p:nvSpPr>
          <p:cNvPr id="221" name="" descr="{&quot;isTemplate&quot;:true,&quot;type&quot;:&quot;text&quot;}"/>
          <p:cNvSpPr txBox="1"/>
          <p:nvPr/>
        </p:nvSpPr>
        <p:spPr>
          <a:xfrm rot="0" flipH="0" flipV="0">
            <a:off x="798195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08</a:t>
            </a:r>
            <a:endParaRPr/>
          </a:p>
        </p:txBody>
      </p:sp>
      <p:sp>
        <p:nvSpPr>
          <p:cNvPr id="222" name="" descr="{&quot;isTemplate&quot;:true,&quot;type&quot;:&quot;text&quot;}"/>
          <p:cNvSpPr txBox="1"/>
          <p:nvPr/>
        </p:nvSpPr>
        <p:spPr>
          <a:xfrm rot="0" flipH="0" flipV="0">
            <a:off x="798195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协同</a:t>
            </a:r>
            <a:r>
              <a:rPr lang="en-US" sz="975">
                <a:solidFill>
                  <a:srgbClr val="7A8699"/>
                </a:solidFill>
                <a:latin typeface="Microsoft YaHei"/>
                <a:ea typeface="Microsoft YaHei"/>
              </a:rPr>
              <a:t xml:space="preserve"> Agent</a:t>
            </a:r>
            <a:endParaRPr/>
          </a:p>
        </p:txBody>
      </p:sp>
      <p:sp>
        <p:nvSpPr>
          <p:cNvPr id="223" name=""/>
          <p:cNvSpPr/>
          <p:nvPr/>
        </p:nvSpPr>
        <p:spPr>
          <a:xfrm rot="0" flipH="0" flipV="0">
            <a:off x="9601200" y="2428875"/>
            <a:ext cx="1638300" cy="609600"/>
          </a:xfrm>
          <a:prstGeom prst="roundRect">
            <a:avLst>
              <a:gd name="adj" fmla="val 9375"/>
            </a:avLst>
          </a:prstGeom>
          <a:solidFill>
            <a:srgbClr val="F5F7FA"/>
          </a:solidFill>
          <a:ln/>
        </p:spPr>
        <p:txBody>
          <a:bodyPr/>
          <a:p/>
        </p:txBody>
      </p:sp>
      <p:sp>
        <p:nvSpPr>
          <p:cNvPr id="224" name="" descr="{&quot;isTemplate&quot;:true,&quot;type&quot;:&quot;text&quot;}"/>
          <p:cNvSpPr txBox="1"/>
          <p:nvPr/>
        </p:nvSpPr>
        <p:spPr>
          <a:xfrm rot="0" flipH="0" flipV="0">
            <a:off x="97155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09</a:t>
            </a:r>
            <a:endParaRPr/>
          </a:p>
        </p:txBody>
      </p:sp>
      <p:sp>
        <p:nvSpPr>
          <p:cNvPr id="225" name="" descr="{&quot;isTemplate&quot;:true,&quot;type&quot;:&quot;text&quot;}"/>
          <p:cNvSpPr txBox="1"/>
          <p:nvPr/>
        </p:nvSpPr>
        <p:spPr>
          <a:xfrm rot="0" flipH="0" flipV="0">
            <a:off x="9715500" y="2762250"/>
            <a:ext cx="1409700" cy="200025"/>
          </a:xfrm>
          <a:prstGeom prst="rect"/>
        </p:spPr>
        <p:txBody>
          <a:bodyPr wrap="none" lIns="0" tIns="0" rIns="0" bIns="0"/>
          <a:p>
            <a:pPr>
              <a:lnSpc>
                <a:spcPct val="130000"/>
              </a:lnSpc>
            </a:pPr>
            <a:r>
              <a:rPr lang="en-US" sz="975">
                <a:solidFill>
                  <a:srgbClr val="7A8699"/>
                </a:solidFill>
                <a:latin typeface="Microsoft YaHei"/>
                <a:ea typeface="Microsoft YaHei"/>
              </a:rPr>
              <a:t xml:space="preserve">MCP </a:t>
            </a:r>
            <a:r>
              <a:rPr lang="zh-CN" sz="975">
                <a:solidFill>
                  <a:srgbClr val="7A8699"/>
                </a:solidFill>
                <a:latin typeface="Microsoft YaHei"/>
                <a:ea typeface="Microsoft YaHei"/>
              </a:rPr>
              <a:t>接入</a:t>
            </a:r>
            <a:endParaRPr/>
          </a:p>
        </p:txBody>
      </p:sp>
      <p:sp>
        <p:nvSpPr>
          <p:cNvPr id="226" name=""/>
          <p:cNvSpPr/>
          <p:nvPr/>
        </p:nvSpPr>
        <p:spPr>
          <a:xfrm rot="0" flipH="0" flipV="0">
            <a:off x="6134100" y="3133725"/>
            <a:ext cx="1638300" cy="609600"/>
          </a:xfrm>
          <a:prstGeom prst="roundRect">
            <a:avLst>
              <a:gd name="adj" fmla="val 9375"/>
            </a:avLst>
          </a:prstGeom>
          <a:solidFill>
            <a:srgbClr val="F5F7FA"/>
          </a:solidFill>
          <a:ln/>
        </p:spPr>
        <p:txBody>
          <a:bodyPr/>
          <a:p/>
        </p:txBody>
      </p:sp>
      <p:sp>
        <p:nvSpPr>
          <p:cNvPr id="227" name="" descr="{&quot;isTemplate&quot;:true,&quot;type&quot;:&quot;text&quot;}"/>
          <p:cNvSpPr txBox="1"/>
          <p:nvPr/>
        </p:nvSpPr>
        <p:spPr>
          <a:xfrm rot="0" flipH="0" flipV="0">
            <a:off x="62484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10</a:t>
            </a:r>
            <a:endParaRPr/>
          </a:p>
        </p:txBody>
      </p:sp>
      <p:sp>
        <p:nvSpPr>
          <p:cNvPr id="228" name="" descr="{&quot;isTemplate&quot;:true,&quot;type&quot;:&quot;text&quot;}"/>
          <p:cNvSpPr txBox="1"/>
          <p:nvPr/>
        </p:nvSpPr>
        <p:spPr>
          <a:xfrm rot="0" flipH="0" flipV="0">
            <a:off x="62484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待深化研究</a:t>
            </a:r>
            <a:endParaRPr/>
          </a:p>
        </p:txBody>
      </p:sp>
      <p:sp>
        <p:nvSpPr>
          <p:cNvPr id="229" name=""/>
          <p:cNvSpPr/>
          <p:nvPr/>
        </p:nvSpPr>
        <p:spPr>
          <a:xfrm rot="0" flipH="0" flipV="0">
            <a:off x="7867650" y="3133725"/>
            <a:ext cx="1638300" cy="609600"/>
          </a:xfrm>
          <a:prstGeom prst="roundRect">
            <a:avLst>
              <a:gd name="adj" fmla="val 9375"/>
            </a:avLst>
          </a:prstGeom>
          <a:solidFill>
            <a:srgbClr val="0E2340"/>
          </a:solidFill>
          <a:ln/>
        </p:spPr>
        <p:txBody>
          <a:bodyPr/>
          <a:p/>
        </p:txBody>
      </p:sp>
      <p:sp>
        <p:nvSpPr>
          <p:cNvPr id="230" name="" descr="{&quot;isTemplate&quot;:true,&quot;type&quot;:&quot;text&quot;}"/>
          <p:cNvSpPr txBox="1"/>
          <p:nvPr/>
        </p:nvSpPr>
        <p:spPr>
          <a:xfrm rot="0" flipH="0" flipV="0">
            <a:off x="7981950" y="3219450"/>
            <a:ext cx="1409700" cy="247650"/>
          </a:xfrm>
          <a:prstGeom prst="rect"/>
        </p:spPr>
        <p:txBody>
          <a:bodyPr wrap="none" lIns="0" tIns="0" rIns="0" bIns="0"/>
          <a:p>
            <a:pPr>
              <a:lnSpc>
                <a:spcPct val="120000"/>
              </a:lnSpc>
            </a:pPr>
            <a:r>
              <a:rPr lang="en-US" sz="1350" b="1">
                <a:solidFill>
                  <a:srgbClr val="FFFFFF"/>
                </a:solidFill>
                <a:latin typeface="Microsoft YaHei"/>
                <a:ea typeface="Microsoft YaHei"/>
              </a:rPr>
              <a:t>11</a:t>
            </a:r>
            <a:endParaRPr/>
          </a:p>
        </p:txBody>
      </p:sp>
      <p:sp>
        <p:nvSpPr>
          <p:cNvPr id="231" name="" descr="{&quot;isTemplate&quot;:true,&quot;type&quot;:&quot;text&quot;}"/>
          <p:cNvSpPr txBox="1"/>
          <p:nvPr/>
        </p:nvSpPr>
        <p:spPr>
          <a:xfrm rot="0" flipH="0" flipV="0">
            <a:off x="7981950" y="3467100"/>
            <a:ext cx="1409700" cy="200025"/>
          </a:xfrm>
          <a:prstGeom prst="rect"/>
        </p:spPr>
        <p:txBody>
          <a:bodyPr wrap="none" lIns="0" tIns="0" rIns="0" bIns="0"/>
          <a:p>
            <a:pPr>
              <a:lnSpc>
                <a:spcPct val="130000"/>
              </a:lnSpc>
            </a:pPr>
            <a:r>
              <a:rPr lang="zh-CN" sz="975">
                <a:solidFill>
                  <a:srgbClr val="C8DCF2"/>
                </a:solidFill>
                <a:latin typeface="Microsoft YaHei"/>
                <a:ea typeface="Microsoft YaHei"/>
              </a:rPr>
              <a:t>落地与边界</a:t>
            </a:r>
            <a:endParaRPr/>
          </a:p>
        </p:txBody>
      </p:sp>
      <p:sp>
        <p:nvSpPr>
          <p:cNvPr id="232" name=""/>
          <p:cNvSpPr/>
          <p:nvPr/>
        </p:nvSpPr>
        <p:spPr>
          <a:xfrm rot="0" flipH="0" flipV="0">
            <a:off x="9601200" y="3133725"/>
            <a:ext cx="1638300" cy="609600"/>
          </a:xfrm>
          <a:prstGeom prst="roundRect">
            <a:avLst>
              <a:gd name="adj" fmla="val 9375"/>
            </a:avLst>
          </a:prstGeom>
          <a:solidFill>
            <a:srgbClr val="F5F7FA"/>
          </a:solidFill>
          <a:ln/>
        </p:spPr>
        <p:txBody>
          <a:bodyPr/>
          <a:p/>
        </p:txBody>
      </p:sp>
      <p:sp>
        <p:nvSpPr>
          <p:cNvPr id="233" name="" descr="{&quot;isTemplate&quot;:true,&quot;type&quot;:&quot;text&quot;}"/>
          <p:cNvSpPr txBox="1"/>
          <p:nvPr/>
        </p:nvSpPr>
        <p:spPr>
          <a:xfrm rot="0" flipH="0" flipV="0">
            <a:off x="97155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12</a:t>
            </a:r>
            <a:endParaRPr/>
          </a:p>
        </p:txBody>
      </p:sp>
      <p:sp>
        <p:nvSpPr>
          <p:cNvPr id="234" name="" descr="{&quot;isTemplate&quot;:true,&quot;type&quot;:&quot;text&quot;}"/>
          <p:cNvSpPr txBox="1"/>
          <p:nvPr/>
        </p:nvSpPr>
        <p:spPr>
          <a:xfrm rot="0" flipH="0" flipV="0">
            <a:off x="97155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自进化与扩展</a:t>
            </a:r>
            <a:endParaRPr/>
          </a:p>
        </p:txBody>
      </p:sp>
      <p:sp>
        <p:nvSpPr>
          <p:cNvPr id="235" name=""/>
          <p:cNvSpPr/>
          <p:nvPr/>
        </p:nvSpPr>
        <p:spPr>
          <a:xfrm rot="0" flipH="0" flipV="0">
            <a:off x="6134100" y="3838575"/>
            <a:ext cx="1638300" cy="609600"/>
          </a:xfrm>
          <a:prstGeom prst="roundRect">
            <a:avLst>
              <a:gd name="adj" fmla="val 9375"/>
            </a:avLst>
          </a:prstGeom>
          <a:solidFill>
            <a:srgbClr val="F5F7FA"/>
          </a:solidFill>
          <a:ln/>
        </p:spPr>
        <p:txBody>
          <a:bodyPr/>
          <a:p/>
        </p:txBody>
      </p:sp>
      <p:sp>
        <p:nvSpPr>
          <p:cNvPr id="236" name="" descr="{&quot;isTemplate&quot;:true,&quot;type&quot;:&quot;text&quot;}"/>
          <p:cNvSpPr txBox="1"/>
          <p:nvPr/>
        </p:nvSpPr>
        <p:spPr>
          <a:xfrm rot="0" flipH="0" flipV="0">
            <a:off x="6248400" y="39243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13</a:t>
            </a:r>
            <a:endParaRPr/>
          </a:p>
        </p:txBody>
      </p:sp>
      <p:sp>
        <p:nvSpPr>
          <p:cNvPr id="237" name="" descr="{&quot;isTemplate&quot;:true,&quot;type&quot;:&quot;text&quot;}"/>
          <p:cNvSpPr txBox="1"/>
          <p:nvPr/>
        </p:nvSpPr>
        <p:spPr>
          <a:xfrm rot="0" flipH="0" flipV="0">
            <a:off x="6248400" y="41719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收尾</a:t>
            </a:r>
            <a:endParaRPr/>
          </a:p>
        </p:txBody>
      </p:sp>
      <p:sp>
        <p:nvSpPr>
          <p:cNvPr id="238" name=""/>
          <p:cNvSpPr/>
          <p:nvPr/>
        </p:nvSpPr>
        <p:spPr>
          <a:xfrm rot="0" flipH="0" flipV="0">
            <a:off x="6134100" y="4686300"/>
            <a:ext cx="5295900" cy="438150"/>
          </a:xfrm>
          <a:prstGeom prst="roundRect">
            <a:avLst>
              <a:gd name="adj" fmla="val 13043"/>
            </a:avLst>
          </a:prstGeom>
          <a:solidFill>
            <a:srgbClr val="F5F7FA"/>
          </a:solidFill>
          <a:ln/>
        </p:spPr>
        <p:txBody>
          <a:bodyPr/>
          <a:p/>
        </p:txBody>
      </p:sp>
      <p:sp>
        <p:nvSpPr>
          <p:cNvPr id="239" name=""/>
          <p:cNvSpPr/>
          <p:nvPr/>
        </p:nvSpPr>
        <p:spPr>
          <a:xfrm rot="0" flipH="0" flipV="0">
            <a:off x="6267450" y="4800600"/>
            <a:ext cx="57150" cy="209550"/>
          </a:xfrm>
          <a:prstGeom prst="rect">
            <a:avLst/>
          </a:prstGeom>
          <a:solidFill>
            <a:srgbClr val="00A9B5"/>
          </a:solidFill>
          <a:ln/>
        </p:spPr>
        <p:txBody>
          <a:bodyPr/>
          <a:p/>
        </p:txBody>
      </p:sp>
      <p:sp>
        <p:nvSpPr>
          <p:cNvPr id="240" name="" descr="{&quot;isTemplate&quot;:true,&quot;type&quot;:&quot;text&quot;}"/>
          <p:cNvSpPr txBox="1"/>
          <p:nvPr/>
        </p:nvSpPr>
        <p:spPr>
          <a:xfrm rot="0" flipH="0" flipV="0">
            <a:off x="6419850" y="4781550"/>
            <a:ext cx="2076450" cy="247650"/>
          </a:xfrm>
          <a:prstGeom prst="rect"/>
        </p:spPr>
        <p:txBody>
          <a:bodyPr wrap="none" lIns="0" tIns="0" rIns="0" bIns="0"/>
          <a:p>
            <a:pPr>
              <a:lnSpc>
                <a:spcPct val="140000"/>
              </a:lnSpc>
            </a:pPr>
            <a:r>
              <a:rPr lang="zh-CN" sz="1125" b="1">
                <a:solidFill>
                  <a:srgbClr val="0E2340"/>
                </a:solidFill>
                <a:latin typeface="Microsoft YaHei"/>
                <a:ea typeface="Microsoft YaHei"/>
              </a:rPr>
              <a:t>当前位置：第</a:t>
            </a:r>
            <a:r>
              <a:rPr lang="en-US" sz="1125" b="1">
                <a:solidFill>
                  <a:srgbClr val="0E2340"/>
                </a:solidFill>
                <a:latin typeface="Microsoft YaHei"/>
                <a:ea typeface="Microsoft YaHei"/>
              </a:rPr>
              <a:t xml:space="preserve"> 11 </a:t>
            </a:r>
            <a:r>
              <a:rPr lang="zh-CN" sz="1125" b="1">
                <a:solidFill>
                  <a:srgbClr val="0E2340"/>
                </a:solidFill>
                <a:latin typeface="Microsoft YaHei"/>
                <a:ea typeface="Microsoft YaHei"/>
              </a:rPr>
              <a:t>章</a:t>
            </a:r>
            <a:r>
              <a:rPr lang="en-US" sz="1125" b="1">
                <a:solidFill>
                  <a:srgbClr val="0E2340"/>
                </a:solidFill>
                <a:latin typeface="Microsoft YaHei"/>
                <a:ea typeface="Microsoft YaHei"/>
              </a:rPr>
              <a:t xml:space="preserve"> · </a:t>
            </a:r>
            <a:r>
              <a:rPr lang="zh-CN" sz="1125" b="1">
                <a:solidFill>
                  <a:srgbClr val="0E2340"/>
                </a:solidFill>
                <a:latin typeface="Microsoft YaHei"/>
                <a:ea typeface="Microsoft YaHei"/>
              </a:rPr>
              <a:t>落地与边界</a:t>
            </a:r>
            <a:endParaRPr/>
          </a:p>
        </p:txBody>
      </p:sp>
      <p:sp>
        <p:nvSpPr>
          <p:cNvPr id="241" name=""/>
          <p:cNvSpPr/>
          <p:nvPr/>
        </p:nvSpPr>
        <p:spPr>
          <a:xfrm rot="0" flipH="0" flipV="0">
            <a:off x="6134100" y="5353050"/>
            <a:ext cx="1257300" cy="381000"/>
          </a:xfrm>
          <a:prstGeom prst="roundRect">
            <a:avLst>
              <a:gd name="adj" fmla="val 15000"/>
            </a:avLst>
          </a:prstGeom>
          <a:solidFill>
            <a:srgbClr val="F5F7FA"/>
          </a:solidFill>
          <a:ln/>
        </p:spPr>
        <p:txBody>
          <a:bodyPr/>
          <a:p/>
        </p:txBody>
      </p:sp>
      <p:sp>
        <p:nvSpPr>
          <p:cNvPr id="242" name=""/>
          <p:cNvSpPr/>
          <p:nvPr/>
        </p:nvSpPr>
        <p:spPr>
          <a:xfrm rot="0" flipH="0" flipV="0">
            <a:off x="6229350" y="5495925"/>
            <a:ext cx="95250" cy="95250"/>
          </a:xfrm>
          <a:prstGeom prst="roundRect">
            <a:avLst>
              <a:gd name="adj" fmla="val 50000"/>
            </a:avLst>
          </a:prstGeom>
          <a:solidFill>
            <a:srgbClr val="1E9E62"/>
          </a:solidFill>
          <a:ln/>
        </p:spPr>
        <p:txBody>
          <a:bodyPr/>
          <a:p/>
        </p:txBody>
      </p:sp>
      <p:sp>
        <p:nvSpPr>
          <p:cNvPr id="243" name="" descr="{&quot;isTemplate&quot;:true,&quot;type&quot;:&quot;text&quot;}"/>
          <p:cNvSpPr txBox="1"/>
          <p:nvPr/>
        </p:nvSpPr>
        <p:spPr>
          <a:xfrm rot="0" flipH="0" flipV="0">
            <a:off x="6400800"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已实现</a:t>
            </a:r>
            <a:endParaRPr/>
          </a:p>
        </p:txBody>
      </p:sp>
      <p:sp>
        <p:nvSpPr>
          <p:cNvPr id="244" name=""/>
          <p:cNvSpPr/>
          <p:nvPr/>
        </p:nvSpPr>
        <p:spPr>
          <a:xfrm rot="0" flipH="0" flipV="0">
            <a:off x="7486650" y="5353050"/>
            <a:ext cx="1247775" cy="381000"/>
          </a:xfrm>
          <a:prstGeom prst="roundRect">
            <a:avLst>
              <a:gd name="adj" fmla="val 15000"/>
            </a:avLst>
          </a:prstGeom>
          <a:solidFill>
            <a:srgbClr val="F5F7FA"/>
          </a:solidFill>
          <a:ln/>
        </p:spPr>
        <p:txBody>
          <a:bodyPr/>
          <a:p/>
        </p:txBody>
      </p:sp>
      <p:sp>
        <p:nvSpPr>
          <p:cNvPr id="245" name=""/>
          <p:cNvSpPr/>
          <p:nvPr/>
        </p:nvSpPr>
        <p:spPr>
          <a:xfrm rot="0" flipH="0" flipV="0">
            <a:off x="7581900" y="5495925"/>
            <a:ext cx="95250" cy="95250"/>
          </a:xfrm>
          <a:prstGeom prst="roundRect">
            <a:avLst>
              <a:gd name="adj" fmla="val 50000"/>
            </a:avLst>
          </a:prstGeom>
          <a:solidFill>
            <a:srgbClr val="E8A33D"/>
          </a:solidFill>
          <a:ln/>
        </p:spPr>
        <p:txBody>
          <a:bodyPr/>
          <a:p/>
        </p:txBody>
      </p:sp>
      <p:sp>
        <p:nvSpPr>
          <p:cNvPr id="246" name="" descr="{&quot;isTemplate&quot;:true,&quot;type&quot;:&quot;text&quot;}"/>
          <p:cNvSpPr txBox="1"/>
          <p:nvPr/>
        </p:nvSpPr>
        <p:spPr>
          <a:xfrm rot="0" flipH="0" flipV="0">
            <a:off x="7753350" y="5438775"/>
            <a:ext cx="533400" cy="209550"/>
          </a:xfrm>
          <a:prstGeom prst="rect"/>
        </p:spPr>
        <p:txBody>
          <a:bodyPr wrap="none" lIns="0" tIns="0" rIns="0" bIns="0"/>
          <a:p>
            <a:pPr>
              <a:lnSpc>
                <a:spcPct val="130000"/>
              </a:lnSpc>
            </a:pPr>
            <a:r>
              <a:rPr lang="zh-CN" sz="1050" b="1">
                <a:solidFill>
                  <a:srgbClr val="333A45"/>
                </a:solidFill>
                <a:latin typeface="Microsoft YaHei"/>
                <a:ea typeface="Microsoft YaHei"/>
              </a:rPr>
              <a:t>部分实现</a:t>
            </a:r>
            <a:endParaRPr/>
          </a:p>
        </p:txBody>
      </p:sp>
      <p:sp>
        <p:nvSpPr>
          <p:cNvPr id="247" name=""/>
          <p:cNvSpPr/>
          <p:nvPr/>
        </p:nvSpPr>
        <p:spPr>
          <a:xfrm rot="0" flipH="0" flipV="0">
            <a:off x="8829675" y="5353050"/>
            <a:ext cx="1257300" cy="381000"/>
          </a:xfrm>
          <a:prstGeom prst="roundRect">
            <a:avLst>
              <a:gd name="adj" fmla="val 15000"/>
            </a:avLst>
          </a:prstGeom>
          <a:solidFill>
            <a:srgbClr val="F5F7FA"/>
          </a:solidFill>
          <a:ln/>
        </p:spPr>
        <p:txBody>
          <a:bodyPr/>
          <a:p/>
        </p:txBody>
      </p:sp>
      <p:sp>
        <p:nvSpPr>
          <p:cNvPr id="248" name=""/>
          <p:cNvSpPr/>
          <p:nvPr/>
        </p:nvSpPr>
        <p:spPr>
          <a:xfrm rot="0" flipH="0" flipV="0">
            <a:off x="8924925" y="5495925"/>
            <a:ext cx="95250" cy="95250"/>
          </a:xfrm>
          <a:prstGeom prst="roundRect">
            <a:avLst>
              <a:gd name="adj" fmla="val 50000"/>
            </a:avLst>
          </a:prstGeom>
          <a:solidFill>
            <a:srgbClr val="1E7BE0"/>
          </a:solidFill>
          <a:ln/>
        </p:spPr>
        <p:txBody>
          <a:bodyPr/>
          <a:p/>
        </p:txBody>
      </p:sp>
      <p:sp>
        <p:nvSpPr>
          <p:cNvPr id="249" name="" descr="{&quot;isTemplate&quot;:true,&quot;type&quot;:&quot;text&quot;}"/>
          <p:cNvSpPr txBox="1"/>
          <p:nvPr/>
        </p:nvSpPr>
        <p:spPr>
          <a:xfrm rot="0" flipH="0" flipV="0">
            <a:off x="909637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设计中</a:t>
            </a:r>
            <a:endParaRPr/>
          </a:p>
        </p:txBody>
      </p:sp>
      <p:sp>
        <p:nvSpPr>
          <p:cNvPr id="250" name=""/>
          <p:cNvSpPr/>
          <p:nvPr/>
        </p:nvSpPr>
        <p:spPr>
          <a:xfrm rot="0" flipH="0" flipV="0">
            <a:off x="10182225" y="5353050"/>
            <a:ext cx="1247775" cy="381000"/>
          </a:xfrm>
          <a:prstGeom prst="roundRect">
            <a:avLst>
              <a:gd name="adj" fmla="val 15000"/>
            </a:avLst>
          </a:prstGeom>
          <a:solidFill>
            <a:srgbClr val="F5F7FA"/>
          </a:solidFill>
          <a:ln/>
        </p:spPr>
        <p:txBody>
          <a:bodyPr/>
          <a:p/>
        </p:txBody>
      </p:sp>
      <p:sp>
        <p:nvSpPr>
          <p:cNvPr id="251" name=""/>
          <p:cNvSpPr/>
          <p:nvPr/>
        </p:nvSpPr>
        <p:spPr>
          <a:xfrm rot="0" flipH="0" flipV="0">
            <a:off x="10277475" y="5495925"/>
            <a:ext cx="95250" cy="95250"/>
          </a:xfrm>
          <a:prstGeom prst="roundRect">
            <a:avLst>
              <a:gd name="adj" fmla="val 50000"/>
            </a:avLst>
          </a:prstGeom>
          <a:solidFill>
            <a:srgbClr val="98A2B3"/>
          </a:solidFill>
          <a:ln/>
        </p:spPr>
        <p:txBody>
          <a:bodyPr/>
          <a:p/>
        </p:txBody>
      </p:sp>
      <p:sp>
        <p:nvSpPr>
          <p:cNvPr id="252" name="" descr="{&quot;isTemplate&quot;:true,&quot;type&quot;:&quot;text&quot;}"/>
          <p:cNvSpPr txBox="1"/>
          <p:nvPr/>
        </p:nvSpPr>
        <p:spPr>
          <a:xfrm rot="0" flipH="0" flipV="0">
            <a:off x="1044892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待研究</a:t>
            </a:r>
            <a:endParaRPr/>
          </a:p>
        </p:txBody>
      </p:sp>
      <p:sp>
        <p:nvSpPr>
          <p:cNvPr id="253" name=""/>
          <p:cNvSpPr/>
          <p:nvPr/>
        </p:nvSpPr>
        <p:spPr>
          <a:xfrm rot="0" flipH="0" flipV="0">
            <a:off x="6134100" y="5972175"/>
            <a:ext cx="5295900" cy="400050"/>
          </a:xfrm>
          <a:custGeom>
            <a:pathLst>
              <a:path w="556" h="42">
                <a:moveTo>
                  <a:pt x="0" y="0"/>
                </a:moveTo>
                <a:lnTo>
                  <a:pt x="556" y="0"/>
                </a:lnTo>
                <a:lnTo>
                  <a:pt x="556" y="1"/>
                </a:lnTo>
                <a:lnTo>
                  <a:pt x="0" y="1"/>
                </a:lnTo>
                <a:close/>
              </a:path>
            </a:pathLst>
          </a:custGeom>
          <a:solidFill>
            <a:srgbClr val="E3E8EF"/>
          </a:solidFill>
          <a:ln/>
        </p:spPr>
        <p:txBody>
          <a:bodyPr/>
          <a:p/>
        </p:txBody>
      </p:sp>
      <p:sp>
        <p:nvSpPr>
          <p:cNvPr id="254" name=""/>
          <p:cNvSpPr/>
          <p:nvPr/>
        </p:nvSpPr>
        <p:spPr>
          <a:xfrm rot="0" flipH="0" flipV="0">
            <a:off x="6134100" y="6219825"/>
            <a:ext cx="438150" cy="47625"/>
          </a:xfrm>
          <a:prstGeom prst="rect">
            <a:avLst/>
          </a:prstGeom>
          <a:solidFill>
            <a:srgbClr val="00A9B5"/>
          </a:solidFill>
          <a:ln/>
        </p:spPr>
        <p:txBody>
          <a:bodyPr/>
          <a:p/>
        </p:txBody>
      </p:sp>
      <p:sp>
        <p:nvSpPr>
          <p:cNvPr id="255" name="" descr="{&quot;isTemplate&quot;:true,&quot;type&quot;:&quot;text&quot;}"/>
          <p:cNvSpPr txBox="1"/>
          <p:nvPr/>
        </p:nvSpPr>
        <p:spPr>
          <a:xfrm rot="0" flipH="0" flipV="0">
            <a:off x="6686550" y="6115050"/>
            <a:ext cx="3276600" cy="247650"/>
          </a:xfrm>
          <a:prstGeom prst="rect"/>
        </p:spPr>
        <p:txBody>
          <a:bodyPr wrap="none" lIns="0" tIns="0" rIns="0" bIns="0"/>
          <a:p>
            <a:pPr>
              <a:lnSpc>
                <a:spcPct val="140000"/>
              </a:lnSpc>
            </a:pPr>
            <a:r>
              <a:rPr lang="en-US" sz="1125" b="1">
                <a:solidFill>
                  <a:srgbClr val="7A8699"/>
                </a:solidFill>
                <a:latin typeface="Microsoft YaHei"/>
                <a:ea typeface="Microsoft YaHei"/>
              </a:rPr>
              <a:t xml:space="preserve">StudyAgent </a:t>
            </a:r>
            <a:r>
              <a:rPr lang="zh-CN" sz="1125" b="1">
                <a:solidFill>
                  <a:srgbClr val="7A8699"/>
                </a:solidFill>
                <a:latin typeface="Microsoft YaHei"/>
                <a:ea typeface="Microsoft YaHei"/>
              </a:rPr>
              <a:t>项目设计汇报</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技术评审版</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共</a:t>
            </a:r>
            <a:r>
              <a:rPr lang="en-US" sz="1125" b="1">
                <a:solidFill>
                  <a:srgbClr val="7A8699"/>
                </a:solidFill>
                <a:latin typeface="Microsoft YaHei"/>
                <a:ea typeface="Microsoft YaHei"/>
              </a:rPr>
              <a:t xml:space="preserve"> 124 </a:t>
            </a:r>
            <a:r>
              <a:rPr lang="zh-CN" sz="1125" b="1">
                <a:solidFill>
                  <a:srgbClr val="7A8699"/>
                </a:solidFill>
                <a:latin typeface="Microsoft YaHei"/>
                <a:ea typeface="Microsoft YaHei"/>
              </a:rPr>
              <a:t>页</a:t>
            </a:r>
            <a:endParaRPr/>
          </a:p>
        </p:txBody>
      </p:sp>
    </p:spTree>
  </p:cSld>
</p:sld>
</file>

<file path=ppt/slides/slide105.xml><?xml version="1.0" encoding="utf-8"?>
<p:sld xmlns:p="http://schemas.openxmlformats.org/presentationml/2006/main" xmlns:a="http://schemas.openxmlformats.org/drawingml/2006/main">
  <p:cSld>
    <p:spTree>
      <p:nvGrpSpPr>
        <p:cNvPr id="256"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1 / 落地与边界&lt;/Text&gt;&lt;Text style={{ fontSize: 32, color: '#0E2340', fontWeight: 700, lineHeight: 1.3 }}&gt;两种模式分别改变什么&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8 }}&gt;&lt;Box style={{ flexDirection: 'row', gap: 20 }}&gt;&lt;Box style={{ width: 560, background: '#FFFFFF', border: '1px solid #E3E8EF', borderRadius: 8, overflow: 'hidden', flexDirection: 'column' }}&gt;&lt;Box style={{ height: 4, background: 'linear-gradient(90deg, #1E7BE0 0%, #00A9B5 100%)' }} /&gt;&lt;Box style={{ flexDirection: 'column', gap: 10, padding: 20, flex: 1 }}&gt;&lt;Text style={{ fontSize: 22, color: '#0E2340', fontWeight: 700, lineHeight: 1.4 }}&gt;完整系统模式&lt;/Text&gt;&lt;Text style={{ fontSize: 17, color: '#333A45', fontWeight: 400, lineHeight: 1.6 }}&gt;以学生的持续学习证据和系统中的课程关系组织默认流程；课前诊断、课堂、作业、套路训练、考试与复习共同更新长期记录，个人 AI 助教与教师据此安排下一步。它会改变传统统一进度、统一作业与统一复习的主要组织方式。&lt;/Text&gt;&lt;/Box&gt;&lt;/Box&gt;&lt;Box style={{ width: 560, background: '#FFFFFF', border: '1px solid #E3E8EF', borderRadius: 8, overflow: 'hidden', flexDirection: 'column' }}&gt;&lt;Box style={{ height: 4, background: 'linear-gradient(90deg, #1E7BE0 0%, #00A9B5 100%)' }} /&gt;&lt;Box style={{ flexDirection: 'column', gap: 10, padding: 20, flex: 1 }}&gt;&lt;Text style={{ fontSize: 22, color: '#1E7BE0', fontWeight: 700, lineHeight: 1.4 }}&gt;传统教学增强模式&lt;/Text&gt;&lt;Text style={{ fontSize: 17, color: '#333A45', fontWeight: 400, lineHeight: 1.6 }}&gt;保留学校原有课程进度、课堂组织、作业和考试制度，在需要的环节引入备课、演示、批改、出卷、错题或个别辅导。即使没有完整个人历史，也能使用相应局部能力。&lt;/Text&gt;&lt;/Box&gt;&lt;/Box&gt;&lt;/Box&gt;&lt;Box style={{ flexDirection: 'row', alignItems: 'center', background: '#F5F7FA', borderLeft: '4px solid #00A9B5', borderRadius: 6, padding: '14px 20px' }}&gt;&lt;Text style={{ fontSize: 17, color: '#0E2340', fontWeight: 600, lineHeight: 1.5 }}&gt;三条保留底线：两者都保留教师教学与学生独立思考；完整模式的重点是重组流程，不意味着取消课堂、教师、共同课程目标或独立考试&lt;/Text&gt;&lt;/Box&gt;&lt;/Box&gt;&lt;/Box&gt;&lt;Box style={{ height: 40, flexDirection: 'row', justifyContent: 'space-between', alignItems: 'center', borderTop: '1px solid #E3E8EF', marginTop: 8 }}&gt;&lt;Text style={{ fontSize: 13, color: '#7A8699', fontWeight: 400, lineHeight: 1.4 }}&gt;依据：两种教学模式与应用边界.md §1&lt;/Text&gt;&lt;Text style={{ fontSize: 14, color: '#7A8699', fontWeight: 400, lineHeight: 1.4 }}&gt; 105 / 124 &lt;/Text&gt;&lt;/Box&gt;&lt;/Slide&gt;"/>
        <p:cNvGrpSpPr/>
        <p:nvPr/>
      </p:nvGrpSpPr>
      <p:grpSpPr>
        <a:xfrm>
          <a:off x="0" y="0"/>
          <a:ext cx="0" cy="0"/>
          <a:chOff x="0" y="0"/>
          <a:chExt cx="0" cy="0"/>
        </a:xfrm>
      </p:grpSpPr>
      <p:sp>
        <p:nvSpPr>
          <p:cNvPr id="257" name=""/>
          <p:cNvSpPr/>
          <p:nvPr/>
        </p:nvSpPr>
        <p:spPr>
          <a:xfrm rot="0" flipH="0" flipV="0">
            <a:off x="0" y="0"/>
            <a:ext cx="12192000" cy="6858000"/>
          </a:xfrm>
          <a:prstGeom prst="rect">
            <a:avLst/>
          </a:prstGeom>
          <a:solidFill>
            <a:srgbClr val="FFFFFF"/>
          </a:solidFill>
          <a:ln/>
        </p:spPr>
        <p:txBody>
          <a:bodyPr/>
          <a:p/>
        </p:txBody>
      </p:sp>
      <p:sp>
        <p:nvSpPr>
          <p:cNvPr id="258" name="" descr="{&quot;isTemplate&quot;:true,&quot;type&quot;:&quot;text&quot;}"/>
          <p:cNvSpPr txBox="1"/>
          <p:nvPr/>
        </p:nvSpPr>
        <p:spPr>
          <a:xfrm rot="0" flipH="0" flipV="0">
            <a:off x="666750" y="381000"/>
            <a:ext cx="30480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11 / </a:t>
            </a:r>
            <a:r>
              <a:rPr lang="zh-CN" sz="1050" spc="75">
                <a:solidFill>
                  <a:srgbClr val="7A8699"/>
                </a:solidFill>
                <a:latin typeface="Microsoft YaHei"/>
                <a:ea typeface="Microsoft YaHei"/>
              </a:rPr>
              <a:t>落地与边界</a:t>
            </a:r>
            <a:endParaRPr/>
          </a:p>
        </p:txBody>
      </p:sp>
      <p:sp>
        <p:nvSpPr>
          <p:cNvPr id="259" name="" descr="{&quot;isTemplate&quot;:true,&quot;type&quot;:&quot;text&quot;}"/>
          <p:cNvSpPr txBox="1"/>
          <p:nvPr/>
        </p:nvSpPr>
        <p:spPr>
          <a:xfrm rot="0" flipH="0" flipV="0">
            <a:off x="666750" y="666750"/>
            <a:ext cx="3048000" cy="476250"/>
          </a:xfrm>
          <a:prstGeom prst="rect"/>
        </p:spPr>
        <p:txBody>
          <a:bodyPr wrap="none" lIns="0" tIns="0" rIns="0" bIns="0"/>
          <a:p>
            <a:pPr>
              <a:lnSpc>
                <a:spcPct val="130000"/>
              </a:lnSpc>
            </a:pPr>
            <a:r>
              <a:rPr lang="zh-CN" sz="2400" b="1">
                <a:solidFill>
                  <a:srgbClr val="0E2340"/>
                </a:solidFill>
                <a:latin typeface="Microsoft YaHei"/>
                <a:ea typeface="Microsoft YaHei"/>
              </a:rPr>
              <a:t>两种模式分别改变什么</a:t>
            </a:r>
            <a:endParaRPr/>
          </a:p>
        </p:txBody>
      </p:sp>
      <p:sp>
        <p:nvSpPr>
          <p:cNvPr id="260"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61"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262" name=""/>
          <p:cNvSpPr/>
          <p:nvPr/>
        </p:nvSpPr>
        <p:spPr>
          <a:xfrm rot="0" flipH="0" flipV="0">
            <a:off x="666750" y="2295525"/>
            <a:ext cx="5334000" cy="2114550"/>
          </a:xfrm>
          <a:prstGeom prst="roundRect">
            <a:avLst>
              <a:gd name="adj" fmla="val 3604"/>
            </a:avLst>
          </a:prstGeom>
          <a:solidFill>
            <a:srgbClr val="FFFFFF"/>
          </a:solidFill>
          <a:ln w="12700">
            <a:solidFill>
              <a:srgbClr val="E3E8EF"/>
            </a:solidFill>
            <a:prstDash val="solid"/>
          </a:ln>
        </p:spPr>
        <p:txBody>
          <a:bodyPr/>
          <a:p/>
        </p:txBody>
      </p:sp>
      <p:sp>
        <p:nvSpPr>
          <p:cNvPr id="263" name=""/>
          <p:cNvSpPr/>
          <p:nvPr/>
        </p:nvSpPr>
        <p:spPr>
          <a:xfrm rot="0" flipH="0" flipV="0">
            <a:off x="666750" y="2295525"/>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264" name="" descr="{&quot;isTemplate&quot;:true,&quot;type&quot;:&quot;text&quot;}"/>
          <p:cNvSpPr txBox="1"/>
          <p:nvPr/>
        </p:nvSpPr>
        <p:spPr>
          <a:xfrm rot="0" flipH="0" flipV="0">
            <a:off x="857250" y="2524125"/>
            <a:ext cx="4953000" cy="352425"/>
          </a:xfrm>
          <a:prstGeom prst="rect"/>
        </p:spPr>
        <p:txBody>
          <a:bodyPr wrap="none" lIns="0" tIns="0" rIns="0" bIns="0"/>
          <a:p>
            <a:pPr>
              <a:lnSpc>
                <a:spcPct val="140000"/>
              </a:lnSpc>
            </a:pPr>
            <a:r>
              <a:rPr lang="zh-CN" sz="1650" b="1">
                <a:solidFill>
                  <a:srgbClr val="0E2340"/>
                </a:solidFill>
                <a:latin typeface="Microsoft YaHei"/>
                <a:ea typeface="Microsoft YaHei"/>
              </a:rPr>
              <a:t>完整系统模式</a:t>
            </a:r>
            <a:endParaRPr/>
          </a:p>
        </p:txBody>
      </p:sp>
      <p:sp>
        <p:nvSpPr>
          <p:cNvPr id="265" name="" descr="{&quot;isTemplate&quot;:true,&quot;type&quot;:&quot;text&quot;}"/>
          <p:cNvSpPr txBox="1"/>
          <p:nvPr/>
        </p:nvSpPr>
        <p:spPr>
          <a:xfrm rot="0" flipH="0" flipV="0">
            <a:off x="857250" y="2971800"/>
            <a:ext cx="4953000" cy="1247775"/>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以学生的持续学习证据和系统中的课程关系组织默认流程；课前诊断、课堂、作业、套路训练、考试与复习共同更新长期记录，个人</a:t>
            </a:r>
            <a:r>
              <a:rPr lang="en-US" sz="1275">
                <a:solidFill>
                  <a:srgbClr val="333A45"/>
                </a:solidFill>
                <a:latin typeface="Microsoft YaHei"/>
                <a:ea typeface="Microsoft YaHei"/>
              </a:rPr>
              <a:t xml:space="preserve"> AI </a:t>
            </a:r>
            <a:r>
              <a:rPr lang="zh-CN" sz="1275">
                <a:solidFill>
                  <a:srgbClr val="333A45"/>
                </a:solidFill>
                <a:latin typeface="Microsoft YaHei"/>
                <a:ea typeface="Microsoft YaHei"/>
              </a:rPr>
              <a:t>助教与教师据此安排下一步。它会改变传统统一进度、统一作业与统一复习的主要组织方式。</a:t>
            </a:r>
            <a:endParaRPr/>
          </a:p>
        </p:txBody>
      </p:sp>
      <p:sp>
        <p:nvSpPr>
          <p:cNvPr id="266" name=""/>
          <p:cNvSpPr/>
          <p:nvPr/>
        </p:nvSpPr>
        <p:spPr>
          <a:xfrm rot="0" flipH="0" flipV="0">
            <a:off x="6191250" y="2295525"/>
            <a:ext cx="5334000" cy="2114550"/>
          </a:xfrm>
          <a:prstGeom prst="roundRect">
            <a:avLst>
              <a:gd name="adj" fmla="val 3604"/>
            </a:avLst>
          </a:prstGeom>
          <a:solidFill>
            <a:srgbClr val="FFFFFF"/>
          </a:solidFill>
          <a:ln w="12700">
            <a:solidFill>
              <a:srgbClr val="E3E8EF"/>
            </a:solidFill>
            <a:prstDash val="solid"/>
          </a:ln>
        </p:spPr>
        <p:txBody>
          <a:bodyPr/>
          <a:p/>
        </p:txBody>
      </p:sp>
      <p:sp>
        <p:nvSpPr>
          <p:cNvPr id="267" name=""/>
          <p:cNvSpPr/>
          <p:nvPr/>
        </p:nvSpPr>
        <p:spPr>
          <a:xfrm rot="0" flipH="0" flipV="0">
            <a:off x="6191250" y="2295525"/>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268" name="" descr="{&quot;isTemplate&quot;:true,&quot;type&quot;:&quot;text&quot;}"/>
          <p:cNvSpPr txBox="1"/>
          <p:nvPr/>
        </p:nvSpPr>
        <p:spPr>
          <a:xfrm rot="0" flipH="0" flipV="0">
            <a:off x="6381750" y="2524125"/>
            <a:ext cx="4953000" cy="352425"/>
          </a:xfrm>
          <a:prstGeom prst="rect"/>
        </p:spPr>
        <p:txBody>
          <a:bodyPr wrap="none" lIns="0" tIns="0" rIns="0" bIns="0"/>
          <a:p>
            <a:pPr>
              <a:lnSpc>
                <a:spcPct val="140000"/>
              </a:lnSpc>
            </a:pPr>
            <a:r>
              <a:rPr lang="zh-CN" sz="1650" b="1">
                <a:solidFill>
                  <a:srgbClr val="1E7BE0"/>
                </a:solidFill>
                <a:latin typeface="Microsoft YaHei"/>
                <a:ea typeface="Microsoft YaHei"/>
              </a:rPr>
              <a:t>传统教学增强模式</a:t>
            </a:r>
            <a:endParaRPr/>
          </a:p>
        </p:txBody>
      </p:sp>
      <p:sp>
        <p:nvSpPr>
          <p:cNvPr id="269" name="" descr="{&quot;isTemplate&quot;:true,&quot;type&quot;:&quot;text&quot;}"/>
          <p:cNvSpPr txBox="1"/>
          <p:nvPr/>
        </p:nvSpPr>
        <p:spPr>
          <a:xfrm rot="0" flipH="0" flipV="0">
            <a:off x="6381750" y="2971800"/>
            <a:ext cx="4953000" cy="9334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保留学校原有课程进度、课堂组织、作业和考试制度，在需要的环节引入备课、演示、批改、出卷、错题或个别辅导。即使没有完整个人历史，也能使用相应局部能力。</a:t>
            </a:r>
            <a:endParaRPr/>
          </a:p>
        </p:txBody>
      </p:sp>
      <p:sp>
        <p:nvSpPr>
          <p:cNvPr id="270" name=""/>
          <p:cNvSpPr/>
          <p:nvPr/>
        </p:nvSpPr>
        <p:spPr>
          <a:xfrm rot="0" flipH="0" flipV="0">
            <a:off x="704850" y="4581525"/>
            <a:ext cx="10858500" cy="561975"/>
          </a:xfrm>
          <a:prstGeom prst="roundRect">
            <a:avLst>
              <a:gd name="adj" fmla="val 10169"/>
            </a:avLst>
          </a:prstGeom>
          <a:solidFill>
            <a:srgbClr val="F5F7FA"/>
          </a:solidFill>
          <a:ln/>
        </p:spPr>
        <p:txBody>
          <a:bodyPr/>
          <a:p/>
        </p:txBody>
      </p:sp>
      <p:sp>
        <p:nvSpPr>
          <p:cNvPr id="271" name=""/>
          <p:cNvSpPr/>
          <p:nvPr/>
        </p:nvSpPr>
        <p:spPr>
          <a:xfrm rot="0" flipH="0" flipV="0">
            <a:off x="704850" y="4581525"/>
            <a:ext cx="10858500" cy="561975"/>
          </a:xfrm>
          <a:custGeom>
            <a:pathLst>
              <a:path w="1140" h="59">
                <a:moveTo>
                  <a:pt x="6" y="0"/>
                </a:moveTo>
                <a:cubicBezTo>
                  <a:pt x="5" y="0"/>
                  <a:pt x="4" y="1"/>
                  <a:pt x="4" y="2"/>
                </a:cubicBezTo>
                <a:lnTo>
                  <a:pt x="4" y="57"/>
                </a:lnTo>
                <a:cubicBezTo>
                  <a:pt x="4" y="58"/>
                  <a:pt x="5" y="59"/>
                  <a:pt x="6" y="59"/>
                </a:cubicBezTo>
                <a:cubicBezTo>
                  <a:pt x="3" y="59"/>
                  <a:pt x="0" y="56"/>
                  <a:pt x="0" y="53"/>
                </a:cubicBezTo>
                <a:lnTo>
                  <a:pt x="0" y="6"/>
                </a:lnTo>
                <a:cubicBezTo>
                  <a:pt x="0" y="3"/>
                  <a:pt x="3" y="0"/>
                  <a:pt x="6" y="0"/>
                </a:cubicBezTo>
                <a:close/>
              </a:path>
            </a:pathLst>
          </a:custGeom>
          <a:solidFill>
            <a:srgbClr val="00A9B5"/>
          </a:solidFill>
          <a:ln/>
        </p:spPr>
        <p:txBody>
          <a:bodyPr/>
          <a:p/>
        </p:txBody>
      </p:sp>
      <p:sp>
        <p:nvSpPr>
          <p:cNvPr id="272" name="" descr="{&quot;isTemplate&quot;:true,&quot;type&quot;:&quot;text&quot;}"/>
          <p:cNvSpPr txBox="1"/>
          <p:nvPr/>
        </p:nvSpPr>
        <p:spPr>
          <a:xfrm rot="0" flipH="0" flipV="0">
            <a:off x="895350" y="4714875"/>
            <a:ext cx="9715500" cy="295275"/>
          </a:xfrm>
          <a:prstGeom prst="rect"/>
        </p:spPr>
        <p:txBody>
          <a:bodyPr wrap="none" lIns="0" tIns="0" rIns="0" bIns="0"/>
          <a:p>
            <a:pPr>
              <a:lnSpc>
                <a:spcPct val="150000"/>
              </a:lnSpc>
            </a:pPr>
            <a:r>
              <a:rPr lang="zh-CN" sz="1275" b="1">
                <a:solidFill>
                  <a:srgbClr val="0E2340"/>
                </a:solidFill>
                <a:latin typeface="Microsoft YaHei"/>
                <a:ea typeface="Microsoft YaHei"/>
              </a:rPr>
              <a:t>三条保留底线：两者都保留教师教学与学生独立思考；完整模式的重点是重组流程，不意味着取消课堂、教师、共同课程目标或独立考试</a:t>
            </a:r>
            <a:endParaRPr/>
          </a:p>
        </p:txBody>
      </p:sp>
      <p:sp>
        <p:nvSpPr>
          <p:cNvPr id="273"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274"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依据：两种教学模式与应用边界</a:t>
            </a:r>
            <a:r>
              <a:rPr lang="en-US" sz="975">
                <a:solidFill>
                  <a:srgbClr val="7A8699"/>
                </a:solidFill>
                <a:latin typeface="Microsoft YaHei"/>
                <a:ea typeface="Microsoft YaHei"/>
              </a:rPr>
              <a:t>.md §1</a:t>
            </a:r>
            <a:endParaRPr/>
          </a:p>
        </p:txBody>
      </p:sp>
      <p:sp>
        <p:nvSpPr>
          <p:cNvPr id="275" name="" descr="{&quot;isTemplate&quot;:true,&quot;type&quot;:&quot;text&quot;}"/>
          <p:cNvSpPr txBox="1"/>
          <p:nvPr/>
        </p:nvSpPr>
        <p:spPr>
          <a:xfrm rot="0" flipH="0" flipV="0">
            <a:off x="10887075" y="6372225"/>
            <a:ext cx="6381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105 / 124 </a:t>
            </a:r>
            <a:endParaRPr/>
          </a:p>
        </p:txBody>
      </p:sp>
    </p:spTree>
  </p:cSld>
</p:sld>
</file>

<file path=ppt/slides/slide106.xml><?xml version="1.0" encoding="utf-8"?>
<p:sld xmlns:p="http://schemas.openxmlformats.org/presentationml/2006/main" xmlns:a="http://schemas.openxmlformats.org/drawingml/2006/main">
  <p:cSld>
    <p:spTree>
      <p:nvGrpSpPr>
        <p:cNvPr id="276"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1 / 落地与边界&lt;/Text&gt;&lt;Text style={{ fontSize: 32, color: '#0E2340', fontWeight: 700, lineHeight: 1.3 }}&gt;学生完整学习流程与传统方式的比较&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gap: 14, justifyContent: 'space-between' }}&gt;&lt;Box style={{ flexDirection: 'row', alignItems: 'center', background: '#F5F7FA', borderLeft: '4px solid #0E2340', borderRadius: 6, padding: '14px 20px' }}&gt;&lt;Text style={{ fontSize: 17, color: '#0E2340', fontWeight: 600, lineHeight: 1.5 }}&gt;六个环节逐一对照：左边是常见传统组织方式，右边是完整系统模式下的做法&lt;/Text&gt;&lt;/Box&gt;&lt;Box style={{ flexDirection: 'column', gap: 18, flex: 1 }}&gt;&lt;Box style={{ flexDirection: 'row', gap: 20, flex: 1 }}&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① 学习&lt;/Text&gt;&lt;Text style={{ fontSize: 16, color: '#333A45', fontWeight: 400, lineHeight: 1.6 }}&gt;传统：跟随班级课程，课后自行发现缺口。完整模式：按课时安排和个人记录检查前置，共性问题课堂处理，局部缺口由助教或教师补充。&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② 作业&lt;/Text&gt;&lt;Text style={{ fontSize: 16, color: '#333A45', fontWeight: 400, lineHeight: 1.6 }}&gt;传统：以课时统一布置，订正后继续课程。完整模式：共同目标下安排个人适配任务，含本课巩固与旧知识复习，批改后继续安排验证。&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③ 刷题&lt;/Text&gt;&lt;Text style={{ fontSize: 16, color: '#333A45', fontWeight: 400, lineHeight: 1.6 }}&gt;传统：按章节、教辅或个人经验选题。完整模式：按套路顺序与知识准备推荐，利用六步循环、步骤补练和新变式检查迁移。&lt;/Text&gt;&lt;/Box&gt;&lt;/Box&gt;&lt;/Box&gt;&lt;Box style={{ flexDirection: 'row', gap: 20, flex: 1 }}&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④ 反思&lt;/Text&gt;&lt;Text style={{ fontSize: 16, color: '#333A45', fontWeight: 400, lineHeight: 1.6 }}&gt;传统：看分数、抄订正或自行总结。完整模式：对照步骤与可用时间线回看错误，确认原因、记录待验证事项，转成下一项训练。&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⑤ 考试&lt;/Text&gt;&lt;Text style={{ fontSize: 16, color: '#333A45', fontWeight: 400, lineHeight: 1.6 }}&gt;传统：统一条件下检验阶段表现，事后讲评。完整模式：保留独立作答条件，同时分析试卷质量、步骤表现和时间分配，与历史对照。&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⑥ 复习&lt;/Text&gt;&lt;Text style={{ fontSize: 16, color: '#333A45', fontWeight: 400, lineHeight: 1.6 }}&gt;传统：按统一进度集中复习，依靠经验安排。完整模式：将到期复查、未稳定知识和套路训练纳入日常计划，再用延迟独立测试核实保持。&lt;/Text&gt;&lt;/Box&gt;&lt;/Box&gt;&lt;/Box&gt;&lt;/Box&gt;&lt;/Box&gt;&lt;/Box&gt;&lt;Box style={{ height: 40, flexDirection: 'row', justifyContent: 'space-between', alignItems: 'center', borderTop: '1px solid #E3E8EF', marginTop: 8 }}&gt;&lt;Text style={{ fontSize: 13, color: '#7A8699', fontWeight: 400, lineHeight: 1.4 }}&gt;依据：两种教学模式与应用边界.md §2&lt;/Text&gt;&lt;Text style={{ fontSize: 14, color: '#7A8699', fontWeight: 400, lineHeight: 1.4 }}&gt; 106 / 124 &lt;/Text&gt;&lt;/Box&gt;&lt;/Slide&gt;"/>
        <p:cNvGrpSpPr/>
        <p:nvPr/>
      </p:nvGrpSpPr>
      <p:grpSpPr>
        <a:xfrm>
          <a:off x="0" y="0"/>
          <a:ext cx="0" cy="0"/>
          <a:chOff x="0" y="0"/>
          <a:chExt cx="0" cy="0"/>
        </a:xfrm>
      </p:grpSpPr>
      <p:sp>
        <p:nvSpPr>
          <p:cNvPr id="277" name=""/>
          <p:cNvSpPr/>
          <p:nvPr/>
        </p:nvSpPr>
        <p:spPr>
          <a:xfrm rot="0" flipH="0" flipV="0">
            <a:off x="0" y="0"/>
            <a:ext cx="12192000" cy="6858000"/>
          </a:xfrm>
          <a:prstGeom prst="rect">
            <a:avLst/>
          </a:prstGeom>
          <a:solidFill>
            <a:srgbClr val="FFFFFF"/>
          </a:solidFill>
          <a:ln/>
        </p:spPr>
        <p:txBody>
          <a:bodyPr/>
          <a:p/>
        </p:txBody>
      </p:sp>
      <p:sp>
        <p:nvSpPr>
          <p:cNvPr id="278" name="" descr="{&quot;isTemplate&quot;:true,&quot;type&quot;:&quot;text&quot;}"/>
          <p:cNvSpPr txBox="1"/>
          <p:nvPr/>
        </p:nvSpPr>
        <p:spPr>
          <a:xfrm rot="0" flipH="0" flipV="0">
            <a:off x="666750" y="381000"/>
            <a:ext cx="4876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11 / </a:t>
            </a:r>
            <a:r>
              <a:rPr lang="zh-CN" sz="1050" spc="75">
                <a:solidFill>
                  <a:srgbClr val="7A8699"/>
                </a:solidFill>
                <a:latin typeface="Microsoft YaHei"/>
                <a:ea typeface="Microsoft YaHei"/>
              </a:rPr>
              <a:t>落地与边界</a:t>
            </a:r>
            <a:endParaRPr/>
          </a:p>
        </p:txBody>
      </p:sp>
      <p:sp>
        <p:nvSpPr>
          <p:cNvPr id="279" name="" descr="{&quot;isTemplate&quot;:true,&quot;type&quot;:&quot;text&quot;}"/>
          <p:cNvSpPr txBox="1"/>
          <p:nvPr/>
        </p:nvSpPr>
        <p:spPr>
          <a:xfrm rot="0" flipH="0" flipV="0">
            <a:off x="666750" y="666750"/>
            <a:ext cx="4876800" cy="476250"/>
          </a:xfrm>
          <a:prstGeom prst="rect"/>
        </p:spPr>
        <p:txBody>
          <a:bodyPr wrap="none" lIns="0" tIns="0" rIns="0" bIns="0"/>
          <a:p>
            <a:pPr>
              <a:lnSpc>
                <a:spcPct val="130000"/>
              </a:lnSpc>
            </a:pPr>
            <a:r>
              <a:rPr lang="zh-CN" sz="2400" b="1">
                <a:solidFill>
                  <a:srgbClr val="0E2340"/>
                </a:solidFill>
                <a:latin typeface="Microsoft YaHei"/>
                <a:ea typeface="Microsoft YaHei"/>
              </a:rPr>
              <a:t>学生完整学习流程与传统方式的比较</a:t>
            </a:r>
            <a:endParaRPr/>
          </a:p>
        </p:txBody>
      </p:sp>
      <p:sp>
        <p:nvSpPr>
          <p:cNvPr id="280"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281"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282" name=""/>
          <p:cNvSpPr/>
          <p:nvPr/>
        </p:nvSpPr>
        <p:spPr>
          <a:xfrm rot="0" flipH="0" flipV="0">
            <a:off x="704850" y="1219200"/>
            <a:ext cx="10858500" cy="561975"/>
          </a:xfrm>
          <a:prstGeom prst="roundRect">
            <a:avLst>
              <a:gd name="adj" fmla="val 10169"/>
            </a:avLst>
          </a:prstGeom>
          <a:solidFill>
            <a:srgbClr val="F5F7FA"/>
          </a:solidFill>
          <a:ln/>
        </p:spPr>
        <p:txBody>
          <a:bodyPr/>
          <a:p/>
        </p:txBody>
      </p:sp>
      <p:sp>
        <p:nvSpPr>
          <p:cNvPr id="283" name=""/>
          <p:cNvSpPr/>
          <p:nvPr/>
        </p:nvSpPr>
        <p:spPr>
          <a:xfrm rot="0" flipH="0" flipV="0">
            <a:off x="704850" y="1219200"/>
            <a:ext cx="10858500" cy="561975"/>
          </a:xfrm>
          <a:custGeom>
            <a:pathLst>
              <a:path w="1140" h="59">
                <a:moveTo>
                  <a:pt x="6" y="0"/>
                </a:moveTo>
                <a:cubicBezTo>
                  <a:pt x="5" y="0"/>
                  <a:pt x="4" y="1"/>
                  <a:pt x="4" y="2"/>
                </a:cubicBezTo>
                <a:lnTo>
                  <a:pt x="4" y="57"/>
                </a:lnTo>
                <a:cubicBezTo>
                  <a:pt x="4" y="58"/>
                  <a:pt x="5" y="59"/>
                  <a:pt x="6" y="59"/>
                </a:cubicBezTo>
                <a:cubicBezTo>
                  <a:pt x="3" y="59"/>
                  <a:pt x="0" y="56"/>
                  <a:pt x="0" y="53"/>
                </a:cubicBezTo>
                <a:lnTo>
                  <a:pt x="0" y="6"/>
                </a:lnTo>
                <a:cubicBezTo>
                  <a:pt x="0" y="3"/>
                  <a:pt x="3" y="0"/>
                  <a:pt x="6" y="0"/>
                </a:cubicBezTo>
                <a:close/>
              </a:path>
            </a:pathLst>
          </a:custGeom>
          <a:solidFill>
            <a:srgbClr val="0E2340"/>
          </a:solidFill>
          <a:ln/>
        </p:spPr>
        <p:txBody>
          <a:bodyPr/>
          <a:p/>
        </p:txBody>
      </p:sp>
      <p:sp>
        <p:nvSpPr>
          <p:cNvPr id="284" name="" descr="{&quot;isTemplate&quot;:true,&quot;type&quot;:&quot;text&quot;}"/>
          <p:cNvSpPr txBox="1"/>
          <p:nvPr/>
        </p:nvSpPr>
        <p:spPr>
          <a:xfrm rot="0" flipH="0" flipV="0">
            <a:off x="895350" y="1352550"/>
            <a:ext cx="5505450" cy="295275"/>
          </a:xfrm>
          <a:prstGeom prst="rect"/>
        </p:spPr>
        <p:txBody>
          <a:bodyPr wrap="none" lIns="0" tIns="0" rIns="0" bIns="0"/>
          <a:p>
            <a:pPr>
              <a:lnSpc>
                <a:spcPct val="150000"/>
              </a:lnSpc>
            </a:pPr>
            <a:r>
              <a:rPr lang="zh-CN" sz="1275" b="1">
                <a:solidFill>
                  <a:srgbClr val="0E2340"/>
                </a:solidFill>
                <a:latin typeface="Microsoft YaHei"/>
                <a:ea typeface="Microsoft YaHei"/>
              </a:rPr>
              <a:t>六个环节逐一对照：左边是常见传统组织方式，右边是完整系统模式下的做法</a:t>
            </a:r>
            <a:endParaRPr/>
          </a:p>
        </p:txBody>
      </p:sp>
      <p:sp>
        <p:nvSpPr>
          <p:cNvPr id="285" name=""/>
          <p:cNvSpPr/>
          <p:nvPr/>
        </p:nvSpPr>
        <p:spPr>
          <a:xfrm rot="0" flipH="0" flipV="0">
            <a:off x="666750" y="1914525"/>
            <a:ext cx="3486150" cy="2066925"/>
          </a:xfrm>
          <a:prstGeom prst="roundRect">
            <a:avLst>
              <a:gd name="adj" fmla="val 3687"/>
            </a:avLst>
          </a:prstGeom>
          <a:solidFill>
            <a:srgbClr val="FFFFFF"/>
          </a:solidFill>
          <a:ln w="12700">
            <a:solidFill>
              <a:srgbClr val="E3E8EF"/>
            </a:solidFill>
            <a:prstDash val="solid"/>
          </a:ln>
        </p:spPr>
        <p:txBody>
          <a:bodyPr/>
          <a:p/>
        </p:txBody>
      </p:sp>
      <p:sp>
        <p:nvSpPr>
          <p:cNvPr id="286" name=""/>
          <p:cNvSpPr/>
          <p:nvPr/>
        </p:nvSpPr>
        <p:spPr>
          <a:xfrm rot="0" flipH="0" flipV="0">
            <a:off x="666750" y="1914525"/>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287" name="" descr="{&quot;isTemplate&quot;:true,&quot;type&quot;:&quot;text&quot;}"/>
          <p:cNvSpPr txBox="1"/>
          <p:nvPr/>
        </p:nvSpPr>
        <p:spPr>
          <a:xfrm rot="0" flipH="0" flipV="0">
            <a:off x="857250" y="2143125"/>
            <a:ext cx="31051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① </a:t>
            </a:r>
            <a:r>
              <a:rPr lang="zh-CN" sz="1500" b="1">
                <a:solidFill>
                  <a:srgbClr val="0E2340"/>
                </a:solidFill>
                <a:latin typeface="Microsoft YaHei"/>
                <a:ea typeface="Microsoft YaHei"/>
              </a:rPr>
              <a:t>学习</a:t>
            </a:r>
            <a:endParaRPr/>
          </a:p>
        </p:txBody>
      </p:sp>
      <p:sp>
        <p:nvSpPr>
          <p:cNvPr id="288" name="" descr="{&quot;isTemplate&quot;:true,&quot;type&quot;:&quot;text&quot;}"/>
          <p:cNvSpPr txBox="1"/>
          <p:nvPr/>
        </p:nvSpPr>
        <p:spPr>
          <a:xfrm rot="0" flipH="0" flipV="0">
            <a:off x="857250" y="2562225"/>
            <a:ext cx="3105150" cy="117157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传统：跟随班级课程，课后自行发现缺口。完整模式：按课时安排和个人记录检查前置，共性问题课堂处理，局部缺口由助教或教师补充。</a:t>
            </a:r>
            <a:endParaRPr/>
          </a:p>
        </p:txBody>
      </p:sp>
      <p:sp>
        <p:nvSpPr>
          <p:cNvPr id="289" name=""/>
          <p:cNvSpPr/>
          <p:nvPr/>
        </p:nvSpPr>
        <p:spPr>
          <a:xfrm rot="0" flipH="0" flipV="0">
            <a:off x="4343400" y="1914525"/>
            <a:ext cx="3486150" cy="2066925"/>
          </a:xfrm>
          <a:prstGeom prst="roundRect">
            <a:avLst>
              <a:gd name="adj" fmla="val 3687"/>
            </a:avLst>
          </a:prstGeom>
          <a:solidFill>
            <a:srgbClr val="FFFFFF"/>
          </a:solidFill>
          <a:ln w="12700">
            <a:solidFill>
              <a:srgbClr val="E3E8EF"/>
            </a:solidFill>
            <a:prstDash val="solid"/>
          </a:ln>
        </p:spPr>
        <p:txBody>
          <a:bodyPr/>
          <a:p/>
        </p:txBody>
      </p:sp>
      <p:sp>
        <p:nvSpPr>
          <p:cNvPr id="290" name=""/>
          <p:cNvSpPr/>
          <p:nvPr/>
        </p:nvSpPr>
        <p:spPr>
          <a:xfrm rot="0" flipH="0" flipV="0">
            <a:off x="4343400" y="1914525"/>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291" name="" descr="{&quot;isTemplate&quot;:true,&quot;type&quot;:&quot;text&quot;}"/>
          <p:cNvSpPr txBox="1"/>
          <p:nvPr/>
        </p:nvSpPr>
        <p:spPr>
          <a:xfrm rot="0" flipH="0" flipV="0">
            <a:off x="4533900" y="2143125"/>
            <a:ext cx="31051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② </a:t>
            </a:r>
            <a:r>
              <a:rPr lang="zh-CN" sz="1500" b="1">
                <a:solidFill>
                  <a:srgbClr val="0E2340"/>
                </a:solidFill>
                <a:latin typeface="Microsoft YaHei"/>
                <a:ea typeface="Microsoft YaHei"/>
              </a:rPr>
              <a:t>作业</a:t>
            </a:r>
            <a:endParaRPr/>
          </a:p>
        </p:txBody>
      </p:sp>
      <p:sp>
        <p:nvSpPr>
          <p:cNvPr id="292" name="" descr="{&quot;isTemplate&quot;:true,&quot;type&quot;:&quot;text&quot;}"/>
          <p:cNvSpPr txBox="1"/>
          <p:nvPr/>
        </p:nvSpPr>
        <p:spPr>
          <a:xfrm rot="0" flipH="0" flipV="0">
            <a:off x="4533900" y="2562225"/>
            <a:ext cx="3105150" cy="88582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传统：以课时统一布置，订正后继续课程。完整模式：共同目标下安排个人适配任务，含本课巩固与旧知识复习，批改后继续安排验证。</a:t>
            </a:r>
            <a:endParaRPr/>
          </a:p>
        </p:txBody>
      </p:sp>
      <p:sp>
        <p:nvSpPr>
          <p:cNvPr id="293" name=""/>
          <p:cNvSpPr/>
          <p:nvPr/>
        </p:nvSpPr>
        <p:spPr>
          <a:xfrm rot="0" flipH="0" flipV="0">
            <a:off x="8020050" y="1914525"/>
            <a:ext cx="3486150" cy="2066925"/>
          </a:xfrm>
          <a:prstGeom prst="roundRect">
            <a:avLst>
              <a:gd name="adj" fmla="val 3687"/>
            </a:avLst>
          </a:prstGeom>
          <a:solidFill>
            <a:srgbClr val="FFFFFF"/>
          </a:solidFill>
          <a:ln w="12700">
            <a:solidFill>
              <a:srgbClr val="E3E8EF"/>
            </a:solidFill>
            <a:prstDash val="solid"/>
          </a:ln>
        </p:spPr>
        <p:txBody>
          <a:bodyPr/>
          <a:p/>
        </p:txBody>
      </p:sp>
      <p:sp>
        <p:nvSpPr>
          <p:cNvPr id="294" name=""/>
          <p:cNvSpPr/>
          <p:nvPr/>
        </p:nvSpPr>
        <p:spPr>
          <a:xfrm rot="0" flipH="0" flipV="0">
            <a:off x="8020050" y="1914525"/>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295" name="" descr="{&quot;isTemplate&quot;:true,&quot;type&quot;:&quot;text&quot;}"/>
          <p:cNvSpPr txBox="1"/>
          <p:nvPr/>
        </p:nvSpPr>
        <p:spPr>
          <a:xfrm rot="0" flipH="0" flipV="0">
            <a:off x="8210550" y="2143125"/>
            <a:ext cx="31051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③ </a:t>
            </a:r>
            <a:r>
              <a:rPr lang="zh-CN" sz="1500" b="1">
                <a:solidFill>
                  <a:srgbClr val="0E2340"/>
                </a:solidFill>
                <a:latin typeface="Microsoft YaHei"/>
                <a:ea typeface="Microsoft YaHei"/>
              </a:rPr>
              <a:t>刷题</a:t>
            </a:r>
            <a:endParaRPr/>
          </a:p>
        </p:txBody>
      </p:sp>
      <p:sp>
        <p:nvSpPr>
          <p:cNvPr id="296" name="" descr="{&quot;isTemplate&quot;:true,&quot;type&quot;:&quot;text&quot;}"/>
          <p:cNvSpPr txBox="1"/>
          <p:nvPr/>
        </p:nvSpPr>
        <p:spPr>
          <a:xfrm rot="0" flipH="0" flipV="0">
            <a:off x="8210550" y="2562225"/>
            <a:ext cx="3105150" cy="88582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传统：按章节、教辅或个人经验选题。完整模式：按套路顺序与知识准备推荐，利用六步循环、步骤补练和新变式检查迁移。</a:t>
            </a:r>
            <a:endParaRPr/>
          </a:p>
        </p:txBody>
      </p:sp>
      <p:sp>
        <p:nvSpPr>
          <p:cNvPr id="297" name=""/>
          <p:cNvSpPr/>
          <p:nvPr/>
        </p:nvSpPr>
        <p:spPr>
          <a:xfrm rot="0" flipH="0" flipV="0">
            <a:off x="666750" y="4152900"/>
            <a:ext cx="3486150" cy="2057400"/>
          </a:xfrm>
          <a:prstGeom prst="roundRect">
            <a:avLst>
              <a:gd name="adj" fmla="val 3704"/>
            </a:avLst>
          </a:prstGeom>
          <a:solidFill>
            <a:srgbClr val="FFFFFF"/>
          </a:solidFill>
          <a:ln w="12700">
            <a:solidFill>
              <a:srgbClr val="E3E8EF"/>
            </a:solidFill>
            <a:prstDash val="solid"/>
          </a:ln>
        </p:spPr>
        <p:txBody>
          <a:bodyPr/>
          <a:p/>
        </p:txBody>
      </p:sp>
      <p:sp>
        <p:nvSpPr>
          <p:cNvPr id="298" name=""/>
          <p:cNvSpPr/>
          <p:nvPr/>
        </p:nvSpPr>
        <p:spPr>
          <a:xfrm rot="0" flipH="0" flipV="0">
            <a:off x="666750" y="41529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299" name="" descr="{&quot;isTemplate&quot;:true,&quot;type&quot;:&quot;text&quot;}"/>
          <p:cNvSpPr txBox="1"/>
          <p:nvPr/>
        </p:nvSpPr>
        <p:spPr>
          <a:xfrm rot="0" flipH="0" flipV="0">
            <a:off x="857250" y="4381500"/>
            <a:ext cx="31051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④ </a:t>
            </a:r>
            <a:r>
              <a:rPr lang="zh-CN" sz="1500" b="1">
                <a:solidFill>
                  <a:srgbClr val="0E2340"/>
                </a:solidFill>
                <a:latin typeface="Microsoft YaHei"/>
                <a:ea typeface="Microsoft YaHei"/>
              </a:rPr>
              <a:t>反思</a:t>
            </a:r>
            <a:endParaRPr/>
          </a:p>
        </p:txBody>
      </p:sp>
      <p:sp>
        <p:nvSpPr>
          <p:cNvPr id="300" name="" descr="{&quot;isTemplate&quot;:true,&quot;type&quot;:&quot;text&quot;}"/>
          <p:cNvSpPr txBox="1"/>
          <p:nvPr/>
        </p:nvSpPr>
        <p:spPr>
          <a:xfrm rot="0" flipH="0" flipV="0">
            <a:off x="857250" y="4800600"/>
            <a:ext cx="3105150" cy="88582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传统：看分数、抄订正或自行总结。完整模式：对照步骤与可用时间线回看错误，确认原因、记录待验证事项，转成下一项训练。</a:t>
            </a:r>
            <a:endParaRPr/>
          </a:p>
        </p:txBody>
      </p:sp>
      <p:sp>
        <p:nvSpPr>
          <p:cNvPr id="301" name=""/>
          <p:cNvSpPr/>
          <p:nvPr/>
        </p:nvSpPr>
        <p:spPr>
          <a:xfrm rot="0" flipH="0" flipV="0">
            <a:off x="4343400" y="4152900"/>
            <a:ext cx="3486150" cy="2057400"/>
          </a:xfrm>
          <a:prstGeom prst="roundRect">
            <a:avLst>
              <a:gd name="adj" fmla="val 3704"/>
            </a:avLst>
          </a:prstGeom>
          <a:solidFill>
            <a:srgbClr val="FFFFFF"/>
          </a:solidFill>
          <a:ln w="12700">
            <a:solidFill>
              <a:srgbClr val="E3E8EF"/>
            </a:solidFill>
            <a:prstDash val="solid"/>
          </a:ln>
        </p:spPr>
        <p:txBody>
          <a:bodyPr/>
          <a:p/>
        </p:txBody>
      </p:sp>
      <p:sp>
        <p:nvSpPr>
          <p:cNvPr id="302" name=""/>
          <p:cNvSpPr/>
          <p:nvPr/>
        </p:nvSpPr>
        <p:spPr>
          <a:xfrm rot="0" flipH="0" flipV="0">
            <a:off x="4343400" y="41529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303" name="" descr="{&quot;isTemplate&quot;:true,&quot;type&quot;:&quot;text&quot;}"/>
          <p:cNvSpPr txBox="1"/>
          <p:nvPr/>
        </p:nvSpPr>
        <p:spPr>
          <a:xfrm rot="0" flipH="0" flipV="0">
            <a:off x="4533900" y="4381500"/>
            <a:ext cx="31051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⑤ </a:t>
            </a:r>
            <a:r>
              <a:rPr lang="zh-CN" sz="1500" b="1">
                <a:solidFill>
                  <a:srgbClr val="0E2340"/>
                </a:solidFill>
                <a:latin typeface="Microsoft YaHei"/>
                <a:ea typeface="Microsoft YaHei"/>
              </a:rPr>
              <a:t>考试</a:t>
            </a:r>
            <a:endParaRPr/>
          </a:p>
        </p:txBody>
      </p:sp>
      <p:sp>
        <p:nvSpPr>
          <p:cNvPr id="304" name="" descr="{&quot;isTemplate&quot;:true,&quot;type&quot;:&quot;text&quot;}"/>
          <p:cNvSpPr txBox="1"/>
          <p:nvPr/>
        </p:nvSpPr>
        <p:spPr>
          <a:xfrm rot="0" flipH="0" flipV="0">
            <a:off x="4533900" y="4800600"/>
            <a:ext cx="3105150" cy="88582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传统：统一条件下检验阶段表现，事后讲评。完整模式：保留独立作答条件，同时分析试卷质量、步骤表现和时间分配，与历史对照。</a:t>
            </a:r>
            <a:endParaRPr/>
          </a:p>
        </p:txBody>
      </p:sp>
      <p:sp>
        <p:nvSpPr>
          <p:cNvPr id="305" name=""/>
          <p:cNvSpPr/>
          <p:nvPr/>
        </p:nvSpPr>
        <p:spPr>
          <a:xfrm rot="0" flipH="0" flipV="0">
            <a:off x="8020050" y="4152900"/>
            <a:ext cx="3486150" cy="2057400"/>
          </a:xfrm>
          <a:prstGeom prst="roundRect">
            <a:avLst>
              <a:gd name="adj" fmla="val 3704"/>
            </a:avLst>
          </a:prstGeom>
          <a:solidFill>
            <a:srgbClr val="FFFFFF"/>
          </a:solidFill>
          <a:ln w="12700">
            <a:solidFill>
              <a:srgbClr val="E3E8EF"/>
            </a:solidFill>
            <a:prstDash val="solid"/>
          </a:ln>
        </p:spPr>
        <p:txBody>
          <a:bodyPr/>
          <a:p/>
        </p:txBody>
      </p:sp>
      <p:sp>
        <p:nvSpPr>
          <p:cNvPr id="306" name=""/>
          <p:cNvSpPr/>
          <p:nvPr/>
        </p:nvSpPr>
        <p:spPr>
          <a:xfrm rot="0" flipH="0" flipV="0">
            <a:off x="8020050" y="41529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307" name="" descr="{&quot;isTemplate&quot;:true,&quot;type&quot;:&quot;text&quot;}"/>
          <p:cNvSpPr txBox="1"/>
          <p:nvPr/>
        </p:nvSpPr>
        <p:spPr>
          <a:xfrm rot="0" flipH="0" flipV="0">
            <a:off x="8210550" y="4381500"/>
            <a:ext cx="31051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⑥ </a:t>
            </a:r>
            <a:r>
              <a:rPr lang="zh-CN" sz="1500" b="1">
                <a:solidFill>
                  <a:srgbClr val="0E2340"/>
                </a:solidFill>
                <a:latin typeface="Microsoft YaHei"/>
                <a:ea typeface="Microsoft YaHei"/>
              </a:rPr>
              <a:t>复习</a:t>
            </a:r>
            <a:endParaRPr/>
          </a:p>
        </p:txBody>
      </p:sp>
      <p:sp>
        <p:nvSpPr>
          <p:cNvPr id="308" name="" descr="{&quot;isTemplate&quot;:true,&quot;type&quot;:&quot;text&quot;}"/>
          <p:cNvSpPr txBox="1"/>
          <p:nvPr/>
        </p:nvSpPr>
        <p:spPr>
          <a:xfrm rot="0" flipH="0" flipV="0">
            <a:off x="8210550" y="4800600"/>
            <a:ext cx="3105150" cy="117157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传统：按统一进度集中复习，依靠经验安排。完整模式：将到期复查、未稳定知识和套路训练纳入日常计划，再用延迟独立测试核实保持。</a:t>
            </a:r>
            <a:endParaRPr/>
          </a:p>
        </p:txBody>
      </p:sp>
      <p:sp>
        <p:nvSpPr>
          <p:cNvPr id="309"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310"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依据：两种教学模式与应用边界</a:t>
            </a:r>
            <a:r>
              <a:rPr lang="en-US" sz="975">
                <a:solidFill>
                  <a:srgbClr val="7A8699"/>
                </a:solidFill>
                <a:latin typeface="Microsoft YaHei"/>
                <a:ea typeface="Microsoft YaHei"/>
              </a:rPr>
              <a:t>.md §2</a:t>
            </a:r>
            <a:endParaRPr/>
          </a:p>
        </p:txBody>
      </p:sp>
      <p:sp>
        <p:nvSpPr>
          <p:cNvPr id="311" name="" descr="{&quot;isTemplate&quot;:true,&quot;type&quot;:&quot;text&quot;}"/>
          <p:cNvSpPr txBox="1"/>
          <p:nvPr/>
        </p:nvSpPr>
        <p:spPr>
          <a:xfrm rot="0" flipH="0" flipV="0">
            <a:off x="10887075" y="6372225"/>
            <a:ext cx="6381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106 / 124 </a:t>
            </a:r>
            <a:endParaRPr/>
          </a:p>
        </p:txBody>
      </p:sp>
    </p:spTree>
  </p:cSld>
</p:sld>
</file>

<file path=ppt/slides/slide107.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312"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1 / 落地与边界&lt;/Text&gt;&lt;Text style={{ fontSize: 32, color: '#0E2340', fontWeight: 700, lineHeight: 1.3 }}&gt;一名学生的一天&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8 }}&gt;&lt;Box style={{ flexDirection: 'column', gap: 16, flex: 1, justifyContent: 'center' }}&gt;&lt;svg width={1140} height={250} viewBox='0 0 1140 250'&gt;&lt;line x1='20' y1='110' x2='1120' y2='110' stroke='#E3E8EF' stroke-width='3'/&gt;&lt;circle cx='115' cy='110' r='12' fill='#1E7BE0'/&gt;&lt;text x='115.0' y='112' font-size='13' fill='#FFFFFF' text-anchor='middle' font-weight='700'&gt;1&lt;/text&gt;&lt;line x1='115' y1='88' x2='115' y2='90' stroke='#E3E8EF' stroke-width='1'/&gt;&lt;text x='115.0' y='62' font-size='17' fill='#0E2340' text-anchor='middle' font-weight='600'&gt;课前前置检查&lt;/text&gt;&lt;text x='115.0' y='86' font-size='14' fill='#7A8699' text-anchor='middle' font-weight='400'&gt;确认本课所需知识点&lt;/text&gt;&lt;circle cx='305' cy='110' r='12' fill='#1E7BE0'/&gt;&lt;text x='305.0' y='112' font-size='13' fill='#FFFFFF' text-anchor='middle' font-weight='700'&gt;2&lt;/text&gt;&lt;line x1='305' y1='132' x2='305' y2='134' stroke='#E3E8EF' stroke-width='1'/&gt;&lt;text x='305.0' y='148' font-size='17' fill='#0E2340' text-anchor='middle' font-weight='600'&gt;课堂参与共同目标&lt;/text&gt;&lt;text x='305.0' y='172' font-size='14' fill='#7A8699' text-anchor='middle' font-weight='400'&gt;共性问题课堂处理&lt;/text&gt;&lt;circle cx='495' cy='110' r='12' fill='#1E7BE0'/&gt;&lt;text x='495.0' y='112' font-size='13' fill='#FFFFFF' text-anchor='middle' font-weight='700'&gt;3&lt;/text&gt;&lt;line x1='495' y1='88' x2='495' y2='90' stroke='#E3E8EF' stroke-width='1'/&gt;&lt;text x='495.0' y='62' font-size='17' fill='#0E2340' text-anchor='middle' font-weight='600'&gt;课后适配作业&lt;/text&gt;&lt;text x='495.0' y='86' font-size='14' fill='#7A8699' text-anchor='middle' font-weight='400'&gt;含本课巩固与旧知识复查&lt;/text&gt;&lt;circle cx='685' cy='110' r='12' fill='#1E7BE0'/&gt;&lt;text x='685.0' y='112' font-size='13' fill='#FFFFFF' text-anchor='middle' font-weight='700'&gt;4&lt;/text&gt;&lt;line x1='685' y1='132' x2='685' y2='134' stroke='#E3E8EF' stroke-width='1'/&gt;&lt;text x='685.0' y='148' font-size='17' fill='#0E2340' text-anchor='middle' font-weight='600'&gt;有卡点时分步支持&lt;/text&gt;&lt;text x='685.0' y='172' font-size='14' fill='#7A8699' text-anchor='middle' font-weight='400'&gt;获得分步提示&lt;/text&gt;&lt;circle cx='875' cy='110' r='12' fill='#1E7BE0'/&gt;&lt;text x='875.0' y='112' font-size='13' fill='#FFFFFF' text-anchor='middle' font-weight='700'&gt;5&lt;/text&gt;&lt;line x1='875' y1='88' x2='875' y2='90' stroke='#E3E8EF' stroke-width='1'/&gt;&lt;text x='875.0' y='62' font-size='17' fill='#0E2340' text-anchor='middle' font-weight='600'&gt;独立完成新题&lt;/text&gt;&lt;text x='875.0' y='86' font-size='14' fill='#7A8699' text-anchor='middle' font-weight='400'&gt;检验是否能迁移&lt;/text&gt;&lt;circle cx='1065' cy='110' r='12' fill='#1E7BE0'/&gt;&lt;text x='1065.0' y='112' font-size='13' fill='#FFFFFF' text-anchor='middle' font-weight='700'&gt;6&lt;/text&gt;&lt;line x1='1065' y1='132' x2='1065' y2='134' stroke='#E3E8EF' stroke-width='1'/&gt;&lt;text x='1065.0' y='148' font-size='17' fill='#0E2340' text-anchor='middle' font-weight='600'&gt;助教更新计划&lt;/text&gt;&lt;text x='1065.0' y='172' font-size='14' fill='#7A8699' text-anchor='middle' font-weight='400'&gt;任务结束后更新&lt;/text&gt;&lt;/svg&gt;&lt;/Box&gt;&lt;Box style={{ flexDirection: 'row', alignItems: 'center', background: '#F5F7FA', borderLeft: '4px solid #0E2340', borderRadius: 6, padding: '14px 20px' }}&gt;&lt;Text style={{ fontSize: 16, color: '#0E2340', fontWeight: 600, lineHeight: 1.5 }}&gt;两条约束：完整模式允许路径与内容不同，但应控制总负担，保留探索、多解法和学生自主选择；系统发现新缺口时需要调整任务，而不是在原作业上无限追加补练。教师根据共性问题组织后续课堂，而不是让每个学生全天独自与 AI 对话&lt;/Text&gt;&lt;/Box&gt;&lt;/Box&gt;&lt;/Box&gt;&lt;Box style={{ height: 40, flexDirection: 'row', justifyContent: 'space-between', alignItems: 'center', borderTop: '1px solid #E3E8EF', marginTop: 8 }}&gt;&lt;Text style={{ fontSize: 13, color: '#7A8699', fontWeight: 400, lineHeight: 1.4 }}&gt;依据：两种教学模式与应用边界.md §2&lt;/Text&gt;&lt;Text style={{ fontSize: 14, color: '#7A8699', fontWeight: 400, lineHeight: 1.4 }}&gt; 107 / 124 &lt;/Text&gt;&lt;/Box&gt;&lt;/Slide&gt;"/>
        <p:cNvGrpSpPr/>
        <p:nvPr/>
      </p:nvGrpSpPr>
      <p:grpSpPr>
        <a:xfrm>
          <a:off x="0" y="0"/>
          <a:ext cx="0" cy="0"/>
          <a:chOff x="0" y="0"/>
          <a:chExt cx="0" cy="0"/>
        </a:xfrm>
      </p:grpSpPr>
      <p:sp>
        <p:nvSpPr>
          <p:cNvPr id="313" name=""/>
          <p:cNvSpPr/>
          <p:nvPr/>
        </p:nvSpPr>
        <p:spPr>
          <a:xfrm rot="0" flipH="0" flipV="0">
            <a:off x="0" y="0"/>
            <a:ext cx="12192000" cy="6858000"/>
          </a:xfrm>
          <a:prstGeom prst="rect">
            <a:avLst/>
          </a:prstGeom>
          <a:solidFill>
            <a:srgbClr val="FFFFFF"/>
          </a:solidFill>
          <a:ln/>
        </p:spPr>
        <p:txBody>
          <a:bodyPr/>
          <a:p/>
        </p:txBody>
      </p:sp>
      <p:sp>
        <p:nvSpPr>
          <p:cNvPr id="314" name="" descr="{&quot;isTemplate&quot;:true,&quot;type&quot;:&quot;text&quot;}"/>
          <p:cNvSpPr txBox="1"/>
          <p:nvPr/>
        </p:nvSpPr>
        <p:spPr>
          <a:xfrm rot="0" flipH="0" flipV="0">
            <a:off x="666750" y="381000"/>
            <a:ext cx="2133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11 / </a:t>
            </a:r>
            <a:r>
              <a:rPr lang="zh-CN" sz="1050" spc="75">
                <a:solidFill>
                  <a:srgbClr val="7A8699"/>
                </a:solidFill>
                <a:latin typeface="Microsoft YaHei"/>
                <a:ea typeface="Microsoft YaHei"/>
              </a:rPr>
              <a:t>落地与边界</a:t>
            </a:r>
            <a:endParaRPr/>
          </a:p>
        </p:txBody>
      </p:sp>
      <p:sp>
        <p:nvSpPr>
          <p:cNvPr id="315" name="" descr="{&quot;isTemplate&quot;:true,&quot;type&quot;:&quot;text&quot;}"/>
          <p:cNvSpPr txBox="1"/>
          <p:nvPr/>
        </p:nvSpPr>
        <p:spPr>
          <a:xfrm rot="0" flipH="0" flipV="0">
            <a:off x="666750" y="666750"/>
            <a:ext cx="2133600" cy="476250"/>
          </a:xfrm>
          <a:prstGeom prst="rect"/>
        </p:spPr>
        <p:txBody>
          <a:bodyPr wrap="none" lIns="0" tIns="0" rIns="0" bIns="0"/>
          <a:p>
            <a:pPr>
              <a:lnSpc>
                <a:spcPct val="130000"/>
              </a:lnSpc>
            </a:pPr>
            <a:r>
              <a:rPr lang="zh-CN" sz="2400" b="1">
                <a:solidFill>
                  <a:srgbClr val="0E2340"/>
                </a:solidFill>
                <a:latin typeface="Microsoft YaHei"/>
                <a:ea typeface="Microsoft YaHei"/>
              </a:rPr>
              <a:t>一名学生的一天</a:t>
            </a:r>
            <a:endParaRPr/>
          </a:p>
        </p:txBody>
      </p:sp>
      <p:sp>
        <p:nvSpPr>
          <p:cNvPr id="316"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317"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318" name=""/>
          <p:cNvPicPr>
            <a:picLocks noChangeAspect="1"/>
          </p:cNvPicPr>
          <p:nvPr/>
        </p:nvPicPr>
        <p:blipFill>
          <a:blip>
            <a:extLst>
              <a:ext uri="{96DAC541-7B7A-43D3-8B79-37D633B846F1}">
                <asvg:svgBlip r:embed="rId1"/>
              </a:ext>
            </a:extLst>
          </a:blip>
          <a:stretch>
            <a:fillRect/>
          </a:stretch>
        </p:blipFill>
        <p:spPr>
          <a:xfrm rot="0" flipH="0" flipV="0">
            <a:off x="666750" y="2028825"/>
            <a:ext cx="10858500" cy="2381250"/>
          </a:xfrm>
          <a:prstGeom prst="rect">
            <a:avLst/>
          </a:prstGeom>
          <a:ln/>
        </p:spPr>
      </p:pic>
      <p:sp>
        <p:nvSpPr>
          <p:cNvPr id="319" name=""/>
          <p:cNvSpPr/>
          <p:nvPr/>
        </p:nvSpPr>
        <p:spPr>
          <a:xfrm rot="0" flipH="0" flipV="0">
            <a:off x="704850" y="5391150"/>
            <a:ext cx="10858500" cy="819150"/>
          </a:xfrm>
          <a:prstGeom prst="roundRect">
            <a:avLst>
              <a:gd name="adj" fmla="val 6977"/>
            </a:avLst>
          </a:prstGeom>
          <a:solidFill>
            <a:srgbClr val="F5F7FA"/>
          </a:solidFill>
          <a:ln/>
        </p:spPr>
        <p:txBody>
          <a:bodyPr/>
          <a:p/>
        </p:txBody>
      </p:sp>
      <p:sp>
        <p:nvSpPr>
          <p:cNvPr id="320" name=""/>
          <p:cNvSpPr/>
          <p:nvPr/>
        </p:nvSpPr>
        <p:spPr>
          <a:xfrm rot="0" flipH="0" flipV="0">
            <a:off x="704850" y="5391150"/>
            <a:ext cx="10858500" cy="819150"/>
          </a:xfrm>
          <a:custGeom>
            <a:pathLst>
              <a:path w="1140" h="86">
                <a:moveTo>
                  <a:pt x="6" y="0"/>
                </a:moveTo>
                <a:cubicBezTo>
                  <a:pt x="5" y="0"/>
                  <a:pt x="4" y="1"/>
                  <a:pt x="4" y="2"/>
                </a:cubicBezTo>
                <a:lnTo>
                  <a:pt x="4" y="84"/>
                </a:lnTo>
                <a:cubicBezTo>
                  <a:pt x="4" y="85"/>
                  <a:pt x="5" y="86"/>
                  <a:pt x="6" y="86"/>
                </a:cubicBezTo>
                <a:cubicBezTo>
                  <a:pt x="3" y="86"/>
                  <a:pt x="0" y="83"/>
                  <a:pt x="0" y="80"/>
                </a:cubicBezTo>
                <a:lnTo>
                  <a:pt x="0" y="6"/>
                </a:lnTo>
                <a:cubicBezTo>
                  <a:pt x="0" y="3"/>
                  <a:pt x="3" y="0"/>
                  <a:pt x="6" y="0"/>
                </a:cubicBezTo>
                <a:close/>
              </a:path>
            </a:pathLst>
          </a:custGeom>
          <a:solidFill>
            <a:srgbClr val="0E2340"/>
          </a:solidFill>
          <a:ln/>
        </p:spPr>
        <p:txBody>
          <a:bodyPr/>
          <a:p/>
        </p:txBody>
      </p:sp>
      <p:sp>
        <p:nvSpPr>
          <p:cNvPr id="321" name="" descr="{&quot;isTemplate&quot;:true,&quot;type&quot;:&quot;text&quot;}"/>
          <p:cNvSpPr txBox="1"/>
          <p:nvPr/>
        </p:nvSpPr>
        <p:spPr>
          <a:xfrm rot="0" flipH="0" flipV="0">
            <a:off x="895350" y="5524500"/>
            <a:ext cx="10439400" cy="552450"/>
          </a:xfrm>
          <a:prstGeom prst="rect"/>
        </p:spPr>
        <p:txBody>
          <a:bodyPr wrap="square" lIns="0" tIns="0" rIns="0" bIns="0">
            <a:normAutofit/>
          </a:bodyPr>
          <a:p>
            <a:pPr>
              <a:lnSpc>
                <a:spcPct val="150000"/>
              </a:lnSpc>
            </a:pPr>
            <a:r>
              <a:rPr lang="zh-CN" sz="1200" b="1">
                <a:solidFill>
                  <a:srgbClr val="0E2340"/>
                </a:solidFill>
                <a:latin typeface="Microsoft YaHei"/>
                <a:ea typeface="Microsoft YaHei"/>
              </a:rPr>
              <a:t>两条约束：完整模式允许路径与内容不同，但应控制总负担，保留探索、多解法和学生自主选择；系统发现新缺口时需要调整任务，而不是在原作业上无限追加补练。教师根据共性问题组织后续课堂，而不是让每个学生全天独自与</a:t>
            </a:r>
            <a:r>
              <a:rPr lang="en-US" sz="1200" b="1">
                <a:solidFill>
                  <a:srgbClr val="0E2340"/>
                </a:solidFill>
                <a:latin typeface="Microsoft YaHei"/>
                <a:ea typeface="Microsoft YaHei"/>
              </a:rPr>
              <a:t xml:space="preserve"> AI </a:t>
            </a:r>
            <a:r>
              <a:rPr lang="zh-CN" sz="1200" b="1">
                <a:solidFill>
                  <a:srgbClr val="0E2340"/>
                </a:solidFill>
                <a:latin typeface="Microsoft YaHei"/>
                <a:ea typeface="Microsoft YaHei"/>
              </a:rPr>
              <a:t>对话</a:t>
            </a:r>
            <a:endParaRPr/>
          </a:p>
        </p:txBody>
      </p:sp>
      <p:sp>
        <p:nvSpPr>
          <p:cNvPr id="322"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323"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依据：两种教学模式与应用边界</a:t>
            </a:r>
            <a:r>
              <a:rPr lang="en-US" sz="975">
                <a:solidFill>
                  <a:srgbClr val="7A8699"/>
                </a:solidFill>
                <a:latin typeface="Microsoft YaHei"/>
                <a:ea typeface="Microsoft YaHei"/>
              </a:rPr>
              <a:t>.md §2</a:t>
            </a:r>
            <a:endParaRPr/>
          </a:p>
        </p:txBody>
      </p:sp>
      <p:sp>
        <p:nvSpPr>
          <p:cNvPr id="324" name="" descr="{&quot;isTemplate&quot;:true,&quot;type&quot;:&quot;text&quot;}"/>
          <p:cNvSpPr txBox="1"/>
          <p:nvPr/>
        </p:nvSpPr>
        <p:spPr>
          <a:xfrm rot="0" flipH="0" flipV="0">
            <a:off x="10887075" y="6372225"/>
            <a:ext cx="6381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107 / 124 </a:t>
            </a:r>
            <a:endParaRPr/>
          </a:p>
        </p:txBody>
      </p:sp>
    </p:spTree>
  </p:cSld>
</p:sld>
</file>

<file path=ppt/slides/slide108.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325"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1 / 落地与边界&lt;/Text&gt;&lt;Text style={{ fontSize: 32, color: '#0E2340', fontWeight: 700, lineHeight: 1.3 }}&gt;教师在完整模式中的六个工作阶段&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paddingTop: 4 }}&gt;&lt;Box style={{ marginBottom: 14 }}&gt;&lt;Box style={{ flexDirection: 'row', alignItems: 'center', background: '#F5F7FA', borderLeft: '4px solid #0E2340', borderRadius: 6, padding: '14px 20px' }}&gt;&lt;Text style={{ fontSize: 20, color: '#0E2340', fontWeight: 600, lineHeight: 1.5 }}&gt;预期变化：减少重复整理与常规处理，将更多精力用于理解困难、课堂互动和个别支持&lt;/Text&gt;&lt;/Box&gt;&lt;/Box&gt;&lt;Box style={{ flex: 1 }}&gt;&lt;Table style={{ width: '100%', height: '100%' }} defaultTextStyle={{ fontSize: 15, textAlign: 'left', color: '#333A45' }} defaultCellStyle={{ padding: 10, border: { left: { width: 1, color: '#E3E8EF' }, right: { width: 1, color: '#E3E8EF' }, top: { width: 1, color: '#E3E8EF' }, bottom: { width: 1, color: '#E3E8EF' } } }} cells={[[{ text: '阶段', textStyle: { color: '#FFFFFF', fontWeight: 600, fontSize: 15 }, cellStyle: { background: { color: '#0E2340' } } }, { text: '教师主要行动', textStyle: { color: '#FFFFFF', fontWeight: 600, fontSize: 15 }, cellStyle: { background: { color: '#0E2340' } } }, { text: '系统支持', textStyle: { color: '#FFFFFF', fontWeight: 600, fontSize: 15 }, cellStyle: { background: { color: '#0E2340' } } }],&#10;        [{ text: '备课前', textStyle: { fontWeight: 600, fontSize: 15 } }, { text: '确认本课目标，核实前置和共性困难', textStyle: { fontSize: 15 } }, { text: '汇总课时关系与学情，准备教案和例题草稿', textStyle: { fontSize: 15 } }],&#10;        [{ text: '课堂中', textStyle: { fontWeight: 600, fontSize: 15 }, cellStyle: { background: { color: '#F5F7FA' } } }, { text: '组织讲解、讨论、演示与短诊断，观察学生理解', textStyle: { fontSize: 15 }, cellStyle: { background: { color: '#F5F7FA' } } }, { text: '提供分步素材、图形演示和适当课堂反馈', textStyle: { fontSize: 15 }, cellStyle: { background: { color: '#F5F7FA' } } }],&#10;        [{ text: '作业安排', textStyle: { fontWeight: 600, fontSize: 15 } }, { text: '确认共同任务及个性化差异，检查负担', textStyle: { fontSize: 15 } }, { text: '选题、补充复习、估计任务量并解释推荐', textStyle: { fontSize: 15 } }],&#10;        [{ text: '批改后', textStyle: { fontWeight: 600, fontSize: 15 }, cellStyle: { background: { color: '#F5F7FA' } } }, { text: '复核关键判断，决定全班重讲、小组补充或个别沟通', textStyle: { fontSize: 15 }, cellStyle: { background: { color: '#F5F7FA' } } }, { text: '定位步骤问题，汇总可核对的班级证据', textStyle: { fontSize: 15 }, cellStyle: { background: { color: '#F5F7FA' } } }],&#10;        [{ text: '考试后', textStyle: { fontWeight: 600, fontSize: 15 } }, { text: '核对阶段报告，调整后续课程', textStyle: { fontSize: 15 } }, { text: '联合试卷、作答、时间和历史记录形成分析', textStyle: { fontSize: 15 } }],&#10;        [{ text: '长期跟进', textStyle: { fontWeight: 600, fontSize: 15 }, cellStyle: { background: { color: '#F5F7FA' } } }, { text: '评价进步、开展教研并关注需支持的学生', textStyle: { fontSize: 15 }, cellStyle: { background: { color: '#F5F7FA' } } }, { text: '保留变化趋势、跟进任务和复测结果', textStyle: { fontSize: 15 }, cellStyle: { background: { color: '#F5F7FA' } } }]]} /&gt;&lt;/Box&gt;&lt;/Box&gt;&lt;/Box&gt;&lt;Box style={{ height: 40, flexDirection: 'row', justifyContent: 'space-between', alignItems: 'center', borderTop: '1px solid #E3E8EF', marginTop: 8 }}&gt;&lt;Text style={{ fontSize: 13, color: '#7A8699', fontWeight: 400, lineHeight: 1.4 }}&gt;依据：两种教学模式与应用边界.md §3&lt;/Text&gt;&lt;Text style={{ fontSize: 14, color: '#7A8699', fontWeight: 400, lineHeight: 1.4 }}&gt; 108 / 124 &lt;/Text&gt;&lt;/Box&gt;&lt;/Slide&gt;"/>
        <p:cNvGrpSpPr/>
        <p:nvPr/>
      </p:nvGrpSpPr>
      <p:grpSpPr>
        <a:xfrm>
          <a:off x="0" y="0"/>
          <a:ext cx="0" cy="0"/>
          <a:chOff x="0" y="0"/>
          <a:chExt cx="0" cy="0"/>
        </a:xfrm>
      </p:grpSpPr>
      <p:sp>
        <p:nvSpPr>
          <p:cNvPr id="326" name=""/>
          <p:cNvSpPr/>
          <p:nvPr/>
        </p:nvSpPr>
        <p:spPr>
          <a:xfrm rot="0" flipH="0" flipV="0">
            <a:off x="0" y="0"/>
            <a:ext cx="12192000" cy="6858000"/>
          </a:xfrm>
          <a:prstGeom prst="rect">
            <a:avLst/>
          </a:prstGeom>
          <a:solidFill>
            <a:srgbClr val="FFFFFF"/>
          </a:solidFill>
          <a:ln/>
        </p:spPr>
        <p:txBody>
          <a:bodyPr/>
          <a:p/>
        </p:txBody>
      </p:sp>
      <p:sp>
        <p:nvSpPr>
          <p:cNvPr id="327" name="" descr="{&quot;isTemplate&quot;:true,&quot;type&quot;:&quot;text&quot;}"/>
          <p:cNvSpPr txBox="1"/>
          <p:nvPr/>
        </p:nvSpPr>
        <p:spPr>
          <a:xfrm rot="0" flipH="0" flipV="0">
            <a:off x="666750" y="381000"/>
            <a:ext cx="45720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11 / </a:t>
            </a:r>
            <a:r>
              <a:rPr lang="zh-CN" sz="1050" spc="75">
                <a:solidFill>
                  <a:srgbClr val="7A8699"/>
                </a:solidFill>
                <a:latin typeface="Microsoft YaHei"/>
                <a:ea typeface="Microsoft YaHei"/>
              </a:rPr>
              <a:t>落地与边界</a:t>
            </a:r>
            <a:endParaRPr/>
          </a:p>
        </p:txBody>
      </p:sp>
      <p:sp>
        <p:nvSpPr>
          <p:cNvPr id="328" name="" descr="{&quot;isTemplate&quot;:true,&quot;type&quot;:&quot;text&quot;}"/>
          <p:cNvSpPr txBox="1"/>
          <p:nvPr/>
        </p:nvSpPr>
        <p:spPr>
          <a:xfrm rot="0" flipH="0" flipV="0">
            <a:off x="666750" y="666750"/>
            <a:ext cx="4572000" cy="476250"/>
          </a:xfrm>
          <a:prstGeom prst="rect"/>
        </p:spPr>
        <p:txBody>
          <a:bodyPr wrap="none" lIns="0" tIns="0" rIns="0" bIns="0"/>
          <a:p>
            <a:pPr>
              <a:lnSpc>
                <a:spcPct val="130000"/>
              </a:lnSpc>
            </a:pPr>
            <a:r>
              <a:rPr lang="zh-CN" sz="2400" b="1">
                <a:solidFill>
                  <a:srgbClr val="0E2340"/>
                </a:solidFill>
                <a:latin typeface="Microsoft YaHei"/>
                <a:ea typeface="Microsoft YaHei"/>
              </a:rPr>
              <a:t>教师在完整模式中的六个工作阶段</a:t>
            </a:r>
            <a:endParaRPr/>
          </a:p>
        </p:txBody>
      </p:sp>
      <p:sp>
        <p:nvSpPr>
          <p:cNvPr id="329"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330"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331" name=""/>
          <p:cNvSpPr/>
          <p:nvPr/>
        </p:nvSpPr>
        <p:spPr>
          <a:xfrm rot="0" flipH="0" flipV="0">
            <a:off x="704850" y="1257300"/>
            <a:ext cx="10858500" cy="609600"/>
          </a:xfrm>
          <a:prstGeom prst="roundRect">
            <a:avLst>
              <a:gd name="adj" fmla="val 9375"/>
            </a:avLst>
          </a:prstGeom>
          <a:solidFill>
            <a:srgbClr val="F5F7FA"/>
          </a:solidFill>
          <a:ln/>
        </p:spPr>
        <p:txBody>
          <a:bodyPr/>
          <a:p/>
        </p:txBody>
      </p:sp>
      <p:sp>
        <p:nvSpPr>
          <p:cNvPr id="332" name=""/>
          <p:cNvSpPr/>
          <p:nvPr/>
        </p:nvSpPr>
        <p:spPr>
          <a:xfrm rot="0" flipH="0" flipV="0">
            <a:off x="704850" y="12573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333" name="" descr="{&quot;isTemplate&quot;:true,&quot;type&quot;:&quot;text&quot;}"/>
          <p:cNvSpPr txBox="1"/>
          <p:nvPr/>
        </p:nvSpPr>
        <p:spPr>
          <a:xfrm rot="0" flipH="0" flipV="0">
            <a:off x="895350" y="1390650"/>
            <a:ext cx="7239000" cy="342900"/>
          </a:xfrm>
          <a:prstGeom prst="rect"/>
        </p:spPr>
        <p:txBody>
          <a:bodyPr wrap="none" lIns="0" tIns="0" rIns="0" bIns="0"/>
          <a:p>
            <a:pPr>
              <a:lnSpc>
                <a:spcPct val="150000"/>
              </a:lnSpc>
            </a:pPr>
            <a:r>
              <a:rPr lang="zh-CN" sz="1500" b="1">
                <a:solidFill>
                  <a:srgbClr val="0E2340"/>
                </a:solidFill>
                <a:latin typeface="Microsoft YaHei"/>
                <a:ea typeface="Microsoft YaHei"/>
              </a:rPr>
              <a:t>预期变化：减少重复整理与常规处理，将更多精力用于理解困难、课堂互动和个别支持</a:t>
            </a:r>
            <a:endParaRPr/>
          </a:p>
        </p:txBody>
      </p:sp>
      <p:graphicFrame>
        <p:nvGraphicFramePr>
          <p:cNvPr id="334" name=""/>
          <p:cNvGraphicFramePr/>
          <p:nvPr/>
        </p:nvGraphicFramePr>
        <p:xfrm rot="0" flipH="0" flipV="0">
          <a:off x="666750" y="2000250"/>
          <a:ext cx="10858500" cy="4210050"/>
        </p:xfrm>
        <a:graphic>
          <a:graphicData uri="http://schemas.openxmlformats.org/drawingml/2006/table">
            <a:tbl>
              <a:tblGrid>
                <a:gridCol w="1051407">
                  <a:extLst>
                    <a:ext uri="{9D8B030D-6E8A-4147-A177-3AD203B41FA5}">
                      <a16:colId val="1"/>
                    </a:ext>
                  </a:extLst>
                </a:gridCol>
                <a:gridCol w="5356739">
                  <a:extLst>
                    <a:ext uri="{9D8B030D-6E8A-4147-A177-3AD203B41FA5}">
                      <a16:colId val="2"/>
                    </a:ext>
                  </a:extLst>
                </a:gridCol>
                <a:gridCol w="4450354">
                  <a:extLst>
                    <a:ext uri="{9D8B030D-6E8A-4147-A177-3AD203B41FA5}">
                      <a16:colId val="3"/>
                    </a:ext>
                  </a:extLst>
                </a:gridCol>
              </a:tblGrid>
              <a:tr h="601436">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阶段</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教师主要行动</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系统支持</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60143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备课前</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确认本课目标，核实前置和共性困难</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汇总课时关系与学情，准备教案和例题草稿</a:t>
                      </a:r>
                      <a:endParaRPr/>
                    </a:p>
                  </a:txBody>
                  <a:tcPr marL="45720" marR="45720" marT="45720" marB="45720" anchor="ctr">
                    <a:lnL>
                      <a:noFill/>
                    </a:lnL>
                    <a:lnR>
                      <a:noFill/>
                    </a:lnR>
                    <a:lnT>
                      <a:noFill/>
                    </a:lnT>
                    <a:lnB>
                      <a:noFill/>
                    </a:lnB>
                  </a:tcPr>
                </a:tc>
                <a:extLst>
                  <a:ext uri="{0D108BD9-81ED-4DB2-BD59-A6C34878D82A}">
                    <a16:rowId val="2"/>
                  </a:ext>
                </a:extLst>
              </a:tr>
              <a:tr h="60143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课堂中</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组织讲解、讨论、演示与短诊断，观察学生理解</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提供分步素材、图形演示和适当课堂反馈</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60143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作业安排</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确认共同任务及个性化差异，检查负担</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选题、补充复习、估计任务量并解释推荐</a:t>
                      </a:r>
                      <a:endParaRPr/>
                    </a:p>
                  </a:txBody>
                  <a:tcPr marL="45720" marR="45720" marT="45720" marB="45720" anchor="ctr">
                    <a:lnL>
                      <a:noFill/>
                    </a:lnL>
                    <a:lnR>
                      <a:noFill/>
                    </a:lnR>
                    <a:lnT>
                      <a:noFill/>
                    </a:lnT>
                    <a:lnB>
                      <a:noFill/>
                    </a:lnB>
                  </a:tcPr>
                </a:tc>
                <a:extLst>
                  <a:ext uri="{0D108BD9-81ED-4DB2-BD59-A6C34878D82A}">
                    <a16:rowId val="4"/>
                  </a:ext>
                </a:extLst>
              </a:tr>
              <a:tr h="60143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批改后</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复核关键判断，决定全班重讲、小组补充或个别沟通</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定位步骤问题，汇总可核对的班级证据</a:t>
                      </a:r>
                      <a:endParaRPr/>
                    </a:p>
                  </a:txBody>
                  <a:tcPr marL="45720" marR="45720" marT="45720" marB="45720" anchor="ctr">
                    <a:lnL>
                      <a:noFill/>
                    </a:lnL>
                    <a:lnR>
                      <a:noFill/>
                    </a:lnR>
                    <a:lnT>
                      <a:noFill/>
                    </a:lnT>
                    <a:lnB>
                      <a:noFill/>
                    </a:lnB>
                    <a:solidFill>
                      <a:srgbClr val="F5F7FA"/>
                    </a:solidFill>
                  </a:tcPr>
                </a:tc>
                <a:extLst>
                  <a:ext uri="{0D108BD9-81ED-4DB2-BD59-A6C34878D82A}">
                    <a16:rowId val="5"/>
                  </a:ext>
                </a:extLst>
              </a:tr>
              <a:tr h="60143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考试后</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核对阶段报告，调整后续课程</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联合试卷、作答、时间和历史记录形成分析</a:t>
                      </a:r>
                      <a:endParaRPr/>
                    </a:p>
                  </a:txBody>
                  <a:tcPr marL="45720" marR="45720" marT="45720" marB="45720" anchor="ctr">
                    <a:lnL>
                      <a:noFill/>
                    </a:lnL>
                    <a:lnR>
                      <a:noFill/>
                    </a:lnR>
                    <a:lnT>
                      <a:noFill/>
                    </a:lnT>
                    <a:lnB>
                      <a:noFill/>
                    </a:lnB>
                  </a:tcPr>
                </a:tc>
                <a:extLst>
                  <a:ext uri="{0D108BD9-81ED-4DB2-BD59-A6C34878D82A}">
                    <a16:rowId val="6"/>
                  </a:ext>
                </a:extLst>
              </a:tr>
              <a:tr h="60143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长期跟进</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评价进步、开展教研并关注需支持的学生</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保留变化趋势、跟进任务和复测结果</a:t>
                      </a:r>
                      <a:endParaRPr/>
                    </a:p>
                  </a:txBody>
                  <a:tcPr marL="45720" marR="45720" marT="45720" marB="45720" anchor="ctr">
                    <a:lnL>
                      <a:noFill/>
                    </a:lnL>
                    <a:lnR>
                      <a:noFill/>
                    </a:lnR>
                    <a:lnT>
                      <a:noFill/>
                    </a:lnT>
                    <a:lnB>
                      <a:noFill/>
                    </a:lnB>
                    <a:solidFill>
                      <a:srgbClr val="F5F7FA"/>
                    </a:solidFill>
                  </a:tcPr>
                </a:tc>
                <a:extLst>
                  <a:ext uri="{0D108BD9-81ED-4DB2-BD59-A6C34878D82A}">
                    <a16:rowId val="7"/>
                  </a:ext>
                </a:extLst>
              </a:tr>
            </a:tbl>
          </a:graphicData>
        </a:graphic>
      </p:graphicFrame>
      <p:sp>
        <p:nvSpPr>
          <p:cNvPr id="335"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336"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依据：两种教学模式与应用边界</a:t>
            </a:r>
            <a:r>
              <a:rPr lang="en-US" sz="975">
                <a:solidFill>
                  <a:srgbClr val="7A8699"/>
                </a:solidFill>
                <a:latin typeface="Microsoft YaHei"/>
                <a:ea typeface="Microsoft YaHei"/>
              </a:rPr>
              <a:t>.md §3</a:t>
            </a:r>
            <a:endParaRPr/>
          </a:p>
        </p:txBody>
      </p:sp>
      <p:sp>
        <p:nvSpPr>
          <p:cNvPr id="337" name="" descr="{&quot;isTemplate&quot;:true,&quot;type&quot;:&quot;text&quot;}"/>
          <p:cNvSpPr txBox="1"/>
          <p:nvPr/>
        </p:nvSpPr>
        <p:spPr>
          <a:xfrm rot="0" flipH="0" flipV="0">
            <a:off x="10887075" y="6372225"/>
            <a:ext cx="6381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108 / 124 </a:t>
            </a:r>
            <a:endParaRPr/>
          </a:p>
        </p:txBody>
      </p:sp>
    </p:spTree>
  </p:cSld>
</p:sld>
</file>

<file path=ppt/slides/slide109.xml><?xml version="1.0" encoding="utf-8"?>
<p:sld xmlns:p="http://schemas.openxmlformats.org/presentationml/2006/main" xmlns:a="http://schemas.openxmlformats.org/drawingml/2006/main">
  <p:cSld>
    <p:spTree>
      <p:nvGrpSpPr>
        <p:cNvPr id="338"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1 / 落地与边界&lt;/Text&gt;&lt;Text style={{ fontSize: 32, color: '#0E2340', fontWeight: 700, lineHeight: 1.3 }}&gt;完整模式需要哪些条件&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4 }}&gt;&lt;Box style={{ flexDirection: 'row', gap: 20, flex: 1 }}&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① 稳定的定义&lt;/Text&gt;&lt;Text style={{ fontSize: 16, color: '#333A45', fontWeight: 400, lineHeight: 1.6 }}&gt;课程、知识点、步骤和套路定义影响推荐、批改、组卷和长期比较的一致性&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② 可持续的记录&lt;/Text&gt;&lt;Text style={{ fontSize: 16, color: '#333A45', fontWeight: 400, lineHeight: 1.6 }}&gt;作答和教师复核记录支持有依据的个性化与班级教学调整&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③ 班级与课时接入&lt;/Text&gt;&lt;Text style={{ fontSize: 16, color: '#333A45', fontWeight: 400, lineHeight: 1.6 }}&gt;使学生安排与学校真实课程协同&lt;/Text&gt;&lt;/Box&gt;&lt;/Box&gt;&lt;/Box&gt;&lt;Box style={{ flexDirection: 'row', gap: 20, flex: 1 }}&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④ 设备与适当支持&lt;/Text&gt;&lt;Text style={{ fontSize: 16, color: '#333A45', fontWeight: 400, lineHeight: 1.6 }}&gt;使不同学生都能使用相应学习流程&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⑤ 按职责控制访问&lt;/Text&gt;&lt;Text style={{ fontSize: 16, color: '#333A45', fontWeight: 400, lineHeight: 1.6 }}&gt;使学生、教师、学校各自使用必要能力&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⑥ 可靠的独立评价&lt;/Text&gt;&lt;Text style={{ fontSize: 16, color: '#333A45', fontWeight: 400, lineHeight: 1.6 }}&gt;判断进步是否来自学习，避免历史评价失去可比性&lt;/Text&gt;&lt;/Box&gt;&lt;/Box&gt;&lt;/Box&gt;&lt;Box style={{ flexDirection: 'row', alignItems: 'center', background: '#F5F7FA', borderLeft: '4px solid #00A9B5', borderRadius: 6, padding: '14px 20px' }}&gt;&lt;Text style={{ fontSize: 16, color: '#0E2340', fontWeight: 600, lineHeight: 1.5 }}&gt;手写时间戳是过程分析的重要增强能力，但不能因没有手写设备就排除学生；缺失时间线的任务不生成伪造用时。完整接入不意味着第一天就有完整历史，新学生可以通过先导测试和后续任务逐步建立记录&lt;/Text&gt;&lt;/Box&gt;&lt;/Box&gt;&lt;/Box&gt;&lt;Box style={{ height: 40, flexDirection: 'row', justifyContent: 'space-between', alignItems: 'center', borderTop: '1px solid #E3E8EF', marginTop: 8 }}&gt;&lt;Text style={{ fontSize: 13, color: '#7A8699', fontWeight: 400, lineHeight: 1.4 }}&gt;依据：两种教学模式与应用边界.md §4&lt;/Text&gt;&lt;Text style={{ fontSize: 14, color: '#7A8699', fontWeight: 400, lineHeight: 1.4 }}&gt; 109 / 124 &lt;/Text&gt;&lt;/Box&gt;&lt;/Slide&gt;"/>
        <p:cNvGrpSpPr/>
        <p:nvPr/>
      </p:nvGrpSpPr>
      <p:grpSpPr>
        <a:xfrm>
          <a:off x="0" y="0"/>
          <a:ext cx="0" cy="0"/>
          <a:chOff x="0" y="0"/>
          <a:chExt cx="0" cy="0"/>
        </a:xfrm>
      </p:grpSpPr>
      <p:sp>
        <p:nvSpPr>
          <p:cNvPr id="339" name=""/>
          <p:cNvSpPr/>
          <p:nvPr/>
        </p:nvSpPr>
        <p:spPr>
          <a:xfrm rot="0" flipH="0" flipV="0">
            <a:off x="0" y="0"/>
            <a:ext cx="12192000" cy="6858000"/>
          </a:xfrm>
          <a:prstGeom prst="rect">
            <a:avLst/>
          </a:prstGeom>
          <a:solidFill>
            <a:srgbClr val="FFFFFF"/>
          </a:solidFill>
          <a:ln/>
        </p:spPr>
        <p:txBody>
          <a:bodyPr/>
          <a:p/>
        </p:txBody>
      </p:sp>
      <p:sp>
        <p:nvSpPr>
          <p:cNvPr id="340" name="" descr="{&quot;isTemplate&quot;:true,&quot;type&quot;:&quot;text&quot;}"/>
          <p:cNvSpPr txBox="1"/>
          <p:nvPr/>
        </p:nvSpPr>
        <p:spPr>
          <a:xfrm rot="0" flipH="0" flipV="0">
            <a:off x="666750" y="381000"/>
            <a:ext cx="30480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11 / </a:t>
            </a:r>
            <a:r>
              <a:rPr lang="zh-CN" sz="1050" spc="75">
                <a:solidFill>
                  <a:srgbClr val="7A8699"/>
                </a:solidFill>
                <a:latin typeface="Microsoft YaHei"/>
                <a:ea typeface="Microsoft YaHei"/>
              </a:rPr>
              <a:t>落地与边界</a:t>
            </a:r>
            <a:endParaRPr/>
          </a:p>
        </p:txBody>
      </p:sp>
      <p:sp>
        <p:nvSpPr>
          <p:cNvPr id="341" name="" descr="{&quot;isTemplate&quot;:true,&quot;type&quot;:&quot;text&quot;}"/>
          <p:cNvSpPr txBox="1"/>
          <p:nvPr/>
        </p:nvSpPr>
        <p:spPr>
          <a:xfrm rot="0" flipH="0" flipV="0">
            <a:off x="666750" y="666750"/>
            <a:ext cx="3048000" cy="476250"/>
          </a:xfrm>
          <a:prstGeom prst="rect"/>
        </p:spPr>
        <p:txBody>
          <a:bodyPr wrap="none" lIns="0" tIns="0" rIns="0" bIns="0"/>
          <a:p>
            <a:pPr>
              <a:lnSpc>
                <a:spcPct val="130000"/>
              </a:lnSpc>
            </a:pPr>
            <a:r>
              <a:rPr lang="zh-CN" sz="2400" b="1">
                <a:solidFill>
                  <a:srgbClr val="0E2340"/>
                </a:solidFill>
                <a:latin typeface="Microsoft YaHei"/>
                <a:ea typeface="Microsoft YaHei"/>
              </a:rPr>
              <a:t>完整模式需要哪些条件</a:t>
            </a:r>
            <a:endParaRPr/>
          </a:p>
        </p:txBody>
      </p:sp>
      <p:sp>
        <p:nvSpPr>
          <p:cNvPr id="342"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343"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344" name=""/>
          <p:cNvSpPr/>
          <p:nvPr/>
        </p:nvSpPr>
        <p:spPr>
          <a:xfrm rot="0" flipH="0" flipV="0">
            <a:off x="666750" y="1219200"/>
            <a:ext cx="3486150" cy="1952625"/>
          </a:xfrm>
          <a:prstGeom prst="roundRect">
            <a:avLst>
              <a:gd name="adj" fmla="val 3902"/>
            </a:avLst>
          </a:prstGeom>
          <a:solidFill>
            <a:srgbClr val="FFFFFF"/>
          </a:solidFill>
          <a:ln w="12700">
            <a:solidFill>
              <a:srgbClr val="E3E8EF"/>
            </a:solidFill>
            <a:prstDash val="solid"/>
          </a:ln>
        </p:spPr>
        <p:txBody>
          <a:bodyPr/>
          <a:p/>
        </p:txBody>
      </p:sp>
      <p:sp>
        <p:nvSpPr>
          <p:cNvPr id="345" name=""/>
          <p:cNvSpPr/>
          <p:nvPr/>
        </p:nvSpPr>
        <p:spPr>
          <a:xfrm rot="0" flipH="0" flipV="0">
            <a:off x="666750" y="12192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346" name="" descr="{&quot;isTemplate&quot;:true,&quot;type&quot;:&quot;text&quot;}"/>
          <p:cNvSpPr txBox="1"/>
          <p:nvPr/>
        </p:nvSpPr>
        <p:spPr>
          <a:xfrm rot="0" flipH="0" flipV="0">
            <a:off x="857250" y="1447800"/>
            <a:ext cx="31051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① </a:t>
            </a:r>
            <a:r>
              <a:rPr lang="zh-CN" sz="1500" b="1">
                <a:solidFill>
                  <a:srgbClr val="0E2340"/>
                </a:solidFill>
                <a:latin typeface="Microsoft YaHei"/>
                <a:ea typeface="Microsoft YaHei"/>
              </a:rPr>
              <a:t>稳定的定义</a:t>
            </a:r>
            <a:endParaRPr/>
          </a:p>
        </p:txBody>
      </p:sp>
      <p:sp>
        <p:nvSpPr>
          <p:cNvPr id="347" name="" descr="{&quot;isTemplate&quot;:true,&quot;type&quot;:&quot;text&quot;}"/>
          <p:cNvSpPr txBox="1"/>
          <p:nvPr/>
        </p:nvSpPr>
        <p:spPr>
          <a:xfrm rot="0" flipH="0" flipV="0">
            <a:off x="857250" y="1866900"/>
            <a:ext cx="310515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课程、知识点、步骤和套路定义影响推荐、批改、组卷和长期比较的一致性</a:t>
            </a:r>
            <a:endParaRPr/>
          </a:p>
        </p:txBody>
      </p:sp>
      <p:sp>
        <p:nvSpPr>
          <p:cNvPr id="348" name=""/>
          <p:cNvSpPr/>
          <p:nvPr/>
        </p:nvSpPr>
        <p:spPr>
          <a:xfrm rot="0" flipH="0" flipV="0">
            <a:off x="4343400" y="1219200"/>
            <a:ext cx="3486150" cy="1952625"/>
          </a:xfrm>
          <a:prstGeom prst="roundRect">
            <a:avLst>
              <a:gd name="adj" fmla="val 3902"/>
            </a:avLst>
          </a:prstGeom>
          <a:solidFill>
            <a:srgbClr val="FFFFFF"/>
          </a:solidFill>
          <a:ln w="12700">
            <a:solidFill>
              <a:srgbClr val="E3E8EF"/>
            </a:solidFill>
            <a:prstDash val="solid"/>
          </a:ln>
        </p:spPr>
        <p:txBody>
          <a:bodyPr/>
          <a:p/>
        </p:txBody>
      </p:sp>
      <p:sp>
        <p:nvSpPr>
          <p:cNvPr id="349" name=""/>
          <p:cNvSpPr/>
          <p:nvPr/>
        </p:nvSpPr>
        <p:spPr>
          <a:xfrm rot="0" flipH="0" flipV="0">
            <a:off x="4343400" y="12192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350" name="" descr="{&quot;isTemplate&quot;:true,&quot;type&quot;:&quot;text&quot;}"/>
          <p:cNvSpPr txBox="1"/>
          <p:nvPr/>
        </p:nvSpPr>
        <p:spPr>
          <a:xfrm rot="0" flipH="0" flipV="0">
            <a:off x="4533900" y="1447800"/>
            <a:ext cx="31051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② </a:t>
            </a:r>
            <a:r>
              <a:rPr lang="zh-CN" sz="1500" b="1">
                <a:solidFill>
                  <a:srgbClr val="0E2340"/>
                </a:solidFill>
                <a:latin typeface="Microsoft YaHei"/>
                <a:ea typeface="Microsoft YaHei"/>
              </a:rPr>
              <a:t>可持续的记录</a:t>
            </a:r>
            <a:endParaRPr/>
          </a:p>
        </p:txBody>
      </p:sp>
      <p:sp>
        <p:nvSpPr>
          <p:cNvPr id="351" name="" descr="{&quot;isTemplate&quot;:true,&quot;type&quot;:&quot;text&quot;}"/>
          <p:cNvSpPr txBox="1"/>
          <p:nvPr/>
        </p:nvSpPr>
        <p:spPr>
          <a:xfrm rot="0" flipH="0" flipV="0">
            <a:off x="4533900" y="1866900"/>
            <a:ext cx="310515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作答和教师复核记录支持有依据的个性化与班级教学调整</a:t>
            </a:r>
            <a:endParaRPr/>
          </a:p>
        </p:txBody>
      </p:sp>
      <p:sp>
        <p:nvSpPr>
          <p:cNvPr id="352" name=""/>
          <p:cNvSpPr/>
          <p:nvPr/>
        </p:nvSpPr>
        <p:spPr>
          <a:xfrm rot="0" flipH="0" flipV="0">
            <a:off x="8020050" y="1219200"/>
            <a:ext cx="3486150" cy="1952625"/>
          </a:xfrm>
          <a:prstGeom prst="roundRect">
            <a:avLst>
              <a:gd name="adj" fmla="val 3902"/>
            </a:avLst>
          </a:prstGeom>
          <a:solidFill>
            <a:srgbClr val="FFFFFF"/>
          </a:solidFill>
          <a:ln w="12700">
            <a:solidFill>
              <a:srgbClr val="E3E8EF"/>
            </a:solidFill>
            <a:prstDash val="solid"/>
          </a:ln>
        </p:spPr>
        <p:txBody>
          <a:bodyPr/>
          <a:p/>
        </p:txBody>
      </p:sp>
      <p:sp>
        <p:nvSpPr>
          <p:cNvPr id="353" name=""/>
          <p:cNvSpPr/>
          <p:nvPr/>
        </p:nvSpPr>
        <p:spPr>
          <a:xfrm rot="0" flipH="0" flipV="0">
            <a:off x="8020050" y="1219200"/>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354" name="" descr="{&quot;isTemplate&quot;:true,&quot;type&quot;:&quot;text&quot;}"/>
          <p:cNvSpPr txBox="1"/>
          <p:nvPr/>
        </p:nvSpPr>
        <p:spPr>
          <a:xfrm rot="0" flipH="0" flipV="0">
            <a:off x="8210550" y="1447800"/>
            <a:ext cx="31051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③ </a:t>
            </a:r>
            <a:r>
              <a:rPr lang="zh-CN" sz="1500" b="1">
                <a:solidFill>
                  <a:srgbClr val="0E2340"/>
                </a:solidFill>
                <a:latin typeface="Microsoft YaHei"/>
                <a:ea typeface="Microsoft YaHei"/>
              </a:rPr>
              <a:t>班级与课时接入</a:t>
            </a:r>
            <a:endParaRPr/>
          </a:p>
        </p:txBody>
      </p:sp>
      <p:sp>
        <p:nvSpPr>
          <p:cNvPr id="355" name="" descr="{&quot;isTemplate&quot;:true,&quot;type&quot;:&quot;text&quot;}"/>
          <p:cNvSpPr txBox="1"/>
          <p:nvPr/>
        </p:nvSpPr>
        <p:spPr>
          <a:xfrm rot="0" flipH="0" flipV="0">
            <a:off x="8210550" y="1866900"/>
            <a:ext cx="3105150" cy="295275"/>
          </a:xfrm>
          <a:prstGeom prst="rect"/>
        </p:spPr>
        <p:txBody>
          <a:bodyPr wrap="none" lIns="0" tIns="0" rIns="0" bIns="0"/>
          <a:p>
            <a:pPr>
              <a:lnSpc>
                <a:spcPct val="160000"/>
              </a:lnSpc>
            </a:pPr>
            <a:r>
              <a:rPr lang="zh-CN" sz="1200">
                <a:solidFill>
                  <a:srgbClr val="333A45"/>
                </a:solidFill>
                <a:latin typeface="Microsoft YaHei"/>
                <a:ea typeface="Microsoft YaHei"/>
              </a:rPr>
              <a:t>使学生安排与学校真实课程协同</a:t>
            </a:r>
            <a:endParaRPr/>
          </a:p>
        </p:txBody>
      </p:sp>
      <p:sp>
        <p:nvSpPr>
          <p:cNvPr id="356" name=""/>
          <p:cNvSpPr/>
          <p:nvPr/>
        </p:nvSpPr>
        <p:spPr>
          <a:xfrm rot="0" flipH="0" flipV="0">
            <a:off x="666750" y="3305175"/>
            <a:ext cx="3486150" cy="1952625"/>
          </a:xfrm>
          <a:prstGeom prst="roundRect">
            <a:avLst>
              <a:gd name="adj" fmla="val 3902"/>
            </a:avLst>
          </a:prstGeom>
          <a:solidFill>
            <a:srgbClr val="FFFFFF"/>
          </a:solidFill>
          <a:ln w="12700">
            <a:solidFill>
              <a:srgbClr val="E3E8EF"/>
            </a:solidFill>
            <a:prstDash val="solid"/>
          </a:ln>
        </p:spPr>
        <p:txBody>
          <a:bodyPr/>
          <a:p/>
        </p:txBody>
      </p:sp>
      <p:sp>
        <p:nvSpPr>
          <p:cNvPr id="357" name=""/>
          <p:cNvSpPr/>
          <p:nvPr/>
        </p:nvSpPr>
        <p:spPr>
          <a:xfrm rot="0" flipH="0" flipV="0">
            <a:off x="666750" y="3305175"/>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358" name="" descr="{&quot;isTemplate&quot;:true,&quot;type&quot;:&quot;text&quot;}"/>
          <p:cNvSpPr txBox="1"/>
          <p:nvPr/>
        </p:nvSpPr>
        <p:spPr>
          <a:xfrm rot="0" flipH="0" flipV="0">
            <a:off x="857250" y="3533775"/>
            <a:ext cx="31051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④ </a:t>
            </a:r>
            <a:r>
              <a:rPr lang="zh-CN" sz="1500" b="1">
                <a:solidFill>
                  <a:srgbClr val="0E2340"/>
                </a:solidFill>
                <a:latin typeface="Microsoft YaHei"/>
                <a:ea typeface="Microsoft YaHei"/>
              </a:rPr>
              <a:t>设备与适当支持</a:t>
            </a:r>
            <a:endParaRPr/>
          </a:p>
        </p:txBody>
      </p:sp>
      <p:sp>
        <p:nvSpPr>
          <p:cNvPr id="359" name="" descr="{&quot;isTemplate&quot;:true,&quot;type&quot;:&quot;text&quot;}"/>
          <p:cNvSpPr txBox="1"/>
          <p:nvPr/>
        </p:nvSpPr>
        <p:spPr>
          <a:xfrm rot="0" flipH="0" flipV="0">
            <a:off x="857250" y="3952875"/>
            <a:ext cx="3105150" cy="295275"/>
          </a:xfrm>
          <a:prstGeom prst="rect"/>
        </p:spPr>
        <p:txBody>
          <a:bodyPr wrap="none" lIns="0" tIns="0" rIns="0" bIns="0"/>
          <a:p>
            <a:pPr>
              <a:lnSpc>
                <a:spcPct val="160000"/>
              </a:lnSpc>
            </a:pPr>
            <a:r>
              <a:rPr lang="zh-CN" sz="1200">
                <a:solidFill>
                  <a:srgbClr val="333A45"/>
                </a:solidFill>
                <a:latin typeface="Microsoft YaHei"/>
                <a:ea typeface="Microsoft YaHei"/>
              </a:rPr>
              <a:t>使不同学生都能使用相应学习流程</a:t>
            </a:r>
            <a:endParaRPr/>
          </a:p>
        </p:txBody>
      </p:sp>
      <p:sp>
        <p:nvSpPr>
          <p:cNvPr id="360" name=""/>
          <p:cNvSpPr/>
          <p:nvPr/>
        </p:nvSpPr>
        <p:spPr>
          <a:xfrm rot="0" flipH="0" flipV="0">
            <a:off x="4343400" y="3305175"/>
            <a:ext cx="3486150" cy="1952625"/>
          </a:xfrm>
          <a:prstGeom prst="roundRect">
            <a:avLst>
              <a:gd name="adj" fmla="val 3902"/>
            </a:avLst>
          </a:prstGeom>
          <a:solidFill>
            <a:srgbClr val="FFFFFF"/>
          </a:solidFill>
          <a:ln w="12700">
            <a:solidFill>
              <a:srgbClr val="E3E8EF"/>
            </a:solidFill>
            <a:prstDash val="solid"/>
          </a:ln>
        </p:spPr>
        <p:txBody>
          <a:bodyPr/>
          <a:p/>
        </p:txBody>
      </p:sp>
      <p:sp>
        <p:nvSpPr>
          <p:cNvPr id="361" name=""/>
          <p:cNvSpPr/>
          <p:nvPr/>
        </p:nvSpPr>
        <p:spPr>
          <a:xfrm rot="0" flipH="0" flipV="0">
            <a:off x="4343400" y="3305175"/>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362" name="" descr="{&quot;isTemplate&quot;:true,&quot;type&quot;:&quot;text&quot;}"/>
          <p:cNvSpPr txBox="1"/>
          <p:nvPr/>
        </p:nvSpPr>
        <p:spPr>
          <a:xfrm rot="0" flipH="0" flipV="0">
            <a:off x="4533900" y="3533775"/>
            <a:ext cx="31051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⑤ </a:t>
            </a:r>
            <a:r>
              <a:rPr lang="zh-CN" sz="1500" b="1">
                <a:solidFill>
                  <a:srgbClr val="0E2340"/>
                </a:solidFill>
                <a:latin typeface="Microsoft YaHei"/>
                <a:ea typeface="Microsoft YaHei"/>
              </a:rPr>
              <a:t>按职责控制访问</a:t>
            </a:r>
            <a:endParaRPr/>
          </a:p>
        </p:txBody>
      </p:sp>
      <p:sp>
        <p:nvSpPr>
          <p:cNvPr id="363" name="" descr="{&quot;isTemplate&quot;:true,&quot;type&quot;:&quot;text&quot;}"/>
          <p:cNvSpPr txBox="1"/>
          <p:nvPr/>
        </p:nvSpPr>
        <p:spPr>
          <a:xfrm rot="0" flipH="0" flipV="0">
            <a:off x="4533900" y="3952875"/>
            <a:ext cx="3105150" cy="295275"/>
          </a:xfrm>
          <a:prstGeom prst="rect"/>
        </p:spPr>
        <p:txBody>
          <a:bodyPr wrap="none" lIns="0" tIns="0" rIns="0" bIns="0"/>
          <a:p>
            <a:pPr>
              <a:lnSpc>
                <a:spcPct val="160000"/>
              </a:lnSpc>
            </a:pPr>
            <a:r>
              <a:rPr lang="zh-CN" sz="1200">
                <a:solidFill>
                  <a:srgbClr val="333A45"/>
                </a:solidFill>
                <a:latin typeface="Microsoft YaHei"/>
                <a:ea typeface="Microsoft YaHei"/>
              </a:rPr>
              <a:t>使学生、教师、学校各自使用必要能力</a:t>
            </a:r>
            <a:endParaRPr/>
          </a:p>
        </p:txBody>
      </p:sp>
      <p:sp>
        <p:nvSpPr>
          <p:cNvPr id="364" name=""/>
          <p:cNvSpPr/>
          <p:nvPr/>
        </p:nvSpPr>
        <p:spPr>
          <a:xfrm rot="0" flipH="0" flipV="0">
            <a:off x="8020050" y="3305175"/>
            <a:ext cx="3486150" cy="1952625"/>
          </a:xfrm>
          <a:prstGeom prst="roundRect">
            <a:avLst>
              <a:gd name="adj" fmla="val 3902"/>
            </a:avLst>
          </a:prstGeom>
          <a:solidFill>
            <a:srgbClr val="FFFFFF"/>
          </a:solidFill>
          <a:ln w="12700">
            <a:solidFill>
              <a:srgbClr val="E3E8EF"/>
            </a:solidFill>
            <a:prstDash val="solid"/>
          </a:ln>
        </p:spPr>
        <p:txBody>
          <a:bodyPr/>
          <a:p/>
        </p:txBody>
      </p:sp>
      <p:sp>
        <p:nvSpPr>
          <p:cNvPr id="365" name=""/>
          <p:cNvSpPr/>
          <p:nvPr/>
        </p:nvSpPr>
        <p:spPr>
          <a:xfrm rot="0" flipH="0" flipV="0">
            <a:off x="8020050" y="3305175"/>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366" name="" descr="{&quot;isTemplate&quot;:true,&quot;type&quot;:&quot;text&quot;}"/>
          <p:cNvSpPr txBox="1"/>
          <p:nvPr/>
        </p:nvSpPr>
        <p:spPr>
          <a:xfrm rot="0" flipH="0" flipV="0">
            <a:off x="8210550" y="3533775"/>
            <a:ext cx="31051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⑥ </a:t>
            </a:r>
            <a:r>
              <a:rPr lang="zh-CN" sz="1500" b="1">
                <a:solidFill>
                  <a:srgbClr val="0E2340"/>
                </a:solidFill>
                <a:latin typeface="Microsoft YaHei"/>
                <a:ea typeface="Microsoft YaHei"/>
              </a:rPr>
              <a:t>可靠的独立评价</a:t>
            </a:r>
            <a:endParaRPr/>
          </a:p>
        </p:txBody>
      </p:sp>
      <p:sp>
        <p:nvSpPr>
          <p:cNvPr id="367" name="" descr="{&quot;isTemplate&quot;:true,&quot;type&quot;:&quot;text&quot;}"/>
          <p:cNvSpPr txBox="1"/>
          <p:nvPr/>
        </p:nvSpPr>
        <p:spPr>
          <a:xfrm rot="0" flipH="0" flipV="0">
            <a:off x="8210550" y="3952875"/>
            <a:ext cx="310515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判断进步是否来自学习，避免历史评价失去可比性</a:t>
            </a:r>
            <a:endParaRPr/>
          </a:p>
        </p:txBody>
      </p:sp>
      <p:sp>
        <p:nvSpPr>
          <p:cNvPr id="368" name=""/>
          <p:cNvSpPr/>
          <p:nvPr/>
        </p:nvSpPr>
        <p:spPr>
          <a:xfrm rot="0" flipH="0" flipV="0">
            <a:off x="704850" y="5391150"/>
            <a:ext cx="10858500" cy="819150"/>
          </a:xfrm>
          <a:prstGeom prst="roundRect">
            <a:avLst>
              <a:gd name="adj" fmla="val 6977"/>
            </a:avLst>
          </a:prstGeom>
          <a:solidFill>
            <a:srgbClr val="F5F7FA"/>
          </a:solidFill>
          <a:ln/>
        </p:spPr>
        <p:txBody>
          <a:bodyPr/>
          <a:p/>
        </p:txBody>
      </p:sp>
      <p:sp>
        <p:nvSpPr>
          <p:cNvPr id="369" name=""/>
          <p:cNvSpPr/>
          <p:nvPr/>
        </p:nvSpPr>
        <p:spPr>
          <a:xfrm rot="0" flipH="0" flipV="0">
            <a:off x="704850" y="5391150"/>
            <a:ext cx="10858500" cy="819150"/>
          </a:xfrm>
          <a:custGeom>
            <a:pathLst>
              <a:path w="1140" h="86">
                <a:moveTo>
                  <a:pt x="6" y="0"/>
                </a:moveTo>
                <a:cubicBezTo>
                  <a:pt x="5" y="0"/>
                  <a:pt x="4" y="1"/>
                  <a:pt x="4" y="2"/>
                </a:cubicBezTo>
                <a:lnTo>
                  <a:pt x="4" y="84"/>
                </a:lnTo>
                <a:cubicBezTo>
                  <a:pt x="4" y="85"/>
                  <a:pt x="5" y="86"/>
                  <a:pt x="6" y="86"/>
                </a:cubicBezTo>
                <a:cubicBezTo>
                  <a:pt x="3" y="86"/>
                  <a:pt x="0" y="83"/>
                  <a:pt x="0" y="80"/>
                </a:cubicBezTo>
                <a:lnTo>
                  <a:pt x="0" y="6"/>
                </a:lnTo>
                <a:cubicBezTo>
                  <a:pt x="0" y="3"/>
                  <a:pt x="3" y="0"/>
                  <a:pt x="6" y="0"/>
                </a:cubicBezTo>
                <a:close/>
              </a:path>
            </a:pathLst>
          </a:custGeom>
          <a:solidFill>
            <a:srgbClr val="00A9B5"/>
          </a:solidFill>
          <a:ln/>
        </p:spPr>
        <p:txBody>
          <a:bodyPr/>
          <a:p/>
        </p:txBody>
      </p:sp>
      <p:sp>
        <p:nvSpPr>
          <p:cNvPr id="370" name="" descr="{&quot;isTemplate&quot;:true,&quot;type&quot;:&quot;text&quot;}"/>
          <p:cNvSpPr txBox="1"/>
          <p:nvPr/>
        </p:nvSpPr>
        <p:spPr>
          <a:xfrm rot="0" flipH="0" flipV="0">
            <a:off x="895350" y="5524500"/>
            <a:ext cx="10439400" cy="552450"/>
          </a:xfrm>
          <a:prstGeom prst="rect"/>
        </p:spPr>
        <p:txBody>
          <a:bodyPr wrap="square" lIns="0" tIns="0" rIns="0" bIns="0">
            <a:normAutofit/>
          </a:bodyPr>
          <a:p>
            <a:pPr>
              <a:lnSpc>
                <a:spcPct val="150000"/>
              </a:lnSpc>
            </a:pPr>
            <a:r>
              <a:rPr lang="zh-CN" sz="1200" b="1">
                <a:solidFill>
                  <a:srgbClr val="0E2340"/>
                </a:solidFill>
                <a:latin typeface="Microsoft YaHei"/>
                <a:ea typeface="Microsoft YaHei"/>
              </a:rPr>
              <a:t>手写时间戳是过程分析的重要增强能力，但不能因没有手写设备就排除学生；缺失时间线的任务不生成伪造用时。完整接入不意味着第一天就有完整历史，新学生可以通过先导测试和后续任务逐步建立记录</a:t>
            </a:r>
            <a:endParaRPr/>
          </a:p>
        </p:txBody>
      </p:sp>
      <p:sp>
        <p:nvSpPr>
          <p:cNvPr id="371"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372"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依据：两种教学模式与应用边界</a:t>
            </a:r>
            <a:r>
              <a:rPr lang="en-US" sz="975">
                <a:solidFill>
                  <a:srgbClr val="7A8699"/>
                </a:solidFill>
                <a:latin typeface="Microsoft YaHei"/>
                <a:ea typeface="Microsoft YaHei"/>
              </a:rPr>
              <a:t>.md §4</a:t>
            </a:r>
            <a:endParaRPr/>
          </a:p>
        </p:txBody>
      </p:sp>
      <p:sp>
        <p:nvSpPr>
          <p:cNvPr id="373" name="" descr="{&quot;isTemplate&quot;:true,&quot;type&quot;:&quot;text&quot;}"/>
          <p:cNvSpPr txBox="1"/>
          <p:nvPr/>
        </p:nvSpPr>
        <p:spPr>
          <a:xfrm rot="0" flipH="0" flipV="0">
            <a:off x="10887075" y="6372225"/>
            <a:ext cx="6381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109 / 124 </a:t>
            </a:r>
            <a:endParaRPr/>
          </a:p>
        </p:txBody>
      </p:sp>
    </p:spTree>
  </p:cSld>
</p:sld>
</file>

<file path=ppt/slides/slide110.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449"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1 / 落地与边界&lt;/Text&gt;&lt;Text style={{ fontSize: 32, color: '#0E2340', fontWeight: 700, lineHeight: 1.3 }}&gt;维持传统模式时，哪些功能可以局部介入（一）&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paddingTop: 4 }}&gt;&lt;Box style={{ marginBottom: 14 }}&gt;&lt;Box style={{ flexDirection: 'row', alignItems: 'center', background: '#F5F7FA', borderLeft: '4px solid #0E2340', borderRadius: 6, padding: '14px 20px' }}&gt;&lt;Text style={{ fontSize: 20, color: '#0E2340', fontWeight: 600, lineHeight: 1.5 }}&gt;教师可以只从一个课时或一次考试开始；输入增加后再开放相应分析深度&lt;/Text&gt;&lt;/Box&gt;&lt;/Box&gt;&lt;Box style={{ flex: 1 }}&gt;&lt;Table style={{ width: '100%', height: '100%' }} defaultTextStyle={{ fontSize: 15, textAlign: 'left', color: '#333A45' }} defaultCellStyle={{ padding: 10, border: { left: { width: 1, color: '#E3E8EF' }, right: { width: 1, color: '#E3E8EF' }, top: { width: 1, color: '#E3E8EF' }, bottom: { width: 1, color: '#E3E8EF' } } }} cells={[[{ text: '局部功能', textStyle: { color: '#FFFFFF', fontWeight: 600, fontSize: 15 }, cellStyle: { background: { color: '#0E2340' } } }, { text: '最少需要的输入', textStyle: { color: '#FFFFFF', fontWeight: 600, fontSize: 15 }, cellStyle: { background: { color: '#0E2340' } } }, { text: '能改进什么', textStyle: { color: '#FFFFFF', fontWeight: 600, fontSize: 15 }, cellStyle: { background: { color: '#0E2340' } } }, { text: '当前信息不能支持什么', textStyle: { color: '#FFFFFF', fontWeight: 600, fontSize: 15 }, cellStyle: { background: { color: '#0E2340' } } }],&#10;        [{ text: 'AI 备课与课件', textStyle: { fontWeight: 600, fontSize: 15 } }, { text: '课时目标、素材和授课要求', textStyle: { fontSize: 15 } }, { text: '加快资料整理与课件准备', textStyle: { fontSize: 15 } }, { text: '无班级数据时不能声称已按全班真实薄弱点备课', textStyle: { fontSize: 15 } }],&#10;        [{ text: '课堂演示', textStyle: { fontWeight: 600, fontSize: 15 }, cellStyle: { background: { color: '#F5F7FA' } } }, { text: '例题、解法与合适的演示资料', textStyle: { fontSize: 15 }, cellStyle: { background: { color: '#F5F7FA' } } }, { text: '让推导、图形和条件变化更直观', textStyle: { fontSize: 15 }, cellStyle: { background: { color: '#F5F7FA' } } }, { text: '演示完成不等同于学生理解', textStyle: { fontSize: 15 }, cellStyle: { background: { color: '#F5F7FA' } } }],&#10;        [{ text: '单题解答与教学', textStyle: { fontWeight: 600, fontSize: 15 } }, { text: '题目及学生当前回答', textStyle: { fontSize: 15 } }, { text: '提供分步解释与即时帮助', textStyle: { fontSize: 15 } }, { text: '单次会话不足以建立完整能力画像', textStyle: { fontSize: 15 } }],&#10;        [{ text: '错题与题库', textStyle: { fontWeight: 600, fontSize: 15 }, cellStyle: { background: { color: '#F5F7FA' } } }, { text: '题目、作答、已确认步骤错因', textStyle: { fontSize: 15 }, cellStyle: { background: { color: '#F5F7FA' } } }, { text: '支持查找、订正、题单与专项复盘', textStyle: { fontSize: 15 }, cellStyle: { background: { color: '#F5F7FA' } } }, { text: '仅有错题不能代表全部知识或套路水平', textStyle: { fontSize: 15 }, cellStyle: { background: { color: '#F5F7FA' } } }]]} /&gt;&lt;/Box&gt;&lt;/Box&gt;&lt;/Box&gt;&lt;Box style={{ height: 40, flexDirection: 'row', justifyContent: 'space-between', alignItems: 'center', borderTop: '1px solid #E3E8EF', marginTop: 8 }}&gt;&lt;Text style={{ fontSize: 13, color: '#7A8699', fontWeight: 400, lineHeight: 1.4 }}&gt;依据：两种教学模式与应用边界.md §5&lt;/Text&gt;&lt;Text style={{ fontSize: 14, color: '#7A8699', fontWeight: 400, lineHeight: 1.4 }}&gt; 110 / 124 &lt;/Text&gt;&lt;/Box&gt;&lt;/Slide&gt;"/>
        <p:cNvGrpSpPr/>
        <p:nvPr/>
      </p:nvGrpSpPr>
      <p:grpSpPr>
        <a:xfrm>
          <a:off x="0" y="0"/>
          <a:ext cx="0" cy="0"/>
          <a:chOff x="0" y="0"/>
          <a:chExt cx="0" cy="0"/>
        </a:xfrm>
      </p:grpSpPr>
      <p:sp>
        <p:nvSpPr>
          <p:cNvPr id="450" name=""/>
          <p:cNvSpPr/>
          <p:nvPr/>
        </p:nvSpPr>
        <p:spPr>
          <a:xfrm rot="0" flipH="0" flipV="0">
            <a:off x="0" y="0"/>
            <a:ext cx="12192000" cy="6858000"/>
          </a:xfrm>
          <a:prstGeom prst="rect">
            <a:avLst/>
          </a:prstGeom>
          <a:solidFill>
            <a:srgbClr val="FFFFFF"/>
          </a:solidFill>
          <a:ln/>
        </p:spPr>
        <p:txBody>
          <a:bodyPr/>
          <a:p/>
        </p:txBody>
      </p:sp>
      <p:sp>
        <p:nvSpPr>
          <p:cNvPr id="451" name="" descr="{&quot;isTemplate&quot;:true,&quot;type&quot;:&quot;text&quot;}"/>
          <p:cNvSpPr txBox="1"/>
          <p:nvPr/>
        </p:nvSpPr>
        <p:spPr>
          <a:xfrm rot="0" flipH="0" flipV="0">
            <a:off x="666750" y="381000"/>
            <a:ext cx="6400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11 / </a:t>
            </a:r>
            <a:r>
              <a:rPr lang="zh-CN" sz="1050" spc="75">
                <a:solidFill>
                  <a:srgbClr val="7A8699"/>
                </a:solidFill>
                <a:latin typeface="Microsoft YaHei"/>
                <a:ea typeface="Microsoft YaHei"/>
              </a:rPr>
              <a:t>落地与边界</a:t>
            </a:r>
            <a:endParaRPr/>
          </a:p>
        </p:txBody>
      </p:sp>
      <p:sp>
        <p:nvSpPr>
          <p:cNvPr id="452" name="" descr="{&quot;isTemplate&quot;:true,&quot;type&quot;:&quot;text&quot;}"/>
          <p:cNvSpPr txBox="1"/>
          <p:nvPr/>
        </p:nvSpPr>
        <p:spPr>
          <a:xfrm rot="0" flipH="0" flipV="0">
            <a:off x="666750" y="666750"/>
            <a:ext cx="6400800" cy="476250"/>
          </a:xfrm>
          <a:prstGeom prst="rect"/>
        </p:spPr>
        <p:txBody>
          <a:bodyPr wrap="none" lIns="0" tIns="0" rIns="0" bIns="0"/>
          <a:p>
            <a:pPr>
              <a:lnSpc>
                <a:spcPct val="130000"/>
              </a:lnSpc>
            </a:pPr>
            <a:r>
              <a:rPr lang="zh-CN" sz="2400" b="1">
                <a:solidFill>
                  <a:srgbClr val="0E2340"/>
                </a:solidFill>
                <a:latin typeface="Microsoft YaHei"/>
                <a:ea typeface="Microsoft YaHei"/>
              </a:rPr>
              <a:t>维持传统模式时，哪些功能可以局部介入（一）</a:t>
            </a:r>
            <a:endParaRPr/>
          </a:p>
        </p:txBody>
      </p:sp>
      <p:sp>
        <p:nvSpPr>
          <p:cNvPr id="453"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454"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455" name=""/>
          <p:cNvSpPr/>
          <p:nvPr/>
        </p:nvSpPr>
        <p:spPr>
          <a:xfrm rot="0" flipH="0" flipV="0">
            <a:off x="704850" y="1257300"/>
            <a:ext cx="10858500" cy="609600"/>
          </a:xfrm>
          <a:prstGeom prst="roundRect">
            <a:avLst>
              <a:gd name="adj" fmla="val 9375"/>
            </a:avLst>
          </a:prstGeom>
          <a:solidFill>
            <a:srgbClr val="F5F7FA"/>
          </a:solidFill>
          <a:ln/>
        </p:spPr>
        <p:txBody>
          <a:bodyPr/>
          <a:p/>
        </p:txBody>
      </p:sp>
      <p:sp>
        <p:nvSpPr>
          <p:cNvPr id="456" name=""/>
          <p:cNvSpPr/>
          <p:nvPr/>
        </p:nvSpPr>
        <p:spPr>
          <a:xfrm rot="0" flipH="0" flipV="0">
            <a:off x="704850" y="12573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457" name="" descr="{&quot;isTemplate&quot;:true,&quot;type&quot;:&quot;text&quot;}"/>
          <p:cNvSpPr txBox="1"/>
          <p:nvPr/>
        </p:nvSpPr>
        <p:spPr>
          <a:xfrm rot="0" flipH="0" flipV="0">
            <a:off x="895350" y="1390650"/>
            <a:ext cx="6096000" cy="342900"/>
          </a:xfrm>
          <a:prstGeom prst="rect"/>
        </p:spPr>
        <p:txBody>
          <a:bodyPr wrap="none" lIns="0" tIns="0" rIns="0" bIns="0"/>
          <a:p>
            <a:pPr>
              <a:lnSpc>
                <a:spcPct val="150000"/>
              </a:lnSpc>
            </a:pPr>
            <a:r>
              <a:rPr lang="zh-CN" sz="1500" b="1">
                <a:solidFill>
                  <a:srgbClr val="0E2340"/>
                </a:solidFill>
                <a:latin typeface="Microsoft YaHei"/>
                <a:ea typeface="Microsoft YaHei"/>
              </a:rPr>
              <a:t>教师可以只从一个课时或一次考试开始；输入增加后再开放相应分析深度</a:t>
            </a:r>
            <a:endParaRPr/>
          </a:p>
        </p:txBody>
      </p:sp>
      <p:graphicFrame>
        <p:nvGraphicFramePr>
          <p:cNvPr id="458" name=""/>
          <p:cNvGraphicFramePr/>
          <p:nvPr/>
        </p:nvGraphicFramePr>
        <p:xfrm rot="0" flipH="0" flipV="0">
          <a:off x="666750" y="2000250"/>
          <a:ext cx="10858500" cy="4210050"/>
        </p:xfrm>
        <a:graphic>
          <a:graphicData uri="http://schemas.openxmlformats.org/drawingml/2006/table">
            <a:tbl>
              <a:tblGrid>
                <a:gridCol w="1416649">
                  <a:extLst>
                    <a:ext uri="{9D8B030D-6E8A-4147-A177-3AD203B41FA5}">
                      <a16:colId val="1"/>
                    </a:ext>
                  </a:extLst>
                </a:gridCol>
                <a:gridCol w="2529200">
                  <a:extLst>
                    <a:ext uri="{9D8B030D-6E8A-4147-A177-3AD203B41FA5}">
                      <a16:colId val="2"/>
                    </a:ext>
                  </a:extLst>
                </a:gridCol>
                <a:gridCol w="2900050">
                  <a:extLst>
                    <a:ext uri="{9D8B030D-6E8A-4147-A177-3AD203B41FA5}">
                      <a16:colId val="3"/>
                    </a:ext>
                  </a:extLst>
                </a:gridCol>
                <a:gridCol w="4012601">
                  <a:extLst>
                    <a:ext uri="{9D8B030D-6E8A-4147-A177-3AD203B41FA5}">
                      <a16:colId val="4"/>
                    </a:ext>
                  </a:extLst>
                </a:gridCol>
              </a:tblGrid>
              <a:tr h="842010">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局部功能</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最少需要的输入</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能改进什么</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当前信息不能支持什么</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84201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AI 备课与课件</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课时目标、素材和授课要求</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加快资料整理与课件准备</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无班级数据时不能声称已按全班真实薄弱点备课</a:t>
                      </a:r>
                      <a:endParaRPr/>
                    </a:p>
                  </a:txBody>
                  <a:tcPr marL="45720" marR="45720" marT="45720" marB="45720" anchor="ctr">
                    <a:lnL>
                      <a:noFill/>
                    </a:lnL>
                    <a:lnR>
                      <a:noFill/>
                    </a:lnR>
                    <a:lnT>
                      <a:noFill/>
                    </a:lnT>
                    <a:lnB>
                      <a:noFill/>
                    </a:lnB>
                  </a:tcPr>
                </a:tc>
                <a:extLst>
                  <a:ext uri="{0D108BD9-81ED-4DB2-BD59-A6C34878D82A}">
                    <a16:rowId val="2"/>
                  </a:ext>
                </a:extLst>
              </a:tr>
              <a:tr h="84201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课堂演示</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例题、解法与合适的演示资料</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让推导、图形和条件变化更直观</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演示完成不等同于学生理解</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84201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单题解答与教学</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题目及学生当前回答</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提供分步解释与即时帮助</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单次会话不足以建立完整能力画像</a:t>
                      </a:r>
                      <a:endParaRPr/>
                    </a:p>
                  </a:txBody>
                  <a:tcPr marL="45720" marR="45720" marT="45720" marB="45720" anchor="ctr">
                    <a:lnL>
                      <a:noFill/>
                    </a:lnL>
                    <a:lnR>
                      <a:noFill/>
                    </a:lnR>
                    <a:lnT>
                      <a:noFill/>
                    </a:lnT>
                    <a:lnB>
                      <a:noFill/>
                    </a:lnB>
                  </a:tcPr>
                </a:tc>
                <a:extLst>
                  <a:ext uri="{0D108BD9-81ED-4DB2-BD59-A6C34878D82A}">
                    <a16:rowId val="4"/>
                  </a:ext>
                </a:extLst>
              </a:tr>
              <a:tr h="84201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错题与题库</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题目、作答、已确认步骤错因</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支持查找、订正、题单与专项复盘</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仅有错题不能代表全部知识或套路水平</a:t>
                      </a:r>
                      <a:endParaRPr/>
                    </a:p>
                  </a:txBody>
                  <a:tcPr marL="45720" marR="45720" marT="45720" marB="45720" anchor="ctr">
                    <a:lnL>
                      <a:noFill/>
                    </a:lnL>
                    <a:lnR>
                      <a:noFill/>
                    </a:lnR>
                    <a:lnT>
                      <a:noFill/>
                    </a:lnT>
                    <a:lnB>
                      <a:noFill/>
                    </a:lnB>
                    <a:solidFill>
                      <a:srgbClr val="F5F7FA"/>
                    </a:solidFill>
                  </a:tcPr>
                </a:tc>
                <a:extLst>
                  <a:ext uri="{0D108BD9-81ED-4DB2-BD59-A6C34878D82A}">
                    <a16:rowId val="5"/>
                  </a:ext>
                </a:extLst>
              </a:tr>
            </a:tbl>
          </a:graphicData>
        </a:graphic>
      </p:graphicFrame>
      <p:sp>
        <p:nvSpPr>
          <p:cNvPr id="459"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460"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依据：两种教学模式与应用边界</a:t>
            </a:r>
            <a:r>
              <a:rPr lang="en-US" sz="975">
                <a:solidFill>
                  <a:srgbClr val="7A8699"/>
                </a:solidFill>
                <a:latin typeface="Microsoft YaHei"/>
                <a:ea typeface="Microsoft YaHei"/>
              </a:rPr>
              <a:t>.md §5</a:t>
            </a:r>
            <a:endParaRPr/>
          </a:p>
        </p:txBody>
      </p:sp>
      <p:sp>
        <p:nvSpPr>
          <p:cNvPr id="461" name="" descr="{&quot;isTemplate&quot;:true,&quot;type&quot;:&quot;text&quot;}"/>
          <p:cNvSpPr txBox="1"/>
          <p:nvPr/>
        </p:nvSpPr>
        <p:spPr>
          <a:xfrm rot="0" flipH="0" flipV="0">
            <a:off x="10896600" y="6372225"/>
            <a:ext cx="628650"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110 / 124 </a:t>
            </a:r>
            <a:endParaRPr/>
          </a:p>
        </p:txBody>
      </p:sp>
    </p:spTree>
  </p:cSld>
</p:sld>
</file>

<file path=ppt/slides/slide111.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462"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1 / 落地与边界&lt;/Text&gt;&lt;Text style={{ fontSize: 32, color: '#0E2340', fontWeight: 700, lineHeight: 1.3 }}&gt;维持传统模式时，哪些功能可以局部介入（二）&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paddingTop: 4 }}&gt;&lt;Box style={{ marginBottom: 14 }}&gt;&lt;Box style={{ flexDirection: 'row', alignItems: 'center', background: '#F5F7FA', borderLeft: '4px solid #0E2340', borderRadius: 6, padding: '14px 20px' }}&gt;&lt;Text style={{ fontSize: 20, color: '#0E2340', fontWeight: 600, lineHeight: 1.5 }}&gt;缺少全校接入时，不用局部样本生成全校绩效结论&lt;/Text&gt;&lt;/Box&gt;&lt;/Box&gt;&lt;Box style={{ flex: 1 }}&gt;&lt;Table style={{ width: '100%', height: '100%' }} defaultTextStyle={{ fontSize: 15, textAlign: 'left', color: '#333A45' }} defaultCellStyle={{ padding: 10, border: { left: { width: 1, color: '#E3E8EF' }, right: { width: 1, color: '#E3E8EF' }, top: { width: 1, color: '#E3E8EF' }, bottom: { width: 1, color: '#E3E8EF' } } }} cells={[[{ text: '局部功能', textStyle: { color: '#FFFFFF', fontWeight: 600, fontSize: 15 }, cellStyle: { background: { color: '#0E2340' } } }, { text: '最少需要的输入', textStyle: { color: '#FFFFFF', fontWeight: 600, fontSize: 15 }, cellStyle: { background: { color: '#0E2340' } } }, { text: '能改进什么', textStyle: { color: '#FFFFFF', fontWeight: 600, fontSize: 15 }, cellStyle: { background: { color: '#0E2340' } } }, { text: '当前信息不能支持什么', textStyle: { color: '#FFFFFF', fontWeight: 600, fontSize: 15 }, cellStyle: { background: { color: '#0E2340' } } }],&#10;        [{ text: '作业批改与讲评', textStyle: { fontWeight: 600, fontSize: 15 } }, { text: '作业、学生作答与评分依据', textStyle: { fontSize: 15 } }, { text: '快速形成共性问题线索', textStyle: { fontSize: 15 } }, { text: '缺少接触范围和独立性记录时不能直接算全班掌握率', textStyle: { fontSize: 15 } }],&#10;        [{ text: '模板出卷与卷面评价', textStyle: { fontWeight: 600, fontSize: 15 }, cellStyle: { background: { color: '#F5F7FA' } } }, { text: '模板、适用范围和候选题或原卷', textStyle: { fontSize: 15 }, cellStyle: { background: { color: '#F5F7FA' } } }, { text: '改进覆盖和难度结构', textStyle: { fontSize: 15 }, cellStyle: { background: { color: '#F5F7FA' } } }, { text: '模板符合度不直接证明教学效果', textStyle: { fontSize: 15 }, cellStyle: { background: { color: '#F5F7FA' } } }],&#10;        [{ text: '考试批改与阶段报告', textStyle: { fontWeight: 600, fontSize: 15 } }, { text: '整卷、作答与复核结果', textStyle: { fontSize: 15 } }, { text: '识别本次失分与后续训练需求', textStyle: { fontSize: 15 } }, { text: '无历史时不能确定长期原因；无时间线时不能还原逐步用时', textStyle: { fontSize: 15 } }],&#10;        [{ text: '个性化复习', textStyle: { fontWeight: 600, fontSize: 15 }, cellStyle: { background: { color: '#F5F7FA' } } }, { text: '学生近期错误、目标和可用时间', textStyle: { fontSize: 15 }, cellStyle: { background: { color: '#F5F7FA' } } }, { text: '提供有依据的局部补练', textStyle: { fontSize: 15 }, cellStyle: { background: { color: '#F5F7FA' } } }, { text: '记录少时只能给局部建议，不能宣称全面诊断', textStyle: { fontSize: 15 }, cellStyle: { background: { color: '#F5F7FA' } } }]]} /&gt;&lt;/Box&gt;&lt;/Box&gt;&lt;/Box&gt;&lt;Box style={{ height: 40, flexDirection: 'row', justifyContent: 'space-between', alignItems: 'center', borderTop: '1px solid #E3E8EF', marginTop: 8 }}&gt;&lt;Text style={{ fontSize: 13, color: '#7A8699', fontWeight: 400, lineHeight: 1.4 }}&gt;依据：两种教学模式与应用边界.md §5&lt;/Text&gt;&lt;Text style={{ fontSize: 14, color: '#7A8699', fontWeight: 400, lineHeight: 1.4 }}&gt; 111 / 124 &lt;/Text&gt;&lt;/Box&gt;&lt;/Slide&gt;"/>
        <p:cNvGrpSpPr/>
        <p:nvPr/>
      </p:nvGrpSpPr>
      <p:grpSpPr>
        <a:xfrm>
          <a:off x="0" y="0"/>
          <a:ext cx="0" cy="0"/>
          <a:chOff x="0" y="0"/>
          <a:chExt cx="0" cy="0"/>
        </a:xfrm>
      </p:grpSpPr>
      <p:sp>
        <p:nvSpPr>
          <p:cNvPr id="463" name=""/>
          <p:cNvSpPr/>
          <p:nvPr/>
        </p:nvSpPr>
        <p:spPr>
          <a:xfrm rot="0" flipH="0" flipV="0">
            <a:off x="0" y="0"/>
            <a:ext cx="12192000" cy="6858000"/>
          </a:xfrm>
          <a:prstGeom prst="rect">
            <a:avLst/>
          </a:prstGeom>
          <a:solidFill>
            <a:srgbClr val="FFFFFF"/>
          </a:solidFill>
          <a:ln/>
        </p:spPr>
        <p:txBody>
          <a:bodyPr/>
          <a:p/>
        </p:txBody>
      </p:sp>
      <p:sp>
        <p:nvSpPr>
          <p:cNvPr id="464" name="" descr="{&quot;isTemplate&quot;:true,&quot;type&quot;:&quot;text&quot;}"/>
          <p:cNvSpPr txBox="1"/>
          <p:nvPr/>
        </p:nvSpPr>
        <p:spPr>
          <a:xfrm rot="0" flipH="0" flipV="0">
            <a:off x="666750" y="381000"/>
            <a:ext cx="6400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11 / </a:t>
            </a:r>
            <a:r>
              <a:rPr lang="zh-CN" sz="1050" spc="75">
                <a:solidFill>
                  <a:srgbClr val="7A8699"/>
                </a:solidFill>
                <a:latin typeface="Microsoft YaHei"/>
                <a:ea typeface="Microsoft YaHei"/>
              </a:rPr>
              <a:t>落地与边界</a:t>
            </a:r>
            <a:endParaRPr/>
          </a:p>
        </p:txBody>
      </p:sp>
      <p:sp>
        <p:nvSpPr>
          <p:cNvPr id="465" name="" descr="{&quot;isTemplate&quot;:true,&quot;type&quot;:&quot;text&quot;}"/>
          <p:cNvSpPr txBox="1"/>
          <p:nvPr/>
        </p:nvSpPr>
        <p:spPr>
          <a:xfrm rot="0" flipH="0" flipV="0">
            <a:off x="666750" y="666750"/>
            <a:ext cx="6400800" cy="476250"/>
          </a:xfrm>
          <a:prstGeom prst="rect"/>
        </p:spPr>
        <p:txBody>
          <a:bodyPr wrap="none" lIns="0" tIns="0" rIns="0" bIns="0"/>
          <a:p>
            <a:pPr>
              <a:lnSpc>
                <a:spcPct val="130000"/>
              </a:lnSpc>
            </a:pPr>
            <a:r>
              <a:rPr lang="zh-CN" sz="2400" b="1">
                <a:solidFill>
                  <a:srgbClr val="0E2340"/>
                </a:solidFill>
                <a:latin typeface="Microsoft YaHei"/>
                <a:ea typeface="Microsoft YaHei"/>
              </a:rPr>
              <a:t>维持传统模式时，哪些功能可以局部介入（二）</a:t>
            </a:r>
            <a:endParaRPr/>
          </a:p>
        </p:txBody>
      </p:sp>
      <p:sp>
        <p:nvSpPr>
          <p:cNvPr id="466"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467"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468" name=""/>
          <p:cNvSpPr/>
          <p:nvPr/>
        </p:nvSpPr>
        <p:spPr>
          <a:xfrm rot="0" flipH="0" flipV="0">
            <a:off x="704850" y="1257300"/>
            <a:ext cx="10858500" cy="609600"/>
          </a:xfrm>
          <a:prstGeom prst="roundRect">
            <a:avLst>
              <a:gd name="adj" fmla="val 9375"/>
            </a:avLst>
          </a:prstGeom>
          <a:solidFill>
            <a:srgbClr val="F5F7FA"/>
          </a:solidFill>
          <a:ln/>
        </p:spPr>
        <p:txBody>
          <a:bodyPr/>
          <a:p/>
        </p:txBody>
      </p:sp>
      <p:sp>
        <p:nvSpPr>
          <p:cNvPr id="469" name=""/>
          <p:cNvSpPr/>
          <p:nvPr/>
        </p:nvSpPr>
        <p:spPr>
          <a:xfrm rot="0" flipH="0" flipV="0">
            <a:off x="704850" y="1257300"/>
            <a:ext cx="10858500" cy="609600"/>
          </a:xfrm>
          <a:custGeom>
            <a:pathLst>
              <a:path w="1140" h="64">
                <a:moveTo>
                  <a:pt x="6" y="0"/>
                </a:moveTo>
                <a:cubicBezTo>
                  <a:pt x="5" y="0"/>
                  <a:pt x="4" y="1"/>
                  <a:pt x="4" y="2"/>
                </a:cubicBezTo>
                <a:lnTo>
                  <a:pt x="4" y="62"/>
                </a:lnTo>
                <a:cubicBezTo>
                  <a:pt x="4" y="63"/>
                  <a:pt x="5" y="64"/>
                  <a:pt x="6" y="64"/>
                </a:cubicBezTo>
                <a:cubicBezTo>
                  <a:pt x="3" y="64"/>
                  <a:pt x="0" y="61"/>
                  <a:pt x="0" y="58"/>
                </a:cubicBezTo>
                <a:lnTo>
                  <a:pt x="0" y="6"/>
                </a:lnTo>
                <a:cubicBezTo>
                  <a:pt x="0" y="3"/>
                  <a:pt x="3" y="0"/>
                  <a:pt x="6" y="0"/>
                </a:cubicBezTo>
                <a:close/>
              </a:path>
            </a:pathLst>
          </a:custGeom>
          <a:solidFill>
            <a:srgbClr val="0E2340"/>
          </a:solidFill>
          <a:ln/>
        </p:spPr>
        <p:txBody>
          <a:bodyPr/>
          <a:p/>
        </p:txBody>
      </p:sp>
      <p:sp>
        <p:nvSpPr>
          <p:cNvPr id="470" name="" descr="{&quot;isTemplate&quot;:true,&quot;type&quot;:&quot;text&quot;}"/>
          <p:cNvSpPr txBox="1"/>
          <p:nvPr/>
        </p:nvSpPr>
        <p:spPr>
          <a:xfrm rot="0" flipH="0" flipV="0">
            <a:off x="895350" y="1390650"/>
            <a:ext cx="4191000" cy="342900"/>
          </a:xfrm>
          <a:prstGeom prst="rect"/>
        </p:spPr>
        <p:txBody>
          <a:bodyPr wrap="none" lIns="0" tIns="0" rIns="0" bIns="0"/>
          <a:p>
            <a:pPr>
              <a:lnSpc>
                <a:spcPct val="150000"/>
              </a:lnSpc>
            </a:pPr>
            <a:r>
              <a:rPr lang="zh-CN" sz="1500" b="1">
                <a:solidFill>
                  <a:srgbClr val="0E2340"/>
                </a:solidFill>
                <a:latin typeface="Microsoft YaHei"/>
                <a:ea typeface="Microsoft YaHei"/>
              </a:rPr>
              <a:t>缺少全校接入时，不用局部样本生成全校绩效结论</a:t>
            </a:r>
            <a:endParaRPr/>
          </a:p>
        </p:txBody>
      </p:sp>
      <p:graphicFrame>
        <p:nvGraphicFramePr>
          <p:cNvPr id="471" name=""/>
          <p:cNvGraphicFramePr/>
          <p:nvPr/>
        </p:nvGraphicFramePr>
        <p:xfrm rot="0" flipH="0" flipV="0">
          <a:off x="666750" y="2000250"/>
          <a:ext cx="10858500" cy="4210050"/>
        </p:xfrm>
        <a:graphic>
          <a:graphicData uri="http://schemas.openxmlformats.org/drawingml/2006/table">
            <a:tbl>
              <a:tblGrid>
                <a:gridCol w="1621375">
                  <a:extLst>
                    <a:ext uri="{9D8B030D-6E8A-4147-A177-3AD203B41FA5}">
                      <a16:colId val="1"/>
                    </a:ext>
                  </a:extLst>
                </a:gridCol>
                <a:gridCol w="2462336">
                  <a:extLst>
                    <a:ext uri="{9D8B030D-6E8A-4147-A177-3AD203B41FA5}">
                      <a16:colId val="2"/>
                    </a:ext>
                  </a:extLst>
                </a:gridCol>
                <a:gridCol w="2294144">
                  <a:extLst>
                    <a:ext uri="{9D8B030D-6E8A-4147-A177-3AD203B41FA5}">
                      <a16:colId val="3"/>
                    </a:ext>
                  </a:extLst>
                </a:gridCol>
                <a:gridCol w="4480645">
                  <a:extLst>
                    <a:ext uri="{9D8B030D-6E8A-4147-A177-3AD203B41FA5}">
                      <a16:colId val="4"/>
                    </a:ext>
                  </a:extLst>
                </a:gridCol>
              </a:tblGrid>
              <a:tr h="842010">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局部功能</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最少需要的输入</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能改进什么</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当前信息不能支持什么</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84201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作业批改与讲评</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作业、学生作答与评分依据</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快速形成共性问题线索</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缺少接触范围和独立性记录时不能直接算全班掌握率</a:t>
                      </a:r>
                      <a:endParaRPr/>
                    </a:p>
                  </a:txBody>
                  <a:tcPr marL="45720" marR="45720" marT="45720" marB="45720" anchor="ctr">
                    <a:lnL>
                      <a:noFill/>
                    </a:lnL>
                    <a:lnR>
                      <a:noFill/>
                    </a:lnR>
                    <a:lnT>
                      <a:noFill/>
                    </a:lnT>
                    <a:lnB>
                      <a:noFill/>
                    </a:lnB>
                  </a:tcPr>
                </a:tc>
                <a:extLst>
                  <a:ext uri="{0D108BD9-81ED-4DB2-BD59-A6C34878D82A}">
                    <a16:rowId val="2"/>
                  </a:ext>
                </a:extLst>
              </a:tr>
              <a:tr h="84201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模板出卷与卷面评价</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模板、适用范围和候选题或原卷</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改进覆盖和难度结构</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模板符合度不直接证明教学效果</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84201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考试批改与阶段报告</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整卷、作答与复核结果</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识别本次失分与后续训练需求</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无历史时不能确定长期原因；无时间线时不能还原逐步用时</a:t>
                      </a:r>
                      <a:endParaRPr/>
                    </a:p>
                  </a:txBody>
                  <a:tcPr marL="45720" marR="45720" marT="45720" marB="45720" anchor="ctr">
                    <a:lnL>
                      <a:noFill/>
                    </a:lnL>
                    <a:lnR>
                      <a:noFill/>
                    </a:lnR>
                    <a:lnT>
                      <a:noFill/>
                    </a:lnT>
                    <a:lnB>
                      <a:noFill/>
                    </a:lnB>
                  </a:tcPr>
                </a:tc>
                <a:extLst>
                  <a:ext uri="{0D108BD9-81ED-4DB2-BD59-A6C34878D82A}">
                    <a16:rowId val="4"/>
                  </a:ext>
                </a:extLst>
              </a:tr>
              <a:tr h="842010">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个性化复习</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学生近期错误、目标和可用时间</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提供有依据的局部补练</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记录少时只能给局部建议，不能宣称全面诊断</a:t>
                      </a:r>
                      <a:endParaRPr/>
                    </a:p>
                  </a:txBody>
                  <a:tcPr marL="45720" marR="45720" marT="45720" marB="45720" anchor="ctr">
                    <a:lnL>
                      <a:noFill/>
                    </a:lnL>
                    <a:lnR>
                      <a:noFill/>
                    </a:lnR>
                    <a:lnT>
                      <a:noFill/>
                    </a:lnT>
                    <a:lnB>
                      <a:noFill/>
                    </a:lnB>
                    <a:solidFill>
                      <a:srgbClr val="F5F7FA"/>
                    </a:solidFill>
                  </a:tcPr>
                </a:tc>
                <a:extLst>
                  <a:ext uri="{0D108BD9-81ED-4DB2-BD59-A6C34878D82A}">
                    <a16:rowId val="5"/>
                  </a:ext>
                </a:extLst>
              </a:tr>
            </a:tbl>
          </a:graphicData>
        </a:graphic>
      </p:graphicFrame>
      <p:sp>
        <p:nvSpPr>
          <p:cNvPr id="472"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473"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依据：两种教学模式与应用边界</a:t>
            </a:r>
            <a:r>
              <a:rPr lang="en-US" sz="975">
                <a:solidFill>
                  <a:srgbClr val="7A8699"/>
                </a:solidFill>
                <a:latin typeface="Microsoft YaHei"/>
                <a:ea typeface="Microsoft YaHei"/>
              </a:rPr>
              <a:t>.md §5</a:t>
            </a:r>
            <a:endParaRPr/>
          </a:p>
        </p:txBody>
      </p:sp>
      <p:sp>
        <p:nvSpPr>
          <p:cNvPr id="474" name="" descr="{&quot;isTemplate&quot;:true,&quot;type&quot;:&quot;text&quot;}"/>
          <p:cNvSpPr txBox="1"/>
          <p:nvPr/>
        </p:nvSpPr>
        <p:spPr>
          <a:xfrm rot="0" flipH="0" flipV="0">
            <a:off x="10906125" y="6372225"/>
            <a:ext cx="61912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111 / 124 </a:t>
            </a:r>
            <a:endParaRPr/>
          </a:p>
        </p:txBody>
      </p:sp>
    </p:spTree>
  </p:cSld>
</p:sld>
</file>

<file path=ppt/slides/slide112.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475"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1 / 落地与边界&lt;/Text&gt;&lt;Text style={{ fontSize: 32, color: '#0E2340', fontWeight: 700, lineHeight: 1.3 }}&gt;效果评价：该观察什么，什么不能作为证据&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6 }}&gt;&lt;Box style={{ flexDirection: 'column', gap: 16, flex: 1, justifyContent: 'center' }}&gt;&lt;svg width={1140} height={230} viewBox='0 0 1140 230'&gt;&lt;rect x='0' y='0' width='555' height='230' rx='8' fill='#F5F7FA'/&gt;&lt;rect x='585' y='0' width='555' height='230' rx='8' fill='#EAF3FD'/&gt;&lt;text x='277.5' y='34' font-size='20' fill='#0E2340' text-anchor='middle' font-weight='700'&gt;应优先观察&lt;/text&gt;&lt;text x='862.5' y='34' font-size='20' fill='#1E7BE0' text-anchor='middle' font-weight='700'&gt;不能独立作为证据&lt;/text&gt;&lt;circle cx='28' cy='68' r='4' fill='#0E2340'/&gt;&lt;text x='44' y='74' font-size='16' fill='#333A45' text-anchor='start' font-weight='400'&gt;无 AI 的新题与阶段测试&lt;/text&gt;&lt;circle cx='28' cy='102' r='4' fill='#0E2340'/&gt;&lt;text x='44' y='108' font-size='16' fill='#333A45' text-anchor='start' font-weight='400'&gt;延迟保持&lt;/text&gt;&lt;circle cx='28' cy='136' r='4' fill='#0E2340'/&gt;&lt;text x='44' y='142' font-size='16' fill='#333A45' text-anchor='start' font-weight='400'&gt;知识理解与迁移&lt;/text&gt;&lt;circle cx='28' cy='170' r='4' fill='#0E2340'/&gt;&lt;text x='44' y='176' font-size='16' fill='#333A45' text-anchor='start' font-weight='400'&gt;学生负担、教师净工作量、不同起点学生的变化&lt;/text&gt;&lt;circle cx='613' cy='68' r='4' fill='#1E7BE0'/&gt;&lt;text x='629' y='74' font-size='16' fill='#333A45' text-anchor='start' font-weight='400'&gt;工具使用次数&lt;/text&gt;&lt;circle cx='613' cy='102' r='4' fill='#1E7BE0'/&gt;&lt;text x='629' y='108' font-size='16' fill='#333A45' text-anchor='start' font-weight='400'&gt;AI 帮助下的完成率&lt;/text&gt;&lt;circle cx='613' cy='136' r='4' fill='#1E7BE0'/&gt;&lt;text x='629' y='142' font-size='16' fill='#333A45' text-anchor='start' font-weight='400'&gt;单次平均分上涨&lt;/text&gt;&lt;circle cx='613' cy='170' r='4' fill='#1E7BE0'/&gt;&lt;text x='629' y='176' font-size='16' fill='#333A45' text-anchor='start' font-weight='400'&gt;把某一项工具的研究效果推广到整个系统&lt;/text&gt;&lt;/svg&gt;&lt;/Box&gt;&lt;Box style={{ flexDirection: 'row', alignItems: 'center', background: '#F5F7FA', borderLeft: '4px solid #1E7BE0', borderRadius: 6, padding: '14px 20px' }}&gt;&lt;Text style={{ fontSize: 16, color: '#0E2340', fontWeight: 600, lineHeight: 1.5 }}&gt;过渡路径四级：单项工具使用 → 同一课时的作业与复盘 → 阶段考试和长期记录 → 课程、助教与教师协同；两种模式的效果与适用条件需分别评价&lt;/Text&gt;&lt;/Box&gt;&lt;/Box&gt;&lt;/Box&gt;&lt;Box style={{ height: 40, flexDirection: 'row', justifyContent: 'space-between', alignItems: 'center', borderTop: '1px solid #E3E8EF', marginTop: 8 }}&gt;&lt;Text style={{ fontSize: 13, color: '#7A8699', fontWeight: 400, lineHeight: 1.4 }}&gt;依据：两种教学模式与应用边界.md §6–§7&lt;/Text&gt;&lt;Text style={{ fontSize: 14, color: '#7A8699', fontWeight: 400, lineHeight: 1.4 }}&gt; 112 / 124 &lt;/Text&gt;&lt;/Box&gt;&lt;/Slide&gt;"/>
        <p:cNvGrpSpPr/>
        <p:nvPr/>
      </p:nvGrpSpPr>
      <p:grpSpPr>
        <a:xfrm>
          <a:off x="0" y="0"/>
          <a:ext cx="0" cy="0"/>
          <a:chOff x="0" y="0"/>
          <a:chExt cx="0" cy="0"/>
        </a:xfrm>
      </p:grpSpPr>
      <p:sp>
        <p:nvSpPr>
          <p:cNvPr id="476" name=""/>
          <p:cNvSpPr/>
          <p:nvPr/>
        </p:nvSpPr>
        <p:spPr>
          <a:xfrm rot="0" flipH="0" flipV="0">
            <a:off x="0" y="0"/>
            <a:ext cx="12192000" cy="6858000"/>
          </a:xfrm>
          <a:prstGeom prst="rect">
            <a:avLst/>
          </a:prstGeom>
          <a:solidFill>
            <a:srgbClr val="FFFFFF"/>
          </a:solidFill>
          <a:ln/>
        </p:spPr>
        <p:txBody>
          <a:bodyPr/>
          <a:p/>
        </p:txBody>
      </p:sp>
      <p:sp>
        <p:nvSpPr>
          <p:cNvPr id="477" name="" descr="{&quot;isTemplate&quot;:true,&quot;type&quot;:&quot;text&quot;}"/>
          <p:cNvSpPr txBox="1"/>
          <p:nvPr/>
        </p:nvSpPr>
        <p:spPr>
          <a:xfrm rot="0" flipH="0" flipV="0">
            <a:off x="666750" y="381000"/>
            <a:ext cx="57912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11 / </a:t>
            </a:r>
            <a:r>
              <a:rPr lang="zh-CN" sz="1050" spc="75">
                <a:solidFill>
                  <a:srgbClr val="7A8699"/>
                </a:solidFill>
                <a:latin typeface="Microsoft YaHei"/>
                <a:ea typeface="Microsoft YaHei"/>
              </a:rPr>
              <a:t>落地与边界</a:t>
            </a:r>
            <a:endParaRPr/>
          </a:p>
        </p:txBody>
      </p:sp>
      <p:sp>
        <p:nvSpPr>
          <p:cNvPr id="478" name="" descr="{&quot;isTemplate&quot;:true,&quot;type&quot;:&quot;text&quot;}"/>
          <p:cNvSpPr txBox="1"/>
          <p:nvPr/>
        </p:nvSpPr>
        <p:spPr>
          <a:xfrm rot="0" flipH="0" flipV="0">
            <a:off x="666750" y="666750"/>
            <a:ext cx="5791200" cy="476250"/>
          </a:xfrm>
          <a:prstGeom prst="rect"/>
        </p:spPr>
        <p:txBody>
          <a:bodyPr wrap="none" lIns="0" tIns="0" rIns="0" bIns="0"/>
          <a:p>
            <a:pPr>
              <a:lnSpc>
                <a:spcPct val="130000"/>
              </a:lnSpc>
            </a:pPr>
            <a:r>
              <a:rPr lang="zh-CN" sz="2400" b="1">
                <a:solidFill>
                  <a:srgbClr val="0E2340"/>
                </a:solidFill>
                <a:latin typeface="Microsoft YaHei"/>
                <a:ea typeface="Microsoft YaHei"/>
              </a:rPr>
              <a:t>效果评价：该观察什么，什么不能作为证据</a:t>
            </a:r>
            <a:endParaRPr/>
          </a:p>
        </p:txBody>
      </p:sp>
      <p:sp>
        <p:nvSpPr>
          <p:cNvPr id="479"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480"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481" name=""/>
          <p:cNvPicPr>
            <a:picLocks noChangeAspect="1"/>
          </p:cNvPicPr>
          <p:nvPr/>
        </p:nvPicPr>
        <p:blipFill>
          <a:blip>
            <a:extLst>
              <a:ext uri="{96DAC541-7B7A-43D3-8B79-37D633B846F1}">
                <asvg:svgBlip r:embed="rId1"/>
              </a:ext>
            </a:extLst>
          </a:blip>
          <a:stretch>
            <a:fillRect/>
          </a:stretch>
        </p:blipFill>
        <p:spPr>
          <a:xfrm rot="0" flipH="0" flipV="0">
            <a:off x="666750" y="2276475"/>
            <a:ext cx="10858500" cy="2190750"/>
          </a:xfrm>
          <a:prstGeom prst="rect">
            <a:avLst/>
          </a:prstGeom>
          <a:ln/>
        </p:spPr>
      </p:pic>
      <p:sp>
        <p:nvSpPr>
          <p:cNvPr id="482" name=""/>
          <p:cNvSpPr/>
          <p:nvPr/>
        </p:nvSpPr>
        <p:spPr>
          <a:xfrm rot="0" flipH="0" flipV="0">
            <a:off x="704850" y="5667375"/>
            <a:ext cx="10858500" cy="542925"/>
          </a:xfrm>
          <a:prstGeom prst="roundRect">
            <a:avLst>
              <a:gd name="adj" fmla="val 10526"/>
            </a:avLst>
          </a:prstGeom>
          <a:solidFill>
            <a:srgbClr val="F5F7FA"/>
          </a:solidFill>
          <a:ln/>
        </p:spPr>
        <p:txBody>
          <a:bodyPr/>
          <a:p/>
        </p:txBody>
      </p:sp>
      <p:sp>
        <p:nvSpPr>
          <p:cNvPr id="483" name=""/>
          <p:cNvSpPr/>
          <p:nvPr/>
        </p:nvSpPr>
        <p:spPr>
          <a:xfrm rot="0" flipH="0" flipV="0">
            <a:off x="704850" y="5667375"/>
            <a:ext cx="10858500" cy="542925"/>
          </a:xfrm>
          <a:custGeom>
            <a:pathLst>
              <a:path w="1140" h="57">
                <a:moveTo>
                  <a:pt x="6" y="0"/>
                </a:moveTo>
                <a:cubicBezTo>
                  <a:pt x="5" y="0"/>
                  <a:pt x="4" y="1"/>
                  <a:pt x="4" y="2"/>
                </a:cubicBezTo>
                <a:lnTo>
                  <a:pt x="4" y="55"/>
                </a:lnTo>
                <a:cubicBezTo>
                  <a:pt x="4" y="56"/>
                  <a:pt x="5" y="57"/>
                  <a:pt x="6" y="57"/>
                </a:cubicBezTo>
                <a:cubicBezTo>
                  <a:pt x="3" y="57"/>
                  <a:pt x="0" y="54"/>
                  <a:pt x="0" y="51"/>
                </a:cubicBezTo>
                <a:lnTo>
                  <a:pt x="0" y="6"/>
                </a:lnTo>
                <a:cubicBezTo>
                  <a:pt x="0" y="3"/>
                  <a:pt x="3" y="0"/>
                  <a:pt x="6" y="0"/>
                </a:cubicBezTo>
                <a:close/>
              </a:path>
            </a:pathLst>
          </a:custGeom>
          <a:solidFill>
            <a:srgbClr val="1E7BE0"/>
          </a:solidFill>
          <a:ln/>
        </p:spPr>
        <p:txBody>
          <a:bodyPr/>
          <a:p/>
        </p:txBody>
      </p:sp>
      <p:sp>
        <p:nvSpPr>
          <p:cNvPr id="484" name="" descr="{&quot;isTemplate&quot;:true,&quot;type&quot;:&quot;text&quot;}"/>
          <p:cNvSpPr txBox="1"/>
          <p:nvPr/>
        </p:nvSpPr>
        <p:spPr>
          <a:xfrm rot="0" flipH="0" flipV="0">
            <a:off x="895350" y="5800725"/>
            <a:ext cx="9858375" cy="276225"/>
          </a:xfrm>
          <a:prstGeom prst="rect"/>
        </p:spPr>
        <p:txBody>
          <a:bodyPr wrap="none" lIns="0" tIns="0" rIns="0" bIns="0"/>
          <a:p>
            <a:pPr>
              <a:lnSpc>
                <a:spcPct val="150000"/>
              </a:lnSpc>
            </a:pPr>
            <a:r>
              <a:rPr lang="zh-CN" sz="1200" b="1">
                <a:solidFill>
                  <a:srgbClr val="0E2340"/>
                </a:solidFill>
                <a:latin typeface="Microsoft YaHei"/>
                <a:ea typeface="Microsoft YaHei"/>
              </a:rPr>
              <a:t>过渡路径四级：单项工具使用</a:t>
            </a:r>
            <a:r>
              <a:rPr lang="en-US" sz="1200" b="1">
                <a:solidFill>
                  <a:srgbClr val="0E2340"/>
                </a:solidFill>
                <a:latin typeface="Microsoft YaHei"/>
                <a:ea typeface="Microsoft YaHei"/>
              </a:rPr>
              <a:t xml:space="preserve"> → </a:t>
            </a:r>
            <a:r>
              <a:rPr lang="zh-CN" sz="1200" b="1">
                <a:solidFill>
                  <a:srgbClr val="0E2340"/>
                </a:solidFill>
                <a:latin typeface="Microsoft YaHei"/>
                <a:ea typeface="Microsoft YaHei"/>
              </a:rPr>
              <a:t>同一课时的作业与复盘</a:t>
            </a:r>
            <a:r>
              <a:rPr lang="en-US" sz="1200" b="1">
                <a:solidFill>
                  <a:srgbClr val="0E2340"/>
                </a:solidFill>
                <a:latin typeface="Microsoft YaHei"/>
                <a:ea typeface="Microsoft YaHei"/>
              </a:rPr>
              <a:t xml:space="preserve"> → </a:t>
            </a:r>
            <a:r>
              <a:rPr lang="zh-CN" sz="1200" b="1">
                <a:solidFill>
                  <a:srgbClr val="0E2340"/>
                </a:solidFill>
                <a:latin typeface="Microsoft YaHei"/>
                <a:ea typeface="Microsoft YaHei"/>
              </a:rPr>
              <a:t>阶段考试和长期记录</a:t>
            </a:r>
            <a:r>
              <a:rPr lang="en-US" sz="1200" b="1">
                <a:solidFill>
                  <a:srgbClr val="0E2340"/>
                </a:solidFill>
                <a:latin typeface="Microsoft YaHei"/>
                <a:ea typeface="Microsoft YaHei"/>
              </a:rPr>
              <a:t xml:space="preserve"> → </a:t>
            </a:r>
            <a:r>
              <a:rPr lang="zh-CN" sz="1200" b="1">
                <a:solidFill>
                  <a:srgbClr val="0E2340"/>
                </a:solidFill>
                <a:latin typeface="Microsoft YaHei"/>
                <a:ea typeface="Microsoft YaHei"/>
              </a:rPr>
              <a:t>课程、助教与教师协同；两种模式的效果与适用条件需分别评价</a:t>
            </a:r>
            <a:endParaRPr/>
          </a:p>
        </p:txBody>
      </p:sp>
      <p:sp>
        <p:nvSpPr>
          <p:cNvPr id="485"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486" name="" descr="{&quot;isTemplate&quot;:true,&quot;type&quot;:&quot;text&quot;}"/>
          <p:cNvSpPr txBox="1"/>
          <p:nvPr/>
        </p:nvSpPr>
        <p:spPr>
          <a:xfrm rot="0" flipH="0" flipV="0">
            <a:off x="666750" y="6381750"/>
            <a:ext cx="2324100" cy="209550"/>
          </a:xfrm>
          <a:prstGeom prst="rect"/>
        </p:spPr>
        <p:txBody>
          <a:bodyPr wrap="none" lIns="0" tIns="0" rIns="0" bIns="0"/>
          <a:p>
            <a:pPr>
              <a:lnSpc>
                <a:spcPct val="140000"/>
              </a:lnSpc>
            </a:pPr>
            <a:r>
              <a:rPr lang="zh-CN" sz="975">
                <a:solidFill>
                  <a:srgbClr val="7A8699"/>
                </a:solidFill>
                <a:latin typeface="Microsoft YaHei"/>
                <a:ea typeface="Microsoft YaHei"/>
              </a:rPr>
              <a:t>依据：两种教学模式与应用边界</a:t>
            </a:r>
            <a:r>
              <a:rPr lang="en-US" sz="975">
                <a:solidFill>
                  <a:srgbClr val="7A8699"/>
                </a:solidFill>
                <a:latin typeface="Microsoft YaHei"/>
                <a:ea typeface="Microsoft YaHei"/>
              </a:rPr>
              <a:t>.md §6–§7</a:t>
            </a:r>
            <a:endParaRPr/>
          </a:p>
        </p:txBody>
      </p:sp>
      <p:sp>
        <p:nvSpPr>
          <p:cNvPr id="487" name="" descr="{&quot;isTemplate&quot;:true,&quot;type&quot;:&quot;text&quot;}"/>
          <p:cNvSpPr txBox="1"/>
          <p:nvPr/>
        </p:nvSpPr>
        <p:spPr>
          <a:xfrm rot="0" flipH="0" flipV="0">
            <a:off x="10896600" y="6372225"/>
            <a:ext cx="628650"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112 / 124 </a:t>
            </a:r>
            <a:endParaRPr/>
          </a:p>
        </p:txBody>
      </p:sp>
    </p:spTree>
  </p:cSld>
</p:sld>
</file>

<file path=ppt/slides/slide113.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488" name="" descr="&lt;Slide style={{ width: '1280px', height: '720px', background: '#FFFFFF', padding: 0 }}&gt;&lt;Box style={{ position: 'absolute', top: 0, left: 0 }}&gt;&lt;svg width={1280} height={720} viewBox='0 0 1280 720'&gt;&lt;line x1='0' y1='0' x2='1280' y2='0' stroke='#E3E8EF' stroke-width='1' opacity='0.55'/&gt;&lt;line x1='0' y1='90' x2='1280' y2='90' stroke='#E3E8EF' stroke-width='1' opacity='0.55'/&gt;&lt;line x1='0' y1='180' x2='1280' y2='180' stroke='#E3E8EF' stroke-width='1' opacity='0.55'/&gt;&lt;line x1='0' y1='270' x2='1280' y2='270' stroke='#E3E8EF' stroke-width='1' opacity='0.55'/&gt;&lt;line x1='0' y1='360' x2='1280' y2='360' stroke='#E3E8EF' stroke-width='1' opacity='0.55'/&gt;&lt;line x1='0' y1='450' x2='1280' y2='450' stroke='#E3E8EF' stroke-width='1' opacity='0.55'/&gt;&lt;line x1='0' y1='540' x2='1280' y2='540' stroke='#E3E8EF' stroke-width='1' opacity='0.55'/&gt;&lt;line x1='0' y1='630' x2='1280' y2='630' stroke='#E3E8EF' stroke-width='1' opacity='0.55'/&gt;&lt;line x1='0' y1='720' x2='1280' y2='720' stroke='#E3E8EF' stroke-width='1' opacity='0.55'/&gt;&lt;/svg&gt;&lt;/Box&gt;&lt;Box style={{ position: 'relative', zIndex: 2, flexDirection: 'row', flex: 1, padding: '48px 80px 52px', gap: 44 }}&gt;&lt;Box style={{ width: 520, flexDirection: 'column', justifyContent: 'space-between' }}&gt;&lt;Box style={{ flexDirection: 'column' }}&gt;&lt;Text style={{ fontSize: 15, color: '#1E7BE0', fontWeight: 600, lineHeight: 1.4, letterSpacing: 2 }}&gt;STUDYAGENT · DESIGN REVIEW&lt;/Text&gt;&lt;/Box&gt;&lt;Box style={{ flexDirection: 'column' }}&gt;&lt;Text style={{ fontSize: 100, color: '#0E2340', fontWeight: 700, lineHeight: 1.0, fontFamily: 'JetBrains Mono, Inter' }}&gt;12&lt;/Text&gt;&lt;Box style={{ width: 78, height: 5, background: '#1E7BE0', marginTop: 10 }} /&gt;&lt;Text style={{ fontSize: 44, color: '#0E2340', fontWeight: 700, lineHeight: 1.2 }}&gt;自进化与扩展&lt;/Text&gt;&lt;/Box&gt;&lt;Box style={{ flexDirection: 'column', gap: 12 }}&gt;&lt;Box style={{ flexDirection: 'row', alignItems: 'center', background: '#F5F7FA', borderLeft: '4px solid #1E7BE0', borderRadius: 6, padding: '14px 20px' }}&gt;&lt;Text style={{ fontSize: 19, color: '#0E2340', fontWeight: 600, lineHeight: 1.5 }}&gt;把反馈转成可验证、可回滚的改进&lt;/Text&gt;&lt;/Box&gt;&lt;Box style={{ flexDirection: 'row', alignItems: 'center', background: '#F5F7FA', borderLeft: '4px solid #1E7BE0', borderRadius: 6, padding: '14px 20px' }}&gt;&lt;Text style={{ fontSize: 19, color: '#0E2340', fontWeight: 600, lineHeight: 1.5 }}&gt;四条演进路线&lt;/Text&gt;&lt;/Box&gt;&lt;Box style={{ flexDirection: 'row', alignItems: 'center', background: '#F5F7FA', borderLeft: '4px solid #1E7BE0', borderRadius: 6, padding: '14px 20px' }}&gt;&lt;Text style={{ fontSize: 19, color: '#0E2340', fontWeight: 600, lineHeight: 1.5 }}&gt;从高中数学走向其他学科&lt;/Text&gt;&lt;/Box&gt;&lt;/Box&gt;&lt;Box style={{ flexDirection: 'column' }}&gt;&lt;Text style={{ fontSize: 13, color: '#7A8699', fontWeight: 400, lineHeight: 1.5 }}&gt;来源：自进化与跨学科扩展设计.md（更新日期 2026-10-25）&lt;/Text&gt;&lt;/Box&gt;&lt;/Box&gt;&lt;Box style={{ flex: 1, flexDirection: 'column', justifyContent: 'space-between', gap: 12 }}&gt;&lt;Text style={{ fontSize: 20, color: '#0E2340', fontWeight: 700, lineHeight: 1.4 }}&gt;汇报结构 · 13 章&lt;/Text&gt;&lt;Box style={{ flexDirection: 'column', gap: 10 }}&gt;&lt;Box style={{ flexDirection: 'row', gap: 10 }}&gt;&lt;Box style={{ width: 172, height: 64, borderRadius: 6, padding: '9px 12px', background: '#F5F7FA', flexDirection: 'column', justifyContent: 'center' }}&gt;&lt;Text style={{ fontSize: 18, color: '#0E2340', fontWeight: 700, lineHeight: 1.2 }}&gt;01&lt;/Text&gt;&lt;Text style={{ fontSize: 13, color: '#7A8699', fontWeight: 400, lineHeight: 1.3 }}&gt;概念地基&lt;/Text&gt;&lt;/Box&gt;&lt;Box style={{ width: 172, height: 64, borderRadius: 6, padding: '9px 12px', background: '#F5F7FA', flexDirection: 'column', justifyContent: 'center' }}&gt;&lt;Text style={{ fontSize: 18, color: '#0E2340', fontWeight: 700, lineHeight: 1.2 }}&gt;02&lt;/Text&gt;&lt;Text style={{ fontSize: 13, color: '#7A8699', fontWeight: 400, lineHeight: 1.3 }}&gt;现状盘点&lt;/Text&gt;&lt;/Box&gt;&lt;Box style={{ width: 172, height: 64, borderRadius: 6, padding: '9px 12px', background: '#F5F7FA', flexDirection: 'column', justifyContent: 'center' }}&gt;&lt;Text style={{ fontSize: 18, color: '#0E2340', fontWeight: 700, lineHeight: 1.2 }}&gt;03&lt;/Text&gt;&lt;Text style={{ fontSize: 13, color: '#7A8699', fontWeight: 400, lineHeight: 1.3 }}&gt;单题引擎&lt;/Text&gt;&lt;/Box&gt;&lt;/Box&gt;&lt;Box style={{ flexDirection: 'row', gap: 10 }}&gt;&lt;Box style={{ width: 172, height: 64, borderRadius: 6, padding: '9px 12px', background: '#F5F7FA', flexDirection: 'column', justifyContent: 'center' }}&gt;&lt;Text style={{ fontSize: 18, color: '#0E2340', fontWeight: 700, lineHeight: 1.2 }}&gt;04&lt;/Text&gt;&lt;Text style={{ fontSize: 13, color: '#7A8699', fontWeight: 400, lineHeight: 1.3 }}&gt;套路层面&lt;/Text&gt;&lt;/Box&gt;&lt;Box style={{ width: 172, height: 64, borderRadius: 6, padding: '9px 12px', background: '#F5F7FA', flexDirection: 'column', justifyContent: 'center' }}&gt;&lt;Text style={{ fontSize: 18, color: '#0E2340', fontWeight: 700, lineHeight: 1.2 }}&gt;05&lt;/Text&gt;&lt;Text style={{ fontSize: 13, color: '#7A8699', fontWeight: 400, lineHeight: 1.3 }}&gt;教师端&lt;/Text&gt;&lt;/Box&gt;&lt;Box style={{ width: 172, height: 64, borderRadius: 6, padding: '9px 12px', background: '#F5F7FA', flexDirection: 'column', justifyContent: 'center' }}&gt;&lt;Text style={{ fontSize: 18, color: '#0E2340', fontWeight: 700, lineHeight: 1.2 }}&gt;06&lt;/Text&gt;&lt;Text style={{ fontSize: 13, color: '#7A8699', fontWeight: 400, lineHeight: 1.3 }}&gt;学校端&lt;/Text&gt;&lt;/Box&gt;&lt;/Box&gt;&lt;Box style={{ flexDirection: 'row', gap: 10 }}&gt;&lt;Box style={{ width: 172, height: 64, borderRadius: 6, padding: '9px 12px', background: '#F5F7FA', flexDirection: 'column', justifyContent: 'center' }}&gt;&lt;Text style={{ fontSize: 18, color: '#0E2340', fontWeight: 700, lineHeight: 1.2 }}&gt;07&lt;/Text&gt;&lt;Text style={{ fontSize: 13, color: '#7A8699', fontWeight: 400, lineHeight: 1.3 }}&gt;试卷与生涯&lt;/Text&gt;&lt;/Box&gt;&lt;Box style={{ width: 172, height: 64, borderRadius: 6, padding: '9px 12px', background: '#F5F7FA', flexDirection: 'column', justifyContent: 'center' }}&gt;&lt;Text style={{ fontSize: 18, color: '#0E2340', fontWeight: 700, lineHeight: 1.2 }}&gt;08&lt;/Text&gt;&lt;Text style={{ fontSize: 13, color: '#7A8699', fontWeight: 400, lineHeight: 1.3 }}&gt;协同 Agent&lt;/Text&gt;&lt;/Box&gt;&lt;Box style={{ width: 172, height: 64, borderRadius: 6, padding: '9px 12px', background: '#F5F7FA', flexDirection: 'column', justifyContent: 'center' }}&gt;&lt;Text style={{ fontSize: 18, color: '#0E2340', fontWeight: 700, lineHeight: 1.2 }}&gt;09&lt;/Text&gt;&lt;Text style={{ fontSize: 13, color: '#7A8699', fontWeight: 400, lineHeight: 1.3 }}&gt;MCP 接入&lt;/Text&gt;&lt;/Box&gt;&lt;/Box&gt;&lt;Box style={{ flexDirection: 'row', gap: 10 }}&gt;&lt;Box style={{ width: 172, height: 64, borderRadius: 6, padding: '9px 12px', background: '#F5F7FA', flexDirection: 'column', justifyContent: 'center' }}&gt;&lt;Text style={{ fontSize: 18, color: '#0E2340', fontWeight: 700, lineHeight: 1.2 }}&gt;10&lt;/Text&gt;&lt;Text style={{ fontSize: 13, color: '#7A8699', fontWeight: 400, lineHeight: 1.3 }}&gt;待深化研究&lt;/Text&gt;&lt;/Box&gt;&lt;Box style={{ width: 172, height: 64, borderRadius: 6, padding: '9px 12px', background: '#F5F7FA', flexDirection: 'column', justifyContent: 'center' }}&gt;&lt;Text style={{ fontSize: 18, color: '#0E2340', fontWeight: 700, lineHeight: 1.2 }}&gt;11&lt;/Text&gt;&lt;Text style={{ fontSize: 13, color: '#7A8699', fontWeight: 400, lineHeight: 1.3 }}&gt;落地与边界&lt;/Text&gt;&lt;/Box&gt;&lt;Box style={{ width: 172, height: 64, borderRadius: 6, padding: '9px 12px', background: '#0E2340', flexDirection: 'column', justifyContent: 'center' }}&gt;&lt;Text style={{ fontSize: 18, color: '#FFFFFF', fontWeight: 700, lineHeight: 1.2 }}&gt;12&lt;/Text&gt;&lt;Text style={{ fontSize: 13, color: '#C8DCF2', fontWeight: 400, lineHeight: 1.3 }}&gt;自进化与扩展&lt;/Text&gt;&lt;/Box&gt;&lt;/Box&gt;&lt;Box style={{ flexDirection: 'row', gap: 10 }}&gt;&lt;Box style={{ width: 172, height: 64, borderRadius: 6, padding: '9px 12px', background: '#F5F7FA', flexDirection: 'column', justifyContent: 'center' }}&gt;&lt;Text style={{ fontSize: 18, color: '#0E2340', fontWeight: 700, lineHeight: 1.2 }}&gt;13&lt;/Text&gt;&lt;Text style={{ fontSize: 13, color: '#7A8699', fontWeight: 400, lineHeight: 1.3 }}&gt;收尾&lt;/Text&gt;&lt;/Box&gt;&lt;/Box&gt;&lt;/Box&gt;&lt;Box style={{ flexDirection: 'row', alignItems: 'center', gap: 10, background: '#F5F7FA', borderRadius: 6, padding: '10px 14px' }}&gt;&lt;Box style={{ width: 6, height: 22, background: '#00A9B5' }} /&gt;&lt;Text style={{ fontSize: 15, color: '#0E2340', fontWeight: 600, lineHeight: 1.4 }}&gt;当前位置：第 12 章 · 自进化与扩展&lt;/Text&gt;&lt;/Box&gt;&lt;Box style={{ flexDirection: 'row', gap: 10 }}&gt;&lt;Box style={{ flex: 1, flexDirection: 'row', alignItems: 'center', gap: 8, borderRadius: 6, padding: '9px 10px', background: '#F5F7FA' }}&gt;&lt;Box style={{ width: 10, height: 10, borderRadius: 5, background: '#1E9E62' }} /&gt;&lt;Text style={{ fontSize: 14, color: '#333A45', fontWeight: 600, lineHeight: 1.3 }}&gt;已实现&lt;/Text&gt;&lt;/Box&gt;&lt;Box style={{ flex: 1, flexDirection: 'row', alignItems: 'center', gap: 8, borderRadius: 6, padding: '9px 10px', background: '#F5F7FA' }}&gt;&lt;Box style={{ width: 10, height: 10, borderRadius: 5, background: '#E8A33D' }} /&gt;&lt;Text style={{ fontSize: 14, color: '#333A45', fontWeight: 600, lineHeight: 1.3 }}&gt;部分实现&lt;/Text&gt;&lt;/Box&gt;&lt;Box style={{ flex: 1, flexDirection: 'row', alignItems: 'center', gap: 8, borderRadius: 6, padding: '9px 10px', background: '#F5F7FA' }}&gt;&lt;Box style={{ width: 10, height: 10, borderRadius: 5, background: '#1E7BE0' }} /&gt;&lt;Text style={{ fontSize: 14, color: '#333A45', fontWeight: 600, lineHeight: 1.3 }}&gt;设计中&lt;/Text&gt;&lt;/Box&gt;&lt;Box style={{ flex: 1, flexDirection: 'row', alignItems: 'center', gap: 8, borderRadius: 6, padding: '9px 10px', background: '#F5F7FA' }}&gt;&lt;Box style={{ width: 10, height: 10, borderRadius: 5, background: '#98A2B3' }} /&gt;&lt;Text style={{ fontSize: 14, color: '#333A45', fontWeight: 600, lineHeight: 1.3 }}&gt;待研究&lt;/Text&gt;&lt;/Box&gt;&lt;/Box&gt;&lt;Box style={{ flexDirection: 'row', alignItems: 'center', gap: 12, borderTop: '1px solid #E3E8EF', paddingTop: 14 }}&gt;&lt;Box style={{ width: 46, height: 5, background: '#00A9B5' }} /&gt;&lt;Text style={{ fontSize: 15, color: '#7A8699', fontWeight: 600, lineHeight: 1.4 }}&gt;StudyAgent 项目设计汇报 · 技术评审版 · 共 124 页&lt;/Text&gt;&lt;/Box&gt;&lt;/Box&gt;&lt;/Box&gt;&lt;/Slide&gt;"/>
        <p:cNvGrpSpPr/>
        <p:nvPr/>
      </p:nvGrpSpPr>
      <p:grpSpPr>
        <a:xfrm>
          <a:off x="0" y="0"/>
          <a:ext cx="0" cy="0"/>
          <a:chOff x="0" y="0"/>
          <a:chExt cx="0" cy="0"/>
        </a:xfrm>
      </p:grpSpPr>
      <p:sp>
        <p:nvSpPr>
          <p:cNvPr id="489" name=""/>
          <p:cNvSpPr/>
          <p:nvPr/>
        </p:nvSpPr>
        <p:spPr>
          <a:xfrm rot="0" flipH="0" flipV="0">
            <a:off x="0" y="0"/>
            <a:ext cx="12192000" cy="6858000"/>
          </a:xfrm>
          <a:prstGeom prst="rect">
            <a:avLst/>
          </a:prstGeom>
          <a:solidFill>
            <a:srgbClr val="FFFFFF"/>
          </a:solidFill>
          <a:ln/>
        </p:spPr>
        <p:txBody>
          <a:bodyPr/>
          <a:p/>
        </p:txBody>
      </p:sp>
      <p:pic>
        <p:nvPicPr>
          <p:cNvPr id="490" name=""/>
          <p:cNvPicPr>
            <a:picLocks noChangeAspect="1"/>
          </p:cNvPicPr>
          <p:nvPr/>
        </p:nvPicPr>
        <p:blipFill>
          <a:blip>
            <a:extLst>
              <a:ext uri="{96DAC541-7B7A-43D3-8B79-37D633B846F1}">
                <asvg:svgBlip r:embed="rId1"/>
              </a:ext>
            </a:extLst>
          </a:blip>
          <a:stretch>
            <a:fillRect/>
          </a:stretch>
        </p:blipFill>
        <p:spPr>
          <a:xfrm rot="0" flipH="0" flipV="0">
            <a:off x="0" y="0"/>
            <a:ext cx="12192000" cy="6858000"/>
          </a:xfrm>
          <a:prstGeom prst="rect">
            <a:avLst/>
          </a:prstGeom>
          <a:ln/>
        </p:spPr>
      </p:pic>
      <p:sp>
        <p:nvSpPr>
          <p:cNvPr id="491" name="" descr="{&quot;isTemplate&quot;:true,&quot;type&quot;:&quot;text&quot;}"/>
          <p:cNvSpPr txBox="1"/>
          <p:nvPr/>
        </p:nvSpPr>
        <p:spPr>
          <a:xfrm rot="0" flipH="0" flipV="0">
            <a:off x="762000" y="457200"/>
            <a:ext cx="4953000" cy="247650"/>
          </a:xfrm>
          <a:prstGeom prst="rect"/>
        </p:spPr>
        <p:txBody>
          <a:bodyPr wrap="none" lIns="0" tIns="0" rIns="0" bIns="0"/>
          <a:p>
            <a:pPr>
              <a:lnSpc>
                <a:spcPct val="140000"/>
              </a:lnSpc>
            </a:pPr>
            <a:r>
              <a:rPr lang="en-US" sz="1125" b="1" spc="150">
                <a:solidFill>
                  <a:srgbClr val="1E7BE0"/>
                </a:solidFill>
                <a:latin typeface="Microsoft YaHei"/>
                <a:ea typeface="Microsoft YaHei"/>
              </a:rPr>
              <a:t>STUDYAGENT · DESIGN REVIEW</a:t>
            </a:r>
            <a:endParaRPr/>
          </a:p>
        </p:txBody>
      </p:sp>
      <p:sp>
        <p:nvSpPr>
          <p:cNvPr id="492" name="" descr="{&quot;isTemplate&quot;:true,&quot;type&quot;:&quot;text&quot;}"/>
          <p:cNvSpPr txBox="1"/>
          <p:nvPr/>
        </p:nvSpPr>
        <p:spPr>
          <a:xfrm rot="0" flipH="0" flipV="0">
            <a:off x="762000" y="1209675"/>
            <a:ext cx="4953000" cy="1143000"/>
          </a:xfrm>
          <a:prstGeom prst="rect"/>
        </p:spPr>
        <p:txBody>
          <a:bodyPr wrap="none" lIns="0" tIns="0" rIns="0" bIns="0"/>
          <a:p>
            <a:pPr>
              <a:lnSpc>
                <a:spcPct val="100000"/>
              </a:lnSpc>
            </a:pPr>
            <a:r>
              <a:rPr lang="en-US" sz="7500" b="1">
                <a:solidFill>
                  <a:srgbClr val="0E2340"/>
                </a:solidFill>
                <a:latin typeface="JetBrains Mono"/>
                <a:ea typeface="JetBrains Mono"/>
              </a:rPr>
              <a:t>12</a:t>
            </a:r>
            <a:endParaRPr/>
          </a:p>
        </p:txBody>
      </p:sp>
      <p:sp>
        <p:nvSpPr>
          <p:cNvPr id="493" name=""/>
          <p:cNvSpPr/>
          <p:nvPr/>
        </p:nvSpPr>
        <p:spPr>
          <a:xfrm rot="0" flipH="0" flipV="0">
            <a:off x="762000" y="2447925"/>
            <a:ext cx="742950" cy="47625"/>
          </a:xfrm>
          <a:prstGeom prst="rect">
            <a:avLst/>
          </a:prstGeom>
          <a:solidFill>
            <a:srgbClr val="1E7BE0"/>
          </a:solidFill>
          <a:ln/>
        </p:spPr>
        <p:txBody>
          <a:bodyPr/>
          <a:p/>
        </p:txBody>
      </p:sp>
      <p:sp>
        <p:nvSpPr>
          <p:cNvPr id="494" name="" descr="{&quot;isTemplate&quot;:true,&quot;type&quot;:&quot;text&quot;}"/>
          <p:cNvSpPr txBox="1"/>
          <p:nvPr/>
        </p:nvSpPr>
        <p:spPr>
          <a:xfrm rot="0" flipH="0" flipV="0">
            <a:off x="762000" y="2495550"/>
            <a:ext cx="4953000" cy="609600"/>
          </a:xfrm>
          <a:prstGeom prst="rect"/>
        </p:spPr>
        <p:txBody>
          <a:bodyPr wrap="none" lIns="0" tIns="0" rIns="0" bIns="0"/>
          <a:p>
            <a:pPr>
              <a:lnSpc>
                <a:spcPct val="120000"/>
              </a:lnSpc>
            </a:pPr>
            <a:r>
              <a:rPr lang="zh-CN" sz="3300" b="1">
                <a:solidFill>
                  <a:srgbClr val="0E2340"/>
                </a:solidFill>
                <a:latin typeface="Microsoft YaHei"/>
                <a:ea typeface="Microsoft YaHei"/>
              </a:rPr>
              <a:t>自进化与扩展</a:t>
            </a:r>
            <a:endParaRPr/>
          </a:p>
        </p:txBody>
      </p:sp>
      <p:sp>
        <p:nvSpPr>
          <p:cNvPr id="495" name=""/>
          <p:cNvSpPr/>
          <p:nvPr/>
        </p:nvSpPr>
        <p:spPr>
          <a:xfrm rot="0" flipH="0" flipV="0">
            <a:off x="800100" y="3600450"/>
            <a:ext cx="4953000" cy="600075"/>
          </a:xfrm>
          <a:prstGeom prst="roundRect">
            <a:avLst>
              <a:gd name="adj" fmla="val 9524"/>
            </a:avLst>
          </a:prstGeom>
          <a:solidFill>
            <a:srgbClr val="F5F7FA"/>
          </a:solidFill>
          <a:ln/>
        </p:spPr>
        <p:txBody>
          <a:bodyPr/>
          <a:p/>
        </p:txBody>
      </p:sp>
      <p:sp>
        <p:nvSpPr>
          <p:cNvPr id="496" name=""/>
          <p:cNvSpPr/>
          <p:nvPr/>
        </p:nvSpPr>
        <p:spPr>
          <a:xfrm rot="0" flipH="0" flipV="0">
            <a:off x="800100" y="360045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497" name="" descr="{&quot;isTemplate&quot;:true,&quot;type&quot;:&quot;text&quot;}"/>
          <p:cNvSpPr txBox="1"/>
          <p:nvPr/>
        </p:nvSpPr>
        <p:spPr>
          <a:xfrm rot="0" flipH="0" flipV="0">
            <a:off x="990600" y="3733800"/>
            <a:ext cx="2714625" cy="333375"/>
          </a:xfrm>
          <a:prstGeom prst="rect"/>
        </p:spPr>
        <p:txBody>
          <a:bodyPr wrap="none" lIns="0" tIns="0" rIns="0" bIns="0"/>
          <a:p>
            <a:pPr>
              <a:lnSpc>
                <a:spcPct val="150000"/>
              </a:lnSpc>
            </a:pPr>
            <a:r>
              <a:rPr lang="zh-CN" sz="1425" b="1">
                <a:solidFill>
                  <a:srgbClr val="0E2340"/>
                </a:solidFill>
                <a:latin typeface="Microsoft YaHei"/>
                <a:ea typeface="Microsoft YaHei"/>
              </a:rPr>
              <a:t>把反馈转成可验证、可回滚的改进</a:t>
            </a:r>
            <a:endParaRPr/>
          </a:p>
        </p:txBody>
      </p:sp>
      <p:sp>
        <p:nvSpPr>
          <p:cNvPr id="498" name=""/>
          <p:cNvSpPr/>
          <p:nvPr/>
        </p:nvSpPr>
        <p:spPr>
          <a:xfrm rot="0" flipH="0" flipV="0">
            <a:off x="800100" y="4314825"/>
            <a:ext cx="4953000" cy="600075"/>
          </a:xfrm>
          <a:prstGeom prst="roundRect">
            <a:avLst>
              <a:gd name="adj" fmla="val 9524"/>
            </a:avLst>
          </a:prstGeom>
          <a:solidFill>
            <a:srgbClr val="F5F7FA"/>
          </a:solidFill>
          <a:ln/>
        </p:spPr>
        <p:txBody>
          <a:bodyPr/>
          <a:p/>
        </p:txBody>
      </p:sp>
      <p:sp>
        <p:nvSpPr>
          <p:cNvPr id="499" name=""/>
          <p:cNvSpPr/>
          <p:nvPr/>
        </p:nvSpPr>
        <p:spPr>
          <a:xfrm rot="0" flipH="0" flipV="0">
            <a:off x="800100" y="4314825"/>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500" name="" descr="{&quot;isTemplate&quot;:true,&quot;type&quot;:&quot;text&quot;}"/>
          <p:cNvSpPr txBox="1"/>
          <p:nvPr/>
        </p:nvSpPr>
        <p:spPr>
          <a:xfrm rot="0" flipH="0" flipV="0">
            <a:off x="990600" y="4448175"/>
            <a:ext cx="1085850" cy="333375"/>
          </a:xfrm>
          <a:prstGeom prst="rect"/>
        </p:spPr>
        <p:txBody>
          <a:bodyPr wrap="none" lIns="0" tIns="0" rIns="0" bIns="0"/>
          <a:p>
            <a:pPr>
              <a:lnSpc>
                <a:spcPct val="150000"/>
              </a:lnSpc>
            </a:pPr>
            <a:r>
              <a:rPr lang="zh-CN" sz="1425" b="1">
                <a:solidFill>
                  <a:srgbClr val="0E2340"/>
                </a:solidFill>
                <a:latin typeface="Microsoft YaHei"/>
                <a:ea typeface="Microsoft YaHei"/>
              </a:rPr>
              <a:t>四条演进路线</a:t>
            </a:r>
            <a:endParaRPr/>
          </a:p>
        </p:txBody>
      </p:sp>
      <p:sp>
        <p:nvSpPr>
          <p:cNvPr id="501" name=""/>
          <p:cNvSpPr/>
          <p:nvPr/>
        </p:nvSpPr>
        <p:spPr>
          <a:xfrm rot="0" flipH="0" flipV="0">
            <a:off x="800100" y="5029200"/>
            <a:ext cx="4953000" cy="600075"/>
          </a:xfrm>
          <a:prstGeom prst="roundRect">
            <a:avLst>
              <a:gd name="adj" fmla="val 9524"/>
            </a:avLst>
          </a:prstGeom>
          <a:solidFill>
            <a:srgbClr val="F5F7FA"/>
          </a:solidFill>
          <a:ln/>
        </p:spPr>
        <p:txBody>
          <a:bodyPr/>
          <a:p/>
        </p:txBody>
      </p:sp>
      <p:sp>
        <p:nvSpPr>
          <p:cNvPr id="502" name=""/>
          <p:cNvSpPr/>
          <p:nvPr/>
        </p:nvSpPr>
        <p:spPr>
          <a:xfrm rot="0" flipH="0" flipV="0">
            <a:off x="800100" y="5029200"/>
            <a:ext cx="4953000" cy="600075"/>
          </a:xfrm>
          <a:custGeom>
            <a:pathLst>
              <a:path w="520" h="63">
                <a:moveTo>
                  <a:pt x="6" y="0"/>
                </a:moveTo>
                <a:cubicBezTo>
                  <a:pt x="5" y="0"/>
                  <a:pt x="4" y="1"/>
                  <a:pt x="4" y="2"/>
                </a:cubicBezTo>
                <a:lnTo>
                  <a:pt x="4" y="61"/>
                </a:lnTo>
                <a:cubicBezTo>
                  <a:pt x="4" y="62"/>
                  <a:pt x="5" y="63"/>
                  <a:pt x="6" y="63"/>
                </a:cubicBezTo>
                <a:cubicBezTo>
                  <a:pt x="3" y="63"/>
                  <a:pt x="0" y="60"/>
                  <a:pt x="0" y="57"/>
                </a:cubicBezTo>
                <a:lnTo>
                  <a:pt x="0" y="6"/>
                </a:lnTo>
                <a:cubicBezTo>
                  <a:pt x="0" y="3"/>
                  <a:pt x="3" y="0"/>
                  <a:pt x="6" y="0"/>
                </a:cubicBezTo>
                <a:close/>
              </a:path>
            </a:pathLst>
          </a:custGeom>
          <a:solidFill>
            <a:srgbClr val="1E7BE0"/>
          </a:solidFill>
          <a:ln/>
        </p:spPr>
        <p:txBody>
          <a:bodyPr/>
          <a:p/>
        </p:txBody>
      </p:sp>
      <p:sp>
        <p:nvSpPr>
          <p:cNvPr id="503" name="" descr="{&quot;isTemplate&quot;:true,&quot;type&quot;:&quot;text&quot;}"/>
          <p:cNvSpPr txBox="1"/>
          <p:nvPr/>
        </p:nvSpPr>
        <p:spPr>
          <a:xfrm rot="0" flipH="0" flipV="0">
            <a:off x="990600" y="5162550"/>
            <a:ext cx="1990725" cy="333375"/>
          </a:xfrm>
          <a:prstGeom prst="rect"/>
        </p:spPr>
        <p:txBody>
          <a:bodyPr wrap="none" lIns="0" tIns="0" rIns="0" bIns="0"/>
          <a:p>
            <a:pPr>
              <a:lnSpc>
                <a:spcPct val="150000"/>
              </a:lnSpc>
            </a:pPr>
            <a:r>
              <a:rPr lang="zh-CN" sz="1425" b="1">
                <a:solidFill>
                  <a:srgbClr val="0E2340"/>
                </a:solidFill>
                <a:latin typeface="Microsoft YaHei"/>
                <a:ea typeface="Microsoft YaHei"/>
              </a:rPr>
              <a:t>从高中数学走向其他学科</a:t>
            </a:r>
            <a:endParaRPr/>
          </a:p>
        </p:txBody>
      </p:sp>
      <p:sp>
        <p:nvSpPr>
          <p:cNvPr id="504" name="" descr="{&quot;isTemplate&quot;:true,&quot;type&quot;:&quot;text&quot;}"/>
          <p:cNvSpPr txBox="1"/>
          <p:nvPr/>
        </p:nvSpPr>
        <p:spPr>
          <a:xfrm rot="0" flipH="0" flipV="0">
            <a:off x="762000" y="6134100"/>
            <a:ext cx="4953000" cy="228600"/>
          </a:xfrm>
          <a:prstGeom prst="rect"/>
        </p:spPr>
        <p:txBody>
          <a:bodyPr wrap="none" lIns="0" tIns="0" rIns="0" bIns="0"/>
          <a:p>
            <a:pPr>
              <a:lnSpc>
                <a:spcPct val="150000"/>
              </a:lnSpc>
            </a:pPr>
            <a:r>
              <a:rPr lang="zh-CN" sz="975">
                <a:solidFill>
                  <a:srgbClr val="7A8699"/>
                </a:solidFill>
                <a:latin typeface="Microsoft YaHei"/>
                <a:ea typeface="Microsoft YaHei"/>
              </a:rPr>
              <a:t>来源：自进化与跨学科扩展设计</a:t>
            </a:r>
            <a:r>
              <a:rPr lang="en-US" sz="975">
                <a:solidFill>
                  <a:srgbClr val="7A8699"/>
                </a:solidFill>
                <a:latin typeface="Microsoft YaHei"/>
                <a:ea typeface="Microsoft YaHei"/>
              </a:rPr>
              <a:t>.md</a:t>
            </a:r>
            <a:r>
              <a:rPr lang="zh-CN" sz="975">
                <a:solidFill>
                  <a:srgbClr val="7A8699"/>
                </a:solidFill>
                <a:latin typeface="Microsoft YaHei"/>
                <a:ea typeface="Microsoft YaHei"/>
              </a:rPr>
              <a:t>（更新日期</a:t>
            </a:r>
            <a:r>
              <a:rPr lang="en-US" sz="975">
                <a:solidFill>
                  <a:srgbClr val="7A8699"/>
                </a:solidFill>
                <a:latin typeface="Microsoft YaHei"/>
                <a:ea typeface="Microsoft YaHei"/>
              </a:rPr>
              <a:t xml:space="preserve"> 2026-10-25</a:t>
            </a:r>
            <a:r>
              <a:rPr lang="zh-CN" sz="975">
                <a:solidFill>
                  <a:srgbClr val="7A8699"/>
                </a:solidFill>
                <a:latin typeface="Microsoft YaHei"/>
                <a:ea typeface="Microsoft YaHei"/>
              </a:rPr>
              <a:t>）</a:t>
            </a:r>
            <a:endParaRPr/>
          </a:p>
        </p:txBody>
      </p:sp>
      <p:sp>
        <p:nvSpPr>
          <p:cNvPr id="505" name="" descr="{&quot;isTemplate&quot;:true,&quot;type&quot;:&quot;text&quot;}"/>
          <p:cNvSpPr txBox="1"/>
          <p:nvPr/>
        </p:nvSpPr>
        <p:spPr>
          <a:xfrm rot="0" flipH="0" flipV="0">
            <a:off x="6134100" y="457200"/>
            <a:ext cx="5295900" cy="323850"/>
          </a:xfrm>
          <a:prstGeom prst="rect"/>
        </p:spPr>
        <p:txBody>
          <a:bodyPr wrap="none" lIns="0" tIns="0" rIns="0" bIns="0"/>
          <a:p>
            <a:pPr>
              <a:lnSpc>
                <a:spcPct val="140000"/>
              </a:lnSpc>
            </a:pPr>
            <a:r>
              <a:rPr lang="zh-CN" sz="1500" b="1">
                <a:solidFill>
                  <a:srgbClr val="0E2340"/>
                </a:solidFill>
                <a:latin typeface="Microsoft YaHei"/>
                <a:ea typeface="Microsoft YaHei"/>
              </a:rPr>
              <a:t>汇报结构</a:t>
            </a:r>
            <a:r>
              <a:rPr lang="en-US" sz="1500" b="1">
                <a:solidFill>
                  <a:srgbClr val="0E2340"/>
                </a:solidFill>
                <a:latin typeface="Microsoft YaHei"/>
                <a:ea typeface="Microsoft YaHei"/>
              </a:rPr>
              <a:t xml:space="preserve"> · 13 </a:t>
            </a:r>
            <a:r>
              <a:rPr lang="zh-CN" sz="1500" b="1">
                <a:solidFill>
                  <a:srgbClr val="0E2340"/>
                </a:solidFill>
                <a:latin typeface="Microsoft YaHei"/>
                <a:ea typeface="Microsoft YaHei"/>
              </a:rPr>
              <a:t>章</a:t>
            </a:r>
            <a:endParaRPr/>
          </a:p>
        </p:txBody>
      </p:sp>
      <p:sp>
        <p:nvSpPr>
          <p:cNvPr id="506" name=""/>
          <p:cNvSpPr/>
          <p:nvPr/>
        </p:nvSpPr>
        <p:spPr>
          <a:xfrm rot="0" flipH="0" flipV="0">
            <a:off x="6134100" y="1019175"/>
            <a:ext cx="1638300" cy="609600"/>
          </a:xfrm>
          <a:prstGeom prst="roundRect">
            <a:avLst>
              <a:gd name="adj" fmla="val 9375"/>
            </a:avLst>
          </a:prstGeom>
          <a:solidFill>
            <a:srgbClr val="F5F7FA"/>
          </a:solidFill>
          <a:ln/>
        </p:spPr>
        <p:txBody>
          <a:bodyPr/>
          <a:p/>
        </p:txBody>
      </p:sp>
      <p:sp>
        <p:nvSpPr>
          <p:cNvPr id="507" name="" descr="{&quot;isTemplate&quot;:true,&quot;type&quot;:&quot;text&quot;}"/>
          <p:cNvSpPr txBox="1"/>
          <p:nvPr/>
        </p:nvSpPr>
        <p:spPr>
          <a:xfrm rot="0" flipH="0" flipV="0">
            <a:off x="62484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01</a:t>
            </a:r>
            <a:endParaRPr/>
          </a:p>
        </p:txBody>
      </p:sp>
      <p:sp>
        <p:nvSpPr>
          <p:cNvPr id="508" name="" descr="{&quot;isTemplate&quot;:true,&quot;type&quot;:&quot;text&quot;}"/>
          <p:cNvSpPr txBox="1"/>
          <p:nvPr/>
        </p:nvSpPr>
        <p:spPr>
          <a:xfrm rot="0" flipH="0" flipV="0">
            <a:off x="62484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概念地基</a:t>
            </a:r>
            <a:endParaRPr/>
          </a:p>
        </p:txBody>
      </p:sp>
      <p:sp>
        <p:nvSpPr>
          <p:cNvPr id="509" name=""/>
          <p:cNvSpPr/>
          <p:nvPr/>
        </p:nvSpPr>
        <p:spPr>
          <a:xfrm rot="0" flipH="0" flipV="0">
            <a:off x="7867650" y="1019175"/>
            <a:ext cx="1638300" cy="609600"/>
          </a:xfrm>
          <a:prstGeom prst="roundRect">
            <a:avLst>
              <a:gd name="adj" fmla="val 9375"/>
            </a:avLst>
          </a:prstGeom>
          <a:solidFill>
            <a:srgbClr val="F5F7FA"/>
          </a:solidFill>
          <a:ln/>
        </p:spPr>
        <p:txBody>
          <a:bodyPr/>
          <a:p/>
        </p:txBody>
      </p:sp>
      <p:sp>
        <p:nvSpPr>
          <p:cNvPr id="510" name="" descr="{&quot;isTemplate&quot;:true,&quot;type&quot;:&quot;text&quot;}"/>
          <p:cNvSpPr txBox="1"/>
          <p:nvPr/>
        </p:nvSpPr>
        <p:spPr>
          <a:xfrm rot="0" flipH="0" flipV="0">
            <a:off x="798195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02</a:t>
            </a:r>
            <a:endParaRPr/>
          </a:p>
        </p:txBody>
      </p:sp>
      <p:sp>
        <p:nvSpPr>
          <p:cNvPr id="511" name="" descr="{&quot;isTemplate&quot;:true,&quot;type&quot;:&quot;text&quot;}"/>
          <p:cNvSpPr txBox="1"/>
          <p:nvPr/>
        </p:nvSpPr>
        <p:spPr>
          <a:xfrm rot="0" flipH="0" flipV="0">
            <a:off x="798195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现状盘点</a:t>
            </a:r>
            <a:endParaRPr/>
          </a:p>
        </p:txBody>
      </p:sp>
      <p:sp>
        <p:nvSpPr>
          <p:cNvPr id="512" name=""/>
          <p:cNvSpPr/>
          <p:nvPr/>
        </p:nvSpPr>
        <p:spPr>
          <a:xfrm rot="0" flipH="0" flipV="0">
            <a:off x="9601200" y="1019175"/>
            <a:ext cx="1638300" cy="609600"/>
          </a:xfrm>
          <a:prstGeom prst="roundRect">
            <a:avLst>
              <a:gd name="adj" fmla="val 9375"/>
            </a:avLst>
          </a:prstGeom>
          <a:solidFill>
            <a:srgbClr val="F5F7FA"/>
          </a:solidFill>
          <a:ln/>
        </p:spPr>
        <p:txBody>
          <a:bodyPr/>
          <a:p/>
        </p:txBody>
      </p:sp>
      <p:sp>
        <p:nvSpPr>
          <p:cNvPr id="513" name="" descr="{&quot;isTemplate&quot;:true,&quot;type&quot;:&quot;text&quot;}"/>
          <p:cNvSpPr txBox="1"/>
          <p:nvPr/>
        </p:nvSpPr>
        <p:spPr>
          <a:xfrm rot="0" flipH="0" flipV="0">
            <a:off x="9715500" y="11049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03</a:t>
            </a:r>
            <a:endParaRPr/>
          </a:p>
        </p:txBody>
      </p:sp>
      <p:sp>
        <p:nvSpPr>
          <p:cNvPr id="514" name="" descr="{&quot;isTemplate&quot;:true,&quot;type&quot;:&quot;text&quot;}"/>
          <p:cNvSpPr txBox="1"/>
          <p:nvPr/>
        </p:nvSpPr>
        <p:spPr>
          <a:xfrm rot="0" flipH="0" flipV="0">
            <a:off x="9715500" y="13525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单题引擎</a:t>
            </a:r>
            <a:endParaRPr/>
          </a:p>
        </p:txBody>
      </p:sp>
      <p:sp>
        <p:nvSpPr>
          <p:cNvPr id="515" name=""/>
          <p:cNvSpPr/>
          <p:nvPr/>
        </p:nvSpPr>
        <p:spPr>
          <a:xfrm rot="0" flipH="0" flipV="0">
            <a:off x="6134100" y="1724025"/>
            <a:ext cx="1638300" cy="609600"/>
          </a:xfrm>
          <a:prstGeom prst="roundRect">
            <a:avLst>
              <a:gd name="adj" fmla="val 9375"/>
            </a:avLst>
          </a:prstGeom>
          <a:solidFill>
            <a:srgbClr val="F5F7FA"/>
          </a:solidFill>
          <a:ln/>
        </p:spPr>
        <p:txBody>
          <a:bodyPr/>
          <a:p/>
        </p:txBody>
      </p:sp>
      <p:sp>
        <p:nvSpPr>
          <p:cNvPr id="516" name="" descr="{&quot;isTemplate&quot;:true,&quot;type&quot;:&quot;text&quot;}"/>
          <p:cNvSpPr txBox="1"/>
          <p:nvPr/>
        </p:nvSpPr>
        <p:spPr>
          <a:xfrm rot="0" flipH="0" flipV="0">
            <a:off x="62484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04</a:t>
            </a:r>
            <a:endParaRPr/>
          </a:p>
        </p:txBody>
      </p:sp>
      <p:sp>
        <p:nvSpPr>
          <p:cNvPr id="517" name="" descr="{&quot;isTemplate&quot;:true,&quot;type&quot;:&quot;text&quot;}"/>
          <p:cNvSpPr txBox="1"/>
          <p:nvPr/>
        </p:nvSpPr>
        <p:spPr>
          <a:xfrm rot="0" flipH="0" flipV="0">
            <a:off x="62484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套路层面</a:t>
            </a:r>
            <a:endParaRPr/>
          </a:p>
        </p:txBody>
      </p:sp>
      <p:sp>
        <p:nvSpPr>
          <p:cNvPr id="518" name=""/>
          <p:cNvSpPr/>
          <p:nvPr/>
        </p:nvSpPr>
        <p:spPr>
          <a:xfrm rot="0" flipH="0" flipV="0">
            <a:off x="7867650" y="1724025"/>
            <a:ext cx="1638300" cy="609600"/>
          </a:xfrm>
          <a:prstGeom prst="roundRect">
            <a:avLst>
              <a:gd name="adj" fmla="val 9375"/>
            </a:avLst>
          </a:prstGeom>
          <a:solidFill>
            <a:srgbClr val="F5F7FA"/>
          </a:solidFill>
          <a:ln/>
        </p:spPr>
        <p:txBody>
          <a:bodyPr/>
          <a:p/>
        </p:txBody>
      </p:sp>
      <p:sp>
        <p:nvSpPr>
          <p:cNvPr id="519" name="" descr="{&quot;isTemplate&quot;:true,&quot;type&quot;:&quot;text&quot;}"/>
          <p:cNvSpPr txBox="1"/>
          <p:nvPr/>
        </p:nvSpPr>
        <p:spPr>
          <a:xfrm rot="0" flipH="0" flipV="0">
            <a:off x="798195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05</a:t>
            </a:r>
            <a:endParaRPr/>
          </a:p>
        </p:txBody>
      </p:sp>
      <p:sp>
        <p:nvSpPr>
          <p:cNvPr id="520" name="" descr="{&quot;isTemplate&quot;:true,&quot;type&quot;:&quot;text&quot;}"/>
          <p:cNvSpPr txBox="1"/>
          <p:nvPr/>
        </p:nvSpPr>
        <p:spPr>
          <a:xfrm rot="0" flipH="0" flipV="0">
            <a:off x="798195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教师端</a:t>
            </a:r>
            <a:endParaRPr/>
          </a:p>
        </p:txBody>
      </p:sp>
      <p:sp>
        <p:nvSpPr>
          <p:cNvPr id="521" name=""/>
          <p:cNvSpPr/>
          <p:nvPr/>
        </p:nvSpPr>
        <p:spPr>
          <a:xfrm rot="0" flipH="0" flipV="0">
            <a:off x="9601200" y="1724025"/>
            <a:ext cx="1638300" cy="609600"/>
          </a:xfrm>
          <a:prstGeom prst="roundRect">
            <a:avLst>
              <a:gd name="adj" fmla="val 9375"/>
            </a:avLst>
          </a:prstGeom>
          <a:solidFill>
            <a:srgbClr val="F5F7FA"/>
          </a:solidFill>
          <a:ln/>
        </p:spPr>
        <p:txBody>
          <a:bodyPr/>
          <a:p/>
        </p:txBody>
      </p:sp>
      <p:sp>
        <p:nvSpPr>
          <p:cNvPr id="522" name="" descr="{&quot;isTemplate&quot;:true,&quot;type&quot;:&quot;text&quot;}"/>
          <p:cNvSpPr txBox="1"/>
          <p:nvPr/>
        </p:nvSpPr>
        <p:spPr>
          <a:xfrm rot="0" flipH="0" flipV="0">
            <a:off x="9715500" y="18097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06</a:t>
            </a:r>
            <a:endParaRPr/>
          </a:p>
        </p:txBody>
      </p:sp>
      <p:sp>
        <p:nvSpPr>
          <p:cNvPr id="523" name="" descr="{&quot;isTemplate&quot;:true,&quot;type&quot;:&quot;text&quot;}"/>
          <p:cNvSpPr txBox="1"/>
          <p:nvPr/>
        </p:nvSpPr>
        <p:spPr>
          <a:xfrm rot="0" flipH="0" flipV="0">
            <a:off x="9715500" y="20574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学校端</a:t>
            </a:r>
            <a:endParaRPr/>
          </a:p>
        </p:txBody>
      </p:sp>
      <p:sp>
        <p:nvSpPr>
          <p:cNvPr id="524" name=""/>
          <p:cNvSpPr/>
          <p:nvPr/>
        </p:nvSpPr>
        <p:spPr>
          <a:xfrm rot="0" flipH="0" flipV="0">
            <a:off x="6134100" y="2428875"/>
            <a:ext cx="1638300" cy="609600"/>
          </a:xfrm>
          <a:prstGeom prst="roundRect">
            <a:avLst>
              <a:gd name="adj" fmla="val 9375"/>
            </a:avLst>
          </a:prstGeom>
          <a:solidFill>
            <a:srgbClr val="F5F7FA"/>
          </a:solidFill>
          <a:ln/>
        </p:spPr>
        <p:txBody>
          <a:bodyPr/>
          <a:p/>
        </p:txBody>
      </p:sp>
      <p:sp>
        <p:nvSpPr>
          <p:cNvPr id="525" name="" descr="{&quot;isTemplate&quot;:true,&quot;type&quot;:&quot;text&quot;}"/>
          <p:cNvSpPr txBox="1"/>
          <p:nvPr/>
        </p:nvSpPr>
        <p:spPr>
          <a:xfrm rot="0" flipH="0" flipV="0">
            <a:off x="62484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07</a:t>
            </a:r>
            <a:endParaRPr/>
          </a:p>
        </p:txBody>
      </p:sp>
      <p:sp>
        <p:nvSpPr>
          <p:cNvPr id="526" name="" descr="{&quot;isTemplate&quot;:true,&quot;type&quot;:&quot;text&quot;}"/>
          <p:cNvSpPr txBox="1"/>
          <p:nvPr/>
        </p:nvSpPr>
        <p:spPr>
          <a:xfrm rot="0" flipH="0" flipV="0">
            <a:off x="624840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试卷与生涯</a:t>
            </a:r>
            <a:endParaRPr/>
          </a:p>
        </p:txBody>
      </p:sp>
      <p:sp>
        <p:nvSpPr>
          <p:cNvPr id="527" name=""/>
          <p:cNvSpPr/>
          <p:nvPr/>
        </p:nvSpPr>
        <p:spPr>
          <a:xfrm rot="0" flipH="0" flipV="0">
            <a:off x="7867650" y="2428875"/>
            <a:ext cx="1638300" cy="609600"/>
          </a:xfrm>
          <a:prstGeom prst="roundRect">
            <a:avLst>
              <a:gd name="adj" fmla="val 9375"/>
            </a:avLst>
          </a:prstGeom>
          <a:solidFill>
            <a:srgbClr val="F5F7FA"/>
          </a:solidFill>
          <a:ln/>
        </p:spPr>
        <p:txBody>
          <a:bodyPr/>
          <a:p/>
        </p:txBody>
      </p:sp>
      <p:sp>
        <p:nvSpPr>
          <p:cNvPr id="528" name="" descr="{&quot;isTemplate&quot;:true,&quot;type&quot;:&quot;text&quot;}"/>
          <p:cNvSpPr txBox="1"/>
          <p:nvPr/>
        </p:nvSpPr>
        <p:spPr>
          <a:xfrm rot="0" flipH="0" flipV="0">
            <a:off x="798195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08</a:t>
            </a:r>
            <a:endParaRPr/>
          </a:p>
        </p:txBody>
      </p:sp>
      <p:sp>
        <p:nvSpPr>
          <p:cNvPr id="529" name="" descr="{&quot;isTemplate&quot;:true,&quot;type&quot;:&quot;text&quot;}"/>
          <p:cNvSpPr txBox="1"/>
          <p:nvPr/>
        </p:nvSpPr>
        <p:spPr>
          <a:xfrm rot="0" flipH="0" flipV="0">
            <a:off x="7981950" y="27622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协同</a:t>
            </a:r>
            <a:r>
              <a:rPr lang="en-US" sz="975">
                <a:solidFill>
                  <a:srgbClr val="7A8699"/>
                </a:solidFill>
                <a:latin typeface="Microsoft YaHei"/>
                <a:ea typeface="Microsoft YaHei"/>
              </a:rPr>
              <a:t xml:space="preserve"> Agent</a:t>
            </a:r>
            <a:endParaRPr/>
          </a:p>
        </p:txBody>
      </p:sp>
      <p:sp>
        <p:nvSpPr>
          <p:cNvPr id="530" name=""/>
          <p:cNvSpPr/>
          <p:nvPr/>
        </p:nvSpPr>
        <p:spPr>
          <a:xfrm rot="0" flipH="0" flipV="0">
            <a:off x="9601200" y="2428875"/>
            <a:ext cx="1638300" cy="609600"/>
          </a:xfrm>
          <a:prstGeom prst="roundRect">
            <a:avLst>
              <a:gd name="adj" fmla="val 9375"/>
            </a:avLst>
          </a:prstGeom>
          <a:solidFill>
            <a:srgbClr val="F5F7FA"/>
          </a:solidFill>
          <a:ln/>
        </p:spPr>
        <p:txBody>
          <a:bodyPr/>
          <a:p/>
        </p:txBody>
      </p:sp>
      <p:sp>
        <p:nvSpPr>
          <p:cNvPr id="531" name="" descr="{&quot;isTemplate&quot;:true,&quot;type&quot;:&quot;text&quot;}"/>
          <p:cNvSpPr txBox="1"/>
          <p:nvPr/>
        </p:nvSpPr>
        <p:spPr>
          <a:xfrm rot="0" flipH="0" flipV="0">
            <a:off x="9715500" y="25146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09</a:t>
            </a:r>
            <a:endParaRPr/>
          </a:p>
        </p:txBody>
      </p:sp>
      <p:sp>
        <p:nvSpPr>
          <p:cNvPr id="532" name="" descr="{&quot;isTemplate&quot;:true,&quot;type&quot;:&quot;text&quot;}"/>
          <p:cNvSpPr txBox="1"/>
          <p:nvPr/>
        </p:nvSpPr>
        <p:spPr>
          <a:xfrm rot="0" flipH="0" flipV="0">
            <a:off x="9715500" y="2762250"/>
            <a:ext cx="1409700" cy="200025"/>
          </a:xfrm>
          <a:prstGeom prst="rect"/>
        </p:spPr>
        <p:txBody>
          <a:bodyPr wrap="none" lIns="0" tIns="0" rIns="0" bIns="0"/>
          <a:p>
            <a:pPr>
              <a:lnSpc>
                <a:spcPct val="130000"/>
              </a:lnSpc>
            </a:pPr>
            <a:r>
              <a:rPr lang="en-US" sz="975">
                <a:solidFill>
                  <a:srgbClr val="7A8699"/>
                </a:solidFill>
                <a:latin typeface="Microsoft YaHei"/>
                <a:ea typeface="Microsoft YaHei"/>
              </a:rPr>
              <a:t xml:space="preserve">MCP </a:t>
            </a:r>
            <a:r>
              <a:rPr lang="zh-CN" sz="975">
                <a:solidFill>
                  <a:srgbClr val="7A8699"/>
                </a:solidFill>
                <a:latin typeface="Microsoft YaHei"/>
                <a:ea typeface="Microsoft YaHei"/>
              </a:rPr>
              <a:t>接入</a:t>
            </a:r>
            <a:endParaRPr/>
          </a:p>
        </p:txBody>
      </p:sp>
      <p:sp>
        <p:nvSpPr>
          <p:cNvPr id="533" name=""/>
          <p:cNvSpPr/>
          <p:nvPr/>
        </p:nvSpPr>
        <p:spPr>
          <a:xfrm rot="0" flipH="0" flipV="0">
            <a:off x="6134100" y="3133725"/>
            <a:ext cx="1638300" cy="609600"/>
          </a:xfrm>
          <a:prstGeom prst="roundRect">
            <a:avLst>
              <a:gd name="adj" fmla="val 9375"/>
            </a:avLst>
          </a:prstGeom>
          <a:solidFill>
            <a:srgbClr val="F5F7FA"/>
          </a:solidFill>
          <a:ln/>
        </p:spPr>
        <p:txBody>
          <a:bodyPr/>
          <a:p/>
        </p:txBody>
      </p:sp>
      <p:sp>
        <p:nvSpPr>
          <p:cNvPr id="534" name="" descr="{&quot;isTemplate&quot;:true,&quot;type&quot;:&quot;text&quot;}"/>
          <p:cNvSpPr txBox="1"/>
          <p:nvPr/>
        </p:nvSpPr>
        <p:spPr>
          <a:xfrm rot="0" flipH="0" flipV="0">
            <a:off x="624840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10</a:t>
            </a:r>
            <a:endParaRPr/>
          </a:p>
        </p:txBody>
      </p:sp>
      <p:sp>
        <p:nvSpPr>
          <p:cNvPr id="535" name="" descr="{&quot;isTemplate&quot;:true,&quot;type&quot;:&quot;text&quot;}"/>
          <p:cNvSpPr txBox="1"/>
          <p:nvPr/>
        </p:nvSpPr>
        <p:spPr>
          <a:xfrm rot="0" flipH="0" flipV="0">
            <a:off x="624840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待深化研究</a:t>
            </a:r>
            <a:endParaRPr/>
          </a:p>
        </p:txBody>
      </p:sp>
      <p:sp>
        <p:nvSpPr>
          <p:cNvPr id="536" name=""/>
          <p:cNvSpPr/>
          <p:nvPr/>
        </p:nvSpPr>
        <p:spPr>
          <a:xfrm rot="0" flipH="0" flipV="0">
            <a:off x="7867650" y="3133725"/>
            <a:ext cx="1638300" cy="609600"/>
          </a:xfrm>
          <a:prstGeom prst="roundRect">
            <a:avLst>
              <a:gd name="adj" fmla="val 9375"/>
            </a:avLst>
          </a:prstGeom>
          <a:solidFill>
            <a:srgbClr val="F5F7FA"/>
          </a:solidFill>
          <a:ln/>
        </p:spPr>
        <p:txBody>
          <a:bodyPr/>
          <a:p/>
        </p:txBody>
      </p:sp>
      <p:sp>
        <p:nvSpPr>
          <p:cNvPr id="537" name="" descr="{&quot;isTemplate&quot;:true,&quot;type&quot;:&quot;text&quot;}"/>
          <p:cNvSpPr txBox="1"/>
          <p:nvPr/>
        </p:nvSpPr>
        <p:spPr>
          <a:xfrm rot="0" flipH="0" flipV="0">
            <a:off x="7981950" y="321945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11</a:t>
            </a:r>
            <a:endParaRPr/>
          </a:p>
        </p:txBody>
      </p:sp>
      <p:sp>
        <p:nvSpPr>
          <p:cNvPr id="538" name="" descr="{&quot;isTemplate&quot;:true,&quot;type&quot;:&quot;text&quot;}"/>
          <p:cNvSpPr txBox="1"/>
          <p:nvPr/>
        </p:nvSpPr>
        <p:spPr>
          <a:xfrm rot="0" flipH="0" flipV="0">
            <a:off x="7981950" y="346710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落地与边界</a:t>
            </a:r>
            <a:endParaRPr/>
          </a:p>
        </p:txBody>
      </p:sp>
      <p:sp>
        <p:nvSpPr>
          <p:cNvPr id="539" name=""/>
          <p:cNvSpPr/>
          <p:nvPr/>
        </p:nvSpPr>
        <p:spPr>
          <a:xfrm rot="0" flipH="0" flipV="0">
            <a:off x="9601200" y="3133725"/>
            <a:ext cx="1638300" cy="609600"/>
          </a:xfrm>
          <a:prstGeom prst="roundRect">
            <a:avLst>
              <a:gd name="adj" fmla="val 9375"/>
            </a:avLst>
          </a:prstGeom>
          <a:solidFill>
            <a:srgbClr val="0E2340"/>
          </a:solidFill>
          <a:ln/>
        </p:spPr>
        <p:txBody>
          <a:bodyPr/>
          <a:p/>
        </p:txBody>
      </p:sp>
      <p:sp>
        <p:nvSpPr>
          <p:cNvPr id="540" name="" descr="{&quot;isTemplate&quot;:true,&quot;type&quot;:&quot;text&quot;}"/>
          <p:cNvSpPr txBox="1"/>
          <p:nvPr/>
        </p:nvSpPr>
        <p:spPr>
          <a:xfrm rot="0" flipH="0" flipV="0">
            <a:off x="9715500" y="3219450"/>
            <a:ext cx="1409700" cy="247650"/>
          </a:xfrm>
          <a:prstGeom prst="rect"/>
        </p:spPr>
        <p:txBody>
          <a:bodyPr wrap="none" lIns="0" tIns="0" rIns="0" bIns="0"/>
          <a:p>
            <a:pPr>
              <a:lnSpc>
                <a:spcPct val="120000"/>
              </a:lnSpc>
            </a:pPr>
            <a:r>
              <a:rPr lang="en-US" sz="1350" b="1">
                <a:solidFill>
                  <a:srgbClr val="FFFFFF"/>
                </a:solidFill>
                <a:latin typeface="Microsoft YaHei"/>
                <a:ea typeface="Microsoft YaHei"/>
              </a:rPr>
              <a:t>12</a:t>
            </a:r>
            <a:endParaRPr/>
          </a:p>
        </p:txBody>
      </p:sp>
      <p:sp>
        <p:nvSpPr>
          <p:cNvPr id="541" name="" descr="{&quot;isTemplate&quot;:true,&quot;type&quot;:&quot;text&quot;}"/>
          <p:cNvSpPr txBox="1"/>
          <p:nvPr/>
        </p:nvSpPr>
        <p:spPr>
          <a:xfrm rot="0" flipH="0" flipV="0">
            <a:off x="9715500" y="3467100"/>
            <a:ext cx="1409700" cy="200025"/>
          </a:xfrm>
          <a:prstGeom prst="rect"/>
        </p:spPr>
        <p:txBody>
          <a:bodyPr wrap="none" lIns="0" tIns="0" rIns="0" bIns="0"/>
          <a:p>
            <a:pPr>
              <a:lnSpc>
                <a:spcPct val="130000"/>
              </a:lnSpc>
            </a:pPr>
            <a:r>
              <a:rPr lang="zh-CN" sz="975">
                <a:solidFill>
                  <a:srgbClr val="C8DCF2"/>
                </a:solidFill>
                <a:latin typeface="Microsoft YaHei"/>
                <a:ea typeface="Microsoft YaHei"/>
              </a:rPr>
              <a:t>自进化与扩展</a:t>
            </a:r>
            <a:endParaRPr/>
          </a:p>
        </p:txBody>
      </p:sp>
      <p:sp>
        <p:nvSpPr>
          <p:cNvPr id="542" name=""/>
          <p:cNvSpPr/>
          <p:nvPr/>
        </p:nvSpPr>
        <p:spPr>
          <a:xfrm rot="0" flipH="0" flipV="0">
            <a:off x="6134100" y="3838575"/>
            <a:ext cx="1638300" cy="609600"/>
          </a:xfrm>
          <a:prstGeom prst="roundRect">
            <a:avLst>
              <a:gd name="adj" fmla="val 9375"/>
            </a:avLst>
          </a:prstGeom>
          <a:solidFill>
            <a:srgbClr val="F5F7FA"/>
          </a:solidFill>
          <a:ln/>
        </p:spPr>
        <p:txBody>
          <a:bodyPr/>
          <a:p/>
        </p:txBody>
      </p:sp>
      <p:sp>
        <p:nvSpPr>
          <p:cNvPr id="543" name="" descr="{&quot;isTemplate&quot;:true,&quot;type&quot;:&quot;text&quot;}"/>
          <p:cNvSpPr txBox="1"/>
          <p:nvPr/>
        </p:nvSpPr>
        <p:spPr>
          <a:xfrm rot="0" flipH="0" flipV="0">
            <a:off x="6248400" y="3924300"/>
            <a:ext cx="1409700" cy="247650"/>
          </a:xfrm>
          <a:prstGeom prst="rect"/>
        </p:spPr>
        <p:txBody>
          <a:bodyPr wrap="none" lIns="0" tIns="0" rIns="0" bIns="0"/>
          <a:p>
            <a:pPr>
              <a:lnSpc>
                <a:spcPct val="120000"/>
              </a:lnSpc>
            </a:pPr>
            <a:r>
              <a:rPr lang="en-US" sz="1350" b="1">
                <a:solidFill>
                  <a:srgbClr val="0E2340"/>
                </a:solidFill>
                <a:latin typeface="Microsoft YaHei"/>
                <a:ea typeface="Microsoft YaHei"/>
              </a:rPr>
              <a:t>13</a:t>
            </a:r>
            <a:endParaRPr/>
          </a:p>
        </p:txBody>
      </p:sp>
      <p:sp>
        <p:nvSpPr>
          <p:cNvPr id="544" name="" descr="{&quot;isTemplate&quot;:true,&quot;type&quot;:&quot;text&quot;}"/>
          <p:cNvSpPr txBox="1"/>
          <p:nvPr/>
        </p:nvSpPr>
        <p:spPr>
          <a:xfrm rot="0" flipH="0" flipV="0">
            <a:off x="6248400" y="4171950"/>
            <a:ext cx="1409700" cy="200025"/>
          </a:xfrm>
          <a:prstGeom prst="rect"/>
        </p:spPr>
        <p:txBody>
          <a:bodyPr wrap="none" lIns="0" tIns="0" rIns="0" bIns="0"/>
          <a:p>
            <a:pPr>
              <a:lnSpc>
                <a:spcPct val="130000"/>
              </a:lnSpc>
            </a:pPr>
            <a:r>
              <a:rPr lang="zh-CN" sz="975">
                <a:solidFill>
                  <a:srgbClr val="7A8699"/>
                </a:solidFill>
                <a:latin typeface="Microsoft YaHei"/>
                <a:ea typeface="Microsoft YaHei"/>
              </a:rPr>
              <a:t>收尾</a:t>
            </a:r>
            <a:endParaRPr/>
          </a:p>
        </p:txBody>
      </p:sp>
      <p:sp>
        <p:nvSpPr>
          <p:cNvPr id="545" name=""/>
          <p:cNvSpPr/>
          <p:nvPr/>
        </p:nvSpPr>
        <p:spPr>
          <a:xfrm rot="0" flipH="0" flipV="0">
            <a:off x="6134100" y="4686300"/>
            <a:ext cx="5295900" cy="438150"/>
          </a:xfrm>
          <a:prstGeom prst="roundRect">
            <a:avLst>
              <a:gd name="adj" fmla="val 13043"/>
            </a:avLst>
          </a:prstGeom>
          <a:solidFill>
            <a:srgbClr val="F5F7FA"/>
          </a:solidFill>
          <a:ln/>
        </p:spPr>
        <p:txBody>
          <a:bodyPr/>
          <a:p/>
        </p:txBody>
      </p:sp>
      <p:sp>
        <p:nvSpPr>
          <p:cNvPr id="546" name=""/>
          <p:cNvSpPr/>
          <p:nvPr/>
        </p:nvSpPr>
        <p:spPr>
          <a:xfrm rot="0" flipH="0" flipV="0">
            <a:off x="6267450" y="4800600"/>
            <a:ext cx="57150" cy="209550"/>
          </a:xfrm>
          <a:prstGeom prst="rect">
            <a:avLst/>
          </a:prstGeom>
          <a:solidFill>
            <a:srgbClr val="00A9B5"/>
          </a:solidFill>
          <a:ln/>
        </p:spPr>
        <p:txBody>
          <a:bodyPr/>
          <a:p/>
        </p:txBody>
      </p:sp>
      <p:sp>
        <p:nvSpPr>
          <p:cNvPr id="547" name="" descr="{&quot;isTemplate&quot;:true,&quot;type&quot;:&quot;text&quot;}"/>
          <p:cNvSpPr txBox="1"/>
          <p:nvPr/>
        </p:nvSpPr>
        <p:spPr>
          <a:xfrm rot="0" flipH="0" flipV="0">
            <a:off x="6419850" y="4781550"/>
            <a:ext cx="2228850" cy="247650"/>
          </a:xfrm>
          <a:prstGeom prst="rect"/>
        </p:spPr>
        <p:txBody>
          <a:bodyPr wrap="none" lIns="0" tIns="0" rIns="0" bIns="0"/>
          <a:p>
            <a:pPr>
              <a:lnSpc>
                <a:spcPct val="140000"/>
              </a:lnSpc>
            </a:pPr>
            <a:r>
              <a:rPr lang="zh-CN" sz="1125" b="1">
                <a:solidFill>
                  <a:srgbClr val="0E2340"/>
                </a:solidFill>
                <a:latin typeface="Microsoft YaHei"/>
                <a:ea typeface="Microsoft YaHei"/>
              </a:rPr>
              <a:t>当前位置：第</a:t>
            </a:r>
            <a:r>
              <a:rPr lang="en-US" sz="1125" b="1">
                <a:solidFill>
                  <a:srgbClr val="0E2340"/>
                </a:solidFill>
                <a:latin typeface="Microsoft YaHei"/>
                <a:ea typeface="Microsoft YaHei"/>
              </a:rPr>
              <a:t xml:space="preserve"> 12 </a:t>
            </a:r>
            <a:r>
              <a:rPr lang="zh-CN" sz="1125" b="1">
                <a:solidFill>
                  <a:srgbClr val="0E2340"/>
                </a:solidFill>
                <a:latin typeface="Microsoft YaHei"/>
                <a:ea typeface="Microsoft YaHei"/>
              </a:rPr>
              <a:t>章</a:t>
            </a:r>
            <a:r>
              <a:rPr lang="en-US" sz="1125" b="1">
                <a:solidFill>
                  <a:srgbClr val="0E2340"/>
                </a:solidFill>
                <a:latin typeface="Microsoft YaHei"/>
                <a:ea typeface="Microsoft YaHei"/>
              </a:rPr>
              <a:t xml:space="preserve"> · </a:t>
            </a:r>
            <a:r>
              <a:rPr lang="zh-CN" sz="1125" b="1">
                <a:solidFill>
                  <a:srgbClr val="0E2340"/>
                </a:solidFill>
                <a:latin typeface="Microsoft YaHei"/>
                <a:ea typeface="Microsoft YaHei"/>
              </a:rPr>
              <a:t>自进化与扩展</a:t>
            </a:r>
            <a:endParaRPr/>
          </a:p>
        </p:txBody>
      </p:sp>
      <p:sp>
        <p:nvSpPr>
          <p:cNvPr id="548" name=""/>
          <p:cNvSpPr/>
          <p:nvPr/>
        </p:nvSpPr>
        <p:spPr>
          <a:xfrm rot="0" flipH="0" flipV="0">
            <a:off x="6134100" y="5353050"/>
            <a:ext cx="1257300" cy="381000"/>
          </a:xfrm>
          <a:prstGeom prst="roundRect">
            <a:avLst>
              <a:gd name="adj" fmla="val 15000"/>
            </a:avLst>
          </a:prstGeom>
          <a:solidFill>
            <a:srgbClr val="F5F7FA"/>
          </a:solidFill>
          <a:ln/>
        </p:spPr>
        <p:txBody>
          <a:bodyPr/>
          <a:p/>
        </p:txBody>
      </p:sp>
      <p:sp>
        <p:nvSpPr>
          <p:cNvPr id="549" name=""/>
          <p:cNvSpPr/>
          <p:nvPr/>
        </p:nvSpPr>
        <p:spPr>
          <a:xfrm rot="0" flipH="0" flipV="0">
            <a:off x="6229350" y="5495925"/>
            <a:ext cx="95250" cy="95250"/>
          </a:xfrm>
          <a:prstGeom prst="roundRect">
            <a:avLst>
              <a:gd name="adj" fmla="val 50000"/>
            </a:avLst>
          </a:prstGeom>
          <a:solidFill>
            <a:srgbClr val="1E9E62"/>
          </a:solidFill>
          <a:ln/>
        </p:spPr>
        <p:txBody>
          <a:bodyPr/>
          <a:p/>
        </p:txBody>
      </p:sp>
      <p:sp>
        <p:nvSpPr>
          <p:cNvPr id="550" name="" descr="{&quot;isTemplate&quot;:true,&quot;type&quot;:&quot;text&quot;}"/>
          <p:cNvSpPr txBox="1"/>
          <p:nvPr/>
        </p:nvSpPr>
        <p:spPr>
          <a:xfrm rot="0" flipH="0" flipV="0">
            <a:off x="6400800"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已实现</a:t>
            </a:r>
            <a:endParaRPr/>
          </a:p>
        </p:txBody>
      </p:sp>
      <p:sp>
        <p:nvSpPr>
          <p:cNvPr id="551" name=""/>
          <p:cNvSpPr/>
          <p:nvPr/>
        </p:nvSpPr>
        <p:spPr>
          <a:xfrm rot="0" flipH="0" flipV="0">
            <a:off x="7486650" y="5353050"/>
            <a:ext cx="1247775" cy="381000"/>
          </a:xfrm>
          <a:prstGeom prst="roundRect">
            <a:avLst>
              <a:gd name="adj" fmla="val 15000"/>
            </a:avLst>
          </a:prstGeom>
          <a:solidFill>
            <a:srgbClr val="F5F7FA"/>
          </a:solidFill>
          <a:ln/>
        </p:spPr>
        <p:txBody>
          <a:bodyPr/>
          <a:p/>
        </p:txBody>
      </p:sp>
      <p:sp>
        <p:nvSpPr>
          <p:cNvPr id="552" name=""/>
          <p:cNvSpPr/>
          <p:nvPr/>
        </p:nvSpPr>
        <p:spPr>
          <a:xfrm rot="0" flipH="0" flipV="0">
            <a:off x="7581900" y="5495925"/>
            <a:ext cx="95250" cy="95250"/>
          </a:xfrm>
          <a:prstGeom prst="roundRect">
            <a:avLst>
              <a:gd name="adj" fmla="val 50000"/>
            </a:avLst>
          </a:prstGeom>
          <a:solidFill>
            <a:srgbClr val="E8A33D"/>
          </a:solidFill>
          <a:ln/>
        </p:spPr>
        <p:txBody>
          <a:bodyPr/>
          <a:p/>
        </p:txBody>
      </p:sp>
      <p:sp>
        <p:nvSpPr>
          <p:cNvPr id="553" name="" descr="{&quot;isTemplate&quot;:true,&quot;type&quot;:&quot;text&quot;}"/>
          <p:cNvSpPr txBox="1"/>
          <p:nvPr/>
        </p:nvSpPr>
        <p:spPr>
          <a:xfrm rot="0" flipH="0" flipV="0">
            <a:off x="7753350" y="5438775"/>
            <a:ext cx="533400" cy="209550"/>
          </a:xfrm>
          <a:prstGeom prst="rect"/>
        </p:spPr>
        <p:txBody>
          <a:bodyPr wrap="none" lIns="0" tIns="0" rIns="0" bIns="0"/>
          <a:p>
            <a:pPr>
              <a:lnSpc>
                <a:spcPct val="130000"/>
              </a:lnSpc>
            </a:pPr>
            <a:r>
              <a:rPr lang="zh-CN" sz="1050" b="1">
                <a:solidFill>
                  <a:srgbClr val="333A45"/>
                </a:solidFill>
                <a:latin typeface="Microsoft YaHei"/>
                <a:ea typeface="Microsoft YaHei"/>
              </a:rPr>
              <a:t>部分实现</a:t>
            </a:r>
            <a:endParaRPr/>
          </a:p>
        </p:txBody>
      </p:sp>
      <p:sp>
        <p:nvSpPr>
          <p:cNvPr id="554" name=""/>
          <p:cNvSpPr/>
          <p:nvPr/>
        </p:nvSpPr>
        <p:spPr>
          <a:xfrm rot="0" flipH="0" flipV="0">
            <a:off x="8829675" y="5353050"/>
            <a:ext cx="1257300" cy="381000"/>
          </a:xfrm>
          <a:prstGeom prst="roundRect">
            <a:avLst>
              <a:gd name="adj" fmla="val 15000"/>
            </a:avLst>
          </a:prstGeom>
          <a:solidFill>
            <a:srgbClr val="F5F7FA"/>
          </a:solidFill>
          <a:ln/>
        </p:spPr>
        <p:txBody>
          <a:bodyPr/>
          <a:p/>
        </p:txBody>
      </p:sp>
      <p:sp>
        <p:nvSpPr>
          <p:cNvPr id="555" name=""/>
          <p:cNvSpPr/>
          <p:nvPr/>
        </p:nvSpPr>
        <p:spPr>
          <a:xfrm rot="0" flipH="0" flipV="0">
            <a:off x="8924925" y="5495925"/>
            <a:ext cx="95250" cy="95250"/>
          </a:xfrm>
          <a:prstGeom prst="roundRect">
            <a:avLst>
              <a:gd name="adj" fmla="val 50000"/>
            </a:avLst>
          </a:prstGeom>
          <a:solidFill>
            <a:srgbClr val="1E7BE0"/>
          </a:solidFill>
          <a:ln/>
        </p:spPr>
        <p:txBody>
          <a:bodyPr/>
          <a:p/>
        </p:txBody>
      </p:sp>
      <p:sp>
        <p:nvSpPr>
          <p:cNvPr id="556" name="" descr="{&quot;isTemplate&quot;:true,&quot;type&quot;:&quot;text&quot;}"/>
          <p:cNvSpPr txBox="1"/>
          <p:nvPr/>
        </p:nvSpPr>
        <p:spPr>
          <a:xfrm rot="0" flipH="0" flipV="0">
            <a:off x="909637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设计中</a:t>
            </a:r>
            <a:endParaRPr/>
          </a:p>
        </p:txBody>
      </p:sp>
      <p:sp>
        <p:nvSpPr>
          <p:cNvPr id="557" name=""/>
          <p:cNvSpPr/>
          <p:nvPr/>
        </p:nvSpPr>
        <p:spPr>
          <a:xfrm rot="0" flipH="0" flipV="0">
            <a:off x="10182225" y="5353050"/>
            <a:ext cx="1247775" cy="381000"/>
          </a:xfrm>
          <a:prstGeom prst="roundRect">
            <a:avLst>
              <a:gd name="adj" fmla="val 15000"/>
            </a:avLst>
          </a:prstGeom>
          <a:solidFill>
            <a:srgbClr val="F5F7FA"/>
          </a:solidFill>
          <a:ln/>
        </p:spPr>
        <p:txBody>
          <a:bodyPr/>
          <a:p/>
        </p:txBody>
      </p:sp>
      <p:sp>
        <p:nvSpPr>
          <p:cNvPr id="558" name=""/>
          <p:cNvSpPr/>
          <p:nvPr/>
        </p:nvSpPr>
        <p:spPr>
          <a:xfrm rot="0" flipH="0" flipV="0">
            <a:off x="10277475" y="5495925"/>
            <a:ext cx="95250" cy="95250"/>
          </a:xfrm>
          <a:prstGeom prst="roundRect">
            <a:avLst>
              <a:gd name="adj" fmla="val 50000"/>
            </a:avLst>
          </a:prstGeom>
          <a:solidFill>
            <a:srgbClr val="98A2B3"/>
          </a:solidFill>
          <a:ln/>
        </p:spPr>
        <p:txBody>
          <a:bodyPr/>
          <a:p/>
        </p:txBody>
      </p:sp>
      <p:sp>
        <p:nvSpPr>
          <p:cNvPr id="559" name="" descr="{&quot;isTemplate&quot;:true,&quot;type&quot;:&quot;text&quot;}"/>
          <p:cNvSpPr txBox="1"/>
          <p:nvPr/>
        </p:nvSpPr>
        <p:spPr>
          <a:xfrm rot="0" flipH="0" flipV="0">
            <a:off x="10448925" y="5438775"/>
            <a:ext cx="400050" cy="209550"/>
          </a:xfrm>
          <a:prstGeom prst="rect"/>
        </p:spPr>
        <p:txBody>
          <a:bodyPr wrap="none" lIns="0" tIns="0" rIns="0" bIns="0"/>
          <a:p>
            <a:pPr>
              <a:lnSpc>
                <a:spcPct val="130000"/>
              </a:lnSpc>
            </a:pPr>
            <a:r>
              <a:rPr lang="zh-CN" sz="1050" b="1">
                <a:solidFill>
                  <a:srgbClr val="333A45"/>
                </a:solidFill>
                <a:latin typeface="Microsoft YaHei"/>
                <a:ea typeface="Microsoft YaHei"/>
              </a:rPr>
              <a:t>待研究</a:t>
            </a:r>
            <a:endParaRPr/>
          </a:p>
        </p:txBody>
      </p:sp>
      <p:sp>
        <p:nvSpPr>
          <p:cNvPr id="560" name=""/>
          <p:cNvSpPr/>
          <p:nvPr/>
        </p:nvSpPr>
        <p:spPr>
          <a:xfrm rot="0" flipH="0" flipV="0">
            <a:off x="6134100" y="5972175"/>
            <a:ext cx="5295900" cy="400050"/>
          </a:xfrm>
          <a:custGeom>
            <a:pathLst>
              <a:path w="556" h="42">
                <a:moveTo>
                  <a:pt x="0" y="0"/>
                </a:moveTo>
                <a:lnTo>
                  <a:pt x="556" y="0"/>
                </a:lnTo>
                <a:lnTo>
                  <a:pt x="556" y="1"/>
                </a:lnTo>
                <a:lnTo>
                  <a:pt x="0" y="1"/>
                </a:lnTo>
                <a:close/>
              </a:path>
            </a:pathLst>
          </a:custGeom>
          <a:solidFill>
            <a:srgbClr val="E3E8EF"/>
          </a:solidFill>
          <a:ln/>
        </p:spPr>
        <p:txBody>
          <a:bodyPr/>
          <a:p/>
        </p:txBody>
      </p:sp>
      <p:sp>
        <p:nvSpPr>
          <p:cNvPr id="561" name=""/>
          <p:cNvSpPr/>
          <p:nvPr/>
        </p:nvSpPr>
        <p:spPr>
          <a:xfrm rot="0" flipH="0" flipV="0">
            <a:off x="6134100" y="6219825"/>
            <a:ext cx="438150" cy="47625"/>
          </a:xfrm>
          <a:prstGeom prst="rect">
            <a:avLst/>
          </a:prstGeom>
          <a:solidFill>
            <a:srgbClr val="00A9B5"/>
          </a:solidFill>
          <a:ln/>
        </p:spPr>
        <p:txBody>
          <a:bodyPr/>
          <a:p/>
        </p:txBody>
      </p:sp>
      <p:sp>
        <p:nvSpPr>
          <p:cNvPr id="562" name="" descr="{&quot;isTemplate&quot;:true,&quot;type&quot;:&quot;text&quot;}"/>
          <p:cNvSpPr txBox="1"/>
          <p:nvPr/>
        </p:nvSpPr>
        <p:spPr>
          <a:xfrm rot="0" flipH="0" flipV="0">
            <a:off x="6686550" y="6115050"/>
            <a:ext cx="3276600" cy="247650"/>
          </a:xfrm>
          <a:prstGeom prst="rect"/>
        </p:spPr>
        <p:txBody>
          <a:bodyPr wrap="none" lIns="0" tIns="0" rIns="0" bIns="0"/>
          <a:p>
            <a:pPr>
              <a:lnSpc>
                <a:spcPct val="140000"/>
              </a:lnSpc>
            </a:pPr>
            <a:r>
              <a:rPr lang="en-US" sz="1125" b="1">
                <a:solidFill>
                  <a:srgbClr val="7A8699"/>
                </a:solidFill>
                <a:latin typeface="Microsoft YaHei"/>
                <a:ea typeface="Microsoft YaHei"/>
              </a:rPr>
              <a:t xml:space="preserve">StudyAgent </a:t>
            </a:r>
            <a:r>
              <a:rPr lang="zh-CN" sz="1125" b="1">
                <a:solidFill>
                  <a:srgbClr val="7A8699"/>
                </a:solidFill>
                <a:latin typeface="Microsoft YaHei"/>
                <a:ea typeface="Microsoft YaHei"/>
              </a:rPr>
              <a:t>项目设计汇报</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技术评审版</a:t>
            </a:r>
            <a:r>
              <a:rPr lang="en-US" sz="1125" b="1">
                <a:solidFill>
                  <a:srgbClr val="7A8699"/>
                </a:solidFill>
                <a:latin typeface="Microsoft YaHei"/>
                <a:ea typeface="Microsoft YaHei"/>
              </a:rPr>
              <a:t xml:space="preserve"> · </a:t>
            </a:r>
            <a:r>
              <a:rPr lang="zh-CN" sz="1125" b="1">
                <a:solidFill>
                  <a:srgbClr val="7A8699"/>
                </a:solidFill>
                <a:latin typeface="Microsoft YaHei"/>
                <a:ea typeface="Microsoft YaHei"/>
              </a:rPr>
              <a:t>共</a:t>
            </a:r>
            <a:r>
              <a:rPr lang="en-US" sz="1125" b="1">
                <a:solidFill>
                  <a:srgbClr val="7A8699"/>
                </a:solidFill>
                <a:latin typeface="Microsoft YaHei"/>
                <a:ea typeface="Microsoft YaHei"/>
              </a:rPr>
              <a:t xml:space="preserve"> 124 </a:t>
            </a:r>
            <a:r>
              <a:rPr lang="zh-CN" sz="1125" b="1">
                <a:solidFill>
                  <a:srgbClr val="7A8699"/>
                </a:solidFill>
                <a:latin typeface="Microsoft YaHei"/>
                <a:ea typeface="Microsoft YaHei"/>
              </a:rPr>
              <a:t>页</a:t>
            </a:r>
            <a:endParaRPr/>
          </a:p>
        </p:txBody>
      </p:sp>
    </p:spTree>
  </p:cSld>
</p:sld>
</file>

<file path=ppt/slides/slide114.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563"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2 / 自进化与扩展&lt;/Text&gt;&lt;Text style={{ fontSize: 32, color: '#0E2340', fontWeight: 700, lineHeight: 1.3 }}&gt;自进化的含义与四问约束&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6 }}&gt;&lt;Box style={{ flexDirection: 'column', gap: 16, flex: 1, justifyContent: 'center' }}&gt;&lt;svg width={1140} height={170} viewBox='0 0 1140 170'&gt;&lt;rect x='0' y='40' width='151' height='88' rx='8' fill='#0E2340' stroke='#1E7BE0' stroke-width='1.5'/&gt;&lt;text x='75.5' y='84.0' font-size='20' fill='#FFFFFF' text-anchor='middle' font-weight='600'&gt;反馈 / 新内容 / 新任务&lt;/text&gt;&lt;line x1='157' y1='84' x2='183' y2='84' stroke='#1E7BE0' stroke-width='2'/&gt;&lt;path d='M183 78 l10 -6 l0 12 z' fill='#1E7BE0'/&gt;&lt;rect x='197' y='40' width='151' height='88' rx='8' fill='#FFFFFF' stroke='#1E7BE0' stroke-width='1.5'/&gt;&lt;text x='272.5' y='84.0' font-size='20' fill='#0E2340' text-anchor='middle' font-weight='600'&gt;核实与分类&lt;/text&gt;&lt;line x1='354' y1='84' x2='380' y2='84' stroke='#1E7BE0' stroke-width='2'/&gt;&lt;path d='M380 78 l10 -6 l0 12 z' fill='#1E7BE0'/&gt;&lt;rect x='394' y='40' width='151' height='88' rx='8' fill='#FFFFFF' stroke='#1E7BE0' stroke-width='1.5'/&gt;&lt;text x='469.5' y='84.0' font-size='20' fill='#0E2340' text-anchor='middle' font-weight='600'&gt;形成候选版本&lt;/text&gt;&lt;line x1='551' y1='84' x2='577' y2='84' stroke='#1E7BE0' stroke-width='2'/&gt;&lt;path d='M577 78 l10 -6 l0 12 z' fill='#1E7BE0'/&gt;&lt;rect x='591' y='40' width='151' height='88' rx='8' fill='#FFFFFF' stroke='#1E7BE0' stroke-width='1.5'/&gt;&lt;text x='666.5' y='84.0' font-size='20' fill='#0E2340' text-anchor='middle' font-weight='600'&gt;独立评测与小范围使用&lt;/text&gt;&lt;line x1='748' y1='84' x2='774' y2='84' stroke='#1E7BE0' stroke-width='2'/&gt;&lt;path d='M774 78 l10 -6 l0 12 z' fill='#1E7BE0'/&gt;&lt;rect x='788' y='40' width='151' height='88' rx='8' fill='#FFFFFF' stroke='#1E7BE0' stroke-width='1.5'/&gt;&lt;text x='863.5' y='84.0' font-size='20' fill='#0E2340' text-anchor='middle' font-weight='600'&gt;发布或修订&lt;/text&gt;&lt;line x1='945' y1='84' x2='971' y2='84' stroke='#1E7BE0' stroke-width='2'/&gt;&lt;path d='M971 78 l10 -6 l0 12 z' fill='#1E7BE0'/&gt;&lt;rect x='985' y='40' width='151' height='88' rx='8' fill='#F5F7FA' stroke='#1E7BE0' stroke-width='1.5'/&gt;&lt;text x='1060.5' y='84.0' font-size='20' fill='#0E2340' text-anchor='middle' font-weight='600'&gt;观察真实结果&lt;/text&gt;&lt;/svg&gt;&lt;/Box&gt;&lt;Box style={{ flexDirection: 'row', gap: 20, flex: 1 }}&gt;&lt;Box style={{ width: 270,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① 改了什么&lt;/Text&gt;&lt;Text style={{ fontSize: 16, color: '#333A45', fontWeight: 400, lineHeight: 1.6 }}&gt;知识与内容、规则参数、模型行为、学科适用范围&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② 依据是什么&lt;/Text&gt;&lt;Text style={{ fontSize: 16, color: '#333A45', fontWeight: 400, lineHeight: 1.6 }}&gt;反馈须对应具体题目、作答、步骤或工具行为&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③ 效果是否改善&lt;/Text&gt;&lt;Text style={{ fontSize: 16, color: '#333A45', fontWeight: 400, lineHeight: 1.6 }}&gt;独立评测，不以同一模型自评高分作发布依据&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④ 能否恢复旧版本&lt;/Text&gt;&lt;Text style={{ fontSize: 16, color: '#333A45', fontWeight: 400, lineHeight: 1.6 }}&gt;明显退化可回滚&lt;/Text&gt;&lt;/Box&gt;&lt;/Box&gt;&lt;/Box&gt;&lt;/Box&gt;&lt;/Box&gt;&lt;Box style={{ height: 40, flexDirection: 'row', justifyContent: 'space-between', alignItems: 'center', borderTop: '1px solid #E3E8EF', marginTop: 8 }}&gt;&lt;Text style={{ fontSize: 13, color: '#7A8699', fontWeight: 400, lineHeight: 1.4 }}&gt;依据：自进化与跨学科扩展设计.md §1&lt;/Text&gt;&lt;Text style={{ fontSize: 14, color: '#7A8699', fontWeight: 400, lineHeight: 1.4 }}&gt; 114 / 124 &lt;/Text&gt;&lt;/Box&gt;&lt;/Slide&gt;"/>
        <p:cNvGrpSpPr/>
        <p:nvPr/>
      </p:nvGrpSpPr>
      <p:grpSpPr>
        <a:xfrm>
          <a:off x="0" y="0"/>
          <a:ext cx="0" cy="0"/>
          <a:chOff x="0" y="0"/>
          <a:chExt cx="0" cy="0"/>
        </a:xfrm>
      </p:grpSpPr>
      <p:sp>
        <p:nvSpPr>
          <p:cNvPr id="564" name=""/>
          <p:cNvSpPr/>
          <p:nvPr/>
        </p:nvSpPr>
        <p:spPr>
          <a:xfrm rot="0" flipH="0" flipV="0">
            <a:off x="0" y="0"/>
            <a:ext cx="12192000" cy="6858000"/>
          </a:xfrm>
          <a:prstGeom prst="rect">
            <a:avLst/>
          </a:prstGeom>
          <a:solidFill>
            <a:srgbClr val="FFFFFF"/>
          </a:solidFill>
          <a:ln/>
        </p:spPr>
        <p:txBody>
          <a:bodyPr/>
          <a:p/>
        </p:txBody>
      </p:sp>
      <p:sp>
        <p:nvSpPr>
          <p:cNvPr id="565" name="" descr="{&quot;isTemplate&quot;:true,&quot;type&quot;:&quot;text&quot;}"/>
          <p:cNvSpPr txBox="1"/>
          <p:nvPr/>
        </p:nvSpPr>
        <p:spPr>
          <a:xfrm rot="0" flipH="0" flipV="0">
            <a:off x="666750" y="381000"/>
            <a:ext cx="3352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12 / </a:t>
            </a:r>
            <a:r>
              <a:rPr lang="zh-CN" sz="1050" spc="75">
                <a:solidFill>
                  <a:srgbClr val="7A8699"/>
                </a:solidFill>
                <a:latin typeface="Microsoft YaHei"/>
                <a:ea typeface="Microsoft YaHei"/>
              </a:rPr>
              <a:t>自进化与扩展</a:t>
            </a:r>
            <a:endParaRPr/>
          </a:p>
        </p:txBody>
      </p:sp>
      <p:sp>
        <p:nvSpPr>
          <p:cNvPr id="566" name="" descr="{&quot;isTemplate&quot;:true,&quot;type&quot;:&quot;text&quot;}"/>
          <p:cNvSpPr txBox="1"/>
          <p:nvPr/>
        </p:nvSpPr>
        <p:spPr>
          <a:xfrm rot="0" flipH="0" flipV="0">
            <a:off x="666750" y="666750"/>
            <a:ext cx="3352800" cy="476250"/>
          </a:xfrm>
          <a:prstGeom prst="rect"/>
        </p:spPr>
        <p:txBody>
          <a:bodyPr wrap="none" lIns="0" tIns="0" rIns="0" bIns="0"/>
          <a:p>
            <a:pPr>
              <a:lnSpc>
                <a:spcPct val="130000"/>
              </a:lnSpc>
            </a:pPr>
            <a:r>
              <a:rPr lang="zh-CN" sz="2400" b="1">
                <a:solidFill>
                  <a:srgbClr val="0E2340"/>
                </a:solidFill>
                <a:latin typeface="Microsoft YaHei"/>
                <a:ea typeface="Microsoft YaHei"/>
              </a:rPr>
              <a:t>自进化的含义与四问约束</a:t>
            </a:r>
            <a:endParaRPr/>
          </a:p>
        </p:txBody>
      </p:sp>
      <p:sp>
        <p:nvSpPr>
          <p:cNvPr id="567"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568"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569" name=""/>
          <p:cNvPicPr>
            <a:picLocks noChangeAspect="1"/>
          </p:cNvPicPr>
          <p:nvPr/>
        </p:nvPicPr>
        <p:blipFill>
          <a:blip>
            <a:extLst>
              <a:ext uri="{96DAC541-7B7A-43D3-8B79-37D633B846F1}">
                <asvg:svgBlip r:embed="rId1"/>
              </a:ext>
            </a:extLst>
          </a:blip>
          <a:stretch>
            <a:fillRect/>
          </a:stretch>
        </p:blipFill>
        <p:spPr>
          <a:xfrm rot="0" flipH="0" flipV="0">
            <a:off x="666750" y="1666875"/>
            <a:ext cx="10858500" cy="1619250"/>
          </a:xfrm>
          <a:prstGeom prst="rect">
            <a:avLst/>
          </a:prstGeom>
          <a:ln/>
        </p:spPr>
      </p:pic>
      <p:sp>
        <p:nvSpPr>
          <p:cNvPr id="570" name=""/>
          <p:cNvSpPr/>
          <p:nvPr/>
        </p:nvSpPr>
        <p:spPr>
          <a:xfrm rot="0" flipH="0" flipV="0">
            <a:off x="666750" y="3886200"/>
            <a:ext cx="2571750" cy="2324100"/>
          </a:xfrm>
          <a:prstGeom prst="roundRect">
            <a:avLst>
              <a:gd name="adj" fmla="val 3279"/>
            </a:avLst>
          </a:prstGeom>
          <a:solidFill>
            <a:srgbClr val="FFFFFF"/>
          </a:solidFill>
          <a:ln w="12700">
            <a:solidFill>
              <a:srgbClr val="E3E8EF"/>
            </a:solidFill>
            <a:prstDash val="solid"/>
          </a:ln>
        </p:spPr>
        <p:txBody>
          <a:bodyPr/>
          <a:p/>
        </p:txBody>
      </p:sp>
      <p:sp>
        <p:nvSpPr>
          <p:cNvPr id="571" name=""/>
          <p:cNvSpPr/>
          <p:nvPr/>
        </p:nvSpPr>
        <p:spPr>
          <a:xfrm rot="0" flipH="0" flipV="0">
            <a:off x="666750" y="3886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572" name="" descr="{&quot;isTemplate&quot;:true,&quot;type&quot;:&quot;text&quot;}"/>
          <p:cNvSpPr txBox="1"/>
          <p:nvPr/>
        </p:nvSpPr>
        <p:spPr>
          <a:xfrm rot="0" flipH="0" flipV="0">
            <a:off x="857250" y="4114800"/>
            <a:ext cx="21907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① </a:t>
            </a:r>
            <a:r>
              <a:rPr lang="zh-CN" sz="1500" b="1">
                <a:solidFill>
                  <a:srgbClr val="0E2340"/>
                </a:solidFill>
                <a:latin typeface="Microsoft YaHei"/>
                <a:ea typeface="Microsoft YaHei"/>
              </a:rPr>
              <a:t>改了什么</a:t>
            </a:r>
            <a:endParaRPr/>
          </a:p>
        </p:txBody>
      </p:sp>
      <p:sp>
        <p:nvSpPr>
          <p:cNvPr id="573" name="" descr="{&quot;isTemplate&quot;:true,&quot;type&quot;:&quot;text&quot;}"/>
          <p:cNvSpPr txBox="1"/>
          <p:nvPr/>
        </p:nvSpPr>
        <p:spPr>
          <a:xfrm rot="0" flipH="0" flipV="0">
            <a:off x="857250" y="4533900"/>
            <a:ext cx="219075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知识与内容、规则参数、模型行为、学科适用范围</a:t>
            </a:r>
            <a:endParaRPr/>
          </a:p>
        </p:txBody>
      </p:sp>
      <p:sp>
        <p:nvSpPr>
          <p:cNvPr id="574" name=""/>
          <p:cNvSpPr/>
          <p:nvPr/>
        </p:nvSpPr>
        <p:spPr>
          <a:xfrm rot="0" flipH="0" flipV="0">
            <a:off x="3429000" y="3886200"/>
            <a:ext cx="2571750" cy="2324100"/>
          </a:xfrm>
          <a:prstGeom prst="roundRect">
            <a:avLst>
              <a:gd name="adj" fmla="val 3279"/>
            </a:avLst>
          </a:prstGeom>
          <a:solidFill>
            <a:srgbClr val="FFFFFF"/>
          </a:solidFill>
          <a:ln w="12700">
            <a:solidFill>
              <a:srgbClr val="E3E8EF"/>
            </a:solidFill>
            <a:prstDash val="solid"/>
          </a:ln>
        </p:spPr>
        <p:txBody>
          <a:bodyPr/>
          <a:p/>
        </p:txBody>
      </p:sp>
      <p:sp>
        <p:nvSpPr>
          <p:cNvPr id="575" name=""/>
          <p:cNvSpPr/>
          <p:nvPr/>
        </p:nvSpPr>
        <p:spPr>
          <a:xfrm rot="0" flipH="0" flipV="0">
            <a:off x="3429000" y="3886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576" name="" descr="{&quot;isTemplate&quot;:true,&quot;type&quot;:&quot;text&quot;}"/>
          <p:cNvSpPr txBox="1"/>
          <p:nvPr/>
        </p:nvSpPr>
        <p:spPr>
          <a:xfrm rot="0" flipH="0" flipV="0">
            <a:off x="3619500" y="4114800"/>
            <a:ext cx="21907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② </a:t>
            </a:r>
            <a:r>
              <a:rPr lang="zh-CN" sz="1500" b="1">
                <a:solidFill>
                  <a:srgbClr val="0E2340"/>
                </a:solidFill>
                <a:latin typeface="Microsoft YaHei"/>
                <a:ea typeface="Microsoft YaHei"/>
              </a:rPr>
              <a:t>依据是什么</a:t>
            </a:r>
            <a:endParaRPr/>
          </a:p>
        </p:txBody>
      </p:sp>
      <p:sp>
        <p:nvSpPr>
          <p:cNvPr id="577" name="" descr="{&quot;isTemplate&quot;:true,&quot;type&quot;:&quot;text&quot;}"/>
          <p:cNvSpPr txBox="1"/>
          <p:nvPr/>
        </p:nvSpPr>
        <p:spPr>
          <a:xfrm rot="0" flipH="0" flipV="0">
            <a:off x="3619500" y="4533900"/>
            <a:ext cx="219075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反馈须对应具体题目、作答、步骤或工具行为</a:t>
            </a:r>
            <a:endParaRPr/>
          </a:p>
        </p:txBody>
      </p:sp>
      <p:sp>
        <p:nvSpPr>
          <p:cNvPr id="578" name=""/>
          <p:cNvSpPr/>
          <p:nvPr/>
        </p:nvSpPr>
        <p:spPr>
          <a:xfrm rot="0" flipH="0" flipV="0">
            <a:off x="6191250" y="3886200"/>
            <a:ext cx="2571750" cy="2324100"/>
          </a:xfrm>
          <a:prstGeom prst="roundRect">
            <a:avLst>
              <a:gd name="adj" fmla="val 3279"/>
            </a:avLst>
          </a:prstGeom>
          <a:solidFill>
            <a:srgbClr val="FFFFFF"/>
          </a:solidFill>
          <a:ln w="12700">
            <a:solidFill>
              <a:srgbClr val="E3E8EF"/>
            </a:solidFill>
            <a:prstDash val="solid"/>
          </a:ln>
        </p:spPr>
        <p:txBody>
          <a:bodyPr/>
          <a:p/>
        </p:txBody>
      </p:sp>
      <p:sp>
        <p:nvSpPr>
          <p:cNvPr id="579" name=""/>
          <p:cNvSpPr/>
          <p:nvPr/>
        </p:nvSpPr>
        <p:spPr>
          <a:xfrm rot="0" flipH="0" flipV="0">
            <a:off x="6191250" y="3886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580" name="" descr="{&quot;isTemplate&quot;:true,&quot;type&quot;:&quot;text&quot;}"/>
          <p:cNvSpPr txBox="1"/>
          <p:nvPr/>
        </p:nvSpPr>
        <p:spPr>
          <a:xfrm rot="0" flipH="0" flipV="0">
            <a:off x="6381750" y="4114800"/>
            <a:ext cx="21907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③ </a:t>
            </a:r>
            <a:r>
              <a:rPr lang="zh-CN" sz="1500" b="1">
                <a:solidFill>
                  <a:srgbClr val="0E2340"/>
                </a:solidFill>
                <a:latin typeface="Microsoft YaHei"/>
                <a:ea typeface="Microsoft YaHei"/>
              </a:rPr>
              <a:t>效果是否改善</a:t>
            </a:r>
            <a:endParaRPr/>
          </a:p>
        </p:txBody>
      </p:sp>
      <p:sp>
        <p:nvSpPr>
          <p:cNvPr id="581" name="" descr="{&quot;isTemplate&quot;:true,&quot;type&quot;:&quot;text&quot;}"/>
          <p:cNvSpPr txBox="1"/>
          <p:nvPr/>
        </p:nvSpPr>
        <p:spPr>
          <a:xfrm rot="0" flipH="0" flipV="0">
            <a:off x="6381750" y="4533900"/>
            <a:ext cx="219075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独立评测，不以同一模型自评高分作发布依据</a:t>
            </a:r>
            <a:endParaRPr/>
          </a:p>
        </p:txBody>
      </p:sp>
      <p:sp>
        <p:nvSpPr>
          <p:cNvPr id="582" name=""/>
          <p:cNvSpPr/>
          <p:nvPr/>
        </p:nvSpPr>
        <p:spPr>
          <a:xfrm rot="0" flipH="0" flipV="0">
            <a:off x="8953500" y="3886200"/>
            <a:ext cx="2571750" cy="2324100"/>
          </a:xfrm>
          <a:prstGeom prst="roundRect">
            <a:avLst>
              <a:gd name="adj" fmla="val 3279"/>
            </a:avLst>
          </a:prstGeom>
          <a:solidFill>
            <a:srgbClr val="FFFFFF"/>
          </a:solidFill>
          <a:ln w="12700">
            <a:solidFill>
              <a:srgbClr val="E3E8EF"/>
            </a:solidFill>
            <a:prstDash val="solid"/>
          </a:ln>
        </p:spPr>
        <p:txBody>
          <a:bodyPr/>
          <a:p/>
        </p:txBody>
      </p:sp>
      <p:sp>
        <p:nvSpPr>
          <p:cNvPr id="583" name=""/>
          <p:cNvSpPr/>
          <p:nvPr/>
        </p:nvSpPr>
        <p:spPr>
          <a:xfrm rot="0" flipH="0" flipV="0">
            <a:off x="8953500" y="3886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584" name="" descr="{&quot;isTemplate&quot;:true,&quot;type&quot;:&quot;text&quot;}"/>
          <p:cNvSpPr txBox="1"/>
          <p:nvPr/>
        </p:nvSpPr>
        <p:spPr>
          <a:xfrm rot="0" flipH="0" flipV="0">
            <a:off x="9144000" y="4114800"/>
            <a:ext cx="2190750" cy="323850"/>
          </a:xfrm>
          <a:prstGeom prst="rect"/>
        </p:spPr>
        <p:txBody>
          <a:bodyPr wrap="none" lIns="0" tIns="0" rIns="0" bIns="0"/>
          <a:p>
            <a:pPr>
              <a:lnSpc>
                <a:spcPct val="140000"/>
              </a:lnSpc>
            </a:pPr>
            <a:r>
              <a:rPr lang="en-US" sz="1500" b="1">
                <a:solidFill>
                  <a:srgbClr val="0E2340"/>
                </a:solidFill>
                <a:latin typeface="Microsoft YaHei"/>
                <a:ea typeface="Microsoft YaHei"/>
              </a:rPr>
              <a:t xml:space="preserve">④ </a:t>
            </a:r>
            <a:r>
              <a:rPr lang="zh-CN" sz="1500" b="1">
                <a:solidFill>
                  <a:srgbClr val="0E2340"/>
                </a:solidFill>
                <a:latin typeface="Microsoft YaHei"/>
                <a:ea typeface="Microsoft YaHei"/>
              </a:rPr>
              <a:t>能否恢复旧版本</a:t>
            </a:r>
            <a:endParaRPr/>
          </a:p>
        </p:txBody>
      </p:sp>
      <p:sp>
        <p:nvSpPr>
          <p:cNvPr id="585" name="" descr="{&quot;isTemplate&quot;:true,&quot;type&quot;:&quot;text&quot;}"/>
          <p:cNvSpPr txBox="1"/>
          <p:nvPr/>
        </p:nvSpPr>
        <p:spPr>
          <a:xfrm rot="0" flipH="0" flipV="0">
            <a:off x="9144000" y="4533900"/>
            <a:ext cx="2190750" cy="295275"/>
          </a:xfrm>
          <a:prstGeom prst="rect"/>
        </p:spPr>
        <p:txBody>
          <a:bodyPr wrap="none" lIns="0" tIns="0" rIns="0" bIns="0"/>
          <a:p>
            <a:pPr>
              <a:lnSpc>
                <a:spcPct val="160000"/>
              </a:lnSpc>
            </a:pPr>
            <a:r>
              <a:rPr lang="zh-CN" sz="1200">
                <a:solidFill>
                  <a:srgbClr val="333A45"/>
                </a:solidFill>
                <a:latin typeface="Microsoft YaHei"/>
                <a:ea typeface="Microsoft YaHei"/>
              </a:rPr>
              <a:t>明显退化可回滚</a:t>
            </a:r>
            <a:endParaRPr/>
          </a:p>
        </p:txBody>
      </p:sp>
      <p:sp>
        <p:nvSpPr>
          <p:cNvPr id="586"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587"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依据：自进化与跨学科扩展设计</a:t>
            </a:r>
            <a:r>
              <a:rPr lang="en-US" sz="975">
                <a:solidFill>
                  <a:srgbClr val="7A8699"/>
                </a:solidFill>
                <a:latin typeface="Microsoft YaHei"/>
                <a:ea typeface="Microsoft YaHei"/>
              </a:rPr>
              <a:t>.md §1</a:t>
            </a:r>
            <a:endParaRPr/>
          </a:p>
        </p:txBody>
      </p:sp>
      <p:sp>
        <p:nvSpPr>
          <p:cNvPr id="588" name="" descr="{&quot;isTemplate&quot;:true,&quot;type&quot;:&quot;text&quot;}"/>
          <p:cNvSpPr txBox="1"/>
          <p:nvPr/>
        </p:nvSpPr>
        <p:spPr>
          <a:xfrm rot="0" flipH="0" flipV="0">
            <a:off x="10896600" y="6372225"/>
            <a:ext cx="628650"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114 / 124 </a:t>
            </a:r>
            <a:endParaRPr/>
          </a:p>
        </p:txBody>
      </p:sp>
    </p:spTree>
  </p:cSld>
</p:sld>
</file>

<file path=ppt/slides/slide115.xml><?xml version="1.0" encoding="utf-8"?>
<p:sld xmlns:p="http://schemas.openxmlformats.org/presentationml/2006/main" xmlns:a="http://schemas.openxmlformats.org/drawingml/2006/main">
  <p:cSld>
    <p:spTree>
      <p:nvGrpSpPr>
        <p:cNvPr id="589"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2 / 自进化与扩展&lt;/Text&gt;&lt;Text style={{ fontSize: 32, color: '#0E2340', fontWeight: 700, lineHeight: 1.3 }}&gt;教师反馈驱动的改进&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6 }}&gt;&lt;Box style={{ flexDirection: 'row', gap: 20, flex: 1 }}&gt;&lt;Box style={{ width: 212,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解题纠错&lt;/Text&gt;&lt;Text style={{ fontSize: 16, color: '#333A45', fontWeight: 400, lineHeight: 1.6 }}&gt;原输出错误，教师给出正确解&lt;/Text&gt;&lt;/Box&gt;&lt;/Box&gt;&lt;Box style={{ width: 212,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批改复核&lt;/Text&gt;&lt;Text style={{ fontSize: 16, color: '#333A45', fontWeight: 400, lineHeight: 1.6 }}&gt;逐步判断与错因被教师更正&lt;/Text&gt;&lt;/Box&gt;&lt;/Box&gt;&lt;Box style={{ width: 212,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题目目标不匹配&lt;/Text&gt;&lt;Text style={{ fontSize: 16, color: '#333A45', fontWeight: 400, lineHeight: 1.6 }}&gt;生成题未命中目标步骤&lt;/Text&gt;&lt;/Box&gt;&lt;/Box&gt;&lt;Box style={{ width: 212,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教学提示不合适&lt;/Text&gt;&lt;Text style={{ fontSize: 16, color: '#333A45', fontWeight: 400, lineHeight: 1.6 }}&gt;提示过早泄露或帮助不足&lt;/Text&gt;&lt;/Box&gt;&lt;/Box&gt;&lt;Box style={{ width: 212,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工具调用失败&lt;/Text&gt;&lt;Text style={{ fontSize: 16, color: '#333A45', fontWeight: 400, lineHeight: 1.6 }}&gt;工具返回错误或超时&lt;/Text&gt;&lt;/Box&gt;&lt;/Box&gt;&lt;/Box&gt;&lt;Box style={{ flexDirection: 'row', alignItems: 'center', background: '#F5F7FA', borderLeft: '4px solid #0E2340', borderRadius: 6, padding: '14px 20px' }}&gt;&lt;Text style={{ fontSize: 16, color: '#0E2340', fontWeight: 600, lineHeight: 1.5 }}&gt;反馈记录六项要素：原输出、问题证据、修正结果、修改理由、适用条件、采用版本。分类处理原则：题干缺条件先修题，步骤词表缺项先修定义，解析格式不合法先检查输出保护——不能把所有失败都归为模型能力不足&lt;/Text&gt;&lt;/Box&gt;&lt;Box style={{ flexDirection: 'row', alignItems: 'center', background: '#F5F7FA', borderLeft: '4px solid #00A9B5', borderRadius: 6, padding: '14px 20px' }}&gt;&lt;Text style={{ fontSize: 15, color: '#0E2340', fontWeight: 600, lineHeight: 1.5 }}&gt;教师分歧保留不同意见及依据，必要时教研复核；未确认意见不直接成为唯一正确标签。训练数据另行形成经允许、去标识并保留来源的样本，不默认把个人助教聊天全部纳入训练&lt;/Text&gt;&lt;/Box&gt;&lt;/Box&gt;&lt;/Box&gt;&lt;Box style={{ height: 40, flexDirection: 'row', justifyContent: 'space-between', alignItems: 'center', borderTop: '1px solid #E3E8EF', marginTop: 8 }}&gt;&lt;Text style={{ fontSize: 13, color: '#7A8699', fontWeight: 400, lineHeight: 1.4 }}&gt;依据：自进化与跨学科扩展设计.md §2.1&lt;/Text&gt;&lt;Text style={{ fontSize: 14, color: '#7A8699', fontWeight: 400, lineHeight: 1.4 }}&gt; 115 / 124 &lt;/Text&gt;&lt;/Box&gt;&lt;/Slide&gt;"/>
        <p:cNvGrpSpPr/>
        <p:nvPr/>
      </p:nvGrpSpPr>
      <p:grpSpPr>
        <a:xfrm>
          <a:off x="0" y="0"/>
          <a:ext cx="0" cy="0"/>
          <a:chOff x="0" y="0"/>
          <a:chExt cx="0" cy="0"/>
        </a:xfrm>
      </p:grpSpPr>
      <p:sp>
        <p:nvSpPr>
          <p:cNvPr id="590" name=""/>
          <p:cNvSpPr/>
          <p:nvPr/>
        </p:nvSpPr>
        <p:spPr>
          <a:xfrm rot="0" flipH="0" flipV="0">
            <a:off x="0" y="0"/>
            <a:ext cx="12192000" cy="6858000"/>
          </a:xfrm>
          <a:prstGeom prst="rect">
            <a:avLst/>
          </a:prstGeom>
          <a:solidFill>
            <a:srgbClr val="FFFFFF"/>
          </a:solidFill>
          <a:ln/>
        </p:spPr>
        <p:txBody>
          <a:bodyPr/>
          <a:p/>
        </p:txBody>
      </p:sp>
      <p:sp>
        <p:nvSpPr>
          <p:cNvPr id="591" name="" descr="{&quot;isTemplate&quot;:true,&quot;type&quot;:&quot;text&quot;}"/>
          <p:cNvSpPr txBox="1"/>
          <p:nvPr/>
        </p:nvSpPr>
        <p:spPr>
          <a:xfrm rot="0" flipH="0" flipV="0">
            <a:off x="666750" y="381000"/>
            <a:ext cx="27432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12 / </a:t>
            </a:r>
            <a:r>
              <a:rPr lang="zh-CN" sz="1050" spc="75">
                <a:solidFill>
                  <a:srgbClr val="7A8699"/>
                </a:solidFill>
                <a:latin typeface="Microsoft YaHei"/>
                <a:ea typeface="Microsoft YaHei"/>
              </a:rPr>
              <a:t>自进化与扩展</a:t>
            </a:r>
            <a:endParaRPr/>
          </a:p>
        </p:txBody>
      </p:sp>
      <p:sp>
        <p:nvSpPr>
          <p:cNvPr id="592" name="" descr="{&quot;isTemplate&quot;:true,&quot;type&quot;:&quot;text&quot;}"/>
          <p:cNvSpPr txBox="1"/>
          <p:nvPr/>
        </p:nvSpPr>
        <p:spPr>
          <a:xfrm rot="0" flipH="0" flipV="0">
            <a:off x="666750" y="666750"/>
            <a:ext cx="2743200" cy="476250"/>
          </a:xfrm>
          <a:prstGeom prst="rect"/>
        </p:spPr>
        <p:txBody>
          <a:bodyPr wrap="none" lIns="0" tIns="0" rIns="0" bIns="0"/>
          <a:p>
            <a:pPr>
              <a:lnSpc>
                <a:spcPct val="130000"/>
              </a:lnSpc>
            </a:pPr>
            <a:r>
              <a:rPr lang="zh-CN" sz="2400" b="1">
                <a:solidFill>
                  <a:srgbClr val="0E2340"/>
                </a:solidFill>
                <a:latin typeface="Microsoft YaHei"/>
                <a:ea typeface="Microsoft YaHei"/>
              </a:rPr>
              <a:t>教师反馈驱动的改进</a:t>
            </a:r>
            <a:endParaRPr/>
          </a:p>
        </p:txBody>
      </p:sp>
      <p:sp>
        <p:nvSpPr>
          <p:cNvPr id="593"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594"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595" name=""/>
          <p:cNvSpPr/>
          <p:nvPr/>
        </p:nvSpPr>
        <p:spPr>
          <a:xfrm rot="0" flipH="0" flipV="0">
            <a:off x="666750" y="1219200"/>
            <a:ext cx="2019300" cy="3086100"/>
          </a:xfrm>
          <a:prstGeom prst="roundRect">
            <a:avLst>
              <a:gd name="adj" fmla="val 3774"/>
            </a:avLst>
          </a:prstGeom>
          <a:solidFill>
            <a:srgbClr val="FFFFFF"/>
          </a:solidFill>
          <a:ln w="12700">
            <a:solidFill>
              <a:srgbClr val="E3E8EF"/>
            </a:solidFill>
            <a:prstDash val="solid"/>
          </a:ln>
        </p:spPr>
        <p:txBody>
          <a:bodyPr/>
          <a:p/>
        </p:txBody>
      </p:sp>
      <p:sp>
        <p:nvSpPr>
          <p:cNvPr id="596" name=""/>
          <p:cNvSpPr/>
          <p:nvPr/>
        </p:nvSpPr>
        <p:spPr>
          <a:xfrm rot="0" flipH="0" flipV="0">
            <a:off x="666750" y="1219200"/>
            <a:ext cx="2019300" cy="38100"/>
          </a:xfrm>
          <a:custGeom>
            <a:pathLst>
              <a:path w="212" h="4">
                <a:moveTo>
                  <a:pt x="204" y="0"/>
                </a:moveTo>
                <a:cubicBezTo>
                  <a:pt x="207" y="0"/>
                  <a:pt x="210" y="2"/>
                  <a:pt x="211" y="4"/>
                </a:cubicBezTo>
                <a:lnTo>
                  <a:pt x="1" y="4"/>
                </a:lnTo>
                <a:cubicBezTo>
                  <a:pt x="3" y="2"/>
                  <a:pt x="5" y="0"/>
                  <a:pt x="8" y="0"/>
                </a:cubicBezTo>
                <a:lnTo>
                  <a:pt x="204" y="0"/>
                </a:lnTo>
                <a:close/>
              </a:path>
            </a:pathLst>
          </a:custGeom>
          <a:gradFill>
            <a:gsLst>
              <a:gs pos="0">
                <a:srgbClr val="1E7BE0"/>
              </a:gs>
              <a:gs pos="100000">
                <a:srgbClr val="00A9B5"/>
              </a:gs>
            </a:gsLst>
            <a:lin ang="0" scaled="1"/>
          </a:gradFill>
          <a:ln/>
        </p:spPr>
        <p:txBody>
          <a:bodyPr/>
          <a:p/>
        </p:txBody>
      </p:sp>
      <p:sp>
        <p:nvSpPr>
          <p:cNvPr id="597" name="" descr="{&quot;isTemplate&quot;:true,&quot;type&quot;:&quot;text&quot;}"/>
          <p:cNvSpPr txBox="1"/>
          <p:nvPr/>
        </p:nvSpPr>
        <p:spPr>
          <a:xfrm rot="0" flipH="0" flipV="0">
            <a:off x="857250" y="1447800"/>
            <a:ext cx="1638300" cy="323850"/>
          </a:xfrm>
          <a:prstGeom prst="rect"/>
        </p:spPr>
        <p:txBody>
          <a:bodyPr wrap="none" lIns="0" tIns="0" rIns="0" bIns="0"/>
          <a:p>
            <a:pPr>
              <a:lnSpc>
                <a:spcPct val="140000"/>
              </a:lnSpc>
            </a:pPr>
            <a:r>
              <a:rPr lang="zh-CN" sz="1500" b="1">
                <a:solidFill>
                  <a:srgbClr val="0E2340"/>
                </a:solidFill>
                <a:latin typeface="Microsoft YaHei"/>
                <a:ea typeface="Microsoft YaHei"/>
              </a:rPr>
              <a:t>解题纠错</a:t>
            </a:r>
            <a:endParaRPr/>
          </a:p>
        </p:txBody>
      </p:sp>
      <p:sp>
        <p:nvSpPr>
          <p:cNvPr id="598" name="" descr="{&quot;isTemplate&quot;:true,&quot;type&quot;:&quot;text&quot;}"/>
          <p:cNvSpPr txBox="1"/>
          <p:nvPr/>
        </p:nvSpPr>
        <p:spPr>
          <a:xfrm rot="0" flipH="0" flipV="0">
            <a:off x="857250" y="1866900"/>
            <a:ext cx="16383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原输出错误，教师给出正确解</a:t>
            </a:r>
            <a:endParaRPr/>
          </a:p>
        </p:txBody>
      </p:sp>
      <p:sp>
        <p:nvSpPr>
          <p:cNvPr id="599" name=""/>
          <p:cNvSpPr/>
          <p:nvPr/>
        </p:nvSpPr>
        <p:spPr>
          <a:xfrm rot="0" flipH="0" flipV="0">
            <a:off x="2876550" y="1219200"/>
            <a:ext cx="2019300" cy="3086100"/>
          </a:xfrm>
          <a:prstGeom prst="roundRect">
            <a:avLst>
              <a:gd name="adj" fmla="val 3774"/>
            </a:avLst>
          </a:prstGeom>
          <a:solidFill>
            <a:srgbClr val="FFFFFF"/>
          </a:solidFill>
          <a:ln w="12700">
            <a:solidFill>
              <a:srgbClr val="E3E8EF"/>
            </a:solidFill>
            <a:prstDash val="solid"/>
          </a:ln>
        </p:spPr>
        <p:txBody>
          <a:bodyPr/>
          <a:p/>
        </p:txBody>
      </p:sp>
      <p:sp>
        <p:nvSpPr>
          <p:cNvPr id="600" name=""/>
          <p:cNvSpPr/>
          <p:nvPr/>
        </p:nvSpPr>
        <p:spPr>
          <a:xfrm rot="0" flipH="0" flipV="0">
            <a:off x="2876550" y="1219200"/>
            <a:ext cx="2019300" cy="38100"/>
          </a:xfrm>
          <a:custGeom>
            <a:pathLst>
              <a:path w="212" h="4">
                <a:moveTo>
                  <a:pt x="204" y="0"/>
                </a:moveTo>
                <a:cubicBezTo>
                  <a:pt x="207" y="0"/>
                  <a:pt x="210" y="2"/>
                  <a:pt x="211" y="4"/>
                </a:cubicBezTo>
                <a:lnTo>
                  <a:pt x="1" y="4"/>
                </a:lnTo>
                <a:cubicBezTo>
                  <a:pt x="3" y="2"/>
                  <a:pt x="5" y="0"/>
                  <a:pt x="8" y="0"/>
                </a:cubicBezTo>
                <a:lnTo>
                  <a:pt x="204" y="0"/>
                </a:lnTo>
                <a:close/>
              </a:path>
            </a:pathLst>
          </a:custGeom>
          <a:gradFill>
            <a:gsLst>
              <a:gs pos="0">
                <a:srgbClr val="1E7BE0"/>
              </a:gs>
              <a:gs pos="100000">
                <a:srgbClr val="00A9B5"/>
              </a:gs>
            </a:gsLst>
            <a:lin ang="0" scaled="1"/>
          </a:gradFill>
          <a:ln/>
        </p:spPr>
        <p:txBody>
          <a:bodyPr/>
          <a:p/>
        </p:txBody>
      </p:sp>
      <p:sp>
        <p:nvSpPr>
          <p:cNvPr id="601" name="" descr="{&quot;isTemplate&quot;:true,&quot;type&quot;:&quot;text&quot;}"/>
          <p:cNvSpPr txBox="1"/>
          <p:nvPr/>
        </p:nvSpPr>
        <p:spPr>
          <a:xfrm rot="0" flipH="0" flipV="0">
            <a:off x="3067050" y="1447800"/>
            <a:ext cx="1638300" cy="323850"/>
          </a:xfrm>
          <a:prstGeom prst="rect"/>
        </p:spPr>
        <p:txBody>
          <a:bodyPr wrap="none" lIns="0" tIns="0" rIns="0" bIns="0"/>
          <a:p>
            <a:pPr>
              <a:lnSpc>
                <a:spcPct val="140000"/>
              </a:lnSpc>
            </a:pPr>
            <a:r>
              <a:rPr lang="zh-CN" sz="1500" b="1">
                <a:solidFill>
                  <a:srgbClr val="0E2340"/>
                </a:solidFill>
                <a:latin typeface="Microsoft YaHei"/>
                <a:ea typeface="Microsoft YaHei"/>
              </a:rPr>
              <a:t>批改复核</a:t>
            </a:r>
            <a:endParaRPr/>
          </a:p>
        </p:txBody>
      </p:sp>
      <p:sp>
        <p:nvSpPr>
          <p:cNvPr id="602" name="" descr="{&quot;isTemplate&quot;:true,&quot;type&quot;:&quot;text&quot;}"/>
          <p:cNvSpPr txBox="1"/>
          <p:nvPr/>
        </p:nvSpPr>
        <p:spPr>
          <a:xfrm rot="0" flipH="0" flipV="0">
            <a:off x="3067050" y="1866900"/>
            <a:ext cx="16383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逐步判断与错因被教师更正</a:t>
            </a:r>
            <a:endParaRPr/>
          </a:p>
        </p:txBody>
      </p:sp>
      <p:sp>
        <p:nvSpPr>
          <p:cNvPr id="603" name=""/>
          <p:cNvSpPr/>
          <p:nvPr/>
        </p:nvSpPr>
        <p:spPr>
          <a:xfrm rot="0" flipH="0" flipV="0">
            <a:off x="5086350" y="1219200"/>
            <a:ext cx="2019300" cy="3086100"/>
          </a:xfrm>
          <a:prstGeom prst="roundRect">
            <a:avLst>
              <a:gd name="adj" fmla="val 3774"/>
            </a:avLst>
          </a:prstGeom>
          <a:solidFill>
            <a:srgbClr val="FFFFFF"/>
          </a:solidFill>
          <a:ln w="12700">
            <a:solidFill>
              <a:srgbClr val="E3E8EF"/>
            </a:solidFill>
            <a:prstDash val="solid"/>
          </a:ln>
        </p:spPr>
        <p:txBody>
          <a:bodyPr/>
          <a:p/>
        </p:txBody>
      </p:sp>
      <p:sp>
        <p:nvSpPr>
          <p:cNvPr id="604" name=""/>
          <p:cNvSpPr/>
          <p:nvPr/>
        </p:nvSpPr>
        <p:spPr>
          <a:xfrm rot="0" flipH="0" flipV="0">
            <a:off x="5086350" y="1219200"/>
            <a:ext cx="2019300" cy="38100"/>
          </a:xfrm>
          <a:custGeom>
            <a:pathLst>
              <a:path w="212" h="4">
                <a:moveTo>
                  <a:pt x="204" y="0"/>
                </a:moveTo>
                <a:cubicBezTo>
                  <a:pt x="207" y="0"/>
                  <a:pt x="210" y="2"/>
                  <a:pt x="211" y="4"/>
                </a:cubicBezTo>
                <a:lnTo>
                  <a:pt x="1" y="4"/>
                </a:lnTo>
                <a:cubicBezTo>
                  <a:pt x="3" y="2"/>
                  <a:pt x="5" y="0"/>
                  <a:pt x="8" y="0"/>
                </a:cubicBezTo>
                <a:lnTo>
                  <a:pt x="204" y="0"/>
                </a:lnTo>
                <a:close/>
              </a:path>
            </a:pathLst>
          </a:custGeom>
          <a:gradFill>
            <a:gsLst>
              <a:gs pos="0">
                <a:srgbClr val="1E7BE0"/>
              </a:gs>
              <a:gs pos="100000">
                <a:srgbClr val="00A9B5"/>
              </a:gs>
            </a:gsLst>
            <a:lin ang="0" scaled="1"/>
          </a:gradFill>
          <a:ln/>
        </p:spPr>
        <p:txBody>
          <a:bodyPr/>
          <a:p/>
        </p:txBody>
      </p:sp>
      <p:sp>
        <p:nvSpPr>
          <p:cNvPr id="605" name="" descr="{&quot;isTemplate&quot;:true,&quot;type&quot;:&quot;text&quot;}"/>
          <p:cNvSpPr txBox="1"/>
          <p:nvPr/>
        </p:nvSpPr>
        <p:spPr>
          <a:xfrm rot="0" flipH="0" flipV="0">
            <a:off x="5276850" y="1447800"/>
            <a:ext cx="1638300" cy="323850"/>
          </a:xfrm>
          <a:prstGeom prst="rect"/>
        </p:spPr>
        <p:txBody>
          <a:bodyPr wrap="none" lIns="0" tIns="0" rIns="0" bIns="0"/>
          <a:p>
            <a:pPr>
              <a:lnSpc>
                <a:spcPct val="140000"/>
              </a:lnSpc>
            </a:pPr>
            <a:r>
              <a:rPr lang="zh-CN" sz="1500" b="1">
                <a:solidFill>
                  <a:srgbClr val="0E2340"/>
                </a:solidFill>
                <a:latin typeface="Microsoft YaHei"/>
                <a:ea typeface="Microsoft YaHei"/>
              </a:rPr>
              <a:t>题目目标不匹配</a:t>
            </a:r>
            <a:endParaRPr/>
          </a:p>
        </p:txBody>
      </p:sp>
      <p:sp>
        <p:nvSpPr>
          <p:cNvPr id="606" name="" descr="{&quot;isTemplate&quot;:true,&quot;type&quot;:&quot;text&quot;}"/>
          <p:cNvSpPr txBox="1"/>
          <p:nvPr/>
        </p:nvSpPr>
        <p:spPr>
          <a:xfrm rot="0" flipH="0" flipV="0">
            <a:off x="5276850" y="1866900"/>
            <a:ext cx="1638300" cy="295275"/>
          </a:xfrm>
          <a:prstGeom prst="rect"/>
        </p:spPr>
        <p:txBody>
          <a:bodyPr wrap="none" lIns="0" tIns="0" rIns="0" bIns="0"/>
          <a:p>
            <a:pPr>
              <a:lnSpc>
                <a:spcPct val="160000"/>
              </a:lnSpc>
            </a:pPr>
            <a:r>
              <a:rPr lang="zh-CN" sz="1200">
                <a:solidFill>
                  <a:srgbClr val="333A45"/>
                </a:solidFill>
                <a:latin typeface="Microsoft YaHei"/>
                <a:ea typeface="Microsoft YaHei"/>
              </a:rPr>
              <a:t>生成题未命中目标步骤</a:t>
            </a:r>
            <a:endParaRPr/>
          </a:p>
        </p:txBody>
      </p:sp>
      <p:sp>
        <p:nvSpPr>
          <p:cNvPr id="607" name=""/>
          <p:cNvSpPr/>
          <p:nvPr/>
        </p:nvSpPr>
        <p:spPr>
          <a:xfrm rot="0" flipH="0" flipV="0">
            <a:off x="7296150" y="1219200"/>
            <a:ext cx="2019300" cy="3086100"/>
          </a:xfrm>
          <a:prstGeom prst="roundRect">
            <a:avLst>
              <a:gd name="adj" fmla="val 3774"/>
            </a:avLst>
          </a:prstGeom>
          <a:solidFill>
            <a:srgbClr val="FFFFFF"/>
          </a:solidFill>
          <a:ln w="12700">
            <a:solidFill>
              <a:srgbClr val="E3E8EF"/>
            </a:solidFill>
            <a:prstDash val="solid"/>
          </a:ln>
        </p:spPr>
        <p:txBody>
          <a:bodyPr/>
          <a:p/>
        </p:txBody>
      </p:sp>
      <p:sp>
        <p:nvSpPr>
          <p:cNvPr id="608" name=""/>
          <p:cNvSpPr/>
          <p:nvPr/>
        </p:nvSpPr>
        <p:spPr>
          <a:xfrm rot="0" flipH="0" flipV="0">
            <a:off x="7296150" y="1219200"/>
            <a:ext cx="2019300" cy="38100"/>
          </a:xfrm>
          <a:custGeom>
            <a:pathLst>
              <a:path w="212" h="4">
                <a:moveTo>
                  <a:pt x="204" y="0"/>
                </a:moveTo>
                <a:cubicBezTo>
                  <a:pt x="207" y="0"/>
                  <a:pt x="210" y="2"/>
                  <a:pt x="211" y="4"/>
                </a:cubicBezTo>
                <a:lnTo>
                  <a:pt x="1" y="4"/>
                </a:lnTo>
                <a:cubicBezTo>
                  <a:pt x="3" y="2"/>
                  <a:pt x="5" y="0"/>
                  <a:pt x="8" y="0"/>
                </a:cubicBezTo>
                <a:lnTo>
                  <a:pt x="204" y="0"/>
                </a:lnTo>
                <a:close/>
              </a:path>
            </a:pathLst>
          </a:custGeom>
          <a:gradFill>
            <a:gsLst>
              <a:gs pos="0">
                <a:srgbClr val="1E7BE0"/>
              </a:gs>
              <a:gs pos="100000">
                <a:srgbClr val="00A9B5"/>
              </a:gs>
            </a:gsLst>
            <a:lin ang="0" scaled="1"/>
          </a:gradFill>
          <a:ln/>
        </p:spPr>
        <p:txBody>
          <a:bodyPr/>
          <a:p/>
        </p:txBody>
      </p:sp>
      <p:sp>
        <p:nvSpPr>
          <p:cNvPr id="609" name="" descr="{&quot;isTemplate&quot;:true,&quot;type&quot;:&quot;text&quot;}"/>
          <p:cNvSpPr txBox="1"/>
          <p:nvPr/>
        </p:nvSpPr>
        <p:spPr>
          <a:xfrm rot="0" flipH="0" flipV="0">
            <a:off x="7486650" y="1447800"/>
            <a:ext cx="1638300" cy="323850"/>
          </a:xfrm>
          <a:prstGeom prst="rect"/>
        </p:spPr>
        <p:txBody>
          <a:bodyPr wrap="none" lIns="0" tIns="0" rIns="0" bIns="0"/>
          <a:p>
            <a:pPr>
              <a:lnSpc>
                <a:spcPct val="140000"/>
              </a:lnSpc>
            </a:pPr>
            <a:r>
              <a:rPr lang="zh-CN" sz="1500" b="1">
                <a:solidFill>
                  <a:srgbClr val="0E2340"/>
                </a:solidFill>
                <a:latin typeface="Microsoft YaHei"/>
                <a:ea typeface="Microsoft YaHei"/>
              </a:rPr>
              <a:t>教学提示不合适</a:t>
            </a:r>
            <a:endParaRPr/>
          </a:p>
        </p:txBody>
      </p:sp>
      <p:sp>
        <p:nvSpPr>
          <p:cNvPr id="610" name="" descr="{&quot;isTemplate&quot;:true,&quot;type&quot;:&quot;text&quot;}"/>
          <p:cNvSpPr txBox="1"/>
          <p:nvPr/>
        </p:nvSpPr>
        <p:spPr>
          <a:xfrm rot="0" flipH="0" flipV="0">
            <a:off x="7486650" y="1866900"/>
            <a:ext cx="16383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提示过早泄露或帮助不足</a:t>
            </a:r>
            <a:endParaRPr/>
          </a:p>
        </p:txBody>
      </p:sp>
      <p:sp>
        <p:nvSpPr>
          <p:cNvPr id="611" name=""/>
          <p:cNvSpPr/>
          <p:nvPr/>
        </p:nvSpPr>
        <p:spPr>
          <a:xfrm rot="0" flipH="0" flipV="0">
            <a:off x="9505950" y="1219200"/>
            <a:ext cx="2019300" cy="3086100"/>
          </a:xfrm>
          <a:prstGeom prst="roundRect">
            <a:avLst>
              <a:gd name="adj" fmla="val 3774"/>
            </a:avLst>
          </a:prstGeom>
          <a:solidFill>
            <a:srgbClr val="FFFFFF"/>
          </a:solidFill>
          <a:ln w="12700">
            <a:solidFill>
              <a:srgbClr val="E3E8EF"/>
            </a:solidFill>
            <a:prstDash val="solid"/>
          </a:ln>
        </p:spPr>
        <p:txBody>
          <a:bodyPr/>
          <a:p/>
        </p:txBody>
      </p:sp>
      <p:sp>
        <p:nvSpPr>
          <p:cNvPr id="612" name=""/>
          <p:cNvSpPr/>
          <p:nvPr/>
        </p:nvSpPr>
        <p:spPr>
          <a:xfrm rot="0" flipH="0" flipV="0">
            <a:off x="9505950" y="1219200"/>
            <a:ext cx="2019300" cy="38100"/>
          </a:xfrm>
          <a:custGeom>
            <a:pathLst>
              <a:path w="212" h="4">
                <a:moveTo>
                  <a:pt x="204" y="0"/>
                </a:moveTo>
                <a:cubicBezTo>
                  <a:pt x="207" y="0"/>
                  <a:pt x="210" y="2"/>
                  <a:pt x="211" y="4"/>
                </a:cubicBezTo>
                <a:lnTo>
                  <a:pt x="1" y="4"/>
                </a:lnTo>
                <a:cubicBezTo>
                  <a:pt x="3" y="2"/>
                  <a:pt x="5" y="0"/>
                  <a:pt x="8" y="0"/>
                </a:cubicBezTo>
                <a:lnTo>
                  <a:pt x="204" y="0"/>
                </a:lnTo>
                <a:close/>
              </a:path>
            </a:pathLst>
          </a:custGeom>
          <a:gradFill>
            <a:gsLst>
              <a:gs pos="0">
                <a:srgbClr val="1E7BE0"/>
              </a:gs>
              <a:gs pos="100000">
                <a:srgbClr val="00A9B5"/>
              </a:gs>
            </a:gsLst>
            <a:lin ang="0" scaled="1"/>
          </a:gradFill>
          <a:ln/>
        </p:spPr>
        <p:txBody>
          <a:bodyPr/>
          <a:p/>
        </p:txBody>
      </p:sp>
      <p:sp>
        <p:nvSpPr>
          <p:cNvPr id="613" name="" descr="{&quot;isTemplate&quot;:true,&quot;type&quot;:&quot;text&quot;}"/>
          <p:cNvSpPr txBox="1"/>
          <p:nvPr/>
        </p:nvSpPr>
        <p:spPr>
          <a:xfrm rot="0" flipH="0" flipV="0">
            <a:off x="9696450" y="1447800"/>
            <a:ext cx="1638300" cy="323850"/>
          </a:xfrm>
          <a:prstGeom prst="rect"/>
        </p:spPr>
        <p:txBody>
          <a:bodyPr wrap="none" lIns="0" tIns="0" rIns="0" bIns="0"/>
          <a:p>
            <a:pPr>
              <a:lnSpc>
                <a:spcPct val="140000"/>
              </a:lnSpc>
            </a:pPr>
            <a:r>
              <a:rPr lang="zh-CN" sz="1500" b="1">
                <a:solidFill>
                  <a:srgbClr val="0E2340"/>
                </a:solidFill>
                <a:latin typeface="Microsoft YaHei"/>
                <a:ea typeface="Microsoft YaHei"/>
              </a:rPr>
              <a:t>工具调用失败</a:t>
            </a:r>
            <a:endParaRPr/>
          </a:p>
        </p:txBody>
      </p:sp>
      <p:sp>
        <p:nvSpPr>
          <p:cNvPr id="614" name="" descr="{&quot;isTemplate&quot;:true,&quot;type&quot;:&quot;text&quot;}"/>
          <p:cNvSpPr txBox="1"/>
          <p:nvPr/>
        </p:nvSpPr>
        <p:spPr>
          <a:xfrm rot="0" flipH="0" flipV="0">
            <a:off x="9696450" y="1866900"/>
            <a:ext cx="1638300" cy="295275"/>
          </a:xfrm>
          <a:prstGeom prst="rect"/>
        </p:spPr>
        <p:txBody>
          <a:bodyPr wrap="none" lIns="0" tIns="0" rIns="0" bIns="0"/>
          <a:p>
            <a:pPr>
              <a:lnSpc>
                <a:spcPct val="160000"/>
              </a:lnSpc>
            </a:pPr>
            <a:r>
              <a:rPr lang="zh-CN" sz="1200">
                <a:solidFill>
                  <a:srgbClr val="333A45"/>
                </a:solidFill>
                <a:latin typeface="Microsoft YaHei"/>
                <a:ea typeface="Microsoft YaHei"/>
              </a:rPr>
              <a:t>工具返回错误或超时</a:t>
            </a:r>
            <a:endParaRPr/>
          </a:p>
        </p:txBody>
      </p:sp>
      <p:sp>
        <p:nvSpPr>
          <p:cNvPr id="615" name=""/>
          <p:cNvSpPr/>
          <p:nvPr/>
        </p:nvSpPr>
        <p:spPr>
          <a:xfrm rot="0" flipH="0" flipV="0">
            <a:off x="704850" y="4457700"/>
            <a:ext cx="10858500" cy="819150"/>
          </a:xfrm>
          <a:prstGeom prst="roundRect">
            <a:avLst>
              <a:gd name="adj" fmla="val 6977"/>
            </a:avLst>
          </a:prstGeom>
          <a:solidFill>
            <a:srgbClr val="F5F7FA"/>
          </a:solidFill>
          <a:ln/>
        </p:spPr>
        <p:txBody>
          <a:bodyPr/>
          <a:p/>
        </p:txBody>
      </p:sp>
      <p:sp>
        <p:nvSpPr>
          <p:cNvPr id="616" name=""/>
          <p:cNvSpPr/>
          <p:nvPr/>
        </p:nvSpPr>
        <p:spPr>
          <a:xfrm rot="0" flipH="0" flipV="0">
            <a:off x="704850" y="4457700"/>
            <a:ext cx="10858500" cy="819150"/>
          </a:xfrm>
          <a:custGeom>
            <a:pathLst>
              <a:path w="1140" h="86">
                <a:moveTo>
                  <a:pt x="6" y="0"/>
                </a:moveTo>
                <a:cubicBezTo>
                  <a:pt x="5" y="0"/>
                  <a:pt x="4" y="1"/>
                  <a:pt x="4" y="2"/>
                </a:cubicBezTo>
                <a:lnTo>
                  <a:pt x="4" y="84"/>
                </a:lnTo>
                <a:cubicBezTo>
                  <a:pt x="4" y="85"/>
                  <a:pt x="5" y="86"/>
                  <a:pt x="6" y="86"/>
                </a:cubicBezTo>
                <a:cubicBezTo>
                  <a:pt x="3" y="86"/>
                  <a:pt x="0" y="83"/>
                  <a:pt x="0" y="80"/>
                </a:cubicBezTo>
                <a:lnTo>
                  <a:pt x="0" y="6"/>
                </a:lnTo>
                <a:cubicBezTo>
                  <a:pt x="0" y="3"/>
                  <a:pt x="3" y="0"/>
                  <a:pt x="6" y="0"/>
                </a:cubicBezTo>
                <a:close/>
              </a:path>
            </a:pathLst>
          </a:custGeom>
          <a:solidFill>
            <a:srgbClr val="0E2340"/>
          </a:solidFill>
          <a:ln/>
        </p:spPr>
        <p:txBody>
          <a:bodyPr/>
          <a:p/>
        </p:txBody>
      </p:sp>
      <p:sp>
        <p:nvSpPr>
          <p:cNvPr id="617" name="" descr="{&quot;isTemplate&quot;:true,&quot;type&quot;:&quot;text&quot;}"/>
          <p:cNvSpPr txBox="1"/>
          <p:nvPr/>
        </p:nvSpPr>
        <p:spPr>
          <a:xfrm rot="0" flipH="0" flipV="0">
            <a:off x="895350" y="4591050"/>
            <a:ext cx="10439400" cy="552450"/>
          </a:xfrm>
          <a:prstGeom prst="rect"/>
        </p:spPr>
        <p:txBody>
          <a:bodyPr wrap="square" lIns="0" tIns="0" rIns="0" bIns="0">
            <a:normAutofit/>
          </a:bodyPr>
          <a:p>
            <a:pPr>
              <a:lnSpc>
                <a:spcPct val="150000"/>
              </a:lnSpc>
            </a:pPr>
            <a:r>
              <a:rPr lang="zh-CN" sz="1200" b="1">
                <a:solidFill>
                  <a:srgbClr val="0E2340"/>
                </a:solidFill>
                <a:latin typeface="Microsoft YaHei"/>
                <a:ea typeface="Microsoft YaHei"/>
              </a:rPr>
              <a:t>反馈记录六项要素：原输出、问题证据、修正结果、修改理由、适用条件、采用版本。分类处理原则：题干缺条件先修题，步骤词表缺项先修定义，解析格式不合法先检查输出保护——不能把所有失败都归为模型能力不足</a:t>
            </a:r>
            <a:endParaRPr/>
          </a:p>
        </p:txBody>
      </p:sp>
      <p:sp>
        <p:nvSpPr>
          <p:cNvPr id="618" name=""/>
          <p:cNvSpPr/>
          <p:nvPr/>
        </p:nvSpPr>
        <p:spPr>
          <a:xfrm rot="0" flipH="0" flipV="0">
            <a:off x="704850" y="5429250"/>
            <a:ext cx="10858500" cy="781050"/>
          </a:xfrm>
          <a:prstGeom prst="roundRect">
            <a:avLst>
              <a:gd name="adj" fmla="val 7317"/>
            </a:avLst>
          </a:prstGeom>
          <a:solidFill>
            <a:srgbClr val="F5F7FA"/>
          </a:solidFill>
          <a:ln/>
        </p:spPr>
        <p:txBody>
          <a:bodyPr/>
          <a:p/>
        </p:txBody>
      </p:sp>
      <p:sp>
        <p:nvSpPr>
          <p:cNvPr id="619" name=""/>
          <p:cNvSpPr/>
          <p:nvPr/>
        </p:nvSpPr>
        <p:spPr>
          <a:xfrm rot="0" flipH="0" flipV="0">
            <a:off x="704850" y="5429250"/>
            <a:ext cx="10858500" cy="781050"/>
          </a:xfrm>
          <a:custGeom>
            <a:pathLst>
              <a:path w="1140" h="82">
                <a:moveTo>
                  <a:pt x="6" y="0"/>
                </a:moveTo>
                <a:cubicBezTo>
                  <a:pt x="5" y="0"/>
                  <a:pt x="4" y="1"/>
                  <a:pt x="4" y="2"/>
                </a:cubicBezTo>
                <a:lnTo>
                  <a:pt x="4" y="80"/>
                </a:lnTo>
                <a:cubicBezTo>
                  <a:pt x="4" y="81"/>
                  <a:pt x="5" y="82"/>
                  <a:pt x="6" y="82"/>
                </a:cubicBezTo>
                <a:cubicBezTo>
                  <a:pt x="3" y="82"/>
                  <a:pt x="0" y="79"/>
                  <a:pt x="0" y="76"/>
                </a:cubicBezTo>
                <a:lnTo>
                  <a:pt x="0" y="6"/>
                </a:lnTo>
                <a:cubicBezTo>
                  <a:pt x="0" y="3"/>
                  <a:pt x="3" y="0"/>
                  <a:pt x="6" y="0"/>
                </a:cubicBezTo>
                <a:close/>
              </a:path>
            </a:pathLst>
          </a:custGeom>
          <a:solidFill>
            <a:srgbClr val="00A9B5"/>
          </a:solidFill>
          <a:ln/>
        </p:spPr>
        <p:txBody>
          <a:bodyPr/>
          <a:p/>
        </p:txBody>
      </p:sp>
      <p:sp>
        <p:nvSpPr>
          <p:cNvPr id="620" name="" descr="{&quot;isTemplate&quot;:true,&quot;type&quot;:&quot;text&quot;}"/>
          <p:cNvSpPr txBox="1"/>
          <p:nvPr/>
        </p:nvSpPr>
        <p:spPr>
          <a:xfrm rot="0" flipH="0" flipV="0">
            <a:off x="895350" y="5562600"/>
            <a:ext cx="10439400" cy="514350"/>
          </a:xfrm>
          <a:prstGeom prst="rect"/>
        </p:spPr>
        <p:txBody>
          <a:bodyPr wrap="square" lIns="0" tIns="0" rIns="0" bIns="0">
            <a:normAutofit/>
          </a:bodyPr>
          <a:p>
            <a:pPr>
              <a:lnSpc>
                <a:spcPct val="150000"/>
              </a:lnSpc>
            </a:pPr>
            <a:r>
              <a:rPr lang="zh-CN" sz="1125" b="1">
                <a:solidFill>
                  <a:srgbClr val="0E2340"/>
                </a:solidFill>
                <a:latin typeface="Microsoft YaHei"/>
                <a:ea typeface="Microsoft YaHei"/>
              </a:rPr>
              <a:t>教师分歧保留不同意见及依据，必要时教研复核；未确认意见不直接成为唯一正确标签。训练数据另行形成经允许、去标识并保留来源的样本，不默认把个人助教聊天全部纳入训练</a:t>
            </a:r>
            <a:endParaRPr/>
          </a:p>
        </p:txBody>
      </p:sp>
      <p:sp>
        <p:nvSpPr>
          <p:cNvPr id="621"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622" name="" descr="{&quot;isTemplate&quot;:true,&quot;type&quot;:&quot;text&quot;}"/>
          <p:cNvSpPr txBox="1"/>
          <p:nvPr/>
        </p:nvSpPr>
        <p:spPr>
          <a:xfrm rot="0" flipH="0" flipV="0">
            <a:off x="666750" y="6381750"/>
            <a:ext cx="2219325" cy="209550"/>
          </a:xfrm>
          <a:prstGeom prst="rect"/>
        </p:spPr>
        <p:txBody>
          <a:bodyPr wrap="none" lIns="0" tIns="0" rIns="0" bIns="0"/>
          <a:p>
            <a:pPr>
              <a:lnSpc>
                <a:spcPct val="140000"/>
              </a:lnSpc>
            </a:pPr>
            <a:r>
              <a:rPr lang="zh-CN" sz="975">
                <a:solidFill>
                  <a:srgbClr val="7A8699"/>
                </a:solidFill>
                <a:latin typeface="Microsoft YaHei"/>
                <a:ea typeface="Microsoft YaHei"/>
              </a:rPr>
              <a:t>依据：自进化与跨学科扩展设计</a:t>
            </a:r>
            <a:r>
              <a:rPr lang="en-US" sz="975">
                <a:solidFill>
                  <a:srgbClr val="7A8699"/>
                </a:solidFill>
                <a:latin typeface="Microsoft YaHei"/>
                <a:ea typeface="Microsoft YaHei"/>
              </a:rPr>
              <a:t>.md §2.1</a:t>
            </a:r>
            <a:endParaRPr/>
          </a:p>
        </p:txBody>
      </p:sp>
      <p:sp>
        <p:nvSpPr>
          <p:cNvPr id="623" name="" descr="{&quot;isTemplate&quot;:true,&quot;type&quot;:&quot;text&quot;}"/>
          <p:cNvSpPr txBox="1"/>
          <p:nvPr/>
        </p:nvSpPr>
        <p:spPr>
          <a:xfrm rot="0" flipH="0" flipV="0">
            <a:off x="10896600" y="6372225"/>
            <a:ext cx="628650"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115 / 124 </a:t>
            </a:r>
            <a:endParaRPr/>
          </a:p>
        </p:txBody>
      </p:sp>
    </p:spTree>
  </p:cSld>
</p:sld>
</file>

<file path=ppt/slides/slide116.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624"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2 / 自进化与扩展&lt;/Text&gt;&lt;Text style={{ fontSize: 32, color: '#0E2340', fontWeight: 700, lineHeight: 1.3 }}&gt;三类技术路径与各自的边界&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paddingTop: 4 }}&gt;&lt;Box style={{ marginBottom: 14 }}&gt;&lt;Box style={{ flexDirection: 'row', alignItems: 'center', background: '#F5F7FA', borderLeft: '4px solid #0E2340', borderRadius: 6, padding: '14px 20px' }}&gt;&lt;Text style={{ fontSize: 20, color: '#0E2340', fontWeight: 600, lineHeight: 1.5 }}&gt;术语澄清：“基于基座重新训练”可指从同一预训练基座训练新任务版本，也可指继续训练，两者都不同于从零预训练通用大模型&lt;/Text&gt;&lt;/Box&gt;&lt;/Box&gt;&lt;Box style={{ flex: 1 }}&gt;&lt;Table style={{ width: '100%', height: '100%' }} defaultTextStyle={{ fontSize: 16, textAlign: 'left', color: '#333A45' }} defaultCellStyle={{ padding: 10, border: { left: { width: 1, color: '#E3E8EF' }, right: { width: 1, color: '#E3E8EF' }, top: { width: 1, color: '#E3E8EF' }, bottom: { width: 1, color: '#E3E8EF' } } }} cells={[[{ text: '路径', textStyle: { color: '#FFFFFF', fontWeight: 600, fontSize: 16 }, cellStyle: { background: { color: '#0E2340' } } }, { text: '改变什么', textStyle: { color: '#FFFFFF', fontWeight: 600, fontSize: 16 }, cellStyle: { background: { color: '#0E2340' } } }, { text: '主要边界', textStyle: { color: '#FFFFFF', fontWeight: 600, fontSize: 16 }, cellStyle: { background: { color: '#0E2340' } } }],&#10;        [{ text: '知识库、案例检索与提示词', textStyle: { fontWeight: 600, fontSize: 16 } }, { text: '改变运行时材料与要求，不改变模型权重', textStyle: { fontSize: 16 } }, { text: '适用于已核实的案例与规则修正，成本最低', textStyle: { fontSize: 16 } }],&#10;        [{ text: '本地基座的任务微调', textStyle: { fontWeight: 600, fontSize: 16 }, cellStyle: { background: { color: '#F5F7FA' } } }, { text: '改变模型或适配器参数', textStyle: { fontSize: 16 }, cellStyle: { background: { color: '#F5F7FA' } } }, { text: '需核实数据与独立评测，不能只看训练误差；LoRA 降低部分训练成本，不保证少量教师反馈就足以得到可靠教学模型', textStyle: { fontSize: 16 }, cellStyle: { background: { color: '#F5F7FA' } } }],&#10;        [{ text: '更大范围的训练', textStyle: { fontWeight: 600, fontSize: 16 } }, { text: '持续预训练、全量微调或另起训练版本', textStyle: { fontSize: 16 } }, { text: '成本与验证要求更高，不作为默认解法', textStyle: { fontSize: 16 } }]]} /&gt;&lt;/Box&gt;&lt;/Box&gt;&lt;/Box&gt;&lt;Box style={{ height: 40, flexDirection: 'row', justifyContent: 'space-between', alignItems: 'center', borderTop: '1px solid #E3E8EF', marginTop: 8 }}&gt;&lt;Text style={{ fontSize: 13, color: '#7A8699', fontWeight: 400, lineHeight: 1.4 }}&gt;依据：自进化与跨学科扩展设计.md §2.2&lt;/Text&gt;&lt;Text style={{ fontSize: 14, color: '#7A8699', fontWeight: 400, lineHeight: 1.4 }}&gt; 116 / 124 &lt;/Text&gt;&lt;/Box&gt;&lt;/Slide&gt;"/>
        <p:cNvGrpSpPr/>
        <p:nvPr/>
      </p:nvGrpSpPr>
      <p:grpSpPr>
        <a:xfrm>
          <a:off x="0" y="0"/>
          <a:ext cx="0" cy="0"/>
          <a:chOff x="0" y="0"/>
          <a:chExt cx="0" cy="0"/>
        </a:xfrm>
      </p:grpSpPr>
      <p:sp>
        <p:nvSpPr>
          <p:cNvPr id="625" name=""/>
          <p:cNvSpPr/>
          <p:nvPr/>
        </p:nvSpPr>
        <p:spPr>
          <a:xfrm rot="0" flipH="0" flipV="0">
            <a:off x="0" y="0"/>
            <a:ext cx="12192000" cy="6858000"/>
          </a:xfrm>
          <a:prstGeom prst="rect">
            <a:avLst/>
          </a:prstGeom>
          <a:solidFill>
            <a:srgbClr val="FFFFFF"/>
          </a:solidFill>
          <a:ln/>
        </p:spPr>
        <p:txBody>
          <a:bodyPr/>
          <a:p/>
        </p:txBody>
      </p:sp>
      <p:sp>
        <p:nvSpPr>
          <p:cNvPr id="626" name="" descr="{&quot;isTemplate&quot;:true,&quot;type&quot;:&quot;text&quot;}"/>
          <p:cNvSpPr txBox="1"/>
          <p:nvPr/>
        </p:nvSpPr>
        <p:spPr>
          <a:xfrm rot="0" flipH="0" flipV="0">
            <a:off x="666750" y="381000"/>
            <a:ext cx="3657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12 / </a:t>
            </a:r>
            <a:r>
              <a:rPr lang="zh-CN" sz="1050" spc="75">
                <a:solidFill>
                  <a:srgbClr val="7A8699"/>
                </a:solidFill>
                <a:latin typeface="Microsoft YaHei"/>
                <a:ea typeface="Microsoft YaHei"/>
              </a:rPr>
              <a:t>自进化与扩展</a:t>
            </a:r>
            <a:endParaRPr/>
          </a:p>
        </p:txBody>
      </p:sp>
      <p:sp>
        <p:nvSpPr>
          <p:cNvPr id="627" name="" descr="{&quot;isTemplate&quot;:true,&quot;type&quot;:&quot;text&quot;}"/>
          <p:cNvSpPr txBox="1"/>
          <p:nvPr/>
        </p:nvSpPr>
        <p:spPr>
          <a:xfrm rot="0" flipH="0" flipV="0">
            <a:off x="666750" y="666750"/>
            <a:ext cx="3657600" cy="476250"/>
          </a:xfrm>
          <a:prstGeom prst="rect"/>
        </p:spPr>
        <p:txBody>
          <a:bodyPr wrap="none" lIns="0" tIns="0" rIns="0" bIns="0"/>
          <a:p>
            <a:pPr>
              <a:lnSpc>
                <a:spcPct val="130000"/>
              </a:lnSpc>
            </a:pPr>
            <a:r>
              <a:rPr lang="zh-CN" sz="2400" b="1">
                <a:solidFill>
                  <a:srgbClr val="0E2340"/>
                </a:solidFill>
                <a:latin typeface="Microsoft YaHei"/>
                <a:ea typeface="Microsoft YaHei"/>
              </a:rPr>
              <a:t>三类技术路径与各自的边界</a:t>
            </a:r>
            <a:endParaRPr/>
          </a:p>
        </p:txBody>
      </p:sp>
      <p:sp>
        <p:nvSpPr>
          <p:cNvPr id="628"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629"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630" name=""/>
          <p:cNvSpPr/>
          <p:nvPr/>
        </p:nvSpPr>
        <p:spPr>
          <a:xfrm rot="0" flipH="0" flipV="0">
            <a:off x="704850" y="1257300"/>
            <a:ext cx="10858500" cy="952500"/>
          </a:xfrm>
          <a:prstGeom prst="roundRect">
            <a:avLst>
              <a:gd name="adj" fmla="val 6000"/>
            </a:avLst>
          </a:prstGeom>
          <a:solidFill>
            <a:srgbClr val="F5F7FA"/>
          </a:solidFill>
          <a:ln/>
        </p:spPr>
        <p:txBody>
          <a:bodyPr/>
          <a:p/>
        </p:txBody>
      </p:sp>
      <p:sp>
        <p:nvSpPr>
          <p:cNvPr id="631" name=""/>
          <p:cNvSpPr/>
          <p:nvPr/>
        </p:nvSpPr>
        <p:spPr>
          <a:xfrm rot="0" flipH="0" flipV="0">
            <a:off x="704850" y="1257300"/>
            <a:ext cx="10858500" cy="952500"/>
          </a:xfrm>
          <a:custGeom>
            <a:pathLst>
              <a:path w="1140" h="100">
                <a:moveTo>
                  <a:pt x="6" y="0"/>
                </a:moveTo>
                <a:cubicBezTo>
                  <a:pt x="5" y="0"/>
                  <a:pt x="4" y="1"/>
                  <a:pt x="4" y="2"/>
                </a:cubicBezTo>
                <a:lnTo>
                  <a:pt x="4" y="98"/>
                </a:lnTo>
                <a:cubicBezTo>
                  <a:pt x="4" y="99"/>
                  <a:pt x="5" y="100"/>
                  <a:pt x="6" y="100"/>
                </a:cubicBezTo>
                <a:cubicBezTo>
                  <a:pt x="3" y="100"/>
                  <a:pt x="0" y="97"/>
                  <a:pt x="0" y="94"/>
                </a:cubicBezTo>
                <a:lnTo>
                  <a:pt x="0" y="6"/>
                </a:lnTo>
                <a:cubicBezTo>
                  <a:pt x="0" y="3"/>
                  <a:pt x="3" y="0"/>
                  <a:pt x="6" y="0"/>
                </a:cubicBezTo>
                <a:close/>
              </a:path>
            </a:pathLst>
          </a:custGeom>
          <a:solidFill>
            <a:srgbClr val="0E2340"/>
          </a:solidFill>
          <a:ln/>
        </p:spPr>
        <p:txBody>
          <a:bodyPr/>
          <a:p/>
        </p:txBody>
      </p:sp>
      <p:sp>
        <p:nvSpPr>
          <p:cNvPr id="632" name="" descr="{&quot;isTemplate&quot;:true,&quot;type&quot;:&quot;text&quot;}"/>
          <p:cNvSpPr txBox="1"/>
          <p:nvPr/>
        </p:nvSpPr>
        <p:spPr>
          <a:xfrm rot="0" flipH="0" flipV="0">
            <a:off x="895350" y="1390650"/>
            <a:ext cx="10439400" cy="685800"/>
          </a:xfrm>
          <a:prstGeom prst="rect"/>
        </p:spPr>
        <p:txBody>
          <a:bodyPr wrap="square" lIns="0" tIns="0" rIns="0" bIns="0">
            <a:normAutofit/>
          </a:bodyPr>
          <a:p>
            <a:pPr>
              <a:lnSpc>
                <a:spcPct val="150000"/>
              </a:lnSpc>
            </a:pPr>
            <a:r>
              <a:rPr lang="zh-CN" sz="1500" b="1">
                <a:solidFill>
                  <a:srgbClr val="0E2340"/>
                </a:solidFill>
                <a:latin typeface="Microsoft YaHei"/>
                <a:ea typeface="Microsoft YaHei"/>
              </a:rPr>
              <a:t>术语澄清：“基于基座重新训练”可指从同一预训练基座训练新任务版本，也可指继续训练，两者都不同于从零预训练通用大模型</a:t>
            </a:r>
            <a:endParaRPr/>
          </a:p>
        </p:txBody>
      </p:sp>
      <p:graphicFrame>
        <p:nvGraphicFramePr>
          <p:cNvPr id="633" name=""/>
          <p:cNvGraphicFramePr/>
          <p:nvPr/>
        </p:nvGraphicFramePr>
        <p:xfrm rot="0" flipH="0" flipV="0">
          <a:off x="666750" y="2343150"/>
          <a:ext cx="10858500" cy="3867150"/>
        </p:xfrm>
        <a:graphic>
          <a:graphicData uri="http://schemas.openxmlformats.org/drawingml/2006/table">
            <a:tbl>
              <a:tblGrid>
                <a:gridCol w="1636324">
                  <a:extLst>
                    <a:ext uri="{9D8B030D-6E8A-4147-A177-3AD203B41FA5}">
                      <a16:colId val="1"/>
                    </a:ext>
                  </a:extLst>
                </a:gridCol>
                <a:gridCol w="2415525">
                  <a:extLst>
                    <a:ext uri="{9D8B030D-6E8A-4147-A177-3AD203B41FA5}">
                      <a16:colId val="2"/>
                    </a:ext>
                  </a:extLst>
                </a:gridCol>
                <a:gridCol w="6806651">
                  <a:extLst>
                    <a:ext uri="{9D8B030D-6E8A-4147-A177-3AD203B41FA5}">
                      <a16:colId val="3"/>
                    </a:ext>
                  </a:extLst>
                </a:gridCol>
              </a:tblGrid>
              <a:tr h="638821">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路径</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改变什么</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主要边界</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1076110">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知识库、案例检索与提示词</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改变运行时材料与要求，不改变模型权重</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适用于已核实的案例与规则修正，成本最低</a:t>
                      </a:r>
                      <a:endParaRPr/>
                    </a:p>
                  </a:txBody>
                  <a:tcPr marL="45720" marR="45720" marT="45720" marB="45720" anchor="ctr">
                    <a:lnL>
                      <a:noFill/>
                    </a:lnL>
                    <a:lnR>
                      <a:noFill/>
                    </a:lnR>
                    <a:lnT>
                      <a:noFill/>
                    </a:lnT>
                    <a:lnB>
                      <a:noFill/>
                    </a:lnB>
                  </a:tcPr>
                </a:tc>
                <a:extLst>
                  <a:ext uri="{0D108BD9-81ED-4DB2-BD59-A6C34878D82A}">
                    <a16:rowId val="2"/>
                  </a:ext>
                </a:extLst>
              </a:tr>
              <a:tr h="1076110">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本地基座的任务微调</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改变模型或适配器参数</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需核实数据与独立评测，不能只看训练误差；LoRA 降低部分训练成本，不保证少量教师反馈就足以得到可靠教学模型</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1076110">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更大范围的训练</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持续预训练、全量微调或另起训练版本</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成本与验证要求更高，不作为默认解法</a:t>
                      </a:r>
                      <a:endParaRPr/>
                    </a:p>
                  </a:txBody>
                  <a:tcPr marL="45720" marR="45720" marT="45720" marB="45720" anchor="ctr">
                    <a:lnL>
                      <a:noFill/>
                    </a:lnL>
                    <a:lnR>
                      <a:noFill/>
                    </a:lnR>
                    <a:lnT>
                      <a:noFill/>
                    </a:lnT>
                    <a:lnB>
                      <a:noFill/>
                    </a:lnB>
                  </a:tcPr>
                </a:tc>
                <a:extLst>
                  <a:ext uri="{0D108BD9-81ED-4DB2-BD59-A6C34878D82A}">
                    <a16:rowId val="4"/>
                  </a:ext>
                </a:extLst>
              </a:tr>
            </a:tbl>
          </a:graphicData>
        </a:graphic>
      </p:graphicFrame>
      <p:sp>
        <p:nvSpPr>
          <p:cNvPr id="634"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635" name="" descr="{&quot;isTemplate&quot;:true,&quot;type&quot;:&quot;text&quot;}"/>
          <p:cNvSpPr txBox="1"/>
          <p:nvPr/>
        </p:nvSpPr>
        <p:spPr>
          <a:xfrm rot="0" flipH="0" flipV="0">
            <a:off x="666750" y="6381750"/>
            <a:ext cx="2219325" cy="209550"/>
          </a:xfrm>
          <a:prstGeom prst="rect"/>
        </p:spPr>
        <p:txBody>
          <a:bodyPr wrap="none" lIns="0" tIns="0" rIns="0" bIns="0"/>
          <a:p>
            <a:pPr>
              <a:lnSpc>
                <a:spcPct val="140000"/>
              </a:lnSpc>
            </a:pPr>
            <a:r>
              <a:rPr lang="zh-CN" sz="975">
                <a:solidFill>
                  <a:srgbClr val="7A8699"/>
                </a:solidFill>
                <a:latin typeface="Microsoft YaHei"/>
                <a:ea typeface="Microsoft YaHei"/>
              </a:rPr>
              <a:t>依据：自进化与跨学科扩展设计</a:t>
            </a:r>
            <a:r>
              <a:rPr lang="en-US" sz="975">
                <a:solidFill>
                  <a:srgbClr val="7A8699"/>
                </a:solidFill>
                <a:latin typeface="Microsoft YaHei"/>
                <a:ea typeface="Microsoft YaHei"/>
              </a:rPr>
              <a:t>.md §2.2</a:t>
            </a:r>
            <a:endParaRPr/>
          </a:p>
        </p:txBody>
      </p:sp>
      <p:sp>
        <p:nvSpPr>
          <p:cNvPr id="636" name="" descr="{&quot;isTemplate&quot;:true,&quot;type&quot;:&quot;text&quot;}"/>
          <p:cNvSpPr txBox="1"/>
          <p:nvPr/>
        </p:nvSpPr>
        <p:spPr>
          <a:xfrm rot="0" flipH="0" flipV="0">
            <a:off x="10896600" y="6372225"/>
            <a:ext cx="628650"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116 / 124 </a:t>
            </a:r>
            <a:endParaRPr/>
          </a:p>
        </p:txBody>
      </p:sp>
    </p:spTree>
  </p:cSld>
</p:sld>
</file>

<file path=ppt/slides/slide117.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637"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2 / 自进化与扩展&lt;/Text&gt;&lt;Text style={{ fontSize: 32, color: '#0E2340', fontWeight: 700, lineHeight: 1.3 }}&gt;缓存 ≠ 训练 ≠ 证实正确&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6 }}&gt;&lt;Box style={{ flexDirection: 'column', gap: 16, flex: 1, justifyContent: 'center' }}&gt;&lt;svg width={1140} height={330} viewBox='0 0 1140 330'&gt;&lt;rect x='0' y='0' width='1140' height='73' rx='8' fill='#0E2340'/&gt;&lt;text x='570.0' y='30.5' font-size='22' fill='#FFFFFF' text-anchor='middle' font-weight='600'&gt;公共知识库&lt;/text&gt;&lt;text x='570.0' y='56.5' font-size='15' fill='#C8DCF2' text-anchor='middle' font-weight='400'&gt;核实的课程内容、常见错误、评分依据、教学案例、适用条件&lt;/text&gt;&lt;path d='M562 74 l8 8 l-8 8' fill='none' stroke='#00A9B5' stroke-width='2'/&gt;&lt;rect x='0' y='85' width='1140' height='73' rx='8' fill='#1B4E8C'/&gt;&lt;text x='570.0' y='115.5' font-size='22' fill='#FFFFFF' text-anchor='middle' font-weight='600'&gt;个人长期记忆&lt;/text&gt;&lt;text x='570.0' y='141.5' font-size='15' fill='#C8DCF2' text-anchor='middle' font-weight='400'&gt;学生自己的目标、证据、经确认信息，按个人权限，不混入他人上下文&lt;/text&gt;&lt;path d='M562 159 l8 8 l-8 8' fill='none' stroke='#00A9B5' stroke-width='2'/&gt;&lt;rect x='0' y='170' width='1140' height='73' rx='8' fill='#1E7BE0'/&gt;&lt;text x='570.0' y='200.5' font-size='22' fill='#FFFFFF' text-anchor='middle' font-weight='600'&gt;应用缓存&lt;/text&gt;&lt;text x='570.0' y='226.5' font-size='15' fill='#C8DCF2' text-anchor='middle' font-weight='400'&gt;复用相同内容、版本、适用范围下的已验证结果，原资料变化后更新或失效&lt;/text&gt;&lt;path d='M562 244 l8 8 l-8 8' fill='none' stroke='#00A9B5' stroke-width='2'/&gt;&lt;rect x='0' y='255' width='1140' height='73' rx='8' fill='#9FD0F5'/&gt;&lt;text x='570.0' y='285.5' font-size='22' fill='#0E2340' text-anchor='middle' font-weight='600'&gt;模型上下文或服务缓存&lt;/text&gt;&lt;text x='570.0' y='311.5' font-size='15' fill='#333A45' text-anchor='middle' font-weight='400'&gt;降低重复传入开销或延迟&lt;/text&gt;&lt;/svg&gt;&lt;/Box&gt;&lt;Box style={{ flexDirection: 'row', alignItems: 'center', background: '#F5F7FA', borderLeft: '4px solid #E8A33D', borderRadius: 6, padding: '14px 20px' }}&gt;&lt;Text style={{ fontSize: 17, color: '#0E2340', fontWeight: 600, lineHeight: 1.5 }}&gt;把易错案例加载到当前提示词，可以帮助这次生成参考先前经验；长期保存案例依赖知识库，参数层面的变化依赖训练。不能把“已经缓存”当作“已经训练”或“已经证实正确”&lt;/Text&gt;&lt;/Box&gt;&lt;/Box&gt;&lt;/Box&gt;&lt;Box style={{ height: 40, flexDirection: 'row', justifyContent: 'space-between', alignItems: 'center', borderTop: '1px solid #E3E8EF', marginTop: 8 }}&gt;&lt;Text style={{ fontSize: 13, color: '#7A8699', fontWeight: 400, lineHeight: 1.4 }}&gt;依据：自进化与跨学科扩展设计.md §2.3&lt;/Text&gt;&lt;Text style={{ fontSize: 14, color: '#7A8699', fontWeight: 400, lineHeight: 1.4 }}&gt; 117 / 124 &lt;/Text&gt;&lt;/Box&gt;&lt;/Slide&gt;"/>
        <p:cNvGrpSpPr/>
        <p:nvPr/>
      </p:nvGrpSpPr>
      <p:grpSpPr>
        <a:xfrm>
          <a:off x="0" y="0"/>
          <a:ext cx="0" cy="0"/>
          <a:chOff x="0" y="0"/>
          <a:chExt cx="0" cy="0"/>
        </a:xfrm>
      </p:grpSpPr>
      <p:sp>
        <p:nvSpPr>
          <p:cNvPr id="638" name=""/>
          <p:cNvSpPr/>
          <p:nvPr/>
        </p:nvSpPr>
        <p:spPr>
          <a:xfrm rot="0" flipH="0" flipV="0">
            <a:off x="0" y="0"/>
            <a:ext cx="12192000" cy="6858000"/>
          </a:xfrm>
          <a:prstGeom prst="rect">
            <a:avLst/>
          </a:prstGeom>
          <a:solidFill>
            <a:srgbClr val="FFFFFF"/>
          </a:solidFill>
          <a:ln/>
        </p:spPr>
        <p:txBody>
          <a:bodyPr/>
          <a:p/>
        </p:txBody>
      </p:sp>
      <p:sp>
        <p:nvSpPr>
          <p:cNvPr id="639" name="" descr="{&quot;isTemplate&quot;:true,&quot;type&quot;:&quot;text&quot;}"/>
          <p:cNvSpPr txBox="1"/>
          <p:nvPr/>
        </p:nvSpPr>
        <p:spPr>
          <a:xfrm rot="0" flipH="0" flipV="0">
            <a:off x="666750" y="381000"/>
            <a:ext cx="3114675"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12 / </a:t>
            </a:r>
            <a:r>
              <a:rPr lang="zh-CN" sz="1050" spc="75">
                <a:solidFill>
                  <a:srgbClr val="7A8699"/>
                </a:solidFill>
                <a:latin typeface="Microsoft YaHei"/>
                <a:ea typeface="Microsoft YaHei"/>
              </a:rPr>
              <a:t>自进化与扩展</a:t>
            </a:r>
            <a:endParaRPr/>
          </a:p>
        </p:txBody>
      </p:sp>
      <p:sp>
        <p:nvSpPr>
          <p:cNvPr id="640" name="" descr="{&quot;isTemplate&quot;:true,&quot;type&quot;:&quot;text&quot;}"/>
          <p:cNvSpPr txBox="1"/>
          <p:nvPr/>
        </p:nvSpPr>
        <p:spPr>
          <a:xfrm rot="0" flipH="0" flipV="0">
            <a:off x="666750" y="666750"/>
            <a:ext cx="3114675" cy="476250"/>
          </a:xfrm>
          <a:prstGeom prst="rect"/>
        </p:spPr>
        <p:txBody>
          <a:bodyPr wrap="none" lIns="0" tIns="0" rIns="0" bIns="0"/>
          <a:p>
            <a:pPr>
              <a:lnSpc>
                <a:spcPct val="130000"/>
              </a:lnSpc>
            </a:pPr>
            <a:r>
              <a:rPr lang="zh-CN" sz="2400" b="1">
                <a:solidFill>
                  <a:srgbClr val="0E2340"/>
                </a:solidFill>
                <a:latin typeface="Microsoft YaHei"/>
                <a:ea typeface="Microsoft YaHei"/>
              </a:rPr>
              <a:t>缓存</a:t>
            </a:r>
            <a:r>
              <a:rPr lang="en-US" sz="2400" b="1">
                <a:solidFill>
                  <a:srgbClr val="0E2340"/>
                </a:solidFill>
                <a:latin typeface="Microsoft YaHei"/>
                <a:ea typeface="Microsoft YaHei"/>
              </a:rPr>
              <a:t xml:space="preserve"> ≠ </a:t>
            </a:r>
            <a:r>
              <a:rPr lang="zh-CN" sz="2400" b="1">
                <a:solidFill>
                  <a:srgbClr val="0E2340"/>
                </a:solidFill>
                <a:latin typeface="Microsoft YaHei"/>
                <a:ea typeface="Microsoft YaHei"/>
              </a:rPr>
              <a:t>训练</a:t>
            </a:r>
            <a:r>
              <a:rPr lang="en-US" sz="2400" b="1">
                <a:solidFill>
                  <a:srgbClr val="0E2340"/>
                </a:solidFill>
                <a:latin typeface="Microsoft YaHei"/>
                <a:ea typeface="Microsoft YaHei"/>
              </a:rPr>
              <a:t xml:space="preserve"> ≠ </a:t>
            </a:r>
            <a:r>
              <a:rPr lang="zh-CN" sz="2400" b="1">
                <a:solidFill>
                  <a:srgbClr val="0E2340"/>
                </a:solidFill>
                <a:latin typeface="Microsoft YaHei"/>
                <a:ea typeface="Microsoft YaHei"/>
              </a:rPr>
              <a:t>证实正确</a:t>
            </a:r>
            <a:endParaRPr/>
          </a:p>
        </p:txBody>
      </p:sp>
      <p:sp>
        <p:nvSpPr>
          <p:cNvPr id="641"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642"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643" name=""/>
          <p:cNvPicPr>
            <a:picLocks noChangeAspect="1"/>
          </p:cNvPicPr>
          <p:nvPr/>
        </p:nvPicPr>
        <p:blipFill>
          <a:blip>
            <a:extLst>
              <a:ext uri="{96DAC541-7B7A-43D3-8B79-37D633B846F1}">
                <asvg:svgBlip r:embed="rId1"/>
              </a:ext>
            </a:extLst>
          </a:blip>
          <a:stretch>
            <a:fillRect/>
          </a:stretch>
        </p:blipFill>
        <p:spPr>
          <a:xfrm rot="0" flipH="0" flipV="0">
            <a:off x="666750" y="1638300"/>
            <a:ext cx="10858500" cy="3143250"/>
          </a:xfrm>
          <a:prstGeom prst="rect">
            <a:avLst/>
          </a:prstGeom>
          <a:ln/>
        </p:spPr>
      </p:pic>
      <p:sp>
        <p:nvSpPr>
          <p:cNvPr id="644" name=""/>
          <p:cNvSpPr/>
          <p:nvPr/>
        </p:nvSpPr>
        <p:spPr>
          <a:xfrm rot="0" flipH="0" flipV="0">
            <a:off x="704850" y="5353050"/>
            <a:ext cx="10858500" cy="857250"/>
          </a:xfrm>
          <a:prstGeom prst="roundRect">
            <a:avLst>
              <a:gd name="adj" fmla="val 6667"/>
            </a:avLst>
          </a:prstGeom>
          <a:solidFill>
            <a:srgbClr val="F5F7FA"/>
          </a:solidFill>
          <a:ln/>
        </p:spPr>
        <p:txBody>
          <a:bodyPr/>
          <a:p/>
        </p:txBody>
      </p:sp>
      <p:sp>
        <p:nvSpPr>
          <p:cNvPr id="645" name=""/>
          <p:cNvSpPr/>
          <p:nvPr/>
        </p:nvSpPr>
        <p:spPr>
          <a:xfrm rot="0" flipH="0" flipV="0">
            <a:off x="704850" y="5353050"/>
            <a:ext cx="10858500" cy="857250"/>
          </a:xfrm>
          <a:custGeom>
            <a:pathLst>
              <a:path w="1140" h="90">
                <a:moveTo>
                  <a:pt x="6" y="0"/>
                </a:moveTo>
                <a:cubicBezTo>
                  <a:pt x="5" y="0"/>
                  <a:pt x="4" y="1"/>
                  <a:pt x="4" y="2"/>
                </a:cubicBezTo>
                <a:lnTo>
                  <a:pt x="4" y="88"/>
                </a:lnTo>
                <a:cubicBezTo>
                  <a:pt x="4" y="89"/>
                  <a:pt x="5" y="90"/>
                  <a:pt x="6" y="90"/>
                </a:cubicBezTo>
                <a:cubicBezTo>
                  <a:pt x="3" y="90"/>
                  <a:pt x="0" y="87"/>
                  <a:pt x="0" y="84"/>
                </a:cubicBezTo>
                <a:lnTo>
                  <a:pt x="0" y="6"/>
                </a:lnTo>
                <a:cubicBezTo>
                  <a:pt x="0" y="3"/>
                  <a:pt x="3" y="0"/>
                  <a:pt x="6" y="0"/>
                </a:cubicBezTo>
                <a:close/>
              </a:path>
            </a:pathLst>
          </a:custGeom>
          <a:solidFill>
            <a:srgbClr val="E8A33D"/>
          </a:solidFill>
          <a:ln/>
        </p:spPr>
        <p:txBody>
          <a:bodyPr/>
          <a:p/>
        </p:txBody>
      </p:sp>
      <p:sp>
        <p:nvSpPr>
          <p:cNvPr id="646" name="" descr="{&quot;isTemplate&quot;:true,&quot;type&quot;:&quot;text&quot;}"/>
          <p:cNvSpPr txBox="1"/>
          <p:nvPr/>
        </p:nvSpPr>
        <p:spPr>
          <a:xfrm rot="0" flipH="0" flipV="0">
            <a:off x="895350" y="5486400"/>
            <a:ext cx="10439400" cy="590550"/>
          </a:xfrm>
          <a:prstGeom prst="rect"/>
        </p:spPr>
        <p:txBody>
          <a:bodyPr wrap="square" lIns="0" tIns="0" rIns="0" bIns="0">
            <a:normAutofit/>
          </a:bodyPr>
          <a:p>
            <a:pPr>
              <a:lnSpc>
                <a:spcPct val="150000"/>
              </a:lnSpc>
            </a:pPr>
            <a:r>
              <a:rPr lang="zh-CN" sz="1275" b="1">
                <a:solidFill>
                  <a:srgbClr val="0E2340"/>
                </a:solidFill>
                <a:latin typeface="Microsoft YaHei"/>
                <a:ea typeface="Microsoft YaHei"/>
              </a:rPr>
              <a:t>把易错案例加载到当前提示词，可以帮助这次生成参考先前经验；长期保存案例依赖知识库，参数层面的变化依赖训练。不能把“已经缓存”当作“已经训练”或“已经证实正确”</a:t>
            </a:r>
            <a:endParaRPr/>
          </a:p>
        </p:txBody>
      </p:sp>
      <p:sp>
        <p:nvSpPr>
          <p:cNvPr id="647"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648" name="" descr="{&quot;isTemplate&quot;:true,&quot;type&quot;:&quot;text&quot;}"/>
          <p:cNvSpPr txBox="1"/>
          <p:nvPr/>
        </p:nvSpPr>
        <p:spPr>
          <a:xfrm rot="0" flipH="0" flipV="0">
            <a:off x="666750" y="6381750"/>
            <a:ext cx="2219325" cy="209550"/>
          </a:xfrm>
          <a:prstGeom prst="rect"/>
        </p:spPr>
        <p:txBody>
          <a:bodyPr wrap="none" lIns="0" tIns="0" rIns="0" bIns="0"/>
          <a:p>
            <a:pPr>
              <a:lnSpc>
                <a:spcPct val="140000"/>
              </a:lnSpc>
            </a:pPr>
            <a:r>
              <a:rPr lang="zh-CN" sz="975">
                <a:solidFill>
                  <a:srgbClr val="7A8699"/>
                </a:solidFill>
                <a:latin typeface="Microsoft YaHei"/>
                <a:ea typeface="Microsoft YaHei"/>
              </a:rPr>
              <a:t>依据：自进化与跨学科扩展设计</a:t>
            </a:r>
            <a:r>
              <a:rPr lang="en-US" sz="975">
                <a:solidFill>
                  <a:srgbClr val="7A8699"/>
                </a:solidFill>
                <a:latin typeface="Microsoft YaHei"/>
                <a:ea typeface="Microsoft YaHei"/>
              </a:rPr>
              <a:t>.md §2.3</a:t>
            </a:r>
            <a:endParaRPr/>
          </a:p>
        </p:txBody>
      </p:sp>
      <p:sp>
        <p:nvSpPr>
          <p:cNvPr id="649" name="" descr="{&quot;isTemplate&quot;:true,&quot;type&quot;:&quot;text&quot;}"/>
          <p:cNvSpPr txBox="1"/>
          <p:nvPr/>
        </p:nvSpPr>
        <p:spPr>
          <a:xfrm rot="0" flipH="0" flipV="0">
            <a:off x="10896600" y="6372225"/>
            <a:ext cx="628650"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117 / 124 </a:t>
            </a:r>
            <a:endParaRPr/>
          </a:p>
        </p:txBody>
      </p:sp>
    </p:spTree>
  </p:cSld>
</p:sld>
</file>

<file path=ppt/slides/slide118.xml><?xml version="1.0" encoding="utf-8"?>
<p:sld xmlns:p="http://schemas.openxmlformats.org/presentationml/2006/main" xmlns:a="http://schemas.openxmlformats.org/drawingml/2006/main">
  <p:cSld>
    <p:spTree>
      <p:nvGrpSpPr>
        <p:cNvPr id="650"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2 / 自进化与扩展&lt;/Text&gt;&lt;Text style={{ fontSize: 32, color: '#0E2340', fontWeight: 700, lineHeight: 1.3 }}&gt;模型更新怎样验收，人工改进维护什么&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6 }}&gt;&lt;Box style={{ flexDirection: 'row', gap: 20 }}&gt;&lt;Box style={{ width: 56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700, lineHeight: 1.4 }}&gt;模型更新验收&lt;/Text&gt;&lt;Box style={{ flexDirection: 'column', gap: 9 }}&gt;&lt;Box style={{ flexDirection: 'row', gap: 12, alignItems: 'flex-start' }}&gt;&lt;Box style={{ width: 8, height: 8, borderRadius: 4, background: '#1E7BE0', marginTop: 9 }} /&gt;&lt;Box style={{ flex: 1 }}&gt;&lt;Text style={{ fontSize: 16, color: '#333A45', fontWeight: 400, lineHeight: 1.6 }}&gt;训练前明确改进目标：首错定位、少作无依据归因、步骤结构完整、更适当的提示。&lt;/Text&gt;&lt;/Box&gt;&lt;/Box&gt;&lt;Box style={{ flexDirection: 'row', gap: 12, alignItems: 'flex-start' }}&gt;&lt;Box style={{ width: 8, height: 8, borderRadius: 4, background: '#1E7BE0', marginTop: 9 }} /&gt;&lt;Box style={{ flex: 1 }}&gt;&lt;Text style={{ fontSize: 16, color: '#333A45', fontWeight: 400, lineHeight: 1.6 }}&gt;保留未参与训练和案例注入的独立测试数据，按学生、题目及变式来源控制泄漏。&lt;/Text&gt;&lt;/Box&gt;&lt;/Box&gt;&lt;Box style={{ flexDirection: 'row', gap: 12, alignItems: 'flex-start' }}&gt;&lt;Box style={{ width: 8, height: 8, borderRadius: 4, background: '#1E7BE0', marginTop: 9 }} /&gt;&lt;Box style={{ flex: 1 }}&gt;&lt;Text style={{ fontSize: 16, color: '#333A45', fontWeight: 400, lineHeight: 1.6 }}&gt;只提高格式遵守率，不能直接称为提高数学准确率；只提高答案正确率，也不能直接称为提高教学质量。&lt;/Text&gt;&lt;/Box&gt;&lt;/Box&gt;&lt;Box style={{ flexDirection: 'row', gap: 12, alignItems: 'flex-start' }}&gt;&lt;Box style={{ width: 8, height: 8, borderRadius: 4, background: '#1E7BE0', marginTop: 9 }} /&gt;&lt;Box style={{ flex: 1 }}&gt;&lt;Text style={{ fontSize: 16, color: '#333A45', fontWeight: 400, lineHeight: 1.6 }}&gt;候选版本先小范围使用，明显退化可回滚；不以同一模型给自己的高分作为发布依据。&lt;/Text&gt;&lt;/Box&gt;&lt;/Box&gt;&lt;/Box&gt;&lt;/Box&gt;&lt;/Box&gt;&lt;Box style={{ width: 56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700, lineHeight: 1.4 }}&gt;人工改进的五类维护对象&lt;/Text&gt;&lt;Box style={{ flexDirection: 'column', gap: 9 }}&gt;&lt;Box style={{ flexDirection: 'row', gap: 12, alignItems: 'flex-start' }}&gt;&lt;Box style={{ width: 8, height: 8, borderRadius: 4, background: '#1E7BE0', marginTop: 9 }} /&gt;&lt;Box style={{ flex: 1 }}&gt;&lt;Text style={{ fontSize: 16, color: '#333A45', fontWeight: 400, lineHeight: 1.6 }}&gt;数据集：正确与错误作答、不同解法、证据不足、改正过程、生成题目、教师纠错。&lt;/Text&gt;&lt;/Box&gt;&lt;/Box&gt;&lt;Box style={{ flexDirection: 'row', gap: 12, alignItems: 'flex-start' }}&gt;&lt;Box style={{ width: 8, height: 8, borderRadius: 4, background: '#1E7BE0', marginTop: 9 }} /&gt;&lt;Box style={{ flex: 1 }}&gt;&lt;Text style={{ fontSize: 16, color: '#333A45', fontWeight: 400, lineHeight: 1.6 }}&gt;教学定义：知识点、步骤、套路、适用条件、易混淆项、前置关系。&lt;/Text&gt;&lt;/Box&gt;&lt;/Box&gt;&lt;Box style={{ flexDirection: 'row', gap: 12, alignItems: 'flex-start' }}&gt;&lt;Box style={{ width: 8, height: 8, borderRadius: 4, background: '#1E7BE0', marginTop: 9 }} /&gt;&lt;Box style={{ flex: 1 }}&gt;&lt;Text style={{ fontSize: 16, color: '#333A45', fontWeight: 400, lineHeight: 1.6 }}&gt;难度与评分：步骤默认难度、实例难度量规、试卷模板、覆盖权重。&lt;/Text&gt;&lt;/Box&gt;&lt;/Box&gt;&lt;Box style={{ flexDirection: 'row', gap: 12, alignItems: 'flex-start' }}&gt;&lt;Box style={{ width: 8, height: 8, borderRadius: 4, background: '#1E7BE0', marginTop: 9 }} /&gt;&lt;Box style={{ flex: 1 }}&gt;&lt;Text style={{ fontSize: 16, color: '#333A45', fontWeight: 400, lineHeight: 1.6 }}&gt;训练与推荐参数：复查间隔、任务量、推荐优先级、诊断门槛。&lt;/Text&gt;&lt;/Box&gt;&lt;/Box&gt;&lt;Box style={{ flexDirection: 'row', gap: 12, alignItems: 'flex-start' }}&gt;&lt;Box style={{ width: 8, height: 8, borderRadius: 4, background: '#1E7BE0', marginTop: 9 }} /&gt;&lt;Box style={{ flex: 1 }}&gt;&lt;Text style={{ fontSize: 16, color: '#333A45', fontWeight: 400, lineHeight: 1.6 }}&gt;提示词与工具规则：字段约束、判断要求、异常处理、工具适用范围。&lt;/Text&gt;&lt;/Box&gt;&lt;/Box&gt;&lt;/Box&gt;&lt;/Box&gt;&lt;/Box&gt;&lt;/Box&gt;&lt;Box style={{ flexDirection: 'row', alignItems: 'center', background: '#F5F7FA', borderLeft: '4px solid #1E7BE0', borderRadius: 6, padding: '14px 20px' }}&gt;&lt;Text style={{ fontSize: 16, color: '#0E2340', fontWeight: 600, lineHeight: 1.5 }}&gt;每次修改记录原因、负责人、版本、受影响范围；训练集、调参集与独立测试集分开维护。不能因某次结果不符合预期就临时调参直到“看起来正确”&lt;/Text&gt;&lt;/Box&gt;&lt;/Box&gt;&lt;/Box&gt;&lt;Box style={{ height: 40, flexDirection: 'row', justifyContent: 'space-between', alignItems: 'center', borderTop: '1px solid #E3E8EF', marginTop: 8 }}&gt;&lt;Text style={{ fontSize: 13, color: '#7A8699', fontWeight: 400, lineHeight: 1.4 }}&gt;依据：自进化与跨学科扩展设计.md §2.4、§3&lt;/Text&gt;&lt;Text style={{ fontSize: 14, color: '#7A8699', fontWeight: 400, lineHeight: 1.4 }}&gt; 118 / 124 &lt;/Text&gt;&lt;/Box&gt;&lt;/Slide&gt;"/>
        <p:cNvGrpSpPr/>
        <p:nvPr/>
      </p:nvGrpSpPr>
      <p:grpSpPr>
        <a:xfrm>
          <a:off x="0" y="0"/>
          <a:ext cx="0" cy="0"/>
          <a:chOff x="0" y="0"/>
          <a:chExt cx="0" cy="0"/>
        </a:xfrm>
      </p:grpSpPr>
      <p:sp>
        <p:nvSpPr>
          <p:cNvPr id="651" name=""/>
          <p:cNvSpPr/>
          <p:nvPr/>
        </p:nvSpPr>
        <p:spPr>
          <a:xfrm rot="0" flipH="0" flipV="0">
            <a:off x="0" y="0"/>
            <a:ext cx="12192000" cy="6858000"/>
          </a:xfrm>
          <a:prstGeom prst="rect">
            <a:avLst/>
          </a:prstGeom>
          <a:solidFill>
            <a:srgbClr val="FFFFFF"/>
          </a:solidFill>
          <a:ln/>
        </p:spPr>
        <p:txBody>
          <a:bodyPr/>
          <a:p/>
        </p:txBody>
      </p:sp>
      <p:sp>
        <p:nvSpPr>
          <p:cNvPr id="652" name="" descr="{&quot;isTemplate&quot;:true,&quot;type&quot;:&quot;text&quot;}"/>
          <p:cNvSpPr txBox="1"/>
          <p:nvPr/>
        </p:nvSpPr>
        <p:spPr>
          <a:xfrm rot="0" flipH="0" flipV="0">
            <a:off x="666750" y="381000"/>
            <a:ext cx="5181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12 / </a:t>
            </a:r>
            <a:r>
              <a:rPr lang="zh-CN" sz="1050" spc="75">
                <a:solidFill>
                  <a:srgbClr val="7A8699"/>
                </a:solidFill>
                <a:latin typeface="Microsoft YaHei"/>
                <a:ea typeface="Microsoft YaHei"/>
              </a:rPr>
              <a:t>自进化与扩展</a:t>
            </a:r>
            <a:endParaRPr/>
          </a:p>
        </p:txBody>
      </p:sp>
      <p:sp>
        <p:nvSpPr>
          <p:cNvPr id="653" name="" descr="{&quot;isTemplate&quot;:true,&quot;type&quot;:&quot;text&quot;}"/>
          <p:cNvSpPr txBox="1"/>
          <p:nvPr/>
        </p:nvSpPr>
        <p:spPr>
          <a:xfrm rot="0" flipH="0" flipV="0">
            <a:off x="666750" y="666750"/>
            <a:ext cx="5181600" cy="476250"/>
          </a:xfrm>
          <a:prstGeom prst="rect"/>
        </p:spPr>
        <p:txBody>
          <a:bodyPr wrap="none" lIns="0" tIns="0" rIns="0" bIns="0"/>
          <a:p>
            <a:pPr>
              <a:lnSpc>
                <a:spcPct val="130000"/>
              </a:lnSpc>
            </a:pPr>
            <a:r>
              <a:rPr lang="zh-CN" sz="2400" b="1">
                <a:solidFill>
                  <a:srgbClr val="0E2340"/>
                </a:solidFill>
                <a:latin typeface="Microsoft YaHei"/>
                <a:ea typeface="Microsoft YaHei"/>
              </a:rPr>
              <a:t>模型更新怎样验收，人工改进维护什么</a:t>
            </a:r>
            <a:endParaRPr/>
          </a:p>
        </p:txBody>
      </p:sp>
      <p:sp>
        <p:nvSpPr>
          <p:cNvPr id="654"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655"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656" name=""/>
          <p:cNvSpPr/>
          <p:nvPr/>
        </p:nvSpPr>
        <p:spPr>
          <a:xfrm rot="0" flipH="0" flipV="0">
            <a:off x="666750" y="1628775"/>
            <a:ext cx="5334000" cy="3476625"/>
          </a:xfrm>
          <a:prstGeom prst="roundRect">
            <a:avLst>
              <a:gd name="adj" fmla="val 2192"/>
            </a:avLst>
          </a:prstGeom>
          <a:solidFill>
            <a:srgbClr val="FFFFFF"/>
          </a:solidFill>
          <a:ln w="12700">
            <a:solidFill>
              <a:srgbClr val="E3E8EF"/>
            </a:solidFill>
            <a:prstDash val="solid"/>
          </a:ln>
        </p:spPr>
        <p:txBody>
          <a:bodyPr/>
          <a:p/>
        </p:txBody>
      </p:sp>
      <p:sp>
        <p:nvSpPr>
          <p:cNvPr id="657" name=""/>
          <p:cNvSpPr/>
          <p:nvPr/>
        </p:nvSpPr>
        <p:spPr>
          <a:xfrm rot="0" flipH="0" flipV="0">
            <a:off x="666750" y="1628775"/>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658" name="" descr="{&quot;isTemplate&quot;:true,&quot;type&quot;:&quot;text&quot;}"/>
          <p:cNvSpPr txBox="1"/>
          <p:nvPr/>
        </p:nvSpPr>
        <p:spPr>
          <a:xfrm rot="0" flipH="0" flipV="0">
            <a:off x="857250" y="1857375"/>
            <a:ext cx="4953000" cy="342900"/>
          </a:xfrm>
          <a:prstGeom prst="rect"/>
        </p:spPr>
        <p:txBody>
          <a:bodyPr wrap="none" lIns="0" tIns="0" rIns="0" bIns="0"/>
          <a:p>
            <a:pPr>
              <a:lnSpc>
                <a:spcPct val="140000"/>
              </a:lnSpc>
            </a:pPr>
            <a:r>
              <a:rPr lang="zh-CN" sz="1575" b="1">
                <a:solidFill>
                  <a:srgbClr val="0E2340"/>
                </a:solidFill>
                <a:latin typeface="Microsoft YaHei"/>
                <a:ea typeface="Microsoft YaHei"/>
              </a:rPr>
              <a:t>模型更新验收</a:t>
            </a:r>
            <a:endParaRPr/>
          </a:p>
        </p:txBody>
      </p:sp>
      <p:sp>
        <p:nvSpPr>
          <p:cNvPr id="659" name=""/>
          <p:cNvSpPr/>
          <p:nvPr/>
        </p:nvSpPr>
        <p:spPr>
          <a:xfrm rot="0" flipH="0" flipV="0">
            <a:off x="857250" y="2381250"/>
            <a:ext cx="76200" cy="76200"/>
          </a:xfrm>
          <a:prstGeom prst="roundRect">
            <a:avLst>
              <a:gd name="adj" fmla="val 50000"/>
            </a:avLst>
          </a:prstGeom>
          <a:solidFill>
            <a:srgbClr val="1E7BE0"/>
          </a:solidFill>
          <a:ln/>
        </p:spPr>
        <p:txBody>
          <a:bodyPr/>
          <a:p/>
        </p:txBody>
      </p:sp>
      <p:sp>
        <p:nvSpPr>
          <p:cNvPr id="660" name="" descr="{&quot;isTemplate&quot;:true,&quot;type&quot;:&quot;text&quot;}"/>
          <p:cNvSpPr txBox="1"/>
          <p:nvPr/>
        </p:nvSpPr>
        <p:spPr>
          <a:xfrm rot="0" flipH="0" flipV="0">
            <a:off x="1047750" y="2295525"/>
            <a:ext cx="47625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训练前明确改进目标：首错定位、少作无依据归因、步骤结构完整、更适当的提示。</a:t>
            </a:r>
            <a:endParaRPr/>
          </a:p>
        </p:txBody>
      </p:sp>
      <p:sp>
        <p:nvSpPr>
          <p:cNvPr id="661" name=""/>
          <p:cNvSpPr/>
          <p:nvPr/>
        </p:nvSpPr>
        <p:spPr>
          <a:xfrm rot="0" flipH="0" flipV="0">
            <a:off x="857250" y="3057525"/>
            <a:ext cx="76200" cy="76200"/>
          </a:xfrm>
          <a:prstGeom prst="roundRect">
            <a:avLst>
              <a:gd name="adj" fmla="val 50000"/>
            </a:avLst>
          </a:prstGeom>
          <a:solidFill>
            <a:srgbClr val="1E7BE0"/>
          </a:solidFill>
          <a:ln/>
        </p:spPr>
        <p:txBody>
          <a:bodyPr/>
          <a:p/>
        </p:txBody>
      </p:sp>
      <p:sp>
        <p:nvSpPr>
          <p:cNvPr id="662" name="" descr="{&quot;isTemplate&quot;:true,&quot;type&quot;:&quot;text&quot;}"/>
          <p:cNvSpPr txBox="1"/>
          <p:nvPr/>
        </p:nvSpPr>
        <p:spPr>
          <a:xfrm rot="0" flipH="0" flipV="0">
            <a:off x="1047750" y="2971800"/>
            <a:ext cx="47625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保留未参与训练和案例注入的独立测试数据，按学生、题目及变式来源控制泄漏。</a:t>
            </a:r>
            <a:endParaRPr/>
          </a:p>
        </p:txBody>
      </p:sp>
      <p:sp>
        <p:nvSpPr>
          <p:cNvPr id="663" name=""/>
          <p:cNvSpPr/>
          <p:nvPr/>
        </p:nvSpPr>
        <p:spPr>
          <a:xfrm rot="0" flipH="0" flipV="0">
            <a:off x="857250" y="3733800"/>
            <a:ext cx="76200" cy="76200"/>
          </a:xfrm>
          <a:prstGeom prst="roundRect">
            <a:avLst>
              <a:gd name="adj" fmla="val 50000"/>
            </a:avLst>
          </a:prstGeom>
          <a:solidFill>
            <a:srgbClr val="1E7BE0"/>
          </a:solidFill>
          <a:ln/>
        </p:spPr>
        <p:txBody>
          <a:bodyPr/>
          <a:p/>
        </p:txBody>
      </p:sp>
      <p:sp>
        <p:nvSpPr>
          <p:cNvPr id="664" name="" descr="{&quot;isTemplate&quot;:true,&quot;type&quot;:&quot;text&quot;}"/>
          <p:cNvSpPr txBox="1"/>
          <p:nvPr/>
        </p:nvSpPr>
        <p:spPr>
          <a:xfrm rot="0" flipH="0" flipV="0">
            <a:off x="1047750" y="3648075"/>
            <a:ext cx="47625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只提高格式遵守率，不能直接称为提高数学准确率；只提高答案正确率，也不能直接称为提高教学质量。</a:t>
            </a:r>
            <a:endParaRPr/>
          </a:p>
        </p:txBody>
      </p:sp>
      <p:sp>
        <p:nvSpPr>
          <p:cNvPr id="665" name=""/>
          <p:cNvSpPr/>
          <p:nvPr/>
        </p:nvSpPr>
        <p:spPr>
          <a:xfrm rot="0" flipH="0" flipV="0">
            <a:off x="857250" y="4410075"/>
            <a:ext cx="76200" cy="76200"/>
          </a:xfrm>
          <a:prstGeom prst="roundRect">
            <a:avLst>
              <a:gd name="adj" fmla="val 50000"/>
            </a:avLst>
          </a:prstGeom>
          <a:solidFill>
            <a:srgbClr val="1E7BE0"/>
          </a:solidFill>
          <a:ln/>
        </p:spPr>
        <p:txBody>
          <a:bodyPr/>
          <a:p/>
        </p:txBody>
      </p:sp>
      <p:sp>
        <p:nvSpPr>
          <p:cNvPr id="666" name="" descr="{&quot;isTemplate&quot;:true,&quot;type&quot;:&quot;text&quot;}"/>
          <p:cNvSpPr txBox="1"/>
          <p:nvPr/>
        </p:nvSpPr>
        <p:spPr>
          <a:xfrm rot="0" flipH="0" flipV="0">
            <a:off x="1047750" y="4324350"/>
            <a:ext cx="47625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候选版本先小范围使用，明显退化可回滚；不以同一模型给自己的高分作为发布依据。</a:t>
            </a:r>
            <a:endParaRPr/>
          </a:p>
        </p:txBody>
      </p:sp>
      <p:sp>
        <p:nvSpPr>
          <p:cNvPr id="667" name=""/>
          <p:cNvSpPr/>
          <p:nvPr/>
        </p:nvSpPr>
        <p:spPr>
          <a:xfrm rot="0" flipH="0" flipV="0">
            <a:off x="6191250" y="1628775"/>
            <a:ext cx="5334000" cy="3476625"/>
          </a:xfrm>
          <a:prstGeom prst="roundRect">
            <a:avLst>
              <a:gd name="adj" fmla="val 2192"/>
            </a:avLst>
          </a:prstGeom>
          <a:solidFill>
            <a:srgbClr val="FFFFFF"/>
          </a:solidFill>
          <a:ln w="12700">
            <a:solidFill>
              <a:srgbClr val="E3E8EF"/>
            </a:solidFill>
            <a:prstDash val="solid"/>
          </a:ln>
        </p:spPr>
        <p:txBody>
          <a:bodyPr/>
          <a:p/>
        </p:txBody>
      </p:sp>
      <p:sp>
        <p:nvSpPr>
          <p:cNvPr id="668" name=""/>
          <p:cNvSpPr/>
          <p:nvPr/>
        </p:nvSpPr>
        <p:spPr>
          <a:xfrm rot="0" flipH="0" flipV="0">
            <a:off x="6191250" y="1628775"/>
            <a:ext cx="5334000" cy="38100"/>
          </a:xfrm>
          <a:custGeom>
            <a:pathLst>
              <a:path w="560" h="4">
                <a:moveTo>
                  <a:pt x="552" y="0"/>
                </a:moveTo>
                <a:cubicBezTo>
                  <a:pt x="555" y="0"/>
                  <a:pt x="558" y="2"/>
                  <a:pt x="559" y="4"/>
                </a:cubicBezTo>
                <a:lnTo>
                  <a:pt x="1" y="4"/>
                </a:lnTo>
                <a:cubicBezTo>
                  <a:pt x="3" y="2"/>
                  <a:pt x="5" y="0"/>
                  <a:pt x="8" y="0"/>
                </a:cubicBezTo>
                <a:lnTo>
                  <a:pt x="552" y="0"/>
                </a:lnTo>
                <a:close/>
              </a:path>
            </a:pathLst>
          </a:custGeom>
          <a:gradFill>
            <a:gsLst>
              <a:gs pos="0">
                <a:srgbClr val="1E7BE0"/>
              </a:gs>
              <a:gs pos="100000">
                <a:srgbClr val="00A9B5"/>
              </a:gs>
            </a:gsLst>
            <a:lin ang="0" scaled="1"/>
          </a:gradFill>
          <a:ln/>
        </p:spPr>
        <p:txBody>
          <a:bodyPr/>
          <a:p/>
        </p:txBody>
      </p:sp>
      <p:sp>
        <p:nvSpPr>
          <p:cNvPr id="669" name="" descr="{&quot;isTemplate&quot;:true,&quot;type&quot;:&quot;text&quot;}"/>
          <p:cNvSpPr txBox="1"/>
          <p:nvPr/>
        </p:nvSpPr>
        <p:spPr>
          <a:xfrm rot="0" flipH="0" flipV="0">
            <a:off x="6381750" y="1857375"/>
            <a:ext cx="4953000" cy="342900"/>
          </a:xfrm>
          <a:prstGeom prst="rect"/>
        </p:spPr>
        <p:txBody>
          <a:bodyPr wrap="none" lIns="0" tIns="0" rIns="0" bIns="0"/>
          <a:p>
            <a:pPr>
              <a:lnSpc>
                <a:spcPct val="140000"/>
              </a:lnSpc>
            </a:pPr>
            <a:r>
              <a:rPr lang="zh-CN" sz="1575" b="1">
                <a:solidFill>
                  <a:srgbClr val="0E2340"/>
                </a:solidFill>
                <a:latin typeface="Microsoft YaHei"/>
                <a:ea typeface="Microsoft YaHei"/>
              </a:rPr>
              <a:t>人工改进的五类维护对象</a:t>
            </a:r>
            <a:endParaRPr/>
          </a:p>
        </p:txBody>
      </p:sp>
      <p:sp>
        <p:nvSpPr>
          <p:cNvPr id="670" name=""/>
          <p:cNvSpPr/>
          <p:nvPr/>
        </p:nvSpPr>
        <p:spPr>
          <a:xfrm rot="0" flipH="0" flipV="0">
            <a:off x="6381750" y="2381250"/>
            <a:ext cx="76200" cy="76200"/>
          </a:xfrm>
          <a:prstGeom prst="roundRect">
            <a:avLst>
              <a:gd name="adj" fmla="val 50000"/>
            </a:avLst>
          </a:prstGeom>
          <a:solidFill>
            <a:srgbClr val="1E7BE0"/>
          </a:solidFill>
          <a:ln/>
        </p:spPr>
        <p:txBody>
          <a:bodyPr/>
          <a:p/>
        </p:txBody>
      </p:sp>
      <p:sp>
        <p:nvSpPr>
          <p:cNvPr id="671" name="" descr="{&quot;isTemplate&quot;:true,&quot;type&quot;:&quot;text&quot;}"/>
          <p:cNvSpPr txBox="1"/>
          <p:nvPr/>
        </p:nvSpPr>
        <p:spPr>
          <a:xfrm rot="0" flipH="0" flipV="0">
            <a:off x="6572250" y="2295525"/>
            <a:ext cx="476250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数据集：正确与错误作答、不同解法、证据不足、改正过程、生成题目、教师纠错。</a:t>
            </a:r>
            <a:endParaRPr/>
          </a:p>
        </p:txBody>
      </p:sp>
      <p:sp>
        <p:nvSpPr>
          <p:cNvPr id="672" name=""/>
          <p:cNvSpPr/>
          <p:nvPr/>
        </p:nvSpPr>
        <p:spPr>
          <a:xfrm rot="0" flipH="0" flipV="0">
            <a:off x="6381750" y="3057525"/>
            <a:ext cx="76200" cy="76200"/>
          </a:xfrm>
          <a:prstGeom prst="roundRect">
            <a:avLst>
              <a:gd name="adj" fmla="val 50000"/>
            </a:avLst>
          </a:prstGeom>
          <a:solidFill>
            <a:srgbClr val="1E7BE0"/>
          </a:solidFill>
          <a:ln/>
        </p:spPr>
        <p:txBody>
          <a:bodyPr/>
          <a:p/>
        </p:txBody>
      </p:sp>
      <p:sp>
        <p:nvSpPr>
          <p:cNvPr id="673" name="" descr="{&quot;isTemplate&quot;:true,&quot;type&quot;:&quot;text&quot;}"/>
          <p:cNvSpPr txBox="1"/>
          <p:nvPr/>
        </p:nvSpPr>
        <p:spPr>
          <a:xfrm rot="0" flipH="0" flipV="0">
            <a:off x="6572250" y="2971800"/>
            <a:ext cx="4762500" cy="295275"/>
          </a:xfrm>
          <a:prstGeom prst="rect"/>
        </p:spPr>
        <p:txBody>
          <a:bodyPr wrap="none" lIns="0" tIns="0" rIns="0" bIns="0"/>
          <a:p>
            <a:pPr>
              <a:lnSpc>
                <a:spcPct val="160000"/>
              </a:lnSpc>
            </a:pPr>
            <a:r>
              <a:rPr lang="zh-CN" sz="1200">
                <a:solidFill>
                  <a:srgbClr val="333A45"/>
                </a:solidFill>
                <a:latin typeface="Microsoft YaHei"/>
                <a:ea typeface="Microsoft YaHei"/>
              </a:rPr>
              <a:t>教学定义：知识点、步骤、套路、适用条件、易混淆项、前置关系。</a:t>
            </a:r>
            <a:endParaRPr/>
          </a:p>
        </p:txBody>
      </p:sp>
      <p:sp>
        <p:nvSpPr>
          <p:cNvPr id="674" name=""/>
          <p:cNvSpPr/>
          <p:nvPr/>
        </p:nvSpPr>
        <p:spPr>
          <a:xfrm rot="0" flipH="0" flipV="0">
            <a:off x="6381750" y="3438525"/>
            <a:ext cx="76200" cy="76200"/>
          </a:xfrm>
          <a:prstGeom prst="roundRect">
            <a:avLst>
              <a:gd name="adj" fmla="val 50000"/>
            </a:avLst>
          </a:prstGeom>
          <a:solidFill>
            <a:srgbClr val="1E7BE0"/>
          </a:solidFill>
          <a:ln/>
        </p:spPr>
        <p:txBody>
          <a:bodyPr/>
          <a:p/>
        </p:txBody>
      </p:sp>
      <p:sp>
        <p:nvSpPr>
          <p:cNvPr id="675" name="" descr="{&quot;isTemplate&quot;:true,&quot;type&quot;:&quot;text&quot;}"/>
          <p:cNvSpPr txBox="1"/>
          <p:nvPr/>
        </p:nvSpPr>
        <p:spPr>
          <a:xfrm rot="0" flipH="0" flipV="0">
            <a:off x="6572250" y="3352800"/>
            <a:ext cx="4762500" cy="295275"/>
          </a:xfrm>
          <a:prstGeom prst="rect"/>
        </p:spPr>
        <p:txBody>
          <a:bodyPr wrap="none" lIns="0" tIns="0" rIns="0" bIns="0"/>
          <a:p>
            <a:pPr>
              <a:lnSpc>
                <a:spcPct val="160000"/>
              </a:lnSpc>
            </a:pPr>
            <a:r>
              <a:rPr lang="zh-CN" sz="1200">
                <a:solidFill>
                  <a:srgbClr val="333A45"/>
                </a:solidFill>
                <a:latin typeface="Microsoft YaHei"/>
                <a:ea typeface="Microsoft YaHei"/>
              </a:rPr>
              <a:t>难度与评分：步骤默认难度、实例难度量规、试卷模板、覆盖权重。</a:t>
            </a:r>
            <a:endParaRPr/>
          </a:p>
        </p:txBody>
      </p:sp>
      <p:sp>
        <p:nvSpPr>
          <p:cNvPr id="676" name=""/>
          <p:cNvSpPr/>
          <p:nvPr/>
        </p:nvSpPr>
        <p:spPr>
          <a:xfrm rot="0" flipH="0" flipV="0">
            <a:off x="6381750" y="3819525"/>
            <a:ext cx="76200" cy="76200"/>
          </a:xfrm>
          <a:prstGeom prst="roundRect">
            <a:avLst>
              <a:gd name="adj" fmla="val 50000"/>
            </a:avLst>
          </a:prstGeom>
          <a:solidFill>
            <a:srgbClr val="1E7BE0"/>
          </a:solidFill>
          <a:ln/>
        </p:spPr>
        <p:txBody>
          <a:bodyPr/>
          <a:p/>
        </p:txBody>
      </p:sp>
      <p:sp>
        <p:nvSpPr>
          <p:cNvPr id="677" name="" descr="{&quot;isTemplate&quot;:true,&quot;type&quot;:&quot;text&quot;}"/>
          <p:cNvSpPr txBox="1"/>
          <p:nvPr/>
        </p:nvSpPr>
        <p:spPr>
          <a:xfrm rot="0" flipH="0" flipV="0">
            <a:off x="6572250" y="3733800"/>
            <a:ext cx="4762500" cy="295275"/>
          </a:xfrm>
          <a:prstGeom prst="rect"/>
        </p:spPr>
        <p:txBody>
          <a:bodyPr wrap="none" lIns="0" tIns="0" rIns="0" bIns="0"/>
          <a:p>
            <a:pPr>
              <a:lnSpc>
                <a:spcPct val="160000"/>
              </a:lnSpc>
            </a:pPr>
            <a:r>
              <a:rPr lang="zh-CN" sz="1200">
                <a:solidFill>
                  <a:srgbClr val="333A45"/>
                </a:solidFill>
                <a:latin typeface="Microsoft YaHei"/>
                <a:ea typeface="Microsoft YaHei"/>
              </a:rPr>
              <a:t>训练与推荐参数：复查间隔、任务量、推荐优先级、诊断门槛。</a:t>
            </a:r>
            <a:endParaRPr/>
          </a:p>
        </p:txBody>
      </p:sp>
      <p:sp>
        <p:nvSpPr>
          <p:cNvPr id="678" name=""/>
          <p:cNvSpPr/>
          <p:nvPr/>
        </p:nvSpPr>
        <p:spPr>
          <a:xfrm rot="0" flipH="0" flipV="0">
            <a:off x="6381750" y="4200525"/>
            <a:ext cx="76200" cy="76200"/>
          </a:xfrm>
          <a:prstGeom prst="roundRect">
            <a:avLst>
              <a:gd name="adj" fmla="val 50000"/>
            </a:avLst>
          </a:prstGeom>
          <a:solidFill>
            <a:srgbClr val="1E7BE0"/>
          </a:solidFill>
          <a:ln/>
        </p:spPr>
        <p:txBody>
          <a:bodyPr/>
          <a:p/>
        </p:txBody>
      </p:sp>
      <p:sp>
        <p:nvSpPr>
          <p:cNvPr id="679" name="" descr="{&quot;isTemplate&quot;:true,&quot;type&quot;:&quot;text&quot;}"/>
          <p:cNvSpPr txBox="1"/>
          <p:nvPr/>
        </p:nvSpPr>
        <p:spPr>
          <a:xfrm rot="0" flipH="0" flipV="0">
            <a:off x="6572250" y="4114800"/>
            <a:ext cx="4762500" cy="295275"/>
          </a:xfrm>
          <a:prstGeom prst="rect"/>
        </p:spPr>
        <p:txBody>
          <a:bodyPr wrap="none" lIns="0" tIns="0" rIns="0" bIns="0"/>
          <a:p>
            <a:pPr>
              <a:lnSpc>
                <a:spcPct val="160000"/>
              </a:lnSpc>
            </a:pPr>
            <a:r>
              <a:rPr lang="zh-CN" sz="1200">
                <a:solidFill>
                  <a:srgbClr val="333A45"/>
                </a:solidFill>
                <a:latin typeface="Microsoft YaHei"/>
                <a:ea typeface="Microsoft YaHei"/>
              </a:rPr>
              <a:t>提示词与工具规则：字段约束、判断要求、异常处理、工具适用范围。</a:t>
            </a:r>
            <a:endParaRPr/>
          </a:p>
        </p:txBody>
      </p:sp>
      <p:sp>
        <p:nvSpPr>
          <p:cNvPr id="680" name=""/>
          <p:cNvSpPr/>
          <p:nvPr/>
        </p:nvSpPr>
        <p:spPr>
          <a:xfrm rot="0" flipH="0" flipV="0">
            <a:off x="704850" y="5257800"/>
            <a:ext cx="10858500" cy="542925"/>
          </a:xfrm>
          <a:prstGeom prst="roundRect">
            <a:avLst>
              <a:gd name="adj" fmla="val 10526"/>
            </a:avLst>
          </a:prstGeom>
          <a:solidFill>
            <a:srgbClr val="F5F7FA"/>
          </a:solidFill>
          <a:ln/>
        </p:spPr>
        <p:txBody>
          <a:bodyPr/>
          <a:p/>
        </p:txBody>
      </p:sp>
      <p:sp>
        <p:nvSpPr>
          <p:cNvPr id="681" name=""/>
          <p:cNvSpPr/>
          <p:nvPr/>
        </p:nvSpPr>
        <p:spPr>
          <a:xfrm rot="0" flipH="0" flipV="0">
            <a:off x="704850" y="5257800"/>
            <a:ext cx="10858500" cy="542925"/>
          </a:xfrm>
          <a:custGeom>
            <a:pathLst>
              <a:path w="1140" h="57">
                <a:moveTo>
                  <a:pt x="6" y="0"/>
                </a:moveTo>
                <a:cubicBezTo>
                  <a:pt x="5" y="0"/>
                  <a:pt x="4" y="1"/>
                  <a:pt x="4" y="2"/>
                </a:cubicBezTo>
                <a:lnTo>
                  <a:pt x="4" y="55"/>
                </a:lnTo>
                <a:cubicBezTo>
                  <a:pt x="4" y="56"/>
                  <a:pt x="5" y="57"/>
                  <a:pt x="6" y="57"/>
                </a:cubicBezTo>
                <a:cubicBezTo>
                  <a:pt x="3" y="57"/>
                  <a:pt x="0" y="54"/>
                  <a:pt x="0" y="51"/>
                </a:cubicBezTo>
                <a:lnTo>
                  <a:pt x="0" y="6"/>
                </a:lnTo>
                <a:cubicBezTo>
                  <a:pt x="0" y="3"/>
                  <a:pt x="3" y="0"/>
                  <a:pt x="6" y="0"/>
                </a:cubicBezTo>
                <a:close/>
              </a:path>
            </a:pathLst>
          </a:custGeom>
          <a:solidFill>
            <a:srgbClr val="1E7BE0"/>
          </a:solidFill>
          <a:ln/>
        </p:spPr>
        <p:txBody>
          <a:bodyPr/>
          <a:p/>
        </p:txBody>
      </p:sp>
      <p:sp>
        <p:nvSpPr>
          <p:cNvPr id="682" name="" descr="{&quot;isTemplate&quot;:true,&quot;type&quot;:&quot;text&quot;}"/>
          <p:cNvSpPr txBox="1"/>
          <p:nvPr/>
        </p:nvSpPr>
        <p:spPr>
          <a:xfrm rot="0" flipH="0" flipV="0">
            <a:off x="895350" y="5391150"/>
            <a:ext cx="9906000" cy="276225"/>
          </a:xfrm>
          <a:prstGeom prst="rect"/>
        </p:spPr>
        <p:txBody>
          <a:bodyPr wrap="none" lIns="0" tIns="0" rIns="0" bIns="0"/>
          <a:p>
            <a:pPr>
              <a:lnSpc>
                <a:spcPct val="150000"/>
              </a:lnSpc>
            </a:pPr>
            <a:r>
              <a:rPr lang="zh-CN" sz="1200" b="1">
                <a:solidFill>
                  <a:srgbClr val="0E2340"/>
                </a:solidFill>
                <a:latin typeface="Microsoft YaHei"/>
                <a:ea typeface="Microsoft YaHei"/>
              </a:rPr>
              <a:t>每次修改记录原因、负责人、版本、受影响范围；训练集、调参集与独立测试集分开维护。不能因某次结果不符合预期就临时调参直到“看起来正确”</a:t>
            </a:r>
            <a:endParaRPr/>
          </a:p>
        </p:txBody>
      </p:sp>
      <p:sp>
        <p:nvSpPr>
          <p:cNvPr id="683"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684" name="" descr="{&quot;isTemplate&quot;:true,&quot;type&quot;:&quot;text&quot;}"/>
          <p:cNvSpPr txBox="1"/>
          <p:nvPr/>
        </p:nvSpPr>
        <p:spPr>
          <a:xfrm rot="0" flipH="0" flipV="0">
            <a:off x="666750" y="6381750"/>
            <a:ext cx="2486025" cy="209550"/>
          </a:xfrm>
          <a:prstGeom prst="rect"/>
        </p:spPr>
        <p:txBody>
          <a:bodyPr wrap="none" lIns="0" tIns="0" rIns="0" bIns="0"/>
          <a:p>
            <a:pPr>
              <a:lnSpc>
                <a:spcPct val="140000"/>
              </a:lnSpc>
            </a:pPr>
            <a:r>
              <a:rPr lang="zh-CN" sz="975">
                <a:solidFill>
                  <a:srgbClr val="7A8699"/>
                </a:solidFill>
                <a:latin typeface="Microsoft YaHei"/>
                <a:ea typeface="Microsoft YaHei"/>
              </a:rPr>
              <a:t>依据：自进化与跨学科扩展设计</a:t>
            </a:r>
            <a:r>
              <a:rPr lang="en-US" sz="975">
                <a:solidFill>
                  <a:srgbClr val="7A8699"/>
                </a:solidFill>
                <a:latin typeface="Microsoft YaHei"/>
                <a:ea typeface="Microsoft YaHei"/>
              </a:rPr>
              <a:t>.md §2.4</a:t>
            </a:r>
            <a:r>
              <a:rPr lang="zh-CN" sz="975">
                <a:solidFill>
                  <a:srgbClr val="7A8699"/>
                </a:solidFill>
                <a:latin typeface="Microsoft YaHei"/>
                <a:ea typeface="Microsoft YaHei"/>
              </a:rPr>
              <a:t>、§</a:t>
            </a:r>
            <a:r>
              <a:rPr lang="en-US" sz="975">
                <a:solidFill>
                  <a:srgbClr val="7A8699"/>
                </a:solidFill>
                <a:latin typeface="Microsoft YaHei"/>
                <a:ea typeface="Microsoft YaHei"/>
              </a:rPr>
              <a:t>3</a:t>
            </a:r>
            <a:endParaRPr/>
          </a:p>
        </p:txBody>
      </p:sp>
      <p:sp>
        <p:nvSpPr>
          <p:cNvPr id="685" name="" descr="{&quot;isTemplate&quot;:true,&quot;type&quot;:&quot;text&quot;}"/>
          <p:cNvSpPr txBox="1"/>
          <p:nvPr/>
        </p:nvSpPr>
        <p:spPr>
          <a:xfrm rot="0" flipH="0" flipV="0">
            <a:off x="10896600" y="6372225"/>
            <a:ext cx="628650"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118 / 124 </a:t>
            </a:r>
            <a:endParaRPr/>
          </a:p>
        </p:txBody>
      </p:sp>
    </p:spTree>
  </p:cSld>
</p:sld>
</file>

<file path=ppt/slides/slide119.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686"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2 / 自进化与扩展&lt;/Text&gt;&lt;Text style={{ fontSize: 32, color: '#0E2340', fontWeight: 700, lineHeight: 1.3 }}&gt;时效更新：新试题、新套路与教材改版&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justifyContent: 'center', gap: 14 }}&gt;&lt;Box style={{ flexDirection: 'column', gap: 16, flex: 1, justifyContent: 'center' }}&gt;&lt;svg width={1140} height={160} viewBox='0 0 1140 160'&gt;&lt;rect x='0' y='40' width='191' height='88' rx='8' fill='#0E2340' stroke='#1E7BE0' stroke-width='1.5'/&gt;&lt;text x='95.5' y='78.0' font-size='20' fill='#FFFFFF' text-anchor='middle' font-weight='600'&gt;发现&lt;/text&gt;&lt;text x='95.5' y='104.0' font-size='15' fill='#FFFFFF' text-anchor='middle' font-weight='400'&gt;公开且适合使用的题源&lt;/text&gt;&lt;line x1='197' y1='84' x2='223' y2='84' stroke='#1E7BE0' stroke-width='2'/&gt;&lt;path d='M223 78 l10 -6 l0 12 z' fill='#1E7BE0'/&gt;&lt;rect x='237' y='40' width='191' height='88' rx='8' fill='#FFFFFF' stroke='#1E7BE0' stroke-width='1.5'/&gt;&lt;text x='332.5' y='78.0' font-size='20' fill='#0E2340' text-anchor='middle' font-weight='600'&gt;下载&lt;/text&gt;&lt;text x='332.5' y='104.0' font-size='15' fill='#7A8699' text-anchor='middle' font-weight='400'&gt;保存出处与原文件&lt;/text&gt;&lt;line x1='434' y1='84' x2='460' y2='84' stroke='#1E7BE0' stroke-width='2'/&gt;&lt;path d='M460 78 l10 -6 l0 12 z' fill='#1E7BE0'/&gt;&lt;rect x='474' y='40' width='191' height='88' rx='8' fill='#FFFFFF' stroke='#1E7BE0' stroke-width='1.5'/&gt;&lt;text x='569.5' y='78.0' font-size='20' fill='#0E2340' text-anchor='middle' font-weight='600'&gt;内部解析&lt;/text&gt;&lt;text x='569.5' y='104.0' font-size='15' fill='#7A8699' text-anchor='middle' font-weight='400'&gt;步骤与答案校验&lt;/text&gt;&lt;line x1='671' y1='84' x2='697' y2='84' stroke='#1E7BE0' stroke-width='2'/&gt;&lt;path d='M697 78 l10 -6 l0 12 z' fill='#1E7BE0'/&gt;&lt;rect x='711' y='40' width='191' height='88' rx='8' fill='#FFFFFF' stroke='#1E7BE0' stroke-width='1.5'/&gt;&lt;text x='806.5' y='78.0' font-size='20' fill='#0E2340' text-anchor='middle' font-weight='600'&gt;审核入库&lt;/text&gt;&lt;text x='806.5' y='104.0' font-size='15' fill='#7A8699' text-anchor='middle' font-weight='400'&gt;教研核实&lt;/text&gt;&lt;line x1='908' y1='84' x2='934' y2='84' stroke='#1E7BE0' stroke-width='2'/&gt;&lt;path d='M934 78 l10 -6 l0 12 z' fill='#1E7BE0'/&gt;&lt;rect x='948' y='40' width='191' height='88' rx='8' fill='#F5F7FA' stroke='#1E7BE0' stroke-width='1.5'/&gt;&lt;text x='1043.5' y='78.0' font-size='20' fill='#0E2340' text-anchor='middle' font-weight='600'&gt;对外展示&lt;/text&gt;&lt;text x='1043.5' y='104.0' font-size='15' fill='#7A8699' text-anchor='middle' font-weight='400'&gt;标注来源与使用范围&lt;/text&gt;&lt;/svg&gt;&lt;/Box&gt;&lt;Box style={{ flexDirection: 'row', gap: 20, flex: 1 }}&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五阶段管道&lt;/Text&gt;&lt;Text style={{ fontSize: 16, color: '#333A45', fontWeight: 400, lineHeight: 1.6 }}&gt;发现 / 下载 / 内部解析 / 审核入库 / 对外展示；来源可访问不等于可以任意再发布&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是否新建套路或步骤&lt;/Text&gt;&lt;Text style={{ fontSize: 16, color: '#333A45', fontWeight: 400, lineHeight: 1.6 }}&gt;同一路径换数字记为变式；出现新组合交教研核实；词表不能表达的操作提出候选新步骤；涉及新增课程内容先核对教材&lt;/Text&gt;&lt;/Box&gt;&lt;/Box&gt;&lt;Box style={{ width: 366, background: '#FFFFFF', border: '1px solid #E3E8EF', borderRadius: 8, overflow: 'hidden', flexDirection: 'column' }}&gt;&lt;Box style={{ height: 4, background: 'linear-gradient(90deg, #1E7BE0 0%, #00A9B5 100%)' }} /&gt;&lt;Box style={{ flexDirection: 'column', gap: 10, padding: 20, flex: 1 }}&gt;&lt;Text style={{ fontSize: 20, color: '#0E2340', fontWeight: 600, lineHeight: 1.4 }}&gt;教材改版五类变更&lt;/Text&gt;&lt;Text style={{ fontSize: 16, color: '#333A45', fontWeight: 400, lineHeight: 1.6 }}&gt;新增 / 删除 / 迁移 / 拆分 / 合并；旧版与新版可并存，历史掌握记录重新映射时保留依据与不确定性&lt;/Text&gt;&lt;/Box&gt;&lt;/Box&gt;&lt;/Box&gt;&lt;Box style={{ flexDirection: 'row', alignItems: 'center', background: '#F5F7FA', borderLeft: '4px solid #E8A33D', borderRadius: 6, padding: '14px 20px' }}&gt;&lt;Text style={{ fontSize: 16, color: '#0E2340', fontWeight: 600, lineHeight: 1.5 }}&gt;不能仅因题面新、文字不同或模型匹配置信度低就自动创建新套路；课时总量、知识点集合和顺序都应随所选版本维护，不能将当前暂定数量当成永久常数&lt;/Text&gt;&lt;/Box&gt;&lt;/Box&gt;&lt;/Box&gt;&lt;Box style={{ height: 40, flexDirection: 'row', justifyContent: 'space-between', alignItems: 'center', borderTop: '1px solid #E3E8EF', marginTop: 8 }}&gt;&lt;Text style={{ fontSize: 13, color: '#7A8699', fontWeight: 400, lineHeight: 1.4 }}&gt;依据：自进化与跨学科扩展设计.md §4&lt;/Text&gt;&lt;Text style={{ fontSize: 14, color: '#7A8699', fontWeight: 400, lineHeight: 1.4 }}&gt; 119 / 124 &lt;/Text&gt;&lt;/Box&gt;&lt;/Slide&gt;"/>
        <p:cNvGrpSpPr/>
        <p:nvPr/>
      </p:nvGrpSpPr>
      <p:grpSpPr>
        <a:xfrm>
          <a:off x="0" y="0"/>
          <a:ext cx="0" cy="0"/>
          <a:chOff x="0" y="0"/>
          <a:chExt cx="0" cy="0"/>
        </a:xfrm>
      </p:grpSpPr>
      <p:sp>
        <p:nvSpPr>
          <p:cNvPr id="687" name=""/>
          <p:cNvSpPr/>
          <p:nvPr/>
        </p:nvSpPr>
        <p:spPr>
          <a:xfrm rot="0" flipH="0" flipV="0">
            <a:off x="0" y="0"/>
            <a:ext cx="12192000" cy="6858000"/>
          </a:xfrm>
          <a:prstGeom prst="rect">
            <a:avLst/>
          </a:prstGeom>
          <a:solidFill>
            <a:srgbClr val="FFFFFF"/>
          </a:solidFill>
          <a:ln/>
        </p:spPr>
        <p:txBody>
          <a:bodyPr/>
          <a:p/>
        </p:txBody>
      </p:sp>
      <p:sp>
        <p:nvSpPr>
          <p:cNvPr id="688" name="" descr="{&quot;isTemplate&quot;:true,&quot;type&quot;:&quot;text&quot;}"/>
          <p:cNvSpPr txBox="1"/>
          <p:nvPr/>
        </p:nvSpPr>
        <p:spPr>
          <a:xfrm rot="0" flipH="0" flipV="0">
            <a:off x="666750" y="381000"/>
            <a:ext cx="5181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12 / </a:t>
            </a:r>
            <a:r>
              <a:rPr lang="zh-CN" sz="1050" spc="75">
                <a:solidFill>
                  <a:srgbClr val="7A8699"/>
                </a:solidFill>
                <a:latin typeface="Microsoft YaHei"/>
                <a:ea typeface="Microsoft YaHei"/>
              </a:rPr>
              <a:t>自进化与扩展</a:t>
            </a:r>
            <a:endParaRPr/>
          </a:p>
        </p:txBody>
      </p:sp>
      <p:sp>
        <p:nvSpPr>
          <p:cNvPr id="689" name="" descr="{&quot;isTemplate&quot;:true,&quot;type&quot;:&quot;text&quot;}"/>
          <p:cNvSpPr txBox="1"/>
          <p:nvPr/>
        </p:nvSpPr>
        <p:spPr>
          <a:xfrm rot="0" flipH="0" flipV="0">
            <a:off x="666750" y="666750"/>
            <a:ext cx="5181600" cy="476250"/>
          </a:xfrm>
          <a:prstGeom prst="rect"/>
        </p:spPr>
        <p:txBody>
          <a:bodyPr wrap="none" lIns="0" tIns="0" rIns="0" bIns="0"/>
          <a:p>
            <a:pPr>
              <a:lnSpc>
                <a:spcPct val="130000"/>
              </a:lnSpc>
            </a:pPr>
            <a:r>
              <a:rPr lang="zh-CN" sz="2400" b="1">
                <a:solidFill>
                  <a:srgbClr val="0E2340"/>
                </a:solidFill>
                <a:latin typeface="Microsoft YaHei"/>
                <a:ea typeface="Microsoft YaHei"/>
              </a:rPr>
              <a:t>时效更新：新试题、新套路与教材改版</a:t>
            </a:r>
            <a:endParaRPr/>
          </a:p>
        </p:txBody>
      </p:sp>
      <p:sp>
        <p:nvSpPr>
          <p:cNvPr id="690"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691"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pic>
        <p:nvPicPr>
          <p:cNvPr id="692" name=""/>
          <p:cNvPicPr>
            <a:picLocks noChangeAspect="1"/>
          </p:cNvPicPr>
          <p:nvPr/>
        </p:nvPicPr>
        <p:blipFill>
          <a:blip>
            <a:extLst>
              <a:ext uri="{96DAC541-7B7A-43D3-8B79-37D633B846F1}">
                <asvg:svgBlip r:embed="rId1"/>
              </a:ext>
            </a:extLst>
          </a:blip>
          <a:stretch>
            <a:fillRect/>
          </a:stretch>
        </p:blipFill>
        <p:spPr>
          <a:xfrm rot="0" flipH="0" flipV="0">
            <a:off x="666750" y="1457325"/>
            <a:ext cx="10858500" cy="1524000"/>
          </a:xfrm>
          <a:prstGeom prst="rect">
            <a:avLst/>
          </a:prstGeom>
          <a:ln/>
        </p:spPr>
      </p:pic>
      <p:sp>
        <p:nvSpPr>
          <p:cNvPr id="693" name=""/>
          <p:cNvSpPr/>
          <p:nvPr/>
        </p:nvSpPr>
        <p:spPr>
          <a:xfrm rot="0" flipH="0" flipV="0">
            <a:off x="666750" y="3343275"/>
            <a:ext cx="3486150" cy="2190750"/>
          </a:xfrm>
          <a:prstGeom prst="roundRect">
            <a:avLst>
              <a:gd name="adj" fmla="val 3478"/>
            </a:avLst>
          </a:prstGeom>
          <a:solidFill>
            <a:srgbClr val="FFFFFF"/>
          </a:solidFill>
          <a:ln w="12700">
            <a:solidFill>
              <a:srgbClr val="E3E8EF"/>
            </a:solidFill>
            <a:prstDash val="solid"/>
          </a:ln>
        </p:spPr>
        <p:txBody>
          <a:bodyPr/>
          <a:p/>
        </p:txBody>
      </p:sp>
      <p:sp>
        <p:nvSpPr>
          <p:cNvPr id="694" name=""/>
          <p:cNvSpPr/>
          <p:nvPr/>
        </p:nvSpPr>
        <p:spPr>
          <a:xfrm rot="0" flipH="0" flipV="0">
            <a:off x="666750" y="3343275"/>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695" name="" descr="{&quot;isTemplate&quot;:true,&quot;type&quot;:&quot;text&quot;}"/>
          <p:cNvSpPr txBox="1"/>
          <p:nvPr/>
        </p:nvSpPr>
        <p:spPr>
          <a:xfrm rot="0" flipH="0" flipV="0">
            <a:off x="857250" y="3571875"/>
            <a:ext cx="3105150" cy="323850"/>
          </a:xfrm>
          <a:prstGeom prst="rect"/>
        </p:spPr>
        <p:txBody>
          <a:bodyPr wrap="none" lIns="0" tIns="0" rIns="0" bIns="0"/>
          <a:p>
            <a:pPr>
              <a:lnSpc>
                <a:spcPct val="140000"/>
              </a:lnSpc>
            </a:pPr>
            <a:r>
              <a:rPr lang="zh-CN" sz="1500" b="1">
                <a:solidFill>
                  <a:srgbClr val="0E2340"/>
                </a:solidFill>
                <a:latin typeface="Microsoft YaHei"/>
                <a:ea typeface="Microsoft YaHei"/>
              </a:rPr>
              <a:t>五阶段管道</a:t>
            </a:r>
            <a:endParaRPr/>
          </a:p>
        </p:txBody>
      </p:sp>
      <p:sp>
        <p:nvSpPr>
          <p:cNvPr id="696" name="" descr="{&quot;isTemplate&quot;:true,&quot;type&quot;:&quot;text&quot;}"/>
          <p:cNvSpPr txBox="1"/>
          <p:nvPr/>
        </p:nvSpPr>
        <p:spPr>
          <a:xfrm rot="0" flipH="0" flipV="0">
            <a:off x="857250" y="3990975"/>
            <a:ext cx="3105150" cy="590550"/>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发现</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下载</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内部解析</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审核入库</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对外展示；来源可访问不等于可以任意再发布</a:t>
            </a:r>
            <a:endParaRPr/>
          </a:p>
        </p:txBody>
      </p:sp>
      <p:sp>
        <p:nvSpPr>
          <p:cNvPr id="697" name=""/>
          <p:cNvSpPr/>
          <p:nvPr/>
        </p:nvSpPr>
        <p:spPr>
          <a:xfrm rot="0" flipH="0" flipV="0">
            <a:off x="4343400" y="3343275"/>
            <a:ext cx="3486150" cy="2190750"/>
          </a:xfrm>
          <a:prstGeom prst="roundRect">
            <a:avLst>
              <a:gd name="adj" fmla="val 3478"/>
            </a:avLst>
          </a:prstGeom>
          <a:solidFill>
            <a:srgbClr val="FFFFFF"/>
          </a:solidFill>
          <a:ln w="12700">
            <a:solidFill>
              <a:srgbClr val="E3E8EF"/>
            </a:solidFill>
            <a:prstDash val="solid"/>
          </a:ln>
        </p:spPr>
        <p:txBody>
          <a:bodyPr/>
          <a:p/>
        </p:txBody>
      </p:sp>
      <p:sp>
        <p:nvSpPr>
          <p:cNvPr id="698" name=""/>
          <p:cNvSpPr/>
          <p:nvPr/>
        </p:nvSpPr>
        <p:spPr>
          <a:xfrm rot="0" flipH="0" flipV="0">
            <a:off x="4343400" y="3343275"/>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699" name="" descr="{&quot;isTemplate&quot;:true,&quot;type&quot;:&quot;text&quot;}"/>
          <p:cNvSpPr txBox="1"/>
          <p:nvPr/>
        </p:nvSpPr>
        <p:spPr>
          <a:xfrm rot="0" flipH="0" flipV="0">
            <a:off x="4533900" y="3571875"/>
            <a:ext cx="3105150" cy="323850"/>
          </a:xfrm>
          <a:prstGeom prst="rect"/>
        </p:spPr>
        <p:txBody>
          <a:bodyPr wrap="none" lIns="0" tIns="0" rIns="0" bIns="0"/>
          <a:p>
            <a:pPr>
              <a:lnSpc>
                <a:spcPct val="140000"/>
              </a:lnSpc>
            </a:pPr>
            <a:r>
              <a:rPr lang="zh-CN" sz="1500" b="1">
                <a:solidFill>
                  <a:srgbClr val="0E2340"/>
                </a:solidFill>
                <a:latin typeface="Microsoft YaHei"/>
                <a:ea typeface="Microsoft YaHei"/>
              </a:rPr>
              <a:t>是否新建套路或步骤</a:t>
            </a:r>
            <a:endParaRPr/>
          </a:p>
        </p:txBody>
      </p:sp>
      <p:sp>
        <p:nvSpPr>
          <p:cNvPr id="700" name="" descr="{&quot;isTemplate&quot;:true,&quot;type&quot;:&quot;text&quot;}"/>
          <p:cNvSpPr txBox="1"/>
          <p:nvPr/>
        </p:nvSpPr>
        <p:spPr>
          <a:xfrm rot="0" flipH="0" flipV="0">
            <a:off x="4533900" y="3990975"/>
            <a:ext cx="3105150" cy="88582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同一路径换数字记为变式；出现新组合交教研核实；词表不能表达的操作提出候选新步骤；涉及新增课程内容先核对教材</a:t>
            </a:r>
            <a:endParaRPr/>
          </a:p>
        </p:txBody>
      </p:sp>
      <p:sp>
        <p:nvSpPr>
          <p:cNvPr id="701" name=""/>
          <p:cNvSpPr/>
          <p:nvPr/>
        </p:nvSpPr>
        <p:spPr>
          <a:xfrm rot="0" flipH="0" flipV="0">
            <a:off x="8020050" y="3343275"/>
            <a:ext cx="3486150" cy="2190750"/>
          </a:xfrm>
          <a:prstGeom prst="roundRect">
            <a:avLst>
              <a:gd name="adj" fmla="val 3478"/>
            </a:avLst>
          </a:prstGeom>
          <a:solidFill>
            <a:srgbClr val="FFFFFF"/>
          </a:solidFill>
          <a:ln w="12700">
            <a:solidFill>
              <a:srgbClr val="E3E8EF"/>
            </a:solidFill>
            <a:prstDash val="solid"/>
          </a:ln>
        </p:spPr>
        <p:txBody>
          <a:bodyPr/>
          <a:p/>
        </p:txBody>
      </p:sp>
      <p:sp>
        <p:nvSpPr>
          <p:cNvPr id="702" name=""/>
          <p:cNvSpPr/>
          <p:nvPr/>
        </p:nvSpPr>
        <p:spPr>
          <a:xfrm rot="0" flipH="0" flipV="0">
            <a:off x="8020050" y="3343275"/>
            <a:ext cx="3486150" cy="38100"/>
          </a:xfrm>
          <a:custGeom>
            <a:pathLst>
              <a:path w="366" h="4">
                <a:moveTo>
                  <a:pt x="358" y="0"/>
                </a:moveTo>
                <a:cubicBezTo>
                  <a:pt x="361" y="0"/>
                  <a:pt x="364" y="2"/>
                  <a:pt x="365" y="4"/>
                </a:cubicBezTo>
                <a:lnTo>
                  <a:pt x="1" y="4"/>
                </a:lnTo>
                <a:cubicBezTo>
                  <a:pt x="3" y="2"/>
                  <a:pt x="5" y="0"/>
                  <a:pt x="8" y="0"/>
                </a:cubicBezTo>
                <a:lnTo>
                  <a:pt x="358" y="0"/>
                </a:lnTo>
                <a:close/>
              </a:path>
            </a:pathLst>
          </a:custGeom>
          <a:gradFill>
            <a:gsLst>
              <a:gs pos="0">
                <a:srgbClr val="1E7BE0"/>
              </a:gs>
              <a:gs pos="100000">
                <a:srgbClr val="00A9B5"/>
              </a:gs>
            </a:gsLst>
            <a:lin ang="0" scaled="1"/>
          </a:gradFill>
          <a:ln/>
        </p:spPr>
        <p:txBody>
          <a:bodyPr/>
          <a:p/>
        </p:txBody>
      </p:sp>
      <p:sp>
        <p:nvSpPr>
          <p:cNvPr id="703" name="" descr="{&quot;isTemplate&quot;:true,&quot;type&quot;:&quot;text&quot;}"/>
          <p:cNvSpPr txBox="1"/>
          <p:nvPr/>
        </p:nvSpPr>
        <p:spPr>
          <a:xfrm rot="0" flipH="0" flipV="0">
            <a:off x="8210550" y="3571875"/>
            <a:ext cx="3105150" cy="323850"/>
          </a:xfrm>
          <a:prstGeom prst="rect"/>
        </p:spPr>
        <p:txBody>
          <a:bodyPr wrap="none" lIns="0" tIns="0" rIns="0" bIns="0"/>
          <a:p>
            <a:pPr>
              <a:lnSpc>
                <a:spcPct val="140000"/>
              </a:lnSpc>
            </a:pPr>
            <a:r>
              <a:rPr lang="zh-CN" sz="1500" b="1">
                <a:solidFill>
                  <a:srgbClr val="0E2340"/>
                </a:solidFill>
                <a:latin typeface="Microsoft YaHei"/>
                <a:ea typeface="Microsoft YaHei"/>
              </a:rPr>
              <a:t>教材改版五类变更</a:t>
            </a:r>
            <a:endParaRPr/>
          </a:p>
        </p:txBody>
      </p:sp>
      <p:sp>
        <p:nvSpPr>
          <p:cNvPr id="704" name="" descr="{&quot;isTemplate&quot;:true,&quot;type&quot;:&quot;text&quot;}"/>
          <p:cNvSpPr txBox="1"/>
          <p:nvPr/>
        </p:nvSpPr>
        <p:spPr>
          <a:xfrm rot="0" flipH="0" flipV="0">
            <a:off x="8210550" y="3990975"/>
            <a:ext cx="3105150" cy="885825"/>
          </a:xfrm>
          <a:prstGeom prst="rect"/>
        </p:spPr>
        <p:txBody>
          <a:bodyPr wrap="square" lIns="0" tIns="0" rIns="0" bIns="0">
            <a:normAutofit/>
          </a:bodyPr>
          <a:p>
            <a:pPr>
              <a:lnSpc>
                <a:spcPct val="160000"/>
              </a:lnSpc>
            </a:pPr>
            <a:r>
              <a:rPr lang="zh-CN" sz="1200">
                <a:solidFill>
                  <a:srgbClr val="333A45"/>
                </a:solidFill>
                <a:latin typeface="Microsoft YaHei"/>
                <a:ea typeface="Microsoft YaHei"/>
              </a:rPr>
              <a:t>新增</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删除</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迁移</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拆分</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合并；旧版与新版可并存，历史掌握记录重新映射时保留依据与不确定性</a:t>
            </a:r>
            <a:endParaRPr/>
          </a:p>
        </p:txBody>
      </p:sp>
      <p:sp>
        <p:nvSpPr>
          <p:cNvPr id="705" name=""/>
          <p:cNvSpPr/>
          <p:nvPr/>
        </p:nvSpPr>
        <p:spPr>
          <a:xfrm rot="0" flipH="0" flipV="0">
            <a:off x="704850" y="5667375"/>
            <a:ext cx="10858500" cy="542925"/>
          </a:xfrm>
          <a:prstGeom prst="roundRect">
            <a:avLst>
              <a:gd name="adj" fmla="val 10526"/>
            </a:avLst>
          </a:prstGeom>
          <a:solidFill>
            <a:srgbClr val="F5F7FA"/>
          </a:solidFill>
          <a:ln/>
        </p:spPr>
        <p:txBody>
          <a:bodyPr/>
          <a:p/>
        </p:txBody>
      </p:sp>
      <p:sp>
        <p:nvSpPr>
          <p:cNvPr id="706" name=""/>
          <p:cNvSpPr/>
          <p:nvPr/>
        </p:nvSpPr>
        <p:spPr>
          <a:xfrm rot="0" flipH="0" flipV="0">
            <a:off x="704850" y="5667375"/>
            <a:ext cx="10858500" cy="542925"/>
          </a:xfrm>
          <a:custGeom>
            <a:pathLst>
              <a:path w="1140" h="57">
                <a:moveTo>
                  <a:pt x="6" y="0"/>
                </a:moveTo>
                <a:cubicBezTo>
                  <a:pt x="5" y="0"/>
                  <a:pt x="4" y="1"/>
                  <a:pt x="4" y="2"/>
                </a:cubicBezTo>
                <a:lnTo>
                  <a:pt x="4" y="55"/>
                </a:lnTo>
                <a:cubicBezTo>
                  <a:pt x="4" y="56"/>
                  <a:pt x="5" y="57"/>
                  <a:pt x="6" y="57"/>
                </a:cubicBezTo>
                <a:cubicBezTo>
                  <a:pt x="3" y="57"/>
                  <a:pt x="0" y="54"/>
                  <a:pt x="0" y="51"/>
                </a:cubicBezTo>
                <a:lnTo>
                  <a:pt x="0" y="6"/>
                </a:lnTo>
                <a:cubicBezTo>
                  <a:pt x="0" y="3"/>
                  <a:pt x="3" y="0"/>
                  <a:pt x="6" y="0"/>
                </a:cubicBezTo>
                <a:close/>
              </a:path>
            </a:pathLst>
          </a:custGeom>
          <a:solidFill>
            <a:srgbClr val="E8A33D"/>
          </a:solidFill>
          <a:ln/>
        </p:spPr>
        <p:txBody>
          <a:bodyPr/>
          <a:p/>
        </p:txBody>
      </p:sp>
      <p:sp>
        <p:nvSpPr>
          <p:cNvPr id="707" name="" descr="{&quot;isTemplate&quot;:true,&quot;type&quot;:&quot;text&quot;}"/>
          <p:cNvSpPr txBox="1"/>
          <p:nvPr/>
        </p:nvSpPr>
        <p:spPr>
          <a:xfrm rot="0" flipH="0" flipV="0">
            <a:off x="895350" y="5800725"/>
            <a:ext cx="10363200" cy="276225"/>
          </a:xfrm>
          <a:prstGeom prst="rect"/>
        </p:spPr>
        <p:txBody>
          <a:bodyPr wrap="none" lIns="0" tIns="0" rIns="0" bIns="0"/>
          <a:p>
            <a:pPr>
              <a:lnSpc>
                <a:spcPct val="150000"/>
              </a:lnSpc>
            </a:pPr>
            <a:r>
              <a:rPr lang="zh-CN" sz="1200" b="1">
                <a:solidFill>
                  <a:srgbClr val="0E2340"/>
                </a:solidFill>
                <a:latin typeface="Microsoft YaHei"/>
                <a:ea typeface="Microsoft YaHei"/>
              </a:rPr>
              <a:t>不能仅因题面新、文字不同或模型匹配置信度低就自动创建新套路；课时总量、知识点集合和顺序都应随所选版本维护，不能将当前暂定数量当成永久常数</a:t>
            </a:r>
            <a:endParaRPr/>
          </a:p>
        </p:txBody>
      </p:sp>
      <p:sp>
        <p:nvSpPr>
          <p:cNvPr id="708"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709"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依据：自进化与跨学科扩展设计</a:t>
            </a:r>
            <a:r>
              <a:rPr lang="en-US" sz="975">
                <a:solidFill>
                  <a:srgbClr val="7A8699"/>
                </a:solidFill>
                <a:latin typeface="Microsoft YaHei"/>
                <a:ea typeface="Microsoft YaHei"/>
              </a:rPr>
              <a:t>.md §4</a:t>
            </a:r>
            <a:endParaRPr/>
          </a:p>
        </p:txBody>
      </p:sp>
      <p:sp>
        <p:nvSpPr>
          <p:cNvPr id="710" name="" descr="{&quot;isTemplate&quot;:true,&quot;type&quot;:&quot;text&quot;}"/>
          <p:cNvSpPr txBox="1"/>
          <p:nvPr/>
        </p:nvSpPr>
        <p:spPr>
          <a:xfrm rot="0" flipH="0" flipV="0">
            <a:off x="10896600" y="6372225"/>
            <a:ext cx="628650"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119 / 124 </a:t>
            </a:r>
            <a:endParaRPr/>
          </a:p>
        </p:txBody>
      </p:sp>
    </p:spTree>
  </p:cSld>
</p:sld>
</file>

<file path=ppt/slides/slide120.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724"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2 / 自进化与扩展&lt;/Text&gt;&lt;Text style={{ fontSize: 32, color: '#0E2340', fontWeight: 700, lineHeight: 1.3 }}&gt;科目扩展：什么可复用，什么必须重建&lt;/Text&gt;&lt;/Box&gt;&lt;Box style={{ flexDirection: 'row', alignItems: 'center', padding: '7px 16px', borderRadius: 20, background: '#1E7BE0' }}&gt;&lt;Text style={{ fontSize: 14, color: '#FFFFFF', fontWeight: 600 }}&gt;设计中&lt;/Text&gt;&lt;/Box&gt;&lt;/Box&gt;&lt;Box style={{ height: 532, paddingTop: 8, flexDirection: 'column' }}&gt;&lt;Box style={{ flexDirection: 'column', flex: 1, paddingTop: 4 }}&gt;&lt;Box style={{ marginBottom: 14 }}&gt;&lt;Box style={{ flexDirection: 'row', alignItems: 'center', background: '#F5F7FA', borderLeft: '4px solid #0E2340', borderRadius: 6, padding: '14px 20px' }}&gt;&lt;Text style={{ fontSize: 20, color: '#0E2340', fontWeight: 600, lineHeight: 1.5 }}&gt;高中数学适合作为结构化起点，并不能据此推断其他科目更容易，或只替换知识点名称就能直接迁移；建议先选一个边界清晰的小单元试点&lt;/Text&gt;&lt;/Box&gt;&lt;/Box&gt;&lt;Box style={{ flex: 1 }}&gt;&lt;Table style={{ width: '100%', height: '100%' }} defaultTextStyle={{ fontSize: 16, textAlign: 'left', color: '#333A45' }} defaultCellStyle={{ padding: 10, border: { left: { width: 1, color: '#E3E8EF' }, right: { width: 1, color: '#E3E8EF' }, top: { width: 1, color: '#E3E8EF' }, bottom: { width: 1, color: '#E3E8EF' } } }} cells={[[{ text: '学科', textStyle: { color: '#FFFFFF', fontWeight: 600, fontSize: 16 }, cellStyle: { background: { color: '#0E2340' } } }, { text: '可复用', textStyle: { color: '#FFFFFF', fontWeight: 600, fontSize: 16 }, cellStyle: { background: { color: '#0E2340' } } }, { text: '需重建', textStyle: { color: '#FFFFFF', fontWeight: 600, fontSize: 16 }, cellStyle: { background: { color: '#0E2340' } } }],&#10;        [{ text: '物理', textStyle: { fontWeight: 600, fontSize: 16 } }, { text: '分步作答、模型或题类训练、实验演示与时间线', textStyle: { fontSize: 16 } }, { text: '情境建模、受力与物理假设、单位和实验依据', textStyle: { fontSize: 16 } }],&#10;        [{ text: '化学', textStyle: { fontWeight: 600, fontSize: 16 }, cellStyle: { background: { color: '#F5F7FA' } } }, { text: '方程与过程分析、知识关联、题库及复测', textStyle: { fontSize: 16 }, cellStyle: { background: { color: '#F5F7FA' } } }, { text: '反应条件、物质性质、实验操作及可接受的解释', textStyle: { fontSize: 16 }, cellStyle: { background: { color: '#F5F7FA' } } }],&#10;        [{ text: '语言类', textStyle: { fontWeight: 600, fontSize: 16 } }, { text: '长期档案、反馈、阅读与写作任务、个性化复习', textStyle: { fontSize: 16 } }, { text: '开放答案、语境、表达质量、篇章与多元评分量规', textStyle: { fontSize: 16 } }],&#10;        [{ text: '历史等人文学科', textStyle: { fontWeight: 600, fontSize: 16 }, cellStyle: { background: { color: '#F5F7FA' } } }, { text: '来源记录、证据引用、教师审核和阶段评价', textStyle: { fontSize: 16 }, cellStyle: { background: { color: '#F5F7FA' } } }, { text: '史料解释、论证质量、不同合理观点及时代背景', textStyle: { fontSize: 16 }, cellStyle: { background: { color: '#F5F7FA' } } }]]} /&gt;&lt;/Box&gt;&lt;/Box&gt;&lt;/Box&gt;&lt;Box style={{ height: 40, flexDirection: 'row', justifyContent: 'space-between', alignItems: 'center', borderTop: '1px solid #E3E8EF', marginTop: 8 }}&gt;&lt;Text style={{ fontSize: 13, color: '#7A8699', fontWeight: 400, lineHeight: 1.4 }}&gt;依据：自进化与跨学科扩展设计.md §5&lt;/Text&gt;&lt;Text style={{ fontSize: 14, color: '#7A8699', fontWeight: 400, lineHeight: 1.4 }}&gt; 120 / 124 &lt;/Text&gt;&lt;/Box&gt;&lt;/Slide&gt;"/>
        <p:cNvGrpSpPr/>
        <p:nvPr/>
      </p:nvGrpSpPr>
      <p:grpSpPr>
        <a:xfrm>
          <a:off x="0" y="0"/>
          <a:ext cx="0" cy="0"/>
          <a:chOff x="0" y="0"/>
          <a:chExt cx="0" cy="0"/>
        </a:xfrm>
      </p:grpSpPr>
      <p:sp>
        <p:nvSpPr>
          <p:cNvPr id="725" name=""/>
          <p:cNvSpPr/>
          <p:nvPr/>
        </p:nvSpPr>
        <p:spPr>
          <a:xfrm rot="0" flipH="0" flipV="0">
            <a:off x="0" y="0"/>
            <a:ext cx="12192000" cy="6858000"/>
          </a:xfrm>
          <a:prstGeom prst="rect">
            <a:avLst/>
          </a:prstGeom>
          <a:solidFill>
            <a:srgbClr val="FFFFFF"/>
          </a:solidFill>
          <a:ln/>
        </p:spPr>
        <p:txBody>
          <a:bodyPr/>
          <a:p/>
        </p:txBody>
      </p:sp>
      <p:sp>
        <p:nvSpPr>
          <p:cNvPr id="726" name="" descr="{&quot;isTemplate&quot;:true,&quot;type&quot;:&quot;text&quot;}"/>
          <p:cNvSpPr txBox="1"/>
          <p:nvPr/>
        </p:nvSpPr>
        <p:spPr>
          <a:xfrm rot="0" flipH="0" flipV="0">
            <a:off x="666750" y="381000"/>
            <a:ext cx="51816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12 / </a:t>
            </a:r>
            <a:r>
              <a:rPr lang="zh-CN" sz="1050" spc="75">
                <a:solidFill>
                  <a:srgbClr val="7A8699"/>
                </a:solidFill>
                <a:latin typeface="Microsoft YaHei"/>
                <a:ea typeface="Microsoft YaHei"/>
              </a:rPr>
              <a:t>自进化与扩展</a:t>
            </a:r>
            <a:endParaRPr/>
          </a:p>
        </p:txBody>
      </p:sp>
      <p:sp>
        <p:nvSpPr>
          <p:cNvPr id="727" name="" descr="{&quot;isTemplate&quot;:true,&quot;type&quot;:&quot;text&quot;}"/>
          <p:cNvSpPr txBox="1"/>
          <p:nvPr/>
        </p:nvSpPr>
        <p:spPr>
          <a:xfrm rot="0" flipH="0" flipV="0">
            <a:off x="666750" y="666750"/>
            <a:ext cx="5181600" cy="476250"/>
          </a:xfrm>
          <a:prstGeom prst="rect"/>
        </p:spPr>
        <p:txBody>
          <a:bodyPr wrap="none" lIns="0" tIns="0" rIns="0" bIns="0"/>
          <a:p>
            <a:pPr>
              <a:lnSpc>
                <a:spcPct val="130000"/>
              </a:lnSpc>
            </a:pPr>
            <a:r>
              <a:rPr lang="zh-CN" sz="2400" b="1">
                <a:solidFill>
                  <a:srgbClr val="0E2340"/>
                </a:solidFill>
                <a:latin typeface="Microsoft YaHei"/>
                <a:ea typeface="Microsoft YaHei"/>
              </a:rPr>
              <a:t>科目扩展：什么可复用，什么必须重建</a:t>
            </a:r>
            <a:endParaRPr/>
          </a:p>
        </p:txBody>
      </p:sp>
      <p:sp>
        <p:nvSpPr>
          <p:cNvPr id="728" name=""/>
          <p:cNvSpPr/>
          <p:nvPr/>
        </p:nvSpPr>
        <p:spPr>
          <a:xfrm rot="0" flipH="0" flipV="0">
            <a:off x="10820400" y="847725"/>
            <a:ext cx="704850" cy="295275"/>
          </a:xfrm>
          <a:prstGeom prst="roundRect">
            <a:avLst>
              <a:gd name="adj" fmla="val 64516"/>
            </a:avLst>
          </a:prstGeom>
          <a:solidFill>
            <a:srgbClr val="1E7BE0"/>
          </a:solidFill>
          <a:ln/>
        </p:spPr>
        <p:txBody>
          <a:bodyPr/>
          <a:p/>
        </p:txBody>
      </p:sp>
      <p:sp>
        <p:nvSpPr>
          <p:cNvPr id="729" name="" descr="{&quot;isTemplate&quot;:true,&quot;type&quot;:&quot;text&quot;}"/>
          <p:cNvSpPr txBox="1"/>
          <p:nvPr/>
        </p:nvSpPr>
        <p:spPr>
          <a:xfrm rot="0" flipH="0" flipV="0">
            <a:off x="10972800" y="914400"/>
            <a:ext cx="400050" cy="161925"/>
          </a:xfrm>
          <a:prstGeom prst="rect"/>
        </p:spPr>
        <p:txBody>
          <a:bodyPr wrap="none" lIns="0" tIns="0" rIns="0" bIns="0"/>
          <a:p>
            <a:pPr>
              <a:lnSpc>
                <a:spcPct val="100000"/>
              </a:lnSpc>
            </a:pPr>
            <a:r>
              <a:rPr lang="zh-CN" sz="1050" b="1">
                <a:solidFill>
                  <a:srgbClr val="FFFFFF"/>
                </a:solidFill>
                <a:latin typeface="Microsoft YaHei"/>
                <a:ea typeface="Microsoft YaHei"/>
              </a:rPr>
              <a:t>设计中</a:t>
            </a:r>
            <a:endParaRPr/>
          </a:p>
        </p:txBody>
      </p:sp>
      <p:sp>
        <p:nvSpPr>
          <p:cNvPr id="730" name=""/>
          <p:cNvSpPr/>
          <p:nvPr/>
        </p:nvSpPr>
        <p:spPr>
          <a:xfrm rot="0" flipH="0" flipV="0">
            <a:off x="704850" y="1257300"/>
            <a:ext cx="10858500" cy="952500"/>
          </a:xfrm>
          <a:prstGeom prst="roundRect">
            <a:avLst>
              <a:gd name="adj" fmla="val 6000"/>
            </a:avLst>
          </a:prstGeom>
          <a:solidFill>
            <a:srgbClr val="F5F7FA"/>
          </a:solidFill>
          <a:ln/>
        </p:spPr>
        <p:txBody>
          <a:bodyPr/>
          <a:p/>
        </p:txBody>
      </p:sp>
      <p:sp>
        <p:nvSpPr>
          <p:cNvPr id="731" name=""/>
          <p:cNvSpPr/>
          <p:nvPr/>
        </p:nvSpPr>
        <p:spPr>
          <a:xfrm rot="0" flipH="0" flipV="0">
            <a:off x="704850" y="1257300"/>
            <a:ext cx="10858500" cy="952500"/>
          </a:xfrm>
          <a:custGeom>
            <a:pathLst>
              <a:path w="1140" h="100">
                <a:moveTo>
                  <a:pt x="6" y="0"/>
                </a:moveTo>
                <a:cubicBezTo>
                  <a:pt x="5" y="0"/>
                  <a:pt x="4" y="1"/>
                  <a:pt x="4" y="2"/>
                </a:cubicBezTo>
                <a:lnTo>
                  <a:pt x="4" y="98"/>
                </a:lnTo>
                <a:cubicBezTo>
                  <a:pt x="4" y="99"/>
                  <a:pt x="5" y="100"/>
                  <a:pt x="6" y="100"/>
                </a:cubicBezTo>
                <a:cubicBezTo>
                  <a:pt x="3" y="100"/>
                  <a:pt x="0" y="97"/>
                  <a:pt x="0" y="94"/>
                </a:cubicBezTo>
                <a:lnTo>
                  <a:pt x="0" y="6"/>
                </a:lnTo>
                <a:cubicBezTo>
                  <a:pt x="0" y="3"/>
                  <a:pt x="3" y="0"/>
                  <a:pt x="6" y="0"/>
                </a:cubicBezTo>
                <a:close/>
              </a:path>
            </a:pathLst>
          </a:custGeom>
          <a:solidFill>
            <a:srgbClr val="0E2340"/>
          </a:solidFill>
          <a:ln/>
        </p:spPr>
        <p:txBody>
          <a:bodyPr/>
          <a:p/>
        </p:txBody>
      </p:sp>
      <p:sp>
        <p:nvSpPr>
          <p:cNvPr id="732" name="" descr="{&quot;isTemplate&quot;:true,&quot;type&quot;:&quot;text&quot;}"/>
          <p:cNvSpPr txBox="1"/>
          <p:nvPr/>
        </p:nvSpPr>
        <p:spPr>
          <a:xfrm rot="0" flipH="0" flipV="0">
            <a:off x="895350" y="1390650"/>
            <a:ext cx="10439400" cy="685800"/>
          </a:xfrm>
          <a:prstGeom prst="rect"/>
        </p:spPr>
        <p:txBody>
          <a:bodyPr wrap="square" lIns="0" tIns="0" rIns="0" bIns="0">
            <a:normAutofit/>
          </a:bodyPr>
          <a:p>
            <a:pPr>
              <a:lnSpc>
                <a:spcPct val="150000"/>
              </a:lnSpc>
            </a:pPr>
            <a:r>
              <a:rPr lang="zh-CN" sz="1500" b="1">
                <a:solidFill>
                  <a:srgbClr val="0E2340"/>
                </a:solidFill>
                <a:latin typeface="Microsoft YaHei"/>
                <a:ea typeface="Microsoft YaHei"/>
              </a:rPr>
              <a:t>高中数学适合作为结构化起点，并不能据此推断其他科目更容易，或只替换知识点名称就能直接迁移；建议先选一个边界清晰的小单元试点</a:t>
            </a:r>
            <a:endParaRPr/>
          </a:p>
        </p:txBody>
      </p:sp>
      <p:graphicFrame>
        <p:nvGraphicFramePr>
          <p:cNvPr id="733" name=""/>
          <p:cNvGraphicFramePr/>
          <p:nvPr/>
        </p:nvGraphicFramePr>
        <p:xfrm rot="0" flipH="0" flipV="0">
          <a:off x="666750" y="2343150"/>
          <a:ext cx="10858500" cy="3867150"/>
        </p:xfrm>
        <a:graphic>
          <a:graphicData uri="http://schemas.openxmlformats.org/drawingml/2006/table">
            <a:tbl>
              <a:tblGrid>
                <a:gridCol w="1593139">
                  <a:extLst>
                    <a:ext uri="{9D8B030D-6E8A-4147-A177-3AD203B41FA5}">
                      <a16:colId val="1"/>
                    </a:ext>
                  </a:extLst>
                </a:gridCol>
                <a:gridCol w="4527869">
                  <a:extLst>
                    <a:ext uri="{9D8B030D-6E8A-4147-A177-3AD203B41FA5}">
                      <a16:colId val="2"/>
                    </a:ext>
                  </a:extLst>
                </a:gridCol>
                <a:gridCol w="4737492">
                  <a:extLst>
                    <a:ext uri="{9D8B030D-6E8A-4147-A177-3AD203B41FA5}">
                      <a16:colId val="3"/>
                    </a:ext>
                  </a:extLst>
                </a:gridCol>
              </a:tblGrid>
              <a:tr h="773430">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学科</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可复用</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200">
                          <a:solidFill>
                            <a:srgbClr val="FFFFFF"/>
                          </a:solidFill>
                          <a:latin typeface="Microsoft YaHei"/>
                          <a:ea typeface="Microsoft YaHei"/>
                        </a:rPr>
                        <a:t>需重建</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773430">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物理</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分步作答、模型或题类训练、实验演示与时间线</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情境建模、受力与物理假设、单位和实验依据</a:t>
                      </a:r>
                      <a:endParaRPr/>
                    </a:p>
                  </a:txBody>
                  <a:tcPr marL="45720" marR="45720" marT="45720" marB="45720" anchor="ctr">
                    <a:lnL>
                      <a:noFill/>
                    </a:lnL>
                    <a:lnR>
                      <a:noFill/>
                    </a:lnR>
                    <a:lnT>
                      <a:noFill/>
                    </a:lnT>
                    <a:lnB>
                      <a:noFill/>
                    </a:lnB>
                  </a:tcPr>
                </a:tc>
                <a:extLst>
                  <a:ext uri="{0D108BD9-81ED-4DB2-BD59-A6C34878D82A}">
                    <a16:rowId val="2"/>
                  </a:ext>
                </a:extLst>
              </a:tr>
              <a:tr h="773430">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化学</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方程与过程分析、知识关联、题库及复测</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反应条件、物质性质、实验操作及可接受的解释</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773430">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语言类</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长期档案、反馈、阅读与写作任务、个性化复习</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开放答案、语境、表达质量、篇章与多元评分量规</a:t>
                      </a:r>
                      <a:endParaRPr/>
                    </a:p>
                  </a:txBody>
                  <a:tcPr marL="45720" marR="45720" marT="45720" marB="45720" anchor="ctr">
                    <a:lnL>
                      <a:noFill/>
                    </a:lnL>
                    <a:lnR>
                      <a:noFill/>
                    </a:lnR>
                    <a:lnT>
                      <a:noFill/>
                    </a:lnT>
                    <a:lnB>
                      <a:noFill/>
                    </a:lnB>
                  </a:tcPr>
                </a:tc>
                <a:extLst>
                  <a:ext uri="{0D108BD9-81ED-4DB2-BD59-A6C34878D82A}">
                    <a16:rowId val="4"/>
                  </a:ext>
                </a:extLst>
              </a:tr>
              <a:tr h="773430">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历史等人文学科</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来源记录、证据引用、教师审核和阶段评价</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200">
                          <a:solidFill>
                            <a:srgbClr val="333A45"/>
                          </a:solidFill>
                          <a:latin typeface="Microsoft YaHei"/>
                          <a:ea typeface="Microsoft YaHei"/>
                        </a:rPr>
                        <a:t>史料解释、论证质量、不同合理观点及时代背景</a:t>
                      </a:r>
                      <a:endParaRPr/>
                    </a:p>
                  </a:txBody>
                  <a:tcPr marL="45720" marR="45720" marT="45720" marB="45720" anchor="ctr">
                    <a:lnL>
                      <a:noFill/>
                    </a:lnL>
                    <a:lnR>
                      <a:noFill/>
                    </a:lnR>
                    <a:lnT>
                      <a:noFill/>
                    </a:lnT>
                    <a:lnB>
                      <a:noFill/>
                    </a:lnB>
                    <a:solidFill>
                      <a:srgbClr val="F5F7FA"/>
                    </a:solidFill>
                  </a:tcPr>
                </a:tc>
                <a:extLst>
                  <a:ext uri="{0D108BD9-81ED-4DB2-BD59-A6C34878D82A}">
                    <a16:rowId val="5"/>
                  </a:ext>
                </a:extLst>
              </a:tr>
            </a:tbl>
          </a:graphicData>
        </a:graphic>
      </p:graphicFrame>
      <p:sp>
        <p:nvSpPr>
          <p:cNvPr id="734"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735" name="" descr="{&quot;isTemplate&quot;:true,&quot;type&quot;:&quot;text&quot;}"/>
          <p:cNvSpPr txBox="1"/>
          <p:nvPr/>
        </p:nvSpPr>
        <p:spPr>
          <a:xfrm rot="0" flipH="0" flipV="0">
            <a:off x="666750" y="6381750"/>
            <a:ext cx="2114550" cy="209550"/>
          </a:xfrm>
          <a:prstGeom prst="rect"/>
        </p:spPr>
        <p:txBody>
          <a:bodyPr wrap="none" lIns="0" tIns="0" rIns="0" bIns="0"/>
          <a:p>
            <a:pPr>
              <a:lnSpc>
                <a:spcPct val="140000"/>
              </a:lnSpc>
            </a:pPr>
            <a:r>
              <a:rPr lang="zh-CN" sz="975">
                <a:solidFill>
                  <a:srgbClr val="7A8699"/>
                </a:solidFill>
                <a:latin typeface="Microsoft YaHei"/>
                <a:ea typeface="Microsoft YaHei"/>
              </a:rPr>
              <a:t>依据：自进化与跨学科扩展设计</a:t>
            </a:r>
            <a:r>
              <a:rPr lang="en-US" sz="975">
                <a:solidFill>
                  <a:srgbClr val="7A8699"/>
                </a:solidFill>
                <a:latin typeface="Microsoft YaHei"/>
                <a:ea typeface="Microsoft YaHei"/>
              </a:rPr>
              <a:t>.md §5</a:t>
            </a:r>
            <a:endParaRPr/>
          </a:p>
        </p:txBody>
      </p:sp>
      <p:sp>
        <p:nvSpPr>
          <p:cNvPr id="736" name="" descr="{&quot;isTemplate&quot;:true,&quot;type&quot;:&quot;text&quot;}"/>
          <p:cNvSpPr txBox="1"/>
          <p:nvPr/>
        </p:nvSpPr>
        <p:spPr>
          <a:xfrm rot="0" flipH="0" flipV="0">
            <a:off x="10887075" y="6372225"/>
            <a:ext cx="6381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120 / 124 </a:t>
            </a:r>
            <a:endParaRPr/>
          </a:p>
        </p:txBody>
      </p:sp>
    </p:spTree>
  </p:cSld>
</p:sld>
</file>

<file path=ppt/slides/slide121.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737"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3 / 收尾&lt;/Text&gt;&lt;Text style={{ fontSize: 32, color: '#0E2340', fontWeight: 700, lineHeight: 1.3 }}&gt;实施路线图：近期 / 中期 / 远期&lt;/Text&gt;&lt;/Box&gt;&lt;/Box&gt;&lt;Box style={{ height: 532, paddingTop: 8, flexDirection: 'column' }}&gt;&lt;Box style={{ flexDirection: 'column', flex: 1, justifyContent: 'center', gap: 16 }}&gt;&lt;Box style={{ flexDirection: 'column', gap: 16, flex: 1, justifyContent: 'center' }}&gt;&lt;svg width={1140} height={230} viewBox='0 0 1140 230'&gt;&lt;line x1='20' y1='110' x2='1120' y2='110' stroke='#E3E8EF' stroke-width='3'/&gt;&lt;circle cx='162' cy='110' r='12' fill='#1E7BE0'/&gt;&lt;text x='162.5' y='112' font-size='13' fill='#FFFFFF' text-anchor='middle' font-weight='700'&gt;1&lt;/text&gt;&lt;line x1='162' y1='88' x2='162' y2='90' stroke='#E3E8EF' stroke-width='1'/&gt;&lt;text x='162.5' y='62' font-size='17' fill='#0E2340' text-anchor='middle' font-weight='600'&gt;近期&lt;/text&gt;&lt;text x='162.5' y='86' font-size='14' fill='#7A8699' text-anchor='middle' font-weight='400'&gt;单题引擎打磨 + MCP 只读原型&lt;/text&gt;&lt;circle cx='447' cy='110' r='12' fill='#1E7BE0'/&gt;&lt;text x='447.5' y='112' font-size='13' fill='#FFFFFF' text-anchor='middle' font-weight='700'&gt;2&lt;/text&gt;&lt;line x1='447' y1='132' x2='447' y2='134' stroke='#E3E8EF' stroke-width='1'/&gt;&lt;text x='447.5' y='148' font-size='17' fill='#0E2340' text-anchor='middle' font-weight='600'&gt;中期&lt;/text&gt;&lt;text x='447.5' y='172' font-size='14' fill='#7A8699' text-anchor='middle' font-weight='400'&gt;教师端七项 + 协同 Agent&lt;/text&gt;&lt;circle cx='732' cy='110' r='12' fill='#1E7BE0'/&gt;&lt;text x='732.5' y='112' font-size='13' fill='#FFFFFF' text-anchor='middle' font-weight='700'&gt;3&lt;/text&gt;&lt;line x1='732' y1='88' x2='732' y2='90' stroke='#E3E8EF' stroke-width='1'/&gt;&lt;text x='732.5' y='62' font-size='17' fill='#0E2340' text-anchor='middle' font-weight='600'&gt;远期&lt;/text&gt;&lt;text x='732.5' y='86' font-size='14' fill='#7A8699' text-anchor='middle' font-weight='400'&gt;学校端 + 跨学科试点&lt;/text&gt;&lt;circle cx='1017' cy='110' r='12' fill='#1E7BE0'/&gt;&lt;text x='1017.5' y='112' font-size='13' fill='#FFFFFF' text-anchor='middle' font-weight='700'&gt;4&lt;/text&gt;&lt;line x1='1017' y1='132' x2='1017' y2='134' stroke='#E3E8EF' stroke-width='1'/&gt;&lt;text x='1017.5' y='148' font-size='17' fill='#0E2340' text-anchor='middle' font-weight='600'&gt;持续&lt;/text&gt;&lt;text x='1017.5' y='172' font-size='14' fill='#7A8699' text-anchor='middle' font-weight='400'&gt;自进化闭环与时效更新&lt;/text&gt;&lt;/svg&gt;&lt;/Box&gt;&lt;Box style={{ flexDirection: 'column', gap: 10 }}&gt;&lt;Box style={{ flexDirection: 'row', gap: 12, alignItems: 'flex-start' }}&gt;&lt;Box style={{ width: 8, height: 8, borderRadius: 4, background: '#1E7BE0', marginTop: 9 }} /&gt;&lt;Box style={{ flex: 1 }}&gt;&lt;Text style={{ fontSize: 17, color: '#0E2340', fontWeight: 600, lineHeight: 1.5 }}&gt;近期&lt;/Text&gt;&lt;Text style={{ fontSize: 16, color: '#333A45', fontWeight: 400, lineHeight: 1.6 }}&gt;补齐步骤默认难度、出题最低匹配门槛；建立只读查询与受控任务提交的 MCP 原型，在 DSH 与 WorkBuddy 分别验证同一组场景。&lt;/Text&gt;&lt;/Box&gt;&lt;/Box&gt;&lt;Box style={{ flexDirection: 'row', gap: 12, alignItems: 'flex-start' }}&gt;&lt;Box style={{ width: 8, height: 8, borderRadius: 4, background: '#1E7BE0', marginTop: 9 }} /&gt;&lt;Box style={{ flex: 1 }}&gt;&lt;Text style={{ fontSize: 17, color: '#0E2340', fontWeight: 600, lineHeight: 1.5 }}&gt;中期&lt;/Text&gt;&lt;Text style={{ fontSize: 16, color: '#333A45', fontWeight: 400, lineHeight: 1.6 }}&gt;教师端备课、批改、出卷改卷落地；协同 Agent 先做学生助教四步，再扩展到教师备课与补练草稿。&lt;/Text&gt;&lt;/Box&gt;&lt;/Box&gt;&lt;Box style={{ flexDirection: 'row', gap: 12, alignItems: 'flex-start' }}&gt;&lt;Box style={{ width: 8, height: 8, borderRadius: 4, background: '#1E7BE0', marginTop: 9 }} /&gt;&lt;Box style={{ flex: 1 }}&gt;&lt;Text style={{ fontSize: 17, color: '#0E2340', fontWeight: 600, lineHeight: 1.5 }}&gt;远期&lt;/Text&gt;&lt;Text style={{ fontSize: 16, color: '#333A45', fontWeight: 400, lineHeight: 1.6 }}&gt;学校端质量分析与体系版本治理；选一个边界清晰的小单元做跨学科试点。&lt;/Text&gt;&lt;/Box&gt;&lt;/Box&gt;&lt;Box style={{ flexDirection: 'row', gap: 12, alignItems: 'flex-start' }}&gt;&lt;Box style={{ width: 8, height: 8, borderRadius: 4, background: '#1E7BE0', marginTop: 9 }} /&gt;&lt;Box style={{ flex: 1 }}&gt;&lt;Text style={{ fontSize: 17, color: '#0E2340', fontWeight: 600, lineHeight: 1.5 }}&gt;持续&lt;/Text&gt;&lt;Text style={{ fontSize: 16, color: '#333A45', fontWeight: 400, lineHeight: 1.6 }}&gt;核实案例与知识库 → 提示词、规则和数据修正 → 有明确目标的本地微调 → 经验证后扩大训练或学科范围。&lt;/Text&gt;&lt;/Box&gt;&lt;/Box&gt;&lt;/Box&gt;&lt;/Box&gt;&lt;/Box&gt;&lt;Box style={{ height: 40, flexDirection: 'row', justifyContent: 'space-between', alignItems: 'center', borderTop: '1px solid #E3E8EF', marginTop: 8 }}&gt;&lt;Text style={{ fontSize: 13, color: '#7A8699', fontWeight: 400, lineHeight: 1.4 }}&gt;依据：全部 12 份设计文档的推进优先级&lt;/Text&gt;&lt;Text style={{ fontSize: 14, color: '#7A8699', fontWeight: 400, lineHeight: 1.4 }}&gt; 121 / 124 &lt;/Text&gt;&lt;/Box&gt;&lt;/Slide&gt;"/>
        <p:cNvGrpSpPr/>
        <p:nvPr/>
      </p:nvGrpSpPr>
      <p:grpSpPr>
        <a:xfrm>
          <a:off x="0" y="0"/>
          <a:ext cx="0" cy="0"/>
          <a:chOff x="0" y="0"/>
          <a:chExt cx="0" cy="0"/>
        </a:xfrm>
      </p:grpSpPr>
      <p:sp>
        <p:nvSpPr>
          <p:cNvPr id="738" name=""/>
          <p:cNvSpPr/>
          <p:nvPr/>
        </p:nvSpPr>
        <p:spPr>
          <a:xfrm rot="0" flipH="0" flipV="0">
            <a:off x="0" y="0"/>
            <a:ext cx="12192000" cy="6858000"/>
          </a:xfrm>
          <a:prstGeom prst="rect">
            <a:avLst/>
          </a:prstGeom>
          <a:solidFill>
            <a:srgbClr val="FFFFFF"/>
          </a:solidFill>
          <a:ln/>
        </p:spPr>
        <p:txBody>
          <a:bodyPr/>
          <a:p/>
        </p:txBody>
      </p:sp>
      <p:sp>
        <p:nvSpPr>
          <p:cNvPr id="739" name="" descr="{&quot;isTemplate&quot;:true,&quot;type&quot;:&quot;text&quot;}"/>
          <p:cNvSpPr txBox="1"/>
          <p:nvPr/>
        </p:nvSpPr>
        <p:spPr>
          <a:xfrm rot="0" flipH="0" flipV="0">
            <a:off x="666750" y="381000"/>
            <a:ext cx="417195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13 / </a:t>
            </a:r>
            <a:r>
              <a:rPr lang="zh-CN" sz="1050" spc="75">
                <a:solidFill>
                  <a:srgbClr val="7A8699"/>
                </a:solidFill>
                <a:latin typeface="Microsoft YaHei"/>
                <a:ea typeface="Microsoft YaHei"/>
              </a:rPr>
              <a:t>收尾</a:t>
            </a:r>
            <a:endParaRPr/>
          </a:p>
        </p:txBody>
      </p:sp>
      <p:sp>
        <p:nvSpPr>
          <p:cNvPr id="740" name="" descr="{&quot;isTemplate&quot;:true,&quot;type&quot;:&quot;text&quot;}"/>
          <p:cNvSpPr txBox="1"/>
          <p:nvPr/>
        </p:nvSpPr>
        <p:spPr>
          <a:xfrm rot="0" flipH="0" flipV="0">
            <a:off x="666750" y="666750"/>
            <a:ext cx="4171950" cy="476250"/>
          </a:xfrm>
          <a:prstGeom prst="rect"/>
        </p:spPr>
        <p:txBody>
          <a:bodyPr wrap="none" lIns="0" tIns="0" rIns="0" bIns="0"/>
          <a:p>
            <a:pPr>
              <a:lnSpc>
                <a:spcPct val="130000"/>
              </a:lnSpc>
            </a:pPr>
            <a:r>
              <a:rPr lang="zh-CN" sz="2400" b="1">
                <a:solidFill>
                  <a:srgbClr val="0E2340"/>
                </a:solidFill>
                <a:latin typeface="Microsoft YaHei"/>
                <a:ea typeface="Microsoft YaHei"/>
              </a:rPr>
              <a:t>实施路线图：近期</a:t>
            </a:r>
            <a:r>
              <a:rPr lang="en-US" sz="2400" b="1">
                <a:solidFill>
                  <a:srgbClr val="0E2340"/>
                </a:solidFill>
                <a:latin typeface="Microsoft YaHei"/>
                <a:ea typeface="Microsoft YaHei"/>
              </a:rPr>
              <a:t xml:space="preserve"> / </a:t>
            </a:r>
            <a:r>
              <a:rPr lang="zh-CN" sz="2400" b="1">
                <a:solidFill>
                  <a:srgbClr val="0E2340"/>
                </a:solidFill>
                <a:latin typeface="Microsoft YaHei"/>
                <a:ea typeface="Microsoft YaHei"/>
              </a:rPr>
              <a:t>中期</a:t>
            </a:r>
            <a:r>
              <a:rPr lang="en-US" sz="2400" b="1">
                <a:solidFill>
                  <a:srgbClr val="0E2340"/>
                </a:solidFill>
                <a:latin typeface="Microsoft YaHei"/>
                <a:ea typeface="Microsoft YaHei"/>
              </a:rPr>
              <a:t xml:space="preserve"> / </a:t>
            </a:r>
            <a:r>
              <a:rPr lang="zh-CN" sz="2400" b="1">
                <a:solidFill>
                  <a:srgbClr val="0E2340"/>
                </a:solidFill>
                <a:latin typeface="Microsoft YaHei"/>
                <a:ea typeface="Microsoft YaHei"/>
              </a:rPr>
              <a:t>远期</a:t>
            </a:r>
            <a:endParaRPr/>
          </a:p>
        </p:txBody>
      </p:sp>
      <p:pic>
        <p:nvPicPr>
          <p:cNvPr id="741" name=""/>
          <p:cNvPicPr>
            <a:picLocks noChangeAspect="1"/>
          </p:cNvPicPr>
          <p:nvPr/>
        </p:nvPicPr>
        <p:blipFill>
          <a:blip>
            <a:extLst>
              <a:ext uri="{96DAC541-7B7A-43D3-8B79-37D633B846F1}">
                <asvg:svgBlip r:embed="rId1"/>
              </a:ext>
            </a:extLst>
          </a:blip>
          <a:stretch>
            <a:fillRect/>
          </a:stretch>
        </p:blipFill>
        <p:spPr>
          <a:xfrm rot="0" flipH="0" flipV="0">
            <a:off x="666750" y="1219200"/>
            <a:ext cx="10858500" cy="2190750"/>
          </a:xfrm>
          <a:prstGeom prst="rect">
            <a:avLst/>
          </a:prstGeom>
          <a:ln/>
        </p:spPr>
      </p:pic>
      <p:sp>
        <p:nvSpPr>
          <p:cNvPr id="742" name=""/>
          <p:cNvSpPr/>
          <p:nvPr/>
        </p:nvSpPr>
        <p:spPr>
          <a:xfrm rot="0" flipH="0" flipV="0">
            <a:off x="666750" y="3648075"/>
            <a:ext cx="76200" cy="76200"/>
          </a:xfrm>
          <a:prstGeom prst="roundRect">
            <a:avLst>
              <a:gd name="adj" fmla="val 50000"/>
            </a:avLst>
          </a:prstGeom>
          <a:solidFill>
            <a:srgbClr val="1E7BE0"/>
          </a:solidFill>
          <a:ln/>
        </p:spPr>
        <p:txBody>
          <a:bodyPr/>
          <a:p/>
        </p:txBody>
      </p:sp>
      <p:sp>
        <p:nvSpPr>
          <p:cNvPr id="743" name="" descr="{&quot;isTemplate&quot;:true,&quot;type&quot;:&quot;text&quot;}"/>
          <p:cNvSpPr txBox="1"/>
          <p:nvPr/>
        </p:nvSpPr>
        <p:spPr>
          <a:xfrm rot="0" flipH="0" flipV="0">
            <a:off x="857250" y="3562350"/>
            <a:ext cx="10668000" cy="295275"/>
          </a:xfrm>
          <a:prstGeom prst="rect"/>
        </p:spPr>
        <p:txBody>
          <a:bodyPr wrap="none" lIns="0" tIns="0" rIns="0" bIns="0"/>
          <a:p>
            <a:pPr>
              <a:lnSpc>
                <a:spcPct val="150000"/>
              </a:lnSpc>
            </a:pPr>
            <a:r>
              <a:rPr lang="zh-CN" sz="1275" b="1">
                <a:solidFill>
                  <a:srgbClr val="0E2340"/>
                </a:solidFill>
                <a:latin typeface="Microsoft YaHei"/>
                <a:ea typeface="Microsoft YaHei"/>
              </a:rPr>
              <a:t>近期</a:t>
            </a:r>
            <a:endParaRPr/>
          </a:p>
        </p:txBody>
      </p:sp>
      <p:sp>
        <p:nvSpPr>
          <p:cNvPr id="744" name="" descr="{&quot;isTemplate&quot;:true,&quot;type&quot;:&quot;text&quot;}"/>
          <p:cNvSpPr txBox="1"/>
          <p:nvPr/>
        </p:nvSpPr>
        <p:spPr>
          <a:xfrm rot="0" flipH="0" flipV="0">
            <a:off x="857250" y="3857625"/>
            <a:ext cx="10668000" cy="295275"/>
          </a:xfrm>
          <a:prstGeom prst="rect"/>
        </p:spPr>
        <p:txBody>
          <a:bodyPr wrap="none" lIns="0" tIns="0" rIns="0" bIns="0"/>
          <a:p>
            <a:pPr>
              <a:lnSpc>
                <a:spcPct val="160000"/>
              </a:lnSpc>
            </a:pPr>
            <a:r>
              <a:rPr lang="zh-CN" sz="1200">
                <a:solidFill>
                  <a:srgbClr val="333A45"/>
                </a:solidFill>
                <a:latin typeface="Microsoft YaHei"/>
                <a:ea typeface="Microsoft YaHei"/>
              </a:rPr>
              <a:t>补齐步骤默认难度、出题最低匹配门槛；建立只读查询与受控任务提交的</a:t>
            </a:r>
            <a:r>
              <a:rPr lang="en-US" sz="1200">
                <a:solidFill>
                  <a:srgbClr val="333A45"/>
                </a:solidFill>
                <a:latin typeface="Microsoft YaHei"/>
                <a:ea typeface="Microsoft YaHei"/>
              </a:rPr>
              <a:t xml:space="preserve"> MCP </a:t>
            </a:r>
            <a:r>
              <a:rPr lang="zh-CN" sz="1200">
                <a:solidFill>
                  <a:srgbClr val="333A45"/>
                </a:solidFill>
                <a:latin typeface="Microsoft YaHei"/>
                <a:ea typeface="Microsoft YaHei"/>
              </a:rPr>
              <a:t>原型，在</a:t>
            </a:r>
            <a:r>
              <a:rPr lang="en-US" sz="1200">
                <a:solidFill>
                  <a:srgbClr val="333A45"/>
                </a:solidFill>
                <a:latin typeface="Microsoft YaHei"/>
                <a:ea typeface="Microsoft YaHei"/>
              </a:rPr>
              <a:t xml:space="preserve"> DSH </a:t>
            </a:r>
            <a:r>
              <a:rPr lang="zh-CN" sz="1200">
                <a:solidFill>
                  <a:srgbClr val="333A45"/>
                </a:solidFill>
                <a:latin typeface="Microsoft YaHei"/>
                <a:ea typeface="Microsoft YaHei"/>
              </a:rPr>
              <a:t>与</a:t>
            </a:r>
            <a:r>
              <a:rPr lang="en-US" sz="1200">
                <a:solidFill>
                  <a:srgbClr val="333A45"/>
                </a:solidFill>
                <a:latin typeface="Microsoft YaHei"/>
                <a:ea typeface="Microsoft YaHei"/>
              </a:rPr>
              <a:t xml:space="preserve"> WorkBuddy </a:t>
            </a:r>
            <a:r>
              <a:rPr lang="zh-CN" sz="1200">
                <a:solidFill>
                  <a:srgbClr val="333A45"/>
                </a:solidFill>
                <a:latin typeface="Microsoft YaHei"/>
                <a:ea typeface="Microsoft YaHei"/>
              </a:rPr>
              <a:t>分别验证同一组场景。</a:t>
            </a:r>
            <a:endParaRPr/>
          </a:p>
        </p:txBody>
      </p:sp>
      <p:sp>
        <p:nvSpPr>
          <p:cNvPr id="745" name=""/>
          <p:cNvSpPr/>
          <p:nvPr/>
        </p:nvSpPr>
        <p:spPr>
          <a:xfrm rot="0" flipH="0" flipV="0">
            <a:off x="666750" y="4333875"/>
            <a:ext cx="76200" cy="76200"/>
          </a:xfrm>
          <a:prstGeom prst="roundRect">
            <a:avLst>
              <a:gd name="adj" fmla="val 50000"/>
            </a:avLst>
          </a:prstGeom>
          <a:solidFill>
            <a:srgbClr val="1E7BE0"/>
          </a:solidFill>
          <a:ln/>
        </p:spPr>
        <p:txBody>
          <a:bodyPr/>
          <a:p/>
        </p:txBody>
      </p:sp>
      <p:sp>
        <p:nvSpPr>
          <p:cNvPr id="746" name="" descr="{&quot;isTemplate&quot;:true,&quot;type&quot;:&quot;text&quot;}"/>
          <p:cNvSpPr txBox="1"/>
          <p:nvPr/>
        </p:nvSpPr>
        <p:spPr>
          <a:xfrm rot="0" flipH="0" flipV="0">
            <a:off x="857250" y="4248150"/>
            <a:ext cx="10668000" cy="295275"/>
          </a:xfrm>
          <a:prstGeom prst="rect"/>
        </p:spPr>
        <p:txBody>
          <a:bodyPr wrap="none" lIns="0" tIns="0" rIns="0" bIns="0"/>
          <a:p>
            <a:pPr>
              <a:lnSpc>
                <a:spcPct val="150000"/>
              </a:lnSpc>
            </a:pPr>
            <a:r>
              <a:rPr lang="zh-CN" sz="1275" b="1">
                <a:solidFill>
                  <a:srgbClr val="0E2340"/>
                </a:solidFill>
                <a:latin typeface="Microsoft YaHei"/>
                <a:ea typeface="Microsoft YaHei"/>
              </a:rPr>
              <a:t>中期</a:t>
            </a:r>
            <a:endParaRPr/>
          </a:p>
        </p:txBody>
      </p:sp>
      <p:sp>
        <p:nvSpPr>
          <p:cNvPr id="747" name="" descr="{&quot;isTemplate&quot;:true,&quot;type&quot;:&quot;text&quot;}"/>
          <p:cNvSpPr txBox="1"/>
          <p:nvPr/>
        </p:nvSpPr>
        <p:spPr>
          <a:xfrm rot="0" flipH="0" flipV="0">
            <a:off x="857250" y="4543425"/>
            <a:ext cx="10668000" cy="295275"/>
          </a:xfrm>
          <a:prstGeom prst="rect"/>
        </p:spPr>
        <p:txBody>
          <a:bodyPr wrap="none" lIns="0" tIns="0" rIns="0" bIns="0"/>
          <a:p>
            <a:pPr>
              <a:lnSpc>
                <a:spcPct val="160000"/>
              </a:lnSpc>
            </a:pPr>
            <a:r>
              <a:rPr lang="zh-CN" sz="1200">
                <a:solidFill>
                  <a:srgbClr val="333A45"/>
                </a:solidFill>
                <a:latin typeface="Microsoft YaHei"/>
                <a:ea typeface="Microsoft YaHei"/>
              </a:rPr>
              <a:t>教师端备课、批改、出卷改卷落地；协同</a:t>
            </a:r>
            <a:r>
              <a:rPr lang="en-US" sz="1200">
                <a:solidFill>
                  <a:srgbClr val="333A45"/>
                </a:solidFill>
                <a:latin typeface="Microsoft YaHei"/>
                <a:ea typeface="Microsoft YaHei"/>
              </a:rPr>
              <a:t xml:space="preserve"> Agent </a:t>
            </a:r>
            <a:r>
              <a:rPr lang="zh-CN" sz="1200">
                <a:solidFill>
                  <a:srgbClr val="333A45"/>
                </a:solidFill>
                <a:latin typeface="Microsoft YaHei"/>
                <a:ea typeface="Microsoft YaHei"/>
              </a:rPr>
              <a:t>先做学生助教四步，再扩展到教师备课与补练草稿。</a:t>
            </a:r>
            <a:endParaRPr/>
          </a:p>
        </p:txBody>
      </p:sp>
      <p:sp>
        <p:nvSpPr>
          <p:cNvPr id="748" name=""/>
          <p:cNvSpPr/>
          <p:nvPr/>
        </p:nvSpPr>
        <p:spPr>
          <a:xfrm rot="0" flipH="0" flipV="0">
            <a:off x="666750" y="5019675"/>
            <a:ext cx="76200" cy="76200"/>
          </a:xfrm>
          <a:prstGeom prst="roundRect">
            <a:avLst>
              <a:gd name="adj" fmla="val 50000"/>
            </a:avLst>
          </a:prstGeom>
          <a:solidFill>
            <a:srgbClr val="1E7BE0"/>
          </a:solidFill>
          <a:ln/>
        </p:spPr>
        <p:txBody>
          <a:bodyPr/>
          <a:p/>
        </p:txBody>
      </p:sp>
      <p:sp>
        <p:nvSpPr>
          <p:cNvPr id="749" name="" descr="{&quot;isTemplate&quot;:true,&quot;type&quot;:&quot;text&quot;}"/>
          <p:cNvSpPr txBox="1"/>
          <p:nvPr/>
        </p:nvSpPr>
        <p:spPr>
          <a:xfrm rot="0" flipH="0" flipV="0">
            <a:off x="857250" y="4933950"/>
            <a:ext cx="10668000" cy="295275"/>
          </a:xfrm>
          <a:prstGeom prst="rect"/>
        </p:spPr>
        <p:txBody>
          <a:bodyPr wrap="none" lIns="0" tIns="0" rIns="0" bIns="0"/>
          <a:p>
            <a:pPr>
              <a:lnSpc>
                <a:spcPct val="150000"/>
              </a:lnSpc>
            </a:pPr>
            <a:r>
              <a:rPr lang="zh-CN" sz="1275" b="1">
                <a:solidFill>
                  <a:srgbClr val="0E2340"/>
                </a:solidFill>
                <a:latin typeface="Microsoft YaHei"/>
                <a:ea typeface="Microsoft YaHei"/>
              </a:rPr>
              <a:t>远期</a:t>
            </a:r>
            <a:endParaRPr/>
          </a:p>
        </p:txBody>
      </p:sp>
      <p:sp>
        <p:nvSpPr>
          <p:cNvPr id="750" name="" descr="{&quot;isTemplate&quot;:true,&quot;type&quot;:&quot;text&quot;}"/>
          <p:cNvSpPr txBox="1"/>
          <p:nvPr/>
        </p:nvSpPr>
        <p:spPr>
          <a:xfrm rot="0" flipH="0" flipV="0">
            <a:off x="857250" y="5229225"/>
            <a:ext cx="10668000" cy="295275"/>
          </a:xfrm>
          <a:prstGeom prst="rect"/>
        </p:spPr>
        <p:txBody>
          <a:bodyPr wrap="none" lIns="0" tIns="0" rIns="0" bIns="0"/>
          <a:p>
            <a:pPr>
              <a:lnSpc>
                <a:spcPct val="160000"/>
              </a:lnSpc>
            </a:pPr>
            <a:r>
              <a:rPr lang="zh-CN" sz="1200">
                <a:solidFill>
                  <a:srgbClr val="333A45"/>
                </a:solidFill>
                <a:latin typeface="Microsoft YaHei"/>
                <a:ea typeface="Microsoft YaHei"/>
              </a:rPr>
              <a:t>学校端质量分析与体系版本治理；选一个边界清晰的小单元做跨学科试点。</a:t>
            </a:r>
            <a:endParaRPr/>
          </a:p>
        </p:txBody>
      </p:sp>
      <p:sp>
        <p:nvSpPr>
          <p:cNvPr id="751" name=""/>
          <p:cNvSpPr/>
          <p:nvPr/>
        </p:nvSpPr>
        <p:spPr>
          <a:xfrm rot="0" flipH="0" flipV="0">
            <a:off x="666750" y="5705475"/>
            <a:ext cx="76200" cy="76200"/>
          </a:xfrm>
          <a:prstGeom prst="roundRect">
            <a:avLst>
              <a:gd name="adj" fmla="val 50000"/>
            </a:avLst>
          </a:prstGeom>
          <a:solidFill>
            <a:srgbClr val="1E7BE0"/>
          </a:solidFill>
          <a:ln/>
        </p:spPr>
        <p:txBody>
          <a:bodyPr/>
          <a:p/>
        </p:txBody>
      </p:sp>
      <p:sp>
        <p:nvSpPr>
          <p:cNvPr id="752" name="" descr="{&quot;isTemplate&quot;:true,&quot;type&quot;:&quot;text&quot;}"/>
          <p:cNvSpPr txBox="1"/>
          <p:nvPr/>
        </p:nvSpPr>
        <p:spPr>
          <a:xfrm rot="0" flipH="0" flipV="0">
            <a:off x="857250" y="5619750"/>
            <a:ext cx="10668000" cy="295275"/>
          </a:xfrm>
          <a:prstGeom prst="rect"/>
        </p:spPr>
        <p:txBody>
          <a:bodyPr wrap="none" lIns="0" tIns="0" rIns="0" bIns="0"/>
          <a:p>
            <a:pPr>
              <a:lnSpc>
                <a:spcPct val="150000"/>
              </a:lnSpc>
            </a:pPr>
            <a:r>
              <a:rPr lang="zh-CN" sz="1275" b="1">
                <a:solidFill>
                  <a:srgbClr val="0E2340"/>
                </a:solidFill>
                <a:latin typeface="Microsoft YaHei"/>
                <a:ea typeface="Microsoft YaHei"/>
              </a:rPr>
              <a:t>持续</a:t>
            </a:r>
            <a:endParaRPr/>
          </a:p>
        </p:txBody>
      </p:sp>
      <p:sp>
        <p:nvSpPr>
          <p:cNvPr id="753" name="" descr="{&quot;isTemplate&quot;:true,&quot;type&quot;:&quot;text&quot;}"/>
          <p:cNvSpPr txBox="1"/>
          <p:nvPr/>
        </p:nvSpPr>
        <p:spPr>
          <a:xfrm rot="0" flipH="0" flipV="0">
            <a:off x="857250" y="5915025"/>
            <a:ext cx="10668000" cy="295275"/>
          </a:xfrm>
          <a:prstGeom prst="rect"/>
        </p:spPr>
        <p:txBody>
          <a:bodyPr wrap="none" lIns="0" tIns="0" rIns="0" bIns="0"/>
          <a:p>
            <a:pPr>
              <a:lnSpc>
                <a:spcPct val="160000"/>
              </a:lnSpc>
            </a:pPr>
            <a:r>
              <a:rPr lang="zh-CN" sz="1200">
                <a:solidFill>
                  <a:srgbClr val="333A45"/>
                </a:solidFill>
                <a:latin typeface="Microsoft YaHei"/>
                <a:ea typeface="Microsoft YaHei"/>
              </a:rPr>
              <a:t>核实案例与知识库</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提示词、规则和数据修正</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有明确目标的本地微调</a:t>
            </a:r>
            <a:r>
              <a:rPr lang="en-US" sz="1200">
                <a:solidFill>
                  <a:srgbClr val="333A45"/>
                </a:solidFill>
                <a:latin typeface="Microsoft YaHei"/>
                <a:ea typeface="Microsoft YaHei"/>
              </a:rPr>
              <a:t xml:space="preserve"> → </a:t>
            </a:r>
            <a:r>
              <a:rPr lang="zh-CN" sz="1200">
                <a:solidFill>
                  <a:srgbClr val="333A45"/>
                </a:solidFill>
                <a:latin typeface="Microsoft YaHei"/>
                <a:ea typeface="Microsoft YaHei"/>
              </a:rPr>
              <a:t>经验证后扩大训练或学科范围。</a:t>
            </a:r>
            <a:endParaRPr/>
          </a:p>
        </p:txBody>
      </p:sp>
      <p:sp>
        <p:nvSpPr>
          <p:cNvPr id="754"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755" name="" descr="{&quot;isTemplate&quot;:true,&quot;type&quot;:&quot;text&quot;}"/>
          <p:cNvSpPr txBox="1"/>
          <p:nvPr/>
        </p:nvSpPr>
        <p:spPr>
          <a:xfrm rot="0" flipH="0" flipV="0">
            <a:off x="666750" y="6381750"/>
            <a:ext cx="2190750" cy="209550"/>
          </a:xfrm>
          <a:prstGeom prst="rect"/>
        </p:spPr>
        <p:txBody>
          <a:bodyPr wrap="none" lIns="0" tIns="0" rIns="0" bIns="0"/>
          <a:p>
            <a:pPr>
              <a:lnSpc>
                <a:spcPct val="140000"/>
              </a:lnSpc>
            </a:pPr>
            <a:r>
              <a:rPr lang="zh-CN" sz="975">
                <a:solidFill>
                  <a:srgbClr val="7A8699"/>
                </a:solidFill>
                <a:latin typeface="Microsoft YaHei"/>
                <a:ea typeface="Microsoft YaHei"/>
              </a:rPr>
              <a:t>依据：全部</a:t>
            </a:r>
            <a:r>
              <a:rPr lang="en-US" sz="975">
                <a:solidFill>
                  <a:srgbClr val="7A8699"/>
                </a:solidFill>
                <a:latin typeface="Microsoft YaHei"/>
                <a:ea typeface="Microsoft YaHei"/>
              </a:rPr>
              <a:t xml:space="preserve"> 12 </a:t>
            </a:r>
            <a:r>
              <a:rPr lang="zh-CN" sz="975">
                <a:solidFill>
                  <a:srgbClr val="7A8699"/>
                </a:solidFill>
                <a:latin typeface="Microsoft YaHei"/>
                <a:ea typeface="Microsoft YaHei"/>
              </a:rPr>
              <a:t>份设计文档的推进优先级</a:t>
            </a:r>
            <a:endParaRPr/>
          </a:p>
        </p:txBody>
      </p:sp>
      <p:sp>
        <p:nvSpPr>
          <p:cNvPr id="756" name="" descr="{&quot;isTemplate&quot;:true,&quot;type&quot;:&quot;text&quot;}"/>
          <p:cNvSpPr txBox="1"/>
          <p:nvPr/>
        </p:nvSpPr>
        <p:spPr>
          <a:xfrm rot="0" flipH="0" flipV="0">
            <a:off x="10887075" y="6372225"/>
            <a:ext cx="6381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121 / 124 </a:t>
            </a:r>
            <a:endParaRPr/>
          </a:p>
        </p:txBody>
      </p:sp>
    </p:spTree>
  </p:cSld>
</p:sld>
</file>

<file path=ppt/slides/slide122.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757"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3 / 收尾&lt;/Text&gt;&lt;Text style={{ fontSize: 32, color: '#0E2340', fontWeight: 700, lineHeight: 1.3 }}&gt;能力状态总表&lt;/Text&gt;&lt;/Box&gt;&lt;/Box&gt;&lt;Box style={{ height: 532, paddingTop: 8, flexDirection: 'column' }}&gt;&lt;Box style={{ flexDirection: 'column', flex: 1, paddingTop: 4 }}&gt;&lt;Box style={{ flex: 1 }}&gt;&lt;Table style={{ width: '100%', height: '100%' }} defaultTextStyle={{ fontSize: 15, textAlign: 'left', color: '#333A45' }} defaultCellStyle={{ padding: 10, border: { left: { width: 1, color: '#E3E8EF' }, right: { width: 1, color: '#E3E8EF' }, top: { width: 1, color: '#E3E8EF' }, bottom: { width: 1, color: '#E3E8EF' } } }} cells={[[{ text: '能力域', textStyle: { color: '#FFFFFF', fontWeight: 600, fontSize: 15 }, cellStyle: { background: { color: '#0E2340' } } }, { text: '状态', textStyle: { color: '#FFFFFF', fontWeight: 600, fontSize: 15 }, cellStyle: { background: { color: '#0E2340' } } }, { text: '关键缺口', textStyle: { color: '#FFFFFF', fontWeight: 600, fontSize: 15 }, cellStyle: { background: { color: '#0E2340' } } }],&#10;        [{ text: '四层概念与步骤体系', textStyle: { fontWeight: 600, fontSize: 15 } }, { text: '已实现', textStyle: { fontSize: 15 } }, { text: '步骤默认难度尚缺；5 类题型槽位步骤词表为空', textStyle: { fontSize: 15 } }],&#10;        [{ text: 'AI 解题三阶段流水线', textStyle: { fontWeight: 600, fontSize: 15 }, cellStyle: { background: { color: '#F5F7FA' } } }, { text: '已实现', textStyle: { fontSize: 15 }, cellStyle: { background: { color: '#F5F7FA' } } }, { text: 'Formatter 失败回退已有，仍依赖上游解析质量', textStyle: { fontSize: 15 }, cellStyle: { background: { color: '#F5F7FA' } } }],&#10;        [{ text: 'AI 改题（大题）', textStyle: { fontWeight: 600, fontSize: 15 } }, { text: '部分实现', textStyle: { fontSize: 15 } }, { text: '选择题类走答案匹配；字段齐全 ≠ 完全避免猜测', textStyle: { fontSize: 15 } }],&#10;        [{ text: '手把手教学', textStyle: { fontWeight: 600, fontSize: 15 }, cellStyle: { background: { color: '#F5F7FA' } } }, { text: '部分实现', textStyle: { fontSize: 15 }, cellStyle: { background: { color: '#F5F7FA' } } }, { text: '掌握状态粒度不足：跳过写 correct、无提示后答对字段', textStyle: { fontSize: 15 }, cellStyle: { background: { color: '#F5F7FA' } } }],&#10;        [{ text: 'AI 出题', textStyle: { fontWeight: 600, fontSize: 15 } }, { text: '部分实现', textStyle: { fontSize: 15 } }, { text: '无最低匹配门槛；无按已学课时过滤', textStyle: { fontSize: 15 } }],&#10;        [{ text: '套路层面训练', textStyle: { fontWeight: 600, fontSize: 15 }, cellStyle: { background: { color: '#F5F7FA' } } }, { text: '设计中', textStyle: { fontSize: 15 }, cellStyle: { background: { color: '#F5F7FA' } } }, { text: '规划器已按板块与关卡排序，未接通个人知识点掌握状态', textStyle: { fontSize: 15 }, cellStyle: { background: { color: '#F5F7FA' } } }],&#10;        [{ text: '教师端七项', textStyle: { fontWeight: 600, fontSize: 15 } }, { text: '设计中', textStyle: { fontSize: 15 } }, { text: '尚未开始实施', textStyle: { fontSize: 15 } }],&#10;        [{ text: '学校端', textStyle: { fontWeight: 600, fontSize: 15 }, cellStyle: { background: { color: '#F5F7FA' } } }, { text: '设计中', textStyle: { fontSize: 15 }, cellStyle: { background: { color: '#F5F7FA' } } }, { text: '尚不作为已实现功能描述', textStyle: { fontSize: 15 }, cellStyle: { background: { color: '#F5F7FA' } } }],&#10;        [{ text: '试卷与生涯维度', textStyle: { fontWeight: 600, fontSize: 15 } }, { text: '设计中', textStyle: { fontSize: 15 } }, { text: '缺真实考试时间线与核实失分原因的标注数据', textStyle: { fontSize: 15 } }],&#10;        [{ text: '教学协同 Agent', textStyle: { fontWeight: 600, fontSize: 15 }, cellStyle: { background: { color: '#F5F7FA' } } }, { text: '设计中', textStyle: { fontSize: 15 }, cellStyle: { background: { color: '#F5F7FA' } } }, { text: '缺长期状态、角色沟通与教师 / 学校流程', textStyle: { fontSize: 15 }, cellStyle: { background: { color: '#F5F7FA' } } }],&#10;        [{ text: 'MCP 服务', textStyle: { fontWeight: 600, fontSize: 15 } }, { text: '待补齐', textStyle: { fontSize: 15 } }, { text: '无可直接安装使用的服务与适配包', textStyle: { fontSize: 15 } }],&#10;        [{ text: '手写笔迹时间线自动诊断', textStyle: { fontWeight: 600, fontSize: 15 }, cellStyle: { background: { color: '#F5F7FA' } } }, { text: '待研究', textStyle: { fontSize: 15 }, cellStyle: { background: { color: '#F5F7FA' } } }, { text: '真实数据仍需逐步建设', textStyle: { fontSize: 15 }, cellStyle: { background: { color: '#F5F7FA' } } }],&#10;        [{ text: '跨学科扩展', textStyle: { fontWeight: 600, fontSize: 15 } }, { text: '待研究', textStyle: { fontSize: 15 } }, { text: '需重建各科评价体系', textStyle: { fontSize: 15 } }]]} /&gt;&lt;/Box&gt;&lt;/Box&gt;&lt;/Box&gt;&lt;Box style={{ height: 40, flexDirection: 'row', justifyContent: 'space-between', alignItems: 'center', borderTop: '1px solid #E3E8EF', marginTop: 8 }}&gt;&lt;Text style={{ fontSize: 13, color: '#7A8699', fontWeight: 400, lineHeight: 1.4 }}&gt;依据：当前实现能力与名词数量.md §8 及全篇状态标注&lt;/Text&gt;&lt;Text style={{ fontSize: 14, color: '#7A8699', fontWeight: 400, lineHeight: 1.4 }}&gt; 122 / 124 &lt;/Text&gt;&lt;/Box&gt;&lt;/Slide&gt;"/>
        <p:cNvGrpSpPr/>
        <p:nvPr/>
      </p:nvGrpSpPr>
      <p:grpSpPr>
        <a:xfrm>
          <a:off x="0" y="0"/>
          <a:ext cx="0" cy="0"/>
          <a:chOff x="0" y="0"/>
          <a:chExt cx="0" cy="0"/>
        </a:xfrm>
      </p:grpSpPr>
      <p:sp>
        <p:nvSpPr>
          <p:cNvPr id="758" name=""/>
          <p:cNvSpPr/>
          <p:nvPr/>
        </p:nvSpPr>
        <p:spPr>
          <a:xfrm rot="0" flipH="0" flipV="0">
            <a:off x="0" y="0"/>
            <a:ext cx="12192000" cy="6858000"/>
          </a:xfrm>
          <a:prstGeom prst="rect">
            <a:avLst/>
          </a:prstGeom>
          <a:solidFill>
            <a:srgbClr val="FFFFFF"/>
          </a:solidFill>
          <a:ln/>
        </p:spPr>
        <p:txBody>
          <a:bodyPr/>
          <a:p/>
        </p:txBody>
      </p:sp>
      <p:sp>
        <p:nvSpPr>
          <p:cNvPr id="759" name="" descr="{&quot;isTemplate&quot;:true,&quot;type&quot;:&quot;text&quot;}"/>
          <p:cNvSpPr txBox="1"/>
          <p:nvPr/>
        </p:nvSpPr>
        <p:spPr>
          <a:xfrm rot="0" flipH="0" flipV="0">
            <a:off x="666750" y="381000"/>
            <a:ext cx="18288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13 / </a:t>
            </a:r>
            <a:r>
              <a:rPr lang="zh-CN" sz="1050" spc="75">
                <a:solidFill>
                  <a:srgbClr val="7A8699"/>
                </a:solidFill>
                <a:latin typeface="Microsoft YaHei"/>
                <a:ea typeface="Microsoft YaHei"/>
              </a:rPr>
              <a:t>收尾</a:t>
            </a:r>
            <a:endParaRPr/>
          </a:p>
        </p:txBody>
      </p:sp>
      <p:sp>
        <p:nvSpPr>
          <p:cNvPr id="760" name="" descr="{&quot;isTemplate&quot;:true,&quot;type&quot;:&quot;text&quot;}"/>
          <p:cNvSpPr txBox="1"/>
          <p:nvPr/>
        </p:nvSpPr>
        <p:spPr>
          <a:xfrm rot="0" flipH="0" flipV="0">
            <a:off x="666750" y="666750"/>
            <a:ext cx="1828800" cy="476250"/>
          </a:xfrm>
          <a:prstGeom prst="rect"/>
        </p:spPr>
        <p:txBody>
          <a:bodyPr wrap="none" lIns="0" tIns="0" rIns="0" bIns="0"/>
          <a:p>
            <a:pPr>
              <a:lnSpc>
                <a:spcPct val="130000"/>
              </a:lnSpc>
            </a:pPr>
            <a:r>
              <a:rPr lang="zh-CN" sz="2400" b="1">
                <a:solidFill>
                  <a:srgbClr val="0E2340"/>
                </a:solidFill>
                <a:latin typeface="Microsoft YaHei"/>
                <a:ea typeface="Microsoft YaHei"/>
              </a:rPr>
              <a:t>能力状态总表</a:t>
            </a:r>
            <a:endParaRPr/>
          </a:p>
        </p:txBody>
      </p:sp>
      <p:graphicFrame>
        <p:nvGraphicFramePr>
          <p:cNvPr id="761" name=""/>
          <p:cNvGraphicFramePr/>
          <p:nvPr/>
        </p:nvGraphicFramePr>
        <p:xfrm rot="0" flipH="0" flipV="0">
          <a:off x="666750" y="1257300"/>
          <a:ext cx="10858500" cy="4953000"/>
        </p:xfrm>
        <a:graphic>
          <a:graphicData uri="http://schemas.openxmlformats.org/drawingml/2006/table">
            <a:tbl>
              <a:tblGrid>
                <a:gridCol w="3015099">
                  <a:extLst>
                    <a:ext uri="{9D8B030D-6E8A-4147-A177-3AD203B41FA5}">
                      <a16:colId val="1"/>
                    </a:ext>
                  </a:extLst>
                </a:gridCol>
                <a:gridCol w="1201895">
                  <a:extLst>
                    <a:ext uri="{9D8B030D-6E8A-4147-A177-3AD203B41FA5}">
                      <a16:colId val="2"/>
                    </a:ext>
                  </a:extLst>
                </a:gridCol>
                <a:gridCol w="6641506">
                  <a:extLst>
                    <a:ext uri="{9D8B030D-6E8A-4147-A177-3AD203B41FA5}">
                      <a16:colId val="3"/>
                    </a:ext>
                  </a:extLst>
                </a:gridCol>
              </a:tblGrid>
              <a:tr h="353786">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能力域</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状态</a:t>
                      </a:r>
                      <a:endParaRPr/>
                    </a:p>
                  </a:txBody>
                  <a:tcPr marL="45720" marR="45720" marT="45720" marB="45720" anchor="ctr">
                    <a:lnL>
                      <a:noFill/>
                    </a:lnL>
                    <a:lnR>
                      <a:noFill/>
                    </a:lnR>
                    <a:lnT>
                      <a:noFill/>
                    </a:lnT>
                    <a:lnB>
                      <a:noFill/>
                    </a:lnB>
                    <a:solidFill>
                      <a:srgbClr val="0E2340"/>
                    </a:solidFill>
                  </a:tcPr>
                </a:tc>
                <a:tc>
                  <a:txBody>
                    <a:bodyPr wrap="square" lIns="0" tIns="0" rIns="0" bIns="0" anchor="ctr">
                      <a:normAutofit/>
                    </a:bodyPr>
                    <a:p>
                      <a:pPr marL="114300" marR="114300" algn="l">
                        <a:lnSpc>
                          <a:spcPct val="120000"/>
                        </a:lnSpc>
                      </a:pPr>
                      <a:r>
                        <a:rPr sz="1125">
                          <a:solidFill>
                            <a:srgbClr val="FFFFFF"/>
                          </a:solidFill>
                          <a:latin typeface="Microsoft YaHei"/>
                          <a:ea typeface="Microsoft YaHei"/>
                        </a:rPr>
                        <a:t>关键缺口</a:t>
                      </a:r>
                      <a:endParaRPr/>
                    </a:p>
                  </a:txBody>
                  <a:tcPr marL="45720" marR="45720" marT="45720" marB="45720" anchor="ctr">
                    <a:lnL>
                      <a:noFill/>
                    </a:lnL>
                    <a:lnR>
                      <a:noFill/>
                    </a:lnR>
                    <a:lnT>
                      <a:noFill/>
                    </a:lnT>
                    <a:lnB>
                      <a:noFill/>
                    </a:lnB>
                    <a:solidFill>
                      <a:srgbClr val="0E2340"/>
                    </a:solidFill>
                  </a:tcPr>
                </a:tc>
                <a:extLst>
                  <a:ext uri="{0D108BD9-81ED-4DB2-BD59-A6C34878D82A}">
                    <a16:rowId val="1"/>
                  </a:ext>
                </a:extLst>
              </a:tr>
              <a:tr h="35378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四层概念与步骤体系</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已实现</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步骤默认难度尚缺；5 类题型槽位步骤词表为空</a:t>
                      </a:r>
                      <a:endParaRPr/>
                    </a:p>
                  </a:txBody>
                  <a:tcPr marL="45720" marR="45720" marT="45720" marB="45720" anchor="ctr">
                    <a:lnL>
                      <a:noFill/>
                    </a:lnL>
                    <a:lnR>
                      <a:noFill/>
                    </a:lnR>
                    <a:lnT>
                      <a:noFill/>
                    </a:lnT>
                    <a:lnB>
                      <a:noFill/>
                    </a:lnB>
                  </a:tcPr>
                </a:tc>
                <a:extLst>
                  <a:ext uri="{0D108BD9-81ED-4DB2-BD59-A6C34878D82A}">
                    <a16:rowId val="2"/>
                  </a:ext>
                </a:extLst>
              </a:tr>
              <a:tr h="35378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AI 解题三阶段流水线</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已实现</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Formatter 失败回退已有，仍依赖上游解析质量</a:t>
                      </a:r>
                      <a:endParaRPr/>
                    </a:p>
                  </a:txBody>
                  <a:tcPr marL="45720" marR="45720" marT="45720" marB="45720" anchor="ctr">
                    <a:lnL>
                      <a:noFill/>
                    </a:lnL>
                    <a:lnR>
                      <a:noFill/>
                    </a:lnR>
                    <a:lnT>
                      <a:noFill/>
                    </a:lnT>
                    <a:lnB>
                      <a:noFill/>
                    </a:lnB>
                    <a:solidFill>
                      <a:srgbClr val="F5F7FA"/>
                    </a:solidFill>
                  </a:tcPr>
                </a:tc>
                <a:extLst>
                  <a:ext uri="{0D108BD9-81ED-4DB2-BD59-A6C34878D82A}">
                    <a16:rowId val="3"/>
                  </a:ext>
                </a:extLst>
              </a:tr>
              <a:tr h="35378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AI 改题（大题）</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部分实现</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选择题类走答案匹配；字段齐全 ≠ 完全避免猜测</a:t>
                      </a:r>
                      <a:endParaRPr/>
                    </a:p>
                  </a:txBody>
                  <a:tcPr marL="45720" marR="45720" marT="45720" marB="45720" anchor="ctr">
                    <a:lnL>
                      <a:noFill/>
                    </a:lnL>
                    <a:lnR>
                      <a:noFill/>
                    </a:lnR>
                    <a:lnT>
                      <a:noFill/>
                    </a:lnT>
                    <a:lnB>
                      <a:noFill/>
                    </a:lnB>
                  </a:tcPr>
                </a:tc>
                <a:extLst>
                  <a:ext uri="{0D108BD9-81ED-4DB2-BD59-A6C34878D82A}">
                    <a16:rowId val="4"/>
                  </a:ext>
                </a:extLst>
              </a:tr>
              <a:tr h="35378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手把手教学</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部分实现</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掌握状态粒度不足：跳过写 correct、无提示后答对字段</a:t>
                      </a:r>
                      <a:endParaRPr/>
                    </a:p>
                  </a:txBody>
                  <a:tcPr marL="45720" marR="45720" marT="45720" marB="45720" anchor="ctr">
                    <a:lnL>
                      <a:noFill/>
                    </a:lnL>
                    <a:lnR>
                      <a:noFill/>
                    </a:lnR>
                    <a:lnT>
                      <a:noFill/>
                    </a:lnT>
                    <a:lnB>
                      <a:noFill/>
                    </a:lnB>
                    <a:solidFill>
                      <a:srgbClr val="F5F7FA"/>
                    </a:solidFill>
                  </a:tcPr>
                </a:tc>
                <a:extLst>
                  <a:ext uri="{0D108BD9-81ED-4DB2-BD59-A6C34878D82A}">
                    <a16:rowId val="5"/>
                  </a:ext>
                </a:extLst>
              </a:tr>
              <a:tr h="35378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AI 出题</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部分实现</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无最低匹配门槛；无按已学课时过滤</a:t>
                      </a:r>
                      <a:endParaRPr/>
                    </a:p>
                  </a:txBody>
                  <a:tcPr marL="45720" marR="45720" marT="45720" marB="45720" anchor="ctr">
                    <a:lnL>
                      <a:noFill/>
                    </a:lnL>
                    <a:lnR>
                      <a:noFill/>
                    </a:lnR>
                    <a:lnT>
                      <a:noFill/>
                    </a:lnT>
                    <a:lnB>
                      <a:noFill/>
                    </a:lnB>
                  </a:tcPr>
                </a:tc>
                <a:extLst>
                  <a:ext uri="{0D108BD9-81ED-4DB2-BD59-A6C34878D82A}">
                    <a16:rowId val="6"/>
                  </a:ext>
                </a:extLst>
              </a:tr>
              <a:tr h="35378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套路层面训练</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设计中</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规划器已按板块与关卡排序，未接通个人知识点掌握状态</a:t>
                      </a:r>
                      <a:endParaRPr/>
                    </a:p>
                  </a:txBody>
                  <a:tcPr marL="45720" marR="45720" marT="45720" marB="45720" anchor="ctr">
                    <a:lnL>
                      <a:noFill/>
                    </a:lnL>
                    <a:lnR>
                      <a:noFill/>
                    </a:lnR>
                    <a:lnT>
                      <a:noFill/>
                    </a:lnT>
                    <a:lnB>
                      <a:noFill/>
                    </a:lnB>
                    <a:solidFill>
                      <a:srgbClr val="F5F7FA"/>
                    </a:solidFill>
                  </a:tcPr>
                </a:tc>
                <a:extLst>
                  <a:ext uri="{0D108BD9-81ED-4DB2-BD59-A6C34878D82A}">
                    <a16:rowId val="7"/>
                  </a:ext>
                </a:extLst>
              </a:tr>
              <a:tr h="35378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教师端七项</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设计中</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尚未开始实施</a:t>
                      </a:r>
                      <a:endParaRPr/>
                    </a:p>
                  </a:txBody>
                  <a:tcPr marL="45720" marR="45720" marT="45720" marB="45720" anchor="ctr">
                    <a:lnL>
                      <a:noFill/>
                    </a:lnL>
                    <a:lnR>
                      <a:noFill/>
                    </a:lnR>
                    <a:lnT>
                      <a:noFill/>
                    </a:lnT>
                    <a:lnB>
                      <a:noFill/>
                    </a:lnB>
                  </a:tcPr>
                </a:tc>
                <a:extLst>
                  <a:ext uri="{0D108BD9-81ED-4DB2-BD59-A6C34878D82A}">
                    <a16:rowId val="8"/>
                  </a:ext>
                </a:extLst>
              </a:tr>
              <a:tr h="35378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学校端</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设计中</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尚不作为已实现功能描述</a:t>
                      </a:r>
                      <a:endParaRPr/>
                    </a:p>
                  </a:txBody>
                  <a:tcPr marL="45720" marR="45720" marT="45720" marB="45720" anchor="ctr">
                    <a:lnL>
                      <a:noFill/>
                    </a:lnL>
                    <a:lnR>
                      <a:noFill/>
                    </a:lnR>
                    <a:lnT>
                      <a:noFill/>
                    </a:lnT>
                    <a:lnB>
                      <a:noFill/>
                    </a:lnB>
                    <a:solidFill>
                      <a:srgbClr val="F5F7FA"/>
                    </a:solidFill>
                  </a:tcPr>
                </a:tc>
                <a:extLst>
                  <a:ext uri="{0D108BD9-81ED-4DB2-BD59-A6C34878D82A}">
                    <a16:rowId val="9"/>
                  </a:ext>
                </a:extLst>
              </a:tr>
              <a:tr h="35378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试卷与生涯维度</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设计中</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缺真实考试时间线与核实失分原因的标注数据</a:t>
                      </a:r>
                      <a:endParaRPr/>
                    </a:p>
                  </a:txBody>
                  <a:tcPr marL="45720" marR="45720" marT="45720" marB="45720" anchor="ctr">
                    <a:lnL>
                      <a:noFill/>
                    </a:lnL>
                    <a:lnR>
                      <a:noFill/>
                    </a:lnR>
                    <a:lnT>
                      <a:noFill/>
                    </a:lnT>
                    <a:lnB>
                      <a:noFill/>
                    </a:lnB>
                  </a:tcPr>
                </a:tc>
                <a:extLst>
                  <a:ext uri="{0D108BD9-81ED-4DB2-BD59-A6C34878D82A}">
                    <a16:rowId val="10"/>
                  </a:ext>
                </a:extLst>
              </a:tr>
              <a:tr h="35378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教学协同 Agent</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设计中</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缺长期状态、角色沟通与教师 / 学校流程</a:t>
                      </a:r>
                      <a:endParaRPr/>
                    </a:p>
                  </a:txBody>
                  <a:tcPr marL="45720" marR="45720" marT="45720" marB="45720" anchor="ctr">
                    <a:lnL>
                      <a:noFill/>
                    </a:lnL>
                    <a:lnR>
                      <a:noFill/>
                    </a:lnR>
                    <a:lnT>
                      <a:noFill/>
                    </a:lnT>
                    <a:lnB>
                      <a:noFill/>
                    </a:lnB>
                    <a:solidFill>
                      <a:srgbClr val="F5F7FA"/>
                    </a:solidFill>
                  </a:tcPr>
                </a:tc>
                <a:extLst>
                  <a:ext uri="{0D108BD9-81ED-4DB2-BD59-A6C34878D82A}">
                    <a16:rowId val="11"/>
                  </a:ext>
                </a:extLst>
              </a:tr>
              <a:tr h="35378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MCP 服务</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待补齐</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无可直接安装使用的服务与适配包</a:t>
                      </a:r>
                      <a:endParaRPr/>
                    </a:p>
                  </a:txBody>
                  <a:tcPr marL="45720" marR="45720" marT="45720" marB="45720" anchor="ctr">
                    <a:lnL>
                      <a:noFill/>
                    </a:lnL>
                    <a:lnR>
                      <a:noFill/>
                    </a:lnR>
                    <a:lnT>
                      <a:noFill/>
                    </a:lnT>
                    <a:lnB>
                      <a:noFill/>
                    </a:lnB>
                  </a:tcPr>
                </a:tc>
                <a:extLst>
                  <a:ext uri="{0D108BD9-81ED-4DB2-BD59-A6C34878D82A}">
                    <a16:rowId val="12"/>
                  </a:ext>
                </a:extLst>
              </a:tr>
              <a:tr h="35378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手写笔迹时间线自动诊断</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待研究</a:t>
                      </a:r>
                      <a:endParaRPr/>
                    </a:p>
                  </a:txBody>
                  <a:tcPr marL="45720" marR="45720" marT="45720" marB="45720" anchor="ctr">
                    <a:lnL>
                      <a:noFill/>
                    </a:lnL>
                    <a:lnR>
                      <a:noFill/>
                    </a:lnR>
                    <a:lnT>
                      <a:noFill/>
                    </a:lnT>
                    <a:lnB>
                      <a:noFill/>
                    </a:lnB>
                    <a:solidFill>
                      <a:srgbClr val="F5F7FA"/>
                    </a:solidFill>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真实数据仍需逐步建设</a:t>
                      </a:r>
                      <a:endParaRPr/>
                    </a:p>
                  </a:txBody>
                  <a:tcPr marL="45720" marR="45720" marT="45720" marB="45720" anchor="ctr">
                    <a:lnL>
                      <a:noFill/>
                    </a:lnL>
                    <a:lnR>
                      <a:noFill/>
                    </a:lnR>
                    <a:lnT>
                      <a:noFill/>
                    </a:lnT>
                    <a:lnB>
                      <a:noFill/>
                    </a:lnB>
                    <a:solidFill>
                      <a:srgbClr val="F5F7FA"/>
                    </a:solidFill>
                  </a:tcPr>
                </a:tc>
                <a:extLst>
                  <a:ext uri="{0D108BD9-81ED-4DB2-BD59-A6C34878D82A}">
                    <a16:rowId val="13"/>
                  </a:ext>
                </a:extLst>
              </a:tr>
              <a:tr h="353786">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跨学科扩展</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待研究</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333A45"/>
                          </a:solidFill>
                          <a:latin typeface="Microsoft YaHei"/>
                          <a:ea typeface="Microsoft YaHei"/>
                        </a:rPr>
                        <a:t>需重建各科评价体系</a:t>
                      </a:r>
                      <a:endParaRPr/>
                    </a:p>
                  </a:txBody>
                  <a:tcPr marL="45720" marR="45720" marT="45720" marB="45720" anchor="ctr">
                    <a:lnL>
                      <a:noFill/>
                    </a:lnL>
                    <a:lnR>
                      <a:noFill/>
                    </a:lnR>
                    <a:lnT>
                      <a:noFill/>
                    </a:lnT>
                    <a:lnB>
                      <a:noFill/>
                    </a:lnB>
                  </a:tcPr>
                </a:tc>
                <a:extLst>
                  <a:ext uri="{0D108BD9-81ED-4DB2-BD59-A6C34878D82A}">
                    <a16:rowId val="14"/>
                  </a:ext>
                </a:extLst>
              </a:tr>
            </a:tbl>
          </a:graphicData>
        </a:graphic>
      </p:graphicFrame>
      <p:sp>
        <p:nvSpPr>
          <p:cNvPr id="762"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763" name="" descr="{&quot;isTemplate&quot;:true,&quot;type&quot;:&quot;text&quot;}"/>
          <p:cNvSpPr txBox="1"/>
          <p:nvPr/>
        </p:nvSpPr>
        <p:spPr>
          <a:xfrm rot="0" flipH="0" flipV="0">
            <a:off x="666750" y="6381750"/>
            <a:ext cx="3019425" cy="209550"/>
          </a:xfrm>
          <a:prstGeom prst="rect"/>
        </p:spPr>
        <p:txBody>
          <a:bodyPr wrap="none" lIns="0" tIns="0" rIns="0" bIns="0"/>
          <a:p>
            <a:pPr>
              <a:lnSpc>
                <a:spcPct val="140000"/>
              </a:lnSpc>
            </a:pPr>
            <a:r>
              <a:rPr lang="zh-CN" sz="975">
                <a:solidFill>
                  <a:srgbClr val="7A8699"/>
                </a:solidFill>
                <a:latin typeface="Microsoft YaHei"/>
                <a:ea typeface="Microsoft YaHei"/>
              </a:rPr>
              <a:t>依据：当前实现能力与名词数量</a:t>
            </a:r>
            <a:r>
              <a:rPr lang="en-US" sz="975">
                <a:solidFill>
                  <a:srgbClr val="7A8699"/>
                </a:solidFill>
                <a:latin typeface="Microsoft YaHei"/>
                <a:ea typeface="Microsoft YaHei"/>
              </a:rPr>
              <a:t xml:space="preserve">.md §8 </a:t>
            </a:r>
            <a:r>
              <a:rPr lang="zh-CN" sz="975">
                <a:solidFill>
                  <a:srgbClr val="7A8699"/>
                </a:solidFill>
                <a:latin typeface="Microsoft YaHei"/>
                <a:ea typeface="Microsoft YaHei"/>
              </a:rPr>
              <a:t>及全篇状态标注</a:t>
            </a:r>
            <a:endParaRPr/>
          </a:p>
        </p:txBody>
      </p:sp>
      <p:sp>
        <p:nvSpPr>
          <p:cNvPr id="764" name="" descr="{&quot;isTemplate&quot;:true,&quot;type&quot;:&quot;text&quot;}"/>
          <p:cNvSpPr txBox="1"/>
          <p:nvPr/>
        </p:nvSpPr>
        <p:spPr>
          <a:xfrm rot="0" flipH="0" flipV="0">
            <a:off x="10887075" y="6372225"/>
            <a:ext cx="6381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122 / 124 </a:t>
            </a:r>
            <a:endParaRPr/>
          </a:p>
        </p:txBody>
      </p:sp>
    </p:spTree>
  </p:cSld>
</p:sld>
</file>

<file path=ppt/slides/slide123.xml><?xml version="1.0" encoding="utf-8"?>
<p:sld xmlns:p="http://schemas.openxmlformats.org/presentationml/2006/main" xmlns:a="http://schemas.openxmlformats.org/drawingml/2006/main">
  <p:cSld>
    <p:spTree>
      <p:nvGrpSpPr>
        <p:cNvPr id="765" name="" descr="&lt;Slide style={{ width: '1280px', height: '720px', background: '#FFFFFF', padding: '20px 70px', display: 'flex', flexDirection: 'column' }}&gt;&lt;Box style={{ height: 100, flexDirection: 'row', justifyContent: 'space-between', alignItems: 'flex-end' }}&gt;&lt;Box style={{ flexDirection: 'column', gap: 6 }}&gt;&lt;Text style={{ fontSize: 14, color: '#7A8699', fontWeight: 400, lineHeight: 1.4, letterSpacing: 1 }}&gt;13 / 收尾&lt;/Text&gt;&lt;Text style={{ fontSize: 32, color: '#0E2340', fontWeight: 700, lineHeight: 1.3 }}&gt;设计原则：四条不能越过的高压线&lt;/Text&gt;&lt;/Box&gt;&lt;/Box&gt;&lt;Box style={{ height: 532, paddingTop: 8, flexDirection: 'column' }}&gt;&lt;Box style={{ flexDirection: 'column', flex: 1, justifyContent: 'center', gap: 16 }}&gt;&lt;Box style={{ flexDirection: 'row', gap: 20, flex: 1 }}&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过程数据 ≠ 掌握结论&lt;/Text&gt;&lt;Text style={{ fontSize: 17, color: '#333A45', fontWeight: 400, lineHeight: 1.6 }}&gt;训练数量不直接等于掌握程度；状态名称不是验证过的测量结论；“已经重新讲过”不等于已掌握；教学过程中的顺利完成不等于长期掌握。&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缺少记录 ≠ 不会&lt;/Text&gt;&lt;Text style={{ fontSize: 17, color: '#333A45', fontWeight: 400, lineHeight: 1.6 }}&gt;没有被考查不能统计为不会；未提交不算知识错误；资料不足时安排诊断而不是降级。&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不让指标扭曲教学&lt;/Text&gt;&lt;Text style={{ fontSize: 17, color: '#333A45', fontWeight: 400, lineHeight: 1.6 }}&gt;增加题量、反复刷同题、只练易得分内容、回避薄弱学生、忽视实际负担——指标变高也不能认定为优秀教学。&lt;/Text&gt;&lt;/Box&gt;&lt;/Box&gt;&lt;Box style={{ width: 270, background: '#FFFFFF', border: '1px solid #E3E8EF', borderRadius: 8, overflow: 'hidden', flexDirection: 'column' }}&gt;&lt;Box style={{ height: 4, background: 'linear-gradient(90deg, #1E7BE0 0%, #00A9B5 100%)' }} /&gt;&lt;Box style={{ flexDirection: 'column', gap: 10, padding: 20, flex: 1 }}&gt;&lt;Text style={{ fontSize: 21, color: '#0E2340', fontWeight: 600, lineHeight: 1.4 }}&gt;AI 提供依据，人作决定&lt;/Text&gt;&lt;Text style={{ fontSize: 17, color: '#333A45', fontWeight: 400, lineHeight: 1.6 }}&gt;绩效决定由学校作出、教学重点由教师决定、谈话与否由教师决定；Agent 不因“优化一下”静默改写历史。&lt;/Text&gt;&lt;/Box&gt;&lt;/Box&gt;&lt;/Box&gt;&lt;/Box&gt;&lt;/Box&gt;&lt;Box style={{ height: 40, flexDirection: 'row', justifyContent: 'space-between', alignItems: 'center', borderTop: '1px solid #E3E8EF', marginTop: 8 }}&gt;&lt;Text style={{ fontSize: 13, color: '#7A8699', fontWeight: 400, lineHeight: 1.4 }}&gt;依据：全篇文档中反复出现的口径声明&lt;/Text&gt;&lt;Text style={{ fontSize: 14, color: '#7A8699', fontWeight: 400, lineHeight: 1.4 }}&gt; 123 / 124 &lt;/Text&gt;&lt;/Box&gt;&lt;/Slide&gt;"/>
        <p:cNvGrpSpPr/>
        <p:nvPr/>
      </p:nvGrpSpPr>
      <p:grpSpPr>
        <a:xfrm>
          <a:off x="0" y="0"/>
          <a:ext cx="0" cy="0"/>
          <a:chOff x="0" y="0"/>
          <a:chExt cx="0" cy="0"/>
        </a:xfrm>
      </p:grpSpPr>
      <p:sp>
        <p:nvSpPr>
          <p:cNvPr id="766" name=""/>
          <p:cNvSpPr/>
          <p:nvPr/>
        </p:nvSpPr>
        <p:spPr>
          <a:xfrm rot="0" flipH="0" flipV="0">
            <a:off x="0" y="0"/>
            <a:ext cx="12192000" cy="6858000"/>
          </a:xfrm>
          <a:prstGeom prst="rect">
            <a:avLst/>
          </a:prstGeom>
          <a:solidFill>
            <a:srgbClr val="FFFFFF"/>
          </a:solidFill>
          <a:ln/>
        </p:spPr>
        <p:txBody>
          <a:bodyPr/>
          <a:p/>
        </p:txBody>
      </p:sp>
      <p:sp>
        <p:nvSpPr>
          <p:cNvPr id="767" name="" descr="{&quot;isTemplate&quot;:true,&quot;type&quot;:&quot;text&quot;}"/>
          <p:cNvSpPr txBox="1"/>
          <p:nvPr/>
        </p:nvSpPr>
        <p:spPr>
          <a:xfrm rot="0" flipH="0" flipV="0">
            <a:off x="666750" y="381000"/>
            <a:ext cx="4572000" cy="228600"/>
          </a:xfrm>
          <a:prstGeom prst="rect"/>
        </p:spPr>
        <p:txBody>
          <a:bodyPr wrap="none" lIns="0" tIns="0" rIns="0" bIns="0"/>
          <a:p>
            <a:pPr>
              <a:lnSpc>
                <a:spcPct val="140000"/>
              </a:lnSpc>
            </a:pPr>
            <a:r>
              <a:rPr lang="en-US" sz="1050" spc="75">
                <a:solidFill>
                  <a:srgbClr val="7A8699"/>
                </a:solidFill>
                <a:latin typeface="Microsoft YaHei"/>
                <a:ea typeface="Microsoft YaHei"/>
              </a:rPr>
              <a:t xml:space="preserve">13 / </a:t>
            </a:r>
            <a:r>
              <a:rPr lang="zh-CN" sz="1050" spc="75">
                <a:solidFill>
                  <a:srgbClr val="7A8699"/>
                </a:solidFill>
                <a:latin typeface="Microsoft YaHei"/>
                <a:ea typeface="Microsoft YaHei"/>
              </a:rPr>
              <a:t>收尾</a:t>
            </a:r>
            <a:endParaRPr/>
          </a:p>
        </p:txBody>
      </p:sp>
      <p:sp>
        <p:nvSpPr>
          <p:cNvPr id="768" name="" descr="{&quot;isTemplate&quot;:true,&quot;type&quot;:&quot;text&quot;}"/>
          <p:cNvSpPr txBox="1"/>
          <p:nvPr/>
        </p:nvSpPr>
        <p:spPr>
          <a:xfrm rot="0" flipH="0" flipV="0">
            <a:off x="666750" y="666750"/>
            <a:ext cx="4572000" cy="476250"/>
          </a:xfrm>
          <a:prstGeom prst="rect"/>
        </p:spPr>
        <p:txBody>
          <a:bodyPr wrap="none" lIns="0" tIns="0" rIns="0" bIns="0"/>
          <a:p>
            <a:pPr>
              <a:lnSpc>
                <a:spcPct val="130000"/>
              </a:lnSpc>
            </a:pPr>
            <a:r>
              <a:rPr lang="zh-CN" sz="2400" b="1">
                <a:solidFill>
                  <a:srgbClr val="0E2340"/>
                </a:solidFill>
                <a:latin typeface="Microsoft YaHei"/>
                <a:ea typeface="Microsoft YaHei"/>
              </a:rPr>
              <a:t>设计原则：四条不能越过的高压线</a:t>
            </a:r>
            <a:endParaRPr/>
          </a:p>
        </p:txBody>
      </p:sp>
      <p:sp>
        <p:nvSpPr>
          <p:cNvPr id="769" name=""/>
          <p:cNvSpPr/>
          <p:nvPr/>
        </p:nvSpPr>
        <p:spPr>
          <a:xfrm rot="0" flipH="0" flipV="0">
            <a:off x="666750" y="1219200"/>
            <a:ext cx="2571750" cy="4991100"/>
          </a:xfrm>
          <a:prstGeom prst="roundRect">
            <a:avLst>
              <a:gd name="adj" fmla="val 2963"/>
            </a:avLst>
          </a:prstGeom>
          <a:solidFill>
            <a:srgbClr val="FFFFFF"/>
          </a:solidFill>
          <a:ln w="12700">
            <a:solidFill>
              <a:srgbClr val="E3E8EF"/>
            </a:solidFill>
            <a:prstDash val="solid"/>
          </a:ln>
        </p:spPr>
        <p:txBody>
          <a:bodyPr/>
          <a:p/>
        </p:txBody>
      </p:sp>
      <p:sp>
        <p:nvSpPr>
          <p:cNvPr id="770" name=""/>
          <p:cNvSpPr/>
          <p:nvPr/>
        </p:nvSpPr>
        <p:spPr>
          <a:xfrm rot="0" flipH="0" flipV="0">
            <a:off x="66675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771" name="" descr="{&quot;isTemplate&quot;:true,&quot;type&quot;:&quot;text&quot;}"/>
          <p:cNvSpPr txBox="1"/>
          <p:nvPr/>
        </p:nvSpPr>
        <p:spPr>
          <a:xfrm rot="0" flipH="0" flipV="0">
            <a:off x="85725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过程数据</a:t>
            </a:r>
            <a:r>
              <a:rPr lang="en-US" sz="1575" b="1">
                <a:solidFill>
                  <a:srgbClr val="0E2340"/>
                </a:solidFill>
                <a:latin typeface="Microsoft YaHei"/>
                <a:ea typeface="Microsoft YaHei"/>
              </a:rPr>
              <a:t xml:space="preserve"> ≠ </a:t>
            </a:r>
            <a:r>
              <a:rPr lang="zh-CN" sz="1575" b="1">
                <a:solidFill>
                  <a:srgbClr val="0E2340"/>
                </a:solidFill>
                <a:latin typeface="Microsoft YaHei"/>
                <a:ea typeface="Microsoft YaHei"/>
              </a:rPr>
              <a:t>掌握结论</a:t>
            </a:r>
            <a:endParaRPr/>
          </a:p>
        </p:txBody>
      </p:sp>
      <p:sp>
        <p:nvSpPr>
          <p:cNvPr id="772" name="" descr="{&quot;isTemplate&quot;:true,&quot;type&quot;:&quot;text&quot;}"/>
          <p:cNvSpPr txBox="1"/>
          <p:nvPr/>
        </p:nvSpPr>
        <p:spPr>
          <a:xfrm rot="0" flipH="0" flipV="0">
            <a:off x="857250" y="1885950"/>
            <a:ext cx="2190750" cy="156210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训练数量不直接等于掌握程度；状态名称不是验证过的测量结论；“已经重新讲过”不等于已掌握；教学过程中的顺利完成不等于长期掌握。</a:t>
            </a:r>
            <a:endParaRPr/>
          </a:p>
        </p:txBody>
      </p:sp>
      <p:sp>
        <p:nvSpPr>
          <p:cNvPr id="773" name=""/>
          <p:cNvSpPr/>
          <p:nvPr/>
        </p:nvSpPr>
        <p:spPr>
          <a:xfrm rot="0" flipH="0" flipV="0">
            <a:off x="3429000" y="1219200"/>
            <a:ext cx="2571750" cy="4991100"/>
          </a:xfrm>
          <a:prstGeom prst="roundRect">
            <a:avLst>
              <a:gd name="adj" fmla="val 2963"/>
            </a:avLst>
          </a:prstGeom>
          <a:solidFill>
            <a:srgbClr val="FFFFFF"/>
          </a:solidFill>
          <a:ln w="12700">
            <a:solidFill>
              <a:srgbClr val="E3E8EF"/>
            </a:solidFill>
            <a:prstDash val="solid"/>
          </a:ln>
        </p:spPr>
        <p:txBody>
          <a:bodyPr/>
          <a:p/>
        </p:txBody>
      </p:sp>
      <p:sp>
        <p:nvSpPr>
          <p:cNvPr id="774" name=""/>
          <p:cNvSpPr/>
          <p:nvPr/>
        </p:nvSpPr>
        <p:spPr>
          <a:xfrm rot="0" flipH="0" flipV="0">
            <a:off x="342900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775" name="" descr="{&quot;isTemplate&quot;:true,&quot;type&quot;:&quot;text&quot;}"/>
          <p:cNvSpPr txBox="1"/>
          <p:nvPr/>
        </p:nvSpPr>
        <p:spPr>
          <a:xfrm rot="0" flipH="0" flipV="0">
            <a:off x="361950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缺少记录</a:t>
            </a:r>
            <a:r>
              <a:rPr lang="en-US" sz="1575" b="1">
                <a:solidFill>
                  <a:srgbClr val="0E2340"/>
                </a:solidFill>
                <a:latin typeface="Microsoft YaHei"/>
                <a:ea typeface="Microsoft YaHei"/>
              </a:rPr>
              <a:t xml:space="preserve"> ≠ </a:t>
            </a:r>
            <a:r>
              <a:rPr lang="zh-CN" sz="1575" b="1">
                <a:solidFill>
                  <a:srgbClr val="0E2340"/>
                </a:solidFill>
                <a:latin typeface="Microsoft YaHei"/>
                <a:ea typeface="Microsoft YaHei"/>
              </a:rPr>
              <a:t>不会</a:t>
            </a:r>
            <a:endParaRPr/>
          </a:p>
        </p:txBody>
      </p:sp>
      <p:sp>
        <p:nvSpPr>
          <p:cNvPr id="776" name="" descr="{&quot;isTemplate&quot;:true,&quot;type&quot;:&quot;text&quot;}"/>
          <p:cNvSpPr txBox="1"/>
          <p:nvPr/>
        </p:nvSpPr>
        <p:spPr>
          <a:xfrm rot="0" flipH="0" flipV="0">
            <a:off x="3619500" y="1885950"/>
            <a:ext cx="2190750" cy="933450"/>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没有被考查不能统计为不会；未提交不算知识错误；资料不足时安排诊断而不是降级。</a:t>
            </a:r>
            <a:endParaRPr/>
          </a:p>
        </p:txBody>
      </p:sp>
      <p:sp>
        <p:nvSpPr>
          <p:cNvPr id="777" name=""/>
          <p:cNvSpPr/>
          <p:nvPr/>
        </p:nvSpPr>
        <p:spPr>
          <a:xfrm rot="0" flipH="0" flipV="0">
            <a:off x="6191250" y="1219200"/>
            <a:ext cx="2571750" cy="4991100"/>
          </a:xfrm>
          <a:prstGeom prst="roundRect">
            <a:avLst>
              <a:gd name="adj" fmla="val 2963"/>
            </a:avLst>
          </a:prstGeom>
          <a:solidFill>
            <a:srgbClr val="FFFFFF"/>
          </a:solidFill>
          <a:ln w="12700">
            <a:solidFill>
              <a:srgbClr val="E3E8EF"/>
            </a:solidFill>
            <a:prstDash val="solid"/>
          </a:ln>
        </p:spPr>
        <p:txBody>
          <a:bodyPr/>
          <a:p/>
        </p:txBody>
      </p:sp>
      <p:sp>
        <p:nvSpPr>
          <p:cNvPr id="778" name=""/>
          <p:cNvSpPr/>
          <p:nvPr/>
        </p:nvSpPr>
        <p:spPr>
          <a:xfrm rot="0" flipH="0" flipV="0">
            <a:off x="619125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779" name="" descr="{&quot;isTemplate&quot;:true,&quot;type&quot;:&quot;text&quot;}"/>
          <p:cNvSpPr txBox="1"/>
          <p:nvPr/>
        </p:nvSpPr>
        <p:spPr>
          <a:xfrm rot="0" flipH="0" flipV="0">
            <a:off x="6381750" y="1447800"/>
            <a:ext cx="2190750" cy="342900"/>
          </a:xfrm>
          <a:prstGeom prst="rect"/>
        </p:spPr>
        <p:txBody>
          <a:bodyPr wrap="none" lIns="0" tIns="0" rIns="0" bIns="0"/>
          <a:p>
            <a:pPr>
              <a:lnSpc>
                <a:spcPct val="140000"/>
              </a:lnSpc>
            </a:pPr>
            <a:r>
              <a:rPr lang="zh-CN" sz="1575" b="1">
                <a:solidFill>
                  <a:srgbClr val="0E2340"/>
                </a:solidFill>
                <a:latin typeface="Microsoft YaHei"/>
                <a:ea typeface="Microsoft YaHei"/>
              </a:rPr>
              <a:t>不让指标扭曲教学</a:t>
            </a:r>
            <a:endParaRPr/>
          </a:p>
        </p:txBody>
      </p:sp>
      <p:sp>
        <p:nvSpPr>
          <p:cNvPr id="780" name="" descr="{&quot;isTemplate&quot;:true,&quot;type&quot;:&quot;text&quot;}"/>
          <p:cNvSpPr txBox="1"/>
          <p:nvPr/>
        </p:nvSpPr>
        <p:spPr>
          <a:xfrm rot="0" flipH="0" flipV="0">
            <a:off x="6381750" y="1885950"/>
            <a:ext cx="2190750" cy="1247775"/>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增加题量、反复刷同题、只练易得分内容、回避薄弱学生、忽视实际负担——指标变高也不能认定为优秀教学。</a:t>
            </a:r>
            <a:endParaRPr/>
          </a:p>
        </p:txBody>
      </p:sp>
      <p:sp>
        <p:nvSpPr>
          <p:cNvPr id="781" name=""/>
          <p:cNvSpPr/>
          <p:nvPr/>
        </p:nvSpPr>
        <p:spPr>
          <a:xfrm rot="0" flipH="0" flipV="0">
            <a:off x="8953500" y="1219200"/>
            <a:ext cx="2571750" cy="4991100"/>
          </a:xfrm>
          <a:prstGeom prst="roundRect">
            <a:avLst>
              <a:gd name="adj" fmla="val 2963"/>
            </a:avLst>
          </a:prstGeom>
          <a:solidFill>
            <a:srgbClr val="FFFFFF"/>
          </a:solidFill>
          <a:ln w="12700">
            <a:solidFill>
              <a:srgbClr val="E3E8EF"/>
            </a:solidFill>
            <a:prstDash val="solid"/>
          </a:ln>
        </p:spPr>
        <p:txBody>
          <a:bodyPr/>
          <a:p/>
        </p:txBody>
      </p:sp>
      <p:sp>
        <p:nvSpPr>
          <p:cNvPr id="782" name=""/>
          <p:cNvSpPr/>
          <p:nvPr/>
        </p:nvSpPr>
        <p:spPr>
          <a:xfrm rot="0" flipH="0" flipV="0">
            <a:off x="8953500" y="1219200"/>
            <a:ext cx="2571750" cy="38100"/>
          </a:xfrm>
          <a:custGeom>
            <a:pathLst>
              <a:path w="270" h="4">
                <a:moveTo>
                  <a:pt x="262" y="0"/>
                </a:moveTo>
                <a:cubicBezTo>
                  <a:pt x="265" y="0"/>
                  <a:pt x="268" y="2"/>
                  <a:pt x="269" y="4"/>
                </a:cubicBezTo>
                <a:lnTo>
                  <a:pt x="1" y="4"/>
                </a:lnTo>
                <a:cubicBezTo>
                  <a:pt x="3" y="2"/>
                  <a:pt x="5" y="0"/>
                  <a:pt x="8" y="0"/>
                </a:cubicBezTo>
                <a:lnTo>
                  <a:pt x="262" y="0"/>
                </a:lnTo>
                <a:close/>
              </a:path>
            </a:pathLst>
          </a:custGeom>
          <a:gradFill>
            <a:gsLst>
              <a:gs pos="0">
                <a:srgbClr val="1E7BE0"/>
              </a:gs>
              <a:gs pos="100000">
                <a:srgbClr val="00A9B5"/>
              </a:gs>
            </a:gsLst>
            <a:lin ang="0" scaled="1"/>
          </a:gradFill>
          <a:ln/>
        </p:spPr>
        <p:txBody>
          <a:bodyPr/>
          <a:p/>
        </p:txBody>
      </p:sp>
      <p:sp>
        <p:nvSpPr>
          <p:cNvPr id="783" name="" descr="{&quot;isTemplate&quot;:true,&quot;type&quot;:&quot;text&quot;}"/>
          <p:cNvSpPr txBox="1"/>
          <p:nvPr/>
        </p:nvSpPr>
        <p:spPr>
          <a:xfrm rot="0" flipH="0" flipV="0">
            <a:off x="9144000" y="1447800"/>
            <a:ext cx="2190750" cy="342900"/>
          </a:xfrm>
          <a:prstGeom prst="rect"/>
        </p:spPr>
        <p:txBody>
          <a:bodyPr wrap="none" lIns="0" tIns="0" rIns="0" bIns="0"/>
          <a:p>
            <a:pPr>
              <a:lnSpc>
                <a:spcPct val="140000"/>
              </a:lnSpc>
            </a:pPr>
            <a:r>
              <a:rPr lang="en-US" sz="1575" b="1">
                <a:solidFill>
                  <a:srgbClr val="0E2340"/>
                </a:solidFill>
                <a:latin typeface="Microsoft YaHei"/>
                <a:ea typeface="Microsoft YaHei"/>
              </a:rPr>
              <a:t xml:space="preserve">AI </a:t>
            </a:r>
            <a:r>
              <a:rPr lang="zh-CN" sz="1575" b="1">
                <a:solidFill>
                  <a:srgbClr val="0E2340"/>
                </a:solidFill>
                <a:latin typeface="Microsoft YaHei"/>
                <a:ea typeface="Microsoft YaHei"/>
              </a:rPr>
              <a:t>提供依据，人作决定</a:t>
            </a:r>
            <a:endParaRPr/>
          </a:p>
        </p:txBody>
      </p:sp>
      <p:sp>
        <p:nvSpPr>
          <p:cNvPr id="784" name="" descr="{&quot;isTemplate&quot;:true,&quot;type&quot;:&quot;text&quot;}"/>
          <p:cNvSpPr txBox="1"/>
          <p:nvPr/>
        </p:nvSpPr>
        <p:spPr>
          <a:xfrm rot="0" flipH="0" flipV="0">
            <a:off x="9144000" y="1885950"/>
            <a:ext cx="2190750" cy="1247775"/>
          </a:xfrm>
          <a:prstGeom prst="rect"/>
        </p:spPr>
        <p:txBody>
          <a:bodyPr wrap="square" lIns="0" tIns="0" rIns="0" bIns="0">
            <a:normAutofit/>
          </a:bodyPr>
          <a:p>
            <a:pPr>
              <a:lnSpc>
                <a:spcPct val="160000"/>
              </a:lnSpc>
            </a:pPr>
            <a:r>
              <a:rPr lang="zh-CN" sz="1275">
                <a:solidFill>
                  <a:srgbClr val="333A45"/>
                </a:solidFill>
                <a:latin typeface="Microsoft YaHei"/>
                <a:ea typeface="Microsoft YaHei"/>
              </a:rPr>
              <a:t>绩效决定由学校作出、教学重点由教师决定、谈话与否由教师决定；</a:t>
            </a:r>
            <a:r>
              <a:rPr lang="en-US" sz="1275">
                <a:solidFill>
                  <a:srgbClr val="333A45"/>
                </a:solidFill>
                <a:latin typeface="Microsoft YaHei"/>
                <a:ea typeface="Microsoft YaHei"/>
              </a:rPr>
              <a:t xml:space="preserve">Agent </a:t>
            </a:r>
            <a:r>
              <a:rPr lang="zh-CN" sz="1275">
                <a:solidFill>
                  <a:srgbClr val="333A45"/>
                </a:solidFill>
                <a:latin typeface="Microsoft YaHei"/>
                <a:ea typeface="Microsoft YaHei"/>
              </a:rPr>
              <a:t>不因“优化一下”静默改写历史。</a:t>
            </a:r>
            <a:endParaRPr/>
          </a:p>
        </p:txBody>
      </p:sp>
      <p:sp>
        <p:nvSpPr>
          <p:cNvPr id="785" name=""/>
          <p:cNvSpPr/>
          <p:nvPr/>
        </p:nvSpPr>
        <p:spPr>
          <a:xfrm rot="0" flipH="0" flipV="0">
            <a:off x="666750" y="6286500"/>
            <a:ext cx="10858500" cy="381000"/>
          </a:xfrm>
          <a:custGeom>
            <a:pathLst>
              <a:path w="1140" h="40">
                <a:moveTo>
                  <a:pt x="0" y="0"/>
                </a:moveTo>
                <a:lnTo>
                  <a:pt x="1140" y="0"/>
                </a:lnTo>
                <a:lnTo>
                  <a:pt x="1140" y="1"/>
                </a:lnTo>
                <a:lnTo>
                  <a:pt x="0" y="1"/>
                </a:lnTo>
                <a:close/>
              </a:path>
            </a:pathLst>
          </a:custGeom>
          <a:solidFill>
            <a:srgbClr val="E3E8EF"/>
          </a:solidFill>
          <a:ln/>
        </p:spPr>
        <p:txBody>
          <a:bodyPr/>
          <a:p/>
        </p:txBody>
      </p:sp>
      <p:sp>
        <p:nvSpPr>
          <p:cNvPr id="786" name="" descr="{&quot;isTemplate&quot;:true,&quot;type&quot;:&quot;text&quot;}"/>
          <p:cNvSpPr txBox="1"/>
          <p:nvPr/>
        </p:nvSpPr>
        <p:spPr>
          <a:xfrm rot="0" flipH="0" flipV="0">
            <a:off x="666750" y="6381750"/>
            <a:ext cx="2105025" cy="209550"/>
          </a:xfrm>
          <a:prstGeom prst="rect"/>
        </p:spPr>
        <p:txBody>
          <a:bodyPr wrap="none" lIns="0" tIns="0" rIns="0" bIns="0"/>
          <a:p>
            <a:pPr>
              <a:lnSpc>
                <a:spcPct val="140000"/>
              </a:lnSpc>
            </a:pPr>
            <a:r>
              <a:rPr lang="zh-CN" sz="975">
                <a:solidFill>
                  <a:srgbClr val="7A8699"/>
                </a:solidFill>
                <a:latin typeface="Microsoft YaHei"/>
                <a:ea typeface="Microsoft YaHei"/>
              </a:rPr>
              <a:t>依据：全篇文档中反复出现的口径声明</a:t>
            </a:r>
            <a:endParaRPr/>
          </a:p>
        </p:txBody>
      </p:sp>
      <p:sp>
        <p:nvSpPr>
          <p:cNvPr id="787" name="" descr="{&quot;isTemplate&quot;:true,&quot;type&quot;:&quot;text&quot;}"/>
          <p:cNvSpPr txBox="1"/>
          <p:nvPr/>
        </p:nvSpPr>
        <p:spPr>
          <a:xfrm rot="0" flipH="0" flipV="0">
            <a:off x="10887075" y="6372225"/>
            <a:ext cx="638175" cy="228600"/>
          </a:xfrm>
          <a:prstGeom prst="rect"/>
        </p:spPr>
        <p:txBody>
          <a:bodyPr wrap="none" lIns="0" tIns="0" rIns="0" bIns="0"/>
          <a:p>
            <a:pPr>
              <a:lnSpc>
                <a:spcPct val="140000"/>
              </a:lnSpc>
            </a:pPr>
            <a:r>
              <a:rPr lang="en-US" sz="1050">
                <a:solidFill>
                  <a:srgbClr val="7A8699"/>
                </a:solidFill>
                <a:latin typeface="Microsoft YaHei"/>
                <a:ea typeface="Microsoft YaHei"/>
              </a:rPr>
              <a:t xml:space="preserve"> 123 / 124 </a:t>
            </a:r>
            <a:endParaRPr/>
          </a:p>
        </p:txBody>
      </p:sp>
    </p:spTree>
  </p:cSld>
</p:sld>
</file>

<file path=ppt/slides/slide124.xml><?xml version="1.0" encoding="utf-8"?>
<p:sld xmlns:p="http://schemas.openxmlformats.org/presentationml/2006/main" xmlns:a="http://schemas.openxmlformats.org/drawingml/2006/main">
  <p:cSld>
    <p:spTree>
      <p:nvGrpSpPr>
        <p:cNvPr id="788" name="" descr="&lt;Slide style={{ width: '1280px', height: '720px', background: '#0E2340', padding: '70px 80px 60px' }}&gt;&lt;Box style={{ flexDirection: 'column', gap: 20, flex: 1 }}&gt;&lt;Box style={{ width: 92, height: 5, background: '#00A9B5' }} /&gt;&lt;Text style={{ fontSize: 48, color: '#FFFFFF', fontWeight: 700, lineHeight: 1.2 }}&gt;以步骤为单位，让每一次判断都有依据&lt;/Text&gt;&lt;Text style={{ fontSize: 21, color: '#C8DCF2', fontWeight: 400, lineHeight: 1.7 }}&gt;把解题过程显式拆成可以引用、判断和训练的步骤，使模型的判断有明确对象。&lt;/Text&gt;&lt;Text style={{ fontSize: 21, color: '#C8DCF2', fontWeight: 400, lineHeight: 1.7 }}&gt;训练数量是过程记录，不直接等同于掌握程度；无 AI 的新题、延迟保持与迁移，才是更硬的证据。&lt;/Text&gt;&lt;Text style={{ fontSize: 21, color: '#C8DCF2', fontWeight: 400, lineHeight: 1.7 }}&gt;本次汇报呈现设计思路与已核对的技术结构，不提供准确率、教学效果或出题质量的实验结论。&lt;/Text&gt;&lt;Box style={{ marginTop: 'auto', flexDirection: 'column', gap: 18 }}&gt;&lt;Box style={{ flexDirection: 'row', gap: 18 }}&gt;&lt;Box style={{ flex: 1, background: 'rgba(255,255,255,0.06)', borderTop: '3px solid #00A9B5', borderRadius: 6, padding: '16px 18px' }}&gt;&lt;Text style={{ fontSize: 34, color: '#FFFFFF', fontWeight: 700, lineHeight: 1.1 }}&gt;12&lt;/Text&gt;&lt;Text style={{ fontSize: 14, color: '#9CC2E8', fontWeight: 400, lineHeight: 1.4 }}&gt;份设计文档&lt;/Text&gt;&lt;/Box&gt;&lt;Box style={{ flex: 1, background: 'rgba(255,255,255,0.06)', borderTop: '3px solid #00A9B5', borderRadius: 6, padding: '16px 18px' }}&gt;&lt;Text style={{ fontSize: 34, color: '#FFFFFF', fontWeight: 700, lineHeight: 1.1 }}&gt;124&lt;/Text&gt;&lt;Text style={{ fontSize: 14, color: '#9CC2E8', fontWeight: 400, lineHeight: 1.4 }}&gt;页汇报&lt;/Text&gt;&lt;/Box&gt;&lt;Box style={{ flex: 1, background: 'rgba(255,255,255,0.06)', borderTop: '3px solid #00A9B5', borderRadius: 6, padding: '16px 18px' }}&gt;&lt;Text style={{ fontSize: 34, color: '#FFFFFF', fontWeight: 700, lineHeight: 1.1 }}&gt;4&lt;/Text&gt;&lt;Text style={{ fontSize: 14, color: '#9CC2E8', fontWeight: 400, lineHeight: 1.4 }}&gt;类实现状态&lt;/Text&gt;&lt;/Box&gt;&lt;Box style={{ flex: 1, background: 'rgba(255,255,255,0.06)', borderTop: '3px solid #00A9B5', borderRadius: 6, padding: '16px 18px' }}&gt;&lt;Text style={{ fontSize: 34, color: '#FFFFFF', fontWeight: 700, lineHeight: 1.1 }}&gt;3&lt;/Text&gt;&lt;Text style={{ fontSize: 14, color: '#9CC2E8', fontWeight: 400, lineHeight: 1.4 }}&gt;条贯穿金句&lt;/Text&gt;&lt;/Box&gt;&lt;/Box&gt;&lt;Box style={{ flexDirection: 'row', justifyContent: 'space-between', alignItems: 'center', borderTop: '1px solid rgba(255,255,255,0.15)', paddingTop: 14 }}&gt;&lt;Text style={{ fontSize: 15, color: '#7FA8D8', fontWeight: 400, lineHeight: 1.4 }}&gt;StudyAgent 项目设计汇报 · 技术评审版 · 2026-10&lt;/Text&gt;&lt;Text style={{ fontSize: 16, color: '#FFFFFF', fontWeight: 700, lineHeight: 1.4 }}&gt;Q &amp;amp; A&lt;/Text&gt;&lt;/Box&gt;&lt;/Box&gt;&lt;/Box&gt;&lt;/Slide&gt;"/>
        <p:cNvGrpSpPr/>
        <p:nvPr/>
      </p:nvGrpSpPr>
      <p:grpSpPr>
        <a:xfrm>
          <a:off x="0" y="0"/>
          <a:ext cx="0" cy="0"/>
          <a:chOff x="0" y="0"/>
          <a:chExt cx="0" cy="0"/>
        </a:xfrm>
      </p:grpSpPr>
      <p:sp>
        <p:nvSpPr>
          <p:cNvPr id="789" name=""/>
          <p:cNvSpPr/>
          <p:nvPr/>
        </p:nvSpPr>
        <p:spPr>
          <a:xfrm rot="0" flipH="0" flipV="0">
            <a:off x="0" y="0"/>
            <a:ext cx="12192000" cy="6858000"/>
          </a:xfrm>
          <a:prstGeom prst="rect">
            <a:avLst/>
          </a:prstGeom>
          <a:solidFill>
            <a:srgbClr val="0E2340"/>
          </a:solidFill>
          <a:ln/>
        </p:spPr>
        <p:txBody>
          <a:bodyPr/>
          <a:p/>
        </p:txBody>
      </p:sp>
      <p:sp>
        <p:nvSpPr>
          <p:cNvPr id="790" name=""/>
          <p:cNvSpPr/>
          <p:nvPr/>
        </p:nvSpPr>
        <p:spPr>
          <a:xfrm rot="0" flipH="0" flipV="0">
            <a:off x="762000" y="666750"/>
            <a:ext cx="876300" cy="47625"/>
          </a:xfrm>
          <a:prstGeom prst="rect">
            <a:avLst/>
          </a:prstGeom>
          <a:solidFill>
            <a:srgbClr val="00A9B5"/>
          </a:solidFill>
          <a:ln/>
        </p:spPr>
        <p:txBody>
          <a:bodyPr/>
          <a:p/>
        </p:txBody>
      </p:sp>
      <p:sp>
        <p:nvSpPr>
          <p:cNvPr id="791" name="" descr="{&quot;isTemplate&quot;:true,&quot;type&quot;:&quot;text&quot;}"/>
          <p:cNvSpPr txBox="1"/>
          <p:nvPr/>
        </p:nvSpPr>
        <p:spPr>
          <a:xfrm rot="0" flipH="0" flipV="0">
            <a:off x="762000" y="904875"/>
            <a:ext cx="10668000" cy="666750"/>
          </a:xfrm>
          <a:prstGeom prst="rect"/>
        </p:spPr>
        <p:txBody>
          <a:bodyPr wrap="none" lIns="0" tIns="0" rIns="0" bIns="0"/>
          <a:p>
            <a:pPr>
              <a:lnSpc>
                <a:spcPct val="120000"/>
              </a:lnSpc>
            </a:pPr>
            <a:r>
              <a:rPr lang="zh-CN" sz="3600" b="1">
                <a:solidFill>
                  <a:srgbClr val="FFFFFF"/>
                </a:solidFill>
                <a:latin typeface="Microsoft YaHei"/>
                <a:ea typeface="Microsoft YaHei"/>
              </a:rPr>
              <a:t>以步骤为单位，让每一次判断都有依据</a:t>
            </a:r>
            <a:endParaRPr/>
          </a:p>
        </p:txBody>
      </p:sp>
      <p:sp>
        <p:nvSpPr>
          <p:cNvPr id="792" name="" descr="{&quot;isTemplate&quot;:true,&quot;type&quot;:&quot;text&quot;}"/>
          <p:cNvSpPr txBox="1"/>
          <p:nvPr/>
        </p:nvSpPr>
        <p:spPr>
          <a:xfrm rot="0" flipH="0" flipV="0">
            <a:off x="762000" y="1762125"/>
            <a:ext cx="10668000" cy="409575"/>
          </a:xfrm>
          <a:prstGeom prst="rect"/>
        </p:spPr>
        <p:txBody>
          <a:bodyPr wrap="none" lIns="0" tIns="0" rIns="0" bIns="0"/>
          <a:p>
            <a:pPr>
              <a:lnSpc>
                <a:spcPct val="170000"/>
              </a:lnSpc>
            </a:pPr>
            <a:r>
              <a:rPr lang="zh-CN" sz="1575">
                <a:solidFill>
                  <a:srgbClr val="C8DCF2"/>
                </a:solidFill>
                <a:latin typeface="Microsoft YaHei"/>
                <a:ea typeface="Microsoft YaHei"/>
              </a:rPr>
              <a:t>把解题过程显式拆成可以引用、判断和训练的步骤，使模型的判断有明确对象。</a:t>
            </a:r>
            <a:endParaRPr/>
          </a:p>
        </p:txBody>
      </p:sp>
      <p:sp>
        <p:nvSpPr>
          <p:cNvPr id="793" name="" descr="{&quot;isTemplate&quot;:true,&quot;type&quot;:&quot;text&quot;}"/>
          <p:cNvSpPr txBox="1"/>
          <p:nvPr/>
        </p:nvSpPr>
        <p:spPr>
          <a:xfrm rot="0" flipH="0" flipV="0">
            <a:off x="762000" y="2362200"/>
            <a:ext cx="10668000" cy="409575"/>
          </a:xfrm>
          <a:prstGeom prst="rect"/>
        </p:spPr>
        <p:txBody>
          <a:bodyPr wrap="none" lIns="0" tIns="0" rIns="0" bIns="0"/>
          <a:p>
            <a:pPr>
              <a:lnSpc>
                <a:spcPct val="170000"/>
              </a:lnSpc>
            </a:pPr>
            <a:r>
              <a:rPr lang="zh-CN" sz="1575">
                <a:solidFill>
                  <a:srgbClr val="C8DCF2"/>
                </a:solidFill>
                <a:latin typeface="Microsoft YaHei"/>
                <a:ea typeface="Microsoft YaHei"/>
              </a:rPr>
              <a:t>训练数量是过程记录，不直接等同于掌握程度；无</a:t>
            </a:r>
            <a:r>
              <a:rPr lang="en-US" sz="1575">
                <a:solidFill>
                  <a:srgbClr val="C8DCF2"/>
                </a:solidFill>
                <a:latin typeface="Microsoft YaHei"/>
                <a:ea typeface="Microsoft YaHei"/>
              </a:rPr>
              <a:t xml:space="preserve"> AI </a:t>
            </a:r>
            <a:r>
              <a:rPr lang="zh-CN" sz="1575">
                <a:solidFill>
                  <a:srgbClr val="C8DCF2"/>
                </a:solidFill>
                <a:latin typeface="Microsoft YaHei"/>
                <a:ea typeface="Microsoft YaHei"/>
              </a:rPr>
              <a:t>的新题、延迟保持与迁移，才是更硬的证据。</a:t>
            </a:r>
            <a:endParaRPr/>
          </a:p>
        </p:txBody>
      </p:sp>
      <p:sp>
        <p:nvSpPr>
          <p:cNvPr id="794" name="" descr="{&quot;isTemplate&quot;:true,&quot;type&quot;:&quot;text&quot;}"/>
          <p:cNvSpPr txBox="1"/>
          <p:nvPr/>
        </p:nvSpPr>
        <p:spPr>
          <a:xfrm rot="0" flipH="0" flipV="0">
            <a:off x="762000" y="2962275"/>
            <a:ext cx="10668000" cy="409575"/>
          </a:xfrm>
          <a:prstGeom prst="rect"/>
        </p:spPr>
        <p:txBody>
          <a:bodyPr wrap="none" lIns="0" tIns="0" rIns="0" bIns="0"/>
          <a:p>
            <a:pPr>
              <a:lnSpc>
                <a:spcPct val="170000"/>
              </a:lnSpc>
            </a:pPr>
            <a:r>
              <a:rPr lang="zh-CN" sz="1575">
                <a:solidFill>
                  <a:srgbClr val="C8DCF2"/>
                </a:solidFill>
                <a:latin typeface="Microsoft YaHei"/>
                <a:ea typeface="Microsoft YaHei"/>
              </a:rPr>
              <a:t>本次汇报呈现设计思路与已核对的技术结构，不提供准确率、教学效果或出题质量的实验结论。</a:t>
            </a:r>
            <a:endParaRPr/>
          </a:p>
        </p:txBody>
      </p:sp>
      <p:sp>
        <p:nvSpPr>
          <p:cNvPr id="795" name=""/>
          <p:cNvSpPr/>
          <p:nvPr/>
        </p:nvSpPr>
        <p:spPr>
          <a:xfrm rot="0" flipH="0" flipV="0">
            <a:off x="762000" y="4752975"/>
            <a:ext cx="2543175" cy="990600"/>
          </a:xfrm>
          <a:prstGeom prst="roundRect">
            <a:avLst>
              <a:gd name="adj" fmla="val 5769"/>
            </a:avLst>
          </a:prstGeom>
          <a:solidFill>
            <a:srgbClr val="FFFFFF">
              <a:alpha val="6000"/>
            </a:srgbClr>
          </a:solidFill>
          <a:ln/>
        </p:spPr>
        <p:txBody>
          <a:bodyPr/>
          <a:p/>
        </p:txBody>
      </p:sp>
      <p:sp>
        <p:nvSpPr>
          <p:cNvPr id="796" name=""/>
          <p:cNvSpPr/>
          <p:nvPr/>
        </p:nvSpPr>
        <p:spPr>
          <a:xfrm rot="0" flipH="0" flipV="0">
            <a:off x="762000" y="4752975"/>
            <a:ext cx="2543175" cy="990600"/>
          </a:xfrm>
          <a:custGeom>
            <a:pathLst>
              <a:path w="267" h="104">
                <a:moveTo>
                  <a:pt x="261" y="0"/>
                </a:moveTo>
                <a:cubicBezTo>
                  <a:pt x="264" y="0"/>
                  <a:pt x="267" y="2"/>
                  <a:pt x="267" y="5"/>
                </a:cubicBezTo>
                <a:cubicBezTo>
                  <a:pt x="266" y="4"/>
                  <a:pt x="265" y="3"/>
                  <a:pt x="264" y="3"/>
                </a:cubicBezTo>
                <a:lnTo>
                  <a:pt x="3" y="3"/>
                </a:lnTo>
                <a:cubicBezTo>
                  <a:pt x="2" y="3"/>
                  <a:pt x="0" y="4"/>
                  <a:pt x="0" y="5"/>
                </a:cubicBezTo>
                <a:cubicBezTo>
                  <a:pt x="0" y="2"/>
                  <a:pt x="3" y="0"/>
                  <a:pt x="6" y="0"/>
                </a:cubicBezTo>
                <a:lnTo>
                  <a:pt x="261" y="0"/>
                </a:lnTo>
                <a:close/>
              </a:path>
            </a:pathLst>
          </a:custGeom>
          <a:solidFill>
            <a:srgbClr val="00A9B5"/>
          </a:solidFill>
          <a:ln/>
        </p:spPr>
        <p:txBody>
          <a:bodyPr/>
          <a:p/>
        </p:txBody>
      </p:sp>
      <p:sp>
        <p:nvSpPr>
          <p:cNvPr id="797" name="" descr="{&quot;isTemplate&quot;:true,&quot;type&quot;:&quot;text&quot;}"/>
          <p:cNvSpPr txBox="1"/>
          <p:nvPr/>
        </p:nvSpPr>
        <p:spPr>
          <a:xfrm rot="0" flipH="0" flipV="0">
            <a:off x="933450" y="4905375"/>
            <a:ext cx="2200275" cy="428625"/>
          </a:xfrm>
          <a:prstGeom prst="rect"/>
        </p:spPr>
        <p:txBody>
          <a:bodyPr wrap="none" lIns="0" tIns="0" rIns="0" bIns="0"/>
          <a:p>
            <a:pPr>
              <a:lnSpc>
                <a:spcPct val="110000"/>
              </a:lnSpc>
            </a:pPr>
            <a:r>
              <a:rPr lang="en-US" sz="2550" b="1">
                <a:solidFill>
                  <a:srgbClr val="FFFFFF"/>
                </a:solidFill>
                <a:latin typeface="Microsoft YaHei"/>
                <a:ea typeface="Microsoft YaHei"/>
              </a:rPr>
              <a:t>12</a:t>
            </a:r>
            <a:endParaRPr/>
          </a:p>
        </p:txBody>
      </p:sp>
      <p:sp>
        <p:nvSpPr>
          <p:cNvPr id="798" name="" descr="{&quot;isTemplate&quot;:true,&quot;type&quot;:&quot;text&quot;}"/>
          <p:cNvSpPr txBox="1"/>
          <p:nvPr/>
        </p:nvSpPr>
        <p:spPr>
          <a:xfrm rot="0" flipH="0" flipV="0">
            <a:off x="933450" y="5334000"/>
            <a:ext cx="2200275" cy="228600"/>
          </a:xfrm>
          <a:prstGeom prst="rect"/>
        </p:spPr>
        <p:txBody>
          <a:bodyPr wrap="none" lIns="0" tIns="0" rIns="0" bIns="0"/>
          <a:p>
            <a:pPr>
              <a:lnSpc>
                <a:spcPct val="140000"/>
              </a:lnSpc>
            </a:pPr>
            <a:r>
              <a:rPr lang="zh-CN" sz="1050">
                <a:solidFill>
                  <a:srgbClr val="9CC2E8"/>
                </a:solidFill>
                <a:latin typeface="Microsoft YaHei"/>
                <a:ea typeface="Microsoft YaHei"/>
              </a:rPr>
              <a:t>份设计文档</a:t>
            </a:r>
            <a:endParaRPr/>
          </a:p>
        </p:txBody>
      </p:sp>
      <p:sp>
        <p:nvSpPr>
          <p:cNvPr id="799" name=""/>
          <p:cNvSpPr/>
          <p:nvPr/>
        </p:nvSpPr>
        <p:spPr>
          <a:xfrm rot="0" flipH="0" flipV="0">
            <a:off x="3476625" y="4752975"/>
            <a:ext cx="2533650" cy="990600"/>
          </a:xfrm>
          <a:prstGeom prst="roundRect">
            <a:avLst>
              <a:gd name="adj" fmla="val 5769"/>
            </a:avLst>
          </a:prstGeom>
          <a:solidFill>
            <a:srgbClr val="FFFFFF">
              <a:alpha val="6000"/>
            </a:srgbClr>
          </a:solidFill>
          <a:ln/>
        </p:spPr>
        <p:txBody>
          <a:bodyPr/>
          <a:p/>
        </p:txBody>
      </p:sp>
      <p:sp>
        <p:nvSpPr>
          <p:cNvPr id="800" name=""/>
          <p:cNvSpPr/>
          <p:nvPr/>
        </p:nvSpPr>
        <p:spPr>
          <a:xfrm rot="0" flipH="0" flipV="0">
            <a:off x="3476625" y="4752975"/>
            <a:ext cx="2533650" cy="990600"/>
          </a:xfrm>
          <a:custGeom>
            <a:pathLst>
              <a:path w="266" h="104">
                <a:moveTo>
                  <a:pt x="260" y="0"/>
                </a:moveTo>
                <a:cubicBezTo>
                  <a:pt x="263" y="0"/>
                  <a:pt x="266" y="2"/>
                  <a:pt x="266" y="5"/>
                </a:cubicBezTo>
                <a:cubicBezTo>
                  <a:pt x="265" y="4"/>
                  <a:pt x="264" y="3"/>
                  <a:pt x="263" y="3"/>
                </a:cubicBezTo>
                <a:lnTo>
                  <a:pt x="3" y="3"/>
                </a:lnTo>
                <a:cubicBezTo>
                  <a:pt x="2" y="3"/>
                  <a:pt x="0" y="4"/>
                  <a:pt x="0" y="5"/>
                </a:cubicBezTo>
                <a:cubicBezTo>
                  <a:pt x="0" y="2"/>
                  <a:pt x="3" y="0"/>
                  <a:pt x="6" y="0"/>
                </a:cubicBezTo>
                <a:lnTo>
                  <a:pt x="260" y="0"/>
                </a:lnTo>
                <a:close/>
              </a:path>
            </a:pathLst>
          </a:custGeom>
          <a:solidFill>
            <a:srgbClr val="00A9B5"/>
          </a:solidFill>
          <a:ln/>
        </p:spPr>
        <p:txBody>
          <a:bodyPr/>
          <a:p/>
        </p:txBody>
      </p:sp>
      <p:sp>
        <p:nvSpPr>
          <p:cNvPr id="801" name="" descr="{&quot;isTemplate&quot;:true,&quot;type&quot;:&quot;text&quot;}"/>
          <p:cNvSpPr txBox="1"/>
          <p:nvPr/>
        </p:nvSpPr>
        <p:spPr>
          <a:xfrm rot="0" flipH="0" flipV="0">
            <a:off x="3648075" y="4905375"/>
            <a:ext cx="2190750" cy="428625"/>
          </a:xfrm>
          <a:prstGeom prst="rect"/>
        </p:spPr>
        <p:txBody>
          <a:bodyPr wrap="none" lIns="0" tIns="0" rIns="0" bIns="0"/>
          <a:p>
            <a:pPr>
              <a:lnSpc>
                <a:spcPct val="110000"/>
              </a:lnSpc>
            </a:pPr>
            <a:r>
              <a:rPr lang="en-US" sz="2550" b="1">
                <a:solidFill>
                  <a:srgbClr val="FFFFFF"/>
                </a:solidFill>
                <a:latin typeface="Microsoft YaHei"/>
                <a:ea typeface="Microsoft YaHei"/>
              </a:rPr>
              <a:t>124</a:t>
            </a:r>
            <a:endParaRPr/>
          </a:p>
        </p:txBody>
      </p:sp>
      <p:sp>
        <p:nvSpPr>
          <p:cNvPr id="802" name="" descr="{&quot;isTemplate&quot;:true,&quot;type&quot;:&quot;text&quot;}"/>
          <p:cNvSpPr txBox="1"/>
          <p:nvPr/>
        </p:nvSpPr>
        <p:spPr>
          <a:xfrm rot="0" flipH="0" flipV="0">
            <a:off x="3648075" y="5334000"/>
            <a:ext cx="2190750" cy="228600"/>
          </a:xfrm>
          <a:prstGeom prst="rect"/>
        </p:spPr>
        <p:txBody>
          <a:bodyPr wrap="none" lIns="0" tIns="0" rIns="0" bIns="0"/>
          <a:p>
            <a:pPr>
              <a:lnSpc>
                <a:spcPct val="140000"/>
              </a:lnSpc>
            </a:pPr>
            <a:r>
              <a:rPr lang="zh-CN" sz="1050">
                <a:solidFill>
                  <a:srgbClr val="9CC2E8"/>
                </a:solidFill>
                <a:latin typeface="Microsoft YaHei"/>
                <a:ea typeface="Microsoft YaHei"/>
              </a:rPr>
              <a:t>页汇报</a:t>
            </a:r>
            <a:endParaRPr/>
          </a:p>
        </p:txBody>
      </p:sp>
      <p:sp>
        <p:nvSpPr>
          <p:cNvPr id="803" name=""/>
          <p:cNvSpPr/>
          <p:nvPr/>
        </p:nvSpPr>
        <p:spPr>
          <a:xfrm rot="0" flipH="0" flipV="0">
            <a:off x="6181725" y="4752975"/>
            <a:ext cx="2543175" cy="990600"/>
          </a:xfrm>
          <a:prstGeom prst="roundRect">
            <a:avLst>
              <a:gd name="adj" fmla="val 5769"/>
            </a:avLst>
          </a:prstGeom>
          <a:solidFill>
            <a:srgbClr val="FFFFFF">
              <a:alpha val="6000"/>
            </a:srgbClr>
          </a:solidFill>
          <a:ln/>
        </p:spPr>
        <p:txBody>
          <a:bodyPr/>
          <a:p/>
        </p:txBody>
      </p:sp>
      <p:sp>
        <p:nvSpPr>
          <p:cNvPr id="804" name=""/>
          <p:cNvSpPr/>
          <p:nvPr/>
        </p:nvSpPr>
        <p:spPr>
          <a:xfrm rot="0" flipH="0" flipV="0">
            <a:off x="6181725" y="4752975"/>
            <a:ext cx="2543175" cy="990600"/>
          </a:xfrm>
          <a:custGeom>
            <a:pathLst>
              <a:path w="267" h="104">
                <a:moveTo>
                  <a:pt x="261" y="0"/>
                </a:moveTo>
                <a:cubicBezTo>
                  <a:pt x="264" y="0"/>
                  <a:pt x="267" y="2"/>
                  <a:pt x="267" y="5"/>
                </a:cubicBezTo>
                <a:cubicBezTo>
                  <a:pt x="266" y="4"/>
                  <a:pt x="265" y="3"/>
                  <a:pt x="264" y="3"/>
                </a:cubicBezTo>
                <a:lnTo>
                  <a:pt x="3" y="3"/>
                </a:lnTo>
                <a:cubicBezTo>
                  <a:pt x="2" y="3"/>
                  <a:pt x="0" y="4"/>
                  <a:pt x="0" y="5"/>
                </a:cubicBezTo>
                <a:cubicBezTo>
                  <a:pt x="0" y="2"/>
                  <a:pt x="3" y="0"/>
                  <a:pt x="6" y="0"/>
                </a:cubicBezTo>
                <a:lnTo>
                  <a:pt x="261" y="0"/>
                </a:lnTo>
                <a:close/>
              </a:path>
            </a:pathLst>
          </a:custGeom>
          <a:solidFill>
            <a:srgbClr val="00A9B5"/>
          </a:solidFill>
          <a:ln/>
        </p:spPr>
        <p:txBody>
          <a:bodyPr/>
          <a:p/>
        </p:txBody>
      </p:sp>
      <p:sp>
        <p:nvSpPr>
          <p:cNvPr id="805" name="" descr="{&quot;isTemplate&quot;:true,&quot;type&quot;:&quot;text&quot;}"/>
          <p:cNvSpPr txBox="1"/>
          <p:nvPr/>
        </p:nvSpPr>
        <p:spPr>
          <a:xfrm rot="0" flipH="0" flipV="0">
            <a:off x="6353175" y="4905375"/>
            <a:ext cx="2200275" cy="428625"/>
          </a:xfrm>
          <a:prstGeom prst="rect"/>
        </p:spPr>
        <p:txBody>
          <a:bodyPr wrap="none" lIns="0" tIns="0" rIns="0" bIns="0"/>
          <a:p>
            <a:pPr>
              <a:lnSpc>
                <a:spcPct val="110000"/>
              </a:lnSpc>
            </a:pPr>
            <a:r>
              <a:rPr lang="en-US" sz="2550" b="1">
                <a:solidFill>
                  <a:srgbClr val="FFFFFF"/>
                </a:solidFill>
                <a:latin typeface="Microsoft YaHei"/>
                <a:ea typeface="Microsoft YaHei"/>
              </a:rPr>
              <a:t>4</a:t>
            </a:r>
            <a:endParaRPr/>
          </a:p>
        </p:txBody>
      </p:sp>
      <p:sp>
        <p:nvSpPr>
          <p:cNvPr id="806" name="" descr="{&quot;isTemplate&quot;:true,&quot;type&quot;:&quot;text&quot;}"/>
          <p:cNvSpPr txBox="1"/>
          <p:nvPr/>
        </p:nvSpPr>
        <p:spPr>
          <a:xfrm rot="0" flipH="0" flipV="0">
            <a:off x="6353175" y="5334000"/>
            <a:ext cx="2200275" cy="228600"/>
          </a:xfrm>
          <a:prstGeom prst="rect"/>
        </p:spPr>
        <p:txBody>
          <a:bodyPr wrap="none" lIns="0" tIns="0" rIns="0" bIns="0"/>
          <a:p>
            <a:pPr>
              <a:lnSpc>
                <a:spcPct val="140000"/>
              </a:lnSpc>
            </a:pPr>
            <a:r>
              <a:rPr lang="zh-CN" sz="1050">
                <a:solidFill>
                  <a:srgbClr val="9CC2E8"/>
                </a:solidFill>
                <a:latin typeface="Microsoft YaHei"/>
                <a:ea typeface="Microsoft YaHei"/>
              </a:rPr>
              <a:t>类实现状态</a:t>
            </a:r>
            <a:endParaRPr/>
          </a:p>
        </p:txBody>
      </p:sp>
      <p:sp>
        <p:nvSpPr>
          <p:cNvPr id="807" name=""/>
          <p:cNvSpPr/>
          <p:nvPr/>
        </p:nvSpPr>
        <p:spPr>
          <a:xfrm rot="0" flipH="0" flipV="0">
            <a:off x="8896350" y="4752975"/>
            <a:ext cx="2533650" cy="990600"/>
          </a:xfrm>
          <a:prstGeom prst="roundRect">
            <a:avLst>
              <a:gd name="adj" fmla="val 5769"/>
            </a:avLst>
          </a:prstGeom>
          <a:solidFill>
            <a:srgbClr val="FFFFFF">
              <a:alpha val="6000"/>
            </a:srgbClr>
          </a:solidFill>
          <a:ln/>
        </p:spPr>
        <p:txBody>
          <a:bodyPr/>
          <a:p/>
        </p:txBody>
      </p:sp>
      <p:sp>
        <p:nvSpPr>
          <p:cNvPr id="808" name=""/>
          <p:cNvSpPr/>
          <p:nvPr/>
        </p:nvSpPr>
        <p:spPr>
          <a:xfrm rot="0" flipH="0" flipV="0">
            <a:off x="8896350" y="4752975"/>
            <a:ext cx="2533650" cy="990600"/>
          </a:xfrm>
          <a:custGeom>
            <a:pathLst>
              <a:path w="266" h="104">
                <a:moveTo>
                  <a:pt x="260" y="0"/>
                </a:moveTo>
                <a:cubicBezTo>
                  <a:pt x="263" y="0"/>
                  <a:pt x="266" y="2"/>
                  <a:pt x="266" y="5"/>
                </a:cubicBezTo>
                <a:cubicBezTo>
                  <a:pt x="265" y="4"/>
                  <a:pt x="264" y="3"/>
                  <a:pt x="263" y="3"/>
                </a:cubicBezTo>
                <a:lnTo>
                  <a:pt x="3" y="3"/>
                </a:lnTo>
                <a:cubicBezTo>
                  <a:pt x="2" y="3"/>
                  <a:pt x="0" y="4"/>
                  <a:pt x="0" y="5"/>
                </a:cubicBezTo>
                <a:cubicBezTo>
                  <a:pt x="0" y="2"/>
                  <a:pt x="3" y="0"/>
                  <a:pt x="6" y="0"/>
                </a:cubicBezTo>
                <a:lnTo>
                  <a:pt x="260" y="0"/>
                </a:lnTo>
                <a:close/>
              </a:path>
            </a:pathLst>
          </a:custGeom>
          <a:solidFill>
            <a:srgbClr val="00A9B5"/>
          </a:solidFill>
          <a:ln/>
        </p:spPr>
        <p:txBody>
          <a:bodyPr/>
          <a:p/>
        </p:txBody>
      </p:sp>
      <p:sp>
        <p:nvSpPr>
          <p:cNvPr id="809" name="" descr="{&quot;isTemplate&quot;:true,&quot;type&quot;:&quot;text&quot;}"/>
          <p:cNvSpPr txBox="1"/>
          <p:nvPr/>
        </p:nvSpPr>
        <p:spPr>
          <a:xfrm rot="0" flipH="0" flipV="0">
            <a:off x="9067800" y="4905375"/>
            <a:ext cx="2190750" cy="428625"/>
          </a:xfrm>
          <a:prstGeom prst="rect"/>
        </p:spPr>
        <p:txBody>
          <a:bodyPr wrap="none" lIns="0" tIns="0" rIns="0" bIns="0"/>
          <a:p>
            <a:pPr>
              <a:lnSpc>
                <a:spcPct val="110000"/>
              </a:lnSpc>
            </a:pPr>
            <a:r>
              <a:rPr lang="en-US" sz="2550" b="1">
                <a:solidFill>
                  <a:srgbClr val="FFFFFF"/>
                </a:solidFill>
                <a:latin typeface="Microsoft YaHei"/>
                <a:ea typeface="Microsoft YaHei"/>
              </a:rPr>
              <a:t>3</a:t>
            </a:r>
            <a:endParaRPr/>
          </a:p>
        </p:txBody>
      </p:sp>
      <p:sp>
        <p:nvSpPr>
          <p:cNvPr id="810" name="" descr="{&quot;isTemplate&quot;:true,&quot;type&quot;:&quot;text&quot;}"/>
          <p:cNvSpPr txBox="1"/>
          <p:nvPr/>
        </p:nvSpPr>
        <p:spPr>
          <a:xfrm rot="0" flipH="0" flipV="0">
            <a:off x="9067800" y="5334000"/>
            <a:ext cx="2190750" cy="228600"/>
          </a:xfrm>
          <a:prstGeom prst="rect"/>
        </p:spPr>
        <p:txBody>
          <a:bodyPr wrap="none" lIns="0" tIns="0" rIns="0" bIns="0"/>
          <a:p>
            <a:pPr>
              <a:lnSpc>
                <a:spcPct val="140000"/>
              </a:lnSpc>
            </a:pPr>
            <a:r>
              <a:rPr lang="zh-CN" sz="1050">
                <a:solidFill>
                  <a:srgbClr val="9CC2E8"/>
                </a:solidFill>
                <a:latin typeface="Microsoft YaHei"/>
                <a:ea typeface="Microsoft YaHei"/>
              </a:rPr>
              <a:t>条贯穿金句</a:t>
            </a:r>
            <a:endParaRPr/>
          </a:p>
        </p:txBody>
      </p:sp>
      <p:sp>
        <p:nvSpPr>
          <p:cNvPr id="811" name=""/>
          <p:cNvSpPr/>
          <p:nvPr/>
        </p:nvSpPr>
        <p:spPr>
          <a:xfrm rot="0" flipH="0" flipV="0">
            <a:off x="762000" y="5886450"/>
            <a:ext cx="10668000" cy="409575"/>
          </a:xfrm>
          <a:custGeom>
            <a:pathLst>
              <a:path w="1120" h="43">
                <a:moveTo>
                  <a:pt x="0" y="0"/>
                </a:moveTo>
                <a:lnTo>
                  <a:pt x="1120" y="0"/>
                </a:lnTo>
                <a:lnTo>
                  <a:pt x="1120" y="1"/>
                </a:lnTo>
                <a:lnTo>
                  <a:pt x="0" y="1"/>
                </a:lnTo>
                <a:close/>
              </a:path>
            </a:pathLst>
          </a:custGeom>
          <a:solidFill>
            <a:srgbClr val="FFFFFF">
              <a:alpha val="15000"/>
            </a:srgbClr>
          </a:solidFill>
          <a:ln/>
        </p:spPr>
        <p:txBody>
          <a:bodyPr/>
          <a:p/>
        </p:txBody>
      </p:sp>
      <p:sp>
        <p:nvSpPr>
          <p:cNvPr id="812" name="" descr="{&quot;isTemplate&quot;:true,&quot;type&quot;:&quot;text&quot;}"/>
          <p:cNvSpPr txBox="1"/>
          <p:nvPr/>
        </p:nvSpPr>
        <p:spPr>
          <a:xfrm rot="0" flipH="0" flipV="0">
            <a:off x="762000" y="6038850"/>
            <a:ext cx="3133725" cy="247650"/>
          </a:xfrm>
          <a:prstGeom prst="rect"/>
        </p:spPr>
        <p:txBody>
          <a:bodyPr wrap="none" lIns="0" tIns="0" rIns="0" bIns="0"/>
          <a:p>
            <a:pPr>
              <a:lnSpc>
                <a:spcPct val="140000"/>
              </a:lnSpc>
            </a:pPr>
            <a:r>
              <a:rPr lang="en-US" sz="1125">
                <a:solidFill>
                  <a:srgbClr val="7FA8D8"/>
                </a:solidFill>
                <a:latin typeface="Microsoft YaHei"/>
                <a:ea typeface="Microsoft YaHei"/>
              </a:rPr>
              <a:t xml:space="preserve">StudyAgent </a:t>
            </a:r>
            <a:r>
              <a:rPr lang="zh-CN" sz="1125">
                <a:solidFill>
                  <a:srgbClr val="7FA8D8"/>
                </a:solidFill>
                <a:latin typeface="Microsoft YaHei"/>
                <a:ea typeface="Microsoft YaHei"/>
              </a:rPr>
              <a:t>项目设计汇报</a:t>
            </a:r>
            <a:r>
              <a:rPr lang="en-US" sz="1125">
                <a:solidFill>
                  <a:srgbClr val="7FA8D8"/>
                </a:solidFill>
                <a:latin typeface="Microsoft YaHei"/>
                <a:ea typeface="Microsoft YaHei"/>
              </a:rPr>
              <a:t xml:space="preserve"> · </a:t>
            </a:r>
            <a:r>
              <a:rPr lang="zh-CN" sz="1125">
                <a:solidFill>
                  <a:srgbClr val="7FA8D8"/>
                </a:solidFill>
                <a:latin typeface="Microsoft YaHei"/>
                <a:ea typeface="Microsoft YaHei"/>
              </a:rPr>
              <a:t>技术评审版</a:t>
            </a:r>
            <a:r>
              <a:rPr lang="en-US" sz="1125">
                <a:solidFill>
                  <a:srgbClr val="7FA8D8"/>
                </a:solidFill>
                <a:latin typeface="Microsoft YaHei"/>
                <a:ea typeface="Microsoft YaHei"/>
              </a:rPr>
              <a:t xml:space="preserve"> · 2026-10</a:t>
            </a:r>
            <a:endParaRPr/>
          </a:p>
        </p:txBody>
      </p:sp>
      <p:sp>
        <p:nvSpPr>
          <p:cNvPr id="813" name="" descr="{&quot;isTemplate&quot;:true,&quot;type&quot;:&quot;text&quot;}"/>
          <p:cNvSpPr txBox="1"/>
          <p:nvPr/>
        </p:nvSpPr>
        <p:spPr>
          <a:xfrm rot="0" flipH="0" flipV="0">
            <a:off x="11001375" y="6029325"/>
            <a:ext cx="428625" cy="257175"/>
          </a:xfrm>
          <a:prstGeom prst="rect"/>
        </p:spPr>
        <p:txBody>
          <a:bodyPr wrap="none" lIns="0" tIns="0" rIns="0" bIns="0"/>
          <a:p>
            <a:pPr>
              <a:lnSpc>
                <a:spcPct val="140000"/>
              </a:lnSpc>
            </a:pPr>
            <a:r>
              <a:rPr lang="en-US" sz="1200" b="1">
                <a:solidFill>
                  <a:srgbClr val="FFFFFF"/>
                </a:solidFill>
                <a:latin typeface="Microsoft YaHei"/>
                <a:ea typeface="Microsoft YaHei"/>
              </a:rPr>
              <a:t>Q &amp; A</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2026-10-25T03:29:35Z</dcterms:created>
  <dcterms:modified xsi:type="dcterms:W3CDTF">2026-10-25T03:29:35Z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{"AIGC":{"Label":"1","ContentProducer":"00119111010856365494821B355","ProduceID":"01a16ef9b61373a5a85f8e661f1db14b","ReservedCode1":"","ContentPropagator":"00119111010856365494821B355","PropagateID":"01a16ef9b61373a5a85f8e661f1db14b","ReservedCode2":""}}</vt:lpwstr>
  </property>
</Properties>
</file>